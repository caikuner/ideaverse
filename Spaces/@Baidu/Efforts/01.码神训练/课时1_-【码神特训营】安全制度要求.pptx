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5" r:id="rId3"/>
    <p:sldId id="303" r:id="rId4"/>
    <p:sldId id="296" r:id="rId5"/>
    <p:sldId id="295" r:id="rId6"/>
    <p:sldId id="314" r:id="rId7"/>
    <p:sldId id="301" r:id="rId8"/>
    <p:sldId id="299" r:id="rId9"/>
    <p:sldId id="298" r:id="rId10"/>
    <p:sldId id="309" r:id="rId11"/>
    <p:sldId id="291" r:id="rId12"/>
    <p:sldId id="310" r:id="rId13"/>
    <p:sldId id="300" r:id="rId14"/>
    <p:sldId id="307" r:id="rId15"/>
    <p:sldId id="311" r:id="rId16"/>
    <p:sldId id="304" r:id="rId17"/>
    <p:sldId id="313" r:id="rId18"/>
    <p:sldId id="305" r:id="rId19"/>
    <p:sldId id="306" r:id="rId20"/>
    <p:sldId id="258" r:id="rId21"/>
  </p:sldIdLst>
  <p:sldSz cx="10693400" cy="601186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4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5A93"/>
    <a:srgbClr val="C0504D"/>
    <a:srgbClr val="323BE2"/>
    <a:srgbClr val="FFFFFF"/>
    <a:srgbClr val="E106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 autoAdjust="0"/>
    <p:restoredTop sz="88594" autoAdjust="0"/>
  </p:normalViewPr>
  <p:slideViewPr>
    <p:cSldViewPr>
      <p:cViewPr varScale="1">
        <p:scale>
          <a:sx n="117" d="100"/>
          <a:sy n="117" d="100"/>
        </p:scale>
        <p:origin x="1188" y="114"/>
      </p:cViewPr>
      <p:guideLst>
        <p:guide orient="horz" pos="1894"/>
        <p:guide pos="3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396"/>
    </p:cViewPr>
  </p:sorter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6FBC98-45A9-8544-8E74-4C576CCE3CE2}" type="doc">
      <dgm:prSet loTypeId="urn:microsoft.com/office/officeart/2005/8/layout/pyramid2" loCatId="" qsTypeId="urn:microsoft.com/office/officeart/2005/8/quickstyle/simple1" qsCatId="simple" csTypeId="urn:microsoft.com/office/officeart/2005/8/colors/accent1_2" csCatId="accent1" phldr="1"/>
      <dgm:spPr/>
    </dgm:pt>
    <dgm:pt modelId="{6A20EB0D-7B41-D04E-8D6E-D7C058025A06}">
      <dgm:prSet phldrT="[文本]" custT="1"/>
      <dgm:spPr/>
      <dgm:t>
        <a:bodyPr/>
        <a:lstStyle/>
        <a:p>
          <a:r>
            <a: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安全策略与红线</a:t>
          </a:r>
        </a:p>
      </dgm:t>
    </dgm:pt>
    <dgm:pt modelId="{D5C12DCD-E610-E34B-AC56-A01875FCDB32}" type="parTrans" cxnId="{6D857117-6C89-194F-B4BC-8669C2A154BD}">
      <dgm:prSet/>
      <dgm:spPr/>
      <dgm:t>
        <a:bodyPr/>
        <a:lstStyle/>
        <a:p>
          <a:endParaRPr lang="zh-CN" altLang="en-US"/>
        </a:p>
      </dgm:t>
    </dgm:pt>
    <dgm:pt modelId="{C952992A-84C3-C14A-9408-C383CA58CBAB}" type="sibTrans" cxnId="{6D857117-6C89-194F-B4BC-8669C2A154BD}">
      <dgm:prSet/>
      <dgm:spPr/>
      <dgm:t>
        <a:bodyPr/>
        <a:lstStyle/>
        <a:p>
          <a:endParaRPr lang="zh-CN" altLang="en-US"/>
        </a:p>
      </dgm:t>
    </dgm:pt>
    <dgm:pt modelId="{0547E837-8FD2-D242-8ABB-2CEE381BEF29}">
      <dgm:prSet phldrT="[文本]" custT="1"/>
      <dgm:spPr/>
      <dgm:t>
        <a:bodyPr/>
        <a:lstStyle/>
        <a:p>
          <a:r>
            <a: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安全规范与标准</a:t>
          </a:r>
        </a:p>
      </dgm:t>
    </dgm:pt>
    <dgm:pt modelId="{DCBCFB3D-0B19-BD49-8CD8-08781495C543}" type="parTrans" cxnId="{26C54FAD-0511-CB42-910C-03467619FD09}">
      <dgm:prSet/>
      <dgm:spPr/>
      <dgm:t>
        <a:bodyPr/>
        <a:lstStyle/>
        <a:p>
          <a:endParaRPr lang="zh-CN" altLang="en-US"/>
        </a:p>
      </dgm:t>
    </dgm:pt>
    <dgm:pt modelId="{DCF343D4-8973-F846-A360-59BEFD90AA5E}" type="sibTrans" cxnId="{26C54FAD-0511-CB42-910C-03467619FD09}">
      <dgm:prSet/>
      <dgm:spPr/>
      <dgm:t>
        <a:bodyPr/>
        <a:lstStyle/>
        <a:p>
          <a:endParaRPr lang="zh-CN" altLang="en-US"/>
        </a:p>
      </dgm:t>
    </dgm:pt>
    <dgm:pt modelId="{DB03DBF7-A3A8-A94C-BC0B-5B8653B38195}">
      <dgm:prSet phldrT="[文本]" custT="1"/>
      <dgm:spPr/>
      <dgm:t>
        <a:bodyPr/>
        <a:lstStyle/>
        <a:p>
          <a:r>
            <a: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安全指南与方案</a:t>
          </a:r>
        </a:p>
      </dgm:t>
    </dgm:pt>
    <dgm:pt modelId="{A8741D9A-99BB-604D-A989-0B585ACE436C}" type="parTrans" cxnId="{B2294E38-6DC2-D34C-AC9C-B5591D23F352}">
      <dgm:prSet/>
      <dgm:spPr/>
      <dgm:t>
        <a:bodyPr/>
        <a:lstStyle/>
        <a:p>
          <a:endParaRPr lang="zh-CN" altLang="en-US"/>
        </a:p>
      </dgm:t>
    </dgm:pt>
    <dgm:pt modelId="{7BB34D80-E9C5-D740-9D02-54EC1AC3BC51}" type="sibTrans" cxnId="{B2294E38-6DC2-D34C-AC9C-B5591D23F352}">
      <dgm:prSet/>
      <dgm:spPr/>
      <dgm:t>
        <a:bodyPr/>
        <a:lstStyle/>
        <a:p>
          <a:endParaRPr lang="zh-CN" altLang="en-US"/>
        </a:p>
      </dgm:t>
    </dgm:pt>
    <dgm:pt modelId="{68668A52-9AF5-0343-B9BB-90384CEF5B87}" type="pres">
      <dgm:prSet presAssocID="{786FBC98-45A9-8544-8E74-4C576CCE3CE2}" presName="compositeShape" presStyleCnt="0">
        <dgm:presLayoutVars>
          <dgm:dir/>
          <dgm:resizeHandles/>
        </dgm:presLayoutVars>
      </dgm:prSet>
      <dgm:spPr/>
    </dgm:pt>
    <dgm:pt modelId="{05F79AAC-BB9D-4A40-81CE-FF407DCDE01A}" type="pres">
      <dgm:prSet presAssocID="{786FBC98-45A9-8544-8E74-4C576CCE3CE2}" presName="pyramid" presStyleLbl="node1" presStyleIdx="0" presStyleCnt="1"/>
      <dgm:spPr/>
    </dgm:pt>
    <dgm:pt modelId="{BB4205CF-45AB-5446-88C7-B2BDD458E0C7}" type="pres">
      <dgm:prSet presAssocID="{786FBC98-45A9-8544-8E74-4C576CCE3CE2}" presName="theList" presStyleCnt="0"/>
      <dgm:spPr/>
    </dgm:pt>
    <dgm:pt modelId="{CA25FFE2-665C-B24D-9615-53FEF49C7A21}" type="pres">
      <dgm:prSet presAssocID="{6A20EB0D-7B41-D04E-8D6E-D7C058025A06}" presName="aNode" presStyleLbl="fgAcc1" presStyleIdx="0" presStyleCnt="3" custScaleX="106632" custScaleY="26035" custLinFactNeighborX="2215" custLinFactNeighborY="856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29D3372-0810-1041-8BE5-900E641F6076}" type="pres">
      <dgm:prSet presAssocID="{6A20EB0D-7B41-D04E-8D6E-D7C058025A06}" presName="aSpace" presStyleCnt="0"/>
      <dgm:spPr/>
    </dgm:pt>
    <dgm:pt modelId="{51A46396-83E3-AF45-B2F4-A2579753BBA6}" type="pres">
      <dgm:prSet presAssocID="{0547E837-8FD2-D242-8ABB-2CEE381BEF29}" presName="aNode" presStyleLbl="fgAcc1" presStyleIdx="1" presStyleCnt="3" custScaleX="106632" custScaleY="26035" custLinFactNeighborX="2215" custLinFactNeighborY="856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A6C4328-8FF3-C840-9279-15ECFF52F2DF}" type="pres">
      <dgm:prSet presAssocID="{0547E837-8FD2-D242-8ABB-2CEE381BEF29}" presName="aSpace" presStyleCnt="0"/>
      <dgm:spPr/>
    </dgm:pt>
    <dgm:pt modelId="{3864B905-FCCA-2A44-BA05-287B1D3E9F74}" type="pres">
      <dgm:prSet presAssocID="{DB03DBF7-A3A8-A94C-BC0B-5B8653B38195}" presName="aNode" presStyleLbl="fgAcc1" presStyleIdx="2" presStyleCnt="3" custScaleX="106632" custScaleY="26035" custLinFactNeighborX="2215" custLinFactNeighborY="856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41D6C5D-F5AC-F74C-A8D6-4A6CD1D15C4A}" type="pres">
      <dgm:prSet presAssocID="{DB03DBF7-A3A8-A94C-BC0B-5B8653B38195}" presName="aSpace" presStyleCnt="0"/>
      <dgm:spPr/>
    </dgm:pt>
  </dgm:ptLst>
  <dgm:cxnLst>
    <dgm:cxn modelId="{6D857117-6C89-194F-B4BC-8669C2A154BD}" srcId="{786FBC98-45A9-8544-8E74-4C576CCE3CE2}" destId="{6A20EB0D-7B41-D04E-8D6E-D7C058025A06}" srcOrd="0" destOrd="0" parTransId="{D5C12DCD-E610-E34B-AC56-A01875FCDB32}" sibTransId="{C952992A-84C3-C14A-9408-C383CA58CBAB}"/>
    <dgm:cxn modelId="{B3ABBB11-10F0-D048-A0B6-9E3656D4E7B1}" type="presOf" srcId="{786FBC98-45A9-8544-8E74-4C576CCE3CE2}" destId="{68668A52-9AF5-0343-B9BB-90384CEF5B87}" srcOrd="0" destOrd="0" presId="urn:microsoft.com/office/officeart/2005/8/layout/pyramid2"/>
    <dgm:cxn modelId="{69D83242-5E8C-2E4C-8EB1-9187FCD6C830}" type="presOf" srcId="{0547E837-8FD2-D242-8ABB-2CEE381BEF29}" destId="{51A46396-83E3-AF45-B2F4-A2579753BBA6}" srcOrd="0" destOrd="0" presId="urn:microsoft.com/office/officeart/2005/8/layout/pyramid2"/>
    <dgm:cxn modelId="{26C54FAD-0511-CB42-910C-03467619FD09}" srcId="{786FBC98-45A9-8544-8E74-4C576CCE3CE2}" destId="{0547E837-8FD2-D242-8ABB-2CEE381BEF29}" srcOrd="1" destOrd="0" parTransId="{DCBCFB3D-0B19-BD49-8CD8-08781495C543}" sibTransId="{DCF343D4-8973-F846-A360-59BEFD90AA5E}"/>
    <dgm:cxn modelId="{A981F9FA-879E-B549-B9E7-1356B9C21D99}" type="presOf" srcId="{6A20EB0D-7B41-D04E-8D6E-D7C058025A06}" destId="{CA25FFE2-665C-B24D-9615-53FEF49C7A21}" srcOrd="0" destOrd="0" presId="urn:microsoft.com/office/officeart/2005/8/layout/pyramid2"/>
    <dgm:cxn modelId="{86771FAC-B6E3-4141-9376-30854C9B257E}" type="presOf" srcId="{DB03DBF7-A3A8-A94C-BC0B-5B8653B38195}" destId="{3864B905-FCCA-2A44-BA05-287B1D3E9F74}" srcOrd="0" destOrd="0" presId="urn:microsoft.com/office/officeart/2005/8/layout/pyramid2"/>
    <dgm:cxn modelId="{B2294E38-6DC2-D34C-AC9C-B5591D23F352}" srcId="{786FBC98-45A9-8544-8E74-4C576CCE3CE2}" destId="{DB03DBF7-A3A8-A94C-BC0B-5B8653B38195}" srcOrd="2" destOrd="0" parTransId="{A8741D9A-99BB-604D-A989-0B585ACE436C}" sibTransId="{7BB34D80-E9C5-D740-9D02-54EC1AC3BC51}"/>
    <dgm:cxn modelId="{F23B7E88-B287-B540-9A91-9B1769027DF4}" type="presParOf" srcId="{68668A52-9AF5-0343-B9BB-90384CEF5B87}" destId="{05F79AAC-BB9D-4A40-81CE-FF407DCDE01A}" srcOrd="0" destOrd="0" presId="urn:microsoft.com/office/officeart/2005/8/layout/pyramid2"/>
    <dgm:cxn modelId="{AA384C0A-49D9-484A-BE72-44D7645057EC}" type="presParOf" srcId="{68668A52-9AF5-0343-B9BB-90384CEF5B87}" destId="{BB4205CF-45AB-5446-88C7-B2BDD458E0C7}" srcOrd="1" destOrd="0" presId="urn:microsoft.com/office/officeart/2005/8/layout/pyramid2"/>
    <dgm:cxn modelId="{599D76ED-3CCC-8C47-936F-ACF5994EA0ED}" type="presParOf" srcId="{BB4205CF-45AB-5446-88C7-B2BDD458E0C7}" destId="{CA25FFE2-665C-B24D-9615-53FEF49C7A21}" srcOrd="0" destOrd="0" presId="urn:microsoft.com/office/officeart/2005/8/layout/pyramid2"/>
    <dgm:cxn modelId="{6B1015E1-9FF8-1143-8645-EA81AF7C5D90}" type="presParOf" srcId="{BB4205CF-45AB-5446-88C7-B2BDD458E0C7}" destId="{A29D3372-0810-1041-8BE5-900E641F6076}" srcOrd="1" destOrd="0" presId="urn:microsoft.com/office/officeart/2005/8/layout/pyramid2"/>
    <dgm:cxn modelId="{07357D8A-6E2C-6D49-8438-5C64A402C7F1}" type="presParOf" srcId="{BB4205CF-45AB-5446-88C7-B2BDD458E0C7}" destId="{51A46396-83E3-AF45-B2F4-A2579753BBA6}" srcOrd="2" destOrd="0" presId="urn:microsoft.com/office/officeart/2005/8/layout/pyramid2"/>
    <dgm:cxn modelId="{B010677C-9DE9-6D49-9689-E7C1B374CD17}" type="presParOf" srcId="{BB4205CF-45AB-5446-88C7-B2BDD458E0C7}" destId="{AA6C4328-8FF3-C840-9279-15ECFF52F2DF}" srcOrd="3" destOrd="0" presId="urn:microsoft.com/office/officeart/2005/8/layout/pyramid2"/>
    <dgm:cxn modelId="{27A5AC5E-DC19-A84A-8D98-6BD38FFFD1A6}" type="presParOf" srcId="{BB4205CF-45AB-5446-88C7-B2BDD458E0C7}" destId="{3864B905-FCCA-2A44-BA05-287B1D3E9F74}" srcOrd="4" destOrd="0" presId="urn:microsoft.com/office/officeart/2005/8/layout/pyramid2"/>
    <dgm:cxn modelId="{AF2FAEE5-11A0-AA45-918A-6D57C95E9A0F}" type="presParOf" srcId="{BB4205CF-45AB-5446-88C7-B2BDD458E0C7}" destId="{D41D6C5D-F5AC-F74C-A8D6-4A6CD1D15C4A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F79AAC-BB9D-4A40-81CE-FF407DCDE01A}">
      <dsp:nvSpPr>
        <dsp:cNvPr id="0" name=""/>
        <dsp:cNvSpPr/>
      </dsp:nvSpPr>
      <dsp:spPr>
        <a:xfrm>
          <a:off x="528866" y="0"/>
          <a:ext cx="2596988" cy="2596988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5FFE2-665C-B24D-9615-53FEF49C7A21}">
      <dsp:nvSpPr>
        <dsp:cNvPr id="0" name=""/>
        <dsp:cNvSpPr/>
      </dsp:nvSpPr>
      <dsp:spPr>
        <a:xfrm>
          <a:off x="1808775" y="452931"/>
          <a:ext cx="1799993" cy="46747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安全策略与红线</a:t>
          </a:r>
        </a:p>
      </dsp:txBody>
      <dsp:txXfrm>
        <a:off x="1831595" y="475751"/>
        <a:ext cx="1754353" cy="421837"/>
      </dsp:txXfrm>
    </dsp:sp>
    <dsp:sp modelId="{51A46396-83E3-AF45-B2F4-A2579753BBA6}">
      <dsp:nvSpPr>
        <dsp:cNvPr id="0" name=""/>
        <dsp:cNvSpPr/>
      </dsp:nvSpPr>
      <dsp:spPr>
        <a:xfrm>
          <a:off x="1808775" y="1144855"/>
          <a:ext cx="1799993" cy="46747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安全规范与标准</a:t>
          </a:r>
        </a:p>
      </dsp:txBody>
      <dsp:txXfrm>
        <a:off x="1831595" y="1167675"/>
        <a:ext cx="1754353" cy="421837"/>
      </dsp:txXfrm>
    </dsp:sp>
    <dsp:sp modelId="{3864B905-FCCA-2A44-BA05-287B1D3E9F74}">
      <dsp:nvSpPr>
        <dsp:cNvPr id="0" name=""/>
        <dsp:cNvSpPr/>
      </dsp:nvSpPr>
      <dsp:spPr>
        <a:xfrm>
          <a:off x="1808775" y="1836780"/>
          <a:ext cx="1799993" cy="467477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>
              <a:latin typeface="Microsoft YaHei" panose="020B0503020204020204" pitchFamily="34" charset="-122"/>
              <a:ea typeface="Microsoft YaHei" panose="020B0503020204020204" pitchFamily="34" charset="-122"/>
            </a:rPr>
            <a:t>安全指南与方案</a:t>
          </a:r>
        </a:p>
      </dsp:txBody>
      <dsp:txXfrm>
        <a:off x="1831595" y="1859600"/>
        <a:ext cx="1754353" cy="4218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BF5A-6B8E-4734-B50A-6FA94DE9FA88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8C9BA-D35E-4FDA-8FF8-15D600311D2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2934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13C30A-1F7E-4621-9A1B-097C8CDFA4A3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91AF7-1A50-4AB1-A0DA-F4E33539341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2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10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022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85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865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57229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3732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通过各类隧道、代理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、反弹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shell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方式，将内网服务映射到外网得行为均为违规行为。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外网环境下登录度管家或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Cisco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客户端，通过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HI-BEEP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RSA TOKEN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等认证方式接入办公网。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访问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IDC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服务器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经过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relay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堡垒机。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9312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安全要求： </a:t>
            </a:r>
            <a:endParaRPr lang="en-US" altLang="zh-CN" dirty="0"/>
          </a:p>
          <a:p>
            <a:r>
              <a:rPr lang="zh-CN" altLang="zh-CN" dirty="0"/>
              <a:t>《百度安全红线》</a:t>
            </a:r>
            <a:r>
              <a:rPr lang="en-US" altLang="zh-CN" dirty="0"/>
              <a:t>1-4</a:t>
            </a:r>
            <a:r>
              <a:rPr lang="zh-CN" altLang="zh-CN" dirty="0"/>
              <a:t>：禁止员工擅自将工作相关信息（如帐号密码、产品代码、工作邮件、内部通报等公司业务、经营、管理相关数据或内容）上传到第三方平台（如百度网盘、</a:t>
            </a:r>
            <a:r>
              <a:rPr lang="en-US" altLang="zh-CN" dirty="0"/>
              <a:t>GitHub</a:t>
            </a:r>
            <a:r>
              <a:rPr lang="zh-CN" altLang="zh-CN" dirty="0"/>
              <a:t>等）</a:t>
            </a:r>
            <a:r>
              <a:rPr lang="zh-CN" altLang="en-US" dirty="0"/>
              <a:t>。</a:t>
            </a:r>
            <a:endParaRPr lang="zh-CN" altLang="zh-CN" dirty="0"/>
          </a:p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7541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7196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4976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常见弱密码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6764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634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16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8120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3257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587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4752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891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3179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191AF7-1A50-4AB1-A0DA-F4E33539341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557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663604" y="5565062"/>
            <a:ext cx="2495127" cy="320076"/>
          </a:xfrm>
        </p:spPr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5644" y="4492699"/>
            <a:ext cx="10009112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9104" y="1277739"/>
            <a:ext cx="3330837" cy="24920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705" y="3863179"/>
            <a:ext cx="9089390" cy="119402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4705" y="2548084"/>
            <a:ext cx="9089390" cy="131509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Picture 3" descr="C:\Users\wumin\Desktop\4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41686" y="2476297"/>
            <a:ext cx="2601158" cy="772168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4132" y="4771119"/>
            <a:ext cx="10297144" cy="729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8188" y="3320252"/>
            <a:ext cx="9217024" cy="45719"/>
          </a:xfrm>
          <a:prstGeom prst="rect">
            <a:avLst/>
          </a:prstGeom>
          <a:noFill/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3091" y="3361450"/>
            <a:ext cx="1519225" cy="11366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5639" y="1230206"/>
            <a:ext cx="5537918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41781" y="1230206"/>
            <a:ext cx="5537919" cy="347769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345712"/>
            <a:ext cx="4724775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4670" y="1906540"/>
            <a:ext cx="4724775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32099" y="1345712"/>
            <a:ext cx="4726631" cy="56082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32099" y="1906540"/>
            <a:ext cx="4726631" cy="34637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4671" y="239361"/>
            <a:ext cx="3518055" cy="10186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80822" y="239361"/>
            <a:ext cx="5977908" cy="51309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4671" y="1258038"/>
            <a:ext cx="3518055" cy="41122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95981" y="4208304"/>
            <a:ext cx="6416040" cy="49681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095981" y="537171"/>
            <a:ext cx="6416040" cy="360711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095981" y="4705118"/>
            <a:ext cx="6416040" cy="70555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067112" y="211529"/>
            <a:ext cx="2812588" cy="449637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5639" y="211529"/>
            <a:ext cx="8263250" cy="449637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76" b="77608" l="2185" r="98647">
                        <a14:backgroundMark x1="23933" y1="90542" x2="23933" y2="90542"/>
                        <a14:backgroundMark x1="55255" y1="92629" x2="55255" y2="92629"/>
                        <a14:backgroundMark x1="83143" y1="91099" x2="83143" y2="91099"/>
                        <a14:backgroundMark x1="77732" y1="4172" x2="77732" y2="4172"/>
                        <a14:backgroundMark x1="32778" y1="3616" x2="32778" y2="3616"/>
                        <a14:backgroundMark x1="8012" y1="84284" x2="8012" y2="84284"/>
                        <a14:backgroundMark x1="40999" y1="86926" x2="40999" y2="86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140" y="-49117"/>
            <a:ext cx="1235548" cy="92441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34670" y="240753"/>
            <a:ext cx="9624060" cy="10019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4670" y="1402768"/>
            <a:ext cx="9624060" cy="396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34670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F312B70F-DF10-4336-ADCF-617C02561E36}" type="datetimeFigureOut">
              <a:rPr lang="zh-CN" altLang="en-US" smtClean="0"/>
              <a:pPr/>
              <a:t>2019/7/2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53579" y="5572107"/>
            <a:ext cx="3386243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63603" y="5572107"/>
            <a:ext cx="2495127" cy="3200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fld id="{6CE2906C-1822-439C-9592-AB22BD010E33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Picture 2" descr="C:\Users\wumin\Desktop\++3.png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78148" y="5454203"/>
            <a:ext cx="9937104" cy="45719"/>
          </a:xfrm>
          <a:prstGeom prst="rect">
            <a:avLst/>
          </a:prstGeom>
          <a:noFill/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5813" y="5525457"/>
            <a:ext cx="2027471" cy="43280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等线" panose="02010600030101010101" pitchFamily="2" charset="-122"/>
          <a:ea typeface="等线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8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9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scan.baidu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if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baidu.com/ssp/web/#/require/work/detail?from=page&amp;id=4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tiff"/><Relationship Id="rId4" Type="http://schemas.openxmlformats.org/officeDocument/2006/relationships/hyperlink" Target="http://wiki.baidu.com/pages/viewpage.action?pageId=497101082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baidu.com/ssp/web/#/require/work/detail?id=48&amp;from=pag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security.baidu.com/myflaw/web/#/report/apply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tiff"/><Relationship Id="rId4" Type="http://schemas.openxmlformats.org/officeDocument/2006/relationships/image" Target="../media/image25.tif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4492" y="3870027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百度安全制度要求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3194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百度安全制度介绍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3337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常见场景及安全要求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3477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课程总结</a:t>
            </a:r>
          </a:p>
        </p:txBody>
      </p:sp>
    </p:spTree>
    <p:extLst>
      <p:ext uri="{BB962C8B-B14F-4D97-AF65-F5344CB8AC3E}">
        <p14:creationId xmlns:p14="http://schemas.microsoft.com/office/powerpoint/2010/main" val="12354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2960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百度安全制度介绍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="" xmlns:a16="http://schemas.microsoft.com/office/drawing/2014/main" id="{630A7275-432B-D849-AABF-DC8F7569E5BF}"/>
              </a:ext>
            </a:extLst>
          </p:cNvPr>
          <p:cNvSpPr txBox="1"/>
          <p:nvPr/>
        </p:nvSpPr>
        <p:spPr>
          <a:xfrm>
            <a:off x="515191" y="1133723"/>
            <a:ext cx="5191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安全统一服务平台</a:t>
            </a:r>
            <a:r>
              <a:rPr kumimoji="1" lang="zh-CN" altLang="en-US" dirty="0"/>
              <a:t>：</a:t>
            </a:r>
            <a:r>
              <a:rPr kumimoji="1" lang="en-US" altLang="zh-CN" dirty="0"/>
              <a:t>http://</a:t>
            </a:r>
            <a:r>
              <a:rPr kumimoji="1" lang="en-US" altLang="zh-CN" dirty="0" err="1"/>
              <a:t>security.baidu.com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ssp</a:t>
            </a:r>
            <a:r>
              <a:rPr kumimoji="1" lang="en-US" altLang="zh-CN" dirty="0"/>
              <a:t>/</a:t>
            </a:r>
            <a:r>
              <a:rPr kumimoji="1" lang="zh-CN" altLang="en-US" dirty="0"/>
              <a:t> 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7CEC1144-C926-224F-B221-BE9BAD7E6E81}"/>
              </a:ext>
            </a:extLst>
          </p:cNvPr>
          <p:cNvGrpSpPr>
            <a:grpSpLocks noChangeAspect="1"/>
          </p:cNvGrpSpPr>
          <p:nvPr/>
        </p:nvGrpSpPr>
        <p:grpSpPr>
          <a:xfrm>
            <a:off x="5695200" y="614636"/>
            <a:ext cx="4548044" cy="4824536"/>
            <a:chOff x="5634732" y="629667"/>
            <a:chExt cx="3960000" cy="4187610"/>
          </a:xfrm>
        </p:grpSpPr>
        <p:pic>
          <p:nvPicPr>
            <p:cNvPr id="8" name="图片 7">
              <a:extLst>
                <a:ext uri="{FF2B5EF4-FFF2-40B4-BE49-F238E27FC236}">
                  <a16:creationId xmlns="" xmlns:a16="http://schemas.microsoft.com/office/drawing/2014/main" id="{E3F2F32E-9685-C243-9269-1F44F9D555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4732" y="629667"/>
              <a:ext cx="3960000" cy="2327428"/>
            </a:xfrm>
            <a:prstGeom prst="rect">
              <a:avLst/>
            </a:prstGeom>
          </p:spPr>
        </p:pic>
        <p:pic>
          <p:nvPicPr>
            <p:cNvPr id="13" name="图片 12">
              <a:extLst>
                <a:ext uri="{FF2B5EF4-FFF2-40B4-BE49-F238E27FC236}">
                  <a16:creationId xmlns="" xmlns:a16="http://schemas.microsoft.com/office/drawing/2014/main" id="{9BE10E55-CC1D-FB49-A72C-10393046A9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34732" y="3005931"/>
              <a:ext cx="3960000" cy="1811346"/>
            </a:xfrm>
            <a:prstGeom prst="rect">
              <a:avLst/>
            </a:prstGeom>
          </p:spPr>
        </p:pic>
      </p:grpSp>
      <p:graphicFrame>
        <p:nvGraphicFramePr>
          <p:cNvPr id="9" name="图示 8">
            <a:extLst>
              <a:ext uri="{FF2B5EF4-FFF2-40B4-BE49-F238E27FC236}">
                <a16:creationId xmlns="" xmlns:a16="http://schemas.microsoft.com/office/drawing/2014/main" id="{AA1D0F0A-1334-1344-9762-23662982FB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3258007"/>
              </p:ext>
            </p:extLst>
          </p:nvPr>
        </p:nvGraphicFramePr>
        <p:xfrm>
          <a:off x="729817" y="2141835"/>
          <a:ext cx="4100245" cy="2596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24462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3194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百度安全制度介绍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3337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常见场景及安全要求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3477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课程总结</a:t>
            </a:r>
          </a:p>
        </p:txBody>
      </p:sp>
    </p:spTree>
    <p:extLst>
      <p:ext uri="{BB962C8B-B14F-4D97-AF65-F5344CB8AC3E}">
        <p14:creationId xmlns:p14="http://schemas.microsoft.com/office/powerpoint/2010/main" val="117140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百度安全红线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85508135-9FA6-DD45-8118-004AD8C67123}"/>
              </a:ext>
            </a:extLst>
          </p:cNvPr>
          <p:cNvSpPr txBox="1"/>
          <p:nvPr/>
        </p:nvSpPr>
        <p:spPr>
          <a:xfrm>
            <a:off x="8674443" y="14580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35CDBC0E-3014-924C-A309-C617948AA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524" y="779668"/>
            <a:ext cx="6558820" cy="426431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1970" y="1205731"/>
            <a:ext cx="333657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公司安全委员会发布的公司级安全红线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初衷：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加强员工安全意识，尽可能避免给公司造成低级的高危风险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事件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违反即为一级违规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885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6805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百度安全红线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="" xmlns:a16="http://schemas.microsoft.com/office/drawing/2014/main" id="{85508135-9FA6-DD45-8118-004AD8C67123}"/>
              </a:ext>
            </a:extLst>
          </p:cNvPr>
          <p:cNvSpPr txBox="1"/>
          <p:nvPr/>
        </p:nvSpPr>
        <p:spPr>
          <a:xfrm>
            <a:off x="8674443" y="145809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4" name="内容占位符 2">
            <a:extLst>
              <a:ext uri="{FF2B5EF4-FFF2-40B4-BE49-F238E27FC236}">
                <a16:creationId xmlns="" xmlns:a16="http://schemas.microsoft.com/office/drawing/2014/main" id="{ED8DA421-5B21-0141-BF39-4969F1B168FE}"/>
              </a:ext>
            </a:extLst>
          </p:cNvPr>
          <p:cNvSpPr txBox="1">
            <a:spLocks/>
          </p:cNvSpPr>
          <p:nvPr/>
        </p:nvSpPr>
        <p:spPr bwMode="auto">
          <a:xfrm>
            <a:off x="1420563" y="917699"/>
            <a:ext cx="7253880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2000" b="1">
                <a:solidFill>
                  <a:schemeClr val="tx1"/>
                </a:solidFill>
                <a:latin typeface="+mn-lt"/>
                <a:ea typeface="宋体" pitchFamily="2" charset="-122"/>
              </a:defRPr>
            </a:lvl2pPr>
            <a:lvl3pPr marL="11430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•"/>
              <a:defRPr sz="2400" b="1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–"/>
              <a:defRPr sz="1600" b="1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  <a:lvl6pPr marL="25146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6pPr>
            <a:lvl7pPr marL="29718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7pPr>
            <a:lvl8pPr marL="34290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8pPr>
            <a:lvl9pPr marL="3886200" indent="-228600" algn="l" rtl="0" eaLnBrk="1" fontAlgn="base" hangingPunct="1">
              <a:lnSpc>
                <a:spcPct val="115000"/>
              </a:lnSpc>
              <a:spcBef>
                <a:spcPct val="25000"/>
              </a:spcBef>
              <a:spcAft>
                <a:spcPct val="25000"/>
              </a:spcAft>
              <a:buClr>
                <a:srgbClr val="2318DE"/>
              </a:buClr>
              <a:buSzPct val="150000"/>
              <a:buChar char="»"/>
              <a:defRPr sz="1400" b="1">
                <a:solidFill>
                  <a:schemeClr val="tx1"/>
                </a:solidFill>
                <a:latin typeface="+mn-lt"/>
                <a:ea typeface="宋体" pitchFamily="2" charset="-122"/>
              </a:defRPr>
            </a:lvl9pPr>
          </a:lstStyle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1-1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禁止擅自搭建公网到内网的代理服务。</a:t>
            </a:r>
            <a:endParaRPr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黑体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1-2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禁止所有对外系统、存储或可访问到公司机密数据的内部系统无认证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弱密码登陆。</a:t>
            </a:r>
            <a:endParaRPr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黑体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1-3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用户个人敏感信息数据默认情况下禁止明文输出或存储。</a:t>
            </a:r>
            <a:endParaRPr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黑体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1-4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禁止员工擅自将工作相关信息上传到第三方平台。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1-5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禁止可直接操作网络类及机器类的基础运维系统对公网开放。</a:t>
            </a:r>
            <a:endParaRPr lang="en-US" altLang="zh-CN" sz="1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黑体"/>
            </a:endParaRPr>
          </a:p>
          <a:p>
            <a:pPr marL="0" indent="0">
              <a:buNone/>
            </a:pPr>
            <a:r>
              <a:rPr lang="en-US" altLang="zh-CN" sz="1600" b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黑体"/>
              </a:rPr>
              <a:t>1-6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禁止公司任何产品设计或实现任何后门性质的功能。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2-1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从办公网访问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IDC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服务器需经过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Relay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堡垒机。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2-2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外部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SDK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在正式引入百度线上服务前，需按要求通过安全评估并修复发现的安全漏洞</a:t>
            </a:r>
            <a:r>
              <a:rPr lang="zh-CN" altLang="en-US" sz="1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043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035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禁止擅自搭建公网到内网的代理服务</a:t>
            </a:r>
            <a:endParaRPr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Bad </a:t>
            </a:r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觉得每次登录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relay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特别麻烦，有时候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在家里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有突发任务，需从公网访问内网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为了快速高效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，搭建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一个外网到内网的代理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，直接可以访问内网服务器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A067DED0-1550-9742-8529-0D284A643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468" y="1997819"/>
            <a:ext cx="5759999" cy="324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33D97FEA-4324-D34B-89CD-DB5BC74105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84" y="4014043"/>
            <a:ext cx="2262857" cy="1440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8119" y="2285851"/>
            <a:ext cx="278916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感受攻击者的速度：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上午开放代理，下午就被外部黑客入侵（参照真实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另外也不要在办公网、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IDC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环境使用外部代理，否则面临合规监管风险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193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6343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禁止擅自将工作信息上传到第三方平台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的项目终于上线啦，为了分享成果，他将项目代码上传到了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0166C52F-8C92-3A44-BE66-336EC47FE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460" y="1781795"/>
            <a:ext cx="5760000" cy="324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3745B0C5-FFD2-9E42-8A77-77497F382F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84" y="4014043"/>
            <a:ext cx="2262857" cy="1440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88119" y="2501875"/>
            <a:ext cx="27891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感受攻击者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的专注：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外部黑客发现了代码，审计出代码漏洞后，直接入侵到对应业务服务器，再利用泄露的密码进一步渗透！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3198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72939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2.1.3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引入百度线上服务前要经过安全评估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7740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参与的项目需要引入一个外部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SDK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，他直接将代码合入上线了。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5BF15DB2-155C-204A-AF14-3CCB3BC33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492" y="1853803"/>
            <a:ext cx="5559902" cy="31274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8EFFD1C8-1802-BF45-9DAB-1390B32664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3084" y="4014043"/>
            <a:ext cx="2262857" cy="14400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88119" y="2310819"/>
            <a:ext cx="27891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任何引入外部输入的地方都是面临安全威胁的！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输入包括但不限于：参数数据、代码、物料、聊天消息、邮件。。。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25281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064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办公安全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91D819C9-D8EA-AB4E-9051-071441CFE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1715"/>
            <a:ext cx="10693400" cy="3826246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490716" y="1781795"/>
            <a:ext cx="5024825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/>
              <a:t>划重点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办公网络中员工角色众多，各角色除了面临各类普适性的安全威胁外（钓鱼、中毒、盗号等）、也可能会因为安全意识等不同原因造成各类安全事件</a:t>
            </a:r>
            <a:r>
              <a:rPr lang="zh-CN" altLang="en-US" dirty="0"/>
              <a:t>或</a:t>
            </a:r>
            <a:r>
              <a:rPr lang="zh-CN" altLang="en-US" dirty="0" smtClean="0"/>
              <a:t>违规，这里的规范</a:t>
            </a:r>
            <a:r>
              <a:rPr lang="en-US" altLang="zh-CN" dirty="0" smtClean="0"/>
              <a:t>/</a:t>
            </a:r>
            <a:r>
              <a:rPr lang="zh-CN" altLang="en-US" dirty="0" smtClean="0"/>
              <a:t>策略会帮助到大家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40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0B88559-E2CD-1C45-ABFC-A39E618944B1}"/>
              </a:ext>
            </a:extLst>
          </p:cNvPr>
          <p:cNvSpPr txBox="1"/>
          <p:nvPr/>
        </p:nvSpPr>
        <p:spPr>
          <a:xfrm>
            <a:off x="606144" y="2573883"/>
            <a:ext cx="91720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安全要求：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《百度员工信息安全要求》工作帐号密码须满足一定的复杂性，并定期修改，公司建议的密码规则如下：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长度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位或以上；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包含大、小写字母、数字和特殊字符四类字符中至少三类；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至少连续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次口令不能重复；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口令有效期最长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天；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弱密码自查与强密码生成器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C7EB1746-CB56-DF45-9D8C-E6B41EFB8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589" y="1776961"/>
            <a:ext cx="5328270" cy="365571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FB982421-48D1-4543-AA50-43018F1C03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7589" y="1917876"/>
            <a:ext cx="5315277" cy="3392311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4967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工作账号需要设置强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研发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新同学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入职一周了，终于要开始跟项目干活了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。开开心心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申请了一台开发测试机，账号密码设置为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quanxiaodi960101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665A4935-D582-9F4E-8A11-6CA7700B15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399" y="3999100"/>
            <a:ext cx="226285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87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2335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  IDC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基础环境安全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="" xmlns:a16="http://schemas.microsoft.com/office/drawing/2014/main" id="{CB135314-3131-C547-8733-AEF50B961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" y="928061"/>
            <a:ext cx="10693400" cy="411636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90716" y="1640681"/>
            <a:ext cx="5024825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/>
              <a:t>划重点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这部分规范</a:t>
            </a:r>
            <a:r>
              <a:rPr lang="en-US" altLang="zh-CN" dirty="0" smtClean="0"/>
              <a:t>/</a:t>
            </a:r>
            <a:r>
              <a:rPr lang="zh-CN" altLang="en-US" dirty="0" smtClean="0"/>
              <a:t>策略主要与</a:t>
            </a:r>
            <a:r>
              <a:rPr lang="en-US" altLang="zh-CN" dirty="0" smtClean="0"/>
              <a:t>RD</a:t>
            </a:r>
            <a:r>
              <a:rPr lang="zh-CN" altLang="en-US" dirty="0" smtClean="0"/>
              <a:t>、</a:t>
            </a:r>
            <a:r>
              <a:rPr lang="en-US" altLang="zh-CN" dirty="0" smtClean="0"/>
              <a:t>QA</a:t>
            </a:r>
            <a:r>
              <a:rPr lang="zh-CN" altLang="en-US" dirty="0" smtClean="0"/>
              <a:t>、</a:t>
            </a:r>
            <a:r>
              <a:rPr lang="en-US" altLang="zh-CN" dirty="0" smtClean="0"/>
              <a:t>OP</a:t>
            </a:r>
            <a:r>
              <a:rPr lang="zh-CN" altLang="en-US" dirty="0" smtClean="0"/>
              <a:t>等技术角色同学强相关，在涉及到</a:t>
            </a:r>
            <a:r>
              <a:rPr lang="en-US" altLang="zh-CN" dirty="0" smtClean="0"/>
              <a:t>IDC</a:t>
            </a:r>
            <a:r>
              <a:rPr lang="zh-CN" altLang="en-US" dirty="0" smtClean="0"/>
              <a:t>内网络、机器及其上服务相关的安全规范</a:t>
            </a:r>
            <a:r>
              <a:rPr lang="en-US" altLang="zh-CN" dirty="0" smtClean="0"/>
              <a:t>/</a:t>
            </a:r>
            <a:r>
              <a:rPr lang="zh-CN" altLang="en-US" dirty="0" smtClean="0"/>
              <a:t>策略可以这里查阅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0824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57278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</a:t>
            </a:r>
            <a:r>
              <a:rPr lang="zh-CN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私自扩大外网权限范围及用途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内一台机器因存在特殊需求，需开放</a:t>
            </a:r>
            <a:r>
              <a:rPr lang="zh-CN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独立外网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但无需对外开放端口，经过安全评估之后，向安全部确认此需求并进行备案。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过了些天，业务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临时需要一台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有外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网权限的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机器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端口进行测试，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就修改了该机器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iptables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规则，开放了端口。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0B88559-E2CD-1C45-ABFC-A39E618944B1}"/>
              </a:ext>
            </a:extLst>
          </p:cNvPr>
          <p:cNvSpPr txBox="1"/>
          <p:nvPr/>
        </p:nvSpPr>
        <p:spPr>
          <a:xfrm>
            <a:off x="594172" y="2357859"/>
            <a:ext cx="917200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安全要求：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《百度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IDC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基础环境安全管理规范》：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禁止私自扩大外网权限范围及用途，包括但不限于：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扩大拥有外网权限的服务器范围，如私自设置任意形式的代理，给未经授权的机器提供外网权限；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私自扩大服务器自身的外网权限，如私自更改外网服务器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iptables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规则，导致大量未授权服务、端口对外；私自设置任意形式的外网权限中转；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申请的外网权限（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、域名、端口）私自变更业务用途；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端口提供非申请时所填写的服务类型；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如需变更用途：产品线、端口、服务类型，须重新发起审批流程。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70799E8B-7869-524F-9217-25A049DCC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467" y="4014203"/>
            <a:ext cx="226285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27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50209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2.3.2 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对外开放高危端口和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对外部业务有合作需求，于是便申请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了外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机器的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mysql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网，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以实现和合作单位的数据共享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0B88559-E2CD-1C45-ABFC-A39E618944B1}"/>
              </a:ext>
            </a:extLst>
          </p:cNvPr>
          <p:cNvSpPr txBox="1"/>
          <p:nvPr/>
        </p:nvSpPr>
        <p:spPr>
          <a:xfrm>
            <a:off x="594172" y="2357859"/>
            <a:ext cx="91720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安全要求：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禁止对外开放高危端口和服务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具体高危端口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服务详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外网高危服务和端口列表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，涉及例外情况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需经过安全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评估和审批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另外，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共享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流通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需参照公司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百度数据流通规范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来事先做好安全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review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和相应安全加固。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BB4FD8BB-FA3C-A445-80FD-5913F16902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467" y="4014203"/>
            <a:ext cx="226285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06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29883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数据安全与隐私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6D11F00C-EF62-FF44-84CC-476A44C1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8682"/>
            <a:ext cx="10693400" cy="381449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90716" y="1781795"/>
            <a:ext cx="5024825" cy="107721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/>
              <a:t>划重点</a:t>
            </a:r>
            <a:r>
              <a:rPr lang="zh-CN" altLang="en-US" b="1" dirty="0" smtClean="0"/>
              <a:t>：</a:t>
            </a:r>
            <a:r>
              <a:rPr lang="zh-CN" altLang="en-US" dirty="0" smtClean="0"/>
              <a:t>大多数业务</a:t>
            </a:r>
            <a:r>
              <a:rPr lang="en-US" altLang="zh-CN" dirty="0" smtClean="0"/>
              <a:t>/</a:t>
            </a:r>
            <a:r>
              <a:rPr lang="zh-CN" altLang="en-US" dirty="0" smtClean="0"/>
              <a:t>产品都涉及到用户</a:t>
            </a:r>
            <a:r>
              <a:rPr lang="en-US" altLang="zh-CN" dirty="0" smtClean="0"/>
              <a:t>/</a:t>
            </a:r>
            <a:r>
              <a:rPr lang="zh-CN" altLang="en-US" dirty="0" smtClean="0"/>
              <a:t>员工</a:t>
            </a:r>
            <a:r>
              <a:rPr lang="en-US" altLang="zh-CN" dirty="0" smtClean="0"/>
              <a:t>/</a:t>
            </a:r>
            <a:r>
              <a:rPr lang="zh-CN" altLang="en-US" dirty="0" smtClean="0"/>
              <a:t>业务等数据的采集、传输、存储、流转、使用、共享等，那各个环节的基础安全保障有什么要求是需要了解的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1002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8811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2.4.1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机密数据须加密传输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58801" y="1206500"/>
            <a:ext cx="95404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lang="zh-CN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某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业务涉及到用户信息收集（手机号），按照《百度数据安全策略》要求，原则上必须使用加密方式进行传输，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对数据进行处理，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就万事大吉了。</a:t>
            </a:r>
          </a:p>
          <a:p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0B88559-E2CD-1C45-ABFC-A39E618944B1}"/>
              </a:ext>
            </a:extLst>
          </p:cNvPr>
          <p:cNvSpPr txBox="1"/>
          <p:nvPr/>
        </p:nvSpPr>
        <p:spPr>
          <a:xfrm>
            <a:off x="594172" y="2357859"/>
            <a:ext cx="91720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安全要求：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《百度数据安全策略》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5.2.2 L3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及以上级别数据原则上必须使用加密方式进行传输。</a:t>
            </a:r>
          </a:p>
          <a:p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但请注意：编码及加密的区别，例如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base64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属于编码而不属于加密。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加密算法选择可参考：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en-US" altLang="zh-CN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密码学算法选择安全指南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14B0362F-E9AE-934B-9BB2-53A2307F0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068" y="4014043"/>
            <a:ext cx="226285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05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452720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第三方合作安全与安全管理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78BAFC3-F646-9146-B6BD-2D15704E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9947"/>
            <a:ext cx="10693400" cy="19334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8F724D9-E7F5-6A47-8698-DCEC62CDF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29869"/>
            <a:ext cx="10693400" cy="2364094"/>
          </a:xfrm>
          <a:prstGeom prst="rect">
            <a:avLst/>
          </a:prstGeom>
        </p:spPr>
      </p:pic>
      <p:cxnSp>
        <p:nvCxnSpPr>
          <p:cNvPr id="9" name="直线连接符 8">
            <a:extLst>
              <a:ext uri="{FF2B5EF4-FFF2-40B4-BE49-F238E27FC236}">
                <a16:creationId xmlns="" xmlns:a16="http://schemas.microsoft.com/office/drawing/2014/main" id="{8AF7891C-3F2C-1141-A69F-401767430462}"/>
              </a:ext>
            </a:extLst>
          </p:cNvPr>
          <p:cNvCxnSpPr/>
          <p:nvPr/>
        </p:nvCxnSpPr>
        <p:spPr>
          <a:xfrm>
            <a:off x="0" y="3221955"/>
            <a:ext cx="1069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562724" y="793413"/>
            <a:ext cx="5024825" cy="83099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zh-CN"/>
            </a:defPPr>
            <a:lvl1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/>
              <a:t>划重点：</a:t>
            </a:r>
            <a:r>
              <a:rPr lang="zh-CN" altLang="en-US" dirty="0"/>
              <a:t>在工作中，可能或多或少都会与公司外的第三方存在合作关系，合作过程中，管理、技术上的安全保障必须严格按规范</a:t>
            </a:r>
            <a:r>
              <a:rPr lang="en-US" altLang="zh-CN" dirty="0"/>
              <a:t>/</a:t>
            </a:r>
            <a:r>
              <a:rPr lang="zh-CN" altLang="en-US" dirty="0"/>
              <a:t>流程</a:t>
            </a:r>
            <a:r>
              <a:rPr lang="zh-CN" altLang="en-US" dirty="0" smtClean="0"/>
              <a:t>执行，避免被坑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5562724" y="3272279"/>
            <a:ext cx="502482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划重点：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需要了解自己在公司及业务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产品安全保障中的角色、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职责、须知，一起协同做好安全保障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332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4132" y="269627"/>
            <a:ext cx="504056" cy="502837"/>
            <a:chOff x="611187" y="261275"/>
            <a:chExt cx="666069" cy="664458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611187" y="261275"/>
              <a:ext cx="538925" cy="53762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880650" y="530086"/>
              <a:ext cx="396606" cy="39564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845889" y="275626"/>
            <a:ext cx="35734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2.5.1  </a:t>
            </a:r>
            <a:r>
              <a: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安全测试需要备案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="" xmlns:a16="http://schemas.microsoft.com/office/drawing/2014/main" id="{831CC1FD-2791-554D-8DA6-3A90E440ABAA}"/>
              </a:ext>
            </a:extLst>
          </p:cNvPr>
          <p:cNvSpPr txBox="1"/>
          <p:nvPr/>
        </p:nvSpPr>
        <p:spPr>
          <a:xfrm>
            <a:off x="588119" y="925198"/>
            <a:ext cx="8604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Bad case</a:t>
            </a: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场景：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全小弟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BSRC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的安全漏洞通报，对其中攻击手法很感兴趣，于是对内网机器进行了一波攻击尝试。</a:t>
            </a:r>
            <a:endParaRPr lang="zh-CN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="" xmlns:a16="http://schemas.microsoft.com/office/drawing/2014/main" id="{70B88559-E2CD-1C45-ABFC-A39E618944B1}"/>
              </a:ext>
            </a:extLst>
          </p:cNvPr>
          <p:cNvSpPr txBox="1"/>
          <p:nvPr/>
        </p:nvSpPr>
        <p:spPr>
          <a:xfrm>
            <a:off x="631514" y="2815480"/>
            <a:ext cx="91720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安全要求：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漏洞验证需要符合流程、安全相关测试需要向安全部报备，通过备案后方可进行测试。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&lt;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安全备案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&gt;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4436D833-154D-CC42-BC37-B23DF1118A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340" y="1637779"/>
            <a:ext cx="5341947" cy="355573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3F3D86A-7C1E-6645-A25D-9D18689E1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467" y="4014203"/>
            <a:ext cx="2262857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457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平行四边形 4"/>
          <p:cNvSpPr/>
          <p:nvPr/>
        </p:nvSpPr>
        <p:spPr>
          <a:xfrm flipH="1">
            <a:off x="-53901" y="0"/>
            <a:ext cx="4220051" cy="6102275"/>
          </a:xfrm>
          <a:custGeom>
            <a:avLst/>
            <a:gdLst>
              <a:gd name="connsiteX0" fmla="*/ 0 w 4608514"/>
              <a:gd name="connsiteY0" fmla="*/ 6043981 h 6043981"/>
              <a:gd name="connsiteX1" fmla="*/ 2819212 w 4608514"/>
              <a:gd name="connsiteY1" fmla="*/ 0 h 6043981"/>
              <a:gd name="connsiteX2" fmla="*/ 4608514 w 4608514"/>
              <a:gd name="connsiteY2" fmla="*/ 0 h 6043981"/>
              <a:gd name="connsiteX3" fmla="*/ 1789302 w 4608514"/>
              <a:gd name="connsiteY3" fmla="*/ 6043981 h 6043981"/>
              <a:gd name="connsiteX4" fmla="*/ 0 w 4608514"/>
              <a:gd name="connsiteY4" fmla="*/ 6043981 h 6043981"/>
              <a:gd name="connsiteX0" fmla="*/ 0 w 4613184"/>
              <a:gd name="connsiteY0" fmla="*/ 6043981 h 6084322"/>
              <a:gd name="connsiteX1" fmla="*/ 2819212 w 4613184"/>
              <a:gd name="connsiteY1" fmla="*/ 0 h 6084322"/>
              <a:gd name="connsiteX2" fmla="*/ 4608514 w 4613184"/>
              <a:gd name="connsiteY2" fmla="*/ 0 h 6084322"/>
              <a:gd name="connsiteX3" fmla="*/ 4613184 w 4613184"/>
              <a:gd name="connsiteY3" fmla="*/ 6084322 h 6084322"/>
              <a:gd name="connsiteX4" fmla="*/ 0 w 4613184"/>
              <a:gd name="connsiteY4" fmla="*/ 6043981 h 6084322"/>
              <a:gd name="connsiteX0" fmla="*/ 0 w 4613184"/>
              <a:gd name="connsiteY0" fmla="*/ 6864251 h 6904592"/>
              <a:gd name="connsiteX1" fmla="*/ 3209177 w 4613184"/>
              <a:gd name="connsiteY1" fmla="*/ 0 h 6904592"/>
              <a:gd name="connsiteX2" fmla="*/ 4608514 w 4613184"/>
              <a:gd name="connsiteY2" fmla="*/ 820270 h 6904592"/>
              <a:gd name="connsiteX3" fmla="*/ 4613184 w 4613184"/>
              <a:gd name="connsiteY3" fmla="*/ 6904592 h 6904592"/>
              <a:gd name="connsiteX4" fmla="*/ 0 w 4613184"/>
              <a:gd name="connsiteY4" fmla="*/ 6864251 h 6904592"/>
              <a:gd name="connsiteX0" fmla="*/ 0 w 4635476"/>
              <a:gd name="connsiteY0" fmla="*/ 6864251 h 6904592"/>
              <a:gd name="connsiteX1" fmla="*/ 3209177 w 4635476"/>
              <a:gd name="connsiteY1" fmla="*/ 0 h 6904592"/>
              <a:gd name="connsiteX2" fmla="*/ 4635408 w 4635476"/>
              <a:gd name="connsiteY2" fmla="*/ 0 h 6904592"/>
              <a:gd name="connsiteX3" fmla="*/ 4613184 w 4635476"/>
              <a:gd name="connsiteY3" fmla="*/ 6904592 h 6904592"/>
              <a:gd name="connsiteX4" fmla="*/ 0 w 4635476"/>
              <a:gd name="connsiteY4" fmla="*/ 6864251 h 6904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35476" h="6904592">
                <a:moveTo>
                  <a:pt x="0" y="6864251"/>
                </a:moveTo>
                <a:lnTo>
                  <a:pt x="3209177" y="0"/>
                </a:lnTo>
                <a:lnTo>
                  <a:pt x="4635408" y="0"/>
                </a:lnTo>
                <a:cubicBezTo>
                  <a:pt x="4636965" y="2028107"/>
                  <a:pt x="4611627" y="4876485"/>
                  <a:pt x="4613184" y="6904592"/>
                </a:cubicBezTo>
                <a:lnTo>
                  <a:pt x="0" y="686425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目录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>
            <a:spLocks noChangeAspect="1"/>
          </p:cNvSpPr>
          <p:nvPr/>
        </p:nvSpPr>
        <p:spPr>
          <a:xfrm>
            <a:off x="1890316" y="1633773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>
            <a:spLocks noChangeAspect="1"/>
          </p:cNvSpPr>
          <p:nvPr/>
        </p:nvSpPr>
        <p:spPr>
          <a:xfrm>
            <a:off x="2449060" y="2796698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椭圆 43"/>
          <p:cNvSpPr>
            <a:spLocks noChangeAspect="1"/>
          </p:cNvSpPr>
          <p:nvPr/>
        </p:nvSpPr>
        <p:spPr>
          <a:xfrm>
            <a:off x="3025124" y="4025259"/>
            <a:ext cx="636856" cy="636856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00454" y="1712043"/>
            <a:ext cx="31943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百度安全制度介绍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376874" y="2860381"/>
            <a:ext cx="3337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常见场景及安全要求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3885764" y="4112854"/>
            <a:ext cx="3477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课程总结</a:t>
            </a:r>
          </a:p>
        </p:txBody>
      </p:sp>
    </p:spTree>
    <p:extLst>
      <p:ext uri="{BB962C8B-B14F-4D97-AF65-F5344CB8AC3E}">
        <p14:creationId xmlns:p14="http://schemas.microsoft.com/office/powerpoint/2010/main" val="123583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++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26615</TotalTime>
  <Words>1343</Words>
  <Application>Microsoft Office PowerPoint</Application>
  <PresentationFormat>自定义</PresentationFormat>
  <Paragraphs>124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黑体</vt:lpstr>
      <vt:lpstr>宋体</vt:lpstr>
      <vt:lpstr>Microsoft YaHei</vt:lpstr>
      <vt:lpstr>Microsoft YaHei</vt:lpstr>
      <vt:lpstr>Arial</vt:lpstr>
      <vt:lpstr>Calibri</vt:lpstr>
      <vt:lpstr>++1</vt:lpstr>
      <vt:lpstr>PowerPoint 演示文稿</vt:lpstr>
      <vt:lpstr>目录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目录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武敏</dc:creator>
  <cp:lastModifiedBy>Luo,Qihan(XBU-SMD)</cp:lastModifiedBy>
  <cp:revision>960</cp:revision>
  <dcterms:created xsi:type="dcterms:W3CDTF">2014-04-29T09:26:26Z</dcterms:created>
  <dcterms:modified xsi:type="dcterms:W3CDTF">2019-07-02T05:00:39Z</dcterms:modified>
</cp:coreProperties>
</file>