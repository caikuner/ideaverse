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5" r:id="rId3"/>
    <p:sldId id="354" r:id="rId4"/>
    <p:sldId id="371" r:id="rId5"/>
    <p:sldId id="356" r:id="rId6"/>
    <p:sldId id="358" r:id="rId7"/>
    <p:sldId id="357" r:id="rId8"/>
    <p:sldId id="359" r:id="rId9"/>
    <p:sldId id="361" r:id="rId10"/>
    <p:sldId id="364" r:id="rId11"/>
    <p:sldId id="362" r:id="rId12"/>
    <p:sldId id="363" r:id="rId13"/>
    <p:sldId id="365" r:id="rId14"/>
    <p:sldId id="367" r:id="rId15"/>
    <p:sldId id="366" r:id="rId16"/>
    <p:sldId id="368" r:id="rId17"/>
    <p:sldId id="369" r:id="rId18"/>
    <p:sldId id="370" r:id="rId19"/>
    <p:sldId id="258" r:id="rId20"/>
  </p:sldIdLst>
  <p:sldSz cx="10693400" cy="60118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4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0602"/>
    <a:srgbClr val="2B5A93"/>
    <a:srgbClr val="C0504D"/>
    <a:srgbClr val="323BE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75" autoAdjust="0"/>
    <p:restoredTop sz="77190" autoAdjust="0"/>
  </p:normalViewPr>
  <p:slideViewPr>
    <p:cSldViewPr>
      <p:cViewPr varScale="1">
        <p:scale>
          <a:sx n="80" d="100"/>
          <a:sy n="80" d="100"/>
        </p:scale>
        <p:origin x="1096" y="192"/>
      </p:cViewPr>
      <p:guideLst>
        <p:guide orient="horz" pos="1894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396"/>
    </p:cViewPr>
  </p:sorterViewPr>
  <p:notesViewPr>
    <p:cSldViewPr>
      <p:cViewPr varScale="1">
        <p:scale>
          <a:sx n="89" d="100"/>
          <a:sy n="89" d="100"/>
        </p:scale>
        <p:origin x="2120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hufei/Desktop/&#21382;&#24180;&#24635;&#32467;/18&#24180;&#24180;&#20013;&#24635;&#32467;/18&#24180;&#24180;&#20013;&#20135;&#21697;&#36136;&#37327;&#33021;&#21147;&#32447;&#25968;&#25454;&#32479;&#35745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hufei/Desktop/&#21382;&#24180;&#24635;&#32467;/18&#24180;&#24180;&#20013;&#24635;&#32467;/18&#24180;&#24180;&#20013;&#20135;&#21697;&#36136;&#37327;&#33021;&#21147;&#32447;&#25968;&#25454;&#32479;&#35745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zh-CN" sz="1600" dirty="0"/>
              <a:t>外界报告中</a:t>
            </a:r>
            <a:r>
              <a:rPr lang="zh-CN" altLang="en-US" sz="1600" dirty="0"/>
              <a:t>典型</a:t>
            </a:r>
            <a:r>
              <a:rPr lang="zh-CN" sz="1600" dirty="0"/>
              <a:t>漏洞占比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2.97434228932838E-2"/>
          <c:y val="0.29628587264808498"/>
          <c:w val="0.94051315421343196"/>
          <c:h val="0.54410538646803996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工作表1!$B$11</c:f>
              <c:strCache>
                <c:ptCount val="1"/>
                <c:pt idx="0">
                  <c:v>外界报告中常规漏洞占比</c:v>
                </c:pt>
              </c:strCache>
            </c:strRef>
          </c:tx>
          <c:spPr>
            <a:ln w="28575" cap="rnd">
              <a:solidFill>
                <a:srgbClr val="20408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工作表1!$A$12:$A$15</c:f>
              <c:strCache>
                <c:ptCount val="4"/>
                <c:pt idx="0">
                  <c:v>2015年</c:v>
                </c:pt>
                <c:pt idx="1">
                  <c:v>2016年</c:v>
                </c:pt>
                <c:pt idx="2">
                  <c:v>2017年</c:v>
                </c:pt>
                <c:pt idx="3">
                  <c:v>2018年</c:v>
                </c:pt>
              </c:strCache>
            </c:strRef>
          </c:cat>
          <c:val>
            <c:numRef>
              <c:f>工作表1!$B$12:$B$15</c:f>
              <c:numCache>
                <c:formatCode>0.00%</c:formatCode>
                <c:ptCount val="4"/>
                <c:pt idx="0">
                  <c:v>0.71960000000000002</c:v>
                </c:pt>
                <c:pt idx="1">
                  <c:v>0.6653</c:v>
                </c:pt>
                <c:pt idx="2">
                  <c:v>0.61429999999999996</c:v>
                </c:pt>
                <c:pt idx="3">
                  <c:v>0.28599999999999998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6F-B647-8262-3C549C739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022886864"/>
        <c:axId val="-2022884544"/>
      </c:lineChart>
      <c:catAx>
        <c:axId val="-2022886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-2022884544"/>
        <c:crosses val="autoZero"/>
        <c:auto val="1"/>
        <c:lblAlgn val="ctr"/>
        <c:lblOffset val="100"/>
        <c:noMultiLvlLbl val="0"/>
      </c:catAx>
      <c:valAx>
        <c:axId val="-2022884544"/>
        <c:scaling>
          <c:orientation val="minMax"/>
        </c:scaling>
        <c:delete val="1"/>
        <c:axPos val="l"/>
        <c:numFmt formatCode="0.00%" sourceLinked="0"/>
        <c:majorTickMark val="none"/>
        <c:minorTickMark val="none"/>
        <c:tickLblPos val="nextTo"/>
        <c:crossAx val="-2022886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latin typeface="微软雅黑"/>
          <a:ea typeface="微软雅黑"/>
          <a:cs typeface="微软雅黑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zh-CN" sz="1600" dirty="0"/>
              <a:t>安全事件中</a:t>
            </a:r>
            <a:r>
              <a:rPr lang="zh-CN" altLang="en-US" sz="1600" dirty="0"/>
              <a:t>典型</a:t>
            </a:r>
            <a:r>
              <a:rPr lang="zh-CN" sz="1600" dirty="0"/>
              <a:t>漏洞引起占比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2.6215004318886199E-2"/>
          <c:y val="0.33382499006754102"/>
          <c:w val="0.94756999136222697"/>
          <c:h val="0.47799000132432801"/>
        </c:manualLayout>
      </c:layout>
      <c:lineChart>
        <c:grouping val="standard"/>
        <c:varyColors val="0"/>
        <c:ser>
          <c:idx val="0"/>
          <c:order val="0"/>
          <c:tx>
            <c:strRef>
              <c:f>工作表1!$B$34</c:f>
              <c:strCache>
                <c:ptCount val="1"/>
                <c:pt idx="0">
                  <c:v>安全事件中由常规漏洞引起占比</c:v>
                </c:pt>
              </c:strCache>
            </c:strRef>
          </c:tx>
          <c:spPr>
            <a:ln w="28575" cap="rnd">
              <a:solidFill>
                <a:srgbClr val="20408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工作表1!$A$35:$A$38</c:f>
              <c:strCache>
                <c:ptCount val="4"/>
                <c:pt idx="0">
                  <c:v>2015年</c:v>
                </c:pt>
                <c:pt idx="1">
                  <c:v>2016年</c:v>
                </c:pt>
                <c:pt idx="2">
                  <c:v>2017年</c:v>
                </c:pt>
                <c:pt idx="3">
                  <c:v>2018年</c:v>
                </c:pt>
              </c:strCache>
            </c:strRef>
          </c:cat>
          <c:val>
            <c:numRef>
              <c:f>工作表1!$B$35:$B$38</c:f>
              <c:numCache>
                <c:formatCode>0.00%</c:formatCode>
                <c:ptCount val="4"/>
                <c:pt idx="0">
                  <c:v>0.49180000000000001</c:v>
                </c:pt>
                <c:pt idx="1">
                  <c:v>0.51249999999999996</c:v>
                </c:pt>
                <c:pt idx="2">
                  <c:v>0.2195</c:v>
                </c:pt>
                <c:pt idx="3">
                  <c:v>8.4699999999999998E-2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CF-0A43-A299-BC48B656C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022872656"/>
        <c:axId val="-2022869904"/>
      </c:lineChart>
      <c:catAx>
        <c:axId val="-2022872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-2022869904"/>
        <c:crosses val="autoZero"/>
        <c:auto val="1"/>
        <c:lblAlgn val="ctr"/>
        <c:lblOffset val="100"/>
        <c:noMultiLvlLbl val="0"/>
      </c:catAx>
      <c:valAx>
        <c:axId val="-2022869904"/>
        <c:scaling>
          <c:orientation val="minMax"/>
        </c:scaling>
        <c:delete val="1"/>
        <c:axPos val="l"/>
        <c:numFmt formatCode="0.00%" sourceLinked="0"/>
        <c:majorTickMark val="none"/>
        <c:minorTickMark val="none"/>
        <c:tickLblPos val="nextTo"/>
        <c:crossAx val="-20228726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latin typeface="微软雅黑"/>
          <a:ea typeface="微软雅黑"/>
          <a:cs typeface="微软雅黑"/>
        </a:defRPr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BF5A-6B8E-4734-B50A-6FA94DE9FA88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8C9BA-D35E-4FDA-8FF8-15D600311D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293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C30A-1F7E-4621-9A1B-097C8CDFA4A3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91AF7-1A50-4AB1-A0DA-F4E33539341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2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10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22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5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318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568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081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496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82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r>
              <a:rPr lang="zh-CN" altLang="en-US" sz="10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默认不信任原则、权限最小化、数据与代码分类</a:t>
            </a: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325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840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028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184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539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79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038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416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8777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buFontTx/>
              <a:buNone/>
            </a:pPr>
            <a:endParaRPr lang="en-US" altLang="zh-CN" sz="10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513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63604" y="5565062"/>
            <a:ext cx="2495127" cy="320076"/>
          </a:xfrm>
        </p:spPr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644" y="4492699"/>
            <a:ext cx="1000911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04" y="1277739"/>
            <a:ext cx="3330837" cy="24920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705" y="3863179"/>
            <a:ext cx="9089390" cy="11940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4705" y="2548084"/>
            <a:ext cx="9089390" cy="131509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132" y="4771119"/>
            <a:ext cx="10297144" cy="72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091" y="3361450"/>
            <a:ext cx="1519225" cy="1136652"/>
          </a:xfrm>
          <a:prstGeom prst="rect">
            <a:avLst/>
          </a:prstGeom>
        </p:spPr>
      </p:pic>
      <p:pic>
        <p:nvPicPr>
          <p:cNvPr id="10" name="Picture 3" descr="C:\Users\wumin\Desktop\4.png">
            <a:extLst>
              <a:ext uri="{FF2B5EF4-FFF2-40B4-BE49-F238E27FC236}">
                <a16:creationId xmlns:a16="http://schemas.microsoft.com/office/drawing/2014/main" id="{39113A91-D373-4F4D-A2FC-6B4DFC790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41686" y="2476297"/>
            <a:ext cx="2601158" cy="77216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5639" y="1230206"/>
            <a:ext cx="5537918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1781" y="1230206"/>
            <a:ext cx="5537919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345712"/>
            <a:ext cx="4724775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4670" y="1906540"/>
            <a:ext cx="4724775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32099" y="1345712"/>
            <a:ext cx="4726631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32099" y="1906540"/>
            <a:ext cx="4726631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1" y="239361"/>
            <a:ext cx="3518055" cy="10186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0822" y="239361"/>
            <a:ext cx="5977908" cy="51309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671" y="1258038"/>
            <a:ext cx="3518055" cy="41122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5981" y="4208304"/>
            <a:ext cx="6416040" cy="4968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95981" y="537171"/>
            <a:ext cx="6416040" cy="36071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95981" y="4705118"/>
            <a:ext cx="6416040" cy="705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67112" y="211529"/>
            <a:ext cx="2812588" cy="44963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5639" y="211529"/>
            <a:ext cx="8263250" cy="44963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402768"/>
            <a:ext cx="9624060" cy="396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4670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F312B70F-DF10-4336-ADCF-617C02561E36}" type="datetimeFigureOut">
              <a:rPr lang="zh-CN" altLang="en-US" smtClean="0"/>
              <a:pPr/>
              <a:t>2019/7/4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53579" y="5572107"/>
            <a:ext cx="3386243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63603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78148" y="5454203"/>
            <a:ext cx="9937104" cy="4571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813" y="5525457"/>
            <a:ext cx="2027471" cy="4328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ity.baidu.com/ssp/web/#/home/index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nquan@baidu.com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18508" y="3726011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百度安全研发实践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2" y="0"/>
            <a:ext cx="4220051" cy="6011863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164" y="99428"/>
            <a:ext cx="9624060" cy="1001977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目录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1812204" y="1571849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2163598" y="2513207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2610396" y="3524890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66944" y="1591644"/>
            <a:ext cx="5930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安全形势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400951" y="2580753"/>
            <a:ext cx="4994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应对思考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34532" y="3569862"/>
            <a:ext cx="5853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</a:p>
        </p:txBody>
      </p:sp>
      <p:sp>
        <p:nvSpPr>
          <p:cNvPr id="10" name="椭圆 9"/>
          <p:cNvSpPr>
            <a:spLocks noChangeAspect="1"/>
          </p:cNvSpPr>
          <p:nvPr/>
        </p:nvSpPr>
        <p:spPr>
          <a:xfrm>
            <a:off x="3082523" y="4510660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08353" y="4510660"/>
            <a:ext cx="5853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2354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286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外界安全形势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AB31E574-CD5D-1F48-A4EB-A5D2C82CF352}"/>
              </a:ext>
            </a:extLst>
          </p:cNvPr>
          <p:cNvSpPr txBox="1">
            <a:spLocks/>
          </p:cNvSpPr>
          <p:nvPr/>
        </p:nvSpPr>
        <p:spPr bwMode="auto">
          <a:xfrm>
            <a:off x="416888" y="1133723"/>
            <a:ext cx="9898364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en-US" altLang="zh-CN" sz="1600" kern="0" dirty="0"/>
              <a:t>2016</a:t>
            </a:r>
            <a:r>
              <a:rPr lang="zh-CN" altLang="en-US" sz="1600" kern="0" dirty="0"/>
              <a:t>年，京东被爆出泄露了用户</a:t>
            </a:r>
            <a:r>
              <a:rPr lang="en-US" altLang="zh-CN" sz="1600" kern="0" dirty="0"/>
              <a:t>12G</a:t>
            </a:r>
            <a:r>
              <a:rPr lang="zh-CN" altLang="en-US" sz="1600" kern="0" dirty="0"/>
              <a:t>用户个人信息，包括用户名和密码，泄露的信息被大量用于黑产；官方声明表示黑客在</a:t>
            </a:r>
            <a:r>
              <a:rPr lang="en-US" altLang="zh-CN" sz="1600" kern="0" dirty="0"/>
              <a:t>2013</a:t>
            </a:r>
            <a:r>
              <a:rPr lang="zh-CN" altLang="en-US" sz="1600" kern="0" dirty="0"/>
              <a:t>年通过</a:t>
            </a:r>
            <a:r>
              <a:rPr lang="en-US" altLang="zh-CN" sz="1600" kern="0" dirty="0"/>
              <a:t>struts2</a:t>
            </a:r>
            <a:r>
              <a:rPr lang="zh-CN" altLang="en-US" sz="1600" kern="0" dirty="0"/>
              <a:t>漏洞入侵京东，并成功获取了京东数据库中的用户信息</a:t>
            </a:r>
            <a:endParaRPr lang="en-US" altLang="zh-CN" sz="1600" kern="0" dirty="0"/>
          </a:p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en-US" altLang="zh-CN" sz="1600" kern="0" dirty="0"/>
              <a:t>2017</a:t>
            </a:r>
            <a:r>
              <a:rPr lang="zh-CN" altLang="en-US" sz="1600" kern="0" dirty="0"/>
              <a:t>年，美国征信企业</a:t>
            </a:r>
            <a:r>
              <a:rPr lang="en" altLang="zh-CN" sz="1600" kern="0" dirty="0"/>
              <a:t>Equifax</a:t>
            </a:r>
            <a:r>
              <a:rPr lang="zh-CN" altLang="en-US" sz="1600" kern="0" dirty="0"/>
              <a:t>被黑客窃取了</a:t>
            </a:r>
            <a:r>
              <a:rPr lang="en-US" altLang="zh-CN" sz="1600" kern="0" dirty="0"/>
              <a:t>1.43</a:t>
            </a:r>
            <a:r>
              <a:rPr lang="zh-CN" altLang="en-US" sz="1600" kern="0" dirty="0"/>
              <a:t>亿美国用户的个人信息记录，黑客利用</a:t>
            </a:r>
            <a:r>
              <a:rPr lang="en" altLang="zh-CN" sz="1600" kern="0" dirty="0"/>
              <a:t>struts2</a:t>
            </a:r>
            <a:r>
              <a:rPr lang="zh-CN" altLang="en-US" sz="1600" kern="0" dirty="0"/>
              <a:t>漏洞攻击</a:t>
            </a:r>
            <a:r>
              <a:rPr lang="en" altLang="zh-CN" sz="1600" kern="0" dirty="0"/>
              <a:t>Equifax</a:t>
            </a:r>
            <a:r>
              <a:rPr lang="zh-CN" altLang="en-US" sz="1600" kern="0" dirty="0"/>
              <a:t>网站，成功获取系统权限后，窃取了这些信息；泄露的信息影响</a:t>
            </a:r>
            <a:r>
              <a:rPr lang="en-US" altLang="zh-CN" sz="1600" kern="0" dirty="0"/>
              <a:t>40%</a:t>
            </a:r>
            <a:r>
              <a:rPr lang="zh-CN" altLang="en-US" sz="1600" kern="0" dirty="0"/>
              <a:t>的美国人，</a:t>
            </a:r>
            <a:r>
              <a:rPr lang="en" altLang="zh-CN" sz="1600" kern="0" dirty="0"/>
              <a:t>Equifax</a:t>
            </a:r>
            <a:r>
              <a:rPr lang="zh-CN" altLang="en-US" sz="1600" kern="0" dirty="0"/>
              <a:t>也面临数十亿美元的集体赔偿诉讼</a:t>
            </a:r>
            <a:endParaRPr lang="en-US" altLang="zh-CN" sz="1600" kern="0" dirty="0"/>
          </a:p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en-US" altLang="zh-CN" sz="1600" kern="0" dirty="0"/>
              <a:t>2018</a:t>
            </a:r>
            <a:r>
              <a:rPr lang="zh-CN" altLang="en-US" sz="1600" kern="0" dirty="0"/>
              <a:t>年，</a:t>
            </a:r>
            <a:r>
              <a:rPr lang="en-US" altLang="zh-CN" sz="1600" kern="0" dirty="0"/>
              <a:t>Facebook</a:t>
            </a:r>
            <a:r>
              <a:rPr lang="zh-CN" altLang="en-US" sz="1600" kern="0" dirty="0"/>
              <a:t>被爆出超过</a:t>
            </a:r>
            <a:r>
              <a:rPr lang="en-US" altLang="zh-CN" sz="1600" kern="0" dirty="0"/>
              <a:t>5000</a:t>
            </a:r>
            <a:r>
              <a:rPr lang="zh-CN" altLang="en-US" sz="1600" kern="0" dirty="0"/>
              <a:t>万用户信息数据被开发者以“用于学术目的”为由大量获取后，违约分享给</a:t>
            </a:r>
            <a:r>
              <a:rPr lang="en-US" altLang="zh-CN" sz="1600" kern="0" dirty="0"/>
              <a:t>Cambridge</a:t>
            </a:r>
            <a:r>
              <a:rPr lang="zh-CN" altLang="en-US" sz="1600" kern="0" dirty="0"/>
              <a:t> </a:t>
            </a:r>
            <a:r>
              <a:rPr lang="en-US" altLang="zh-CN" sz="1600" kern="0" dirty="0"/>
              <a:t>Analytica</a:t>
            </a:r>
            <a:r>
              <a:rPr lang="zh-CN" altLang="en-US" sz="1600" kern="0" dirty="0"/>
              <a:t>用于投放定向政治广告影响大选结果；事件发生后，</a:t>
            </a:r>
            <a:r>
              <a:rPr lang="en-US" altLang="zh-CN" sz="1600" kern="0" dirty="0"/>
              <a:t>FB</a:t>
            </a:r>
            <a:r>
              <a:rPr lang="zh-CN" altLang="en-US" sz="1600" kern="0" dirty="0"/>
              <a:t>市值一周内蒸发约</a:t>
            </a:r>
            <a:r>
              <a:rPr lang="en-US" altLang="zh-CN" sz="1600" kern="0" dirty="0"/>
              <a:t>750</a:t>
            </a:r>
            <a:r>
              <a:rPr lang="zh-CN" altLang="en-US" sz="1600" kern="0" dirty="0"/>
              <a:t>亿美金，并且还被美国国会问询</a:t>
            </a:r>
            <a:endParaRPr lang="en-US" altLang="zh-CN" sz="1600" kern="0" dirty="0"/>
          </a:p>
          <a:p>
            <a:pPr>
              <a:lnSpc>
                <a:spcPct val="160000"/>
              </a:lnSpc>
              <a:buFont typeface="Wingdings" pitchFamily="2" charset="2"/>
              <a:buChar char="n"/>
            </a:pPr>
            <a:endParaRPr lang="en-US" altLang="zh-CN" sz="1600" kern="0" dirty="0"/>
          </a:p>
        </p:txBody>
      </p:sp>
    </p:spTree>
    <p:extLst>
      <p:ext uri="{BB962C8B-B14F-4D97-AF65-F5344CB8AC3E}">
        <p14:creationId xmlns:p14="http://schemas.microsoft.com/office/powerpoint/2010/main" val="2393856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286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百度安全形势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PA_圆角淘宝店chenying0907 61">
            <a:extLst>
              <a:ext uri="{FF2B5EF4-FFF2-40B4-BE49-F238E27FC236}">
                <a16:creationId xmlns:a16="http://schemas.microsoft.com/office/drawing/2014/main" id="{B64EEEF8-E067-174B-BEA8-3F75BCFEC51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98091" y="3286615"/>
            <a:ext cx="2688734" cy="351788"/>
          </a:xfrm>
          <a:prstGeom prst="roundRect">
            <a:avLst>
              <a:gd name="adj" fmla="val 0"/>
            </a:avLst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zh-CN" altLang="en-US" sz="1600" b="1" dirty="0">
                <a:solidFill>
                  <a:srgbClr val="0A52E2"/>
                </a:solidFill>
                <a:latin typeface="微软雅黑" pitchFamily="34" charset="-122"/>
                <a:ea typeface="微软雅黑" pitchFamily="34" charset="-122"/>
              </a:rPr>
              <a:t>线上典型安全漏洞数量众多</a:t>
            </a:r>
          </a:p>
        </p:txBody>
      </p:sp>
      <p:sp>
        <p:nvSpPr>
          <p:cNvPr id="48" name="PA_淘宝店chenying0907 66">
            <a:extLst>
              <a:ext uri="{FF2B5EF4-FFF2-40B4-BE49-F238E27FC236}">
                <a16:creationId xmlns:a16="http://schemas.microsoft.com/office/drawing/2014/main" id="{833702F9-DF84-8C4D-A13A-E55B339C30A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051" y="3705025"/>
            <a:ext cx="323303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典型安全漏洞极易被攻击者发现、利用成本低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危害很大，此类占比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85%+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，如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注入、命令注入等；线上千行代码安全漏洞率超过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1%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，代码安全质量堪忧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PA_圆角淘宝店chenying0907 63">
            <a:extLst>
              <a:ext uri="{FF2B5EF4-FFF2-40B4-BE49-F238E27FC236}">
                <a16:creationId xmlns:a16="http://schemas.microsoft.com/office/drawing/2014/main" id="{A0803294-AD4F-B249-AE12-571614099D1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778748" y="1329699"/>
            <a:ext cx="3456384" cy="352800"/>
          </a:xfrm>
          <a:prstGeom prst="roundRect">
            <a:avLst>
              <a:gd name="adj" fmla="val 0"/>
            </a:avLst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zh-CN" altLang="en-US" sz="1600" b="1" dirty="0">
                <a:solidFill>
                  <a:srgbClr val="0A52E2"/>
                </a:solidFill>
                <a:latin typeface="微软雅黑" pitchFamily="34" charset="-122"/>
                <a:ea typeface="微软雅黑" pitchFamily="34" charset="-122"/>
              </a:rPr>
              <a:t>线上安全事件频发</a:t>
            </a:r>
          </a:p>
        </p:txBody>
      </p:sp>
      <p:sp>
        <p:nvSpPr>
          <p:cNvPr id="50" name="PA_淘宝店chenying0907 66">
            <a:extLst>
              <a:ext uri="{FF2B5EF4-FFF2-40B4-BE49-F238E27FC236}">
                <a16:creationId xmlns:a16="http://schemas.microsoft.com/office/drawing/2014/main" id="{54059B86-4106-6946-B331-06C783BA62B9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78748" y="1803558"/>
            <a:ext cx="3600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线上安全事件每年超过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80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起，其中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50%+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线上安全事件是由典型安全漏洞引起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PA_圆角淘宝店chenying0907 65">
            <a:extLst>
              <a:ext uri="{FF2B5EF4-FFF2-40B4-BE49-F238E27FC236}">
                <a16:creationId xmlns:a16="http://schemas.microsoft.com/office/drawing/2014/main" id="{C7457EF8-4BA6-E84F-8A8B-09F6D84AB95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58868" y="3286615"/>
            <a:ext cx="3229835" cy="378289"/>
          </a:xfrm>
          <a:prstGeom prst="roundRect">
            <a:avLst>
              <a:gd name="adj" fmla="val 0"/>
            </a:avLst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zh-CN" altLang="en-US" sz="1600" b="1" dirty="0">
                <a:solidFill>
                  <a:srgbClr val="0A52E2"/>
                </a:solidFill>
                <a:latin typeface="微软雅黑" pitchFamily="34" charset="-122"/>
                <a:ea typeface="微软雅黑" pitchFamily="34" charset="-122"/>
              </a:rPr>
              <a:t>软件供应链安全风险严峻</a:t>
            </a:r>
          </a:p>
        </p:txBody>
      </p:sp>
      <p:sp>
        <p:nvSpPr>
          <p:cNvPr id="52" name="PA_淘宝店chenying0907 66">
            <a:extLst>
              <a:ext uri="{FF2B5EF4-FFF2-40B4-BE49-F238E27FC236}">
                <a16:creationId xmlns:a16="http://schemas.microsoft.com/office/drawing/2014/main" id="{3B7FDBE3-1E9D-7942-9FEC-903EB3431B9D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58869" y="3747774"/>
            <a:ext cx="345638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近三年，外界报告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40+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第三方开源软件不安全引入导致安全问题，直接导致近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起内网入侵，引发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起严重安全事件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746CF78-D6C5-0C45-B924-DE92AA8BF4DE}"/>
              </a:ext>
            </a:extLst>
          </p:cNvPr>
          <p:cNvGrpSpPr/>
          <p:nvPr/>
        </p:nvGrpSpPr>
        <p:grpSpPr>
          <a:xfrm>
            <a:off x="3747338" y="1519022"/>
            <a:ext cx="2991692" cy="2927069"/>
            <a:chOff x="3291112" y="1156417"/>
            <a:chExt cx="3512934" cy="3552447"/>
          </a:xfrm>
        </p:grpSpPr>
        <p:sp>
          <p:nvSpPr>
            <p:cNvPr id="55" name="PA_淘宝店chenying0907 23">
              <a:extLst>
                <a:ext uri="{FF2B5EF4-FFF2-40B4-BE49-F238E27FC236}">
                  <a16:creationId xmlns:a16="http://schemas.microsoft.com/office/drawing/2014/main" id="{A7598843-721C-584A-B21D-22B9BF5991D4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 rot="18434063">
              <a:off x="3476886" y="2699243"/>
              <a:ext cx="2007227" cy="2012016"/>
            </a:xfrm>
            <a:custGeom>
              <a:avLst/>
              <a:gdLst>
                <a:gd name="T0" fmla="*/ 0 w 240"/>
                <a:gd name="T1" fmla="*/ 53 h 240"/>
                <a:gd name="T2" fmla="*/ 53 w 240"/>
                <a:gd name="T3" fmla="*/ 106 h 240"/>
                <a:gd name="T4" fmla="*/ 134 w 240"/>
                <a:gd name="T5" fmla="*/ 187 h 240"/>
                <a:gd name="T6" fmla="*/ 134 w 240"/>
                <a:gd name="T7" fmla="*/ 187 h 240"/>
                <a:gd name="T8" fmla="*/ 134 w 240"/>
                <a:gd name="T9" fmla="*/ 187 h 240"/>
                <a:gd name="T10" fmla="*/ 187 w 240"/>
                <a:gd name="T11" fmla="*/ 240 h 240"/>
                <a:gd name="T12" fmla="*/ 240 w 240"/>
                <a:gd name="T13" fmla="*/ 187 h 240"/>
                <a:gd name="T14" fmla="*/ 187 w 240"/>
                <a:gd name="T15" fmla="*/ 134 h 240"/>
                <a:gd name="T16" fmla="*/ 187 w 240"/>
                <a:gd name="T17" fmla="*/ 134 h 240"/>
                <a:gd name="T18" fmla="*/ 187 w 240"/>
                <a:gd name="T19" fmla="*/ 134 h 240"/>
                <a:gd name="T20" fmla="*/ 106 w 240"/>
                <a:gd name="T21" fmla="*/ 53 h 240"/>
                <a:gd name="T22" fmla="*/ 106 w 240"/>
                <a:gd name="T23" fmla="*/ 53 h 240"/>
                <a:gd name="T24" fmla="*/ 53 w 240"/>
                <a:gd name="T25" fmla="*/ 0 h 240"/>
                <a:gd name="T26" fmla="*/ 0 w 240"/>
                <a:gd name="T27" fmla="*/ 5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0" h="240">
                  <a:moveTo>
                    <a:pt x="0" y="53"/>
                  </a:moveTo>
                  <a:cubicBezTo>
                    <a:pt x="0" y="83"/>
                    <a:pt x="24" y="106"/>
                    <a:pt x="53" y="106"/>
                  </a:cubicBezTo>
                  <a:cubicBezTo>
                    <a:pt x="106" y="106"/>
                    <a:pt x="134" y="134"/>
                    <a:pt x="134" y="187"/>
                  </a:cubicBezTo>
                  <a:cubicBezTo>
                    <a:pt x="134" y="187"/>
                    <a:pt x="134" y="187"/>
                    <a:pt x="134" y="187"/>
                  </a:cubicBezTo>
                  <a:cubicBezTo>
                    <a:pt x="134" y="187"/>
                    <a:pt x="134" y="187"/>
                    <a:pt x="134" y="187"/>
                  </a:cubicBezTo>
                  <a:cubicBezTo>
                    <a:pt x="134" y="216"/>
                    <a:pt x="157" y="240"/>
                    <a:pt x="187" y="240"/>
                  </a:cubicBezTo>
                  <a:cubicBezTo>
                    <a:pt x="216" y="240"/>
                    <a:pt x="240" y="216"/>
                    <a:pt x="240" y="187"/>
                  </a:cubicBezTo>
                  <a:cubicBezTo>
                    <a:pt x="240" y="158"/>
                    <a:pt x="216" y="134"/>
                    <a:pt x="187" y="134"/>
                  </a:cubicBezTo>
                  <a:cubicBezTo>
                    <a:pt x="187" y="134"/>
                    <a:pt x="187" y="134"/>
                    <a:pt x="187" y="134"/>
                  </a:cubicBezTo>
                  <a:cubicBezTo>
                    <a:pt x="187" y="134"/>
                    <a:pt x="187" y="134"/>
                    <a:pt x="187" y="134"/>
                  </a:cubicBezTo>
                  <a:cubicBezTo>
                    <a:pt x="134" y="134"/>
                    <a:pt x="106" y="106"/>
                    <a:pt x="106" y="53"/>
                  </a:cubicBezTo>
                  <a:cubicBezTo>
                    <a:pt x="106" y="53"/>
                    <a:pt x="106" y="53"/>
                    <a:pt x="106" y="53"/>
                  </a:cubicBezTo>
                  <a:cubicBezTo>
                    <a:pt x="106" y="24"/>
                    <a:pt x="82" y="0"/>
                    <a:pt x="53" y="0"/>
                  </a:cubicBezTo>
                  <a:cubicBezTo>
                    <a:pt x="24" y="0"/>
                    <a:pt x="0" y="24"/>
                    <a:pt x="0" y="53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 w="6350">
              <a:noFill/>
            </a:ln>
          </p:spPr>
          <p:txBody>
            <a:bodyPr/>
            <a:lstStyle/>
            <a:p>
              <a:endParaRPr lang="zh-CN" altLang="en-US" sz="1600"/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F42525E-77DE-0347-B196-429E00C5AC61}"/>
                </a:ext>
              </a:extLst>
            </p:cNvPr>
            <p:cNvGrpSpPr/>
            <p:nvPr/>
          </p:nvGrpSpPr>
          <p:grpSpPr>
            <a:xfrm>
              <a:off x="3291112" y="1156417"/>
              <a:ext cx="3512934" cy="3058455"/>
              <a:chOff x="3291112" y="1156417"/>
              <a:chExt cx="3512934" cy="3058455"/>
            </a:xfrm>
          </p:grpSpPr>
          <p:sp>
            <p:nvSpPr>
              <p:cNvPr id="54" name="PA_淘宝店chenying0907 22">
                <a:extLst>
                  <a:ext uri="{FF2B5EF4-FFF2-40B4-BE49-F238E27FC236}">
                    <a16:creationId xmlns:a16="http://schemas.microsoft.com/office/drawing/2014/main" id="{D179F45B-9CF1-DC4E-BFB1-44B38F361B05}"/>
                  </a:ext>
                </a:extLst>
              </p:cNvPr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 rot="16663920">
                <a:off x="4792651" y="2143980"/>
                <a:ext cx="2010774" cy="2012016"/>
              </a:xfrm>
              <a:custGeom>
                <a:avLst/>
                <a:gdLst>
                  <a:gd name="T0" fmla="*/ 187 w 240"/>
                  <a:gd name="T1" fmla="*/ 0 h 240"/>
                  <a:gd name="T2" fmla="*/ 134 w 240"/>
                  <a:gd name="T3" fmla="*/ 53 h 240"/>
                  <a:gd name="T4" fmla="*/ 53 w 240"/>
                  <a:gd name="T5" fmla="*/ 134 h 240"/>
                  <a:gd name="T6" fmla="*/ 53 w 240"/>
                  <a:gd name="T7" fmla="*/ 134 h 240"/>
                  <a:gd name="T8" fmla="*/ 53 w 240"/>
                  <a:gd name="T9" fmla="*/ 134 h 240"/>
                  <a:gd name="T10" fmla="*/ 0 w 240"/>
                  <a:gd name="T11" fmla="*/ 187 h 240"/>
                  <a:gd name="T12" fmla="*/ 53 w 240"/>
                  <a:gd name="T13" fmla="*/ 240 h 240"/>
                  <a:gd name="T14" fmla="*/ 106 w 240"/>
                  <a:gd name="T15" fmla="*/ 187 h 240"/>
                  <a:gd name="T16" fmla="*/ 106 w 240"/>
                  <a:gd name="T17" fmla="*/ 187 h 240"/>
                  <a:gd name="T18" fmla="*/ 106 w 240"/>
                  <a:gd name="T19" fmla="*/ 187 h 240"/>
                  <a:gd name="T20" fmla="*/ 187 w 240"/>
                  <a:gd name="T21" fmla="*/ 106 h 240"/>
                  <a:gd name="T22" fmla="*/ 187 w 240"/>
                  <a:gd name="T23" fmla="*/ 106 h 240"/>
                  <a:gd name="T24" fmla="*/ 240 w 240"/>
                  <a:gd name="T25" fmla="*/ 53 h 240"/>
                  <a:gd name="T26" fmla="*/ 187 w 240"/>
                  <a:gd name="T27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0" h="240">
                    <a:moveTo>
                      <a:pt x="187" y="0"/>
                    </a:moveTo>
                    <a:cubicBezTo>
                      <a:pt x="157" y="0"/>
                      <a:pt x="134" y="24"/>
                      <a:pt x="134" y="53"/>
                    </a:cubicBezTo>
                    <a:cubicBezTo>
                      <a:pt x="134" y="106"/>
                      <a:pt x="106" y="134"/>
                      <a:pt x="53" y="134"/>
                    </a:cubicBezTo>
                    <a:cubicBezTo>
                      <a:pt x="53" y="134"/>
                      <a:pt x="53" y="134"/>
                      <a:pt x="53" y="134"/>
                    </a:cubicBezTo>
                    <a:cubicBezTo>
                      <a:pt x="53" y="134"/>
                      <a:pt x="53" y="134"/>
                      <a:pt x="53" y="134"/>
                    </a:cubicBezTo>
                    <a:cubicBezTo>
                      <a:pt x="24" y="134"/>
                      <a:pt x="0" y="157"/>
                      <a:pt x="0" y="187"/>
                    </a:cubicBezTo>
                    <a:cubicBezTo>
                      <a:pt x="0" y="216"/>
                      <a:pt x="24" y="240"/>
                      <a:pt x="53" y="240"/>
                    </a:cubicBezTo>
                    <a:cubicBezTo>
                      <a:pt x="82" y="240"/>
                      <a:pt x="106" y="216"/>
                      <a:pt x="106" y="187"/>
                    </a:cubicBezTo>
                    <a:cubicBezTo>
                      <a:pt x="106" y="187"/>
                      <a:pt x="106" y="187"/>
                      <a:pt x="106" y="187"/>
                    </a:cubicBezTo>
                    <a:cubicBezTo>
                      <a:pt x="106" y="187"/>
                      <a:pt x="106" y="187"/>
                      <a:pt x="106" y="187"/>
                    </a:cubicBezTo>
                    <a:cubicBezTo>
                      <a:pt x="106" y="134"/>
                      <a:pt x="134" y="106"/>
                      <a:pt x="187" y="106"/>
                    </a:cubicBezTo>
                    <a:cubicBezTo>
                      <a:pt x="187" y="106"/>
                      <a:pt x="187" y="106"/>
                      <a:pt x="187" y="106"/>
                    </a:cubicBezTo>
                    <a:cubicBezTo>
                      <a:pt x="216" y="106"/>
                      <a:pt x="240" y="82"/>
                      <a:pt x="240" y="53"/>
                    </a:cubicBezTo>
                    <a:cubicBezTo>
                      <a:pt x="240" y="24"/>
                      <a:pt x="216" y="0"/>
                      <a:pt x="187" y="0"/>
                    </a:cubicBezTo>
                    <a:close/>
                  </a:path>
                </a:pathLst>
              </a:custGeom>
              <a:solidFill>
                <a:schemeClr val="accent3">
                  <a:alpha val="50000"/>
                </a:schemeClr>
              </a:solidFill>
              <a:ln w="6350">
                <a:noFill/>
              </a:ln>
            </p:spPr>
            <p:txBody>
              <a:bodyPr/>
              <a:lstStyle/>
              <a:p>
                <a:endParaRPr lang="zh-CN" altLang="en-US" sz="1600" dirty="0"/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E946E3F2-6065-0F43-9359-B9EFCD1D10F6}"/>
                  </a:ext>
                </a:extLst>
              </p:cNvPr>
              <p:cNvGrpSpPr/>
              <p:nvPr/>
            </p:nvGrpSpPr>
            <p:grpSpPr>
              <a:xfrm>
                <a:off x="3291112" y="1156417"/>
                <a:ext cx="3381361" cy="3058455"/>
                <a:chOff x="3291112" y="1156417"/>
                <a:chExt cx="3381361" cy="3058455"/>
              </a:xfrm>
            </p:grpSpPr>
            <p:sp>
              <p:nvSpPr>
                <p:cNvPr id="7" name="PA_淘宝店chenying0907 26">
                  <a:extLst>
                    <a:ext uri="{FF2B5EF4-FFF2-40B4-BE49-F238E27FC236}">
                      <a16:creationId xmlns:a16="http://schemas.microsoft.com/office/drawing/2014/main" id="{66D3A323-5936-0B4A-BD7F-B8691E485390}"/>
                    </a:ext>
                  </a:extLst>
                </p:cNvPr>
                <p:cNvSpPr>
                  <a:spLocks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5890778" y="3384551"/>
                  <a:ext cx="781695" cy="806296"/>
                </a:xfrm>
                <a:custGeom>
                  <a:avLst/>
                  <a:gdLst>
                    <a:gd name="T0" fmla="*/ 11 w 96"/>
                    <a:gd name="T1" fmla="*/ 20 h 99"/>
                    <a:gd name="T2" fmla="*/ 43 w 96"/>
                    <a:gd name="T3" fmla="*/ 3 h 99"/>
                    <a:gd name="T4" fmla="*/ 94 w 96"/>
                    <a:gd name="T5" fmla="*/ 44 h 99"/>
                    <a:gd name="T6" fmla="*/ 84 w 96"/>
                    <a:gd name="T7" fmla="*/ 79 h 99"/>
                    <a:gd name="T8" fmla="*/ 53 w 96"/>
                    <a:gd name="T9" fmla="*/ 96 h 99"/>
                    <a:gd name="T10" fmla="*/ 1 w 96"/>
                    <a:gd name="T11" fmla="*/ 54 h 99"/>
                    <a:gd name="T12" fmla="*/ 11 w 96"/>
                    <a:gd name="T13" fmla="*/ 2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6" h="99">
                      <a:moveTo>
                        <a:pt x="11" y="20"/>
                      </a:moveTo>
                      <a:cubicBezTo>
                        <a:pt x="19" y="11"/>
                        <a:pt x="30" y="4"/>
                        <a:pt x="43" y="3"/>
                      </a:cubicBezTo>
                      <a:cubicBezTo>
                        <a:pt x="69" y="0"/>
                        <a:pt x="92" y="18"/>
                        <a:pt x="94" y="44"/>
                      </a:cubicBezTo>
                      <a:cubicBezTo>
                        <a:pt x="96" y="57"/>
                        <a:pt x="92" y="69"/>
                        <a:pt x="84" y="79"/>
                      </a:cubicBezTo>
                      <a:cubicBezTo>
                        <a:pt x="77" y="88"/>
                        <a:pt x="66" y="94"/>
                        <a:pt x="53" y="96"/>
                      </a:cubicBezTo>
                      <a:cubicBezTo>
                        <a:pt x="27" y="99"/>
                        <a:pt x="4" y="80"/>
                        <a:pt x="1" y="54"/>
                      </a:cubicBezTo>
                      <a:cubicBezTo>
                        <a:pt x="0" y="42"/>
                        <a:pt x="4" y="29"/>
                        <a:pt x="11" y="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r>
                    <a:rPr lang="en-US" altLang="zh-CN" sz="1600" dirty="0">
                      <a:solidFill>
                        <a:schemeClr val="bg1"/>
                      </a:solidFill>
                      <a:latin typeface="Impact" panose="020B0806030902050204" pitchFamily="34" charset="0"/>
                      <a:ea typeface="微软雅黑" panose="020B0503020204020204" pitchFamily="34" charset="-122"/>
                    </a:rPr>
                    <a:t>03</a:t>
                  </a:r>
                  <a:endParaRPr lang="zh-CN" altLang="zh-CN" sz="1600" dirty="0">
                    <a:solidFill>
                      <a:schemeClr val="bg1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" name="PA_淘宝店chenying0907 31">
                  <a:extLst>
                    <a:ext uri="{FF2B5EF4-FFF2-40B4-BE49-F238E27FC236}">
                      <a16:creationId xmlns:a16="http://schemas.microsoft.com/office/drawing/2014/main" id="{950ECD6E-AF0B-1549-AB10-7DCD0FEBC1D0}"/>
                    </a:ext>
                  </a:extLst>
                </p:cNvPr>
                <p:cNvSpPr>
                  <a:spLocks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4590698" y="1156417"/>
                  <a:ext cx="781695" cy="802852"/>
                </a:xfrm>
                <a:custGeom>
                  <a:avLst/>
                  <a:gdLst>
                    <a:gd name="T0" fmla="*/ 12 w 96"/>
                    <a:gd name="T1" fmla="*/ 20 h 99"/>
                    <a:gd name="T2" fmla="*/ 43 w 96"/>
                    <a:gd name="T3" fmla="*/ 3 h 99"/>
                    <a:gd name="T4" fmla="*/ 95 w 96"/>
                    <a:gd name="T5" fmla="*/ 44 h 99"/>
                    <a:gd name="T6" fmla="*/ 85 w 96"/>
                    <a:gd name="T7" fmla="*/ 78 h 99"/>
                    <a:gd name="T8" fmla="*/ 53 w 96"/>
                    <a:gd name="T9" fmla="*/ 96 h 99"/>
                    <a:gd name="T10" fmla="*/ 2 w 96"/>
                    <a:gd name="T11" fmla="*/ 54 h 99"/>
                    <a:gd name="T12" fmla="*/ 12 w 96"/>
                    <a:gd name="T13" fmla="*/ 2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6" h="99">
                      <a:moveTo>
                        <a:pt x="12" y="20"/>
                      </a:moveTo>
                      <a:cubicBezTo>
                        <a:pt x="19" y="10"/>
                        <a:pt x="30" y="4"/>
                        <a:pt x="43" y="3"/>
                      </a:cubicBezTo>
                      <a:cubicBezTo>
                        <a:pt x="69" y="0"/>
                        <a:pt x="92" y="18"/>
                        <a:pt x="95" y="44"/>
                      </a:cubicBezTo>
                      <a:cubicBezTo>
                        <a:pt x="96" y="57"/>
                        <a:pt x="92" y="69"/>
                        <a:pt x="85" y="78"/>
                      </a:cubicBezTo>
                      <a:cubicBezTo>
                        <a:pt x="77" y="88"/>
                        <a:pt x="66" y="94"/>
                        <a:pt x="53" y="96"/>
                      </a:cubicBezTo>
                      <a:cubicBezTo>
                        <a:pt x="28" y="99"/>
                        <a:pt x="5" y="80"/>
                        <a:pt x="2" y="54"/>
                      </a:cubicBezTo>
                      <a:cubicBezTo>
                        <a:pt x="0" y="41"/>
                        <a:pt x="4" y="29"/>
                        <a:pt x="12" y="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r>
                    <a:rPr lang="en-US" altLang="zh-CN" sz="1600" dirty="0">
                      <a:solidFill>
                        <a:schemeClr val="bg1"/>
                      </a:solidFill>
                      <a:latin typeface="Impact" panose="020B0806030902050204" pitchFamily="34" charset="0"/>
                      <a:ea typeface="微软雅黑" panose="020B0503020204020204" pitchFamily="34" charset="-122"/>
                    </a:rPr>
                    <a:t>02</a:t>
                  </a:r>
                  <a:endParaRPr lang="zh-CN" altLang="zh-CN" sz="1600" dirty="0">
                    <a:solidFill>
                      <a:schemeClr val="bg1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" name="PA_淘宝店chenying0907 33">
                  <a:extLst>
                    <a:ext uri="{FF2B5EF4-FFF2-40B4-BE49-F238E27FC236}">
                      <a16:creationId xmlns:a16="http://schemas.microsoft.com/office/drawing/2014/main" id="{93F96ABC-6784-3942-AD3E-547A85F2ADB5}"/>
                    </a:ext>
                  </a:extLst>
                </p:cNvPr>
                <p:cNvSpPr>
                  <a:spLocks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3291112" y="3408576"/>
                  <a:ext cx="781695" cy="806296"/>
                </a:xfrm>
                <a:custGeom>
                  <a:avLst/>
                  <a:gdLst>
                    <a:gd name="T0" fmla="*/ 12 w 96"/>
                    <a:gd name="T1" fmla="*/ 20 h 99"/>
                    <a:gd name="T2" fmla="*/ 43 w 96"/>
                    <a:gd name="T3" fmla="*/ 3 h 99"/>
                    <a:gd name="T4" fmla="*/ 95 w 96"/>
                    <a:gd name="T5" fmla="*/ 45 h 99"/>
                    <a:gd name="T6" fmla="*/ 85 w 96"/>
                    <a:gd name="T7" fmla="*/ 79 h 99"/>
                    <a:gd name="T8" fmla="*/ 53 w 96"/>
                    <a:gd name="T9" fmla="*/ 96 h 99"/>
                    <a:gd name="T10" fmla="*/ 2 w 96"/>
                    <a:gd name="T11" fmla="*/ 55 h 99"/>
                    <a:gd name="T12" fmla="*/ 12 w 96"/>
                    <a:gd name="T13" fmla="*/ 2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6" h="99">
                      <a:moveTo>
                        <a:pt x="12" y="20"/>
                      </a:moveTo>
                      <a:cubicBezTo>
                        <a:pt x="19" y="11"/>
                        <a:pt x="30" y="5"/>
                        <a:pt x="43" y="3"/>
                      </a:cubicBezTo>
                      <a:cubicBezTo>
                        <a:pt x="69" y="0"/>
                        <a:pt x="92" y="19"/>
                        <a:pt x="95" y="45"/>
                      </a:cubicBezTo>
                      <a:cubicBezTo>
                        <a:pt x="96" y="58"/>
                        <a:pt x="92" y="70"/>
                        <a:pt x="85" y="79"/>
                      </a:cubicBezTo>
                      <a:cubicBezTo>
                        <a:pt x="77" y="88"/>
                        <a:pt x="66" y="95"/>
                        <a:pt x="53" y="96"/>
                      </a:cubicBezTo>
                      <a:cubicBezTo>
                        <a:pt x="28" y="99"/>
                        <a:pt x="5" y="81"/>
                        <a:pt x="2" y="55"/>
                      </a:cubicBezTo>
                      <a:cubicBezTo>
                        <a:pt x="0" y="42"/>
                        <a:pt x="4" y="30"/>
                        <a:pt x="12" y="2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r>
                    <a:rPr lang="en-US" altLang="zh-CN" sz="1600" dirty="0">
                      <a:solidFill>
                        <a:schemeClr val="bg1"/>
                      </a:solidFill>
                      <a:latin typeface="Impact" panose="020B0806030902050204" pitchFamily="34" charset="0"/>
                      <a:ea typeface="微软雅黑" panose="020B0503020204020204" pitchFamily="34" charset="-122"/>
                    </a:rPr>
                    <a:t>01</a:t>
                  </a:r>
                  <a:endParaRPr lang="zh-CN" altLang="zh-CN" sz="1600" dirty="0">
                    <a:solidFill>
                      <a:schemeClr val="bg1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1" name="组 20">
                  <a:extLst>
                    <a:ext uri="{FF2B5EF4-FFF2-40B4-BE49-F238E27FC236}">
                      <a16:creationId xmlns:a16="http://schemas.microsoft.com/office/drawing/2014/main" id="{9D33B129-A53B-684F-AAE8-F2D6F5FC03B3}"/>
                    </a:ext>
                  </a:extLst>
                </p:cNvPr>
                <p:cNvGrpSpPr/>
                <p:nvPr/>
              </p:nvGrpSpPr>
              <p:grpSpPr>
                <a:xfrm>
                  <a:off x="4884739" y="3186628"/>
                  <a:ext cx="781695" cy="795960"/>
                  <a:chOff x="6231785" y="3857081"/>
                  <a:chExt cx="781695" cy="795960"/>
                </a:xfrm>
              </p:grpSpPr>
              <p:sp>
                <p:nvSpPr>
                  <p:cNvPr id="12" name="PA_淘宝店chenying0907 27">
                    <a:extLst>
                      <a:ext uri="{FF2B5EF4-FFF2-40B4-BE49-F238E27FC236}">
                        <a16:creationId xmlns:a16="http://schemas.microsoft.com/office/drawing/2014/main" id="{46A291BB-5EEB-6047-805A-AA8A53A3DC5F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7"/>
                    </p:custDataLst>
                  </p:nvPr>
                </p:nvSpPr>
                <p:spPr bwMode="auto">
                  <a:xfrm>
                    <a:off x="6231785" y="3857081"/>
                    <a:ext cx="781695" cy="795960"/>
                  </a:xfrm>
                  <a:custGeom>
                    <a:avLst/>
                    <a:gdLst>
                      <a:gd name="T0" fmla="*/ 11 w 96"/>
                      <a:gd name="T1" fmla="*/ 20 h 98"/>
                      <a:gd name="T2" fmla="*/ 43 w 96"/>
                      <a:gd name="T3" fmla="*/ 3 h 98"/>
                      <a:gd name="T4" fmla="*/ 94 w 96"/>
                      <a:gd name="T5" fmla="*/ 44 h 98"/>
                      <a:gd name="T6" fmla="*/ 84 w 96"/>
                      <a:gd name="T7" fmla="*/ 78 h 98"/>
                      <a:gd name="T8" fmla="*/ 53 w 96"/>
                      <a:gd name="T9" fmla="*/ 96 h 98"/>
                      <a:gd name="T10" fmla="*/ 1 w 96"/>
                      <a:gd name="T11" fmla="*/ 54 h 98"/>
                      <a:gd name="T12" fmla="*/ 11 w 96"/>
                      <a:gd name="T13" fmla="*/ 20 h 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6" h="98">
                        <a:moveTo>
                          <a:pt x="11" y="20"/>
                        </a:moveTo>
                        <a:cubicBezTo>
                          <a:pt x="19" y="10"/>
                          <a:pt x="30" y="4"/>
                          <a:pt x="43" y="3"/>
                        </a:cubicBezTo>
                        <a:cubicBezTo>
                          <a:pt x="68" y="0"/>
                          <a:pt x="92" y="18"/>
                          <a:pt x="94" y="44"/>
                        </a:cubicBezTo>
                        <a:cubicBezTo>
                          <a:pt x="96" y="57"/>
                          <a:pt x="92" y="69"/>
                          <a:pt x="84" y="78"/>
                        </a:cubicBezTo>
                        <a:cubicBezTo>
                          <a:pt x="77" y="88"/>
                          <a:pt x="66" y="94"/>
                          <a:pt x="53" y="96"/>
                        </a:cubicBezTo>
                        <a:cubicBezTo>
                          <a:pt x="27" y="98"/>
                          <a:pt x="4" y="80"/>
                          <a:pt x="1" y="54"/>
                        </a:cubicBezTo>
                        <a:cubicBezTo>
                          <a:pt x="0" y="41"/>
                          <a:pt x="4" y="29"/>
                          <a:pt x="11" y="2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 w="63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>
                      <a:gradFill flip="none" rotWithShape="1">
                        <a:gsLst>
                          <a:gs pos="0">
                            <a:schemeClr val="lt1">
                              <a:shade val="30000"/>
                              <a:satMod val="115000"/>
                            </a:schemeClr>
                          </a:gs>
                          <a:gs pos="50000">
                            <a:schemeClr val="lt1">
                              <a:shade val="67500"/>
                              <a:satMod val="115000"/>
                            </a:schemeClr>
                          </a:gs>
                          <a:gs pos="100000">
                            <a:schemeClr val="lt1">
                              <a:shade val="100000"/>
                              <a:satMod val="115000"/>
                            </a:schemeClr>
                          </a:gs>
                        </a:gsLst>
                        <a:lin ang="2700000" scaled="1"/>
                        <a:tileRect/>
                      </a:gradFill>
                    </a:endParaRPr>
                  </a:p>
                </p:txBody>
              </p:sp>
              <p:sp>
                <p:nvSpPr>
                  <p:cNvPr id="13" name="PA_淘宝店chenying0907 59">
                    <a:extLst>
                      <a:ext uri="{FF2B5EF4-FFF2-40B4-BE49-F238E27FC236}">
                        <a16:creationId xmlns:a16="http://schemas.microsoft.com/office/drawing/2014/main" id="{2AAECAA6-7531-B344-BB8A-E9A5270B0D15}"/>
                      </a:ext>
                    </a:extLst>
                  </p:cNvPr>
                  <p:cNvSpPr>
                    <a:spLocks noEditPoints="1"/>
                  </p:cNvSpPr>
                  <p:nvPr>
                    <p:custDataLst>
                      <p:tags r:id="rId18"/>
                    </p:custDataLst>
                  </p:nvPr>
                </p:nvSpPr>
                <p:spPr bwMode="auto">
                  <a:xfrm>
                    <a:off x="6452842" y="4084606"/>
                    <a:ext cx="339581" cy="340913"/>
                  </a:xfrm>
                  <a:custGeom>
                    <a:avLst/>
                    <a:gdLst>
                      <a:gd name="T0" fmla="*/ 81 w 128"/>
                      <a:gd name="T1" fmla="*/ 14 h 128"/>
                      <a:gd name="T2" fmla="*/ 53 w 128"/>
                      <a:gd name="T3" fmla="*/ 36 h 128"/>
                      <a:gd name="T4" fmla="*/ 33 w 128"/>
                      <a:gd name="T5" fmla="*/ 36 h 128"/>
                      <a:gd name="T6" fmla="*/ 0 w 128"/>
                      <a:gd name="T7" fmla="*/ 56 h 128"/>
                      <a:gd name="T8" fmla="*/ 24 w 128"/>
                      <a:gd name="T9" fmla="*/ 84 h 128"/>
                      <a:gd name="T10" fmla="*/ 32 w 128"/>
                      <a:gd name="T11" fmla="*/ 128 h 128"/>
                      <a:gd name="T12" fmla="*/ 56 w 128"/>
                      <a:gd name="T13" fmla="*/ 120 h 128"/>
                      <a:gd name="T14" fmla="*/ 52 w 128"/>
                      <a:gd name="T15" fmla="*/ 108 h 128"/>
                      <a:gd name="T16" fmla="*/ 52 w 128"/>
                      <a:gd name="T17" fmla="*/ 80 h 128"/>
                      <a:gd name="T18" fmla="*/ 53 w 128"/>
                      <a:gd name="T19" fmla="*/ 78 h 128"/>
                      <a:gd name="T20" fmla="*/ 54 w 128"/>
                      <a:gd name="T21" fmla="*/ 77 h 128"/>
                      <a:gd name="T22" fmla="*/ 55 w 128"/>
                      <a:gd name="T23" fmla="*/ 76 h 128"/>
                      <a:gd name="T24" fmla="*/ 81 w 128"/>
                      <a:gd name="T25" fmla="*/ 98 h 128"/>
                      <a:gd name="T26" fmla="*/ 128 w 128"/>
                      <a:gd name="T27" fmla="*/ 56 h 128"/>
                      <a:gd name="T28" fmla="*/ 80 w 128"/>
                      <a:gd name="T29" fmla="*/ 56 h 128"/>
                      <a:gd name="T30" fmla="*/ 92 w 128"/>
                      <a:gd name="T31" fmla="*/ 44 h 128"/>
                      <a:gd name="T32" fmla="*/ 92 w 128"/>
                      <a:gd name="T33" fmla="*/ 68 h 128"/>
                      <a:gd name="T34" fmla="*/ 80 w 128"/>
                      <a:gd name="T35" fmla="*/ 56 h 128"/>
                      <a:gd name="T36" fmla="*/ 16 w 128"/>
                      <a:gd name="T37" fmla="*/ 44 h 128"/>
                      <a:gd name="T38" fmla="*/ 40 w 128"/>
                      <a:gd name="T39" fmla="*/ 56 h 128"/>
                      <a:gd name="T40" fmla="*/ 16 w 128"/>
                      <a:gd name="T41" fmla="*/ 68 h 128"/>
                      <a:gd name="T42" fmla="*/ 48 w 128"/>
                      <a:gd name="T43" fmla="*/ 120 h 128"/>
                      <a:gd name="T44" fmla="*/ 32 w 128"/>
                      <a:gd name="T45" fmla="*/ 84 h 128"/>
                      <a:gd name="T46" fmla="*/ 33 w 128"/>
                      <a:gd name="T47" fmla="*/ 76 h 128"/>
                      <a:gd name="T48" fmla="*/ 45 w 128"/>
                      <a:gd name="T49" fmla="*/ 76 h 128"/>
                      <a:gd name="T50" fmla="*/ 44 w 128"/>
                      <a:gd name="T51" fmla="*/ 108 h 128"/>
                      <a:gd name="T52" fmla="*/ 48 w 128"/>
                      <a:gd name="T53" fmla="*/ 117 h 128"/>
                      <a:gd name="T54" fmla="*/ 53 w 128"/>
                      <a:gd name="T55" fmla="*/ 68 h 128"/>
                      <a:gd name="T56" fmla="*/ 52 w 128"/>
                      <a:gd name="T57" fmla="*/ 68 h 128"/>
                      <a:gd name="T58" fmla="*/ 52 w 128"/>
                      <a:gd name="T59" fmla="*/ 44 h 128"/>
                      <a:gd name="T60" fmla="*/ 74 w 128"/>
                      <a:gd name="T61" fmla="*/ 36 h 128"/>
                      <a:gd name="T62" fmla="*/ 74 w 128"/>
                      <a:gd name="T63" fmla="*/ 76 h 128"/>
                      <a:gd name="T64" fmla="*/ 100 w 128"/>
                      <a:gd name="T65" fmla="*/ 104 h 128"/>
                      <a:gd name="T66" fmla="*/ 92 w 128"/>
                      <a:gd name="T67" fmla="*/ 76 h 128"/>
                      <a:gd name="T68" fmla="*/ 92 w 128"/>
                      <a:gd name="T69" fmla="*/ 36 h 128"/>
                      <a:gd name="T70" fmla="*/ 100 w 128"/>
                      <a:gd name="T71" fmla="*/ 8 h 128"/>
                      <a:gd name="T72" fmla="*/ 100 w 128"/>
                      <a:gd name="T73" fmla="*/ 104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28" h="128">
                        <a:moveTo>
                          <a:pt x="100" y="0"/>
                        </a:moveTo>
                        <a:cubicBezTo>
                          <a:pt x="92" y="0"/>
                          <a:pt x="85" y="6"/>
                          <a:pt x="81" y="14"/>
                        </a:cubicBezTo>
                        <a:cubicBezTo>
                          <a:pt x="81" y="14"/>
                          <a:pt x="81" y="14"/>
                          <a:pt x="81" y="14"/>
                        </a:cubicBezTo>
                        <a:cubicBezTo>
                          <a:pt x="74" y="27"/>
                          <a:pt x="64" y="36"/>
                          <a:pt x="53" y="36"/>
                        </a:cubicBezTo>
                        <a:cubicBezTo>
                          <a:pt x="50" y="36"/>
                          <a:pt x="50" y="36"/>
                          <a:pt x="50" y="36"/>
                        </a:cubicBezTo>
                        <a:cubicBezTo>
                          <a:pt x="33" y="36"/>
                          <a:pt x="33" y="36"/>
                          <a:pt x="33" y="36"/>
                        </a:cubicBezTo>
                        <a:cubicBezTo>
                          <a:pt x="16" y="36"/>
                          <a:pt x="16" y="36"/>
                          <a:pt x="16" y="36"/>
                        </a:cubicBezTo>
                        <a:cubicBezTo>
                          <a:pt x="7" y="36"/>
                          <a:pt x="0" y="45"/>
                          <a:pt x="0" y="56"/>
                        </a:cubicBezTo>
                        <a:cubicBezTo>
                          <a:pt x="0" y="67"/>
                          <a:pt x="7" y="76"/>
                          <a:pt x="16" y="76"/>
                        </a:cubicBezTo>
                        <a:cubicBezTo>
                          <a:pt x="20" y="76"/>
                          <a:pt x="24" y="80"/>
                          <a:pt x="24" y="84"/>
                        </a:cubicBezTo>
                        <a:cubicBezTo>
                          <a:pt x="24" y="120"/>
                          <a:pt x="24" y="120"/>
                          <a:pt x="24" y="120"/>
                        </a:cubicBezTo>
                        <a:cubicBezTo>
                          <a:pt x="24" y="124"/>
                          <a:pt x="28" y="128"/>
                          <a:pt x="32" y="128"/>
                        </a:cubicBezTo>
                        <a:cubicBezTo>
                          <a:pt x="48" y="128"/>
                          <a:pt x="48" y="128"/>
                          <a:pt x="48" y="128"/>
                        </a:cubicBezTo>
                        <a:cubicBezTo>
                          <a:pt x="52" y="128"/>
                          <a:pt x="56" y="124"/>
                          <a:pt x="56" y="120"/>
                        </a:cubicBezTo>
                        <a:cubicBezTo>
                          <a:pt x="56" y="116"/>
                          <a:pt x="56" y="116"/>
                          <a:pt x="56" y="116"/>
                        </a:cubicBezTo>
                        <a:cubicBezTo>
                          <a:pt x="56" y="112"/>
                          <a:pt x="52" y="110"/>
                          <a:pt x="52" y="108"/>
                        </a:cubicBezTo>
                        <a:cubicBezTo>
                          <a:pt x="52" y="80"/>
                          <a:pt x="52" y="80"/>
                          <a:pt x="52" y="80"/>
                        </a:cubicBezTo>
                        <a:cubicBezTo>
                          <a:pt x="52" y="80"/>
                          <a:pt x="52" y="80"/>
                          <a:pt x="52" y="80"/>
                        </a:cubicBezTo>
                        <a:cubicBezTo>
                          <a:pt x="52" y="79"/>
                          <a:pt x="52" y="79"/>
                          <a:pt x="53" y="78"/>
                        </a:cubicBezTo>
                        <a:cubicBezTo>
                          <a:pt x="53" y="78"/>
                          <a:pt x="53" y="78"/>
                          <a:pt x="53" y="78"/>
                        </a:cubicBezTo>
                        <a:cubicBezTo>
                          <a:pt x="53" y="77"/>
                          <a:pt x="53" y="77"/>
                          <a:pt x="54" y="77"/>
                        </a:cubicBezTo>
                        <a:cubicBezTo>
                          <a:pt x="54" y="77"/>
                          <a:pt x="54" y="77"/>
                          <a:pt x="54" y="77"/>
                        </a:cubicBezTo>
                        <a:cubicBezTo>
                          <a:pt x="54" y="77"/>
                          <a:pt x="54" y="77"/>
                          <a:pt x="54" y="77"/>
                        </a:cubicBezTo>
                        <a:cubicBezTo>
                          <a:pt x="54" y="76"/>
                          <a:pt x="55" y="76"/>
                          <a:pt x="55" y="76"/>
                        </a:cubicBezTo>
                        <a:cubicBezTo>
                          <a:pt x="65" y="77"/>
                          <a:pt x="74" y="85"/>
                          <a:pt x="81" y="98"/>
                        </a:cubicBezTo>
                        <a:cubicBezTo>
                          <a:pt x="81" y="98"/>
                          <a:pt x="81" y="98"/>
                          <a:pt x="81" y="98"/>
                        </a:cubicBezTo>
                        <a:cubicBezTo>
                          <a:pt x="85" y="106"/>
                          <a:pt x="92" y="112"/>
                          <a:pt x="100" y="112"/>
                        </a:cubicBezTo>
                        <a:cubicBezTo>
                          <a:pt x="118" y="112"/>
                          <a:pt x="128" y="84"/>
                          <a:pt x="128" y="56"/>
                        </a:cubicBezTo>
                        <a:cubicBezTo>
                          <a:pt x="128" y="28"/>
                          <a:pt x="118" y="0"/>
                          <a:pt x="100" y="0"/>
                        </a:cubicBezTo>
                        <a:close/>
                        <a:moveTo>
                          <a:pt x="80" y="56"/>
                        </a:moveTo>
                        <a:cubicBezTo>
                          <a:pt x="80" y="52"/>
                          <a:pt x="80" y="48"/>
                          <a:pt x="81" y="44"/>
                        </a:cubicBezTo>
                        <a:cubicBezTo>
                          <a:pt x="92" y="44"/>
                          <a:pt x="92" y="44"/>
                          <a:pt x="92" y="44"/>
                        </a:cubicBezTo>
                        <a:cubicBezTo>
                          <a:pt x="96" y="44"/>
                          <a:pt x="100" y="49"/>
                          <a:pt x="100" y="56"/>
                        </a:cubicBezTo>
                        <a:cubicBezTo>
                          <a:pt x="100" y="63"/>
                          <a:pt x="96" y="68"/>
                          <a:pt x="92" y="68"/>
                        </a:cubicBezTo>
                        <a:cubicBezTo>
                          <a:pt x="81" y="68"/>
                          <a:pt x="81" y="68"/>
                          <a:pt x="81" y="68"/>
                        </a:cubicBezTo>
                        <a:cubicBezTo>
                          <a:pt x="80" y="64"/>
                          <a:pt x="80" y="60"/>
                          <a:pt x="80" y="56"/>
                        </a:cubicBezTo>
                        <a:close/>
                        <a:moveTo>
                          <a:pt x="8" y="56"/>
                        </a:moveTo>
                        <a:cubicBezTo>
                          <a:pt x="8" y="49"/>
                          <a:pt x="12" y="44"/>
                          <a:pt x="16" y="44"/>
                        </a:cubicBezTo>
                        <a:cubicBezTo>
                          <a:pt x="44" y="44"/>
                          <a:pt x="44" y="44"/>
                          <a:pt x="44" y="44"/>
                        </a:cubicBezTo>
                        <a:cubicBezTo>
                          <a:pt x="42" y="47"/>
                          <a:pt x="40" y="51"/>
                          <a:pt x="40" y="56"/>
                        </a:cubicBezTo>
                        <a:cubicBezTo>
                          <a:pt x="40" y="61"/>
                          <a:pt x="42" y="65"/>
                          <a:pt x="44" y="68"/>
                        </a:cubicBezTo>
                        <a:cubicBezTo>
                          <a:pt x="16" y="68"/>
                          <a:pt x="16" y="68"/>
                          <a:pt x="16" y="68"/>
                        </a:cubicBezTo>
                        <a:cubicBezTo>
                          <a:pt x="12" y="68"/>
                          <a:pt x="8" y="63"/>
                          <a:pt x="8" y="56"/>
                        </a:cubicBezTo>
                        <a:close/>
                        <a:moveTo>
                          <a:pt x="48" y="120"/>
                        </a:moveTo>
                        <a:cubicBezTo>
                          <a:pt x="32" y="120"/>
                          <a:pt x="32" y="120"/>
                          <a:pt x="32" y="120"/>
                        </a:cubicBezTo>
                        <a:cubicBezTo>
                          <a:pt x="32" y="84"/>
                          <a:pt x="32" y="84"/>
                          <a:pt x="32" y="84"/>
                        </a:cubicBezTo>
                        <a:cubicBezTo>
                          <a:pt x="32" y="81"/>
                          <a:pt x="31" y="78"/>
                          <a:pt x="30" y="76"/>
                        </a:cubicBezTo>
                        <a:cubicBezTo>
                          <a:pt x="33" y="76"/>
                          <a:pt x="33" y="76"/>
                          <a:pt x="33" y="76"/>
                        </a:cubicBezTo>
                        <a:cubicBezTo>
                          <a:pt x="33" y="76"/>
                          <a:pt x="33" y="76"/>
                          <a:pt x="33" y="76"/>
                        </a:cubicBezTo>
                        <a:cubicBezTo>
                          <a:pt x="45" y="76"/>
                          <a:pt x="45" y="76"/>
                          <a:pt x="45" y="76"/>
                        </a:cubicBezTo>
                        <a:cubicBezTo>
                          <a:pt x="44" y="77"/>
                          <a:pt x="44" y="79"/>
                          <a:pt x="44" y="80"/>
                        </a:cubicBezTo>
                        <a:cubicBezTo>
                          <a:pt x="44" y="108"/>
                          <a:pt x="44" y="108"/>
                          <a:pt x="44" y="108"/>
                        </a:cubicBezTo>
                        <a:cubicBezTo>
                          <a:pt x="44" y="112"/>
                          <a:pt x="46" y="114"/>
                          <a:pt x="47" y="116"/>
                        </a:cubicBezTo>
                        <a:cubicBezTo>
                          <a:pt x="48" y="116"/>
                          <a:pt x="48" y="116"/>
                          <a:pt x="48" y="117"/>
                        </a:cubicBezTo>
                        <a:lnTo>
                          <a:pt x="48" y="120"/>
                        </a:lnTo>
                        <a:close/>
                        <a:moveTo>
                          <a:pt x="53" y="68"/>
                        </a:moveTo>
                        <a:cubicBezTo>
                          <a:pt x="52" y="68"/>
                          <a:pt x="52" y="68"/>
                          <a:pt x="52" y="68"/>
                        </a:cubicBezTo>
                        <a:cubicBezTo>
                          <a:pt x="52" y="68"/>
                          <a:pt x="52" y="68"/>
                          <a:pt x="52" y="68"/>
                        </a:cubicBezTo>
                        <a:cubicBezTo>
                          <a:pt x="48" y="68"/>
                          <a:pt x="44" y="63"/>
                          <a:pt x="44" y="56"/>
                        </a:cubicBezTo>
                        <a:cubicBezTo>
                          <a:pt x="44" y="49"/>
                          <a:pt x="48" y="44"/>
                          <a:pt x="52" y="44"/>
                        </a:cubicBezTo>
                        <a:cubicBezTo>
                          <a:pt x="53" y="44"/>
                          <a:pt x="53" y="44"/>
                          <a:pt x="53" y="44"/>
                        </a:cubicBezTo>
                        <a:cubicBezTo>
                          <a:pt x="60" y="44"/>
                          <a:pt x="68" y="41"/>
                          <a:pt x="74" y="36"/>
                        </a:cubicBezTo>
                        <a:cubicBezTo>
                          <a:pt x="73" y="42"/>
                          <a:pt x="72" y="49"/>
                          <a:pt x="72" y="56"/>
                        </a:cubicBezTo>
                        <a:cubicBezTo>
                          <a:pt x="72" y="63"/>
                          <a:pt x="73" y="70"/>
                          <a:pt x="74" y="76"/>
                        </a:cubicBezTo>
                        <a:cubicBezTo>
                          <a:pt x="68" y="71"/>
                          <a:pt x="60" y="68"/>
                          <a:pt x="53" y="68"/>
                        </a:cubicBezTo>
                        <a:close/>
                        <a:moveTo>
                          <a:pt x="100" y="104"/>
                        </a:moveTo>
                        <a:cubicBezTo>
                          <a:pt x="92" y="104"/>
                          <a:pt x="85" y="93"/>
                          <a:pt x="82" y="76"/>
                        </a:cubicBezTo>
                        <a:cubicBezTo>
                          <a:pt x="92" y="76"/>
                          <a:pt x="92" y="76"/>
                          <a:pt x="92" y="76"/>
                        </a:cubicBezTo>
                        <a:cubicBezTo>
                          <a:pt x="101" y="76"/>
                          <a:pt x="108" y="67"/>
                          <a:pt x="108" y="56"/>
                        </a:cubicBezTo>
                        <a:cubicBezTo>
                          <a:pt x="108" y="45"/>
                          <a:pt x="101" y="36"/>
                          <a:pt x="92" y="36"/>
                        </a:cubicBezTo>
                        <a:cubicBezTo>
                          <a:pt x="82" y="36"/>
                          <a:pt x="82" y="36"/>
                          <a:pt x="82" y="36"/>
                        </a:cubicBezTo>
                        <a:cubicBezTo>
                          <a:pt x="85" y="19"/>
                          <a:pt x="92" y="8"/>
                          <a:pt x="100" y="8"/>
                        </a:cubicBezTo>
                        <a:cubicBezTo>
                          <a:pt x="111" y="8"/>
                          <a:pt x="120" y="29"/>
                          <a:pt x="120" y="56"/>
                        </a:cubicBezTo>
                        <a:cubicBezTo>
                          <a:pt x="120" y="83"/>
                          <a:pt x="111" y="104"/>
                          <a:pt x="100" y="10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txBody>
                  <a:bodyPr vert="horz" wrap="square" lIns="121861" tIns="60931" rIns="121861" bIns="6093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id-ID" sz="1600"/>
                  </a:p>
                </p:txBody>
              </p:sp>
            </p:grpSp>
            <p:grpSp>
              <p:nvGrpSpPr>
                <p:cNvPr id="14" name="组 24">
                  <a:extLst>
                    <a:ext uri="{FF2B5EF4-FFF2-40B4-BE49-F238E27FC236}">
                      <a16:creationId xmlns:a16="http://schemas.microsoft.com/office/drawing/2014/main" id="{D84B62DE-B010-EC46-A6A9-9624AC2A5C49}"/>
                    </a:ext>
                  </a:extLst>
                </p:cNvPr>
                <p:cNvGrpSpPr/>
                <p:nvPr/>
              </p:nvGrpSpPr>
              <p:grpSpPr>
                <a:xfrm>
                  <a:off x="3966515" y="2602280"/>
                  <a:ext cx="781695" cy="806296"/>
                  <a:chOff x="5431752" y="2087940"/>
                  <a:chExt cx="781695" cy="806296"/>
                </a:xfrm>
              </p:grpSpPr>
              <p:sp>
                <p:nvSpPr>
                  <p:cNvPr id="15" name="PA_淘宝店chenying0907 29">
                    <a:extLst>
                      <a:ext uri="{FF2B5EF4-FFF2-40B4-BE49-F238E27FC236}">
                        <a16:creationId xmlns:a16="http://schemas.microsoft.com/office/drawing/2014/main" id="{874229B1-FF83-7342-BAE9-985685FBC73D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5"/>
                    </p:custDataLst>
                  </p:nvPr>
                </p:nvSpPr>
                <p:spPr bwMode="auto">
                  <a:xfrm>
                    <a:off x="5431752" y="2087940"/>
                    <a:ext cx="781695" cy="806296"/>
                  </a:xfrm>
                  <a:custGeom>
                    <a:avLst/>
                    <a:gdLst>
                      <a:gd name="T0" fmla="*/ 11 w 96"/>
                      <a:gd name="T1" fmla="*/ 21 h 99"/>
                      <a:gd name="T2" fmla="*/ 43 w 96"/>
                      <a:gd name="T3" fmla="*/ 3 h 99"/>
                      <a:gd name="T4" fmla="*/ 94 w 96"/>
                      <a:gd name="T5" fmla="*/ 45 h 99"/>
                      <a:gd name="T6" fmla="*/ 84 w 96"/>
                      <a:gd name="T7" fmla="*/ 79 h 99"/>
                      <a:gd name="T8" fmla="*/ 53 w 96"/>
                      <a:gd name="T9" fmla="*/ 96 h 99"/>
                      <a:gd name="T10" fmla="*/ 1 w 96"/>
                      <a:gd name="T11" fmla="*/ 55 h 99"/>
                      <a:gd name="T12" fmla="*/ 11 w 96"/>
                      <a:gd name="T13" fmla="*/ 21 h 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6" h="99">
                        <a:moveTo>
                          <a:pt x="11" y="21"/>
                        </a:moveTo>
                        <a:cubicBezTo>
                          <a:pt x="19" y="11"/>
                          <a:pt x="30" y="5"/>
                          <a:pt x="43" y="3"/>
                        </a:cubicBezTo>
                        <a:cubicBezTo>
                          <a:pt x="68" y="0"/>
                          <a:pt x="91" y="19"/>
                          <a:pt x="94" y="45"/>
                        </a:cubicBezTo>
                        <a:cubicBezTo>
                          <a:pt x="96" y="58"/>
                          <a:pt x="92" y="70"/>
                          <a:pt x="84" y="79"/>
                        </a:cubicBezTo>
                        <a:cubicBezTo>
                          <a:pt x="77" y="88"/>
                          <a:pt x="66" y="95"/>
                          <a:pt x="53" y="96"/>
                        </a:cubicBezTo>
                        <a:cubicBezTo>
                          <a:pt x="27" y="99"/>
                          <a:pt x="4" y="81"/>
                          <a:pt x="1" y="55"/>
                        </a:cubicBezTo>
                        <a:cubicBezTo>
                          <a:pt x="0" y="42"/>
                          <a:pt x="4" y="30"/>
                          <a:pt x="11" y="2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 w="63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>
                      <a:gradFill flip="none" rotWithShape="1">
                        <a:gsLst>
                          <a:gs pos="0">
                            <a:schemeClr val="lt1">
                              <a:shade val="30000"/>
                              <a:satMod val="115000"/>
                            </a:schemeClr>
                          </a:gs>
                          <a:gs pos="50000">
                            <a:schemeClr val="lt1">
                              <a:shade val="67500"/>
                              <a:satMod val="115000"/>
                            </a:schemeClr>
                          </a:gs>
                          <a:gs pos="100000">
                            <a:schemeClr val="lt1">
                              <a:shade val="100000"/>
                              <a:satMod val="115000"/>
                            </a:schemeClr>
                          </a:gs>
                        </a:gsLst>
                        <a:lin ang="2700000" scaled="1"/>
                        <a:tileRect/>
                      </a:gradFill>
                    </a:endParaRPr>
                  </a:p>
                </p:txBody>
              </p:sp>
              <p:grpSp>
                <p:nvGrpSpPr>
                  <p:cNvPr id="16" name="PA_组合 238">
                    <a:extLst>
                      <a:ext uri="{FF2B5EF4-FFF2-40B4-BE49-F238E27FC236}">
                        <a16:creationId xmlns:a16="http://schemas.microsoft.com/office/drawing/2014/main" id="{74D60EF6-31C5-D343-9348-5A96ECCD3B3B}"/>
                      </a:ext>
                    </a:extLst>
                  </p:cNvPr>
                  <p:cNvGrpSpPr/>
                  <p:nvPr>
                    <p:custDataLst>
                      <p:tags r:id="rId16"/>
                    </p:custDataLst>
                  </p:nvPr>
                </p:nvGrpSpPr>
                <p:grpSpPr>
                  <a:xfrm>
                    <a:off x="5674873" y="2359341"/>
                    <a:ext cx="295453" cy="277154"/>
                    <a:chOff x="2974975" y="2071688"/>
                    <a:chExt cx="482600" cy="452438"/>
                  </a:xfrm>
                  <a:solidFill>
                    <a:schemeClr val="tx1">
                      <a:lumMod val="50000"/>
                      <a:lumOff val="50000"/>
                    </a:schemeClr>
                  </a:solidFill>
                </p:grpSpPr>
                <p:sp>
                  <p:nvSpPr>
                    <p:cNvPr id="17" name="Freeform 78">
                      <a:extLst>
                        <a:ext uri="{FF2B5EF4-FFF2-40B4-BE49-F238E27FC236}">
                          <a16:creationId xmlns:a16="http://schemas.microsoft.com/office/drawing/2014/main" id="{3A17ADEA-6BE4-B741-91E7-711735F71E11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974975" y="2071688"/>
                      <a:ext cx="482600" cy="452438"/>
                    </a:xfrm>
                    <a:custGeom>
                      <a:avLst/>
                      <a:gdLst>
                        <a:gd name="T0" fmla="*/ 126 w 128"/>
                        <a:gd name="T1" fmla="*/ 26 h 120"/>
                        <a:gd name="T2" fmla="*/ 102 w 128"/>
                        <a:gd name="T3" fmla="*/ 2 h 120"/>
                        <a:gd name="T4" fmla="*/ 96 w 128"/>
                        <a:gd name="T5" fmla="*/ 0 h 120"/>
                        <a:gd name="T6" fmla="*/ 12 w 128"/>
                        <a:gd name="T7" fmla="*/ 0 h 120"/>
                        <a:gd name="T8" fmla="*/ 0 w 128"/>
                        <a:gd name="T9" fmla="*/ 12 h 120"/>
                        <a:gd name="T10" fmla="*/ 0 w 128"/>
                        <a:gd name="T11" fmla="*/ 108 h 120"/>
                        <a:gd name="T12" fmla="*/ 12 w 128"/>
                        <a:gd name="T13" fmla="*/ 120 h 120"/>
                        <a:gd name="T14" fmla="*/ 116 w 128"/>
                        <a:gd name="T15" fmla="*/ 120 h 120"/>
                        <a:gd name="T16" fmla="*/ 128 w 128"/>
                        <a:gd name="T17" fmla="*/ 108 h 120"/>
                        <a:gd name="T18" fmla="*/ 128 w 128"/>
                        <a:gd name="T19" fmla="*/ 32 h 120"/>
                        <a:gd name="T20" fmla="*/ 126 w 128"/>
                        <a:gd name="T21" fmla="*/ 26 h 120"/>
                        <a:gd name="T22" fmla="*/ 120 w 128"/>
                        <a:gd name="T23" fmla="*/ 108 h 120"/>
                        <a:gd name="T24" fmla="*/ 116 w 128"/>
                        <a:gd name="T25" fmla="*/ 112 h 120"/>
                        <a:gd name="T26" fmla="*/ 12 w 128"/>
                        <a:gd name="T27" fmla="*/ 112 h 120"/>
                        <a:gd name="T28" fmla="*/ 8 w 128"/>
                        <a:gd name="T29" fmla="*/ 108 h 120"/>
                        <a:gd name="T30" fmla="*/ 8 w 128"/>
                        <a:gd name="T31" fmla="*/ 12 h 120"/>
                        <a:gd name="T32" fmla="*/ 12 w 128"/>
                        <a:gd name="T33" fmla="*/ 8 h 120"/>
                        <a:gd name="T34" fmla="*/ 92 w 128"/>
                        <a:gd name="T35" fmla="*/ 8 h 120"/>
                        <a:gd name="T36" fmla="*/ 92 w 128"/>
                        <a:gd name="T37" fmla="*/ 24 h 120"/>
                        <a:gd name="T38" fmla="*/ 92 w 128"/>
                        <a:gd name="T39" fmla="*/ 24 h 120"/>
                        <a:gd name="T40" fmla="*/ 104 w 128"/>
                        <a:gd name="T41" fmla="*/ 36 h 120"/>
                        <a:gd name="T42" fmla="*/ 108 w 128"/>
                        <a:gd name="T43" fmla="*/ 36 h 120"/>
                        <a:gd name="T44" fmla="*/ 120 w 128"/>
                        <a:gd name="T45" fmla="*/ 36 h 120"/>
                        <a:gd name="T46" fmla="*/ 120 w 128"/>
                        <a:gd name="T47" fmla="*/ 108 h 120"/>
                        <a:gd name="T48" fmla="*/ 108 w 128"/>
                        <a:gd name="T49" fmla="*/ 32 h 120"/>
                        <a:gd name="T50" fmla="*/ 104 w 128"/>
                        <a:gd name="T51" fmla="*/ 32 h 120"/>
                        <a:gd name="T52" fmla="*/ 96 w 128"/>
                        <a:gd name="T53" fmla="*/ 24 h 120"/>
                        <a:gd name="T54" fmla="*/ 96 w 128"/>
                        <a:gd name="T55" fmla="*/ 24 h 120"/>
                        <a:gd name="T56" fmla="*/ 96 w 128"/>
                        <a:gd name="T57" fmla="*/ 8 h 120"/>
                        <a:gd name="T58" fmla="*/ 120 w 128"/>
                        <a:gd name="T59" fmla="*/ 32 h 120"/>
                        <a:gd name="T60" fmla="*/ 108 w 128"/>
                        <a:gd name="T61" fmla="*/ 32 h 1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28" h="120">
                          <a:moveTo>
                            <a:pt x="126" y="26"/>
                          </a:moveTo>
                          <a:cubicBezTo>
                            <a:pt x="102" y="2"/>
                            <a:pt x="102" y="2"/>
                            <a:pt x="102" y="2"/>
                          </a:cubicBezTo>
                          <a:cubicBezTo>
                            <a:pt x="100" y="1"/>
                            <a:pt x="98" y="0"/>
                            <a:pt x="96" y="0"/>
                          </a:cubicBezTo>
                          <a:cubicBezTo>
                            <a:pt x="12" y="0"/>
                            <a:pt x="12" y="0"/>
                            <a:pt x="12" y="0"/>
                          </a:cubicBezTo>
                          <a:cubicBezTo>
                            <a:pt x="5" y="0"/>
                            <a:pt x="0" y="5"/>
                            <a:pt x="0" y="12"/>
                          </a:cubicBezTo>
                          <a:cubicBezTo>
                            <a:pt x="0" y="108"/>
                            <a:pt x="0" y="108"/>
                            <a:pt x="0" y="108"/>
                          </a:cubicBezTo>
                          <a:cubicBezTo>
                            <a:pt x="0" y="115"/>
                            <a:pt x="5" y="120"/>
                            <a:pt x="12" y="120"/>
                          </a:cubicBezTo>
                          <a:cubicBezTo>
                            <a:pt x="116" y="120"/>
                            <a:pt x="116" y="120"/>
                            <a:pt x="116" y="120"/>
                          </a:cubicBezTo>
                          <a:cubicBezTo>
                            <a:pt x="123" y="120"/>
                            <a:pt x="128" y="115"/>
                            <a:pt x="128" y="108"/>
                          </a:cubicBezTo>
                          <a:cubicBezTo>
                            <a:pt x="128" y="32"/>
                            <a:pt x="128" y="32"/>
                            <a:pt x="128" y="32"/>
                          </a:cubicBezTo>
                          <a:cubicBezTo>
                            <a:pt x="128" y="30"/>
                            <a:pt x="127" y="28"/>
                            <a:pt x="126" y="26"/>
                          </a:cubicBezTo>
                          <a:close/>
                          <a:moveTo>
                            <a:pt x="120" y="108"/>
                          </a:moveTo>
                          <a:cubicBezTo>
                            <a:pt x="120" y="110"/>
                            <a:pt x="118" y="112"/>
                            <a:pt x="116" y="112"/>
                          </a:cubicBezTo>
                          <a:cubicBezTo>
                            <a:pt x="12" y="112"/>
                            <a:pt x="12" y="112"/>
                            <a:pt x="12" y="112"/>
                          </a:cubicBezTo>
                          <a:cubicBezTo>
                            <a:pt x="10" y="112"/>
                            <a:pt x="8" y="110"/>
                            <a:pt x="8" y="108"/>
                          </a:cubicBezTo>
                          <a:cubicBezTo>
                            <a:pt x="8" y="12"/>
                            <a:pt x="8" y="12"/>
                            <a:pt x="8" y="12"/>
                          </a:cubicBezTo>
                          <a:cubicBezTo>
                            <a:pt x="8" y="10"/>
                            <a:pt x="10" y="8"/>
                            <a:pt x="12" y="8"/>
                          </a:cubicBezTo>
                          <a:cubicBezTo>
                            <a:pt x="92" y="8"/>
                            <a:pt x="92" y="8"/>
                            <a:pt x="92" y="8"/>
                          </a:cubicBezTo>
                          <a:cubicBezTo>
                            <a:pt x="92" y="24"/>
                            <a:pt x="92" y="24"/>
                            <a:pt x="92" y="24"/>
                          </a:cubicBezTo>
                          <a:cubicBezTo>
                            <a:pt x="92" y="24"/>
                            <a:pt x="92" y="24"/>
                            <a:pt x="92" y="24"/>
                          </a:cubicBezTo>
                          <a:cubicBezTo>
                            <a:pt x="92" y="31"/>
                            <a:pt x="97" y="36"/>
                            <a:pt x="104" y="36"/>
                          </a:cubicBezTo>
                          <a:cubicBezTo>
                            <a:pt x="108" y="36"/>
                            <a:pt x="108" y="36"/>
                            <a:pt x="108" y="36"/>
                          </a:cubicBezTo>
                          <a:cubicBezTo>
                            <a:pt x="120" y="36"/>
                            <a:pt x="120" y="36"/>
                            <a:pt x="120" y="36"/>
                          </a:cubicBezTo>
                          <a:lnTo>
                            <a:pt x="120" y="108"/>
                          </a:lnTo>
                          <a:close/>
                          <a:moveTo>
                            <a:pt x="108" y="32"/>
                          </a:moveTo>
                          <a:cubicBezTo>
                            <a:pt x="104" y="32"/>
                            <a:pt x="104" y="32"/>
                            <a:pt x="104" y="32"/>
                          </a:cubicBezTo>
                          <a:cubicBezTo>
                            <a:pt x="100" y="32"/>
                            <a:pt x="96" y="28"/>
                            <a:pt x="96" y="24"/>
                          </a:cubicBezTo>
                          <a:cubicBezTo>
                            <a:pt x="96" y="24"/>
                            <a:pt x="96" y="24"/>
                            <a:pt x="96" y="24"/>
                          </a:cubicBezTo>
                          <a:cubicBezTo>
                            <a:pt x="96" y="8"/>
                            <a:pt x="96" y="8"/>
                            <a:pt x="96" y="8"/>
                          </a:cubicBezTo>
                          <a:cubicBezTo>
                            <a:pt x="120" y="32"/>
                            <a:pt x="120" y="32"/>
                            <a:pt x="120" y="32"/>
                          </a:cubicBezTo>
                          <a:lnTo>
                            <a:pt x="108" y="32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18" name="Freeform 79">
                      <a:extLst>
                        <a:ext uri="{FF2B5EF4-FFF2-40B4-BE49-F238E27FC236}">
                          <a16:creationId xmlns:a16="http://schemas.microsoft.com/office/drawing/2014/main" id="{F80F1D62-7C51-C249-A3EE-4B067B46C5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400" y="2162176"/>
                      <a:ext cx="90487" cy="15875"/>
                    </a:xfrm>
                    <a:custGeom>
                      <a:avLst/>
                      <a:gdLst>
                        <a:gd name="T0" fmla="*/ 2 w 24"/>
                        <a:gd name="T1" fmla="*/ 4 h 4"/>
                        <a:gd name="T2" fmla="*/ 22 w 24"/>
                        <a:gd name="T3" fmla="*/ 4 h 4"/>
                        <a:gd name="T4" fmla="*/ 24 w 24"/>
                        <a:gd name="T5" fmla="*/ 2 h 4"/>
                        <a:gd name="T6" fmla="*/ 22 w 24"/>
                        <a:gd name="T7" fmla="*/ 0 h 4"/>
                        <a:gd name="T8" fmla="*/ 2 w 24"/>
                        <a:gd name="T9" fmla="*/ 0 h 4"/>
                        <a:gd name="T10" fmla="*/ 0 w 24"/>
                        <a:gd name="T11" fmla="*/ 2 h 4"/>
                        <a:gd name="T12" fmla="*/ 2 w 24"/>
                        <a:gd name="T13" fmla="*/ 4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24" h="4">
                          <a:moveTo>
                            <a:pt x="2" y="4"/>
                          </a:moveTo>
                          <a:cubicBezTo>
                            <a:pt x="22" y="4"/>
                            <a:pt x="22" y="4"/>
                            <a:pt x="22" y="4"/>
                          </a:cubicBezTo>
                          <a:cubicBezTo>
                            <a:pt x="23" y="4"/>
                            <a:pt x="24" y="3"/>
                            <a:pt x="24" y="2"/>
                          </a:cubicBezTo>
                          <a:cubicBezTo>
                            <a:pt x="24" y="1"/>
                            <a:pt x="23" y="0"/>
                            <a:pt x="22" y="0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1" y="0"/>
                            <a:pt x="0" y="1"/>
                            <a:pt x="0" y="2"/>
                          </a:cubicBezTo>
                          <a:cubicBezTo>
                            <a:pt x="0" y="3"/>
                            <a:pt x="1" y="4"/>
                            <a:pt x="2" y="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19" name="Freeform 80">
                      <a:extLst>
                        <a:ext uri="{FF2B5EF4-FFF2-40B4-BE49-F238E27FC236}">
                          <a16:creationId xmlns:a16="http://schemas.microsoft.com/office/drawing/2014/main" id="{D7EC8EFE-BA4F-A442-A77C-E1CDA436FA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400" y="2208213"/>
                      <a:ext cx="90487" cy="14288"/>
                    </a:xfrm>
                    <a:custGeom>
                      <a:avLst/>
                      <a:gdLst>
                        <a:gd name="T0" fmla="*/ 2 w 24"/>
                        <a:gd name="T1" fmla="*/ 4 h 4"/>
                        <a:gd name="T2" fmla="*/ 22 w 24"/>
                        <a:gd name="T3" fmla="*/ 4 h 4"/>
                        <a:gd name="T4" fmla="*/ 24 w 24"/>
                        <a:gd name="T5" fmla="*/ 2 h 4"/>
                        <a:gd name="T6" fmla="*/ 22 w 24"/>
                        <a:gd name="T7" fmla="*/ 0 h 4"/>
                        <a:gd name="T8" fmla="*/ 2 w 24"/>
                        <a:gd name="T9" fmla="*/ 0 h 4"/>
                        <a:gd name="T10" fmla="*/ 0 w 24"/>
                        <a:gd name="T11" fmla="*/ 2 h 4"/>
                        <a:gd name="T12" fmla="*/ 2 w 24"/>
                        <a:gd name="T13" fmla="*/ 4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24" h="4">
                          <a:moveTo>
                            <a:pt x="2" y="4"/>
                          </a:moveTo>
                          <a:cubicBezTo>
                            <a:pt x="22" y="4"/>
                            <a:pt x="22" y="4"/>
                            <a:pt x="22" y="4"/>
                          </a:cubicBezTo>
                          <a:cubicBezTo>
                            <a:pt x="23" y="4"/>
                            <a:pt x="24" y="3"/>
                            <a:pt x="24" y="2"/>
                          </a:cubicBezTo>
                          <a:cubicBezTo>
                            <a:pt x="24" y="1"/>
                            <a:pt x="23" y="0"/>
                            <a:pt x="22" y="0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1" y="0"/>
                            <a:pt x="0" y="1"/>
                            <a:pt x="0" y="2"/>
                          </a:cubicBezTo>
                          <a:cubicBezTo>
                            <a:pt x="0" y="3"/>
                            <a:pt x="1" y="4"/>
                            <a:pt x="2" y="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20" name="Freeform 81">
                      <a:extLst>
                        <a:ext uri="{FF2B5EF4-FFF2-40B4-BE49-F238E27FC236}">
                          <a16:creationId xmlns:a16="http://schemas.microsoft.com/office/drawing/2014/main" id="{15ED4F0D-E8D3-FA49-B6C1-A24E6B2C28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00400" y="2252663"/>
                      <a:ext cx="196850" cy="15875"/>
                    </a:xfrm>
                    <a:custGeom>
                      <a:avLst/>
                      <a:gdLst>
                        <a:gd name="T0" fmla="*/ 0 w 52"/>
                        <a:gd name="T1" fmla="*/ 2 h 4"/>
                        <a:gd name="T2" fmla="*/ 2 w 52"/>
                        <a:gd name="T3" fmla="*/ 4 h 4"/>
                        <a:gd name="T4" fmla="*/ 50 w 52"/>
                        <a:gd name="T5" fmla="*/ 4 h 4"/>
                        <a:gd name="T6" fmla="*/ 52 w 52"/>
                        <a:gd name="T7" fmla="*/ 2 h 4"/>
                        <a:gd name="T8" fmla="*/ 50 w 52"/>
                        <a:gd name="T9" fmla="*/ 0 h 4"/>
                        <a:gd name="T10" fmla="*/ 2 w 52"/>
                        <a:gd name="T11" fmla="*/ 0 h 4"/>
                        <a:gd name="T12" fmla="*/ 0 w 52"/>
                        <a:gd name="T13" fmla="*/ 2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2" h="4">
                          <a:moveTo>
                            <a:pt x="0" y="2"/>
                          </a:moveTo>
                          <a:cubicBezTo>
                            <a:pt x="0" y="3"/>
                            <a:pt x="1" y="4"/>
                            <a:pt x="2" y="4"/>
                          </a:cubicBezTo>
                          <a:cubicBezTo>
                            <a:pt x="50" y="4"/>
                            <a:pt x="50" y="4"/>
                            <a:pt x="50" y="4"/>
                          </a:cubicBezTo>
                          <a:cubicBezTo>
                            <a:pt x="51" y="4"/>
                            <a:pt x="52" y="3"/>
                            <a:pt x="52" y="2"/>
                          </a:cubicBezTo>
                          <a:cubicBezTo>
                            <a:pt x="52" y="1"/>
                            <a:pt x="51" y="0"/>
                            <a:pt x="50" y="0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1" y="0"/>
                            <a:pt x="0" y="1"/>
                            <a:pt x="0" y="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21" name="Freeform 82">
                      <a:extLst>
                        <a:ext uri="{FF2B5EF4-FFF2-40B4-BE49-F238E27FC236}">
                          <a16:creationId xmlns:a16="http://schemas.microsoft.com/office/drawing/2014/main" id="{349904A1-56AA-3443-A9CD-8409B800B8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35300" y="2343151"/>
                      <a:ext cx="361950" cy="15875"/>
                    </a:xfrm>
                    <a:custGeom>
                      <a:avLst/>
                      <a:gdLst>
                        <a:gd name="T0" fmla="*/ 94 w 96"/>
                        <a:gd name="T1" fmla="*/ 0 h 4"/>
                        <a:gd name="T2" fmla="*/ 2 w 96"/>
                        <a:gd name="T3" fmla="*/ 0 h 4"/>
                        <a:gd name="T4" fmla="*/ 0 w 96"/>
                        <a:gd name="T5" fmla="*/ 2 h 4"/>
                        <a:gd name="T6" fmla="*/ 2 w 96"/>
                        <a:gd name="T7" fmla="*/ 4 h 4"/>
                        <a:gd name="T8" fmla="*/ 94 w 96"/>
                        <a:gd name="T9" fmla="*/ 4 h 4"/>
                        <a:gd name="T10" fmla="*/ 96 w 96"/>
                        <a:gd name="T11" fmla="*/ 2 h 4"/>
                        <a:gd name="T12" fmla="*/ 94 w 96"/>
                        <a:gd name="T1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96" h="4">
                          <a:moveTo>
                            <a:pt x="94" y="0"/>
                          </a:move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1" y="0"/>
                            <a:pt x="0" y="1"/>
                            <a:pt x="0" y="2"/>
                          </a:cubicBezTo>
                          <a:cubicBezTo>
                            <a:pt x="0" y="3"/>
                            <a:pt x="1" y="4"/>
                            <a:pt x="2" y="4"/>
                          </a:cubicBezTo>
                          <a:cubicBezTo>
                            <a:pt x="94" y="4"/>
                            <a:pt x="94" y="4"/>
                            <a:pt x="94" y="4"/>
                          </a:cubicBezTo>
                          <a:cubicBezTo>
                            <a:pt x="95" y="4"/>
                            <a:pt x="96" y="3"/>
                            <a:pt x="96" y="2"/>
                          </a:cubicBezTo>
                          <a:cubicBezTo>
                            <a:pt x="96" y="1"/>
                            <a:pt x="95" y="0"/>
                            <a:pt x="94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22" name="Freeform 83">
                      <a:extLst>
                        <a:ext uri="{FF2B5EF4-FFF2-40B4-BE49-F238E27FC236}">
                          <a16:creationId xmlns:a16="http://schemas.microsoft.com/office/drawing/2014/main" id="{88CAA4EE-91EC-1D44-9FEE-39EB21F1B9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35300" y="2389188"/>
                      <a:ext cx="361950" cy="14288"/>
                    </a:xfrm>
                    <a:custGeom>
                      <a:avLst/>
                      <a:gdLst>
                        <a:gd name="T0" fmla="*/ 94 w 96"/>
                        <a:gd name="T1" fmla="*/ 0 h 4"/>
                        <a:gd name="T2" fmla="*/ 2 w 96"/>
                        <a:gd name="T3" fmla="*/ 0 h 4"/>
                        <a:gd name="T4" fmla="*/ 0 w 96"/>
                        <a:gd name="T5" fmla="*/ 2 h 4"/>
                        <a:gd name="T6" fmla="*/ 2 w 96"/>
                        <a:gd name="T7" fmla="*/ 4 h 4"/>
                        <a:gd name="T8" fmla="*/ 94 w 96"/>
                        <a:gd name="T9" fmla="*/ 4 h 4"/>
                        <a:gd name="T10" fmla="*/ 96 w 96"/>
                        <a:gd name="T11" fmla="*/ 2 h 4"/>
                        <a:gd name="T12" fmla="*/ 94 w 96"/>
                        <a:gd name="T1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96" h="4">
                          <a:moveTo>
                            <a:pt x="94" y="0"/>
                          </a:move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1" y="0"/>
                            <a:pt x="0" y="1"/>
                            <a:pt x="0" y="2"/>
                          </a:cubicBezTo>
                          <a:cubicBezTo>
                            <a:pt x="0" y="3"/>
                            <a:pt x="1" y="4"/>
                            <a:pt x="2" y="4"/>
                          </a:cubicBezTo>
                          <a:cubicBezTo>
                            <a:pt x="94" y="4"/>
                            <a:pt x="94" y="4"/>
                            <a:pt x="94" y="4"/>
                          </a:cubicBezTo>
                          <a:cubicBezTo>
                            <a:pt x="95" y="4"/>
                            <a:pt x="96" y="3"/>
                            <a:pt x="96" y="2"/>
                          </a:cubicBezTo>
                          <a:cubicBezTo>
                            <a:pt x="96" y="1"/>
                            <a:pt x="95" y="0"/>
                            <a:pt x="94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23" name="Freeform 84">
                      <a:extLst>
                        <a:ext uri="{FF2B5EF4-FFF2-40B4-BE49-F238E27FC236}">
                          <a16:creationId xmlns:a16="http://schemas.microsoft.com/office/drawing/2014/main" id="{2BC0F0A5-38BB-3C4C-A90E-99BBA17ABA5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35300" y="2433638"/>
                      <a:ext cx="361950" cy="14288"/>
                    </a:xfrm>
                    <a:custGeom>
                      <a:avLst/>
                      <a:gdLst>
                        <a:gd name="T0" fmla="*/ 94 w 96"/>
                        <a:gd name="T1" fmla="*/ 0 h 4"/>
                        <a:gd name="T2" fmla="*/ 2 w 96"/>
                        <a:gd name="T3" fmla="*/ 0 h 4"/>
                        <a:gd name="T4" fmla="*/ 0 w 96"/>
                        <a:gd name="T5" fmla="*/ 2 h 4"/>
                        <a:gd name="T6" fmla="*/ 2 w 96"/>
                        <a:gd name="T7" fmla="*/ 4 h 4"/>
                        <a:gd name="T8" fmla="*/ 94 w 96"/>
                        <a:gd name="T9" fmla="*/ 4 h 4"/>
                        <a:gd name="T10" fmla="*/ 96 w 96"/>
                        <a:gd name="T11" fmla="*/ 2 h 4"/>
                        <a:gd name="T12" fmla="*/ 94 w 96"/>
                        <a:gd name="T1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96" h="4">
                          <a:moveTo>
                            <a:pt x="94" y="0"/>
                          </a:move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1" y="0"/>
                            <a:pt x="0" y="1"/>
                            <a:pt x="0" y="2"/>
                          </a:cubicBezTo>
                          <a:cubicBezTo>
                            <a:pt x="0" y="3"/>
                            <a:pt x="1" y="4"/>
                            <a:pt x="2" y="4"/>
                          </a:cubicBezTo>
                          <a:cubicBezTo>
                            <a:pt x="94" y="4"/>
                            <a:pt x="94" y="4"/>
                            <a:pt x="94" y="4"/>
                          </a:cubicBezTo>
                          <a:cubicBezTo>
                            <a:pt x="95" y="4"/>
                            <a:pt x="96" y="3"/>
                            <a:pt x="96" y="2"/>
                          </a:cubicBezTo>
                          <a:cubicBezTo>
                            <a:pt x="96" y="1"/>
                            <a:pt x="95" y="0"/>
                            <a:pt x="94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24" name="Freeform 85">
                      <a:extLst>
                        <a:ext uri="{FF2B5EF4-FFF2-40B4-BE49-F238E27FC236}">
                          <a16:creationId xmlns:a16="http://schemas.microsoft.com/office/drawing/2014/main" id="{DB0B118E-0DE2-C745-B487-C0443F04F5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35300" y="2298701"/>
                      <a:ext cx="361950" cy="14288"/>
                    </a:xfrm>
                    <a:custGeom>
                      <a:avLst/>
                      <a:gdLst>
                        <a:gd name="T0" fmla="*/ 94 w 96"/>
                        <a:gd name="T1" fmla="*/ 0 h 4"/>
                        <a:gd name="T2" fmla="*/ 2 w 96"/>
                        <a:gd name="T3" fmla="*/ 0 h 4"/>
                        <a:gd name="T4" fmla="*/ 0 w 96"/>
                        <a:gd name="T5" fmla="*/ 2 h 4"/>
                        <a:gd name="T6" fmla="*/ 2 w 96"/>
                        <a:gd name="T7" fmla="*/ 4 h 4"/>
                        <a:gd name="T8" fmla="*/ 94 w 96"/>
                        <a:gd name="T9" fmla="*/ 4 h 4"/>
                        <a:gd name="T10" fmla="*/ 96 w 96"/>
                        <a:gd name="T11" fmla="*/ 2 h 4"/>
                        <a:gd name="T12" fmla="*/ 94 w 96"/>
                        <a:gd name="T1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96" h="4">
                          <a:moveTo>
                            <a:pt x="94" y="0"/>
                          </a:move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1" y="0"/>
                            <a:pt x="0" y="1"/>
                            <a:pt x="0" y="2"/>
                          </a:cubicBezTo>
                          <a:cubicBezTo>
                            <a:pt x="0" y="3"/>
                            <a:pt x="1" y="4"/>
                            <a:pt x="2" y="4"/>
                          </a:cubicBezTo>
                          <a:cubicBezTo>
                            <a:pt x="94" y="4"/>
                            <a:pt x="94" y="4"/>
                            <a:pt x="94" y="4"/>
                          </a:cubicBezTo>
                          <a:cubicBezTo>
                            <a:pt x="95" y="4"/>
                            <a:pt x="96" y="3"/>
                            <a:pt x="96" y="2"/>
                          </a:cubicBezTo>
                          <a:cubicBezTo>
                            <a:pt x="96" y="1"/>
                            <a:pt x="95" y="0"/>
                            <a:pt x="94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  <p:sp>
                  <p:nvSpPr>
                    <p:cNvPr id="25" name="Freeform 86">
                      <a:extLst>
                        <a:ext uri="{FF2B5EF4-FFF2-40B4-BE49-F238E27FC236}">
                          <a16:creationId xmlns:a16="http://schemas.microsoft.com/office/drawing/2014/main" id="{94A8F73A-91AA-EA4C-81D2-0E3776590F57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3035300" y="2147888"/>
                      <a:ext cx="134937" cy="120650"/>
                    </a:xfrm>
                    <a:custGeom>
                      <a:avLst/>
                      <a:gdLst>
                        <a:gd name="T0" fmla="*/ 4 w 36"/>
                        <a:gd name="T1" fmla="*/ 32 h 32"/>
                        <a:gd name="T2" fmla="*/ 32 w 36"/>
                        <a:gd name="T3" fmla="*/ 32 h 32"/>
                        <a:gd name="T4" fmla="*/ 36 w 36"/>
                        <a:gd name="T5" fmla="*/ 28 h 32"/>
                        <a:gd name="T6" fmla="*/ 36 w 36"/>
                        <a:gd name="T7" fmla="*/ 4 h 32"/>
                        <a:gd name="T8" fmla="*/ 32 w 36"/>
                        <a:gd name="T9" fmla="*/ 0 h 32"/>
                        <a:gd name="T10" fmla="*/ 4 w 36"/>
                        <a:gd name="T11" fmla="*/ 0 h 32"/>
                        <a:gd name="T12" fmla="*/ 0 w 36"/>
                        <a:gd name="T13" fmla="*/ 4 h 32"/>
                        <a:gd name="T14" fmla="*/ 0 w 36"/>
                        <a:gd name="T15" fmla="*/ 28 h 32"/>
                        <a:gd name="T16" fmla="*/ 4 w 36"/>
                        <a:gd name="T17" fmla="*/ 32 h 32"/>
                        <a:gd name="T18" fmla="*/ 8 w 36"/>
                        <a:gd name="T19" fmla="*/ 8 h 32"/>
                        <a:gd name="T20" fmla="*/ 28 w 36"/>
                        <a:gd name="T21" fmla="*/ 8 h 32"/>
                        <a:gd name="T22" fmla="*/ 28 w 36"/>
                        <a:gd name="T23" fmla="*/ 24 h 32"/>
                        <a:gd name="T24" fmla="*/ 8 w 36"/>
                        <a:gd name="T25" fmla="*/ 24 h 32"/>
                        <a:gd name="T26" fmla="*/ 8 w 36"/>
                        <a:gd name="T27" fmla="*/ 8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36" h="32">
                          <a:moveTo>
                            <a:pt x="4" y="32"/>
                          </a:moveTo>
                          <a:cubicBezTo>
                            <a:pt x="32" y="32"/>
                            <a:pt x="32" y="32"/>
                            <a:pt x="32" y="32"/>
                          </a:cubicBezTo>
                          <a:cubicBezTo>
                            <a:pt x="34" y="32"/>
                            <a:pt x="36" y="30"/>
                            <a:pt x="36" y="28"/>
                          </a:cubicBezTo>
                          <a:cubicBezTo>
                            <a:pt x="36" y="4"/>
                            <a:pt x="36" y="4"/>
                            <a:pt x="36" y="4"/>
                          </a:cubicBezTo>
                          <a:cubicBezTo>
                            <a:pt x="36" y="2"/>
                            <a:pt x="34" y="0"/>
                            <a:pt x="32" y="0"/>
                          </a:cubicBez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28"/>
                            <a:pt x="0" y="28"/>
                            <a:pt x="0" y="28"/>
                          </a:cubicBezTo>
                          <a:cubicBezTo>
                            <a:pt x="0" y="30"/>
                            <a:pt x="2" y="32"/>
                            <a:pt x="4" y="32"/>
                          </a:cubicBezTo>
                          <a:close/>
                          <a:moveTo>
                            <a:pt x="8" y="8"/>
                          </a:moveTo>
                          <a:cubicBezTo>
                            <a:pt x="28" y="8"/>
                            <a:pt x="28" y="8"/>
                            <a:pt x="28" y="8"/>
                          </a:cubicBezTo>
                          <a:cubicBezTo>
                            <a:pt x="28" y="24"/>
                            <a:pt x="28" y="24"/>
                            <a:pt x="28" y="24"/>
                          </a:cubicBezTo>
                          <a:cubicBezTo>
                            <a:pt x="8" y="24"/>
                            <a:pt x="8" y="24"/>
                            <a:pt x="8" y="24"/>
                          </a:cubicBezTo>
                          <a:lnTo>
                            <a:pt x="8" y="8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id-ID" sz="1600">
                        <a:solidFill>
                          <a:srgbClr val="87102C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26" name="组 50">
                  <a:extLst>
                    <a:ext uri="{FF2B5EF4-FFF2-40B4-BE49-F238E27FC236}">
                      <a16:creationId xmlns:a16="http://schemas.microsoft.com/office/drawing/2014/main" id="{9FB1F034-1EC7-9847-B53E-0C37CF3D7A38}"/>
                    </a:ext>
                  </a:extLst>
                </p:cNvPr>
                <p:cNvGrpSpPr/>
                <p:nvPr/>
              </p:nvGrpSpPr>
              <p:grpSpPr>
                <a:xfrm>
                  <a:off x="4932480" y="2109698"/>
                  <a:ext cx="778249" cy="806296"/>
                  <a:chOff x="5221028" y="3963693"/>
                  <a:chExt cx="778249" cy="806296"/>
                </a:xfrm>
              </p:grpSpPr>
              <p:sp>
                <p:nvSpPr>
                  <p:cNvPr id="27" name="PA_淘宝店chenying0907 28">
                    <a:extLst>
                      <a:ext uri="{FF2B5EF4-FFF2-40B4-BE49-F238E27FC236}">
                        <a16:creationId xmlns:a16="http://schemas.microsoft.com/office/drawing/2014/main" id="{9B2708C8-C9A5-1E42-AA0B-AADA9BDF2BAB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3"/>
                    </p:custDataLst>
                  </p:nvPr>
                </p:nvSpPr>
                <p:spPr bwMode="auto">
                  <a:xfrm>
                    <a:off x="5221028" y="3963693"/>
                    <a:ext cx="778249" cy="806296"/>
                  </a:xfrm>
                  <a:custGeom>
                    <a:avLst/>
                    <a:gdLst>
                      <a:gd name="T0" fmla="*/ 12 w 96"/>
                      <a:gd name="T1" fmla="*/ 21 h 99"/>
                      <a:gd name="T2" fmla="*/ 43 w 96"/>
                      <a:gd name="T3" fmla="*/ 3 h 99"/>
                      <a:gd name="T4" fmla="*/ 95 w 96"/>
                      <a:gd name="T5" fmla="*/ 45 h 99"/>
                      <a:gd name="T6" fmla="*/ 85 w 96"/>
                      <a:gd name="T7" fmla="*/ 79 h 99"/>
                      <a:gd name="T8" fmla="*/ 53 w 96"/>
                      <a:gd name="T9" fmla="*/ 96 h 99"/>
                      <a:gd name="T10" fmla="*/ 2 w 96"/>
                      <a:gd name="T11" fmla="*/ 55 h 99"/>
                      <a:gd name="T12" fmla="*/ 12 w 96"/>
                      <a:gd name="T13" fmla="*/ 21 h 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6" h="99">
                        <a:moveTo>
                          <a:pt x="12" y="21"/>
                        </a:moveTo>
                        <a:cubicBezTo>
                          <a:pt x="19" y="11"/>
                          <a:pt x="30" y="5"/>
                          <a:pt x="43" y="3"/>
                        </a:cubicBezTo>
                        <a:cubicBezTo>
                          <a:pt x="69" y="0"/>
                          <a:pt x="92" y="19"/>
                          <a:pt x="95" y="45"/>
                        </a:cubicBezTo>
                        <a:cubicBezTo>
                          <a:pt x="96" y="58"/>
                          <a:pt x="92" y="70"/>
                          <a:pt x="85" y="79"/>
                        </a:cubicBezTo>
                        <a:cubicBezTo>
                          <a:pt x="77" y="88"/>
                          <a:pt x="66" y="95"/>
                          <a:pt x="53" y="96"/>
                        </a:cubicBezTo>
                        <a:cubicBezTo>
                          <a:pt x="28" y="99"/>
                          <a:pt x="5" y="81"/>
                          <a:pt x="2" y="55"/>
                        </a:cubicBezTo>
                        <a:cubicBezTo>
                          <a:pt x="0" y="42"/>
                          <a:pt x="4" y="30"/>
                          <a:pt x="12" y="2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 w="63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>
                      <a:gradFill flip="none" rotWithShape="1">
                        <a:gsLst>
                          <a:gs pos="0">
                            <a:schemeClr val="lt1">
                              <a:shade val="30000"/>
                              <a:satMod val="115000"/>
                            </a:schemeClr>
                          </a:gs>
                          <a:gs pos="50000">
                            <a:schemeClr val="lt1">
                              <a:shade val="67500"/>
                              <a:satMod val="115000"/>
                            </a:schemeClr>
                          </a:gs>
                          <a:gs pos="100000">
                            <a:schemeClr val="lt1">
                              <a:shade val="100000"/>
                              <a:satMod val="115000"/>
                            </a:schemeClr>
                          </a:gs>
                        </a:gsLst>
                        <a:lin ang="2700000" scaled="1"/>
                        <a:tileRect/>
                      </a:gradFill>
                    </a:endParaRPr>
                  </a:p>
                </p:txBody>
              </p:sp>
              <p:grpSp>
                <p:nvGrpSpPr>
                  <p:cNvPr id="28" name="PA_组合 35">
                    <a:extLst>
                      <a:ext uri="{FF2B5EF4-FFF2-40B4-BE49-F238E27FC236}">
                        <a16:creationId xmlns:a16="http://schemas.microsoft.com/office/drawing/2014/main" id="{6EFDF418-9506-6D4E-AE14-1D8F7CBCA2F4}"/>
                      </a:ext>
                    </a:extLst>
                  </p:cNvPr>
                  <p:cNvGrpSpPr/>
                  <p:nvPr>
                    <p:custDataLst>
                      <p:tags r:id="rId14"/>
                    </p:custDataLst>
                  </p:nvPr>
                </p:nvGrpSpPr>
                <p:grpSpPr>
                  <a:xfrm>
                    <a:off x="5412838" y="4179576"/>
                    <a:ext cx="394629" cy="392272"/>
                    <a:chOff x="6853673" y="3715407"/>
                    <a:chExt cx="379359" cy="376864"/>
                  </a:xfrm>
                  <a:solidFill>
                    <a:schemeClr val="tx1">
                      <a:lumMod val="50000"/>
                      <a:lumOff val="50000"/>
                    </a:schemeClr>
                  </a:solidFill>
                </p:grpSpPr>
                <p:sp>
                  <p:nvSpPr>
                    <p:cNvPr id="29" name="Freeform 150">
                      <a:extLst>
                        <a:ext uri="{FF2B5EF4-FFF2-40B4-BE49-F238E27FC236}">
                          <a16:creationId xmlns:a16="http://schemas.microsoft.com/office/drawing/2014/main" id="{E061AD3E-C347-7844-BD3D-C8722E6187D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853673" y="3715407"/>
                      <a:ext cx="379359" cy="376864"/>
                    </a:xfrm>
                    <a:custGeom>
                      <a:avLst/>
                      <a:gdLst>
                        <a:gd name="T0" fmla="*/ 57 w 114"/>
                        <a:gd name="T1" fmla="*/ 0 h 114"/>
                        <a:gd name="T2" fmla="*/ 0 w 114"/>
                        <a:gd name="T3" fmla="*/ 57 h 114"/>
                        <a:gd name="T4" fmla="*/ 57 w 114"/>
                        <a:gd name="T5" fmla="*/ 114 h 114"/>
                        <a:gd name="T6" fmla="*/ 114 w 114"/>
                        <a:gd name="T7" fmla="*/ 57 h 114"/>
                        <a:gd name="T8" fmla="*/ 57 w 114"/>
                        <a:gd name="T9" fmla="*/ 0 h 114"/>
                        <a:gd name="T10" fmla="*/ 57 w 114"/>
                        <a:gd name="T11" fmla="*/ 108 h 114"/>
                        <a:gd name="T12" fmla="*/ 6 w 114"/>
                        <a:gd name="T13" fmla="*/ 57 h 114"/>
                        <a:gd name="T14" fmla="*/ 57 w 114"/>
                        <a:gd name="T15" fmla="*/ 6 h 114"/>
                        <a:gd name="T16" fmla="*/ 108 w 114"/>
                        <a:gd name="T17" fmla="*/ 57 h 114"/>
                        <a:gd name="T18" fmla="*/ 57 w 114"/>
                        <a:gd name="T19" fmla="*/ 108 h 1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14" h="114">
                          <a:moveTo>
                            <a:pt x="57" y="0"/>
                          </a:moveTo>
                          <a:cubicBezTo>
                            <a:pt x="25" y="0"/>
                            <a:pt x="0" y="25"/>
                            <a:pt x="0" y="57"/>
                          </a:cubicBezTo>
                          <a:cubicBezTo>
                            <a:pt x="0" y="89"/>
                            <a:pt x="25" y="114"/>
                            <a:pt x="57" y="114"/>
                          </a:cubicBezTo>
                          <a:cubicBezTo>
                            <a:pt x="89" y="114"/>
                            <a:pt x="114" y="89"/>
                            <a:pt x="114" y="57"/>
                          </a:cubicBezTo>
                          <a:cubicBezTo>
                            <a:pt x="114" y="25"/>
                            <a:pt x="89" y="0"/>
                            <a:pt x="57" y="0"/>
                          </a:cubicBezTo>
                          <a:close/>
                          <a:moveTo>
                            <a:pt x="57" y="108"/>
                          </a:moveTo>
                          <a:cubicBezTo>
                            <a:pt x="29" y="108"/>
                            <a:pt x="6" y="85"/>
                            <a:pt x="6" y="57"/>
                          </a:cubicBezTo>
                          <a:cubicBezTo>
                            <a:pt x="6" y="29"/>
                            <a:pt x="29" y="6"/>
                            <a:pt x="57" y="6"/>
                          </a:cubicBezTo>
                          <a:cubicBezTo>
                            <a:pt x="85" y="6"/>
                            <a:pt x="108" y="29"/>
                            <a:pt x="108" y="57"/>
                          </a:cubicBezTo>
                          <a:cubicBezTo>
                            <a:pt x="108" y="85"/>
                            <a:pt x="85" y="108"/>
                            <a:pt x="57" y="1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0" name="Rectangle 151">
                      <a:extLst>
                        <a:ext uri="{FF2B5EF4-FFF2-40B4-BE49-F238E27FC236}">
                          <a16:creationId xmlns:a16="http://schemas.microsoft.com/office/drawing/2014/main" id="{729D8128-A1BB-B847-AAD5-B3D263C7D42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998429" y="3987447"/>
                      <a:ext cx="22463" cy="42429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1" name="Rectangle 152">
                      <a:extLst>
                        <a:ext uri="{FF2B5EF4-FFF2-40B4-BE49-F238E27FC236}">
                          <a16:creationId xmlns:a16="http://schemas.microsoft.com/office/drawing/2014/main" id="{1D07D469-08DE-2940-AD7C-772C6C4208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33370" y="3987447"/>
                      <a:ext cx="19966" cy="42429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2" name="Rectangle 153">
                      <a:extLst>
                        <a:ext uri="{FF2B5EF4-FFF2-40B4-BE49-F238E27FC236}">
                          <a16:creationId xmlns:a16="http://schemas.microsoft.com/office/drawing/2014/main" id="{0305A728-BD4D-BE45-9C97-B4EEA8247F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68311" y="3987447"/>
                      <a:ext cx="19966" cy="42429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3" name="Freeform 154">
                      <a:extLst>
                        <a:ext uri="{FF2B5EF4-FFF2-40B4-BE49-F238E27FC236}">
                          <a16:creationId xmlns:a16="http://schemas.microsoft.com/office/drawing/2014/main" id="{64CA504A-2B89-674F-8E25-7630B7CFE5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70976" y="3822725"/>
                      <a:ext cx="82362" cy="84857"/>
                    </a:xfrm>
                    <a:custGeom>
                      <a:avLst/>
                      <a:gdLst>
                        <a:gd name="T0" fmla="*/ 19 w 25"/>
                        <a:gd name="T1" fmla="*/ 22 h 25"/>
                        <a:gd name="T2" fmla="*/ 22 w 25"/>
                        <a:gd name="T3" fmla="*/ 25 h 25"/>
                        <a:gd name="T4" fmla="*/ 25 w 25"/>
                        <a:gd name="T5" fmla="*/ 22 h 25"/>
                        <a:gd name="T6" fmla="*/ 22 w 25"/>
                        <a:gd name="T7" fmla="*/ 19 h 25"/>
                        <a:gd name="T8" fmla="*/ 21 w 25"/>
                        <a:gd name="T9" fmla="*/ 19 h 25"/>
                        <a:gd name="T10" fmla="*/ 0 w 25"/>
                        <a:gd name="T11" fmla="*/ 0 h 25"/>
                        <a:gd name="T12" fmla="*/ 19 w 25"/>
                        <a:gd name="T13" fmla="*/ 22 h 25"/>
                        <a:gd name="T14" fmla="*/ 19 w 25"/>
                        <a:gd name="T15" fmla="*/ 22 h 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25" h="25">
                          <a:moveTo>
                            <a:pt x="19" y="22"/>
                          </a:moveTo>
                          <a:cubicBezTo>
                            <a:pt x="19" y="24"/>
                            <a:pt x="20" y="25"/>
                            <a:pt x="22" y="25"/>
                          </a:cubicBezTo>
                          <a:cubicBezTo>
                            <a:pt x="24" y="25"/>
                            <a:pt x="25" y="24"/>
                            <a:pt x="25" y="22"/>
                          </a:cubicBezTo>
                          <a:cubicBezTo>
                            <a:pt x="25" y="21"/>
                            <a:pt x="24" y="19"/>
                            <a:pt x="22" y="19"/>
                          </a:cubicBezTo>
                          <a:cubicBezTo>
                            <a:pt x="22" y="19"/>
                            <a:pt x="22" y="19"/>
                            <a:pt x="21" y="19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19" y="22"/>
                            <a:pt x="19" y="22"/>
                            <a:pt x="19" y="22"/>
                          </a:cubicBezTo>
                          <a:cubicBezTo>
                            <a:pt x="19" y="22"/>
                            <a:pt x="19" y="22"/>
                            <a:pt x="19" y="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4" name="Freeform 155">
                      <a:extLst>
                        <a:ext uri="{FF2B5EF4-FFF2-40B4-BE49-F238E27FC236}">
                          <a16:creationId xmlns:a16="http://schemas.microsoft.com/office/drawing/2014/main" id="{3D307EF8-71C8-9B49-8B6D-38E9C29B43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21060" y="3987447"/>
                      <a:ext cx="22463" cy="19966"/>
                    </a:xfrm>
                    <a:custGeom>
                      <a:avLst/>
                      <a:gdLst>
                        <a:gd name="T0" fmla="*/ 0 w 9"/>
                        <a:gd name="T1" fmla="*/ 6 h 8"/>
                        <a:gd name="T2" fmla="*/ 3 w 9"/>
                        <a:gd name="T3" fmla="*/ 8 h 8"/>
                        <a:gd name="T4" fmla="*/ 9 w 9"/>
                        <a:gd name="T5" fmla="*/ 1 h 8"/>
                        <a:gd name="T6" fmla="*/ 7 w 9"/>
                        <a:gd name="T7" fmla="*/ 0 h 8"/>
                        <a:gd name="T8" fmla="*/ 0 w 9"/>
                        <a:gd name="T9" fmla="*/ 6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" h="8">
                          <a:moveTo>
                            <a:pt x="0" y="6"/>
                          </a:moveTo>
                          <a:lnTo>
                            <a:pt x="3" y="8"/>
                          </a:lnTo>
                          <a:lnTo>
                            <a:pt x="9" y="1"/>
                          </a:lnTo>
                          <a:lnTo>
                            <a:pt x="7" y="0"/>
                          </a:lnTo>
                          <a:lnTo>
                            <a:pt x="0" y="6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5" name="Freeform 156">
                      <a:extLst>
                        <a:ext uri="{FF2B5EF4-FFF2-40B4-BE49-F238E27FC236}">
                          <a16:creationId xmlns:a16="http://schemas.microsoft.com/office/drawing/2014/main" id="{0B3AFD30-2621-D54B-9CAD-0F70DE6B3A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01094" y="3942523"/>
                      <a:ext cx="27454" cy="14975"/>
                    </a:xfrm>
                    <a:custGeom>
                      <a:avLst/>
                      <a:gdLst>
                        <a:gd name="T0" fmla="*/ 9 w 11"/>
                        <a:gd name="T1" fmla="*/ 0 h 6"/>
                        <a:gd name="T2" fmla="*/ 0 w 11"/>
                        <a:gd name="T3" fmla="*/ 3 h 6"/>
                        <a:gd name="T4" fmla="*/ 1 w 11"/>
                        <a:gd name="T5" fmla="*/ 6 h 6"/>
                        <a:gd name="T6" fmla="*/ 11 w 11"/>
                        <a:gd name="T7" fmla="*/ 3 h 6"/>
                        <a:gd name="T8" fmla="*/ 9 w 11"/>
                        <a:gd name="T9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" h="6">
                          <a:moveTo>
                            <a:pt x="9" y="0"/>
                          </a:moveTo>
                          <a:lnTo>
                            <a:pt x="0" y="3"/>
                          </a:lnTo>
                          <a:lnTo>
                            <a:pt x="1" y="6"/>
                          </a:lnTo>
                          <a:lnTo>
                            <a:pt x="11" y="3"/>
                          </a:lnTo>
                          <a:lnTo>
                            <a:pt x="9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6" name="Freeform 157">
                      <a:extLst>
                        <a:ext uri="{FF2B5EF4-FFF2-40B4-BE49-F238E27FC236}">
                          <a16:creationId xmlns:a16="http://schemas.microsoft.com/office/drawing/2014/main" id="{1F60B712-E1D5-024B-9B41-28CF01A83A5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33538" y="3790281"/>
                      <a:ext cx="19966" cy="22463"/>
                    </a:xfrm>
                    <a:custGeom>
                      <a:avLst/>
                      <a:gdLst>
                        <a:gd name="T0" fmla="*/ 0 w 8"/>
                        <a:gd name="T1" fmla="*/ 3 h 9"/>
                        <a:gd name="T2" fmla="*/ 7 w 8"/>
                        <a:gd name="T3" fmla="*/ 9 h 9"/>
                        <a:gd name="T4" fmla="*/ 8 w 8"/>
                        <a:gd name="T5" fmla="*/ 7 h 9"/>
                        <a:gd name="T6" fmla="*/ 2 w 8"/>
                        <a:gd name="T7" fmla="*/ 0 h 9"/>
                        <a:gd name="T8" fmla="*/ 0 w 8"/>
                        <a:gd name="T9" fmla="*/ 3 h 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" h="9">
                          <a:moveTo>
                            <a:pt x="0" y="3"/>
                          </a:moveTo>
                          <a:lnTo>
                            <a:pt x="7" y="9"/>
                          </a:lnTo>
                          <a:lnTo>
                            <a:pt x="8" y="7"/>
                          </a:lnTo>
                          <a:lnTo>
                            <a:pt x="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7" name="Freeform 158">
                      <a:extLst>
                        <a:ext uri="{FF2B5EF4-FFF2-40B4-BE49-F238E27FC236}">
                          <a16:creationId xmlns:a16="http://schemas.microsoft.com/office/drawing/2014/main" id="{1054111B-CCCA-6246-B126-6DE04955EFE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03589" y="3840196"/>
                      <a:ext cx="27454" cy="12480"/>
                    </a:xfrm>
                    <a:custGeom>
                      <a:avLst/>
                      <a:gdLst>
                        <a:gd name="T0" fmla="*/ 11 w 11"/>
                        <a:gd name="T1" fmla="*/ 3 h 5"/>
                        <a:gd name="T2" fmla="*/ 2 w 11"/>
                        <a:gd name="T3" fmla="*/ 0 h 5"/>
                        <a:gd name="T4" fmla="*/ 0 w 11"/>
                        <a:gd name="T5" fmla="*/ 3 h 5"/>
                        <a:gd name="T6" fmla="*/ 10 w 11"/>
                        <a:gd name="T7" fmla="*/ 5 h 5"/>
                        <a:gd name="T8" fmla="*/ 11 w 11"/>
                        <a:gd name="T9" fmla="*/ 3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" h="5">
                          <a:moveTo>
                            <a:pt x="11" y="3"/>
                          </a:moveTo>
                          <a:lnTo>
                            <a:pt x="2" y="0"/>
                          </a:lnTo>
                          <a:lnTo>
                            <a:pt x="0" y="3"/>
                          </a:lnTo>
                          <a:lnTo>
                            <a:pt x="10" y="5"/>
                          </a:lnTo>
                          <a:lnTo>
                            <a:pt x="11" y="3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8" name="Rectangle 159">
                      <a:extLst>
                        <a:ext uri="{FF2B5EF4-FFF2-40B4-BE49-F238E27FC236}">
                          <a16:creationId xmlns:a16="http://schemas.microsoft.com/office/drawing/2014/main" id="{58ACB2F9-283D-3D46-88BC-8D9FEF3ADF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40858" y="3750348"/>
                      <a:ext cx="7488" cy="22463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39" name="Freeform 160">
                      <a:extLst>
                        <a:ext uri="{FF2B5EF4-FFF2-40B4-BE49-F238E27FC236}">
                          <a16:creationId xmlns:a16="http://schemas.microsoft.com/office/drawing/2014/main" id="{DF24A439-CFCC-2940-8684-05A487666D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73471" y="3760331"/>
                      <a:ext cx="17471" cy="22463"/>
                    </a:xfrm>
                    <a:custGeom>
                      <a:avLst/>
                      <a:gdLst>
                        <a:gd name="T0" fmla="*/ 7 w 7"/>
                        <a:gd name="T1" fmla="*/ 8 h 9"/>
                        <a:gd name="T2" fmla="*/ 3 w 7"/>
                        <a:gd name="T3" fmla="*/ 0 h 9"/>
                        <a:gd name="T4" fmla="*/ 0 w 7"/>
                        <a:gd name="T5" fmla="*/ 2 h 9"/>
                        <a:gd name="T6" fmla="*/ 4 w 7"/>
                        <a:gd name="T7" fmla="*/ 9 h 9"/>
                        <a:gd name="T8" fmla="*/ 7 w 7"/>
                        <a:gd name="T9" fmla="*/ 8 h 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" h="9">
                          <a:moveTo>
                            <a:pt x="7" y="8"/>
                          </a:moveTo>
                          <a:lnTo>
                            <a:pt x="3" y="0"/>
                          </a:lnTo>
                          <a:lnTo>
                            <a:pt x="0" y="2"/>
                          </a:lnTo>
                          <a:lnTo>
                            <a:pt x="4" y="9"/>
                          </a:lnTo>
                          <a:lnTo>
                            <a:pt x="7" y="8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40" name="Freeform 161">
                      <a:extLst>
                        <a:ext uri="{FF2B5EF4-FFF2-40B4-BE49-F238E27FC236}">
                          <a16:creationId xmlns:a16="http://schemas.microsoft.com/office/drawing/2014/main" id="{6EAEE607-EE9F-D34C-A593-AF7A96E3D2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088277" y="3760331"/>
                      <a:ext cx="12480" cy="27454"/>
                    </a:xfrm>
                    <a:custGeom>
                      <a:avLst/>
                      <a:gdLst>
                        <a:gd name="T0" fmla="*/ 0 w 5"/>
                        <a:gd name="T1" fmla="*/ 9 h 11"/>
                        <a:gd name="T2" fmla="*/ 2 w 5"/>
                        <a:gd name="T3" fmla="*/ 11 h 11"/>
                        <a:gd name="T4" fmla="*/ 5 w 5"/>
                        <a:gd name="T5" fmla="*/ 2 h 11"/>
                        <a:gd name="T6" fmla="*/ 2 w 5"/>
                        <a:gd name="T7" fmla="*/ 0 h 11"/>
                        <a:gd name="T8" fmla="*/ 0 w 5"/>
                        <a:gd name="T9" fmla="*/ 9 h 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" h="11">
                          <a:moveTo>
                            <a:pt x="0" y="9"/>
                          </a:moveTo>
                          <a:lnTo>
                            <a:pt x="2" y="11"/>
                          </a:lnTo>
                          <a:lnTo>
                            <a:pt x="5" y="2"/>
                          </a:lnTo>
                          <a:lnTo>
                            <a:pt x="2" y="0"/>
                          </a:lnTo>
                          <a:lnTo>
                            <a:pt x="0" y="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41" name="Freeform 162">
                      <a:extLst>
                        <a:ext uri="{FF2B5EF4-FFF2-40B4-BE49-F238E27FC236}">
                          <a16:creationId xmlns:a16="http://schemas.microsoft.com/office/drawing/2014/main" id="{1E3B8BD4-8E92-5949-9B33-4129AE089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130706" y="3987447"/>
                      <a:ext cx="22463" cy="19966"/>
                    </a:xfrm>
                    <a:custGeom>
                      <a:avLst/>
                      <a:gdLst>
                        <a:gd name="T0" fmla="*/ 0 w 9"/>
                        <a:gd name="T1" fmla="*/ 1 h 8"/>
                        <a:gd name="T2" fmla="*/ 8 w 9"/>
                        <a:gd name="T3" fmla="*/ 8 h 8"/>
                        <a:gd name="T4" fmla="*/ 9 w 9"/>
                        <a:gd name="T5" fmla="*/ 6 h 8"/>
                        <a:gd name="T6" fmla="*/ 3 w 9"/>
                        <a:gd name="T7" fmla="*/ 0 h 8"/>
                        <a:gd name="T8" fmla="*/ 0 w 9"/>
                        <a:gd name="T9" fmla="*/ 1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" h="8">
                          <a:moveTo>
                            <a:pt x="0" y="1"/>
                          </a:moveTo>
                          <a:lnTo>
                            <a:pt x="8" y="8"/>
                          </a:lnTo>
                          <a:lnTo>
                            <a:pt x="9" y="6"/>
                          </a:lnTo>
                          <a:lnTo>
                            <a:pt x="3" y="0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42" name="Freeform 163">
                      <a:extLst>
                        <a:ext uri="{FF2B5EF4-FFF2-40B4-BE49-F238E27FC236}">
                          <a16:creationId xmlns:a16="http://schemas.microsoft.com/office/drawing/2014/main" id="{18D6F41E-39E7-1F4D-82BD-955255A2EFD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158159" y="3942523"/>
                      <a:ext cx="24958" cy="14975"/>
                    </a:xfrm>
                    <a:custGeom>
                      <a:avLst/>
                      <a:gdLst>
                        <a:gd name="T0" fmla="*/ 0 w 10"/>
                        <a:gd name="T1" fmla="*/ 3 h 6"/>
                        <a:gd name="T2" fmla="*/ 9 w 10"/>
                        <a:gd name="T3" fmla="*/ 6 h 6"/>
                        <a:gd name="T4" fmla="*/ 10 w 10"/>
                        <a:gd name="T5" fmla="*/ 3 h 6"/>
                        <a:gd name="T6" fmla="*/ 1 w 10"/>
                        <a:gd name="T7" fmla="*/ 0 h 6"/>
                        <a:gd name="T8" fmla="*/ 0 w 10"/>
                        <a:gd name="T9" fmla="*/ 3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0" h="6">
                          <a:moveTo>
                            <a:pt x="0" y="3"/>
                          </a:moveTo>
                          <a:lnTo>
                            <a:pt x="9" y="6"/>
                          </a:lnTo>
                          <a:lnTo>
                            <a:pt x="10" y="3"/>
                          </a:lnTo>
                          <a:lnTo>
                            <a:pt x="1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43" name="Freeform 164">
                      <a:extLst>
                        <a:ext uri="{FF2B5EF4-FFF2-40B4-BE49-F238E27FC236}">
                          <a16:creationId xmlns:a16="http://schemas.microsoft.com/office/drawing/2014/main" id="{526EA6A0-58F7-E743-ACB5-B15E953319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128209" y="3790281"/>
                      <a:ext cx="22463" cy="22463"/>
                    </a:xfrm>
                    <a:custGeom>
                      <a:avLst/>
                      <a:gdLst>
                        <a:gd name="T0" fmla="*/ 9 w 9"/>
                        <a:gd name="T1" fmla="*/ 3 h 9"/>
                        <a:gd name="T2" fmla="*/ 8 w 9"/>
                        <a:gd name="T3" fmla="*/ 0 h 9"/>
                        <a:gd name="T4" fmla="*/ 0 w 9"/>
                        <a:gd name="T5" fmla="*/ 7 h 9"/>
                        <a:gd name="T6" fmla="*/ 2 w 9"/>
                        <a:gd name="T7" fmla="*/ 9 h 9"/>
                        <a:gd name="T8" fmla="*/ 9 w 9"/>
                        <a:gd name="T9" fmla="*/ 3 h 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" h="9">
                          <a:moveTo>
                            <a:pt x="9" y="3"/>
                          </a:moveTo>
                          <a:lnTo>
                            <a:pt x="8" y="0"/>
                          </a:lnTo>
                          <a:lnTo>
                            <a:pt x="0" y="7"/>
                          </a:lnTo>
                          <a:lnTo>
                            <a:pt x="2" y="9"/>
                          </a:lnTo>
                          <a:lnTo>
                            <a:pt x="9" y="3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44" name="Freeform 165">
                      <a:extLst>
                        <a:ext uri="{FF2B5EF4-FFF2-40B4-BE49-F238E27FC236}">
                          <a16:creationId xmlns:a16="http://schemas.microsoft.com/office/drawing/2014/main" id="{98E258A3-E960-A44C-8667-2C031702A5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153167" y="3840196"/>
                      <a:ext cx="27454" cy="12480"/>
                    </a:xfrm>
                    <a:custGeom>
                      <a:avLst/>
                      <a:gdLst>
                        <a:gd name="T0" fmla="*/ 10 w 11"/>
                        <a:gd name="T1" fmla="*/ 0 h 5"/>
                        <a:gd name="T2" fmla="*/ 0 w 11"/>
                        <a:gd name="T3" fmla="*/ 3 h 5"/>
                        <a:gd name="T4" fmla="*/ 2 w 11"/>
                        <a:gd name="T5" fmla="*/ 5 h 5"/>
                        <a:gd name="T6" fmla="*/ 11 w 11"/>
                        <a:gd name="T7" fmla="*/ 3 h 5"/>
                        <a:gd name="T8" fmla="*/ 10 w 11"/>
                        <a:gd name="T9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" h="5">
                          <a:moveTo>
                            <a:pt x="10" y="0"/>
                          </a:moveTo>
                          <a:lnTo>
                            <a:pt x="0" y="3"/>
                          </a:lnTo>
                          <a:lnTo>
                            <a:pt x="2" y="5"/>
                          </a:lnTo>
                          <a:lnTo>
                            <a:pt x="11" y="3"/>
                          </a:lnTo>
                          <a:lnTo>
                            <a:pt x="10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45" name="Rectangle 166">
                      <a:extLst>
                        <a:ext uri="{FF2B5EF4-FFF2-40B4-BE49-F238E27FC236}">
                          <a16:creationId xmlns:a16="http://schemas.microsoft.com/office/drawing/2014/main" id="{91F83E3F-9359-C645-BE2E-88D3F0CE8B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893606" y="3890112"/>
                      <a:ext cx="24958" cy="748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  <p:sp>
                  <p:nvSpPr>
                    <p:cNvPr id="46" name="Rectangle 167">
                      <a:extLst>
                        <a:ext uri="{FF2B5EF4-FFF2-40B4-BE49-F238E27FC236}">
                          <a16:creationId xmlns:a16="http://schemas.microsoft.com/office/drawing/2014/main" id="{D6B4815C-8911-A049-B74D-6C322240BAB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70638" y="3892607"/>
                      <a:ext cx="27454" cy="748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121861" tIns="60931" rIns="121861" bIns="6093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>
                        <a:defRPr/>
                      </a:pPr>
                      <a:endParaRPr lang="en-US" sz="1600"/>
                    </a:p>
                  </p:txBody>
                </p:sp>
              </p:grpSp>
            </p:grpSp>
            <p:sp>
              <p:nvSpPr>
                <p:cNvPr id="56" name="PA_淘宝店chenying0907 24">
                  <a:extLst>
                    <a:ext uri="{FF2B5EF4-FFF2-40B4-BE49-F238E27FC236}">
                      <a16:creationId xmlns:a16="http://schemas.microsoft.com/office/drawing/2014/main" id="{A13C280A-B419-7544-9FEC-2B2FBA4561DF}"/>
                    </a:ext>
                  </a:extLst>
                </p:cNvPr>
                <p:cNvSpPr>
                  <a:spLocks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 rot="20279793">
                  <a:off x="3660524" y="1282769"/>
                  <a:ext cx="2010774" cy="2012016"/>
                </a:xfrm>
                <a:custGeom>
                  <a:avLst/>
                  <a:gdLst>
                    <a:gd name="T0" fmla="*/ 186 w 240"/>
                    <a:gd name="T1" fmla="*/ 0 h 240"/>
                    <a:gd name="T2" fmla="*/ 133 w 240"/>
                    <a:gd name="T3" fmla="*/ 53 h 240"/>
                    <a:gd name="T4" fmla="*/ 53 w 240"/>
                    <a:gd name="T5" fmla="*/ 134 h 240"/>
                    <a:gd name="T6" fmla="*/ 53 w 240"/>
                    <a:gd name="T7" fmla="*/ 134 h 240"/>
                    <a:gd name="T8" fmla="*/ 53 w 240"/>
                    <a:gd name="T9" fmla="*/ 134 h 240"/>
                    <a:gd name="T10" fmla="*/ 0 w 240"/>
                    <a:gd name="T11" fmla="*/ 187 h 240"/>
                    <a:gd name="T12" fmla="*/ 53 w 240"/>
                    <a:gd name="T13" fmla="*/ 240 h 240"/>
                    <a:gd name="T14" fmla="*/ 106 w 240"/>
                    <a:gd name="T15" fmla="*/ 187 h 240"/>
                    <a:gd name="T16" fmla="*/ 106 w 240"/>
                    <a:gd name="T17" fmla="*/ 187 h 240"/>
                    <a:gd name="T18" fmla="*/ 106 w 240"/>
                    <a:gd name="T19" fmla="*/ 187 h 240"/>
                    <a:gd name="T20" fmla="*/ 186 w 240"/>
                    <a:gd name="T21" fmla="*/ 106 h 240"/>
                    <a:gd name="T22" fmla="*/ 186 w 240"/>
                    <a:gd name="T23" fmla="*/ 106 h 240"/>
                    <a:gd name="T24" fmla="*/ 240 w 240"/>
                    <a:gd name="T25" fmla="*/ 53 h 240"/>
                    <a:gd name="T26" fmla="*/ 186 w 240"/>
                    <a:gd name="T27" fmla="*/ 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40" h="240">
                      <a:moveTo>
                        <a:pt x="186" y="0"/>
                      </a:moveTo>
                      <a:cubicBezTo>
                        <a:pt x="157" y="0"/>
                        <a:pt x="133" y="24"/>
                        <a:pt x="133" y="53"/>
                      </a:cubicBezTo>
                      <a:cubicBezTo>
                        <a:pt x="133" y="106"/>
                        <a:pt x="106" y="134"/>
                        <a:pt x="53" y="134"/>
                      </a:cubicBezTo>
                      <a:cubicBezTo>
                        <a:pt x="53" y="134"/>
                        <a:pt x="53" y="134"/>
                        <a:pt x="53" y="134"/>
                      </a:cubicBezTo>
                      <a:cubicBezTo>
                        <a:pt x="53" y="134"/>
                        <a:pt x="53" y="134"/>
                        <a:pt x="53" y="134"/>
                      </a:cubicBezTo>
                      <a:cubicBezTo>
                        <a:pt x="23" y="134"/>
                        <a:pt x="0" y="158"/>
                        <a:pt x="0" y="187"/>
                      </a:cubicBezTo>
                      <a:cubicBezTo>
                        <a:pt x="0" y="216"/>
                        <a:pt x="23" y="240"/>
                        <a:pt x="53" y="240"/>
                      </a:cubicBezTo>
                      <a:cubicBezTo>
                        <a:pt x="82" y="240"/>
                        <a:pt x="106" y="216"/>
                        <a:pt x="106" y="187"/>
                      </a:cubicBezTo>
                      <a:cubicBezTo>
                        <a:pt x="106" y="187"/>
                        <a:pt x="106" y="187"/>
                        <a:pt x="106" y="187"/>
                      </a:cubicBezTo>
                      <a:cubicBezTo>
                        <a:pt x="106" y="187"/>
                        <a:pt x="106" y="187"/>
                        <a:pt x="106" y="187"/>
                      </a:cubicBezTo>
                      <a:cubicBezTo>
                        <a:pt x="106" y="134"/>
                        <a:pt x="133" y="106"/>
                        <a:pt x="186" y="106"/>
                      </a:cubicBezTo>
                      <a:cubicBezTo>
                        <a:pt x="186" y="106"/>
                        <a:pt x="186" y="106"/>
                        <a:pt x="186" y="106"/>
                      </a:cubicBezTo>
                      <a:cubicBezTo>
                        <a:pt x="216" y="106"/>
                        <a:pt x="240" y="83"/>
                        <a:pt x="240" y="53"/>
                      </a:cubicBezTo>
                      <a:cubicBezTo>
                        <a:pt x="240" y="24"/>
                        <a:pt x="216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50000"/>
                  </a:schemeClr>
                </a:solidFill>
                <a:ln w="6350">
                  <a:noFill/>
                </a:ln>
              </p:spPr>
              <p:txBody>
                <a:bodyPr/>
                <a:lstStyle/>
                <a:p>
                  <a:endParaRPr lang="zh-CN" altLang="en-US" sz="16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5530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应对思考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54E81692-EDE2-E343-90B7-5A6D8C7C78F8}"/>
              </a:ext>
            </a:extLst>
          </p:cNvPr>
          <p:cNvSpPr txBox="1">
            <a:spLocks/>
          </p:cNvSpPr>
          <p:nvPr/>
        </p:nvSpPr>
        <p:spPr bwMode="auto">
          <a:xfrm>
            <a:off x="416888" y="1133723"/>
            <a:ext cx="9898364" cy="192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安全协同：产品的安全保障，需要大家一起参与协同</a:t>
            </a:r>
            <a:endParaRPr lang="en-US" altLang="zh-CN" sz="1600" kern="0" dirty="0"/>
          </a:p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安全前置：产品的需求设计阶段，应该第一时间将安全考虑进去，避免漏洞引入降低后期修复成本</a:t>
            </a:r>
            <a:endParaRPr lang="en-US" altLang="zh-CN" sz="1600" kern="0" dirty="0"/>
          </a:p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全周期：产品的研发生命周期提供全链条的安全保障</a:t>
            </a:r>
            <a:endParaRPr lang="en-US" altLang="zh-CN" sz="1600" kern="0" dirty="0"/>
          </a:p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自动化：安全能力需要做到自动化和标准化，加速安全研发效率</a:t>
            </a:r>
            <a:endParaRPr lang="en-US" altLang="zh-CN" sz="1600" kern="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01A0193-C99E-C345-8FB9-A005E2418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927" y="3454532"/>
            <a:ext cx="2807485" cy="135091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F9AF528-57B4-C449-95D4-446F22D7A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793" y="3102191"/>
            <a:ext cx="2391331" cy="2207996"/>
          </a:xfrm>
          <a:prstGeom prst="rect">
            <a:avLst/>
          </a:prstGeom>
        </p:spPr>
      </p:pic>
      <p:sp>
        <p:nvSpPr>
          <p:cNvPr id="16" name="右箭头 15">
            <a:extLst>
              <a:ext uri="{FF2B5EF4-FFF2-40B4-BE49-F238E27FC236}">
                <a16:creationId xmlns:a16="http://schemas.microsoft.com/office/drawing/2014/main" id="{E1798B59-FE36-3942-9185-FED949E25784}"/>
              </a:ext>
            </a:extLst>
          </p:cNvPr>
          <p:cNvSpPr/>
          <p:nvPr/>
        </p:nvSpPr>
        <p:spPr bwMode="auto">
          <a:xfrm>
            <a:off x="5016711" y="3870027"/>
            <a:ext cx="834045" cy="412244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B42008-086A-E249-98D8-25E7AAFB711A}"/>
              </a:ext>
            </a:extLst>
          </p:cNvPr>
          <p:cNvSpPr txBox="1"/>
          <p:nvPr/>
        </p:nvSpPr>
        <p:spPr>
          <a:xfrm>
            <a:off x="1807114" y="4840301"/>
            <a:ext cx="1953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传统模式</a:t>
            </a:r>
          </a:p>
        </p:txBody>
      </p:sp>
    </p:spTree>
    <p:extLst>
      <p:ext uri="{BB962C8B-B14F-4D97-AF65-F5344CB8AC3E}">
        <p14:creationId xmlns:p14="http://schemas.microsoft.com/office/powerpoint/2010/main" val="20505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D1A42D1D-E571-B944-B76E-556AE9484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93" y="989707"/>
            <a:ext cx="9830752" cy="426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2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下箭头 43">
            <a:extLst>
              <a:ext uri="{FF2B5EF4-FFF2-40B4-BE49-F238E27FC236}">
                <a16:creationId xmlns:a16="http://schemas.microsoft.com/office/drawing/2014/main" id="{7F3DA984-6CBE-404C-8108-25F37AC1C8D3}"/>
              </a:ext>
            </a:extLst>
          </p:cNvPr>
          <p:cNvSpPr/>
          <p:nvPr/>
        </p:nvSpPr>
        <p:spPr>
          <a:xfrm>
            <a:off x="2245620" y="917699"/>
            <a:ext cx="580800" cy="4411006"/>
          </a:xfrm>
          <a:prstGeom prst="down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E5F4DD-302E-1340-B77C-513CC268351F}"/>
              </a:ext>
            </a:extLst>
          </p:cNvPr>
          <p:cNvSpPr/>
          <p:nvPr/>
        </p:nvSpPr>
        <p:spPr>
          <a:xfrm>
            <a:off x="1801646" y="1194959"/>
            <a:ext cx="1495053" cy="343464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需求阶段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C19538-0E95-404C-BDC1-F235DB8FF63A}"/>
              </a:ext>
            </a:extLst>
          </p:cNvPr>
          <p:cNvSpPr/>
          <p:nvPr/>
        </p:nvSpPr>
        <p:spPr>
          <a:xfrm>
            <a:off x="1801646" y="2001064"/>
            <a:ext cx="1495053" cy="330306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开发阶段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EA5CE9-4E80-3B42-B018-3C23DF47A49E}"/>
              </a:ext>
            </a:extLst>
          </p:cNvPr>
          <p:cNvSpPr/>
          <p:nvPr/>
        </p:nvSpPr>
        <p:spPr>
          <a:xfrm>
            <a:off x="1801646" y="2798267"/>
            <a:ext cx="1495053" cy="387842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代码准入阶段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38ABE9-2760-9146-B965-924F45E18594}"/>
              </a:ext>
            </a:extLst>
          </p:cNvPr>
          <p:cNvSpPr/>
          <p:nvPr/>
        </p:nvSpPr>
        <p:spPr>
          <a:xfrm>
            <a:off x="1801646" y="3719505"/>
            <a:ext cx="1495053" cy="34881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测试阶段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55A9E9-213D-EF45-8D6A-5D5C4C6D119C}"/>
              </a:ext>
            </a:extLst>
          </p:cNvPr>
          <p:cNvSpPr/>
          <p:nvPr/>
        </p:nvSpPr>
        <p:spPr>
          <a:xfrm>
            <a:off x="1801645" y="4492677"/>
            <a:ext cx="1495053" cy="341522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线上验证阶段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0C2CCB-720D-FB42-AD17-649DCA784833}"/>
              </a:ext>
            </a:extLst>
          </p:cNvPr>
          <p:cNvSpPr/>
          <p:nvPr/>
        </p:nvSpPr>
        <p:spPr>
          <a:xfrm>
            <a:off x="3529691" y="1194959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安全培训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7C3807-7E08-D94C-B0ED-F559C3D5F4B2}"/>
              </a:ext>
            </a:extLst>
          </p:cNvPr>
          <p:cNvSpPr/>
          <p:nvPr/>
        </p:nvSpPr>
        <p:spPr>
          <a:xfrm>
            <a:off x="5202684" y="1194959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E0F8FD-5F20-0D49-9DCB-D1F1FED2B64E}"/>
              </a:ext>
            </a:extLst>
          </p:cNvPr>
          <p:cNvSpPr/>
          <p:nvPr/>
        </p:nvSpPr>
        <p:spPr>
          <a:xfrm>
            <a:off x="3540568" y="1995375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本地代码检查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5FD35CD-4943-CB4E-BE4C-88B6DFC33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159" y="1815351"/>
            <a:ext cx="856112" cy="671125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EB0F2E28-39C1-D140-B47C-B3188AC629F2}"/>
              </a:ext>
            </a:extLst>
          </p:cNvPr>
          <p:cNvSpPr/>
          <p:nvPr/>
        </p:nvSpPr>
        <p:spPr>
          <a:xfrm>
            <a:off x="5567004" y="1795855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安全编码规范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DCFB83-2DA6-474B-90D2-DA35AF66D47E}"/>
              </a:ext>
            </a:extLst>
          </p:cNvPr>
          <p:cNvSpPr/>
          <p:nvPr/>
        </p:nvSpPr>
        <p:spPr>
          <a:xfrm>
            <a:off x="5567004" y="2231875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安全基础库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8BDFD9-1D1F-A74F-8749-99EA4CD29185}"/>
              </a:ext>
            </a:extLst>
          </p:cNvPr>
          <p:cNvSpPr/>
          <p:nvPr/>
        </p:nvSpPr>
        <p:spPr>
          <a:xfrm>
            <a:off x="7107394" y="1795855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供应链安全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301629-8DB4-6A47-994B-5A6C1ED06488}"/>
              </a:ext>
            </a:extLst>
          </p:cNvPr>
          <p:cNvSpPr/>
          <p:nvPr/>
        </p:nvSpPr>
        <p:spPr>
          <a:xfrm>
            <a:off x="7107394" y="2233138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容器安全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55CBEA-B565-574A-A277-5641EDBB364F}"/>
              </a:ext>
            </a:extLst>
          </p:cNvPr>
          <p:cNvSpPr/>
          <p:nvPr/>
        </p:nvSpPr>
        <p:spPr>
          <a:xfrm>
            <a:off x="3540567" y="2826324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增量代码检查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48F0CDB-A97B-1B4E-A110-5EDCE82EF5B5}"/>
              </a:ext>
            </a:extLst>
          </p:cNvPr>
          <p:cNvSpPr/>
          <p:nvPr/>
        </p:nvSpPr>
        <p:spPr>
          <a:xfrm>
            <a:off x="3540567" y="3534013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黑盒漏洞扫描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0A4745-B019-7540-966C-1E89ED9DD391}"/>
              </a:ext>
            </a:extLst>
          </p:cNvPr>
          <p:cNvSpPr/>
          <p:nvPr/>
        </p:nvSpPr>
        <p:spPr>
          <a:xfrm>
            <a:off x="5199716" y="3534013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白盒代码检测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642FF75-DBC4-564E-B412-E37D3666F7E9}"/>
              </a:ext>
            </a:extLst>
          </p:cNvPr>
          <p:cNvSpPr/>
          <p:nvPr/>
        </p:nvSpPr>
        <p:spPr>
          <a:xfrm>
            <a:off x="5199701" y="3972766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逻辑漏洞检测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B75671-888D-6048-8CCA-612310FD2E7D}"/>
              </a:ext>
            </a:extLst>
          </p:cNvPr>
          <p:cNvSpPr/>
          <p:nvPr/>
        </p:nvSpPr>
        <p:spPr>
          <a:xfrm>
            <a:off x="3540536" y="3972766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隐私合规检测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E643F6-7613-7543-A514-0EDEF8FB15D1}"/>
              </a:ext>
            </a:extLst>
          </p:cNvPr>
          <p:cNvSpPr/>
          <p:nvPr/>
        </p:nvSpPr>
        <p:spPr>
          <a:xfrm>
            <a:off x="6858866" y="3534013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灰盒安全扫描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9BE427-5F94-524B-BC7B-BE3998ED40CC}"/>
              </a:ext>
            </a:extLst>
          </p:cNvPr>
          <p:cNvSpPr/>
          <p:nvPr/>
        </p:nvSpPr>
        <p:spPr>
          <a:xfrm>
            <a:off x="6858867" y="3972766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安全扫描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268F5DD-8622-4E4F-9D00-A3460729D34A}"/>
              </a:ext>
            </a:extLst>
          </p:cNvPr>
          <p:cNvSpPr/>
          <p:nvPr/>
        </p:nvSpPr>
        <p:spPr>
          <a:xfrm>
            <a:off x="3522737" y="4492677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线上扫描自测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73251F3-C92F-1D4A-B83A-A1F86239C05D}"/>
              </a:ext>
            </a:extLst>
          </p:cNvPr>
          <p:cNvSpPr/>
          <p:nvPr/>
        </p:nvSpPr>
        <p:spPr>
          <a:xfrm>
            <a:off x="5188776" y="4492677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线上日志备份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8761B4-35B7-A443-A759-4B966C451E0F}"/>
              </a:ext>
            </a:extLst>
          </p:cNvPr>
          <p:cNvSpPr/>
          <p:nvPr/>
        </p:nvSpPr>
        <p:spPr>
          <a:xfrm>
            <a:off x="6854815" y="4492677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线上攻击阻断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666547-7C55-A040-B61E-1BB5F31F1773}"/>
              </a:ext>
            </a:extLst>
          </p:cNvPr>
          <p:cNvSpPr/>
          <p:nvPr/>
        </p:nvSpPr>
        <p:spPr>
          <a:xfrm>
            <a:off x="8520856" y="4492677"/>
            <a:ext cx="1440000" cy="341522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BFE-WAF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AD1F95B-788B-4840-8ABD-AB9FCF75C431}"/>
              </a:ext>
            </a:extLst>
          </p:cNvPr>
          <p:cNvSpPr/>
          <p:nvPr/>
        </p:nvSpPr>
        <p:spPr>
          <a:xfrm>
            <a:off x="5550293" y="2664934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安全编码规范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EF1A6D-A9B7-9D4F-8531-98B400E00F82}"/>
              </a:ext>
            </a:extLst>
          </p:cNvPr>
          <p:cNvSpPr/>
          <p:nvPr/>
        </p:nvSpPr>
        <p:spPr>
          <a:xfrm>
            <a:off x="5550293" y="3100954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安全基础库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2549E8C-A82C-0B44-BBB8-766FABF0A8B2}"/>
              </a:ext>
            </a:extLst>
          </p:cNvPr>
          <p:cNvSpPr/>
          <p:nvPr/>
        </p:nvSpPr>
        <p:spPr>
          <a:xfrm>
            <a:off x="7090683" y="2664934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供应链安全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A5B9EEE-D25D-C543-81A5-15E0240BC469}"/>
              </a:ext>
            </a:extLst>
          </p:cNvPr>
          <p:cNvSpPr/>
          <p:nvPr/>
        </p:nvSpPr>
        <p:spPr>
          <a:xfrm>
            <a:off x="7090683" y="3102217"/>
            <a:ext cx="1440000" cy="2700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容器安全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41BDC129-06A0-E24B-9924-4AB4DE10A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214" y="2699829"/>
            <a:ext cx="856112" cy="67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2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60904" y="989707"/>
            <a:ext cx="860222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安全培训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kern="0" dirty="0"/>
              <a:t>RD</a:t>
            </a:r>
            <a:r>
              <a:rPr lang="zh-CN" altLang="en-US" sz="1400" kern="0" dirty="0"/>
              <a:t>：侧重漏洞基础知识、安全编码规范、安全设计、安全解决方案等</a:t>
            </a:r>
            <a:endParaRPr lang="en-US" altLang="zh-CN" sz="12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kern="0" dirty="0"/>
              <a:t>QA</a:t>
            </a:r>
            <a:r>
              <a:rPr lang="zh-CN" altLang="en-US" sz="1400" kern="0" dirty="0"/>
              <a:t>：侧重漏洞基础知识、安全测试等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kern="0" dirty="0"/>
              <a:t>OP</a:t>
            </a:r>
            <a:r>
              <a:rPr lang="zh-CN" altLang="en-US" sz="1400" kern="0" dirty="0"/>
              <a:t>：侧重安全基线检查、服务安全加固、安全能力部署等</a:t>
            </a:r>
            <a:endParaRPr lang="en-US" altLang="zh-CN" sz="1400" kern="0" dirty="0"/>
          </a:p>
        </p:txBody>
      </p:sp>
      <p:sp>
        <p:nvSpPr>
          <p:cNvPr id="51" name="右箭头 50">
            <a:extLst>
              <a:ext uri="{FF2B5EF4-FFF2-40B4-BE49-F238E27FC236}">
                <a16:creationId xmlns:a16="http://schemas.microsoft.com/office/drawing/2014/main" id="{F21981FB-CE39-644B-993B-297F4B712AC6}"/>
              </a:ext>
            </a:extLst>
          </p:cNvPr>
          <p:cNvSpPr/>
          <p:nvPr/>
        </p:nvSpPr>
        <p:spPr bwMode="auto">
          <a:xfrm rot="5400000">
            <a:off x="2567514" y="3120821"/>
            <a:ext cx="661828" cy="432048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6AF57B5-B756-B74C-935B-D8E33F803542}"/>
              </a:ext>
            </a:extLst>
          </p:cNvPr>
          <p:cNvSpPr txBox="1"/>
          <p:nvPr/>
        </p:nvSpPr>
        <p:spPr>
          <a:xfrm>
            <a:off x="1641072" y="3870027"/>
            <a:ext cx="294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度学堂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课程中心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安全类别课程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5DC18C40-21EA-C74C-BFFF-E5E5790C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43" y="2501875"/>
            <a:ext cx="5267325" cy="280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79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60904" y="989707"/>
            <a:ext cx="5505876" cy="1547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安全设计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应用安全：关注授权认证、漏洞防御、框架选择等  </a:t>
            </a:r>
            <a:endParaRPr lang="en-US" altLang="zh-CN" sz="12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业务安全：关注业务风控、黑灰产、羊毛党等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网络安全：关注安全传输等</a:t>
            </a:r>
            <a:endParaRPr lang="en-US" altLang="zh-CN" sz="1400" kern="0" dirty="0"/>
          </a:p>
        </p:txBody>
      </p:sp>
      <p:sp>
        <p:nvSpPr>
          <p:cNvPr id="51" name="右箭头 50">
            <a:extLst>
              <a:ext uri="{FF2B5EF4-FFF2-40B4-BE49-F238E27FC236}">
                <a16:creationId xmlns:a16="http://schemas.microsoft.com/office/drawing/2014/main" id="{F21981FB-CE39-644B-993B-297F4B712AC6}"/>
              </a:ext>
            </a:extLst>
          </p:cNvPr>
          <p:cNvSpPr/>
          <p:nvPr/>
        </p:nvSpPr>
        <p:spPr bwMode="auto">
          <a:xfrm rot="5400000">
            <a:off x="2567514" y="3120821"/>
            <a:ext cx="661828" cy="432048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6AF57B5-B756-B74C-935B-D8E33F803542}"/>
              </a:ext>
            </a:extLst>
          </p:cNvPr>
          <p:cNvSpPr txBox="1"/>
          <p:nvPr/>
        </p:nvSpPr>
        <p:spPr>
          <a:xfrm>
            <a:off x="1535844" y="4066306"/>
            <a:ext cx="294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需求创建时选择相应安全解决方案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B92D2E4-EFB9-7144-9D8A-661745752DA0}"/>
              </a:ext>
            </a:extLst>
          </p:cNvPr>
          <p:cNvSpPr txBox="1">
            <a:spLocks/>
          </p:cNvSpPr>
          <p:nvPr/>
        </p:nvSpPr>
        <p:spPr bwMode="auto">
          <a:xfrm>
            <a:off x="5391333" y="986468"/>
            <a:ext cx="5505876" cy="1547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数据安全：关注数据</a:t>
            </a:r>
            <a:r>
              <a:rPr lang="en-US" altLang="zh-CN" sz="1400" kern="0" dirty="0"/>
              <a:t>/</a:t>
            </a:r>
            <a:r>
              <a:rPr lang="zh-CN" altLang="en-US" sz="1400" kern="0" dirty="0"/>
              <a:t>配置文件加密等  </a:t>
            </a:r>
            <a:endParaRPr lang="en-US" altLang="zh-CN" sz="12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隐私安全：关注敏感数据脱敏、数据展示等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运维安全：关注配置模板、基线等</a:t>
            </a:r>
            <a:endParaRPr lang="en-US" altLang="zh-CN" sz="1400" kern="0" dirty="0"/>
          </a:p>
        </p:txBody>
      </p:sp>
      <p:pic>
        <p:nvPicPr>
          <p:cNvPr id="12" name="Picture 3" descr="C:\Users\chongrui\Documents\Baidu\Baidu Hi\崇_瑞\My Images\a7\a7297d53dff45d94da8ca089b990b9fc.png">
            <a:extLst>
              <a:ext uri="{FF2B5EF4-FFF2-40B4-BE49-F238E27FC236}">
                <a16:creationId xmlns:a16="http://schemas.microsoft.com/office/drawing/2014/main" id="{7DAC5EBE-AC87-A84D-A8C2-9A4F36AAA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692" y="2683753"/>
            <a:ext cx="4824536" cy="268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02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60904" y="989707"/>
            <a:ext cx="989836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软件供应链安全相关：高危开发框架</a:t>
            </a:r>
            <a:r>
              <a:rPr lang="en-US" altLang="zh-CN" sz="1600" kern="0" dirty="0"/>
              <a:t>/</a:t>
            </a:r>
            <a:r>
              <a:rPr lang="zh-CN" altLang="en-US" sz="1600" kern="0" dirty="0"/>
              <a:t>开源软件、不安全的依赖包引入等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使用安全团队推荐的开发框架，禁止使用处于黑名单内的开源软件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依赖引入的时候使用百度自行维护源，禁止使用不安全的第三方源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关注安全团队发出的风险预警通知，及时更新升级第三方类库版本</a:t>
            </a:r>
            <a:endParaRPr lang="en-US" altLang="zh-CN" sz="1400" kern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C4898F-FD5C-5943-A06E-33E78859AD21}"/>
              </a:ext>
            </a:extLst>
          </p:cNvPr>
          <p:cNvSpPr txBox="1"/>
          <p:nvPr/>
        </p:nvSpPr>
        <p:spPr>
          <a:xfrm>
            <a:off x="560904" y="2811393"/>
            <a:ext cx="961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case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：百度某业务使用存在代码执行漏洞的</a:t>
            </a:r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phpMoAdmin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导致被外界执行系统命令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A44A1A-7837-364E-AECB-8518A6516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40" y="3387457"/>
            <a:ext cx="5757912" cy="177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2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60904" y="989707"/>
            <a:ext cx="7594108" cy="129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典型安全漏洞防御：</a:t>
            </a:r>
            <a:r>
              <a:rPr lang="en-US" altLang="zh-CN" sz="1600" kern="0" dirty="0"/>
              <a:t>SQL</a:t>
            </a:r>
            <a:r>
              <a:rPr lang="zh-CN" altLang="en-US" sz="1600" kern="0" dirty="0"/>
              <a:t>注入、命令注入、</a:t>
            </a:r>
            <a:r>
              <a:rPr lang="en-US" altLang="zh-CN" sz="1600" kern="0" dirty="0"/>
              <a:t>SSRF</a:t>
            </a:r>
            <a:r>
              <a:rPr lang="zh-CN" altLang="en-US" sz="1600" kern="0" dirty="0"/>
              <a:t>、</a:t>
            </a:r>
            <a:r>
              <a:rPr lang="en-US" altLang="zh-CN" sz="1600" kern="0" dirty="0"/>
              <a:t>XSS</a:t>
            </a:r>
            <a:r>
              <a:rPr lang="zh-CN" altLang="en-US" sz="1600" kern="0" dirty="0"/>
              <a:t>等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遵守默认不信任原则，校验过滤一切外界输入数据</a:t>
            </a:r>
            <a:endParaRPr lang="en-US" altLang="zh-CN" sz="12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遵守公司的安全编码规范，使用安全团队提供的安全基础库</a:t>
            </a:r>
            <a:endParaRPr lang="en-US" altLang="zh-CN" sz="1400" kern="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886E7F-B365-7A4E-BEFF-FEE763661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12" y="3077939"/>
            <a:ext cx="7075776" cy="20162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2C4898F-FD5C-5943-A06E-33E78859AD21}"/>
              </a:ext>
            </a:extLst>
          </p:cNvPr>
          <p:cNvSpPr txBox="1"/>
          <p:nvPr/>
        </p:nvSpPr>
        <p:spPr>
          <a:xfrm>
            <a:off x="560904" y="2429867"/>
            <a:ext cx="5958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：百度某平台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rpc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对外，存在命令执行漏洞</a:t>
            </a:r>
          </a:p>
        </p:txBody>
      </p:sp>
    </p:spTree>
    <p:extLst>
      <p:ext uri="{BB962C8B-B14F-4D97-AF65-F5344CB8AC3E}">
        <p14:creationId xmlns:p14="http://schemas.microsoft.com/office/powerpoint/2010/main" val="241844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60904" y="989707"/>
            <a:ext cx="9898364" cy="129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逻辑漏洞防御：权限类（水平</a:t>
            </a:r>
            <a:r>
              <a:rPr lang="en-US" altLang="zh-CN" sz="1600" kern="0" dirty="0"/>
              <a:t>/</a:t>
            </a:r>
            <a:r>
              <a:rPr lang="zh-CN" altLang="en-US" sz="1600" kern="0" dirty="0"/>
              <a:t>垂直越权、未授权访问）、安全设计缺陷、业务逻辑实现不严谨等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遵守权限最小化原则，实现严格的授权认证机制，防止水平</a:t>
            </a:r>
            <a:r>
              <a:rPr lang="en-US" altLang="zh-CN" sz="1400" kern="0" dirty="0"/>
              <a:t>/</a:t>
            </a:r>
            <a:r>
              <a:rPr lang="zh-CN" altLang="en-US" sz="1400" kern="0" dirty="0"/>
              <a:t>垂直越权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业务逻辑设计研发需要严谨，防止羊毛党、黑灰产利用（支付逻辑、秒杀活动、虚拟币领取、优惠券发放等）</a:t>
            </a:r>
            <a:endParaRPr lang="en-US" altLang="zh-CN" sz="1200" kern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C4898F-FD5C-5943-A06E-33E78859AD21}"/>
              </a:ext>
            </a:extLst>
          </p:cNvPr>
          <p:cNvSpPr txBox="1"/>
          <p:nvPr/>
        </p:nvSpPr>
        <p:spPr>
          <a:xfrm>
            <a:off x="560904" y="2429867"/>
            <a:ext cx="5958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：拼多多业务逻辑设计实现不严谨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7647EA-2DA2-0B41-ABF7-693CC02C3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79" y="2913082"/>
            <a:ext cx="5505450" cy="21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3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60904" y="2717899"/>
            <a:ext cx="9250292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en-US" altLang="zh-CN" sz="1600" kern="0" dirty="0"/>
              <a:t>case</a:t>
            </a:r>
            <a:r>
              <a:rPr lang="zh-CN" altLang="en-US" sz="1600" kern="0" dirty="0"/>
              <a:t>：</a:t>
            </a:r>
            <a:r>
              <a:rPr lang="zh-CN" altLang="en-US" sz="1600" dirty="0"/>
              <a:t>百度某平台后台未做授权认证，可导致信息泄露（幸亏百度自身提前发现）</a:t>
            </a:r>
            <a:endParaRPr lang="en-US" altLang="zh-CN" sz="1600" kern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C4898F-FD5C-5943-A06E-33E78859AD21}"/>
              </a:ext>
            </a:extLst>
          </p:cNvPr>
          <p:cNvSpPr txBox="1"/>
          <p:nvPr/>
        </p:nvSpPr>
        <p:spPr>
          <a:xfrm>
            <a:off x="560904" y="1061715"/>
            <a:ext cx="8746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：百度某业务敏感系统存在垂直越权漏洞（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cookie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中权限关键字段可任意修改）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5EEE60-CFD6-B745-8499-82D02CC27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72" y="3228535"/>
            <a:ext cx="7075815" cy="20749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67DA054-512F-F24C-B553-C42654E1B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73" y="1832727"/>
            <a:ext cx="3909962" cy="525132"/>
          </a:xfrm>
          <a:prstGeom prst="rect">
            <a:avLst/>
          </a:prstGeom>
        </p:spPr>
      </p:pic>
      <p:sp>
        <p:nvSpPr>
          <p:cNvPr id="13" name="流程图: 联系 7">
            <a:extLst>
              <a:ext uri="{FF2B5EF4-FFF2-40B4-BE49-F238E27FC236}">
                <a16:creationId xmlns:a16="http://schemas.microsoft.com/office/drawing/2014/main" id="{5D7900F0-A8A0-4C4D-A314-720773DD6EBA}"/>
              </a:ext>
            </a:extLst>
          </p:cNvPr>
          <p:cNvSpPr/>
          <p:nvPr/>
        </p:nvSpPr>
        <p:spPr>
          <a:xfrm>
            <a:off x="6858869" y="1611008"/>
            <a:ext cx="1296143" cy="266546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</a:t>
            </a:r>
          </a:p>
        </p:txBody>
      </p:sp>
      <p:cxnSp>
        <p:nvCxnSpPr>
          <p:cNvPr id="15" name="直接箭头连接符 10">
            <a:extLst>
              <a:ext uri="{FF2B5EF4-FFF2-40B4-BE49-F238E27FC236}">
                <a16:creationId xmlns:a16="http://schemas.microsoft.com/office/drawing/2014/main" id="{DBB32ACD-C811-2C46-A530-FD122ED629C6}"/>
              </a:ext>
            </a:extLst>
          </p:cNvPr>
          <p:cNvCxnSpPr>
            <a:cxnSpLocks/>
          </p:cNvCxnSpPr>
          <p:nvPr/>
        </p:nvCxnSpPr>
        <p:spPr>
          <a:xfrm flipH="1">
            <a:off x="5238688" y="1813250"/>
            <a:ext cx="936104" cy="169663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78FDE9E-FB02-9F4E-83FA-E15A146CFD34}"/>
              </a:ext>
            </a:extLst>
          </p:cNvPr>
          <p:cNvSpPr txBox="1"/>
          <p:nvPr/>
        </p:nvSpPr>
        <p:spPr>
          <a:xfrm>
            <a:off x="5434870" y="149376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登录</a:t>
            </a:r>
          </a:p>
        </p:txBody>
      </p:sp>
      <p:cxnSp>
        <p:nvCxnSpPr>
          <p:cNvPr id="17" name="直接箭头连接符 10">
            <a:extLst>
              <a:ext uri="{FF2B5EF4-FFF2-40B4-BE49-F238E27FC236}">
                <a16:creationId xmlns:a16="http://schemas.microsoft.com/office/drawing/2014/main" id="{2E73FC19-5451-A148-825F-72477E6DF4F9}"/>
              </a:ext>
            </a:extLst>
          </p:cNvPr>
          <p:cNvCxnSpPr>
            <a:cxnSpLocks/>
          </p:cNvCxnSpPr>
          <p:nvPr/>
        </p:nvCxnSpPr>
        <p:spPr>
          <a:xfrm>
            <a:off x="5355084" y="2109666"/>
            <a:ext cx="819708" cy="248193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FAE9B69-1142-8043-B2DC-DF4173FA7A81}"/>
              </a:ext>
            </a:extLst>
          </p:cNvPr>
          <p:cNvSpPr txBox="1"/>
          <p:nvPr/>
        </p:nvSpPr>
        <p:spPr>
          <a:xfrm>
            <a:off x="4854412" y="2429867"/>
            <a:ext cx="2220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修改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USERNAME=admin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流程图: 联系 7">
            <a:extLst>
              <a:ext uri="{FF2B5EF4-FFF2-40B4-BE49-F238E27FC236}">
                <a16:creationId xmlns:a16="http://schemas.microsoft.com/office/drawing/2014/main" id="{6D3F9516-0074-9940-9D02-D0DBB3E85995}"/>
              </a:ext>
            </a:extLst>
          </p:cNvPr>
          <p:cNvSpPr/>
          <p:nvPr/>
        </p:nvSpPr>
        <p:spPr>
          <a:xfrm>
            <a:off x="6858869" y="2278690"/>
            <a:ext cx="1296143" cy="266546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管理员</a:t>
            </a:r>
          </a:p>
        </p:txBody>
      </p:sp>
    </p:spTree>
    <p:extLst>
      <p:ext uri="{BB962C8B-B14F-4D97-AF65-F5344CB8AC3E}">
        <p14:creationId xmlns:p14="http://schemas.microsoft.com/office/powerpoint/2010/main" val="2068728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860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60904" y="989707"/>
            <a:ext cx="989836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6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敏感数据</a:t>
            </a:r>
            <a:r>
              <a:rPr lang="en-US" altLang="zh-CN" sz="1600" kern="0" dirty="0"/>
              <a:t>/</a:t>
            </a:r>
            <a:r>
              <a:rPr lang="zh-CN" altLang="en-US" sz="1600" kern="0" dirty="0"/>
              <a:t>隐私泄露：敏感数据</a:t>
            </a:r>
            <a:r>
              <a:rPr lang="en-US" altLang="zh-CN" sz="1600" kern="0" dirty="0"/>
              <a:t>/</a:t>
            </a:r>
            <a:r>
              <a:rPr lang="zh-CN" altLang="en-US" sz="1600" kern="0" dirty="0"/>
              <a:t>隐私前端明文展示、敏感数据日志明文存储</a:t>
            </a:r>
            <a:r>
              <a:rPr lang="en-US" altLang="zh-CN" sz="1600" kern="0" dirty="0"/>
              <a:t>&amp;</a:t>
            </a:r>
            <a:r>
              <a:rPr lang="zh-CN" altLang="en-US" sz="1600" kern="0" dirty="0"/>
              <a:t>传输等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敏感数据</a:t>
            </a:r>
            <a:r>
              <a:rPr lang="en-US" altLang="zh-CN" sz="1400" kern="0" dirty="0"/>
              <a:t>/</a:t>
            </a:r>
            <a:r>
              <a:rPr lang="zh-CN" altLang="en-US" sz="1400" kern="0" dirty="0"/>
              <a:t>隐私前端展示或者日志记录时都需要脱敏处理，可以使用安全团队提供的脱敏</a:t>
            </a:r>
            <a:r>
              <a:rPr lang="en-US" altLang="zh-CN" sz="1400" kern="0" dirty="0"/>
              <a:t>SDK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敏感数据</a:t>
            </a:r>
            <a:r>
              <a:rPr lang="en-US" altLang="zh-CN" sz="1400" kern="0" dirty="0"/>
              <a:t>/</a:t>
            </a:r>
            <a:r>
              <a:rPr lang="zh-CN" altLang="en-US" sz="1400" kern="0" dirty="0"/>
              <a:t>隐私传输</a:t>
            </a:r>
            <a:r>
              <a:rPr lang="en-US" altLang="zh-CN" sz="1400" kern="0" dirty="0"/>
              <a:t>/</a:t>
            </a:r>
            <a:r>
              <a:rPr lang="zh-CN" altLang="en-US" sz="1400" kern="0" dirty="0"/>
              <a:t>存储时需要加密，并且需要进行严格的授权认证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访问行为需要保留详细的日志记录，以便事后追溯和监控审计等</a:t>
            </a:r>
            <a:endParaRPr lang="en-US" altLang="zh-CN" sz="1400" kern="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C4898F-FD5C-5943-A06E-33E78859AD21}"/>
              </a:ext>
            </a:extLst>
          </p:cNvPr>
          <p:cNvSpPr txBox="1"/>
          <p:nvPr/>
        </p:nvSpPr>
        <p:spPr>
          <a:xfrm>
            <a:off x="560904" y="2811393"/>
            <a:ext cx="961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case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6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百度某业务接口未授权，可导致用户数据泄露（幸亏百度自己提前发现）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D608696-AA93-E740-8AA6-5ADE02A1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36" y="3387457"/>
            <a:ext cx="8893299" cy="13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49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6373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线上验证阶段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4662624" y="1170771"/>
            <a:ext cx="5090316" cy="2456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体系化纵深防御体系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黑盒：请求探测、模拟攻击枚举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白盒：静态代码分析、污染传播分析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灰盒：运行时</a:t>
            </a:r>
            <a:r>
              <a:rPr lang="en-US" altLang="zh-CN" sz="1400" kern="0" dirty="0"/>
              <a:t>Hook</a:t>
            </a:r>
            <a:r>
              <a:rPr lang="zh-CN" altLang="en-US" sz="1400" kern="0" dirty="0"/>
              <a:t>、</a:t>
            </a:r>
            <a:r>
              <a:rPr lang="en-US" altLang="zh-CN" sz="1400" kern="0" dirty="0"/>
              <a:t>Fuzz</a:t>
            </a:r>
            <a:r>
              <a:rPr lang="zh-CN" altLang="en-US" sz="1400" kern="0" dirty="0"/>
              <a:t>探测</a:t>
            </a:r>
            <a:endParaRPr lang="en-US" altLang="zh-CN" sz="1400" kern="0" dirty="0"/>
          </a:p>
          <a:p>
            <a:pPr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能力主要衡量指标显著高于业界</a:t>
            </a:r>
            <a:endParaRPr lang="en-US" altLang="zh-CN" sz="1600" kern="0" dirty="0"/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7EC80A6D-B125-D44A-A7D5-A8DD921B5E08}"/>
              </a:ext>
            </a:extLst>
          </p:cNvPr>
          <p:cNvSpPr/>
          <p:nvPr/>
        </p:nvSpPr>
        <p:spPr>
          <a:xfrm>
            <a:off x="666180" y="1385067"/>
            <a:ext cx="324714" cy="3240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0070C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0" tIns="481144" rIns="151557" bIns="481144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prstClr val="white"/>
                </a:solidFill>
                <a:latin typeface="Microsoft YaHei" charset="-122"/>
                <a:ea typeface="Microsoft YaHei" charset="-122"/>
                <a:cs typeface="Microsoft YaHei" charset="-122"/>
              </a:rPr>
              <a:t>黑盒测试</a:t>
            </a:r>
          </a:p>
        </p:txBody>
      </p:sp>
      <p:sp>
        <p:nvSpPr>
          <p:cNvPr id="11" name="任意形状 10">
            <a:extLst>
              <a:ext uri="{FF2B5EF4-FFF2-40B4-BE49-F238E27FC236}">
                <a16:creationId xmlns:a16="http://schemas.microsoft.com/office/drawing/2014/main" id="{75DCFBE3-E19F-7F4E-BA46-95077E6E2F38}"/>
              </a:ext>
            </a:extLst>
          </p:cNvPr>
          <p:cNvSpPr/>
          <p:nvPr/>
        </p:nvSpPr>
        <p:spPr>
          <a:xfrm>
            <a:off x="1142042" y="1565067"/>
            <a:ext cx="324000" cy="2880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0070C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0" tIns="481144" rIns="151558" bIns="481144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prstClr val="white"/>
                </a:solidFill>
                <a:latin typeface="Microsoft YaHei" charset="-122"/>
                <a:ea typeface="Microsoft YaHei" charset="-122"/>
                <a:cs typeface="Microsoft YaHei" charset="-122"/>
              </a:rPr>
              <a:t>白盒测试</a:t>
            </a: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849103FC-A057-8640-8A8B-4FFD28957248}"/>
              </a:ext>
            </a:extLst>
          </p:cNvPr>
          <p:cNvSpPr/>
          <p:nvPr/>
        </p:nvSpPr>
        <p:spPr>
          <a:xfrm>
            <a:off x="1613254" y="1735679"/>
            <a:ext cx="324000" cy="2520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0070C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0" tIns="481144" rIns="151557" bIns="481144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prstClr val="white"/>
                </a:solidFill>
                <a:latin typeface="Microsoft YaHei" charset="-122"/>
                <a:ea typeface="Microsoft YaHei" charset="-122"/>
                <a:cs typeface="Microsoft YaHei" charset="-122"/>
              </a:rPr>
              <a:t>灰盒测试</a:t>
            </a: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1159E404-B4B1-504D-8DC5-3C4C772DD701}"/>
              </a:ext>
            </a:extLst>
          </p:cNvPr>
          <p:cNvSpPr/>
          <p:nvPr/>
        </p:nvSpPr>
        <p:spPr>
          <a:xfrm>
            <a:off x="2247133" y="1925067"/>
            <a:ext cx="324000" cy="2160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0" tIns="481144" rIns="151557" bIns="481144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prstClr val="white"/>
                </a:solidFill>
                <a:latin typeface="Microsoft YaHei" charset="-122"/>
                <a:ea typeface="Microsoft YaHei" charset="-122"/>
                <a:cs typeface="Microsoft YaHei" charset="-122"/>
              </a:rPr>
              <a:t>线上检测</a:t>
            </a:r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52D33929-F439-2042-A19E-9ED4CF8A1569}"/>
              </a:ext>
            </a:extLst>
          </p:cNvPr>
          <p:cNvSpPr/>
          <p:nvPr/>
        </p:nvSpPr>
        <p:spPr>
          <a:xfrm>
            <a:off x="2715978" y="2095679"/>
            <a:ext cx="324000" cy="1800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0" tIns="481144" rIns="151557" bIns="481144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prstClr val="white"/>
                </a:solidFill>
                <a:latin typeface="Microsoft YaHei" charset="-122"/>
                <a:ea typeface="Microsoft YaHei" charset="-122"/>
                <a:cs typeface="Microsoft YaHei" charset="-122"/>
              </a:rPr>
              <a:t>攻击感知</a:t>
            </a:r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59796D12-13CA-AC4B-8E17-827A4EABDF6E}"/>
              </a:ext>
            </a:extLst>
          </p:cNvPr>
          <p:cNvSpPr/>
          <p:nvPr/>
        </p:nvSpPr>
        <p:spPr>
          <a:xfrm>
            <a:off x="3348897" y="2293614"/>
            <a:ext cx="324000" cy="14400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0" tIns="481144" rIns="151557" bIns="481144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prstClr val="white"/>
                </a:solidFill>
                <a:latin typeface="Microsoft YaHei" charset="-122"/>
                <a:ea typeface="Microsoft YaHei" charset="-122"/>
                <a:cs typeface="Microsoft YaHei" charset="-122"/>
              </a:rPr>
              <a:t>攻击阻断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E5AA0A-6A76-EB49-AEDE-6DB6C837C32D}"/>
              </a:ext>
            </a:extLst>
          </p:cNvPr>
          <p:cNvSpPr txBox="1"/>
          <p:nvPr/>
        </p:nvSpPr>
        <p:spPr>
          <a:xfrm>
            <a:off x="1414377" y="4365372"/>
            <a:ext cx="623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线下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规避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B424CA-DF0C-9844-AF94-F6A176128568}"/>
              </a:ext>
            </a:extLst>
          </p:cNvPr>
          <p:cNvSpPr txBox="1"/>
          <p:nvPr/>
        </p:nvSpPr>
        <p:spPr>
          <a:xfrm>
            <a:off x="2355701" y="4353502"/>
            <a:ext cx="593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线上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降低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0CC5FCD-503F-C042-804B-925052E0A2EF}"/>
              </a:ext>
            </a:extLst>
          </p:cNvPr>
          <p:cNvCxnSpPr/>
          <p:nvPr/>
        </p:nvCxnSpPr>
        <p:spPr>
          <a:xfrm>
            <a:off x="2084466" y="3013614"/>
            <a:ext cx="0" cy="1620000"/>
          </a:xfrm>
          <a:prstGeom prst="line">
            <a:avLst/>
          </a:prstGeom>
          <a:ln w="25400">
            <a:solidFill>
              <a:srgbClr val="1228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FE4F96F-0AFE-CA49-A03B-312AF842FFE3}"/>
              </a:ext>
            </a:extLst>
          </p:cNvPr>
          <p:cNvCxnSpPr/>
          <p:nvPr/>
        </p:nvCxnSpPr>
        <p:spPr>
          <a:xfrm>
            <a:off x="3204052" y="3013614"/>
            <a:ext cx="0" cy="1620000"/>
          </a:xfrm>
          <a:prstGeom prst="line">
            <a:avLst/>
          </a:prstGeom>
          <a:ln w="25400">
            <a:solidFill>
              <a:srgbClr val="1228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CEDD452-EF7B-EF44-8E4B-5DE29FF5BE0E}"/>
              </a:ext>
            </a:extLst>
          </p:cNvPr>
          <p:cNvSpPr txBox="1"/>
          <p:nvPr/>
        </p:nvSpPr>
        <p:spPr>
          <a:xfrm>
            <a:off x="3288348" y="4365372"/>
            <a:ext cx="746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实时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阻断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61F4746-FAB0-084D-A022-16981F32C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968389"/>
              </p:ext>
            </p:extLst>
          </p:nvPr>
        </p:nvGraphicFramePr>
        <p:xfrm>
          <a:off x="4763641" y="3387195"/>
          <a:ext cx="5112568" cy="1317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17">
                  <a:extLst>
                    <a:ext uri="{9D8B030D-6E8A-4147-A177-3AD203B41FA5}">
                      <a16:colId xmlns:a16="http://schemas.microsoft.com/office/drawing/2014/main" val="811214920"/>
                    </a:ext>
                  </a:extLst>
                </a:gridCol>
                <a:gridCol w="2374154">
                  <a:extLst>
                    <a:ext uri="{9D8B030D-6E8A-4147-A177-3AD203B41FA5}">
                      <a16:colId xmlns:a16="http://schemas.microsoft.com/office/drawing/2014/main" val="1374289274"/>
                    </a:ext>
                  </a:extLst>
                </a:gridCol>
                <a:gridCol w="1721197">
                  <a:extLst>
                    <a:ext uri="{9D8B030D-6E8A-4147-A177-3AD203B41FA5}">
                      <a16:colId xmlns:a16="http://schemas.microsoft.com/office/drawing/2014/main" val="2540728497"/>
                    </a:ext>
                  </a:extLst>
                </a:gridCol>
              </a:tblGrid>
              <a:tr h="410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Web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应用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</a:t>
                      </a:r>
                      <a:endParaRPr lang="zh-CN" altLang="en-US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937096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漏洞检测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啄木鸟、猫头鹰、蜂鸟</a:t>
                      </a:r>
                      <a:r>
                        <a:rPr lang="en-US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Rasp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猫头鹰、</a:t>
                      </a:r>
                      <a:r>
                        <a:rPr lang="en-US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AppSec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935156"/>
                  </a:ext>
                </a:extLst>
              </a:tr>
              <a:tr h="4021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隐私检测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啄木鸟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史宾格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937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690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6373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安全研发实践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线上验证阶段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94172" y="1053879"/>
            <a:ext cx="8064896" cy="3032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安全测试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尽早进行线下安全基准测试，避免将漏洞带入线上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线下安全基准测试发现的漏洞，及时修复处理</a:t>
            </a:r>
            <a:endParaRPr lang="en-US" altLang="zh-CN" sz="1400" kern="0" dirty="0"/>
          </a:p>
          <a:p>
            <a:pPr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线上验证</a:t>
            </a:r>
            <a:endParaRPr lang="en-US" altLang="zh-CN" sz="16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建议定期使用安全团队提供的能力进行线上漏洞自测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线上部署漏洞攻击感知与阻断能力，攻击发生时第一时间处理</a:t>
            </a:r>
            <a:endParaRPr lang="en-US" altLang="zh-CN" sz="1400" kern="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400" kern="0" dirty="0"/>
              <a:t>线上日志进行备份，以便攻击溯源</a:t>
            </a:r>
            <a:endParaRPr lang="en-US" altLang="zh-CN" sz="1400" kern="0" dirty="0"/>
          </a:p>
        </p:txBody>
      </p:sp>
    </p:spTree>
    <p:extLst>
      <p:ext uri="{BB962C8B-B14F-4D97-AF65-F5344CB8AC3E}">
        <p14:creationId xmlns:p14="http://schemas.microsoft.com/office/powerpoint/2010/main" val="4127234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6373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94171" y="1053878"/>
            <a:ext cx="9793089" cy="142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每个同学都应该协同保障产品安全，都应该有对安全负责的自驱力（业务方是安全的第一责任人）</a:t>
            </a:r>
            <a:endParaRPr lang="en-US" altLang="zh-CN" sz="1600" kern="0" dirty="0"/>
          </a:p>
          <a:p>
            <a:pPr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安全研发实践过程中，同学们的安全意识至关重要</a:t>
            </a:r>
            <a:endParaRPr lang="en-US" altLang="zh-CN" sz="1600" kern="0" dirty="0"/>
          </a:p>
          <a:p>
            <a:pPr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kern="0" dirty="0"/>
              <a:t>经过同学们协同努力，线上产品安全风险有了一定改善，但风险依旧严峻</a:t>
            </a:r>
            <a:endParaRPr lang="en-US" altLang="zh-CN" sz="1600" kern="0" dirty="0"/>
          </a:p>
          <a:p>
            <a:pPr>
              <a:lnSpc>
                <a:spcPct val="150000"/>
              </a:lnSpc>
              <a:buFont typeface="Wingdings" pitchFamily="2" charset="2"/>
              <a:buChar char="n"/>
            </a:pPr>
            <a:endParaRPr lang="en-US" altLang="zh-CN" sz="1600" kern="0" dirty="0"/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2A5CAA07-F6B8-4243-8B72-43DC71EDCF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9733958"/>
              </p:ext>
            </p:extLst>
          </p:nvPr>
        </p:nvGraphicFramePr>
        <p:xfrm>
          <a:off x="848753" y="2479648"/>
          <a:ext cx="4434568" cy="2673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5F427283-C07D-064C-9040-5A9629FBCA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5476455"/>
              </p:ext>
            </p:extLst>
          </p:nvPr>
        </p:nvGraphicFramePr>
        <p:xfrm>
          <a:off x="5204389" y="2468792"/>
          <a:ext cx="4355636" cy="2769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35093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6373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安全咨询</a:t>
            </a:r>
            <a:endParaRPr lang="da-DK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F1A43ACB-01BB-534A-937A-9F5DDBBD096E}"/>
              </a:ext>
            </a:extLst>
          </p:cNvPr>
          <p:cNvSpPr txBox="1">
            <a:spLocks/>
          </p:cNvSpPr>
          <p:nvPr/>
        </p:nvSpPr>
        <p:spPr bwMode="auto">
          <a:xfrm>
            <a:off x="594172" y="1053877"/>
            <a:ext cx="9289032" cy="274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Font typeface="Wingdings" pitchFamily="2" charset="2"/>
              <a:buChar char="ü"/>
              <a:defRPr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algn="just">
              <a:spcAft>
                <a:spcPts val="0"/>
              </a:spcAft>
              <a:buFont typeface="Wingdings" pitchFamily="2" charset="2"/>
              <a:buChar char="n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安全应急：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安全应急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7*24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小时，内搜“安全应急”关键字获取应急值班同学名单</a:t>
            </a:r>
          </a:p>
          <a:p>
            <a:pPr algn="just">
              <a:spcAft>
                <a:spcPts val="0"/>
              </a:spcAft>
              <a:buFont typeface="Wingdings" pitchFamily="2" charset="2"/>
              <a:buChar char="n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安全能力及安全规范：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安全统一服务平台：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security.baidu.com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spcAft>
                <a:spcPts val="0"/>
              </a:spcAft>
              <a:buFont typeface="Wingdings" pitchFamily="2" charset="2"/>
              <a:buChar char="n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例行安全举报及咨询窗口：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邮件组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 </a:t>
            </a:r>
            <a:r>
              <a:rPr lang="en" altLang="zh-CN" sz="1400" u="sng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anquan@baidu.com</a:t>
            </a:r>
            <a:r>
              <a:rPr lang="e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|hi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公众号：百度安全响应中心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4199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4554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heme/theme1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24885</TotalTime>
  <Words>1377</Words>
  <Application>Microsoft Macintosh PowerPoint</Application>
  <PresentationFormat>自定义</PresentationFormat>
  <Paragraphs>172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宋体</vt:lpstr>
      <vt:lpstr>Microsoft YaHei</vt:lpstr>
      <vt:lpstr>Microsoft YaHei</vt:lpstr>
      <vt:lpstr>Arial</vt:lpstr>
      <vt:lpstr>Calibri</vt:lpstr>
      <vt:lpstr>Impact</vt:lpstr>
      <vt:lpstr>Times New Roman</vt:lpstr>
      <vt:lpstr>Wingdings</vt:lpstr>
      <vt:lpstr>++1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武敏</dc:creator>
  <cp:lastModifiedBy>Hu Fei</cp:lastModifiedBy>
  <cp:revision>709</cp:revision>
  <dcterms:created xsi:type="dcterms:W3CDTF">2014-04-29T09:26:26Z</dcterms:created>
  <dcterms:modified xsi:type="dcterms:W3CDTF">2019-07-04T06:01:20Z</dcterms:modified>
</cp:coreProperties>
</file>