
<file path=[Content_Types].xml><?xml version="1.0" encoding="utf-8"?>
<Types xmlns="http://schemas.openxmlformats.org/package/2006/content-types">
  <Default Extension="vsd" ContentType="application/vnd.visio"/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6"/>
  </p:notesMasterIdLst>
  <p:handoutMasterIdLst>
    <p:handoutMasterId r:id="rId27"/>
  </p:handoutMasterIdLst>
  <p:sldIdLst>
    <p:sldId id="544" r:id="rId2"/>
    <p:sldId id="574" r:id="rId3"/>
    <p:sldId id="545" r:id="rId4"/>
    <p:sldId id="565" r:id="rId5"/>
    <p:sldId id="571" r:id="rId6"/>
    <p:sldId id="576" r:id="rId7"/>
    <p:sldId id="577" r:id="rId8"/>
    <p:sldId id="587" r:id="rId9"/>
    <p:sldId id="578" r:id="rId10"/>
    <p:sldId id="590" r:id="rId11"/>
    <p:sldId id="591" r:id="rId12"/>
    <p:sldId id="567" r:id="rId13"/>
    <p:sldId id="568" r:id="rId14"/>
    <p:sldId id="583" r:id="rId15"/>
    <p:sldId id="584" r:id="rId16"/>
    <p:sldId id="589" r:id="rId17"/>
    <p:sldId id="579" r:id="rId18"/>
    <p:sldId id="550" r:id="rId19"/>
    <p:sldId id="592" r:id="rId20"/>
    <p:sldId id="593" r:id="rId21"/>
    <p:sldId id="594" r:id="rId22"/>
    <p:sldId id="599" r:id="rId23"/>
    <p:sldId id="600" r:id="rId24"/>
    <p:sldId id="573" r:id="rId25"/>
  </p:sldIdLst>
  <p:sldSz cx="9144000" cy="6858000" type="screen4x3"/>
  <p:notesSz cx="10234613" cy="70993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  <p15:guide id="3" orient="horz" pos="2236">
          <p15:clr>
            <a:srgbClr val="A4A3A4"/>
          </p15:clr>
        </p15:guide>
        <p15:guide id="4" pos="32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ng,Liang(ECOM)" initials="P" lastIdx="23" clrIdx="0">
    <p:extLst>
      <p:ext uri="{19B8F6BF-5375-455C-9EA6-DF929625EA0E}">
        <p15:presenceInfo xmlns:p15="http://schemas.microsoft.com/office/powerpoint/2012/main" userId="S-1-5-21-3689171631-189274284-2341753515-115807" providerId="AD"/>
      </p:ext>
    </p:extLst>
  </p:cmAuthor>
  <p:cmAuthor id="2" name="wangkaikai" initials="w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00CC"/>
    <a:srgbClr val="A50021"/>
    <a:srgbClr val="CCFF99"/>
    <a:srgbClr val="CCFF66"/>
    <a:srgbClr val="CCFF33"/>
    <a:srgbClr val="66FF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50" autoAdjust="0"/>
    <p:restoredTop sz="86301" autoAdjust="0"/>
  </p:normalViewPr>
  <p:slideViewPr>
    <p:cSldViewPr>
      <p:cViewPr varScale="1">
        <p:scale>
          <a:sx n="116" d="100"/>
          <a:sy n="116" d="100"/>
        </p:scale>
        <p:origin x="98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-1836" y="-96"/>
      </p:cViewPr>
      <p:guideLst>
        <p:guide orient="horz" pos="3223"/>
        <p:guide pos="2236"/>
        <p:guide orient="horz" pos="2236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435304" cy="35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buClr>
                <a:srgbClr val="2318DE"/>
              </a:buClr>
              <a:buSzPct val="100000"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022" y="0"/>
            <a:ext cx="4435304" cy="35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buClr>
                <a:srgbClr val="2318DE"/>
              </a:buClr>
              <a:buSzPct val="100000"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F217E88C-B4BB-4202-8CDC-AEBC0F449B27}" type="datetimeFigureOut">
              <a:rPr lang="zh-CN" altLang="en-US"/>
              <a:pPr>
                <a:defRPr/>
              </a:pPr>
              <a:t>2014/9/1</a:t>
            </a:fld>
            <a:endParaRPr lang="en-US" altLang="zh-CN" dirty="0"/>
          </a:p>
        </p:txBody>
      </p:sp>
      <p:sp>
        <p:nvSpPr>
          <p:cNvPr id="189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743619"/>
            <a:ext cx="4435304" cy="35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buClr>
                <a:srgbClr val="2318DE"/>
              </a:buClr>
              <a:buSzPct val="100000"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89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022" y="6743619"/>
            <a:ext cx="4435304" cy="35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buClr>
                <a:srgbClr val="2318DE"/>
              </a:buClr>
              <a:buSzPct val="100000"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988A118B-9AE4-4F45-A7E4-D0FA7E96A2A3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33712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435304" cy="35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>
              <a:buClrTx/>
              <a:buSzTx/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022" y="0"/>
            <a:ext cx="4435304" cy="35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buClrTx/>
              <a:buSzTx/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3400"/>
            <a:ext cx="3548063" cy="2660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005" y="3371809"/>
            <a:ext cx="8188606" cy="3194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743619"/>
            <a:ext cx="4435304" cy="35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>
              <a:buClrTx/>
              <a:buSzTx/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022" y="6743619"/>
            <a:ext cx="4435304" cy="35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buClrTx/>
              <a:buSzTx/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EB4A5A85-9107-44CE-833F-4E1C2B817D0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301750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A28BDD72-0537-4784-B5C3-F96282569C42}" type="slidenum">
              <a:rPr lang="en-US" altLang="zh-CN" sz="1300" smtClean="0">
                <a:latin typeface="Arial" charset="0"/>
              </a:rPr>
              <a:pPr eaLnBrk="1" hangingPunct="1"/>
              <a:t>1</a:t>
            </a:fld>
            <a:endParaRPr lang="en-US" altLang="zh-CN" sz="1300" dirty="0" smtClean="0">
              <a:latin typeface="Arial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3275" y="533400"/>
            <a:ext cx="3548063" cy="2660650"/>
          </a:xfrm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551565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343275" y="533400"/>
            <a:ext cx="3548063" cy="26606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dd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4A5A85-9107-44CE-833F-4E1C2B817D00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54389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343275" y="533400"/>
            <a:ext cx="3548063" cy="26606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4A5A85-9107-44CE-833F-4E1C2B817D00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2545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5800" y="2667000"/>
            <a:ext cx="78486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0" rIns="164592" bIns="0" anchor="ctr"/>
          <a:lstStyle/>
          <a:p>
            <a:pPr algn="ctr" fontAlgn="ctr"/>
            <a:endParaRPr lang="zh-CN" altLang="zh-CN" sz="4800">
              <a:solidFill>
                <a:schemeClr val="bg2"/>
              </a:solidFill>
            </a:endParaRPr>
          </a:p>
        </p:txBody>
      </p:sp>
      <p:sp>
        <p:nvSpPr>
          <p:cNvPr id="3" name="Rectangle 3"/>
          <p:cNvSpPr>
            <a:spLocks/>
          </p:cNvSpPr>
          <p:nvPr/>
        </p:nvSpPr>
        <p:spPr bwMode="auto">
          <a:xfrm>
            <a:off x="3744913" y="4114800"/>
            <a:ext cx="827087" cy="1524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buClr>
                <a:srgbClr val="2318DE"/>
              </a:buClr>
              <a:buSzPct val="100000"/>
            </a:pPr>
            <a:endParaRPr lang="zh-CN" altLang="en-US"/>
          </a:p>
        </p:txBody>
      </p:sp>
      <p:pic>
        <p:nvPicPr>
          <p:cNvPr id="4" name="Picture 4" descr="logone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990600"/>
            <a:ext cx="19050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/>
          </p:cNvSpPr>
          <p:nvPr/>
        </p:nvSpPr>
        <p:spPr bwMode="auto">
          <a:xfrm>
            <a:off x="4572000" y="4114800"/>
            <a:ext cx="827088" cy="152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buClr>
                <a:srgbClr val="2318DE"/>
              </a:buClr>
              <a:buSzPct val="100000"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461662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449321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99582659"/>
      </p:ext>
    </p:extLst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70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70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168942"/>
      </p:ext>
    </p:extLst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224476"/>
      </p:ext>
    </p:extLst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374754"/>
      </p:ext>
    </p:extLst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411171"/>
      </p:ext>
    </p:extLst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31034030"/>
      </p:ext>
    </p:extLst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44922008"/>
      </p:ext>
    </p:extLst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553824"/>
      </p:ext>
    </p:extLst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47663"/>
            <a:ext cx="2057400" cy="574833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47663"/>
            <a:ext cx="6019800" cy="57483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642756"/>
      </p:ext>
    </p:extLst>
  </p:cSld>
  <p:clrMapOvr>
    <a:masterClrMapping/>
  </p:clrMapOvr>
  <p:transition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47663"/>
            <a:ext cx="8229600" cy="7778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570038"/>
            <a:ext cx="4038600" cy="45259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70038"/>
            <a:ext cx="4038600" cy="45259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750464"/>
      </p:ext>
    </p:extLst>
  </p:cSld>
  <p:clrMapOvr>
    <a:masterClrMapping/>
  </p:clrMapOvr>
  <p:transition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47663"/>
            <a:ext cx="8229600" cy="7778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570038"/>
            <a:ext cx="8229600" cy="4525962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47975373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70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304800" y="304800"/>
            <a:ext cx="8534400" cy="8382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0" rIns="164592" bIns="0" anchor="ctr"/>
          <a:lstStyle/>
          <a:p>
            <a:endParaRPr lang="zh-CN" altLang="zh-CN" sz="3200" b="1">
              <a:latin typeface="Arial" charset="0"/>
            </a:endParaRPr>
          </a:p>
        </p:txBody>
      </p:sp>
      <p:pic>
        <p:nvPicPr>
          <p:cNvPr id="1028" name="Picture 4" descr="logonew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5929313"/>
            <a:ext cx="1524000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5"/>
          <p:cNvSpPr>
            <a:spLocks/>
          </p:cNvSpPr>
          <p:nvPr/>
        </p:nvSpPr>
        <p:spPr bwMode="auto">
          <a:xfrm>
            <a:off x="304800" y="1143000"/>
            <a:ext cx="1079500" cy="1524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buClr>
                <a:srgbClr val="2318DE"/>
              </a:buClr>
              <a:buSzPct val="100000"/>
            </a:pPr>
            <a:endParaRPr lang="zh-CN" altLang="en-US"/>
          </a:p>
        </p:txBody>
      </p:sp>
      <p:sp>
        <p:nvSpPr>
          <p:cNvPr id="1030" name="Rectangle 6"/>
          <p:cNvSpPr>
            <a:spLocks/>
          </p:cNvSpPr>
          <p:nvPr/>
        </p:nvSpPr>
        <p:spPr bwMode="auto">
          <a:xfrm>
            <a:off x="1212850" y="1143000"/>
            <a:ext cx="539750" cy="1524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buClr>
                <a:srgbClr val="2318DE"/>
              </a:buClr>
              <a:buSzPct val="100000"/>
            </a:pPr>
            <a:endParaRPr lang="zh-CN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47663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6" r:id="rId1"/>
    <p:sldLayoutId id="2147484234" r:id="rId2"/>
    <p:sldLayoutId id="2147484235" r:id="rId3"/>
    <p:sldLayoutId id="2147484236" r:id="rId4"/>
    <p:sldLayoutId id="2147484237" r:id="rId5"/>
    <p:sldLayoutId id="2147484238" r:id="rId6"/>
    <p:sldLayoutId id="2147484239" r:id="rId7"/>
    <p:sldLayoutId id="2147484240" r:id="rId8"/>
    <p:sldLayoutId id="2147484241" r:id="rId9"/>
    <p:sldLayoutId id="2147484242" r:id="rId10"/>
    <p:sldLayoutId id="2147484243" r:id="rId11"/>
    <p:sldLayoutId id="2147484244" r:id="rId12"/>
    <p:sldLayoutId id="2147484245" r:id="rId13"/>
  </p:sldLayoutIdLst>
  <p:transition>
    <p:wipe dir="d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5000"/>
        </a:spcBef>
        <a:spcAft>
          <a:spcPct val="25000"/>
        </a:spcAft>
        <a:buClr>
          <a:srgbClr val="2318DE"/>
        </a:buClr>
        <a:buSzPct val="15000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5000"/>
        </a:lnSpc>
        <a:spcBef>
          <a:spcPct val="25000"/>
        </a:spcBef>
        <a:spcAft>
          <a:spcPct val="25000"/>
        </a:spcAft>
        <a:buClr>
          <a:srgbClr val="2318DE"/>
        </a:buClr>
        <a:buSzPct val="150000"/>
        <a:buChar char="–"/>
        <a:defRPr sz="2000" b="1">
          <a:solidFill>
            <a:schemeClr val="tx1"/>
          </a:solidFill>
          <a:latin typeface="+mn-lt"/>
          <a:ea typeface="宋体" pitchFamily="2" charset="-122"/>
        </a:defRPr>
      </a:lvl2pPr>
      <a:lvl3pPr marL="1143000" indent="-228600" algn="l" rtl="0" eaLnBrk="0" fontAlgn="base" hangingPunct="0">
        <a:lnSpc>
          <a:spcPct val="115000"/>
        </a:lnSpc>
        <a:spcBef>
          <a:spcPct val="25000"/>
        </a:spcBef>
        <a:spcAft>
          <a:spcPct val="25000"/>
        </a:spcAft>
        <a:buClr>
          <a:srgbClr val="2318DE"/>
        </a:buClr>
        <a:buSzPct val="150000"/>
        <a:buChar char="•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lnSpc>
          <a:spcPct val="115000"/>
        </a:lnSpc>
        <a:spcBef>
          <a:spcPct val="25000"/>
        </a:spcBef>
        <a:spcAft>
          <a:spcPct val="25000"/>
        </a:spcAft>
        <a:buClr>
          <a:srgbClr val="2318DE"/>
        </a:buClr>
        <a:buSzPct val="150000"/>
        <a:buChar char="–"/>
        <a:defRPr sz="1600" b="1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eaLnBrk="0" fontAlgn="base" hangingPunct="0">
        <a:lnSpc>
          <a:spcPct val="115000"/>
        </a:lnSpc>
        <a:spcBef>
          <a:spcPct val="25000"/>
        </a:spcBef>
        <a:spcAft>
          <a:spcPct val="25000"/>
        </a:spcAft>
        <a:buClr>
          <a:srgbClr val="2318DE"/>
        </a:buClr>
        <a:buSzPct val="150000"/>
        <a:buChar char="»"/>
        <a:defRPr sz="1400" b="1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lnSpc>
          <a:spcPct val="115000"/>
        </a:lnSpc>
        <a:spcBef>
          <a:spcPct val="25000"/>
        </a:spcBef>
        <a:spcAft>
          <a:spcPct val="25000"/>
        </a:spcAft>
        <a:buClr>
          <a:srgbClr val="2318DE"/>
        </a:buClr>
        <a:buSzPct val="150000"/>
        <a:buChar char="»"/>
        <a:defRPr sz="1400" b="1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lnSpc>
          <a:spcPct val="115000"/>
        </a:lnSpc>
        <a:spcBef>
          <a:spcPct val="25000"/>
        </a:spcBef>
        <a:spcAft>
          <a:spcPct val="25000"/>
        </a:spcAft>
        <a:buClr>
          <a:srgbClr val="2318DE"/>
        </a:buClr>
        <a:buSzPct val="150000"/>
        <a:buChar char="»"/>
        <a:defRPr sz="1400" b="1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lnSpc>
          <a:spcPct val="115000"/>
        </a:lnSpc>
        <a:spcBef>
          <a:spcPct val="25000"/>
        </a:spcBef>
        <a:spcAft>
          <a:spcPct val="25000"/>
        </a:spcAft>
        <a:buClr>
          <a:srgbClr val="2318DE"/>
        </a:buClr>
        <a:buSzPct val="150000"/>
        <a:buChar char="»"/>
        <a:defRPr sz="1400" b="1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lnSpc>
          <a:spcPct val="115000"/>
        </a:lnSpc>
        <a:spcBef>
          <a:spcPct val="25000"/>
        </a:spcBef>
        <a:spcAft>
          <a:spcPct val="25000"/>
        </a:spcAft>
        <a:buClr>
          <a:srgbClr val="2318DE"/>
        </a:buClr>
        <a:buSzPct val="150000"/>
        <a:buChar char="»"/>
        <a:defRPr sz="1400" b="1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Microsoft_Visio_2003-2010___1.vsd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aidu.com/cb.php?c=...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aidu.com/baidu.php?url=sc_XXX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3"/>
          <p:cNvSpPr txBox="1">
            <a:spLocks noChangeArrowheads="1"/>
          </p:cNvSpPr>
          <p:nvPr/>
        </p:nvSpPr>
        <p:spPr bwMode="auto">
          <a:xfrm>
            <a:off x="683568" y="2778126"/>
            <a:ext cx="784887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buClr>
                <a:srgbClr val="2318DE"/>
              </a:buClr>
              <a:buSzPct val="100000"/>
            </a:pPr>
            <a:r>
              <a:rPr lang="zh-CN" altLang="en-US" sz="6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6000" b="1" dirty="0" err="1" smtClean="0">
                <a:latin typeface="Times New Roman" pitchFamily="18" charset="0"/>
                <a:cs typeface="Times New Roman" pitchFamily="18" charset="0"/>
              </a:rPr>
              <a:t>RCV</a:t>
            </a:r>
            <a:r>
              <a:rPr lang="en-US" altLang="zh-CN" sz="6000" b="1" dirty="0" smtClean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altLang="zh-CN" sz="6000" b="1" dirty="0" err="1" smtClean="0">
                <a:latin typeface="Times New Roman" pitchFamily="18" charset="0"/>
                <a:cs typeface="Times New Roman" pitchFamily="18" charset="0"/>
              </a:rPr>
              <a:t>Dformat</a:t>
            </a:r>
            <a:endParaRPr lang="zh-CN" altLang="en-US" sz="6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0872" y="1484784"/>
            <a:ext cx="8229600" cy="5171330"/>
          </a:xfrm>
        </p:spPr>
        <p:txBody>
          <a:bodyPr/>
          <a:lstStyle/>
          <a:p>
            <a:r>
              <a:rPr lang="en-US" altLang="zh-CN" sz="2600" dirty="0" err="1" smtClean="0"/>
              <a:t>rcv</a:t>
            </a:r>
            <a:endParaRPr lang="en-US" altLang="zh-CN" sz="2600" dirty="0" smtClean="0"/>
          </a:p>
          <a:p>
            <a:r>
              <a:rPr lang="zh-CN" altLang="en-US" sz="2600" dirty="0" smtClean="0"/>
              <a:t>点击</a:t>
            </a:r>
            <a:r>
              <a:rPr lang="en-US" altLang="zh-CN" sz="2600" dirty="0" smtClean="0"/>
              <a:t>URL</a:t>
            </a:r>
            <a:r>
              <a:rPr lang="zh-CN" altLang="en-US" sz="2600" dirty="0" smtClean="0"/>
              <a:t>格式</a:t>
            </a:r>
            <a:endParaRPr lang="en-US" altLang="zh-CN" sz="2600" dirty="0" smtClean="0"/>
          </a:p>
          <a:p>
            <a:r>
              <a:rPr lang="zh-CN" altLang="en-US" sz="2600" dirty="0" smtClean="0"/>
              <a:t>点击日志，跳转日志</a:t>
            </a:r>
            <a:endParaRPr lang="en-US" altLang="zh-CN" sz="2600" dirty="0" smtClean="0"/>
          </a:p>
          <a:p>
            <a:r>
              <a:rPr lang="en-US" altLang="zh-CN" sz="2600" dirty="0" err="1" smtClean="0"/>
              <a:t>Sf-rcv</a:t>
            </a:r>
            <a:r>
              <a:rPr lang="zh-CN" altLang="en-US" sz="2600" dirty="0" smtClean="0"/>
              <a:t>模块</a:t>
            </a:r>
            <a:endParaRPr lang="en-US" altLang="zh-CN" sz="2600" dirty="0" smtClean="0"/>
          </a:p>
          <a:p>
            <a:r>
              <a:rPr lang="zh-CN" altLang="en-US" sz="2600" dirty="0" smtClean="0"/>
              <a:t>点击</a:t>
            </a:r>
            <a:r>
              <a:rPr lang="en-US" altLang="zh-CN" sz="2600" dirty="0" smtClean="0"/>
              <a:t>ID</a:t>
            </a:r>
            <a:r>
              <a:rPr lang="zh-CN" altLang="en-US" sz="2600" dirty="0" smtClean="0"/>
              <a:t>生成</a:t>
            </a:r>
            <a:endParaRPr lang="en-US" altLang="zh-CN" sz="2600" dirty="0" smtClean="0"/>
          </a:p>
          <a:p>
            <a:r>
              <a:rPr lang="zh-CN" altLang="en-US" sz="2600" dirty="0" smtClean="0"/>
              <a:t>二跳的原理和作用</a:t>
            </a:r>
            <a:endParaRPr lang="en-US" altLang="zh-CN" sz="2600" dirty="0" smtClean="0"/>
          </a:p>
          <a:p>
            <a:r>
              <a:rPr lang="zh-CN" altLang="en-US" sz="2600" dirty="0" smtClean="0"/>
              <a:t>反作弊</a:t>
            </a:r>
            <a:r>
              <a:rPr lang="zh-CN" altLang="en-US" sz="2600" dirty="0" smtClean="0"/>
              <a:t>策略</a:t>
            </a:r>
            <a:endParaRPr lang="en-US" altLang="zh-CN" sz="2600" dirty="0" smtClean="0"/>
          </a:p>
          <a:p>
            <a:r>
              <a:rPr lang="en-US" altLang="zh-CN" sz="2600" dirty="0" err="1" smtClean="0"/>
              <a:t>Dformat</a:t>
            </a:r>
            <a:endParaRPr lang="en-US" altLang="zh-CN" sz="2600" dirty="0" smtClean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RCV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268760"/>
            <a:ext cx="8003232" cy="1282898"/>
          </a:xfrm>
        </p:spPr>
        <p:txBody>
          <a:bodyPr/>
          <a:lstStyle/>
          <a:p>
            <a:r>
              <a:rPr lang="zh-CN" altLang="en-US" sz="2000" b="1" dirty="0" smtClean="0"/>
              <a:t>功能：</a:t>
            </a:r>
            <a:r>
              <a:rPr lang="zh-CN" altLang="en-US" sz="2000" dirty="0" smtClean="0"/>
              <a:t>整合并接受不同产品线上的点击</a:t>
            </a:r>
            <a:r>
              <a:rPr lang="en-US" altLang="zh-CN" sz="2000" dirty="0" err="1" smtClean="0"/>
              <a:t>url</a:t>
            </a:r>
            <a:r>
              <a:rPr lang="zh-CN" altLang="en-US" sz="2000" dirty="0"/>
              <a:t>，对</a:t>
            </a:r>
            <a:r>
              <a:rPr lang="en-US" altLang="zh-CN" sz="2000" dirty="0"/>
              <a:t>url</a:t>
            </a:r>
            <a:r>
              <a:rPr lang="zh-CN" altLang="en-US" sz="2000" dirty="0"/>
              <a:t>进行</a:t>
            </a:r>
            <a:r>
              <a:rPr lang="zh-CN" altLang="en-US" sz="2000" dirty="0" smtClean="0"/>
              <a:t>解析和判断，生成统一格式的点击日志和错误跳转日志，供后续模块处理。最后根据</a:t>
            </a:r>
            <a:r>
              <a:rPr lang="zh-CN" altLang="en-US" sz="2000" dirty="0"/>
              <a:t>解析的目标</a:t>
            </a:r>
            <a:r>
              <a:rPr lang="en-US" altLang="zh-CN" sz="2000" dirty="0" err="1" smtClean="0"/>
              <a:t>url</a:t>
            </a:r>
            <a:r>
              <a:rPr lang="zh-CN" altLang="en-US" sz="2000" dirty="0" smtClean="0"/>
              <a:t>对用户进行</a:t>
            </a:r>
            <a:r>
              <a:rPr lang="zh-CN" altLang="en-US" sz="2000" dirty="0"/>
              <a:t>跳转。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5" y="2632582"/>
            <a:ext cx="7272809" cy="3581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194949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RCV</a:t>
            </a:r>
            <a:r>
              <a:rPr lang="zh-CN" altLang="en-US" dirty="0" smtClean="0"/>
              <a:t>的产品线和</a:t>
            </a:r>
            <a:r>
              <a:rPr lang="zh-CN" altLang="zh-CN" dirty="0" smtClean="0"/>
              <a:t>内部结构图</a:t>
            </a:r>
            <a:endParaRPr lang="zh-CN" altLang="en-US" dirty="0"/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427984" y="2282676"/>
            <a:ext cx="475252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Char char="l"/>
            </a:pPr>
            <a:r>
              <a:rPr lang="en-US" altLang="zh-CN" sz="2400" b="1" dirty="0" smtClean="0"/>
              <a:t>RCV</a:t>
            </a:r>
          </a:p>
          <a:p>
            <a:pPr>
              <a:buClr>
                <a:schemeClr val="accent2"/>
              </a:buClr>
              <a:buFont typeface="Verdana" pitchFamily="34" charset="0"/>
              <a:buChar char="-"/>
            </a:pPr>
            <a:r>
              <a:rPr lang="en-US" altLang="zh-CN" sz="2400" b="1" dirty="0" err="1" smtClean="0"/>
              <a:t>sf-rcv</a:t>
            </a:r>
            <a:r>
              <a:rPr lang="en-US" altLang="zh-CN" sz="2400" b="1" dirty="0" smtClean="0"/>
              <a:t> (</a:t>
            </a:r>
            <a:r>
              <a:rPr lang="en-US" altLang="zh-CN" sz="2400" b="1" dirty="0" err="1" smtClean="0"/>
              <a:t>fc</a:t>
            </a:r>
            <a:r>
              <a:rPr lang="zh-CN" altLang="zh-CN" sz="2400" b="1" dirty="0" smtClean="0"/>
              <a:t>、</a:t>
            </a:r>
            <a:r>
              <a:rPr lang="en-US" altLang="zh-CN" sz="2400" b="1" dirty="0" err="1" smtClean="0"/>
              <a:t>beidou</a:t>
            </a:r>
            <a:r>
              <a:rPr lang="en-US" altLang="zh-CN" sz="2400" b="1" dirty="0" smtClean="0"/>
              <a:t>)</a:t>
            </a:r>
          </a:p>
          <a:p>
            <a:pPr>
              <a:buClr>
                <a:schemeClr val="accent2"/>
              </a:buClr>
              <a:buFont typeface="Verdana" pitchFamily="34" charset="0"/>
              <a:buChar char="-"/>
            </a:pPr>
            <a:r>
              <a:rPr lang="en-US" altLang="zh-CN" sz="2400" dirty="0" err="1" smtClean="0"/>
              <a:t>adrc-rcv</a:t>
            </a:r>
            <a:endParaRPr lang="en-US" altLang="zh-CN" sz="2400" dirty="0" smtClean="0"/>
          </a:p>
          <a:p>
            <a:pPr>
              <a:buClr>
                <a:schemeClr val="accent2"/>
              </a:buClr>
              <a:buFont typeface="Verdana" pitchFamily="34" charset="0"/>
              <a:buChar char="-"/>
            </a:pPr>
            <a:r>
              <a:rPr lang="en-US" altLang="zh-CN" sz="2400" dirty="0" err="1" smtClean="0"/>
              <a:t>cb-rcv</a:t>
            </a:r>
            <a:r>
              <a:rPr lang="en-US" altLang="zh-CN" sz="2400" dirty="0" smtClean="0"/>
              <a:t> (</a:t>
            </a:r>
            <a:r>
              <a:rPr lang="en-US" altLang="zh-CN" sz="2400" dirty="0" err="1" smtClean="0"/>
              <a:t>columbus</a:t>
            </a:r>
            <a:r>
              <a:rPr lang="en-US" altLang="zh-CN" sz="2400" dirty="0" smtClean="0"/>
              <a:t>)</a:t>
            </a:r>
          </a:p>
          <a:p>
            <a:pPr>
              <a:buClr>
                <a:schemeClr val="accent2"/>
              </a:buClr>
              <a:buFont typeface="Verdana" pitchFamily="34" charset="0"/>
              <a:buChar char="-"/>
            </a:pPr>
            <a:r>
              <a:rPr lang="en-US" altLang="zh-CN" sz="2400" dirty="0" err="1" smtClean="0"/>
              <a:t>dn-rcv</a:t>
            </a:r>
            <a:r>
              <a:rPr lang="en-US" altLang="zh-CN" sz="2400" dirty="0" smtClean="0"/>
              <a:t> (DAN)</a:t>
            </a:r>
            <a:endParaRPr lang="zh-CN" altLang="en-US" sz="2400" dirty="0" smtClean="0"/>
          </a:p>
          <a:p>
            <a:endParaRPr lang="zh-CN" altLang="en-US" dirty="0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335304"/>
              </p:ext>
            </p:extLst>
          </p:nvPr>
        </p:nvGraphicFramePr>
        <p:xfrm>
          <a:off x="395536" y="1472530"/>
          <a:ext cx="3686175" cy="447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Visio" r:id="rId4" imgW="5191145" imgH="6324480" progId="Visio.Drawing.11">
                  <p:embed/>
                </p:oleObj>
              </mc:Choice>
              <mc:Fallback>
                <p:oleObj name="Visio" r:id="rId4" imgW="5191145" imgH="6324480" progId="Visio.Drawing.11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472530"/>
                        <a:ext cx="3686175" cy="447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82139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457200" y="347663"/>
            <a:ext cx="8229600" cy="777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RCV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：点击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URL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的格式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000457"/>
              </p:ext>
            </p:extLst>
          </p:nvPr>
        </p:nvGraphicFramePr>
        <p:xfrm>
          <a:off x="1561728" y="2420888"/>
          <a:ext cx="6682680" cy="2334366"/>
        </p:xfrm>
        <a:graphic>
          <a:graphicData uri="http://schemas.openxmlformats.org/drawingml/2006/table">
            <a:tbl>
              <a:tblPr/>
              <a:tblGrid>
                <a:gridCol w="1383243"/>
                <a:gridCol w="5299437"/>
              </a:tblGrid>
              <a:tr h="29179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/>
                          <a:ea typeface="宋体"/>
                          <a:cs typeface="Times New Roman"/>
                        </a:rPr>
                        <a:t>产品线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/>
                          <a:ea typeface="宋体"/>
                          <a:cs typeface="Times New Roman"/>
                        </a:rPr>
                        <a:t>整合后的格式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8753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Times New Roman"/>
                          <a:ea typeface="宋体"/>
                          <a:cs typeface="Times New Roman"/>
                        </a:rPr>
                        <a:t>fengchao</a:t>
                      </a:r>
                      <a:endParaRPr lang="zh-CN" sz="16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Times New Roman"/>
                          <a:ea typeface="宋体"/>
                          <a:cs typeface="Times New Roman"/>
                        </a:rPr>
                        <a:t>http://www.baidu.com/baidu.php?url=...</a:t>
                      </a:r>
                      <a:endParaRPr lang="zh-CN" sz="16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Times New Roman"/>
                          <a:ea typeface="宋体"/>
                          <a:cs typeface="Times New Roman"/>
                        </a:rPr>
                        <a:t>http://</a:t>
                      </a:r>
                      <a:r>
                        <a:rPr lang="en-US" sz="1600" kern="100" dirty="0" err="1" smtClean="0">
                          <a:latin typeface="Times New Roman"/>
                          <a:ea typeface="宋体"/>
                          <a:cs typeface="Times New Roman"/>
                        </a:rPr>
                        <a:t>www.baidu.com</a:t>
                      </a:r>
                      <a:r>
                        <a:rPr lang="en-US" sz="1600" kern="100" dirty="0" smtClean="0">
                          <a:latin typeface="Times New Roman"/>
                          <a:ea typeface="宋体"/>
                          <a:cs typeface="Times New Roman"/>
                        </a:rPr>
                        <a:t>/</a:t>
                      </a:r>
                      <a:r>
                        <a:rPr lang="en-US" sz="1600" kern="100" dirty="0" err="1" smtClean="0">
                          <a:latin typeface="Times New Roman"/>
                          <a:ea typeface="宋体"/>
                          <a:cs typeface="Times New Roman"/>
                        </a:rPr>
                        <a:t>zhixin.php?url</a:t>
                      </a:r>
                      <a:r>
                        <a:rPr lang="en-US" sz="1600" kern="100" dirty="0">
                          <a:latin typeface="Times New Roman"/>
                          <a:ea typeface="宋体"/>
                          <a:cs typeface="Times New Roman"/>
                        </a:rPr>
                        <a:t>=...</a:t>
                      </a:r>
                      <a:endParaRPr lang="zh-CN" sz="16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Times New Roman"/>
                          <a:ea typeface="宋体"/>
                          <a:cs typeface="Times New Roman"/>
                        </a:rPr>
                        <a:t>http://</a:t>
                      </a:r>
                      <a:r>
                        <a:rPr lang="en-US" sz="1600" kern="100" dirty="0" err="1" smtClean="0">
                          <a:latin typeface="Times New Roman"/>
                          <a:ea typeface="宋体"/>
                          <a:cs typeface="Times New Roman"/>
                        </a:rPr>
                        <a:t>www.baidu.com</a:t>
                      </a:r>
                      <a:r>
                        <a:rPr lang="en-US" sz="1600" kern="100" dirty="0" smtClean="0">
                          <a:latin typeface="Times New Roman"/>
                          <a:ea typeface="宋体"/>
                          <a:cs typeface="Times New Roman"/>
                        </a:rPr>
                        <a:t>/</a:t>
                      </a:r>
                      <a:r>
                        <a:rPr lang="en-US" sz="1600" kern="100" dirty="0" err="1" smtClean="0">
                          <a:latin typeface="Times New Roman"/>
                          <a:ea typeface="宋体"/>
                          <a:cs typeface="Times New Roman"/>
                        </a:rPr>
                        <a:t>siva.php?url</a:t>
                      </a:r>
                      <a:r>
                        <a:rPr lang="en-US" sz="1600" kern="100" dirty="0">
                          <a:latin typeface="Times New Roman"/>
                          <a:ea typeface="宋体"/>
                          <a:cs typeface="Times New Roman"/>
                        </a:rPr>
                        <a:t>=...</a:t>
                      </a:r>
                      <a:endParaRPr lang="zh-CN" sz="16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79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Times New Roman"/>
                          <a:ea typeface="宋体"/>
                          <a:cs typeface="Times New Roman"/>
                        </a:rPr>
                        <a:t>beidou</a:t>
                      </a:r>
                      <a:endParaRPr lang="zh-CN" sz="16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Times New Roman"/>
                          <a:ea typeface="宋体"/>
                          <a:cs typeface="Times New Roman"/>
                        </a:rPr>
                        <a:t>http://www.baidu.com/cpro.php?...</a:t>
                      </a:r>
                      <a:endParaRPr lang="zh-CN" sz="16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79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Times New Roman"/>
                          <a:ea typeface="宋体"/>
                          <a:cs typeface="Times New Roman"/>
                        </a:rPr>
                        <a:t>adrc</a:t>
                      </a:r>
                      <a:endParaRPr lang="zh-CN" sz="16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Times New Roman"/>
                          <a:ea typeface="宋体"/>
                          <a:cs typeface="Times New Roman"/>
                        </a:rPr>
                        <a:t>http://www.baidu.com/adrc.php?t=</a:t>
                      </a:r>
                      <a:r>
                        <a:rPr lang="zh-CN" sz="1600" kern="100">
                          <a:latin typeface="Times New Roman"/>
                          <a:ea typeface="宋体"/>
                          <a:cs typeface="Times New Roman"/>
                        </a:rPr>
                        <a:t>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79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Times New Roman"/>
                          <a:ea typeface="宋体"/>
                          <a:cs typeface="Times New Roman"/>
                        </a:rPr>
                        <a:t>columbus</a:t>
                      </a:r>
                      <a:endParaRPr lang="zh-CN" sz="16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u="none" strike="noStrike" kern="100">
                          <a:solidFill>
                            <a:srgbClr val="0000FF"/>
                          </a:solidFill>
                          <a:latin typeface="Times New Roman"/>
                          <a:ea typeface="宋体"/>
                          <a:cs typeface="Times New Roman"/>
                          <a:hlinkClick r:id="rId2"/>
                        </a:rPr>
                        <a:t>http://www.baidu.com/cb.php?c=...</a:t>
                      </a:r>
                      <a:endParaRPr lang="zh-CN" sz="16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79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Times New Roman"/>
                          <a:ea typeface="宋体"/>
                          <a:cs typeface="Times New Roman"/>
                        </a:rPr>
                        <a:t>DAN</a:t>
                      </a:r>
                      <a:endParaRPr lang="zh-CN" sz="16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Times New Roman"/>
                          <a:ea typeface="宋体"/>
                          <a:cs typeface="Times New Roman"/>
                        </a:rPr>
                        <a:t>http://www.baidu.com/dan.php?c=...</a:t>
                      </a:r>
                      <a:endParaRPr lang="zh-CN" sz="16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2987824" y="1988840"/>
            <a:ext cx="23762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黑体" pitchFamily="49" charset="-122"/>
                <a:cs typeface="Times New Roman" pitchFamily="18" charset="0"/>
              </a:rPr>
              <a:t>表格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黑体" pitchFamily="49" charset="-122"/>
                <a:cs typeface="Times New Roman" pitchFamily="18" charset="0"/>
              </a:rPr>
              <a:t>1 </a:t>
            </a:r>
            <a:r>
              <a:rPr lang="zh-CN" altLang="en-US" dirty="0" smtClean="0">
                <a:latin typeface="Cambria" pitchFamily="18" charset="0"/>
                <a:ea typeface="黑体" pitchFamily="49" charset="-122"/>
                <a:cs typeface="Times New Roman" pitchFamily="18" charset="0"/>
              </a:rPr>
              <a:t>整合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黑体" pitchFamily="49" charset="-122"/>
                <a:cs typeface="Times New Roman" pitchFamily="18" charset="0"/>
              </a:rPr>
              <a:t>URL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黑体" pitchFamily="49" charset="-122"/>
                <a:cs typeface="Times New Roman" pitchFamily="18" charset="0"/>
              </a:rPr>
              <a:t>格式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62071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457200" y="347663"/>
            <a:ext cx="8229600" cy="777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sf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-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rcv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点击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URL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的格式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395536" y="1484784"/>
            <a:ext cx="80626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 err="1" smtClean="0">
                <a:solidFill>
                  <a:srgbClr val="0000FF"/>
                </a:solidFill>
                <a:latin typeface="Times New Roman" pitchFamily="18" charset="0"/>
                <a:cs typeface="Arial" pitchFamily="34" charset="0"/>
              </a:rPr>
              <a:t>Sf</a:t>
            </a:r>
            <a:r>
              <a:rPr lang="zh-CN" altLang="en-US" sz="2400" dirty="0" smtClean="0">
                <a:solidFill>
                  <a:srgbClr val="0000FF"/>
                </a:solidFill>
                <a:latin typeface="Times New Roman" pitchFamily="18" charset="0"/>
                <a:cs typeface="Arial" pitchFamily="34" charset="0"/>
              </a:rPr>
              <a:t>：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Arial" pitchFamily="34" charset="0"/>
              </a:rPr>
              <a:t>http://www.baidu.com/baidu.php?url=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6600"/>
                </a:solidFill>
                <a:effectLst/>
                <a:latin typeface="Times New Roman" pitchFamily="18" charset="0"/>
                <a:ea typeface="宋体" pitchFamily="2" charset="-122"/>
                <a:cs typeface="Arial" pitchFamily="34" charset="0"/>
              </a:rPr>
              <a:t>iii.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00FF"/>
                </a:solidFill>
                <a:effectLst/>
                <a:latin typeface="Times New Roman" pitchFamily="18" charset="0"/>
                <a:ea typeface="宋体" pitchFamily="2" charset="-122"/>
                <a:cs typeface="Arial" pitchFamily="34" charset="0"/>
              </a:rPr>
              <a:t>jjjj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99CC00"/>
                </a:solidFill>
                <a:effectLst/>
                <a:latin typeface="Times New Roman" pitchFamily="18" charset="0"/>
                <a:ea typeface="宋体" pitchFamily="2" charset="-122"/>
                <a:cs typeface="Arial" pitchFamily="34" charset="0"/>
              </a:rPr>
              <a:t>.kkk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Arial" pitchFamily="34" charset="0"/>
              </a:rPr>
              <a:t>.lll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Times New Roman" pitchFamily="18" charset="0"/>
                <a:ea typeface="宋体" pitchFamily="2" charset="-122"/>
                <a:cs typeface="Arial" pitchFamily="34" charset="0"/>
              </a:rPr>
              <a:t>&amp;else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55576" y="2636912"/>
          <a:ext cx="7632848" cy="3390519"/>
        </p:xfrm>
        <a:graphic>
          <a:graphicData uri="http://schemas.openxmlformats.org/drawingml/2006/table">
            <a:tbl>
              <a:tblPr/>
              <a:tblGrid>
                <a:gridCol w="1080120"/>
                <a:gridCol w="1152128"/>
                <a:gridCol w="1368152"/>
                <a:gridCol w="1171698"/>
                <a:gridCol w="2860750"/>
              </a:tblGrid>
              <a:tr h="43204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/>
                          <a:ea typeface="宋体"/>
                          <a:cs typeface="Times New Roman"/>
                        </a:rPr>
                        <a:t>URL</a:t>
                      </a: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成员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平均长度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处理过程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是否必需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备注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6419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前缀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/>
                          <a:ea typeface="宋体"/>
                          <a:cs typeface="Times New Roman"/>
                        </a:rPr>
                        <a:t>25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长度已包含连接符‘</a:t>
                      </a:r>
                      <a:r>
                        <a:rPr lang="en-US" sz="1800" kern="100" dirty="0">
                          <a:latin typeface="Times New Roman"/>
                          <a:ea typeface="宋体"/>
                          <a:cs typeface="Times New Roman"/>
                        </a:rPr>
                        <a:t>.</a:t>
                      </a: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’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19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宋体"/>
                          <a:cs typeface="Times New Roman"/>
                        </a:rPr>
                        <a:t>I</a:t>
                      </a: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/>
                          <a:ea typeface="宋体"/>
                          <a:cs typeface="Times New Roman"/>
                        </a:rPr>
                        <a:t>124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加密、</a:t>
                      </a:r>
                      <a:r>
                        <a:rPr lang="en-US" sz="1800" kern="100">
                          <a:latin typeface="Times New Roman"/>
                          <a:ea typeface="宋体"/>
                          <a:cs typeface="Times New Roman"/>
                        </a:rPr>
                        <a:t>base64</a:t>
                      </a: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编码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主要包含计费信息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19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宋体"/>
                          <a:cs typeface="Times New Roman"/>
                        </a:rPr>
                        <a:t>J</a:t>
                      </a: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/>
                          <a:ea typeface="宋体"/>
                          <a:cs typeface="Times New Roman"/>
                        </a:rPr>
                        <a:t>52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压缩、</a:t>
                      </a:r>
                      <a:r>
                        <a:rPr lang="en-US" sz="1800" kern="100" dirty="0">
                          <a:latin typeface="Times New Roman"/>
                          <a:ea typeface="宋体"/>
                          <a:cs typeface="Times New Roman"/>
                        </a:rPr>
                        <a:t>base64</a:t>
                      </a: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编码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主要包含跳转</a:t>
                      </a:r>
                      <a:r>
                        <a:rPr lang="en-US" sz="1800" kern="100" dirty="0">
                          <a:latin typeface="Times New Roman"/>
                          <a:ea typeface="宋体"/>
                          <a:cs typeface="Times New Roman"/>
                        </a:rPr>
                        <a:t>URL</a:t>
                      </a: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、计费名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2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宋体"/>
                          <a:cs typeface="Times New Roman"/>
                        </a:rPr>
                        <a:t>K</a:t>
                      </a: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宋体"/>
                          <a:cs typeface="Times New Roman"/>
                        </a:rPr>
                        <a:t>38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宋体"/>
                          <a:cs typeface="Times New Roman"/>
                        </a:rPr>
                        <a:t>Base64</a:t>
                      </a: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编码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主要包含检索词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2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其它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/>
                          <a:ea typeface="宋体"/>
                          <a:cs typeface="Times New Roman"/>
                        </a:rPr>
                        <a:t>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其它信息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2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/>
                          <a:ea typeface="宋体"/>
                          <a:cs typeface="Times New Roman"/>
                        </a:rPr>
                        <a:t>总计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宋体"/>
                          <a:cs typeface="Times New Roman"/>
                        </a:rPr>
                        <a:t>239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/>
                          <a:ea typeface="宋体"/>
                          <a:cs typeface="Times New Roman"/>
                        </a:rPr>
                        <a:t>--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/>
                          <a:ea typeface="宋体"/>
                          <a:cs typeface="Times New Roman"/>
                        </a:rPr>
                        <a:t>--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/>
                          <a:ea typeface="宋体"/>
                          <a:cs typeface="Times New Roman"/>
                        </a:rPr>
                        <a:t>--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457200" y="347663"/>
            <a:ext cx="8229600" cy="777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 err="1" smtClean="0">
                <a:latin typeface="+mj-lt"/>
                <a:ea typeface="+mj-ea"/>
                <a:cs typeface="+mj-cs"/>
              </a:rPr>
              <a:t>Sf-rcv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点击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URL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的格式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3528" y="1484784"/>
            <a:ext cx="828092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Char char="l"/>
            </a:pPr>
            <a:r>
              <a:rPr lang="en-US" altLang="zh-CN" sz="2400" dirty="0" err="1" smtClean="0"/>
              <a:t>i</a:t>
            </a:r>
            <a:r>
              <a:rPr lang="zh-CN" altLang="zh-CN" sz="2400" dirty="0" smtClean="0"/>
              <a:t>值包含的信息包括：版本号（值为</a:t>
            </a:r>
            <a:r>
              <a:rPr lang="en-US" altLang="zh-CN" sz="2400" dirty="0" smtClean="0"/>
              <a:t>3</a:t>
            </a:r>
            <a:r>
              <a:rPr lang="zh-CN" altLang="zh-CN" sz="2400" dirty="0" smtClean="0"/>
              <a:t>）、校验码（</a:t>
            </a:r>
            <a:r>
              <a:rPr lang="en-US" altLang="zh-CN" sz="2400" dirty="0" err="1" smtClean="0"/>
              <a:t>check_sum</a:t>
            </a:r>
            <a:r>
              <a:rPr lang="zh-CN" altLang="zh-CN" sz="2400" dirty="0" smtClean="0"/>
              <a:t>）、展现时间（</a:t>
            </a:r>
            <a:r>
              <a:rPr lang="en-US" altLang="zh-CN" sz="2400" dirty="0" err="1" smtClean="0"/>
              <a:t>dtime</a:t>
            </a:r>
            <a:r>
              <a:rPr lang="zh-CN" altLang="zh-CN" sz="2400" dirty="0" smtClean="0"/>
              <a:t>）、关键字</a:t>
            </a:r>
            <a:r>
              <a:rPr lang="en-US" altLang="zh-CN" sz="2400" dirty="0" smtClean="0"/>
              <a:t>ID</a:t>
            </a:r>
            <a:r>
              <a:rPr lang="zh-CN" altLang="zh-CN" sz="2400" dirty="0" smtClean="0"/>
              <a:t>（</a:t>
            </a:r>
            <a:r>
              <a:rPr lang="en-US" altLang="zh-CN" sz="2400" dirty="0" err="1" smtClean="0"/>
              <a:t>winfoid</a:t>
            </a:r>
            <a:r>
              <a:rPr lang="zh-CN" altLang="zh-CN" sz="2400" dirty="0" smtClean="0"/>
              <a:t>）</a:t>
            </a:r>
            <a:r>
              <a:rPr lang="en-US" altLang="zh-CN" sz="2400" dirty="0" smtClean="0"/>
              <a:t>…..</a:t>
            </a:r>
          </a:p>
          <a:p>
            <a:pPr>
              <a:buClr>
                <a:schemeClr val="accent2"/>
              </a:buClr>
              <a:buFont typeface="Wingdings" pitchFamily="2" charset="2"/>
              <a:buChar char="l"/>
            </a:pPr>
            <a:endParaRPr lang="en-US" altLang="zh-CN" sz="2400" dirty="0" smtClean="0"/>
          </a:p>
          <a:p>
            <a:pPr>
              <a:buClr>
                <a:schemeClr val="accent2"/>
              </a:buClr>
              <a:buFont typeface="Wingdings" pitchFamily="2" charset="2"/>
              <a:buChar char="l"/>
            </a:pPr>
            <a:r>
              <a:rPr lang="en-US" altLang="zh-CN" sz="2400" dirty="0" smtClean="0"/>
              <a:t>j</a:t>
            </a:r>
            <a:r>
              <a:rPr lang="zh-CN" altLang="zh-CN" sz="2400" dirty="0" smtClean="0"/>
              <a:t>值包括跳转</a:t>
            </a:r>
            <a:r>
              <a:rPr lang="en-US" altLang="zh-CN" sz="2400" dirty="0" smtClean="0"/>
              <a:t>URL</a:t>
            </a:r>
            <a:r>
              <a:rPr lang="zh-CN" altLang="zh-CN" sz="2400" dirty="0" smtClean="0"/>
              <a:t>（</a:t>
            </a:r>
            <a:r>
              <a:rPr lang="en-US" altLang="zh-CN" sz="2400" dirty="0" smtClean="0"/>
              <a:t>e</a:t>
            </a:r>
            <a:r>
              <a:rPr lang="zh-CN" altLang="zh-CN" sz="2400" dirty="0" smtClean="0"/>
              <a:t>）、计费名（</a:t>
            </a:r>
            <a:r>
              <a:rPr lang="en-US" altLang="zh-CN" sz="2400" dirty="0" smtClean="0"/>
              <a:t>n</a:t>
            </a:r>
            <a:r>
              <a:rPr lang="zh-CN" altLang="zh-CN" sz="2400" dirty="0" smtClean="0"/>
              <a:t>）和</a:t>
            </a:r>
            <a:r>
              <a:rPr lang="en-US" altLang="zh-CN" sz="2400" dirty="0" smtClean="0"/>
              <a:t> CRC</a:t>
            </a:r>
            <a:r>
              <a:rPr lang="zh-CN" altLang="zh-CN" sz="2400" dirty="0" smtClean="0"/>
              <a:t>校验码（</a:t>
            </a:r>
            <a:r>
              <a:rPr lang="en-US" altLang="zh-CN" sz="2400" dirty="0" err="1" smtClean="0"/>
              <a:t>crc</a:t>
            </a:r>
            <a:r>
              <a:rPr lang="zh-CN" altLang="zh-CN" sz="2400" dirty="0" smtClean="0"/>
              <a:t>）</a:t>
            </a:r>
            <a:endParaRPr lang="en-US" altLang="zh-CN" sz="2400" dirty="0" smtClean="0"/>
          </a:p>
          <a:p>
            <a:pPr>
              <a:buClr>
                <a:schemeClr val="accent2"/>
              </a:buClr>
            </a:pPr>
            <a:r>
              <a:rPr lang="en-US" altLang="zh-CN" sz="2400" dirty="0" smtClean="0"/>
              <a:t>  </a:t>
            </a:r>
            <a:r>
              <a:rPr lang="zh-CN" altLang="en-US" sz="2400" dirty="0" smtClean="0"/>
              <a:t>例如：</a:t>
            </a:r>
            <a:r>
              <a:rPr lang="en-US" altLang="zh-CN" sz="2400" dirty="0" smtClean="0"/>
              <a:t>“e=</a:t>
            </a:r>
            <a:r>
              <a:rPr lang="en-US" altLang="zh-CN" sz="2400" dirty="0" err="1" smtClean="0"/>
              <a:t>url</a:t>
            </a:r>
            <a:r>
              <a:rPr lang="en-US" altLang="zh-CN" sz="2400" dirty="0" smtClean="0"/>
              <a:t>\0n=</a:t>
            </a:r>
            <a:r>
              <a:rPr lang="en-US" altLang="zh-CN" sz="2400" dirty="0" err="1" smtClean="0"/>
              <a:t>cntname</a:t>
            </a:r>
            <a:r>
              <a:rPr lang="en-US" altLang="zh-CN" sz="2400" dirty="0" smtClean="0"/>
              <a:t>\0crc=2727\0”</a:t>
            </a:r>
          </a:p>
          <a:p>
            <a:pPr>
              <a:buClr>
                <a:schemeClr val="accent2"/>
              </a:buClr>
              <a:buFont typeface="Wingdings" pitchFamily="2" charset="2"/>
              <a:buChar char="l"/>
            </a:pPr>
            <a:endParaRPr lang="en-US" altLang="zh-CN" sz="2400" dirty="0" smtClean="0"/>
          </a:p>
          <a:p>
            <a:pPr>
              <a:buClr>
                <a:schemeClr val="accent2"/>
              </a:buClr>
              <a:buFont typeface="Wingdings" pitchFamily="2" charset="2"/>
              <a:buChar char="l"/>
            </a:pPr>
            <a:r>
              <a:rPr lang="en-US" altLang="zh-CN" sz="2400" dirty="0" smtClean="0"/>
              <a:t>k</a:t>
            </a:r>
            <a:r>
              <a:rPr lang="zh-CN" altLang="zh-CN" sz="2400" dirty="0" smtClean="0"/>
              <a:t>值的格式定义和</a:t>
            </a:r>
            <a:r>
              <a:rPr lang="en-US" altLang="zh-CN" sz="2400" dirty="0" smtClean="0"/>
              <a:t>j</a:t>
            </a:r>
            <a:r>
              <a:rPr lang="zh-CN" altLang="zh-CN" sz="2400" dirty="0" smtClean="0"/>
              <a:t>值完全相同，但不执行压缩，它包括</a:t>
            </a:r>
            <a:r>
              <a:rPr lang="en-US" altLang="zh-CN" sz="2400" dirty="0" smtClean="0"/>
              <a:t>K</a:t>
            </a:r>
            <a:r>
              <a:rPr lang="zh-CN" altLang="zh-CN" sz="2400" dirty="0" smtClean="0"/>
              <a:t>域的排名（</a:t>
            </a:r>
            <a:r>
              <a:rPr lang="en-US" altLang="zh-CN" sz="2400" dirty="0" smtClean="0"/>
              <a:t>o</a:t>
            </a:r>
            <a:r>
              <a:rPr lang="zh-CN" altLang="zh-CN" sz="2400" dirty="0" smtClean="0"/>
              <a:t>）、检索词（</a:t>
            </a:r>
            <a:r>
              <a:rPr lang="en-US" altLang="zh-CN" sz="2400" dirty="0" smtClean="0"/>
              <a:t>q</a:t>
            </a:r>
            <a:r>
              <a:rPr lang="zh-CN" altLang="zh-CN" sz="2400" dirty="0" smtClean="0"/>
              <a:t>）、</a:t>
            </a:r>
            <a:r>
              <a:rPr lang="en-US" altLang="zh-CN" sz="2400" dirty="0" smtClean="0"/>
              <a:t>CRC</a:t>
            </a:r>
            <a:r>
              <a:rPr lang="zh-CN" altLang="zh-CN" sz="2400" dirty="0" smtClean="0"/>
              <a:t>校验码（</a:t>
            </a:r>
            <a:r>
              <a:rPr lang="en-US" altLang="zh-CN" sz="2400" dirty="0" err="1" smtClean="0"/>
              <a:t>crc</a:t>
            </a:r>
            <a:r>
              <a:rPr lang="zh-CN" altLang="zh-CN" sz="2400" dirty="0" smtClean="0"/>
              <a:t>）及其它一些系统定义的参数</a:t>
            </a:r>
            <a:endParaRPr lang="en-US" altLang="zh-CN" sz="2400" dirty="0" smtClean="0"/>
          </a:p>
          <a:p>
            <a:pPr>
              <a:buClr>
                <a:schemeClr val="accent2"/>
              </a:buClr>
            </a:pPr>
            <a:r>
              <a:rPr lang="en-US" altLang="zh-CN" sz="2400" dirty="0" smtClean="0"/>
              <a:t>  </a:t>
            </a:r>
            <a:r>
              <a:rPr lang="zh-CN" altLang="en-US" sz="2400" dirty="0" smtClean="0"/>
              <a:t>例如：</a:t>
            </a:r>
            <a:r>
              <a:rPr lang="en-US" altLang="zh-CN" sz="2400" dirty="0" smtClean="0"/>
              <a:t>o=2\0q=query\0crc=2727\0</a:t>
            </a:r>
            <a:endParaRPr lang="zh-CN" altLang="en-US" sz="2400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1340768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Char char="l"/>
            </a:pPr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值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395536" y="5469031"/>
            <a:ext cx="645881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l"/>
              <a:tabLst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值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q=abdc123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’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\0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’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n=baidu01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’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\0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’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e=www.tom.com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’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\0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s= fb2a2a87d25e9ab6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’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\0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’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u=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dfsf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’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\0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’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a=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’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\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’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crc=12345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457200" y="347663"/>
            <a:ext cx="8229600" cy="777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noProof="0" dirty="0" err="1" smtClean="0">
                <a:latin typeface="+mj-lt"/>
                <a:ea typeface="+mj-ea"/>
                <a:cs typeface="+mj-cs"/>
              </a:rPr>
              <a:t>adrcv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点击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URL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的格式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87" y="980728"/>
            <a:ext cx="5076825" cy="481012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click</a:t>
            </a:r>
            <a:r>
              <a:rPr lang="zh-CN" altLang="en-US" dirty="0" smtClean="0"/>
              <a:t>日志和</a:t>
            </a:r>
            <a:r>
              <a:rPr lang="en-US" altLang="zh-CN" dirty="0" smtClean="0"/>
              <a:t>skip</a:t>
            </a:r>
            <a:r>
              <a:rPr lang="zh-CN" altLang="en-US" dirty="0" smtClean="0"/>
              <a:t>日志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统一日志的名称：</a:t>
            </a:r>
          </a:p>
          <a:p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click. $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YYYY$mm$dd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-$HH{00,15,30,45}.log    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正常点击日志。</a:t>
            </a:r>
          </a:p>
          <a:p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skip. $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YYYY$mm$dd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-$HH{00,15,30,45}.log     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错误跳转日志</a:t>
            </a:r>
          </a:p>
          <a:p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分割方式，以上日志按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15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分钟进行切割，并且存放到按天的目录中。（不产生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md5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）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zh-CN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新加入的产品线，按照</a:t>
            </a:r>
            <a:r>
              <a:rPr lang="en-US" altLang="zh-CN" dirty="0" err="1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sf</a:t>
            </a:r>
            <a:r>
              <a:rPr lang="zh-CN" altLang="zh-CN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</a:t>
            </a:r>
            <a:r>
              <a:rPr lang="zh-CN" altLang="en-US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日志</a:t>
            </a:r>
            <a:r>
              <a:rPr lang="zh-CN" altLang="zh-CN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格式输出</a:t>
            </a:r>
            <a:r>
              <a:rPr lang="zh-CN" altLang="en-US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。不同产品线根据需求，从标准格式日志中获取其相应的字段。</a:t>
            </a:r>
            <a:endParaRPr lang="zh-CN" altLang="zh-CN" dirty="0" smtClean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endParaRPr lang="zh-CN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Click</a:t>
            </a:r>
            <a:r>
              <a:rPr lang="zh-CN" altLang="en-US" dirty="0" smtClean="0"/>
              <a:t>日志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>
                <a:latin typeface="宋体" pitchFamily="2" charset="-122"/>
                <a:ea typeface="宋体" pitchFamily="2" charset="-122"/>
              </a:rPr>
              <a:t>当前</a:t>
            </a:r>
            <a:r>
              <a:rPr lang="en-US" altLang="zh-CN" b="1" dirty="0" smtClean="0">
                <a:latin typeface="宋体" pitchFamily="2" charset="-122"/>
                <a:ea typeface="宋体" pitchFamily="2" charset="-122"/>
              </a:rPr>
              <a:t>click</a:t>
            </a:r>
            <a:r>
              <a:rPr lang="zh-CN" altLang="en-US" b="1" dirty="0" smtClean="0">
                <a:latin typeface="宋体" pitchFamily="2" charset="-122"/>
                <a:ea typeface="宋体" pitchFamily="2" charset="-122"/>
              </a:rPr>
              <a:t>日志包含</a:t>
            </a:r>
            <a:r>
              <a:rPr lang="en-US" altLang="zh-CN" b="1" dirty="0" smtClean="0">
                <a:latin typeface="宋体" pitchFamily="2" charset="-122"/>
                <a:ea typeface="宋体" pitchFamily="2" charset="-122"/>
              </a:rPr>
              <a:t>44</a:t>
            </a:r>
            <a:r>
              <a:rPr lang="zh-CN" altLang="en-US" b="1" dirty="0" smtClean="0">
                <a:latin typeface="宋体" pitchFamily="2" charset="-122"/>
                <a:ea typeface="宋体" pitchFamily="2" charset="-122"/>
              </a:rPr>
              <a:t>个字段，</a:t>
            </a:r>
            <a:r>
              <a:rPr lang="en-US" altLang="zh-CN" b="1" dirty="0" err="1" smtClean="0">
                <a:latin typeface="宋体" pitchFamily="2" charset="-122"/>
                <a:ea typeface="宋体" pitchFamily="2" charset="-122"/>
              </a:rPr>
              <a:t>click_type</a:t>
            </a:r>
            <a:r>
              <a:rPr lang="zh-CN" altLang="en-US" b="1" dirty="0" smtClean="0">
                <a:latin typeface="宋体" pitchFamily="2" charset="-122"/>
                <a:ea typeface="宋体" pitchFamily="2" charset="-122"/>
              </a:rPr>
              <a:t>区分不同产品线</a:t>
            </a:r>
            <a:endParaRPr lang="en-US" altLang="zh-CN" b="1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Version,Rtime,Dtime,Winfoid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，</a:t>
            </a: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Descid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…</a:t>
            </a:r>
          </a:p>
          <a:p>
            <a:r>
              <a:rPr lang="en-US" altLang="zh-CN" b="1" dirty="0" smtClean="0">
                <a:latin typeface="宋体" pitchFamily="2" charset="-122"/>
                <a:ea typeface="宋体" pitchFamily="2" charset="-122"/>
              </a:rPr>
              <a:t>Click</a:t>
            </a:r>
            <a:r>
              <a:rPr lang="zh-CN" altLang="en-US" b="1" dirty="0" smtClean="0">
                <a:latin typeface="宋体" pitchFamily="2" charset="-122"/>
                <a:ea typeface="宋体" pitchFamily="2" charset="-122"/>
              </a:rPr>
              <a:t>日志字段获取途径</a:t>
            </a:r>
            <a:endParaRPr lang="en-US" altLang="zh-CN" b="1" dirty="0" smtClean="0">
              <a:latin typeface="宋体" pitchFamily="2" charset="-122"/>
              <a:ea typeface="宋体" pitchFamily="2" charset="-122"/>
            </a:endParaRPr>
          </a:p>
          <a:p>
            <a:pPr>
              <a:buFont typeface="Verdana" pitchFamily="34" charset="0"/>
              <a:buChar char="−"/>
            </a:pP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从点击</a:t>
            </a: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url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的</a:t>
            </a: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I,j,k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域解析获得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如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version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，</a:t>
            </a: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price,winfoid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等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  <a:p>
            <a:pPr>
              <a:buFont typeface="Verdana" pitchFamily="34" charset="0"/>
              <a:buChar char="−"/>
            </a:pP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解析处理生成，如点击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id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等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  <a:p>
            <a:pPr>
              <a:buFont typeface="Verdana" pitchFamily="34" charset="0"/>
              <a:buChar char="−"/>
            </a:pP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验证判断标记字段，如</a:t>
            </a: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clicktype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，</a:t>
            </a: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statflag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等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  <a:p>
            <a:pPr>
              <a:buFont typeface="Verdana" pitchFamily="34" charset="0"/>
              <a:buChar char="−"/>
            </a:pP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从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http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请求头获得，如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refer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，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user-agent</a:t>
            </a:r>
          </a:p>
          <a:p>
            <a:pPr>
              <a:buFont typeface="Verdana" pitchFamily="34" charset="0"/>
              <a:buChar char="−"/>
            </a:pP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无线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URL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解析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Skip</a:t>
            </a:r>
            <a:r>
              <a:rPr lang="zh-CN" altLang="en-US" dirty="0" smtClean="0"/>
              <a:t>日志格式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70038"/>
            <a:ext cx="8229600" cy="4739282"/>
          </a:xfrm>
        </p:spPr>
        <p:txBody>
          <a:bodyPr/>
          <a:lstStyle/>
          <a:p>
            <a:r>
              <a:rPr lang="en-US" altLang="zh-CN" b="1" dirty="0" smtClean="0">
                <a:latin typeface="宋体" pitchFamily="2" charset="-122"/>
                <a:ea typeface="宋体" pitchFamily="2" charset="-122"/>
              </a:rPr>
              <a:t>Skip</a:t>
            </a:r>
            <a:r>
              <a:rPr lang="zh-CN" altLang="zh-CN" b="1" dirty="0" smtClean="0">
                <a:latin typeface="宋体" pitchFamily="2" charset="-122"/>
                <a:ea typeface="宋体" pitchFamily="2" charset="-122"/>
              </a:rPr>
              <a:t>日志格式：（</a:t>
            </a:r>
            <a:r>
              <a:rPr lang="en-US" altLang="zh-CN" b="1" dirty="0" smtClean="0">
                <a:latin typeface="宋体" pitchFamily="2" charset="-122"/>
                <a:ea typeface="宋体" pitchFamily="2" charset="-122"/>
              </a:rPr>
              <a:t>\t</a:t>
            </a:r>
            <a:r>
              <a:rPr lang="zh-CN" altLang="zh-CN" b="1" dirty="0" smtClean="0">
                <a:latin typeface="宋体" pitchFamily="2" charset="-122"/>
                <a:ea typeface="宋体" pitchFamily="2" charset="-122"/>
              </a:rPr>
              <a:t>为分隔符）</a:t>
            </a:r>
          </a:p>
          <a:p>
            <a:pPr>
              <a:buNone/>
            </a:pP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  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时间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\t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跳转原因（错误码）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\tip\t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请求串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\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turl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（如果能正确解码出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url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，则含此字段）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pPr lvl="0"/>
            <a:r>
              <a:rPr lang="en-US" altLang="zh-CN" b="1" dirty="0" err="1" smtClean="0">
                <a:latin typeface="宋体" pitchFamily="2" charset="-122"/>
                <a:ea typeface="宋体" pitchFamily="2" charset="-122"/>
              </a:rPr>
              <a:t>sf-rcv</a:t>
            </a:r>
            <a:r>
              <a:rPr lang="zh-CN" altLang="zh-CN" b="1" dirty="0" smtClean="0">
                <a:latin typeface="宋体" pitchFamily="2" charset="-122"/>
                <a:ea typeface="宋体" pitchFamily="2" charset="-122"/>
              </a:rPr>
              <a:t>错误码：</a:t>
            </a:r>
            <a:endParaRPr lang="zh-CN" altLang="zh-CN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  "SF_ARGS_NULL"		// </a:t>
            </a: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url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参数为空</a:t>
            </a:r>
          </a:p>
          <a:p>
            <a:pPr>
              <a:buNone/>
            </a:pP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  "SF_I_DEC_ERR"	          // I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域解码错误</a:t>
            </a:r>
          </a:p>
          <a:p>
            <a:pPr>
              <a:buNone/>
            </a:pP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  "SF_I_CHKSUM_ERR“        // I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域校验错误</a:t>
            </a:r>
          </a:p>
          <a:p>
            <a:pPr>
              <a:buNone/>
            </a:pP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   ….								</a:t>
            </a:r>
            <a:endParaRPr lang="zh-CN" altLang="zh-CN" sz="20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endParaRPr lang="zh-CN" altLang="zh-CN" dirty="0" smtClean="0">
              <a:latin typeface="宋体" pitchFamily="2" charset="-122"/>
              <a:ea typeface="宋体" pitchFamily="2" charset="-122"/>
            </a:endParaRPr>
          </a:p>
          <a:p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sf-rcv</a:t>
            </a:r>
            <a:r>
              <a:rPr lang="zh-CN" altLang="en-US" dirty="0" smtClean="0"/>
              <a:t>模块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968552"/>
          </a:xfrm>
        </p:spPr>
        <p:txBody>
          <a:bodyPr/>
          <a:lstStyle/>
          <a:p>
            <a:r>
              <a:rPr lang="en-US" altLang="zh-CN" b="1" dirty="0" smtClean="0"/>
              <a:t>sfrcv-key</a:t>
            </a:r>
          </a:p>
          <a:p>
            <a:pPr lvl="1"/>
            <a:r>
              <a:rPr lang="zh-CN" altLang="zh-CN" b="0" dirty="0" smtClean="0"/>
              <a:t>基于</a:t>
            </a:r>
            <a:r>
              <a:rPr lang="en-US" altLang="zh-CN" b="0" dirty="0" err="1" smtClean="0"/>
              <a:t>libsfenc</a:t>
            </a:r>
            <a:r>
              <a:rPr lang="zh-CN" altLang="zh-CN" b="0" dirty="0" smtClean="0"/>
              <a:t>库，接收来</a:t>
            </a:r>
            <a:r>
              <a:rPr lang="zh-CN" altLang="en-US" b="0" dirty="0" smtClean="0"/>
              <a:t>自</a:t>
            </a:r>
            <a:r>
              <a:rPr lang="en-US" altLang="zh-CN" b="0" dirty="0" err="1" smtClean="0"/>
              <a:t>sfenc</a:t>
            </a:r>
            <a:r>
              <a:rPr lang="en-US" altLang="zh-CN" b="0" dirty="0" smtClean="0"/>
              <a:t> center</a:t>
            </a:r>
            <a:r>
              <a:rPr lang="zh-CN" altLang="zh-CN" b="0" dirty="0" smtClean="0"/>
              <a:t>的密钥，并开辟一段共享内容，将密钥存放在共享内存中。</a:t>
            </a:r>
            <a:endParaRPr lang="en-US" altLang="zh-CN" b="0" dirty="0" smtClean="0"/>
          </a:p>
          <a:p>
            <a:r>
              <a:rPr lang="en-US" altLang="zh-CN" b="1" dirty="0" err="1" smtClean="0"/>
              <a:t>sfrcv-chnl</a:t>
            </a:r>
            <a:endParaRPr lang="en-US" altLang="zh-CN" b="1" dirty="0" smtClean="0"/>
          </a:p>
          <a:p>
            <a:pPr lvl="1"/>
            <a:r>
              <a:rPr lang="zh-CN" altLang="zh-CN" b="0" dirty="0" smtClean="0"/>
              <a:t>抓取标识文件：定期从</a:t>
            </a:r>
            <a:r>
              <a:rPr lang="en-US" altLang="zh-CN" b="0" dirty="0" err="1" smtClean="0"/>
              <a:t>holmes</a:t>
            </a:r>
            <a:r>
              <a:rPr lang="zh-CN" altLang="zh-CN" b="0" dirty="0" smtClean="0"/>
              <a:t>前端下载标识</a:t>
            </a:r>
            <a:r>
              <a:rPr lang="zh-CN" altLang="en-US" b="0" dirty="0" smtClean="0"/>
              <a:t>用户</a:t>
            </a:r>
            <a:r>
              <a:rPr lang="en-US" altLang="zh-CN" b="0" dirty="0" err="1" smtClean="0"/>
              <a:t>clkid</a:t>
            </a:r>
            <a:r>
              <a:rPr lang="zh-CN" altLang="en-US" b="0" dirty="0" smtClean="0"/>
              <a:t>传送方式的</a:t>
            </a:r>
            <a:r>
              <a:rPr lang="zh-CN" altLang="zh-CN" b="0" dirty="0" smtClean="0"/>
              <a:t>文件，并更新本地的标识文件</a:t>
            </a:r>
            <a:r>
              <a:rPr lang="en-US" altLang="zh-CN" b="0" dirty="0" smtClean="0"/>
              <a:t>; </a:t>
            </a:r>
            <a:r>
              <a:rPr lang="zh-CN" altLang="zh-CN" b="0" dirty="0" smtClean="0"/>
              <a:t>共享内存管理</a:t>
            </a:r>
            <a:r>
              <a:rPr lang="zh-CN" altLang="en-US" b="0" dirty="0" smtClean="0"/>
              <a:t>，</a:t>
            </a:r>
            <a:r>
              <a:rPr lang="zh-CN" altLang="zh-CN" b="0" dirty="0" smtClean="0"/>
              <a:t>共享内存块使用类似双</a:t>
            </a:r>
            <a:r>
              <a:rPr lang="en-US" altLang="zh-CN" b="0" dirty="0" smtClean="0"/>
              <a:t>buffer</a:t>
            </a:r>
            <a:r>
              <a:rPr lang="zh-CN" altLang="zh-CN" b="0" dirty="0" smtClean="0"/>
              <a:t>缓存的方式，进行切换</a:t>
            </a:r>
            <a:r>
              <a:rPr lang="zh-CN" altLang="en-US" b="0" dirty="0" smtClean="0"/>
              <a:t>。</a:t>
            </a:r>
            <a:endParaRPr lang="en-US" altLang="zh-CN" b="0" dirty="0" smtClean="0"/>
          </a:p>
          <a:p>
            <a:pPr lvl="1">
              <a:buNone/>
            </a:pPr>
            <a:endParaRPr lang="en-US" altLang="zh-CN" b="0" dirty="0" smtClean="0"/>
          </a:p>
          <a:p>
            <a:pPr lvl="1">
              <a:buNone/>
            </a:pPr>
            <a:endParaRPr lang="en-US" altLang="zh-CN" b="0" dirty="0" smtClean="0"/>
          </a:p>
          <a:p>
            <a:pPr lvl="1"/>
            <a:endParaRPr lang="en-US" altLang="zh-CN" b="0" dirty="0"/>
          </a:p>
          <a:p>
            <a:pPr marL="457200" lvl="1" indent="0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9903928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sf-rcv</a:t>
            </a:r>
            <a:r>
              <a:rPr lang="zh-CN" altLang="en-US" dirty="0" smtClean="0"/>
              <a:t>模块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620688"/>
            <a:ext cx="6524237" cy="605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1319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点击</a:t>
            </a:r>
            <a:r>
              <a:rPr lang="en-US" altLang="zh-CN" dirty="0" smtClean="0"/>
              <a:t>ID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>
                <a:latin typeface="宋体" pitchFamily="2" charset="-122"/>
                <a:ea typeface="宋体" pitchFamily="2" charset="-122"/>
              </a:rPr>
              <a:t>背景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：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为了统计从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rcv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成功跳转到客户网站的点击，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rcv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在接收到参与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holmes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客户的点击后，根据该点击的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kid (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广告的唯一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id)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、点击时间、点击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ip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等信息，生成一个点击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id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，然后以设置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cookie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或跳转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url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参数的形式传递给客户的网页服务器。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b="1" dirty="0" smtClean="0">
                <a:latin typeface="宋体" pitchFamily="2" charset="-122"/>
                <a:ea typeface="宋体" pitchFamily="2" charset="-122"/>
              </a:rPr>
              <a:t>点击</a:t>
            </a:r>
            <a:r>
              <a:rPr lang="en-US" altLang="zh-CN" b="1" dirty="0" smtClean="0">
                <a:latin typeface="宋体" pitchFamily="2" charset="-122"/>
                <a:ea typeface="宋体" pitchFamily="2" charset="-122"/>
              </a:rPr>
              <a:t>ID</a:t>
            </a:r>
            <a:r>
              <a:rPr lang="zh-CN" altLang="en-US" b="1" dirty="0" smtClean="0">
                <a:latin typeface="宋体" pitchFamily="2" charset="-122"/>
                <a:ea typeface="宋体" pitchFamily="2" charset="-122"/>
              </a:rPr>
              <a:t>格式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：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点击时间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+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kwid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+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点击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ip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+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目标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url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签名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等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b="1" dirty="0" smtClean="0">
                <a:latin typeface="宋体" pitchFamily="2" charset="-122"/>
                <a:ea typeface="宋体" pitchFamily="2" charset="-122"/>
              </a:rPr>
              <a:t>Cookie</a:t>
            </a:r>
            <a:r>
              <a:rPr lang="zh-CN" altLang="en-US" b="1" dirty="0" smtClean="0">
                <a:latin typeface="宋体" pitchFamily="2" charset="-122"/>
                <a:ea typeface="宋体" pitchFamily="2" charset="-122"/>
              </a:rPr>
              <a:t>生成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：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H_BDCLCKID_SF</a:t>
            </a:r>
          </a:p>
          <a:p>
            <a:pPr>
              <a:buNone/>
            </a:pP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点击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id+userid+domain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 cookie</a:t>
            </a:r>
          </a:p>
          <a:p>
            <a:endParaRPr lang="zh-CN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点击</a:t>
            </a:r>
            <a:r>
              <a:rPr lang="en-US" altLang="zh-CN" dirty="0" smtClean="0"/>
              <a:t>ID</a:t>
            </a:r>
            <a:endParaRPr lang="zh-CN" altLang="en-US" dirty="0"/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1619672" y="1124744"/>
          <a:ext cx="5381625" cy="484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5" name="Visio" r:id="rId3" imgW="3060320" imgH="2711213" progId="Visio.Drawing.11">
                  <p:embed/>
                </p:oleObj>
              </mc:Choice>
              <mc:Fallback>
                <p:oleObj name="Visio" r:id="rId3" imgW="3060320" imgH="2711213" progId="Visio.Drawing.11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124744"/>
                        <a:ext cx="5381625" cy="4848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二跳原理和作用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>
                <a:latin typeface="宋体" pitchFamily="2" charset="-122"/>
                <a:ea typeface="宋体" pitchFamily="2" charset="-122"/>
              </a:rPr>
              <a:t>背景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：二跳是在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</a:rPr>
              <a:t>url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前增加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sc_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参数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让浏览器跳转到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  <a:hlinkClick r:id="rId2"/>
              </a:rPr>
              <a:t>www.baidu.com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  <a:hlinkClick r:id="rId2"/>
              </a:rPr>
              <a:t>/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  <a:hlinkClick r:id="rId2"/>
              </a:rPr>
              <a:t>baidu.php?url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  <a:hlinkClick r:id="rId2"/>
              </a:rPr>
              <a:t>=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  <a:hlinkClick r:id="rId2"/>
              </a:rPr>
              <a:t>sc</a:t>
            </a:r>
            <a:r>
              <a:rPr lang="en-US" altLang="zh-CN" dirty="0" err="1">
                <a:latin typeface="宋体" pitchFamily="2" charset="-122"/>
                <a:ea typeface="宋体" pitchFamily="2" charset="-122"/>
                <a:hlinkClick r:id="rId2"/>
              </a:rPr>
              <a:t>.</a:t>
            </a:r>
            <a:r>
              <a:rPr lang="en-US" altLang="zh-CN" dirty="0" err="1" smtClean="0">
                <a:latin typeface="宋体" pitchFamily="2" charset="-122"/>
                <a:ea typeface="宋体" pitchFamily="2" charset="-122"/>
                <a:hlinkClick r:id="rId2"/>
              </a:rPr>
              <a:t>XXX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的过程。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b="1" dirty="0" smtClean="0">
                <a:latin typeface="宋体" pitchFamily="2" charset="-122"/>
                <a:ea typeface="宋体" pitchFamily="2" charset="-122"/>
              </a:rPr>
              <a:t>二跳条件</a:t>
            </a:r>
            <a:endParaRPr lang="en-US" altLang="zh-CN" b="1" dirty="0" smtClean="0">
              <a:latin typeface="宋体" pitchFamily="2" charset="-122"/>
              <a:ea typeface="宋体" pitchFamily="2" charset="-122"/>
            </a:endParaRPr>
          </a:p>
          <a:p>
            <a:pPr>
              <a:buFont typeface="Verdana" pitchFamily="34" charset="0"/>
              <a:buChar char="−"/>
            </a:pP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     </a:t>
            </a: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cmatch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是否允许二跳；是否已经是二跳；</a:t>
            </a: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shifen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 cookie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是否为空，是否为旧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cookie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b="1" dirty="0" smtClean="0">
                <a:latin typeface="宋体" pitchFamily="2" charset="-122"/>
                <a:ea typeface="宋体" pitchFamily="2" charset="-122"/>
              </a:rPr>
              <a:t>二跳的作用：增加作弊者难度</a:t>
            </a:r>
            <a:endParaRPr lang="en-US" altLang="zh-CN" b="1" dirty="0" smtClean="0">
              <a:latin typeface="宋体" pitchFamily="2" charset="-122"/>
              <a:ea typeface="宋体" pitchFamily="2" charset="-122"/>
            </a:endParaRPr>
          </a:p>
          <a:p>
            <a:pPr>
              <a:buFont typeface="Verdana" pitchFamily="34" charset="0"/>
              <a:buChar char="−"/>
            </a:pP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  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 增加作弊难度，作弊者需处理跳转和设置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cookie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。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  <a:p>
            <a:pPr>
              <a:buFont typeface="Verdana" pitchFamily="34" charset="0"/>
              <a:buChar char="−"/>
            </a:pP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   对无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cookie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和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cookie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过久的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cookie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，种新的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cookie</a:t>
            </a:r>
          </a:p>
          <a:p>
            <a:pPr>
              <a:buNone/>
            </a:pP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如果二跳后，仍然是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no cookie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，则设置</a:t>
            </a: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clickType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为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no cookie</a:t>
            </a:r>
            <a:endParaRPr lang="zh-CN" altLang="en-US" sz="20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Sf-rcv</a:t>
            </a:r>
            <a:r>
              <a:rPr lang="zh-CN" altLang="en-US" dirty="0" smtClean="0"/>
              <a:t>反作弊相关策略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nocookie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：该类点击的特征为：</a:t>
            </a: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url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标识为二跳，但是没有</a:t>
            </a:r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shifen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[kid]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的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cookie</a:t>
            </a:r>
            <a:endParaRPr lang="zh-CN" altLang="zh-CN" sz="2000" dirty="0" smtClean="0">
              <a:latin typeface="宋体" pitchFamily="2" charset="-122"/>
              <a:ea typeface="宋体" pitchFamily="2" charset="-122"/>
            </a:endParaRPr>
          </a:p>
          <a:p>
            <a:pPr lvl="0"/>
            <a:r>
              <a:rPr lang="en-US" altLang="zh-CN" sz="2000" dirty="0" err="1" smtClean="0">
                <a:latin typeface="宋体" pitchFamily="2" charset="-122"/>
                <a:ea typeface="宋体" pitchFamily="2" charset="-122"/>
              </a:rPr>
              <a:t>dupclick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：该类点击为：用户在点击同一个广告时，本次点击和上次点击值差在（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5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，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900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）秒之间</a:t>
            </a:r>
          </a:p>
          <a:p>
            <a:pPr lvl="0"/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首次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refer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：目的是为了识别那些被联盟劫持的百度流量。读取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PSUI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写入的首次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refer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的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cookie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，解码后，将首次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refer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的信息写入点击日志中，为后续的过滤模块提供信息。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  <a:p>
            <a:pPr lvl="0"/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  <a:p>
            <a:pPr lvl="0">
              <a:buNone/>
            </a:pPr>
            <a:r>
              <a:rPr lang="en-US" altLang="zh-CN" sz="2000" b="1" dirty="0" err="1" smtClean="0">
                <a:latin typeface="宋体" pitchFamily="2" charset="-122"/>
                <a:ea typeface="宋体" pitchFamily="2" charset="-122"/>
              </a:rPr>
              <a:t>PS:mac-unmatch</a:t>
            </a:r>
            <a:r>
              <a:rPr lang="en-US" altLang="zh-CN" sz="2000" b="1" dirty="0" smtClean="0">
                <a:latin typeface="宋体" pitchFamily="2" charset="-122"/>
                <a:ea typeface="宋体" pitchFamily="2" charset="-122"/>
              </a:rPr>
              <a:t> ,Refer</a:t>
            </a:r>
            <a:r>
              <a:rPr lang="zh-CN" altLang="en-US" sz="2000" b="1" dirty="0" smtClean="0">
                <a:latin typeface="宋体" pitchFamily="2" charset="-122"/>
                <a:ea typeface="宋体" pitchFamily="2" charset="-122"/>
              </a:rPr>
              <a:t>异常，</a:t>
            </a:r>
            <a:r>
              <a:rPr lang="en-US" altLang="zh-CN" sz="2000" b="1" dirty="0" smtClean="0">
                <a:latin typeface="宋体" pitchFamily="2" charset="-122"/>
                <a:ea typeface="宋体" pitchFamily="2" charset="-122"/>
              </a:rPr>
              <a:t>Ck</a:t>
            </a:r>
            <a:r>
              <a:rPr lang="zh-CN" altLang="en-US" sz="2000" b="1" dirty="0" smtClean="0">
                <a:latin typeface="宋体" pitchFamily="2" charset="-122"/>
                <a:ea typeface="宋体" pitchFamily="2" charset="-122"/>
              </a:rPr>
              <a:t>域，</a:t>
            </a:r>
            <a:r>
              <a:rPr lang="en-US" altLang="zh-CN" sz="2000" b="1" dirty="0" smtClean="0">
                <a:latin typeface="宋体" pitchFamily="2" charset="-122"/>
                <a:ea typeface="宋体" pitchFamily="2" charset="-122"/>
              </a:rPr>
              <a:t>cookie</a:t>
            </a:r>
            <a:r>
              <a:rPr lang="zh-CN" altLang="en-US" sz="2000" b="1" dirty="0" smtClean="0">
                <a:latin typeface="宋体" pitchFamily="2" charset="-122"/>
                <a:ea typeface="宋体" pitchFamily="2" charset="-122"/>
              </a:rPr>
              <a:t>异常，无</a:t>
            </a:r>
            <a:r>
              <a:rPr lang="en-US" altLang="zh-CN" sz="2000" b="1" dirty="0" smtClean="0">
                <a:latin typeface="宋体" pitchFamily="2" charset="-122"/>
                <a:ea typeface="宋体" pitchFamily="2" charset="-122"/>
              </a:rPr>
              <a:t>BAIDUUID,BAIDUUID</a:t>
            </a:r>
            <a:r>
              <a:rPr lang="zh-CN" altLang="en-US" sz="2000" b="1" dirty="0" smtClean="0">
                <a:latin typeface="宋体" pitchFamily="2" charset="-122"/>
                <a:ea typeface="宋体" pitchFamily="2" charset="-122"/>
              </a:rPr>
              <a:t>新鲜度，</a:t>
            </a:r>
            <a:r>
              <a:rPr lang="en-US" altLang="zh-CN" sz="2000" b="1" dirty="0" err="1" smtClean="0">
                <a:latin typeface="宋体" pitchFamily="2" charset="-122"/>
                <a:ea typeface="宋体" pitchFamily="2" charset="-122"/>
              </a:rPr>
              <a:t>shifen</a:t>
            </a:r>
            <a:r>
              <a:rPr lang="en-US" altLang="zh-CN" sz="2000" b="1" dirty="0" smtClean="0">
                <a:latin typeface="宋体" pitchFamily="2" charset="-122"/>
                <a:ea typeface="宋体" pitchFamily="2" charset="-122"/>
              </a:rPr>
              <a:t> cookie</a:t>
            </a:r>
            <a:r>
              <a:rPr lang="zh-CN" altLang="en-US" sz="2000" b="1" dirty="0" smtClean="0">
                <a:latin typeface="宋体" pitchFamily="2" charset="-122"/>
                <a:ea typeface="宋体" pitchFamily="2" charset="-122"/>
              </a:rPr>
              <a:t>个数异常</a:t>
            </a:r>
            <a:r>
              <a:rPr lang="en-US" altLang="zh-CN" sz="2000" b="1" dirty="0" smtClean="0">
                <a:latin typeface="宋体" pitchFamily="2" charset="-122"/>
                <a:ea typeface="宋体" pitchFamily="2" charset="-122"/>
              </a:rPr>
              <a:t>….</a:t>
            </a:r>
            <a:endParaRPr lang="zh-CN" altLang="zh-CN" sz="2000" b="1" dirty="0" smtClean="0">
              <a:latin typeface="宋体" pitchFamily="2" charset="-122"/>
              <a:ea typeface="宋体" pitchFamily="2" charset="-122"/>
            </a:endParaRPr>
          </a:p>
          <a:p>
            <a:endParaRPr lang="zh-CN" altLang="en-US" sz="20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反作弊相关：</a:t>
            </a:r>
            <a:r>
              <a:rPr lang="en-US" altLang="zh-CN" dirty="0" smtClean="0"/>
              <a:t>click type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statflag</a:t>
            </a:r>
            <a:r>
              <a:rPr lang="zh-CN" altLang="en-US" dirty="0" smtClean="0"/>
              <a:t>字段</a:t>
            </a:r>
            <a:endParaRPr lang="zh-CN" altLang="en-US" dirty="0"/>
          </a:p>
        </p:txBody>
      </p:sp>
      <p:pic>
        <p:nvPicPr>
          <p:cNvPr id="1032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19" y="1484784"/>
            <a:ext cx="4752527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69" name="Rectangle 1"/>
          <p:cNvSpPr>
            <a:spLocks noChangeArrowheads="1"/>
          </p:cNvSpPr>
          <p:nvPr/>
        </p:nvSpPr>
        <p:spPr bwMode="auto">
          <a:xfrm>
            <a:off x="4355976" y="1181363"/>
            <a:ext cx="403244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黑体" pitchFamily="49" charset="-122"/>
                <a:cs typeface="Times New Roman" pitchFamily="18" charset="0"/>
              </a:rPr>
              <a:t>表格 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黑体" pitchFamily="49" charset="-122"/>
                <a:cs typeface="Times New Roman" pitchFamily="18" charset="0"/>
              </a:rPr>
              <a:t>4 </a:t>
            </a:r>
            <a:r>
              <a:rPr kumimoji="0" lang="en-US" altLang="zh-CN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黑体" pitchFamily="49" charset="-122"/>
                <a:cs typeface="Times New Roman" pitchFamily="18" charset="0"/>
              </a:rPr>
              <a:t>statflag</a:t>
            </a:r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03648" y="1196752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Cambria" pitchFamily="18" charset="0"/>
                <a:ea typeface="黑体" pitchFamily="49" charset="-122"/>
                <a:cs typeface="Times New Roman" pitchFamily="18" charset="0"/>
              </a:rPr>
              <a:t>表</a:t>
            </a:r>
            <a:r>
              <a:rPr lang="en-US" altLang="zh-CN" sz="1200" dirty="0" err="1" smtClean="0">
                <a:latin typeface="Cambria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en-US" altLang="zh-CN" sz="1200" dirty="0" smtClean="0">
                <a:latin typeface="Cambria" pitchFamily="18" charset="0"/>
                <a:ea typeface="黑体" pitchFamily="49" charset="-122"/>
                <a:cs typeface="Times New Roman" pitchFamily="18" charset="0"/>
              </a:rPr>
              <a:t> Click type</a:t>
            </a:r>
            <a:endParaRPr lang="zh-CN" altLang="en-US" sz="1200" dirty="0" smtClean="0">
              <a:latin typeface="Cambria" pitchFamily="18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498030"/>
            <a:ext cx="5157528" cy="4811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15715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Cookie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sf-rcv</a:t>
            </a:r>
          </a:p>
          <a:p>
            <a:pPr lvl="1"/>
            <a:r>
              <a:rPr lang="en-US" altLang="zh-CN" b="0" dirty="0" smtClean="0"/>
              <a:t>“shifen[kid]”: kwid_cookie  </a:t>
            </a:r>
            <a:endParaRPr lang="en-US" altLang="zh-CN" b="0" dirty="0"/>
          </a:p>
          <a:p>
            <a:pPr lvl="1"/>
            <a:r>
              <a:rPr lang="zh-CN" altLang="en-US" b="0" dirty="0" smtClean="0"/>
              <a:t> </a:t>
            </a:r>
            <a:r>
              <a:rPr lang="en-US" altLang="zh-CN" b="0" dirty="0" smtClean="0"/>
              <a:t>“BAIDUID”   : baidu</a:t>
            </a:r>
            <a:r>
              <a:rPr lang="en-US" altLang="zh-CN" b="0" dirty="0"/>
              <a:t> </a:t>
            </a:r>
            <a:r>
              <a:rPr lang="en-US" altLang="zh-CN" b="0" dirty="0" smtClean="0"/>
              <a:t>id cookie</a:t>
            </a:r>
          </a:p>
          <a:p>
            <a:pPr lvl="2"/>
            <a:r>
              <a:rPr lang="en-US" altLang="zh-CN" sz="1800" b="0" dirty="0"/>
              <a:t>BAIDUID=%s:</a:t>
            </a:r>
            <a:r>
              <a:rPr lang="zh-CN" altLang="zh-CN" sz="1800" b="0" dirty="0" smtClean="0"/>
              <a:t>……</a:t>
            </a:r>
            <a:r>
              <a:rPr lang="zh-CN" altLang="en-US" sz="1000" b="0" dirty="0" smtClean="0"/>
              <a:t>（</a:t>
            </a:r>
            <a:r>
              <a:rPr lang="en-US" altLang="zh-CN" sz="1000" b="0" dirty="0"/>
              <a:t>unsigned </a:t>
            </a:r>
            <a:r>
              <a:rPr lang="en-US" altLang="zh-CN" sz="1000" b="0" dirty="0" err="1"/>
              <a:t>int</a:t>
            </a:r>
            <a:r>
              <a:rPr lang="zh-CN" altLang="en-US" sz="1000" b="0" dirty="0"/>
              <a:t>）</a:t>
            </a:r>
            <a:r>
              <a:rPr lang="en-US" altLang="zh-CN" sz="1000" b="0" dirty="0"/>
              <a:t>ip+</a:t>
            </a:r>
            <a:r>
              <a:rPr lang="zh-CN" altLang="en-US" sz="1000" b="0" dirty="0"/>
              <a:t>（</a:t>
            </a:r>
            <a:r>
              <a:rPr lang="en-US" altLang="zh-CN" sz="1000" b="0" dirty="0"/>
              <a:t>unsigned </a:t>
            </a:r>
            <a:r>
              <a:rPr lang="en-US" altLang="zh-CN" sz="1000" b="0" dirty="0" err="1"/>
              <a:t>int</a:t>
            </a:r>
            <a:r>
              <a:rPr lang="zh-CN" altLang="en-US" sz="1000" b="0" dirty="0"/>
              <a:t>）生成时间</a:t>
            </a:r>
            <a:r>
              <a:rPr lang="en-US" altLang="zh-CN" sz="1000" b="0" dirty="0"/>
              <a:t>+</a:t>
            </a:r>
            <a:r>
              <a:rPr lang="zh-CN" altLang="en-US" sz="1000" b="0" dirty="0"/>
              <a:t>（</a:t>
            </a:r>
            <a:r>
              <a:rPr lang="en-US" altLang="zh-CN" sz="1000" b="0" dirty="0"/>
              <a:t>unsigned </a:t>
            </a:r>
            <a:r>
              <a:rPr lang="en-US" altLang="zh-CN" sz="1000" b="0" dirty="0" err="1"/>
              <a:t>int</a:t>
            </a:r>
            <a:r>
              <a:rPr lang="zh-CN" altLang="en-US" sz="1000" b="0" dirty="0"/>
              <a:t>）随机数</a:t>
            </a:r>
            <a:r>
              <a:rPr lang="en-US" altLang="zh-CN" sz="1000" b="0" dirty="0"/>
              <a:t>+</a:t>
            </a:r>
            <a:r>
              <a:rPr lang="zh-CN" altLang="en-US" sz="1000" b="0" dirty="0"/>
              <a:t>（</a:t>
            </a:r>
            <a:r>
              <a:rPr lang="en-US" altLang="zh-CN" sz="1000" b="0" dirty="0"/>
              <a:t>unsigned </a:t>
            </a:r>
            <a:r>
              <a:rPr lang="en-US" altLang="zh-CN" sz="1000" b="0" dirty="0" err="1"/>
              <a:t>int</a:t>
            </a:r>
            <a:r>
              <a:rPr lang="zh-CN" altLang="en-US" sz="1000" b="0" dirty="0"/>
              <a:t>）</a:t>
            </a:r>
            <a:r>
              <a:rPr lang="en-US" altLang="zh-CN" sz="1000" b="0" dirty="0"/>
              <a:t>crc</a:t>
            </a:r>
            <a:r>
              <a:rPr lang="zh-CN" altLang="en-US" sz="1000" b="0" dirty="0" smtClean="0"/>
              <a:t>值</a:t>
            </a:r>
            <a:endParaRPr lang="en-US" altLang="zh-CN" sz="1800" b="0" dirty="0" smtClean="0"/>
          </a:p>
          <a:p>
            <a:pPr lvl="1"/>
            <a:r>
              <a:rPr lang="en-US" altLang="zh-CN" b="0" dirty="0" smtClean="0"/>
              <a:t>“BDRCVFR[tn_bs]”: fr_refer cookie</a:t>
            </a:r>
          </a:p>
          <a:p>
            <a:pPr lvl="2"/>
            <a:r>
              <a:rPr lang="en-US" altLang="zh-CN" sz="1600" b="0" dirty="0"/>
              <a:t>BDRCVFR[base64</a:t>
            </a:r>
            <a:r>
              <a:rPr lang="zh-CN" altLang="zh-CN" sz="1600" b="0" dirty="0"/>
              <a:t>编码</a:t>
            </a:r>
            <a:r>
              <a:rPr lang="en-US" altLang="zh-CN" sz="1600" b="0" dirty="0"/>
              <a:t>(md64</a:t>
            </a:r>
            <a:r>
              <a:rPr lang="zh-CN" altLang="zh-CN" sz="1600" b="0" dirty="0"/>
              <a:t>签名</a:t>
            </a:r>
            <a:r>
              <a:rPr lang="en-US" altLang="zh-CN" sz="1600" b="0" dirty="0"/>
              <a:t>(</a:t>
            </a:r>
            <a:r>
              <a:rPr lang="en-US" altLang="zh-CN" sz="1600" b="0" dirty="0" err="1"/>
              <a:t>tn</a:t>
            </a:r>
            <a:r>
              <a:rPr lang="en-US" altLang="zh-CN" sz="1600" b="0" dirty="0"/>
              <a:t>))]= base64</a:t>
            </a:r>
            <a:r>
              <a:rPr lang="zh-CN" altLang="zh-CN" sz="1600" b="0" dirty="0"/>
              <a:t>编码</a:t>
            </a:r>
            <a:r>
              <a:rPr lang="en-US" altLang="zh-CN" sz="1600" b="0" dirty="0"/>
              <a:t>(md64</a:t>
            </a:r>
            <a:r>
              <a:rPr lang="zh-CN" altLang="zh-CN" sz="1600" b="0" dirty="0"/>
              <a:t>签名</a:t>
            </a:r>
            <a:r>
              <a:rPr lang="en-US" altLang="zh-CN" sz="1600" b="0" dirty="0"/>
              <a:t>(</a:t>
            </a:r>
            <a:r>
              <a:rPr lang="zh-CN" altLang="zh-CN" sz="1600" b="0" dirty="0"/>
              <a:t>完整的</a:t>
            </a:r>
            <a:r>
              <a:rPr lang="en-US" altLang="zh-CN" sz="1600" b="0" dirty="0"/>
              <a:t>refer</a:t>
            </a:r>
            <a:r>
              <a:rPr lang="zh-CN" altLang="zh-CN" sz="1600" b="0" dirty="0"/>
              <a:t>主域名</a:t>
            </a:r>
            <a:r>
              <a:rPr lang="en-US" altLang="zh-CN" sz="1600" b="0" dirty="0"/>
              <a:t>))base64</a:t>
            </a:r>
            <a:r>
              <a:rPr lang="zh-CN" altLang="zh-CN" sz="1600" b="0" dirty="0"/>
              <a:t>编码</a:t>
            </a:r>
            <a:r>
              <a:rPr lang="en-US" altLang="zh-CN" sz="1600" b="0" dirty="0"/>
              <a:t>(</a:t>
            </a:r>
            <a:r>
              <a:rPr lang="zh-CN" altLang="zh-CN" sz="1600" b="0" dirty="0"/>
              <a:t>截断的</a:t>
            </a:r>
            <a:r>
              <a:rPr lang="en-US" altLang="zh-CN" sz="1600" b="0" dirty="0"/>
              <a:t>refer</a:t>
            </a:r>
            <a:r>
              <a:rPr lang="zh-CN" altLang="zh-CN" sz="1600" b="0" dirty="0"/>
              <a:t>主域名</a:t>
            </a:r>
            <a:r>
              <a:rPr lang="en-US" altLang="zh-CN" sz="1600" b="0" dirty="0" smtClean="0"/>
              <a:t>)</a:t>
            </a:r>
            <a:endParaRPr lang="en-US" altLang="zh-CN" b="0" dirty="0" smtClean="0"/>
          </a:p>
          <a:p>
            <a:pPr lvl="1"/>
            <a:r>
              <a:rPr lang="en-US" altLang="zh-CN" b="0" dirty="0" smtClean="0"/>
              <a:t>“BDSFRCVID” : click id cookie </a:t>
            </a:r>
          </a:p>
          <a:p>
            <a:pPr lvl="1"/>
            <a:r>
              <a:rPr lang="en-US" altLang="zh-CN" b="0" dirty="0" smtClean="0"/>
              <a:t>“H_BDCLCKID_SF” </a:t>
            </a:r>
            <a:r>
              <a:rPr lang="zh-CN" altLang="en-US" b="0" dirty="0" smtClean="0"/>
              <a:t>：</a:t>
            </a:r>
            <a:r>
              <a:rPr lang="en-US" altLang="zh-CN" b="0" dirty="0" smtClean="0"/>
              <a:t>clkid_uid_domain cookie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51088807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dformat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实现功能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读取</a:t>
            </a:r>
            <a:r>
              <a:rPr lang="en-US" altLang="zh-CN" dirty="0" smtClean="0"/>
              <a:t>click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初始化</a:t>
            </a:r>
            <a:r>
              <a:rPr lang="en-US" altLang="zh-CN" dirty="0" smtClean="0"/>
              <a:t>B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设置点击序列号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修正计费名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Dsimple</a:t>
            </a:r>
            <a:r>
              <a:rPr lang="zh-CN" altLang="en-US" dirty="0" smtClean="0"/>
              <a:t>过滤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输出</a:t>
            </a:r>
            <a:r>
              <a:rPr lang="en-US" altLang="zh-CN" dirty="0" smtClean="0"/>
              <a:t>CF</a:t>
            </a:r>
            <a:r>
              <a:rPr lang="zh-CN" altLang="en-US" dirty="0" smtClean="0"/>
              <a:t>文件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442229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Dformat</a:t>
            </a:r>
            <a:r>
              <a:rPr lang="en-US" altLang="zh-CN" dirty="0" smtClean="0"/>
              <a:t>-</a:t>
            </a:r>
            <a:r>
              <a:rPr lang="zh-CN" altLang="en-US" dirty="0" smtClean="0"/>
              <a:t>读取</a:t>
            </a:r>
            <a:r>
              <a:rPr lang="en-US" altLang="zh-CN" dirty="0" smtClean="0"/>
              <a:t>click</a:t>
            </a:r>
            <a:r>
              <a:rPr lang="zh-CN" altLang="en-US" dirty="0" smtClean="0"/>
              <a:t>日志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Tx/>
              <a:buChar char="•"/>
            </a:pPr>
            <a:r>
              <a:rPr lang="zh-CN" altLang="zh-CN" sz="2400" b="0" dirty="0" smtClean="0">
                <a:ea typeface="+mn-ea"/>
                <a:cs typeface="+mn-cs"/>
              </a:rPr>
              <a:t>从</a:t>
            </a:r>
            <a:r>
              <a:rPr lang="en-US" altLang="zh-CN" sz="2400" b="0" dirty="0" err="1" smtClean="0">
                <a:ea typeface="+mn-ea"/>
                <a:cs typeface="+mn-cs"/>
              </a:rPr>
              <a:t>rcv</a:t>
            </a:r>
            <a:r>
              <a:rPr lang="zh-CN" altLang="zh-CN" sz="2400" b="0" dirty="0" smtClean="0">
                <a:ea typeface="+mn-ea"/>
                <a:cs typeface="+mn-cs"/>
              </a:rPr>
              <a:t>日志中读取一行日志，然后通过</a:t>
            </a:r>
            <a:r>
              <a:rPr lang="en-US" altLang="zh-CN" sz="2400" b="0" dirty="0" smtClean="0">
                <a:ea typeface="+mn-ea"/>
                <a:cs typeface="+mn-cs"/>
              </a:rPr>
              <a:t>rcv2cf</a:t>
            </a:r>
            <a:r>
              <a:rPr lang="zh-CN" altLang="zh-CN" sz="2400" b="0" dirty="0" smtClean="0">
                <a:ea typeface="+mn-ea"/>
                <a:cs typeface="+mn-cs"/>
              </a:rPr>
              <a:t>函数，将</a:t>
            </a:r>
            <a:r>
              <a:rPr lang="en-US" altLang="zh-CN" sz="2400" b="0" dirty="0" smtClean="0">
                <a:ea typeface="+mn-ea"/>
                <a:cs typeface="+mn-cs"/>
              </a:rPr>
              <a:t>click</a:t>
            </a:r>
            <a:r>
              <a:rPr lang="zh-CN" altLang="zh-CN" sz="2400" b="0" dirty="0" smtClean="0">
                <a:ea typeface="+mn-ea"/>
                <a:cs typeface="+mn-cs"/>
              </a:rPr>
              <a:t>点击转换为</a:t>
            </a:r>
            <a:r>
              <a:rPr lang="en-US" altLang="zh-CN" sz="2400" b="0" dirty="0" err="1" smtClean="0">
                <a:ea typeface="+mn-ea"/>
                <a:cs typeface="+mn-cs"/>
              </a:rPr>
              <a:t>cf</a:t>
            </a:r>
            <a:r>
              <a:rPr lang="zh-CN" altLang="zh-CN" sz="2400" b="0" dirty="0" smtClean="0">
                <a:ea typeface="+mn-ea"/>
                <a:cs typeface="+mn-cs"/>
              </a:rPr>
              <a:t>格式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写</a:t>
            </a:r>
            <a:r>
              <a:rPr lang="en-US" altLang="zh-CN" dirty="0" err="1" smtClean="0"/>
              <a:t>idx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r>
              <a:rPr lang="zh-CN" altLang="en-US" b="0" dirty="0" smtClean="0"/>
              <a:t>每处理完一条日志写</a:t>
            </a:r>
            <a:endParaRPr lang="en-US" altLang="zh-CN" b="0" dirty="0" smtClean="0"/>
          </a:p>
          <a:p>
            <a:pPr lvl="1"/>
            <a:r>
              <a:rPr lang="zh-CN" altLang="en-US" b="0" dirty="0" smtClean="0"/>
              <a:t>读取</a:t>
            </a:r>
            <a:r>
              <a:rPr lang="en-US" altLang="zh-CN" b="0" dirty="0" err="1" smtClean="0"/>
              <a:t>rcv</a:t>
            </a:r>
            <a:r>
              <a:rPr lang="zh-CN" altLang="en-US" b="0" dirty="0" smtClean="0"/>
              <a:t>日志失败或者切换文件</a:t>
            </a:r>
            <a:r>
              <a:rPr lang="zh-CN" altLang="en-US" b="0" dirty="0" smtClean="0"/>
              <a:t>时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6270725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512691"/>
              </p:ext>
            </p:extLst>
          </p:nvPr>
        </p:nvGraphicFramePr>
        <p:xfrm>
          <a:off x="251520" y="1268760"/>
          <a:ext cx="8532439" cy="4626209"/>
        </p:xfrm>
        <a:graphic>
          <a:graphicData uri="http://schemas.openxmlformats.org/drawingml/2006/table">
            <a:tbl>
              <a:tblPr/>
              <a:tblGrid>
                <a:gridCol w="892889"/>
                <a:gridCol w="2526983"/>
                <a:gridCol w="5112567"/>
              </a:tblGrid>
              <a:tr h="1656184">
                <a:tc row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b="1" kern="100" dirty="0">
                          <a:latin typeface="Cambria"/>
                          <a:ea typeface="华文细黑"/>
                          <a:cs typeface="Times New Roman"/>
                        </a:rPr>
                        <a:t>输出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45109" marR="451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500" b="1" kern="100" dirty="0" err="1">
                          <a:latin typeface="Cambria"/>
                          <a:ea typeface="华文细黑"/>
                          <a:cs typeface="Times New Roman"/>
                        </a:rPr>
                        <a:t>idx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45109" marR="451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路径：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idx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/dformat.idx</a:t>
                      </a: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，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idx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dformat.idx_bak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说明：这个文件记录了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dformat</a:t>
                      </a: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读取日志的进度，用来错误恢复。严格来说应该算输入输出文件</a:t>
                      </a:r>
                      <a:r>
                        <a:rPr lang="zh-CN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。交替</a:t>
                      </a: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更新。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格式：</a:t>
                      </a:r>
                      <a:r>
                        <a:rPr lang="en-US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click</a:t>
                      </a:r>
                      <a:r>
                        <a:rPr lang="zh-CN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文件编号</a:t>
                      </a:r>
                      <a:r>
                        <a:rPr lang="en-US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 click</a:t>
                      </a:r>
                      <a:r>
                        <a:rPr lang="zh-CN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文件的</a:t>
                      </a:r>
                      <a:r>
                        <a:rPr lang="en-US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position </a:t>
                      </a:r>
                      <a:r>
                        <a:rPr lang="zh-CN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点击序列号</a:t>
                      </a:r>
                      <a:r>
                        <a:rPr lang="zh-CN" sz="1500" kern="0" dirty="0">
                          <a:solidFill>
                            <a:srgbClr val="000000"/>
                          </a:solidFill>
                          <a:latin typeface="Calibri"/>
                          <a:ea typeface="Cambria"/>
                          <a:cs typeface="Arial"/>
                        </a:rPr>
                        <a:t> </a:t>
                      </a:r>
                      <a:r>
                        <a:rPr lang="zh-CN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已处理的点击时间</a:t>
                      </a:r>
                      <a:r>
                        <a:rPr lang="zh-CN" sz="1500" kern="0" dirty="0">
                          <a:solidFill>
                            <a:srgbClr val="000000"/>
                          </a:solidFill>
                          <a:latin typeface="Calibri"/>
                          <a:ea typeface="Cambria"/>
                          <a:cs typeface="Arial"/>
                        </a:rPr>
                        <a:t> </a:t>
                      </a:r>
                      <a:r>
                        <a:rPr lang="en-US" sz="1500" kern="0" dirty="0" smtClean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END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举例：</a:t>
                      </a:r>
                      <a:r>
                        <a:rPr lang="en-US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200708301215\t188\t123545\t1268203488END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45109" marR="451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6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500" b="1" kern="100">
                          <a:latin typeface="Cambria"/>
                          <a:ea typeface="华文细黑"/>
                          <a:cs typeface="Times New Roman"/>
                        </a:rPr>
                        <a:t>CF</a:t>
                      </a:r>
                      <a:r>
                        <a:rPr lang="zh-CN" sz="1500" b="1" kern="100">
                          <a:latin typeface="Cambria"/>
                          <a:ea typeface="华文细黑"/>
                          <a:cs typeface="Times New Roman"/>
                        </a:rPr>
                        <a:t>文件</a:t>
                      </a:r>
                      <a:endParaRPr lang="zh-CN" sz="15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45109" marR="451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路径：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/home/work/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var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cf_log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dformat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.*.log (15</a:t>
                      </a: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分钟</a:t>
                      </a:r>
                      <a:r>
                        <a:rPr lang="en-US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)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500" kern="100" dirty="0" smtClean="0">
                          <a:latin typeface="Calibri"/>
                          <a:ea typeface="宋体"/>
                          <a:cs typeface="Times New Roman"/>
                        </a:rPr>
                        <a:t>             </a:t>
                      </a:r>
                      <a:r>
                        <a:rPr lang="en-US" altLang="zh-CN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/home/work/</a:t>
                      </a:r>
                      <a:r>
                        <a:rPr lang="en-US" altLang="zh-CN" sz="1500" kern="100" dirty="0" err="1" smtClean="0">
                          <a:latin typeface="Cambria"/>
                          <a:ea typeface="华文细黑"/>
                          <a:cs typeface="Times New Roman"/>
                        </a:rPr>
                        <a:t>var</a:t>
                      </a:r>
                      <a:r>
                        <a:rPr lang="en-US" altLang="zh-CN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/</a:t>
                      </a:r>
                      <a:r>
                        <a:rPr lang="en-US" altLang="zh-CN" sz="1500" kern="100" dirty="0" err="1" smtClean="0">
                          <a:latin typeface="Cambria"/>
                          <a:ea typeface="华文细黑"/>
                          <a:cs typeface="Times New Roman"/>
                        </a:rPr>
                        <a:t>cf_log</a:t>
                      </a:r>
                      <a:r>
                        <a:rPr lang="en-US" altLang="zh-CN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/</a:t>
                      </a:r>
                      <a:r>
                        <a:rPr lang="en-US" altLang="zh-CN" sz="1500" kern="100" dirty="0" err="1" smtClean="0">
                          <a:latin typeface="Cambria"/>
                          <a:ea typeface="华文细黑"/>
                          <a:cs typeface="Times New Roman"/>
                        </a:rPr>
                        <a:t>dformat</a:t>
                      </a:r>
                      <a:r>
                        <a:rPr lang="en-US" altLang="zh-CN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.*.</a:t>
                      </a:r>
                      <a:r>
                        <a:rPr lang="en-US" altLang="zh-CN" sz="1500" kern="100" dirty="0" err="1" smtClean="0">
                          <a:latin typeface="Cambria"/>
                          <a:ea typeface="华文细黑"/>
                          <a:cs typeface="Times New Roman"/>
                        </a:rPr>
                        <a:t>pb</a:t>
                      </a:r>
                      <a:r>
                        <a:rPr lang="en-US" altLang="zh-CN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 (15</a:t>
                      </a:r>
                      <a:r>
                        <a:rPr lang="zh-CN" altLang="zh-CN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分钟</a:t>
                      </a:r>
                      <a:r>
                        <a:rPr lang="en-US" altLang="zh-CN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)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格式：参考</a:t>
                      </a:r>
                      <a:r>
                        <a:rPr lang="en-US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conf/</a:t>
                      </a:r>
                      <a:r>
                        <a:rPr lang="en-US" sz="1500" kern="100" dirty="0" err="1" smtClean="0">
                          <a:latin typeface="Cambria"/>
                          <a:ea typeface="华文细黑"/>
                          <a:cs typeface="Times New Roman"/>
                        </a:rPr>
                        <a:t>click_version</a:t>
                      </a:r>
                      <a:r>
                        <a:rPr lang="en-US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/7</a:t>
                      </a:r>
                      <a:r>
                        <a:rPr lang="zh-CN" sz="1500" kern="100" dirty="0" smtClean="0">
                          <a:latin typeface="Cambria"/>
                          <a:ea typeface="华文细黑"/>
                          <a:cs typeface="Times New Roman"/>
                        </a:rPr>
                        <a:t>，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45109" marR="451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606">
                <a:tc row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b="1" kern="100" dirty="0">
                          <a:latin typeface="Cambria"/>
                          <a:ea typeface="华文细黑"/>
                          <a:cs typeface="Times New Roman"/>
                        </a:rPr>
                        <a:t>日志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45109" marR="451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b="1" kern="100">
                          <a:latin typeface="Cambria"/>
                          <a:ea typeface="华文细黑"/>
                          <a:cs typeface="Times New Roman"/>
                        </a:rPr>
                        <a:t>无效条目文件</a:t>
                      </a:r>
                      <a:endParaRPr lang="zh-CN" sz="15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45109" marR="451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路径：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/home/work/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var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inv_log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/dformat*.inv (15</a:t>
                      </a: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分钟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)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格式：失效原因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+ CF</a:t>
                      </a: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格式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45109" marR="451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52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500" b="1" kern="100">
                          <a:latin typeface="Cambria"/>
                          <a:ea typeface="华文细黑"/>
                          <a:cs typeface="Times New Roman"/>
                        </a:rPr>
                        <a:t>watch</a:t>
                      </a:r>
                      <a:r>
                        <a:rPr lang="zh-CN" sz="1500" b="1" kern="100">
                          <a:latin typeface="Cambria"/>
                          <a:ea typeface="华文细黑"/>
                          <a:cs typeface="Times New Roman"/>
                        </a:rPr>
                        <a:t>文件</a:t>
                      </a:r>
                      <a:endParaRPr lang="zh-CN" sz="15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45109" marR="451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路径：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/home/work/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var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watch_log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dformat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.*.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wth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 (1</a:t>
                      </a: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分钟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)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说明：用来记录程序运行状态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格式：时间</a:t>
                      </a:r>
                      <a:r>
                        <a:rPr lang="en-US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 click</a:t>
                      </a:r>
                      <a:r>
                        <a:rPr lang="zh-CN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正常条目数</a:t>
                      </a:r>
                      <a:r>
                        <a:rPr lang="en-US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 click</a:t>
                      </a:r>
                      <a:r>
                        <a:rPr lang="zh-CN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无效条目数</a:t>
                      </a:r>
                      <a:r>
                        <a:rPr lang="zh-CN" sz="1500" kern="0" dirty="0">
                          <a:solidFill>
                            <a:srgbClr val="000000"/>
                          </a:solidFill>
                          <a:latin typeface="Calibri"/>
                          <a:ea typeface="Cambria"/>
                          <a:cs typeface="Arial"/>
                        </a:rPr>
                        <a:t> </a:t>
                      </a:r>
                      <a:r>
                        <a:rPr lang="zh-CN" sz="1500" kern="0" dirty="0">
                          <a:solidFill>
                            <a:srgbClr val="000000"/>
                          </a:solidFill>
                          <a:latin typeface="Cambria"/>
                          <a:ea typeface="华文细黑"/>
                          <a:cs typeface="Arial"/>
                        </a:rPr>
                        <a:t>读文件重试次数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45109" marR="451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140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b="1" kern="100">
                          <a:latin typeface="Cambria"/>
                          <a:ea typeface="华文细黑"/>
                          <a:cs typeface="Times New Roman"/>
                        </a:rPr>
                        <a:t>修正计费名记录</a:t>
                      </a:r>
                      <a:endParaRPr lang="zh-CN" sz="15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45109" marR="451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路径：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/home/work/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var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corr_log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/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dformat_corr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.*.log (15</a:t>
                      </a: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分钟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)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格式：首次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refer</a:t>
                      </a: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字段、修正后的</a:t>
                      </a:r>
                      <a:r>
                        <a:rPr lang="en-US" sz="1500" kern="100" dirty="0" err="1">
                          <a:latin typeface="Cambria"/>
                          <a:ea typeface="华文细黑"/>
                          <a:cs typeface="Times New Roman"/>
                        </a:rPr>
                        <a:t>cntname</a:t>
                      </a:r>
                      <a:r>
                        <a:rPr lang="en-US" sz="1500" kern="100" dirty="0">
                          <a:latin typeface="Cambria"/>
                          <a:ea typeface="华文细黑"/>
                          <a:cs typeface="Times New Roman"/>
                        </a:rPr>
                        <a:t>+ CF</a:t>
                      </a:r>
                      <a:r>
                        <a:rPr lang="zh-CN" sz="1500" kern="100" dirty="0">
                          <a:latin typeface="Cambria"/>
                          <a:ea typeface="华文细黑"/>
                          <a:cs typeface="Times New Roman"/>
                        </a:rPr>
                        <a:t>格式</a:t>
                      </a:r>
                      <a:endParaRPr lang="zh-CN" sz="15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45109" marR="451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Dformat</a:t>
            </a:r>
            <a:r>
              <a:rPr lang="en-US" altLang="zh-CN" dirty="0" smtClean="0"/>
              <a:t> –</a:t>
            </a:r>
            <a:r>
              <a:rPr lang="zh-CN" altLang="en-US" dirty="0" smtClean="0"/>
              <a:t>输出文件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779120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吐槽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Rcv</a:t>
            </a:r>
            <a:r>
              <a:rPr lang="zh-CN" altLang="en-US" dirty="0"/>
              <a:t> </a:t>
            </a:r>
            <a:r>
              <a:rPr lang="en-US" altLang="zh-CN" dirty="0" err="1" smtClean="0"/>
              <a:t>handle_ijk</a:t>
            </a:r>
            <a:r>
              <a:rPr lang="zh-CN" altLang="en-US" dirty="0" smtClean="0"/>
              <a:t>函数太长了，将近</a:t>
            </a:r>
            <a:r>
              <a:rPr lang="en-US" altLang="zh-CN" dirty="0" smtClean="0"/>
              <a:t>1000</a:t>
            </a:r>
            <a:r>
              <a:rPr lang="zh-CN" altLang="en-US" dirty="0" smtClean="0"/>
              <a:t>行</a:t>
            </a:r>
            <a:endParaRPr lang="en-US" altLang="zh-CN" dirty="0" smtClean="0"/>
          </a:p>
          <a:p>
            <a:r>
              <a:rPr lang="en-US" altLang="zh-CN" dirty="0" err="1" smtClean="0"/>
              <a:t>Dformat</a:t>
            </a:r>
            <a:r>
              <a:rPr lang="en-US" altLang="zh-CN" dirty="0" smtClean="0"/>
              <a:t> work</a:t>
            </a:r>
            <a:r>
              <a:rPr lang="zh-CN" altLang="en-US" dirty="0" smtClean="0"/>
              <a:t>化是不是会屏蔽很多细节？</a:t>
            </a:r>
            <a:r>
              <a:rPr lang="en-US" altLang="zh-CN" dirty="0"/>
              <a:t>e</a:t>
            </a:r>
            <a:r>
              <a:rPr lang="en-US" altLang="zh-CN" dirty="0" smtClean="0"/>
              <a:t>.g. </a:t>
            </a:r>
            <a:r>
              <a:rPr lang="en-US" altLang="zh-CN" dirty="0" err="1" smtClean="0"/>
              <a:t>idx</a:t>
            </a:r>
            <a:endParaRPr lang="en-US" altLang="zh-CN" dirty="0"/>
          </a:p>
          <a:p>
            <a:r>
              <a:rPr lang="en-US" altLang="zh-CN" dirty="0" err="1" smtClean="0"/>
              <a:t>Dformat</a:t>
            </a:r>
            <a:r>
              <a:rPr lang="en-US" altLang="zh-CN" dirty="0" smtClean="0"/>
              <a:t> </a:t>
            </a:r>
            <a:r>
              <a:rPr lang="zh-CN" altLang="en-US" dirty="0" smtClean="0"/>
              <a:t>策略会设置字段值，</a:t>
            </a:r>
            <a:r>
              <a:rPr lang="en-US" altLang="zh-CN" dirty="0" smtClean="0"/>
              <a:t>e.g. </a:t>
            </a:r>
            <a:r>
              <a:rPr lang="en-US" altLang="zh-CN" dirty="0" err="1" smtClean="0"/>
              <a:t>cntid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cid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101864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>
            <a:spLocks noChangeArrowheads="1"/>
          </p:cNvSpPr>
          <p:nvPr/>
        </p:nvSpPr>
        <p:spPr bwMode="auto">
          <a:xfrm>
            <a:off x="683568" y="2778126"/>
            <a:ext cx="799288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buClr>
                <a:srgbClr val="2318DE"/>
              </a:buClr>
              <a:buSzPct val="100000"/>
            </a:pPr>
            <a:r>
              <a:rPr lang="en-US" altLang="zh-CN" sz="6000" b="1" dirty="0" smtClean="0">
                <a:latin typeface="Times New Roman" pitchFamily="18" charset="0"/>
                <a:cs typeface="Times New Roman" pitchFamily="18" charset="0"/>
              </a:rPr>
              <a:t>Thanks!</a:t>
            </a:r>
            <a:endParaRPr lang="zh-CN" altLang="en-US" sz="6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40399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idu_PPT_Temp">
  <a:themeElements>
    <a:clrScheme name="Baidu_PPT_Tem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aidu_PPT_Temp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2318DE"/>
          </a:buClr>
          <a:buSzPct val="100000"/>
          <a:buFontTx/>
          <a:buNone/>
          <a:tabLst/>
          <a:defRPr kumimoji="0" lang="zh-CN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2318DE"/>
          </a:buClr>
          <a:buSzPct val="100000"/>
          <a:buFontTx/>
          <a:buNone/>
          <a:tabLst/>
          <a:defRPr kumimoji="0" lang="zh-CN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Baidu_PPT_Tem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du_PPT_Tem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du_PPT_Tem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du_PPT_Tem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du_PPT_Tem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du_PPT_Tem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du_PPT_Tem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du_PPT_Tem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du_PPT_Tem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du_PPT_Tem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du_PPT_Tem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du_PPT_Tem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baidu-new</Template>
  <TotalTime>27843</TotalTime>
  <Words>1363</Words>
  <Application>Microsoft Office PowerPoint</Application>
  <PresentationFormat>全屏显示(4:3)</PresentationFormat>
  <Paragraphs>192</Paragraphs>
  <Slides>24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黑体</vt:lpstr>
      <vt:lpstr>华文细黑</vt:lpstr>
      <vt:lpstr>宋体</vt:lpstr>
      <vt:lpstr>Arial</vt:lpstr>
      <vt:lpstr>Calibri</vt:lpstr>
      <vt:lpstr>Cambria</vt:lpstr>
      <vt:lpstr>Times New Roman</vt:lpstr>
      <vt:lpstr>Verdana</vt:lpstr>
      <vt:lpstr>Wingdings</vt:lpstr>
      <vt:lpstr>Baidu_PPT_Temp</vt:lpstr>
      <vt:lpstr>Microsoft Visio 2003-2010 绘图</vt:lpstr>
      <vt:lpstr>Visio</vt:lpstr>
      <vt:lpstr>PowerPoint 演示文稿</vt:lpstr>
      <vt:lpstr>提纲</vt:lpstr>
      <vt:lpstr>RCV</vt:lpstr>
      <vt:lpstr>RCV的产品线和内部结构图</vt:lpstr>
      <vt:lpstr>PowerPoint 演示文稿</vt:lpstr>
      <vt:lpstr>PowerPoint 演示文稿</vt:lpstr>
      <vt:lpstr>PowerPoint 演示文稿</vt:lpstr>
      <vt:lpstr>PowerPoint 演示文稿</vt:lpstr>
      <vt:lpstr>click日志和skip日志</vt:lpstr>
      <vt:lpstr>Click日志</vt:lpstr>
      <vt:lpstr>Skip日志格式</vt:lpstr>
      <vt:lpstr>sf-rcv模块</vt:lpstr>
      <vt:lpstr>sf-rcv模块</vt:lpstr>
      <vt:lpstr>点击ID</vt:lpstr>
      <vt:lpstr>点击ID</vt:lpstr>
      <vt:lpstr>二跳原理和作用</vt:lpstr>
      <vt:lpstr>Sf-rcv反作弊相关策略</vt:lpstr>
      <vt:lpstr>反作弊相关：click type和statflag字段</vt:lpstr>
      <vt:lpstr>Cookie</vt:lpstr>
      <vt:lpstr>dformat</vt:lpstr>
      <vt:lpstr>Dformat-读取click日志</vt:lpstr>
      <vt:lpstr>Dformat –输出文件</vt:lpstr>
      <vt:lpstr>吐槽</vt:lpstr>
      <vt:lpstr>PowerPoint 演示文稿</vt:lpstr>
    </vt:vector>
  </TitlesOfParts>
  <Company>Guo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2005-Baidu Star talk</dc:title>
  <dc:creator>Shanshan</dc:creator>
  <cp:lastModifiedBy>Yang,Jiaxue</cp:lastModifiedBy>
  <cp:revision>1185</cp:revision>
  <dcterms:created xsi:type="dcterms:W3CDTF">2005-06-29T16:57:39Z</dcterms:created>
  <dcterms:modified xsi:type="dcterms:W3CDTF">2014-09-02T08:17:39Z</dcterms:modified>
</cp:coreProperties>
</file>