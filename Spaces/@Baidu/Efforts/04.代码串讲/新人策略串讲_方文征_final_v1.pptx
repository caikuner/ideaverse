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85" r:id="rId9"/>
    <p:sldId id="262" r:id="rId10"/>
    <p:sldId id="269" r:id="rId11"/>
    <p:sldId id="286" r:id="rId12"/>
    <p:sldId id="287" r:id="rId13"/>
    <p:sldId id="289" r:id="rId14"/>
    <p:sldId id="291" r:id="rId15"/>
    <p:sldId id="288" r:id="rId16"/>
    <p:sldId id="329" r:id="rId17"/>
    <p:sldId id="290" r:id="rId18"/>
    <p:sldId id="292" r:id="rId19"/>
    <p:sldId id="294" r:id="rId20"/>
    <p:sldId id="296" r:id="rId21"/>
    <p:sldId id="295" r:id="rId22"/>
    <p:sldId id="365" r:id="rId23"/>
    <p:sldId id="366" r:id="rId24"/>
    <p:sldId id="297" r:id="rId25"/>
    <p:sldId id="298" r:id="rId26"/>
    <p:sldId id="301" r:id="rId27"/>
    <p:sldId id="302" r:id="rId28"/>
    <p:sldId id="307" r:id="rId29"/>
    <p:sldId id="303" r:id="rId30"/>
    <p:sldId id="304" r:id="rId31"/>
    <p:sldId id="263" r:id="rId32"/>
    <p:sldId id="308" r:id="rId33"/>
    <p:sldId id="270" r:id="rId34"/>
    <p:sldId id="305" r:id="rId35"/>
    <p:sldId id="306" r:id="rId36"/>
    <p:sldId id="309" r:id="rId37"/>
    <p:sldId id="310" r:id="rId38"/>
    <p:sldId id="312" r:id="rId39"/>
    <p:sldId id="311" r:id="rId40"/>
    <p:sldId id="315" r:id="rId41"/>
    <p:sldId id="314" r:id="rId42"/>
    <p:sldId id="316" r:id="rId43"/>
    <p:sldId id="318" r:id="rId44"/>
    <p:sldId id="319" r:id="rId45"/>
    <p:sldId id="320" r:id="rId46"/>
    <p:sldId id="321" r:id="rId47"/>
    <p:sldId id="322" r:id="rId48"/>
    <p:sldId id="323" r:id="rId49"/>
    <p:sldId id="325" r:id="rId50"/>
    <p:sldId id="324" r:id="rId51"/>
    <p:sldId id="327" r:id="rId52"/>
    <p:sldId id="330" r:id="rId53"/>
    <p:sldId id="331" r:id="rId54"/>
    <p:sldId id="332" r:id="rId55"/>
    <p:sldId id="333" r:id="rId56"/>
    <p:sldId id="334" r:id="rId57"/>
    <p:sldId id="335" r:id="rId58"/>
    <p:sldId id="336" r:id="rId59"/>
    <p:sldId id="337" r:id="rId60"/>
    <p:sldId id="338" r:id="rId61"/>
    <p:sldId id="340" r:id="rId62"/>
    <p:sldId id="341" r:id="rId63"/>
    <p:sldId id="343" r:id="rId64"/>
    <p:sldId id="345" r:id="rId65"/>
    <p:sldId id="346" r:id="rId66"/>
    <p:sldId id="349" r:id="rId67"/>
    <p:sldId id="347" r:id="rId68"/>
    <p:sldId id="348" r:id="rId69"/>
    <p:sldId id="350" r:id="rId70"/>
    <p:sldId id="351" r:id="rId71"/>
    <p:sldId id="352" r:id="rId72"/>
    <p:sldId id="356" r:id="rId73"/>
    <p:sldId id="358" r:id="rId74"/>
    <p:sldId id="360" r:id="rId75"/>
    <p:sldId id="359" r:id="rId76"/>
    <p:sldId id="361" r:id="rId77"/>
    <p:sldId id="355" r:id="rId78"/>
    <p:sldId id="261" r:id="rId79"/>
  </p:sldIdLst>
  <p:sldSz cx="9144000" cy="5143500" type="screen16x9"/>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A8CEE7"/>
    <a:srgbClr val="94C6F2"/>
    <a:srgbClr val="92C6EE"/>
    <a:srgbClr val="86C6E8"/>
    <a:srgbClr val="0062B0"/>
    <a:srgbClr val="0062FF"/>
    <a:srgbClr val="2932FF"/>
    <a:srgbClr val="E10611"/>
    <a:srgbClr val="1D05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3993" autoAdjust="0"/>
  </p:normalViewPr>
  <p:slideViewPr>
    <p:cSldViewPr snapToGrid="0" snapToObjects="1">
      <p:cViewPr varScale="1">
        <p:scale>
          <a:sx n="82" d="100"/>
          <a:sy n="82" d="100"/>
        </p:scale>
        <p:origin x="1080" y="84"/>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3CFC41F-D94C-4D2A-989A-2D97E4C93557}" type="doc">
      <dgm:prSet loTypeId="urn:microsoft.com/office/officeart/2005/8/layout/cycle7" loCatId="cycle" qsTypeId="urn:microsoft.com/office/officeart/2005/8/quickstyle/simple1" qsCatId="simple" csTypeId="urn:microsoft.com/office/officeart/2005/8/colors/colorful1" csCatId="colorful" phldr="1"/>
      <dgm:spPr/>
      <dgm:t>
        <a:bodyPr/>
        <a:lstStyle/>
        <a:p>
          <a:endParaRPr lang="zh-CN" altLang="en-US"/>
        </a:p>
      </dgm:t>
    </dgm:pt>
    <dgm:pt modelId="{491798FE-E380-40B2-AB89-279E6843B487}">
      <dgm:prSet phldrT="[文本]"/>
      <dgm:spPr/>
      <dgm:t>
        <a:bodyPr/>
        <a:lstStyle/>
        <a:p>
          <a:r>
            <a:rPr lang="zh-CN" altLang="en-US" dirty="0" smtClean="0"/>
            <a:t>广告主</a:t>
          </a:r>
          <a:endParaRPr lang="zh-CN" altLang="en-US" dirty="0"/>
        </a:p>
      </dgm:t>
    </dgm:pt>
    <dgm:pt modelId="{828C9797-592C-4C65-BB17-AD449EEE4116}" cxnId="{E3D45DB2-E483-46E4-86B1-63C7A380D0C3}" type="parTrans">
      <dgm:prSet/>
      <dgm:spPr/>
      <dgm:t>
        <a:bodyPr/>
        <a:lstStyle/>
        <a:p>
          <a:endParaRPr lang="zh-CN" altLang="en-US"/>
        </a:p>
      </dgm:t>
    </dgm:pt>
    <dgm:pt modelId="{86256C80-CE88-417F-9DEB-5AE3CDD62CBA}" cxnId="{E3D45DB2-E483-46E4-86B1-63C7A380D0C3}" type="sibTrans">
      <dgm:prSet/>
      <dgm:spPr/>
      <dgm:t>
        <a:bodyPr/>
        <a:lstStyle/>
        <a:p>
          <a:endParaRPr lang="zh-CN" altLang="en-US" dirty="0"/>
        </a:p>
      </dgm:t>
    </dgm:pt>
    <dgm:pt modelId="{BCE1FFAA-90D0-4B62-B40B-BF6917531D7A}">
      <dgm:prSet phldrT="[文本]"/>
      <dgm:spPr/>
      <dgm:t>
        <a:bodyPr/>
        <a:lstStyle/>
        <a:p>
          <a:r>
            <a:rPr lang="zh-CN" altLang="en-US" dirty="0" smtClean="0"/>
            <a:t>网民</a:t>
          </a:r>
          <a:endParaRPr lang="zh-CN" altLang="en-US" dirty="0"/>
        </a:p>
      </dgm:t>
    </dgm:pt>
    <dgm:pt modelId="{DE270CBB-573F-4D29-A606-524263751D3B}" cxnId="{81A48DCE-6A6A-4C1C-8EB0-9AC530DCEA7F}" type="parTrans">
      <dgm:prSet/>
      <dgm:spPr/>
      <dgm:t>
        <a:bodyPr/>
        <a:lstStyle/>
        <a:p>
          <a:endParaRPr lang="zh-CN" altLang="en-US"/>
        </a:p>
      </dgm:t>
    </dgm:pt>
    <dgm:pt modelId="{F5C6D198-3602-4757-AD22-5123C361BB9E}" cxnId="{81A48DCE-6A6A-4C1C-8EB0-9AC530DCEA7F}" type="sibTrans">
      <dgm:prSet/>
      <dgm:spPr/>
      <dgm:t>
        <a:bodyPr/>
        <a:lstStyle/>
        <a:p>
          <a:endParaRPr lang="zh-CN" altLang="en-US"/>
        </a:p>
      </dgm:t>
    </dgm:pt>
    <dgm:pt modelId="{57C1AF08-4362-4930-BCC0-84B58DDE224A}">
      <dgm:prSet phldrT="[文本]"/>
      <dgm:spPr/>
      <dgm:t>
        <a:bodyPr/>
        <a:lstStyle/>
        <a:p>
          <a:r>
            <a:rPr lang="zh-CN" altLang="en-US" dirty="0" smtClean="0"/>
            <a:t>搜索引擎</a:t>
          </a:r>
          <a:endParaRPr lang="zh-CN" altLang="en-US" dirty="0"/>
        </a:p>
      </dgm:t>
    </dgm:pt>
    <dgm:pt modelId="{213EF44F-62C1-4928-8335-473AF18E17DC}" cxnId="{BC43C7C8-9B69-448E-9DDA-38E76F2AE2B7}" type="parTrans">
      <dgm:prSet/>
      <dgm:spPr/>
      <dgm:t>
        <a:bodyPr/>
        <a:lstStyle/>
        <a:p>
          <a:endParaRPr lang="zh-CN" altLang="en-US"/>
        </a:p>
      </dgm:t>
    </dgm:pt>
    <dgm:pt modelId="{2424DE64-1439-4EC2-AB9C-A3EC2E308D24}" cxnId="{BC43C7C8-9B69-448E-9DDA-38E76F2AE2B7}" type="sibTrans">
      <dgm:prSet/>
      <dgm:spPr/>
      <dgm:t>
        <a:bodyPr/>
        <a:lstStyle/>
        <a:p>
          <a:endParaRPr lang="zh-CN" altLang="en-US"/>
        </a:p>
      </dgm:t>
    </dgm:pt>
    <dgm:pt modelId="{250115E6-FA17-43E4-BC9F-73C7130A1DBA}" type="pres">
      <dgm:prSet presAssocID="{03CFC41F-D94C-4D2A-989A-2D97E4C93557}" presName="Name0" presStyleCnt="0">
        <dgm:presLayoutVars>
          <dgm:dir/>
          <dgm:resizeHandles val="exact"/>
        </dgm:presLayoutVars>
      </dgm:prSet>
      <dgm:spPr/>
      <dgm:t>
        <a:bodyPr/>
        <a:lstStyle/>
        <a:p>
          <a:endParaRPr lang="zh-CN" altLang="en-US"/>
        </a:p>
      </dgm:t>
    </dgm:pt>
    <dgm:pt modelId="{8D051C71-2E87-4E10-BFAD-48D14F8B5C71}" type="pres">
      <dgm:prSet presAssocID="{491798FE-E380-40B2-AB89-279E6843B487}" presName="node" presStyleLbl="node1" presStyleIdx="0" presStyleCnt="3">
        <dgm:presLayoutVars>
          <dgm:bulletEnabled val="1"/>
        </dgm:presLayoutVars>
      </dgm:prSet>
      <dgm:spPr/>
      <dgm:t>
        <a:bodyPr/>
        <a:lstStyle/>
        <a:p>
          <a:endParaRPr lang="zh-CN" altLang="en-US"/>
        </a:p>
      </dgm:t>
    </dgm:pt>
    <dgm:pt modelId="{E35B8973-ECBE-440A-A903-9388DFE79E4C}" type="pres">
      <dgm:prSet presAssocID="{86256C80-CE88-417F-9DEB-5AE3CDD62CBA}" presName="sibTrans" presStyleLbl="sibTrans2D1" presStyleIdx="0" presStyleCnt="3"/>
      <dgm:spPr/>
      <dgm:t>
        <a:bodyPr/>
        <a:lstStyle/>
        <a:p>
          <a:endParaRPr lang="zh-CN" altLang="en-US"/>
        </a:p>
      </dgm:t>
    </dgm:pt>
    <dgm:pt modelId="{3A09CE41-0E76-4B09-ABFB-6A1B200EE14C}" type="pres">
      <dgm:prSet presAssocID="{86256C80-CE88-417F-9DEB-5AE3CDD62CBA}" presName="connectorText" presStyleLbl="sibTrans2D1" presStyleIdx="0" presStyleCnt="3"/>
      <dgm:spPr/>
      <dgm:t>
        <a:bodyPr/>
        <a:lstStyle/>
        <a:p>
          <a:endParaRPr lang="zh-CN" altLang="en-US"/>
        </a:p>
      </dgm:t>
    </dgm:pt>
    <dgm:pt modelId="{6B92D6B2-2593-48E9-9288-45C4C2A55968}" type="pres">
      <dgm:prSet presAssocID="{BCE1FFAA-90D0-4B62-B40B-BF6917531D7A}" presName="node" presStyleLbl="node1" presStyleIdx="1" presStyleCnt="3" custRadScaleRad="126956" custRadScaleInc="-883">
        <dgm:presLayoutVars>
          <dgm:bulletEnabled val="1"/>
        </dgm:presLayoutVars>
      </dgm:prSet>
      <dgm:spPr/>
      <dgm:t>
        <a:bodyPr/>
        <a:lstStyle/>
        <a:p>
          <a:endParaRPr lang="zh-CN" altLang="en-US"/>
        </a:p>
      </dgm:t>
    </dgm:pt>
    <dgm:pt modelId="{67D6846B-933E-4FDD-BBFF-662C3964D907}" type="pres">
      <dgm:prSet presAssocID="{F5C6D198-3602-4757-AD22-5123C361BB9E}" presName="sibTrans" presStyleLbl="sibTrans2D1" presStyleIdx="1" presStyleCnt="3"/>
      <dgm:spPr/>
      <dgm:t>
        <a:bodyPr/>
        <a:lstStyle/>
        <a:p>
          <a:endParaRPr lang="zh-CN" altLang="en-US"/>
        </a:p>
      </dgm:t>
    </dgm:pt>
    <dgm:pt modelId="{783598DF-13CC-4B85-8A6B-11EE482E3C56}" type="pres">
      <dgm:prSet presAssocID="{F5C6D198-3602-4757-AD22-5123C361BB9E}" presName="connectorText" presStyleLbl="sibTrans2D1" presStyleIdx="1" presStyleCnt="3"/>
      <dgm:spPr/>
      <dgm:t>
        <a:bodyPr/>
        <a:lstStyle/>
        <a:p>
          <a:endParaRPr lang="zh-CN" altLang="en-US"/>
        </a:p>
      </dgm:t>
    </dgm:pt>
    <dgm:pt modelId="{21D0F7F7-7207-4AEA-9D3A-BE2A69757B25}" type="pres">
      <dgm:prSet presAssocID="{57C1AF08-4362-4930-BCC0-84B58DDE224A}" presName="node" presStyleLbl="node1" presStyleIdx="2" presStyleCnt="3" custRadScaleRad="129837" custRadScaleInc="863">
        <dgm:presLayoutVars>
          <dgm:bulletEnabled val="1"/>
        </dgm:presLayoutVars>
      </dgm:prSet>
      <dgm:spPr/>
      <dgm:t>
        <a:bodyPr/>
        <a:lstStyle/>
        <a:p>
          <a:endParaRPr lang="zh-CN" altLang="en-US"/>
        </a:p>
      </dgm:t>
    </dgm:pt>
    <dgm:pt modelId="{3312CCA1-B17F-44F8-BA97-09A750C8A542}" type="pres">
      <dgm:prSet presAssocID="{2424DE64-1439-4EC2-AB9C-A3EC2E308D24}" presName="sibTrans" presStyleLbl="sibTrans2D1" presStyleIdx="2" presStyleCnt="3"/>
      <dgm:spPr/>
      <dgm:t>
        <a:bodyPr/>
        <a:lstStyle/>
        <a:p>
          <a:endParaRPr lang="zh-CN" altLang="en-US"/>
        </a:p>
      </dgm:t>
    </dgm:pt>
    <dgm:pt modelId="{D381E308-0C4B-474D-940B-05C6655FDB76}" type="pres">
      <dgm:prSet presAssocID="{2424DE64-1439-4EC2-AB9C-A3EC2E308D24}" presName="connectorText" presStyleLbl="sibTrans2D1" presStyleIdx="2" presStyleCnt="3"/>
      <dgm:spPr/>
      <dgm:t>
        <a:bodyPr/>
        <a:lstStyle/>
        <a:p>
          <a:endParaRPr lang="zh-CN" altLang="en-US"/>
        </a:p>
      </dgm:t>
    </dgm:pt>
  </dgm:ptLst>
  <dgm:cxnLst>
    <dgm:cxn modelId="{4BDE9309-04AA-4414-9B1C-E25AE86CEF41}" type="presOf" srcId="{03CFC41F-D94C-4D2A-989A-2D97E4C93557}" destId="{250115E6-FA17-43E4-BC9F-73C7130A1DBA}" srcOrd="0" destOrd="0" presId="urn:microsoft.com/office/officeart/2005/8/layout/cycle7"/>
    <dgm:cxn modelId="{577CE162-C5D3-4901-9353-21C4DA520ECE}" type="presOf" srcId="{2424DE64-1439-4EC2-AB9C-A3EC2E308D24}" destId="{3312CCA1-B17F-44F8-BA97-09A750C8A542}" srcOrd="0" destOrd="0" presId="urn:microsoft.com/office/officeart/2005/8/layout/cycle7"/>
    <dgm:cxn modelId="{9DC99648-7F56-482E-865D-6243174B1760}" type="presOf" srcId="{86256C80-CE88-417F-9DEB-5AE3CDD62CBA}" destId="{E35B8973-ECBE-440A-A903-9388DFE79E4C}" srcOrd="0" destOrd="0" presId="urn:microsoft.com/office/officeart/2005/8/layout/cycle7"/>
    <dgm:cxn modelId="{E3D45DB2-E483-46E4-86B1-63C7A380D0C3}" srcId="{03CFC41F-D94C-4D2A-989A-2D97E4C93557}" destId="{491798FE-E380-40B2-AB89-279E6843B487}" srcOrd="0" destOrd="0" parTransId="{828C9797-592C-4C65-BB17-AD449EEE4116}" sibTransId="{86256C80-CE88-417F-9DEB-5AE3CDD62CBA}"/>
    <dgm:cxn modelId="{8929A16C-6E71-4DA2-9B0D-6DC372B993F2}" type="presOf" srcId="{F5C6D198-3602-4757-AD22-5123C361BB9E}" destId="{67D6846B-933E-4FDD-BBFF-662C3964D907}" srcOrd="0" destOrd="0" presId="urn:microsoft.com/office/officeart/2005/8/layout/cycle7"/>
    <dgm:cxn modelId="{A064498E-BA66-4802-A991-B9672EB747DA}" type="presOf" srcId="{2424DE64-1439-4EC2-AB9C-A3EC2E308D24}" destId="{D381E308-0C4B-474D-940B-05C6655FDB76}" srcOrd="1" destOrd="0" presId="urn:microsoft.com/office/officeart/2005/8/layout/cycle7"/>
    <dgm:cxn modelId="{77CED896-5DA4-4FF4-9892-41E4D40166F2}" type="presOf" srcId="{491798FE-E380-40B2-AB89-279E6843B487}" destId="{8D051C71-2E87-4E10-BFAD-48D14F8B5C71}" srcOrd="0" destOrd="0" presId="urn:microsoft.com/office/officeart/2005/8/layout/cycle7"/>
    <dgm:cxn modelId="{DD742E28-CB95-42AE-B1CD-241E18E6F478}" type="presOf" srcId="{57C1AF08-4362-4930-BCC0-84B58DDE224A}" destId="{21D0F7F7-7207-4AEA-9D3A-BE2A69757B25}" srcOrd="0" destOrd="0" presId="urn:microsoft.com/office/officeart/2005/8/layout/cycle7"/>
    <dgm:cxn modelId="{81A48DCE-6A6A-4C1C-8EB0-9AC530DCEA7F}" srcId="{03CFC41F-D94C-4D2A-989A-2D97E4C93557}" destId="{BCE1FFAA-90D0-4B62-B40B-BF6917531D7A}" srcOrd="1" destOrd="0" parTransId="{DE270CBB-573F-4D29-A606-524263751D3B}" sibTransId="{F5C6D198-3602-4757-AD22-5123C361BB9E}"/>
    <dgm:cxn modelId="{7012ACCC-5023-45A1-B099-867C2B8364AD}" type="presOf" srcId="{F5C6D198-3602-4757-AD22-5123C361BB9E}" destId="{783598DF-13CC-4B85-8A6B-11EE482E3C56}" srcOrd="1" destOrd="0" presId="urn:microsoft.com/office/officeart/2005/8/layout/cycle7"/>
    <dgm:cxn modelId="{F2D174C4-B0AF-43C0-9112-20CFFA19BCBF}" type="presOf" srcId="{BCE1FFAA-90D0-4B62-B40B-BF6917531D7A}" destId="{6B92D6B2-2593-48E9-9288-45C4C2A55968}" srcOrd="0" destOrd="0" presId="urn:microsoft.com/office/officeart/2005/8/layout/cycle7"/>
    <dgm:cxn modelId="{BC43C7C8-9B69-448E-9DDA-38E76F2AE2B7}" srcId="{03CFC41F-D94C-4D2A-989A-2D97E4C93557}" destId="{57C1AF08-4362-4930-BCC0-84B58DDE224A}" srcOrd="2" destOrd="0" parTransId="{213EF44F-62C1-4928-8335-473AF18E17DC}" sibTransId="{2424DE64-1439-4EC2-AB9C-A3EC2E308D24}"/>
    <dgm:cxn modelId="{A7B66C81-61C9-4A48-ADEE-61CA3231FF11}" type="presOf" srcId="{86256C80-CE88-417F-9DEB-5AE3CDD62CBA}" destId="{3A09CE41-0E76-4B09-ABFB-6A1B200EE14C}" srcOrd="1" destOrd="0" presId="urn:microsoft.com/office/officeart/2005/8/layout/cycle7"/>
    <dgm:cxn modelId="{179C7743-A6BA-4C5F-80B2-1628174A5B11}" type="presParOf" srcId="{250115E6-FA17-43E4-BC9F-73C7130A1DBA}" destId="{8D051C71-2E87-4E10-BFAD-48D14F8B5C71}" srcOrd="0" destOrd="0" presId="urn:microsoft.com/office/officeart/2005/8/layout/cycle7"/>
    <dgm:cxn modelId="{1A0E21C6-F6D6-4E0F-BF06-5AC7E022BE35}" type="presParOf" srcId="{250115E6-FA17-43E4-BC9F-73C7130A1DBA}" destId="{E35B8973-ECBE-440A-A903-9388DFE79E4C}" srcOrd="1" destOrd="0" presId="urn:microsoft.com/office/officeart/2005/8/layout/cycle7"/>
    <dgm:cxn modelId="{CD2B7B04-D5F6-4F92-8A35-00EF316B8D0E}" type="presParOf" srcId="{E35B8973-ECBE-440A-A903-9388DFE79E4C}" destId="{3A09CE41-0E76-4B09-ABFB-6A1B200EE14C}" srcOrd="0" destOrd="0" presId="urn:microsoft.com/office/officeart/2005/8/layout/cycle7"/>
    <dgm:cxn modelId="{D92BA074-44A4-41D9-B7E3-601087B02B20}" type="presParOf" srcId="{250115E6-FA17-43E4-BC9F-73C7130A1DBA}" destId="{6B92D6B2-2593-48E9-9288-45C4C2A55968}" srcOrd="2" destOrd="0" presId="urn:microsoft.com/office/officeart/2005/8/layout/cycle7"/>
    <dgm:cxn modelId="{8099C448-4687-4484-9DFF-A46D08581F6F}" type="presParOf" srcId="{250115E6-FA17-43E4-BC9F-73C7130A1DBA}" destId="{67D6846B-933E-4FDD-BBFF-662C3964D907}" srcOrd="3" destOrd="0" presId="urn:microsoft.com/office/officeart/2005/8/layout/cycle7"/>
    <dgm:cxn modelId="{1BCF2791-6CA1-436A-8E6D-57B25DAD6FE1}" type="presParOf" srcId="{67D6846B-933E-4FDD-BBFF-662C3964D907}" destId="{783598DF-13CC-4B85-8A6B-11EE482E3C56}" srcOrd="0" destOrd="0" presId="urn:microsoft.com/office/officeart/2005/8/layout/cycle7"/>
    <dgm:cxn modelId="{B1641A59-10E6-439C-A131-80D657178AA9}" type="presParOf" srcId="{250115E6-FA17-43E4-BC9F-73C7130A1DBA}" destId="{21D0F7F7-7207-4AEA-9D3A-BE2A69757B25}" srcOrd="4" destOrd="0" presId="urn:microsoft.com/office/officeart/2005/8/layout/cycle7"/>
    <dgm:cxn modelId="{2D7E6CC2-0A9F-453F-87B9-0C113AC95C06}" type="presParOf" srcId="{250115E6-FA17-43E4-BC9F-73C7130A1DBA}" destId="{3312CCA1-B17F-44F8-BA97-09A750C8A542}" srcOrd="5" destOrd="0" presId="urn:microsoft.com/office/officeart/2005/8/layout/cycle7"/>
    <dgm:cxn modelId="{7EED7F59-9B30-4432-809B-7B311778914F}" type="presParOf" srcId="{3312CCA1-B17F-44F8-BA97-09A750C8A542}" destId="{D381E308-0C4B-474D-940B-05C6655FDB76}"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248472" cy="2160240"/>
        <a:chOff x="0" y="0"/>
        <a:chExt cx="4248472" cy="2160240"/>
      </a:xfrm>
    </dsp:grpSpPr>
    <dsp:sp modelId="{8D051C71-2E87-4E10-BFAD-48D14F8B5C71}">
      <dsp:nvSpPr>
        <dsp:cNvPr id="3" name="圆角矩形 2"/>
        <dsp:cNvSpPr/>
      </dsp:nvSpPr>
      <dsp:spPr bwMode="white">
        <a:xfrm>
          <a:off x="1564281" y="0"/>
          <a:ext cx="1119909" cy="559955"/>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lIns="68580" tIns="68580" rIns="68580" bIns="6858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dirty="0" smtClean="0"/>
            <a:t>广告主</a:t>
          </a:r>
          <a:endParaRPr lang="zh-CN" altLang="en-US" dirty="0"/>
        </a:p>
      </dsp:txBody>
      <dsp:txXfrm>
        <a:off x="1564281" y="0"/>
        <a:ext cx="1119909" cy="559955"/>
      </dsp:txXfrm>
    </dsp:sp>
    <dsp:sp modelId="{E35B8973-ECBE-440A-A903-9388DFE79E4C}">
      <dsp:nvSpPr>
        <dsp:cNvPr id="4" name="左右箭头 3"/>
        <dsp:cNvSpPr/>
      </dsp:nvSpPr>
      <dsp:spPr bwMode="white">
        <a:xfrm rot="3216893">
          <a:off x="2207796" y="982128"/>
          <a:ext cx="1012070" cy="195984"/>
        </a:xfrm>
        <a:prstGeom prst="leftRightArrow">
          <a:avLst>
            <a:gd name="adj1" fmla="val 60000"/>
            <a:gd name="adj2" fmla="val 50000"/>
          </a:avLst>
        </a:prstGeom>
      </dsp:spPr>
      <dsp:style>
        <a:lnRef idx="0">
          <a:schemeClr val="lt1">
            <a:hueOff val="0"/>
            <a:satOff val="0"/>
            <a:lumOff val="0"/>
            <a:alpha val="100000"/>
          </a:schemeClr>
        </a:lnRef>
        <a:fillRef idx="1">
          <a:schemeClr val="accent2"/>
        </a:fillRef>
        <a:effectRef idx="0">
          <a:scrgbClr r="0" g="0" b="0"/>
        </a:effectRef>
        <a:fontRef idx="minor">
          <a:schemeClr val="lt1"/>
        </a:fontRef>
      </dsp:style>
      <dsp:txBody>
        <a:bodyPr lIns="0" tIns="0" rIns="0" bIns="0" anchor="ctr"/>
        <a:lstStyle>
          <a:lvl1pPr algn="ctr">
            <a:defRPr sz="700"/>
          </a:lvl1pPr>
          <a:lvl2pPr marL="57150" indent="-57150" algn="ctr">
            <a:defRPr sz="500"/>
          </a:lvl2pPr>
          <a:lvl3pPr marL="114300" indent="-57150" algn="ctr">
            <a:defRPr sz="500"/>
          </a:lvl3pPr>
          <a:lvl4pPr marL="171450" indent="-57150" algn="ctr">
            <a:defRPr sz="500"/>
          </a:lvl4pPr>
          <a:lvl5pPr marL="228600" indent="-57150" algn="ctr">
            <a:defRPr sz="500"/>
          </a:lvl5pPr>
          <a:lvl6pPr marL="285750" indent="-57150" algn="ctr">
            <a:defRPr sz="500"/>
          </a:lvl6pPr>
          <a:lvl7pPr marL="342900" indent="-57150" algn="ctr">
            <a:defRPr sz="500"/>
          </a:lvl7pPr>
          <a:lvl8pPr marL="400050" indent="-57150" algn="ctr">
            <a:defRPr sz="500"/>
          </a:lvl8pPr>
          <a:lvl9pPr marL="457200" indent="-57150" algn="ctr">
            <a:defRPr sz="500"/>
          </a:lvl9pPr>
        </a:lstStyle>
        <a:p>
          <a:pPr lvl="0">
            <a:lnSpc>
              <a:spcPct val="100000"/>
            </a:lnSpc>
            <a:spcBef>
              <a:spcPct val="0"/>
            </a:spcBef>
            <a:spcAft>
              <a:spcPct val="35000"/>
            </a:spcAft>
          </a:pPr>
          <a:endParaRPr lang="zh-CN" altLang="en-US" dirty="0"/>
        </a:p>
      </dsp:txBody>
      <dsp:txXfrm rot="3216893">
        <a:off x="2207796" y="982128"/>
        <a:ext cx="1012070" cy="195984"/>
      </dsp:txXfrm>
    </dsp:sp>
    <dsp:sp modelId="{6B92D6B2-2593-48E9-9288-45C4C2A55968}">
      <dsp:nvSpPr>
        <dsp:cNvPr id="5" name="圆角矩形 4"/>
        <dsp:cNvSpPr/>
      </dsp:nvSpPr>
      <dsp:spPr bwMode="white">
        <a:xfrm>
          <a:off x="2743472" y="1600285"/>
          <a:ext cx="1119909" cy="559955"/>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68580" tIns="68580" rIns="68580" bIns="6858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dirty="0" smtClean="0"/>
            <a:t>网民</a:t>
          </a:r>
          <a:endParaRPr lang="zh-CN" altLang="en-US" dirty="0"/>
        </a:p>
      </dsp:txBody>
      <dsp:txXfrm>
        <a:off x="2743472" y="1600285"/>
        <a:ext cx="1119909" cy="559955"/>
      </dsp:txXfrm>
    </dsp:sp>
    <dsp:sp modelId="{67D6846B-933E-4FDD-BBFF-662C3964D907}">
      <dsp:nvSpPr>
        <dsp:cNvPr id="6" name="左右箭头 5"/>
        <dsp:cNvSpPr/>
      </dsp:nvSpPr>
      <dsp:spPr bwMode="white">
        <a:xfrm rot="10800000">
          <a:off x="1604893" y="1782271"/>
          <a:ext cx="1012070" cy="195984"/>
        </a:xfrm>
        <a:prstGeom prst="leftRightArrow">
          <a:avLst>
            <a:gd name="adj1" fmla="val 60000"/>
            <a:gd name="adj2" fmla="val 50000"/>
          </a:avLst>
        </a:prstGeom>
      </dsp:spPr>
      <dsp:style>
        <a:lnRef idx="0">
          <a:schemeClr val="lt1">
            <a:hueOff val="0"/>
            <a:satOff val="0"/>
            <a:lumOff val="0"/>
            <a:alpha val="100000"/>
          </a:schemeClr>
        </a:lnRef>
        <a:fillRef idx="1">
          <a:schemeClr val="accent3"/>
        </a:fillRef>
        <a:effectRef idx="0">
          <a:scrgbClr r="0" g="0" b="0"/>
        </a:effectRef>
        <a:fontRef idx="minor">
          <a:schemeClr val="lt1"/>
        </a:fontRef>
      </dsp:style>
      <dsp:txBody>
        <a:bodyPr rot="10800000" lIns="0" tIns="0" rIns="0" bIns="0" anchor="ctr"/>
        <a:lstStyle>
          <a:lvl1pPr algn="ctr">
            <a:defRPr sz="700"/>
          </a:lvl1pPr>
          <a:lvl2pPr marL="57150" indent="-57150" algn="ctr">
            <a:defRPr sz="500"/>
          </a:lvl2pPr>
          <a:lvl3pPr marL="114300" indent="-57150" algn="ctr">
            <a:defRPr sz="500"/>
          </a:lvl3pPr>
          <a:lvl4pPr marL="171450" indent="-57150" algn="ctr">
            <a:defRPr sz="500"/>
          </a:lvl4pPr>
          <a:lvl5pPr marL="228600" indent="-57150" algn="ctr">
            <a:defRPr sz="500"/>
          </a:lvl5pPr>
          <a:lvl6pPr marL="285750" indent="-57150" algn="ctr">
            <a:defRPr sz="500"/>
          </a:lvl6pPr>
          <a:lvl7pPr marL="342900" indent="-57150" algn="ctr">
            <a:defRPr sz="500"/>
          </a:lvl7pPr>
          <a:lvl8pPr marL="400050" indent="-57150" algn="ctr">
            <a:defRPr sz="500"/>
          </a:lvl8pPr>
          <a:lvl9pPr marL="457200" indent="-57150" algn="ctr">
            <a:defRPr sz="500"/>
          </a:lvl9pPr>
        </a:lstStyle>
        <a:p>
          <a:pPr lvl="0">
            <a:lnSpc>
              <a:spcPct val="100000"/>
            </a:lnSpc>
            <a:spcBef>
              <a:spcPct val="0"/>
            </a:spcBef>
            <a:spcAft>
              <a:spcPct val="35000"/>
            </a:spcAft>
          </a:pPr>
          <a:endParaRPr lang="zh-CN" altLang="en-US"/>
        </a:p>
      </dsp:txBody>
      <dsp:txXfrm rot="10800000">
        <a:off x="1604893" y="1782271"/>
        <a:ext cx="1012070" cy="195984"/>
      </dsp:txXfrm>
    </dsp:sp>
    <dsp:sp modelId="{21D0F7F7-7207-4AEA-9D3A-BE2A69757B25}">
      <dsp:nvSpPr>
        <dsp:cNvPr id="7" name="圆角矩形 6"/>
        <dsp:cNvSpPr/>
      </dsp:nvSpPr>
      <dsp:spPr bwMode="white">
        <a:xfrm>
          <a:off x="358475" y="1600285"/>
          <a:ext cx="1119909" cy="559955"/>
        </a:xfrm>
        <a:prstGeom prst="roundRect">
          <a:avLst>
            <a:gd name="adj" fmla="val 10000"/>
          </a:avLst>
        </a:prstGeom>
      </dsp:spPr>
      <dsp:style>
        <a:lnRef idx="2">
          <a:schemeClr val="lt1"/>
        </a:lnRef>
        <a:fillRef idx="1">
          <a:schemeClr val="accent4"/>
        </a:fillRef>
        <a:effectRef idx="0">
          <a:scrgbClr r="0" g="0" b="0"/>
        </a:effectRef>
        <a:fontRef idx="minor">
          <a:schemeClr val="lt1"/>
        </a:fontRef>
      </dsp:style>
      <dsp:txBody>
        <a:bodyPr lIns="68580" tIns="68580" rIns="68580" bIns="6858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dirty="0" smtClean="0"/>
            <a:t>搜索引擎</a:t>
          </a:r>
          <a:endParaRPr lang="zh-CN" altLang="en-US" dirty="0"/>
        </a:p>
      </dsp:txBody>
      <dsp:txXfrm>
        <a:off x="358475" y="1600285"/>
        <a:ext cx="1119909" cy="559955"/>
      </dsp:txXfrm>
    </dsp:sp>
    <dsp:sp modelId="{3312CCA1-B17F-44F8-BA97-09A750C8A542}">
      <dsp:nvSpPr>
        <dsp:cNvPr id="8" name="左右箭头 7"/>
        <dsp:cNvSpPr/>
      </dsp:nvSpPr>
      <dsp:spPr bwMode="white">
        <a:xfrm rot="-3180129">
          <a:off x="1015297" y="982128"/>
          <a:ext cx="1012070" cy="195984"/>
        </a:xfrm>
        <a:prstGeom prst="leftRightArrow">
          <a:avLst>
            <a:gd name="adj1" fmla="val 60000"/>
            <a:gd name="adj2" fmla="val 50000"/>
          </a:avLst>
        </a:prstGeom>
      </dsp:spPr>
      <dsp:style>
        <a:lnRef idx="0">
          <a:schemeClr val="lt1">
            <a:hueOff val="0"/>
            <a:satOff val="0"/>
            <a:lumOff val="0"/>
            <a:alpha val="100000"/>
          </a:schemeClr>
        </a:lnRef>
        <a:fillRef idx="1">
          <a:schemeClr val="accent4"/>
        </a:fillRef>
        <a:effectRef idx="0">
          <a:scrgbClr r="0" g="0" b="0"/>
        </a:effectRef>
        <a:fontRef idx="minor">
          <a:schemeClr val="lt1"/>
        </a:fontRef>
      </dsp:style>
      <dsp:txBody>
        <a:bodyPr lIns="0" tIns="0" rIns="0" bIns="0" anchor="ctr"/>
        <a:lstStyle>
          <a:lvl1pPr algn="ctr">
            <a:defRPr sz="700"/>
          </a:lvl1pPr>
          <a:lvl2pPr marL="57150" indent="-57150" algn="ctr">
            <a:defRPr sz="500"/>
          </a:lvl2pPr>
          <a:lvl3pPr marL="114300" indent="-57150" algn="ctr">
            <a:defRPr sz="500"/>
          </a:lvl3pPr>
          <a:lvl4pPr marL="171450" indent="-57150" algn="ctr">
            <a:defRPr sz="500"/>
          </a:lvl4pPr>
          <a:lvl5pPr marL="228600" indent="-57150" algn="ctr">
            <a:defRPr sz="500"/>
          </a:lvl5pPr>
          <a:lvl6pPr marL="285750" indent="-57150" algn="ctr">
            <a:defRPr sz="500"/>
          </a:lvl6pPr>
          <a:lvl7pPr marL="342900" indent="-57150" algn="ctr">
            <a:defRPr sz="500"/>
          </a:lvl7pPr>
          <a:lvl8pPr marL="400050" indent="-57150" algn="ctr">
            <a:defRPr sz="500"/>
          </a:lvl8pPr>
          <a:lvl9pPr marL="457200" indent="-57150" algn="ctr">
            <a:defRPr sz="500"/>
          </a:lvl9pPr>
        </a:lstStyle>
        <a:p>
          <a:pPr lvl="0">
            <a:lnSpc>
              <a:spcPct val="100000"/>
            </a:lnSpc>
            <a:spcBef>
              <a:spcPct val="0"/>
            </a:spcBef>
            <a:spcAft>
              <a:spcPct val="35000"/>
            </a:spcAft>
          </a:pPr>
          <a:endParaRPr lang="zh-CN" altLang="en-US"/>
        </a:p>
      </dsp:txBody>
      <dsp:txXfrm rot="-3180129">
        <a:off x="1015297" y="982128"/>
        <a:ext cx="1012070" cy="195984"/>
      </dsp:txXfrm>
    </dsp:sp>
  </dsp:spTree>
</dsp:drawing>
</file>

<file path=ppt/diagrams/layout1.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Sty" val="arr"/>
                    <dgm:param type="endSty" val="arr"/>
                    <dgm:param type="begPts" val="radial"/>
                    <dgm:param type="endPts" val="radial"/>
                  </dgm:alg>
                </dgm:if>
                <dgm:else name="Name8">
                  <dgm:alg type="conn">
                    <dgm:param type="begSty" val="arr"/>
                    <dgm:param type="endSty" val="arr"/>
                    <dgm:param type="begPts" val="auto"/>
                    <dgm:param type="endPts" val="auto"/>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BC5A5E5-8105-7145-B4A3-136A17E536EC}"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24CCF0-5633-634F-B6D6-5507779C9B9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首先欢迎各位同事来听我的策略串讲。</a:t>
            </a:r>
            <a:endParaRPr lang="en-US" altLang="zh-CN" dirty="0" smtClean="0"/>
          </a:p>
          <a:p>
            <a:r>
              <a:rPr lang="zh-CN" altLang="en-US" dirty="0" smtClean="0"/>
              <a:t>这里先跟大家道个歉，我已经申请了电脑以旧换新，但新电脑采购需要一段时间，现在只能用旧电脑来进行分享，</a:t>
            </a:r>
            <a:r>
              <a:rPr lang="en-US" altLang="zh-CN" dirty="0" err="1" smtClean="0"/>
              <a:t>ppt</a:t>
            </a:r>
            <a:r>
              <a:rPr lang="zh-CN" altLang="en-US" dirty="0" smtClean="0"/>
              <a:t>页面切换的时候可能会存在卡顿延迟的现象，希望大家多多包涵。</a:t>
            </a:r>
            <a:endParaRPr lang="en-US" altLang="zh-CN" dirty="0" smtClean="0"/>
          </a:p>
          <a:p>
            <a:r>
              <a:rPr lang="zh-CN" altLang="en-US" dirty="0" smtClean="0"/>
              <a:t>另外我觉得对于策略串讲来说，</a:t>
            </a:r>
            <a:r>
              <a:rPr lang="en-US" altLang="zh-CN" dirty="0" smtClean="0"/>
              <a:t>PPT</a:t>
            </a:r>
            <a:r>
              <a:rPr lang="zh-CN" altLang="en-US" dirty="0" smtClean="0"/>
              <a:t>不是一个最好的展现形式，不过时间所限只能以这种形式进行分享。有些文字的字体可能比较小，看不清的话可以查看发到群里的串讲</a:t>
            </a:r>
            <a:r>
              <a:rPr lang="en-US" altLang="zh-CN" dirty="0" smtClean="0"/>
              <a:t>PPT</a:t>
            </a:r>
            <a:r>
              <a:rPr lang="zh-CN" altLang="en-US" dirty="0" smtClean="0"/>
              <a:t>。</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我们的介绍首先是从业务背景开始讲起，主要介绍反作弊的由来和要解决的问题，其次是对反作弊的系统结构进行简单的介绍，并引入一些基本的概念，而第三部分则是就具体的策略和特征进行说明。</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zh-CN" sz="1200" kern="1200" dirty="0" smtClean="0">
                <a:solidFill>
                  <a:schemeClr val="tx1"/>
                </a:solidFill>
                <a:effectLst/>
                <a:latin typeface="Arial" panose="020B0604020202020204" pitchFamily="34" charset="0"/>
                <a:ea typeface="+mn-ea"/>
                <a:cs typeface="+mn-cs"/>
              </a:rPr>
              <a:t>百度构建免费</a:t>
            </a:r>
            <a:r>
              <a:rPr lang="en-US" altLang="zh-CN" sz="1200" kern="1200" dirty="0" smtClean="0">
                <a:solidFill>
                  <a:schemeClr val="tx1"/>
                </a:solidFill>
                <a:effectLst/>
                <a:latin typeface="Arial" panose="020B0604020202020204" pitchFamily="34" charset="0"/>
                <a:ea typeface="+mn-ea"/>
                <a:cs typeface="+mn-cs"/>
              </a:rPr>
              <a:t>web2.0</a:t>
            </a:r>
            <a:r>
              <a:rPr lang="zh-CN" altLang="zh-CN" sz="1200" kern="1200" dirty="0" smtClean="0">
                <a:solidFill>
                  <a:schemeClr val="tx1"/>
                </a:solidFill>
                <a:effectLst/>
                <a:latin typeface="Arial" panose="020B0604020202020204" pitchFamily="34" charset="0"/>
                <a:ea typeface="+mn-ea"/>
                <a:cs typeface="+mn-cs"/>
              </a:rPr>
              <a:t>服务系统，吸引海量用户来使用系统，</a:t>
            </a:r>
            <a:r>
              <a:rPr lang="zh-CN" altLang="en-US" sz="1200" kern="1200" dirty="0" smtClean="0">
                <a:solidFill>
                  <a:schemeClr val="tx1"/>
                </a:solidFill>
                <a:effectLst/>
                <a:latin typeface="Arial" panose="020B0604020202020204" pitchFamily="34" charset="0"/>
                <a:ea typeface="+mn-ea"/>
                <a:cs typeface="+mn-cs"/>
              </a:rPr>
              <a:t>但如果只有搜索引擎和网民两方，处于搜索引擎这一方的百度始终是付出的那一方，这种模式无法长久。因此，需要引入广告主这一端，百度可以依靠广告来获取现金流，支付维持搜索服务的成本，研发新的技术，提升用户的搜索体验，广告主则能够想自己的目标群体精准投放广告，获得相较于传统媒体来说更高的转化率，网民则能够继续使用搜索服务获取互联网上的有用信息。一个正向的循环就形成了。</a:t>
            </a:r>
            <a:endParaRPr lang="en-US" altLang="zh-CN" sz="1200" kern="1200" dirty="0" smtClean="0">
              <a:solidFill>
                <a:schemeClr val="tx1"/>
              </a:solidFill>
              <a:effectLst/>
              <a:latin typeface="Arial" panose="020B0604020202020204" pitchFamily="3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endParaRPr lang="en-US" altLang="zh-CN" sz="1200" kern="1200" dirty="0" smtClean="0">
              <a:solidFill>
                <a:schemeClr val="tx1"/>
              </a:solidFill>
              <a:effectLst/>
              <a:latin typeface="Arial" panose="020B0604020202020204" pitchFamily="34" charset="0"/>
              <a:ea typeface="+mn-ea"/>
              <a:cs typeface="+mn-cs"/>
            </a:endParaRPr>
          </a:p>
          <a:p>
            <a:endParaRPr kumimoji="1" lang="zh-CN" altLang="en-US" dirty="0"/>
          </a:p>
        </p:txBody>
      </p:sp>
      <p:sp>
        <p:nvSpPr>
          <p:cNvPr id="4" name="幻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zh-CN" altLang="zh-CN" sz="1200" kern="1200" dirty="0" smtClean="0">
                <a:solidFill>
                  <a:schemeClr val="tx1"/>
                </a:solidFill>
                <a:effectLst/>
                <a:latin typeface="Arial" panose="020B0604020202020204" pitchFamily="34" charset="0"/>
                <a:ea typeface="宋体" pitchFamily="2" charset="-122"/>
                <a:cs typeface="+mn-cs"/>
              </a:rPr>
              <a:t>检索作弊</a:t>
            </a:r>
            <a:endParaRPr lang="zh-CN" altLang="zh-CN" sz="1200" kern="1200" dirty="0" smtClean="0">
              <a:solidFill>
                <a:schemeClr val="tx1"/>
              </a:solidFill>
              <a:effectLst/>
              <a:latin typeface="Arial" panose="020B0604020202020204" pitchFamily="34" charset="0"/>
              <a:ea typeface="宋体" pitchFamily="2" charset="-122"/>
              <a:cs typeface="+mn-cs"/>
            </a:endParaRPr>
          </a:p>
          <a:p>
            <a:pPr lvl="0"/>
            <a:r>
              <a:rPr lang="en-US" altLang="zh-CN" sz="1200" kern="1200" dirty="0" smtClean="0">
                <a:solidFill>
                  <a:schemeClr val="tx1"/>
                </a:solidFill>
                <a:effectLst/>
                <a:latin typeface="Arial" panose="020B0604020202020204" pitchFamily="34" charset="0"/>
                <a:ea typeface="宋体" pitchFamily="2" charset="-122"/>
                <a:cs typeface="+mn-cs"/>
              </a:rPr>
              <a:t>1.</a:t>
            </a:r>
            <a:r>
              <a:rPr lang="zh-CN" altLang="en-US" sz="1200" kern="1200" dirty="0" smtClean="0">
                <a:solidFill>
                  <a:schemeClr val="tx1"/>
                </a:solidFill>
                <a:effectLst/>
                <a:latin typeface="Arial" panose="020B0604020202020204" pitchFamily="34" charset="0"/>
                <a:ea typeface="宋体" pitchFamily="2" charset="-122"/>
                <a:cs typeface="+mn-cs"/>
              </a:rPr>
              <a:t> </a:t>
            </a:r>
            <a:r>
              <a:rPr lang="zh-CN" altLang="zh-CN" sz="1200" kern="1200" dirty="0" smtClean="0">
                <a:solidFill>
                  <a:schemeClr val="tx1"/>
                </a:solidFill>
                <a:effectLst/>
                <a:latin typeface="Arial" panose="020B0604020202020204" pitchFamily="34" charset="0"/>
                <a:ea typeface="宋体" pitchFamily="2" charset="-122"/>
                <a:cs typeface="+mn-cs"/>
              </a:rPr>
              <a:t>学术研究，比如使用脚本或软件获取搜索引擎信息，作为其研究数据。</a:t>
            </a:r>
            <a:endParaRPr lang="zh-CN" altLang="zh-CN" sz="1200" kern="1200" dirty="0" smtClean="0">
              <a:solidFill>
                <a:schemeClr val="tx1"/>
              </a:solidFill>
              <a:effectLst/>
              <a:latin typeface="Arial" panose="020B0604020202020204" pitchFamily="34" charset="0"/>
              <a:ea typeface="宋体" pitchFamily="2" charset="-122"/>
              <a:cs typeface="+mn-cs"/>
            </a:endParaRPr>
          </a:p>
          <a:p>
            <a:pPr lvl="0"/>
            <a:r>
              <a:rPr lang="en-US" altLang="zh-CN" sz="1200" kern="1200" dirty="0" smtClean="0">
                <a:solidFill>
                  <a:schemeClr val="tx1"/>
                </a:solidFill>
                <a:effectLst/>
                <a:latin typeface="Arial" panose="020B0604020202020204" pitchFamily="34" charset="0"/>
                <a:ea typeface="宋体" pitchFamily="2" charset="-122"/>
                <a:cs typeface="+mn-cs"/>
              </a:rPr>
              <a:t>2.</a:t>
            </a:r>
            <a:r>
              <a:rPr lang="zh-CN" altLang="en-US" sz="1200" kern="1200" dirty="0" smtClean="0">
                <a:solidFill>
                  <a:schemeClr val="tx1"/>
                </a:solidFill>
                <a:effectLst/>
                <a:latin typeface="Arial" panose="020B0604020202020204" pitchFamily="34" charset="0"/>
                <a:ea typeface="宋体" pitchFamily="2" charset="-122"/>
                <a:cs typeface="+mn-cs"/>
              </a:rPr>
              <a:t> </a:t>
            </a:r>
            <a:r>
              <a:rPr lang="zh-CN" altLang="zh-CN" sz="1200" kern="1200" dirty="0" smtClean="0">
                <a:solidFill>
                  <a:schemeClr val="tx1"/>
                </a:solidFill>
                <a:effectLst/>
                <a:latin typeface="Arial" panose="020B0604020202020204" pitchFamily="34" charset="0"/>
                <a:ea typeface="宋体" pitchFamily="2" charset="-122"/>
                <a:cs typeface="+mn-cs"/>
              </a:rPr>
              <a:t>第三方评估，评估机构使用脚本或软件进行自动检索，来对搜索引擎的性能，相关性等进行评估测试。</a:t>
            </a:r>
            <a:endParaRPr lang="zh-CN" altLang="en-US" sz="1200" kern="1200" dirty="0" smtClean="0">
              <a:solidFill>
                <a:schemeClr val="tx1"/>
              </a:solidFill>
              <a:effectLst/>
              <a:latin typeface="Arial" panose="020B0604020202020204" pitchFamily="34"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sz="1200" kern="1200" dirty="0" smtClean="0">
                <a:solidFill>
                  <a:schemeClr val="tx1"/>
                </a:solidFill>
                <a:effectLst/>
                <a:latin typeface="Arial" panose="020B0604020202020204" pitchFamily="34" charset="0"/>
                <a:ea typeface="宋体" pitchFamily="2" charset="-122"/>
                <a:cs typeface="+mn-cs"/>
              </a:rPr>
              <a:t>3.</a:t>
            </a:r>
            <a:r>
              <a:rPr lang="zh-CN" altLang="zh-CN" sz="1200" kern="1200" dirty="0" smtClean="0">
                <a:solidFill>
                  <a:schemeClr val="tx1"/>
                </a:solidFill>
                <a:effectLst/>
                <a:latin typeface="Arial" panose="020B0604020202020204" pitchFamily="34" charset="0"/>
                <a:ea typeface="宋体" pitchFamily="2" charset="-122"/>
                <a:cs typeface="+mn-cs"/>
              </a:rPr>
              <a:t>爬虫获取信息，一些个人，机构，或者小的搜索引擎，以百度搜索作为互联网入口，根据某个或某类关键词大量检索信息。</a:t>
            </a:r>
            <a:endParaRPr lang="zh-CN" altLang="zh-CN" sz="1200" kern="1200" dirty="0" smtClean="0">
              <a:solidFill>
                <a:schemeClr val="tx1"/>
              </a:solidFill>
              <a:effectLst/>
              <a:latin typeface="Arial" panose="020B0604020202020204" pitchFamily="34" charset="0"/>
              <a:ea typeface="宋体" pitchFamily="2" charset="-122"/>
              <a:cs typeface="+mn-cs"/>
            </a:endParaRPr>
          </a:p>
          <a:p>
            <a:pPr lvl="0"/>
            <a:r>
              <a:rPr lang="en-US" altLang="zh-CN" sz="1200" kern="1200" dirty="0" smtClean="0">
                <a:solidFill>
                  <a:schemeClr val="tx1"/>
                </a:solidFill>
                <a:effectLst/>
                <a:latin typeface="Arial" panose="020B0604020202020204" pitchFamily="34" charset="0"/>
                <a:ea typeface="宋体" pitchFamily="2" charset="-122"/>
                <a:cs typeface="+mn-cs"/>
              </a:rPr>
              <a:t>10.</a:t>
            </a:r>
            <a:r>
              <a:rPr lang="zh-CN" altLang="en-US" sz="1200" kern="1200" dirty="0" smtClean="0">
                <a:solidFill>
                  <a:schemeClr val="tx1"/>
                </a:solidFill>
                <a:effectLst/>
                <a:latin typeface="Arial" panose="020B0604020202020204" pitchFamily="34" charset="0"/>
                <a:ea typeface="宋体" pitchFamily="2" charset="-122"/>
                <a:cs typeface="+mn-cs"/>
              </a:rPr>
              <a:t> 针对一些</a:t>
            </a:r>
            <a:r>
              <a:rPr lang="en-US" altLang="zh-CN" sz="1200" kern="1200" dirty="0" smtClean="0">
                <a:solidFill>
                  <a:schemeClr val="tx1"/>
                </a:solidFill>
                <a:effectLst/>
                <a:latin typeface="Arial" panose="020B0604020202020204" pitchFamily="34" charset="0"/>
                <a:ea typeface="宋体" pitchFamily="2" charset="-122"/>
                <a:cs typeface="+mn-cs"/>
              </a:rPr>
              <a:t>CPM</a:t>
            </a:r>
            <a:r>
              <a:rPr lang="zh-CN" altLang="en-US" sz="1200" kern="1200" dirty="0" smtClean="0">
                <a:solidFill>
                  <a:schemeClr val="tx1"/>
                </a:solidFill>
                <a:effectLst/>
                <a:latin typeface="Arial" panose="020B0604020202020204" pitchFamily="34" charset="0"/>
                <a:ea typeface="宋体" pitchFamily="2" charset="-122"/>
                <a:cs typeface="+mn-cs"/>
              </a:rPr>
              <a:t>类的计费模式，按照检索进行分成，联盟伙伴通过检索作弊增大检索流量，来赚取不正当的分成。</a:t>
            </a:r>
            <a:r>
              <a:rPr lang="zh-CN" altLang="zh-CN" sz="1200" kern="1200" dirty="0" smtClean="0">
                <a:solidFill>
                  <a:schemeClr val="tx1"/>
                </a:solidFill>
                <a:effectLst/>
                <a:latin typeface="Arial" panose="020B0604020202020204" pitchFamily="34" charset="0"/>
                <a:ea typeface="宋体" pitchFamily="2" charset="-122"/>
                <a:cs typeface="+mn-cs"/>
              </a:rPr>
              <a:t> </a:t>
            </a:r>
            <a:endParaRPr lang="zh-CN" altLang="zh-CN" sz="1200" kern="1200" dirty="0" smtClean="0">
              <a:solidFill>
                <a:schemeClr val="tx1"/>
              </a:solidFill>
              <a:effectLst/>
              <a:latin typeface="Arial" panose="020B0604020202020204" pitchFamily="34" charset="0"/>
              <a:ea typeface="宋体" pitchFamily="2" charset="-122"/>
              <a:cs typeface="+mn-cs"/>
            </a:endParaRPr>
          </a:p>
          <a:p>
            <a:pPr lvl="0"/>
            <a:r>
              <a:rPr lang="en-US" altLang="zh-CN" sz="1200" kern="1200" dirty="0" smtClean="0">
                <a:solidFill>
                  <a:schemeClr val="tx1"/>
                </a:solidFill>
                <a:effectLst/>
                <a:latin typeface="Arial" panose="020B0604020202020204" pitchFamily="34" charset="0"/>
                <a:ea typeface="宋体" pitchFamily="2" charset="-122"/>
                <a:cs typeface="+mn-cs"/>
              </a:rPr>
              <a:t>4.</a:t>
            </a:r>
            <a:r>
              <a:rPr lang="zh-CN" altLang="en-US" sz="1200" kern="1200" dirty="0" smtClean="0">
                <a:solidFill>
                  <a:schemeClr val="tx1"/>
                </a:solidFill>
                <a:effectLst/>
                <a:latin typeface="Arial" panose="020B0604020202020204" pitchFamily="34" charset="0"/>
                <a:ea typeface="宋体" pitchFamily="2" charset="-122"/>
                <a:cs typeface="+mn-cs"/>
              </a:rPr>
              <a:t> </a:t>
            </a:r>
            <a:r>
              <a:rPr lang="en-US" altLang="zh-CN" sz="1200" kern="1200" dirty="0" smtClean="0">
                <a:solidFill>
                  <a:schemeClr val="tx1"/>
                </a:solidFill>
                <a:effectLst/>
                <a:latin typeface="Arial" panose="020B0604020202020204" pitchFamily="34" charset="0"/>
                <a:ea typeface="宋体" pitchFamily="2" charset="-122"/>
                <a:cs typeface="+mn-cs"/>
              </a:rPr>
              <a:t>SEO</a:t>
            </a:r>
            <a:r>
              <a:rPr lang="zh-CN" altLang="zh-CN" sz="1200" kern="1200" dirty="0" smtClean="0">
                <a:solidFill>
                  <a:schemeClr val="tx1"/>
                </a:solidFill>
                <a:effectLst/>
                <a:latin typeface="Arial" panose="020B0604020202020204" pitchFamily="34" charset="0"/>
                <a:ea typeface="宋体" pitchFamily="2" charset="-122"/>
                <a:cs typeface="+mn-cs"/>
              </a:rPr>
              <a:t>优化。</a:t>
            </a:r>
            <a:r>
              <a:rPr lang="zh-CN" altLang="en-US" sz="1200" kern="1200" dirty="0" smtClean="0">
                <a:solidFill>
                  <a:schemeClr val="tx1"/>
                </a:solidFill>
                <a:effectLst/>
                <a:latin typeface="Arial" panose="020B0604020202020204" pitchFamily="34" charset="0"/>
                <a:ea typeface="宋体" pitchFamily="2" charset="-122"/>
                <a:cs typeface="+mn-cs"/>
              </a:rPr>
              <a:t>搜索引擎优化，</a:t>
            </a:r>
            <a:r>
              <a:rPr lang="zh-CN" altLang="zh-CN" sz="1200" kern="1200" dirty="0" smtClean="0">
                <a:solidFill>
                  <a:schemeClr val="tx1"/>
                </a:solidFill>
                <a:effectLst/>
                <a:latin typeface="Arial" panose="020B0604020202020204" pitchFamily="34" charset="0"/>
                <a:ea typeface="宋体" pitchFamily="2" charset="-122"/>
                <a:cs typeface="+mn-cs"/>
              </a:rPr>
              <a:t>通过不停地获取搜索引擎的排名结果，对其</a:t>
            </a:r>
            <a:r>
              <a:rPr lang="en-US" altLang="zh-CN" sz="1200" kern="1200" dirty="0" smtClean="0">
                <a:solidFill>
                  <a:schemeClr val="tx1"/>
                </a:solidFill>
                <a:effectLst/>
                <a:latin typeface="Arial" panose="020B0604020202020204" pitchFamily="34" charset="0"/>
                <a:ea typeface="宋体" pitchFamily="2" charset="-122"/>
                <a:cs typeface="+mn-cs"/>
              </a:rPr>
              <a:t>SEO</a:t>
            </a:r>
            <a:r>
              <a:rPr lang="zh-CN" altLang="zh-CN" sz="1200" kern="1200" dirty="0" smtClean="0">
                <a:solidFill>
                  <a:schemeClr val="tx1"/>
                </a:solidFill>
                <a:effectLst/>
                <a:latin typeface="Arial" panose="020B0604020202020204" pitchFamily="34" charset="0"/>
                <a:ea typeface="宋体" pitchFamily="2" charset="-122"/>
                <a:cs typeface="+mn-cs"/>
              </a:rPr>
              <a:t>的结果进行评价，并由此进行相应调整。</a:t>
            </a:r>
            <a:endParaRPr lang="zh-CN" altLang="zh-CN" sz="1200" kern="1200" dirty="0" smtClean="0">
              <a:solidFill>
                <a:schemeClr val="tx1"/>
              </a:solidFill>
              <a:effectLst/>
              <a:latin typeface="Arial" panose="020B0604020202020204" pitchFamily="34" charset="0"/>
              <a:ea typeface="宋体" pitchFamily="2" charset="-122"/>
              <a:cs typeface="+mn-cs"/>
            </a:endParaRPr>
          </a:p>
          <a:p>
            <a:pPr lvl="0"/>
            <a:r>
              <a:rPr lang="en-US" altLang="zh-CN" sz="1200" kern="1200" dirty="0" smtClean="0">
                <a:solidFill>
                  <a:schemeClr val="tx1"/>
                </a:solidFill>
                <a:effectLst/>
                <a:latin typeface="Arial" panose="020B0604020202020204" pitchFamily="34" charset="0"/>
                <a:ea typeface="宋体" pitchFamily="2" charset="-122"/>
                <a:cs typeface="+mn-cs"/>
              </a:rPr>
              <a:t>5.</a:t>
            </a:r>
            <a:r>
              <a:rPr lang="zh-CN" altLang="en-US" sz="1200" kern="1200" dirty="0" smtClean="0">
                <a:solidFill>
                  <a:schemeClr val="tx1"/>
                </a:solidFill>
                <a:effectLst/>
                <a:latin typeface="Arial" panose="020B0604020202020204" pitchFamily="34" charset="0"/>
                <a:ea typeface="宋体" pitchFamily="2" charset="-122"/>
                <a:cs typeface="+mn-cs"/>
              </a:rPr>
              <a:t> </a:t>
            </a:r>
            <a:r>
              <a:rPr lang="en-US" altLang="zh-CN" sz="1200" kern="1200" dirty="0" smtClean="0">
                <a:solidFill>
                  <a:schemeClr val="tx1"/>
                </a:solidFill>
                <a:effectLst/>
                <a:latin typeface="Arial" panose="020B0604020202020204" pitchFamily="34" charset="0"/>
                <a:ea typeface="宋体" pitchFamily="2" charset="-122"/>
                <a:cs typeface="+mn-cs"/>
              </a:rPr>
              <a:t>SEM</a:t>
            </a:r>
            <a:r>
              <a:rPr lang="zh-CN" altLang="zh-CN" sz="1200" kern="1200" dirty="0" smtClean="0">
                <a:solidFill>
                  <a:schemeClr val="tx1"/>
                </a:solidFill>
                <a:effectLst/>
                <a:latin typeface="Arial" panose="020B0604020202020204" pitchFamily="34" charset="0"/>
                <a:ea typeface="宋体" pitchFamily="2" charset="-122"/>
                <a:cs typeface="+mn-cs"/>
              </a:rPr>
              <a:t>优化。</a:t>
            </a:r>
            <a:r>
              <a:rPr lang="zh-CN" altLang="en-US" sz="1200" kern="1200" dirty="0" smtClean="0">
                <a:solidFill>
                  <a:schemeClr val="tx1"/>
                </a:solidFill>
                <a:effectLst/>
                <a:latin typeface="Arial" panose="020B0604020202020204" pitchFamily="34" charset="0"/>
                <a:ea typeface="宋体" pitchFamily="2" charset="-122"/>
                <a:cs typeface="+mn-cs"/>
              </a:rPr>
              <a:t>搜索引擎营销，</a:t>
            </a:r>
            <a:r>
              <a:rPr lang="zh-CN" altLang="zh-CN" sz="1200" kern="1200" dirty="0" smtClean="0">
                <a:solidFill>
                  <a:schemeClr val="tx1"/>
                </a:solidFill>
                <a:effectLst/>
                <a:latin typeface="Arial" panose="020B0604020202020204" pitchFamily="34" charset="0"/>
                <a:ea typeface="宋体" pitchFamily="2" charset="-122"/>
                <a:cs typeface="+mn-cs"/>
              </a:rPr>
              <a:t>通过不停的获取搜索引擎的排名结果，对其在百度进行</a:t>
            </a:r>
            <a:r>
              <a:rPr lang="en-US" altLang="zh-CN" sz="1200" kern="1200" dirty="0" smtClean="0">
                <a:solidFill>
                  <a:schemeClr val="tx1"/>
                </a:solidFill>
                <a:effectLst/>
                <a:latin typeface="Arial" panose="020B0604020202020204" pitchFamily="34" charset="0"/>
                <a:ea typeface="宋体" pitchFamily="2" charset="-122"/>
                <a:cs typeface="+mn-cs"/>
              </a:rPr>
              <a:t>SEM</a:t>
            </a:r>
            <a:r>
              <a:rPr lang="zh-CN" altLang="zh-CN" sz="1200" kern="1200" dirty="0" smtClean="0">
                <a:solidFill>
                  <a:schemeClr val="tx1"/>
                </a:solidFill>
                <a:effectLst/>
                <a:latin typeface="Arial" panose="020B0604020202020204" pitchFamily="34" charset="0"/>
                <a:ea typeface="宋体" pitchFamily="2" charset="-122"/>
                <a:cs typeface="+mn-cs"/>
              </a:rPr>
              <a:t>推广的排名和出价进行优化调整。</a:t>
            </a:r>
            <a:endParaRPr lang="zh-CN" altLang="zh-CN" sz="1200" kern="1200" dirty="0" smtClean="0">
              <a:solidFill>
                <a:schemeClr val="tx1"/>
              </a:solidFill>
              <a:effectLst/>
              <a:latin typeface="Arial" panose="020B0604020202020204" pitchFamily="34" charset="0"/>
              <a:ea typeface="宋体" pitchFamily="2" charset="-122"/>
              <a:cs typeface="+mn-cs"/>
            </a:endParaRPr>
          </a:p>
          <a:p>
            <a:pPr lvl="0"/>
            <a:r>
              <a:rPr lang="en-US" altLang="zh-CN" sz="1200" kern="1200" dirty="0" smtClean="0">
                <a:solidFill>
                  <a:schemeClr val="tx1"/>
                </a:solidFill>
                <a:effectLst/>
                <a:latin typeface="Arial" panose="020B0604020202020204" pitchFamily="34" charset="0"/>
                <a:ea typeface="宋体" pitchFamily="2" charset="-122"/>
                <a:cs typeface="+mn-cs"/>
              </a:rPr>
              <a:t>6.</a:t>
            </a:r>
            <a:r>
              <a:rPr lang="zh-CN" altLang="en-US" sz="1200" kern="1200" dirty="0" smtClean="0">
                <a:solidFill>
                  <a:schemeClr val="tx1"/>
                </a:solidFill>
                <a:effectLst/>
                <a:latin typeface="Arial" panose="020B0604020202020204" pitchFamily="34" charset="0"/>
                <a:ea typeface="宋体" pitchFamily="2" charset="-122"/>
                <a:cs typeface="+mn-cs"/>
              </a:rPr>
              <a:t> </a:t>
            </a:r>
            <a:r>
              <a:rPr lang="zh-CN" altLang="zh-CN" sz="1200" kern="1200" dirty="0" smtClean="0">
                <a:solidFill>
                  <a:schemeClr val="tx1"/>
                </a:solidFill>
                <a:effectLst/>
                <a:latin typeface="Arial" panose="020B0604020202020204" pitchFamily="34" charset="0"/>
                <a:ea typeface="宋体" pitchFamily="2" charset="-122"/>
                <a:cs typeface="+mn-cs"/>
              </a:rPr>
              <a:t>网络攻击前期准备，使用搜索引擎自动搜集脆弱站点信息。</a:t>
            </a:r>
            <a:endParaRPr lang="zh-CN" altLang="zh-CN" sz="1200" kern="1200" dirty="0" smtClean="0">
              <a:solidFill>
                <a:schemeClr val="tx1"/>
              </a:solidFill>
              <a:effectLst/>
              <a:latin typeface="Arial" panose="020B0604020202020204" pitchFamily="34" charset="0"/>
              <a:ea typeface="宋体" pitchFamily="2" charset="-122"/>
              <a:cs typeface="+mn-cs"/>
            </a:endParaRPr>
          </a:p>
          <a:p>
            <a:pPr lvl="0"/>
            <a:r>
              <a:rPr lang="en-US" altLang="zh-CN" sz="1200" kern="1200" dirty="0" smtClean="0">
                <a:solidFill>
                  <a:schemeClr val="tx1"/>
                </a:solidFill>
                <a:effectLst/>
                <a:latin typeface="Arial" panose="020B0604020202020204" pitchFamily="34" charset="0"/>
                <a:ea typeface="宋体" pitchFamily="2" charset="-122"/>
                <a:cs typeface="+mn-cs"/>
              </a:rPr>
              <a:t>7.</a:t>
            </a:r>
            <a:r>
              <a:rPr lang="zh-CN" altLang="en-US" sz="1200" kern="1200" dirty="0" smtClean="0">
                <a:solidFill>
                  <a:schemeClr val="tx1"/>
                </a:solidFill>
                <a:effectLst/>
                <a:latin typeface="Arial" panose="020B0604020202020204" pitchFamily="34" charset="0"/>
                <a:ea typeface="宋体" pitchFamily="2" charset="-122"/>
                <a:cs typeface="+mn-cs"/>
              </a:rPr>
              <a:t> </a:t>
            </a:r>
            <a:r>
              <a:rPr lang="zh-CN" altLang="zh-CN" sz="1200" kern="1200" dirty="0" smtClean="0">
                <a:solidFill>
                  <a:schemeClr val="tx1"/>
                </a:solidFill>
                <a:effectLst/>
                <a:latin typeface="Arial" panose="020B0604020202020204" pitchFamily="34" charset="0"/>
                <a:ea typeface="宋体" pitchFamily="2" charset="-122"/>
                <a:cs typeface="+mn-cs"/>
              </a:rPr>
              <a:t>刷搜索风云榜。网络推广公司、网络推手或者某些产品公司为能够获取搜索风云榜的排行而进行的检索作弊流量。</a:t>
            </a:r>
            <a:endParaRPr lang="zh-CN" altLang="zh-CN" sz="1200" kern="1200" dirty="0" smtClean="0">
              <a:solidFill>
                <a:schemeClr val="tx1"/>
              </a:solidFill>
              <a:effectLst/>
              <a:latin typeface="Arial" panose="020B0604020202020204" pitchFamily="34" charset="0"/>
              <a:ea typeface="宋体" pitchFamily="2" charset="-122"/>
              <a:cs typeface="+mn-cs"/>
            </a:endParaRPr>
          </a:p>
          <a:p>
            <a:pPr lvl="0"/>
            <a:r>
              <a:rPr lang="en-US" altLang="zh-CN" sz="1200" kern="1200" dirty="0" smtClean="0">
                <a:solidFill>
                  <a:schemeClr val="tx1"/>
                </a:solidFill>
                <a:effectLst/>
                <a:latin typeface="Arial" panose="020B0604020202020204" pitchFamily="34" charset="0"/>
                <a:ea typeface="宋体" pitchFamily="2" charset="-122"/>
                <a:cs typeface="+mn-cs"/>
              </a:rPr>
              <a:t>8.</a:t>
            </a:r>
            <a:r>
              <a:rPr lang="zh-CN" altLang="en-US" sz="1200" kern="1200" dirty="0" smtClean="0">
                <a:solidFill>
                  <a:schemeClr val="tx1"/>
                </a:solidFill>
                <a:effectLst/>
                <a:latin typeface="Arial" panose="020B0604020202020204" pitchFamily="34" charset="0"/>
                <a:ea typeface="宋体" pitchFamily="2" charset="-122"/>
                <a:cs typeface="+mn-cs"/>
              </a:rPr>
              <a:t> </a:t>
            </a:r>
            <a:r>
              <a:rPr lang="zh-CN" altLang="zh-CN" sz="1200" kern="1200" dirty="0" smtClean="0">
                <a:solidFill>
                  <a:schemeClr val="tx1"/>
                </a:solidFill>
                <a:effectLst/>
                <a:latin typeface="Arial" panose="020B0604020202020204" pitchFamily="34" charset="0"/>
                <a:ea typeface="宋体" pitchFamily="2" charset="-122"/>
                <a:cs typeface="+mn-cs"/>
              </a:rPr>
              <a:t>刷搜索下拉框、相关搜索。网络推广公司、网络推手或者其他公司为获得搜索推荐关键字、相关搜索等搜索工具的展示，而采取的增大某些检索流量的行为。</a:t>
            </a:r>
            <a:endParaRPr lang="zh-CN" altLang="zh-CN" sz="1200" kern="1200" dirty="0" smtClean="0">
              <a:solidFill>
                <a:schemeClr val="tx1"/>
              </a:solidFill>
              <a:effectLst/>
              <a:latin typeface="Arial" panose="020B0604020202020204" pitchFamily="34" charset="0"/>
              <a:ea typeface="宋体" pitchFamily="2" charset="-122"/>
              <a:cs typeface="+mn-cs"/>
            </a:endParaRPr>
          </a:p>
          <a:p>
            <a:pPr lvl="0"/>
            <a:r>
              <a:rPr lang="en-US" altLang="zh-CN" sz="1200" kern="1200" dirty="0" smtClean="0">
                <a:solidFill>
                  <a:schemeClr val="tx1"/>
                </a:solidFill>
                <a:effectLst/>
                <a:latin typeface="Arial" panose="020B0604020202020204" pitchFamily="34" charset="0"/>
                <a:ea typeface="宋体" pitchFamily="2" charset="-122"/>
                <a:cs typeface="+mn-cs"/>
              </a:rPr>
              <a:t>9.</a:t>
            </a:r>
            <a:r>
              <a:rPr lang="zh-CN" altLang="en-US" sz="1200" kern="1200" dirty="0" smtClean="0">
                <a:solidFill>
                  <a:schemeClr val="tx1"/>
                </a:solidFill>
                <a:effectLst/>
                <a:latin typeface="Arial" panose="020B0604020202020204" pitchFamily="34" charset="0"/>
                <a:ea typeface="宋体" pitchFamily="2" charset="-122"/>
                <a:cs typeface="+mn-cs"/>
              </a:rPr>
              <a:t> </a:t>
            </a:r>
            <a:r>
              <a:rPr lang="zh-CN" altLang="zh-CN" sz="1200" kern="1200" dirty="0" smtClean="0">
                <a:solidFill>
                  <a:schemeClr val="tx1"/>
                </a:solidFill>
                <a:effectLst/>
                <a:latin typeface="Arial" panose="020B0604020202020204" pitchFamily="34" charset="0"/>
                <a:ea typeface="宋体" pitchFamily="2" charset="-122"/>
                <a:cs typeface="+mn-cs"/>
              </a:rPr>
              <a:t>点击作弊掩护，为避免点击作弊被发现而发起的检索作弊背景流量。</a:t>
            </a:r>
            <a:endParaRPr lang="zh-CN" altLang="en-US" sz="1200" kern="1200" dirty="0" smtClean="0">
              <a:solidFill>
                <a:schemeClr val="tx1"/>
              </a:solidFill>
              <a:effectLst/>
              <a:latin typeface="Arial" panose="020B0604020202020204" pitchFamily="34" charset="0"/>
              <a:ea typeface="宋体" pitchFamily="2" charset="-122"/>
              <a:cs typeface="+mn-cs"/>
            </a:endParaRPr>
          </a:p>
          <a:p>
            <a:pPr lvl="0"/>
            <a:r>
              <a:rPr lang="zh-CN" altLang="zh-CN" sz="1200" kern="1200" dirty="0" smtClean="0">
                <a:solidFill>
                  <a:schemeClr val="tx1"/>
                </a:solidFill>
                <a:effectLst/>
                <a:latin typeface="Arial" panose="020B0604020202020204" pitchFamily="34" charset="0"/>
                <a:ea typeface="宋体" pitchFamily="2" charset="-122"/>
                <a:cs typeface="+mn-cs"/>
              </a:rPr>
              <a:t>点击作弊</a:t>
            </a:r>
            <a:endParaRPr lang="zh-CN" altLang="zh-CN" sz="1200" kern="1200" dirty="0" smtClean="0">
              <a:solidFill>
                <a:schemeClr val="tx1"/>
              </a:solidFill>
              <a:effectLst/>
              <a:latin typeface="Arial" panose="020B0604020202020204" pitchFamily="34" charset="0"/>
              <a:ea typeface="宋体" pitchFamily="2" charset="-122"/>
              <a:cs typeface="+mn-cs"/>
            </a:endParaRPr>
          </a:p>
          <a:p>
            <a:pPr lvl="0"/>
            <a:r>
              <a:rPr lang="en-US" altLang="zh-CN" sz="1200" kern="1200" dirty="0" smtClean="0">
                <a:solidFill>
                  <a:schemeClr val="tx1"/>
                </a:solidFill>
                <a:effectLst/>
                <a:latin typeface="Arial" panose="020B0604020202020204" pitchFamily="34" charset="0"/>
                <a:ea typeface="宋体" pitchFamily="2" charset="-122"/>
                <a:cs typeface="+mn-cs"/>
              </a:rPr>
              <a:t>1.</a:t>
            </a:r>
            <a:r>
              <a:rPr lang="zh-CN" altLang="en-US" sz="1200" kern="1200" dirty="0" smtClean="0">
                <a:solidFill>
                  <a:schemeClr val="tx1"/>
                </a:solidFill>
                <a:effectLst/>
                <a:latin typeface="Arial" panose="020B0604020202020204" pitchFamily="34" charset="0"/>
                <a:ea typeface="宋体" pitchFamily="2" charset="-122"/>
                <a:cs typeface="+mn-cs"/>
              </a:rPr>
              <a:t> </a:t>
            </a:r>
            <a:r>
              <a:rPr lang="zh-CN" altLang="zh-CN" sz="1200" kern="1200" dirty="0" smtClean="0">
                <a:solidFill>
                  <a:schemeClr val="tx1"/>
                </a:solidFill>
                <a:effectLst/>
                <a:latin typeface="Arial" panose="020B0604020202020204" pitchFamily="34" charset="0"/>
                <a:ea typeface="宋体" pitchFamily="2" charset="-122"/>
                <a:cs typeface="+mn-cs"/>
              </a:rPr>
              <a:t>打击竞争对手：对于搜索推广的广告主而言，由于广告的排序与用户的出价有较强的正相关关系，因此一些广告主期望通过打击相同关键词，相同行业广告的竞争对手，消耗竞争对手的广告预算，从而达到降低自身广告推广开支的目的。</a:t>
            </a:r>
            <a:endParaRPr lang="zh-CN" altLang="zh-CN" sz="1200" kern="1200" dirty="0" smtClean="0">
              <a:solidFill>
                <a:schemeClr val="tx1"/>
              </a:solidFill>
              <a:effectLst/>
              <a:latin typeface="Arial" panose="020B0604020202020204" pitchFamily="34" charset="0"/>
              <a:ea typeface="宋体" pitchFamily="2" charset="-122"/>
              <a:cs typeface="+mn-cs"/>
            </a:endParaRPr>
          </a:p>
          <a:p>
            <a:pPr lvl="0"/>
            <a:r>
              <a:rPr lang="en-US" altLang="zh-CN" sz="1200" kern="1200" dirty="0" smtClean="0">
                <a:solidFill>
                  <a:schemeClr val="tx1"/>
                </a:solidFill>
                <a:effectLst/>
                <a:latin typeface="Arial" panose="020B0604020202020204" pitchFamily="34" charset="0"/>
                <a:ea typeface="宋体" pitchFamily="2" charset="-122"/>
                <a:cs typeface="+mn-cs"/>
              </a:rPr>
              <a:t>2.</a:t>
            </a:r>
            <a:r>
              <a:rPr lang="zh-CN" altLang="en-US" sz="1200" kern="1200" dirty="0" smtClean="0">
                <a:solidFill>
                  <a:schemeClr val="tx1"/>
                </a:solidFill>
                <a:effectLst/>
                <a:latin typeface="Arial" panose="020B0604020202020204" pitchFamily="34" charset="0"/>
                <a:ea typeface="宋体" pitchFamily="2" charset="-122"/>
                <a:cs typeface="+mn-cs"/>
              </a:rPr>
              <a:t> </a:t>
            </a:r>
            <a:r>
              <a:rPr lang="zh-CN" altLang="zh-CN" sz="1200" kern="1200" dirty="0" smtClean="0">
                <a:solidFill>
                  <a:schemeClr val="tx1"/>
                </a:solidFill>
                <a:effectLst/>
                <a:latin typeface="Arial" panose="020B0604020202020204" pitchFamily="34" charset="0"/>
                <a:ea typeface="宋体" pitchFamily="2" charset="-122"/>
                <a:cs typeface="+mn-cs"/>
              </a:rPr>
              <a:t>赚取不正当分成：百度拥有众多联盟合作伙伴，包括软件，搜索框等，并从联盟处获得了可观的流量。百度通过与联盟合作伙伴进行分成，共享广告收益。但是由于分成获取利益的驱动，一部分联盟伙伴存在制造虚假点击，诱导获得更多点击，劫持窃取他人流量的动力，从而赚取不正当分成。</a:t>
            </a:r>
            <a:endParaRPr lang="zh-CN" altLang="zh-CN" sz="1200" kern="1200" dirty="0" smtClean="0">
              <a:solidFill>
                <a:schemeClr val="tx1"/>
              </a:solidFill>
              <a:effectLst/>
              <a:latin typeface="Arial" panose="020B0604020202020204" pitchFamily="34" charset="0"/>
              <a:ea typeface="宋体" pitchFamily="2" charset="-122"/>
              <a:cs typeface="+mn-cs"/>
            </a:endParaRPr>
          </a:p>
          <a:p>
            <a:endParaRPr kumimoji="1" lang="zh-CN" altLang="en-US" dirty="0" smtClean="0"/>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1200" kern="1200" dirty="0" smtClean="0">
                <a:solidFill>
                  <a:schemeClr val="tx1"/>
                </a:solidFill>
                <a:effectLst/>
                <a:latin typeface="Arial" panose="020B0604020202020204" pitchFamily="34" charset="0"/>
                <a:ea typeface="+mn-ea"/>
                <a:cs typeface="+mn-cs"/>
              </a:rPr>
              <a:t>对于这些作弊的行为不能听之任之，而这就是我们反作弊要做的事情。</a:t>
            </a:r>
            <a:endParaRPr lang="en-US" altLang="zh-CN" sz="1200" kern="1200" dirty="0" smtClean="0">
              <a:solidFill>
                <a:schemeClr val="tx1"/>
              </a:solidFill>
              <a:effectLst/>
              <a:latin typeface="Arial" panose="020B06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1200" kern="1200" dirty="0" smtClean="0">
              <a:solidFill>
                <a:schemeClr val="tx1"/>
              </a:solidFill>
              <a:effectLst/>
              <a:latin typeface="Arial" panose="020B06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Arial" panose="020B0604020202020204" pitchFamily="34" charset="0"/>
                <a:ea typeface="+mn-ea"/>
                <a:cs typeface="+mn-cs"/>
              </a:rPr>
              <a:t>正常流量是大量用户在长时间的群体行为，加速度会随着热点规律性增长或下降，即加速度连续，流量可导，曲线视觉光滑。作弊流量比正常流量多，多出来的部分是少数人在短时间内的个人行为，量相对较大。所以加速度在作弊开始结束会存在断点，不连续的加速度反映在流量上会不可导，曲线视觉出现拐点，突增突降。</a:t>
            </a:r>
            <a:r>
              <a:rPr lang="zh-CN" altLang="zh-CN" sz="1600" dirty="0" smtClean="0">
                <a:effectLst/>
              </a:rPr>
              <a:t> </a:t>
            </a:r>
            <a:endParaRPr lang="en-US" altLang="zh-CN" sz="1600" dirty="0" smtClean="0">
              <a:effectLst/>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1" lang="en-US" altLang="zh-CN" sz="1200" dirty="0" smtClean="0">
              <a:solidFill>
                <a:schemeClr val="tx1"/>
              </a:solidFill>
              <a:latin typeface="微软雅黑" panose="020B0503020204020204" pitchFamily="34" charset="-122"/>
              <a:ea typeface="微软雅黑" panose="020B0503020204020204" pitchFamily="34" charset="-122"/>
              <a:cs typeface="宋体" charset="0"/>
            </a:endParaRPr>
          </a:p>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dirty="0" smtClean="0">
                <a:solidFill>
                  <a:schemeClr val="tx1"/>
                </a:solidFill>
                <a:latin typeface="微软雅黑" panose="020B0503020204020204" pitchFamily="34" charset="-122"/>
                <a:ea typeface="微软雅黑" panose="020B0503020204020204" pitchFamily="34" charset="-122"/>
                <a:cs typeface="宋体" charset="0"/>
              </a:rPr>
              <a:t>纯净的数据，能够使凤巢</a:t>
            </a:r>
            <a:r>
              <a:rPr kumimoji="1" lang="en-US" altLang="zh-CN" sz="1200" dirty="0" err="1" smtClean="0">
                <a:solidFill>
                  <a:schemeClr val="tx1"/>
                </a:solidFill>
                <a:latin typeface="微软雅黑" panose="020B0503020204020204" pitchFamily="34" charset="-122"/>
                <a:ea typeface="微软雅黑" panose="020B0503020204020204" pitchFamily="34" charset="-122"/>
                <a:cs typeface="宋体" charset="0"/>
              </a:rPr>
              <a:t>ctr</a:t>
            </a:r>
            <a:r>
              <a:rPr kumimoji="1" lang="zh-CN" altLang="en-US" sz="1200" dirty="0" smtClean="0">
                <a:solidFill>
                  <a:schemeClr val="tx1"/>
                </a:solidFill>
                <a:latin typeface="微软雅黑" panose="020B0503020204020204" pitchFamily="34" charset="-122"/>
                <a:ea typeface="微软雅黑" panose="020B0503020204020204" pitchFamily="34" charset="-122"/>
                <a:cs typeface="宋体" charset="0"/>
              </a:rPr>
              <a:t>预估更为精准，</a:t>
            </a:r>
            <a:r>
              <a:rPr kumimoji="1" lang="en-US" altLang="zh-CN" sz="1200" dirty="0" smtClean="0">
                <a:solidFill>
                  <a:schemeClr val="tx1"/>
                </a:solidFill>
                <a:latin typeface="微软雅黑" panose="020B0503020204020204" pitchFamily="34" charset="-122"/>
                <a:ea typeface="微软雅黑" panose="020B0503020204020204" pitchFamily="34" charset="-122"/>
                <a:cs typeface="宋体" charset="0"/>
              </a:rPr>
              <a:t>rank</a:t>
            </a:r>
            <a:r>
              <a:rPr kumimoji="1" lang="zh-CN" altLang="en-US" sz="1200" dirty="0" smtClean="0">
                <a:solidFill>
                  <a:schemeClr val="tx1"/>
                </a:solidFill>
                <a:latin typeface="微软雅黑" panose="020B0503020204020204" pitchFamily="34" charset="-122"/>
                <a:ea typeface="微软雅黑" panose="020B0503020204020204" pitchFamily="34" charset="-122"/>
                <a:cs typeface="宋体" charset="0"/>
              </a:rPr>
              <a:t>训练出的</a:t>
            </a:r>
            <a:r>
              <a:rPr kumimoji="1" lang="en-US" altLang="zh-CN" sz="1200" dirty="0" smtClean="0">
                <a:solidFill>
                  <a:schemeClr val="tx1"/>
                </a:solidFill>
                <a:latin typeface="微软雅黑" panose="020B0503020204020204" pitchFamily="34" charset="-122"/>
                <a:ea typeface="微软雅黑" panose="020B0503020204020204" pitchFamily="34" charset="-122"/>
                <a:cs typeface="宋体" charset="0"/>
              </a:rPr>
              <a:t>model</a:t>
            </a:r>
            <a:r>
              <a:rPr kumimoji="1" lang="zh-CN" altLang="en-US" sz="1200" dirty="0" smtClean="0">
                <a:solidFill>
                  <a:schemeClr val="tx1"/>
                </a:solidFill>
                <a:latin typeface="微软雅黑" panose="020B0503020204020204" pitchFamily="34" charset="-122"/>
                <a:ea typeface="微软雅黑" panose="020B0503020204020204" pitchFamily="34" charset="-122"/>
                <a:cs typeface="宋体" charset="0"/>
              </a:rPr>
              <a:t>，可信度和准确率更高。</a:t>
            </a:r>
            <a:endParaRPr kumimoji="1" lang="zh-CN" altLang="en-US" sz="1200" dirty="0" smtClean="0">
              <a:solidFill>
                <a:schemeClr val="tx1"/>
              </a:solidFill>
              <a:latin typeface="微软雅黑" panose="020B0503020204020204" pitchFamily="34" charset="-122"/>
              <a:ea typeface="微软雅黑" panose="020B0503020204020204" pitchFamily="34" charset="-122"/>
              <a:cs typeface="宋体"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zh-CN" altLang="zh-CN" sz="1200" kern="1200" dirty="0" smtClean="0">
              <a:solidFill>
                <a:schemeClr val="tx1"/>
              </a:solidFill>
              <a:effectLst/>
              <a:latin typeface="Arial" panose="020B0604020202020204" pitchFamily="34" charset="0"/>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广告点击流量中，简单作弊形式（爬虫、刷词等）波动幅度大，但是容易识别，预先过滤掉简单作弊形式可以使剩余流量之上统计特征的表现更加稳定，防止流量较小的高级作弊形式淹没在大量的简单作弊中。 </a:t>
            </a:r>
            <a:endParaRPr lang="zh-CN" altLang="en-US" dirty="0" smtClean="0"/>
          </a:p>
          <a:p>
            <a:endParaRPr lang="zh-CN" altLang="en-US" dirty="0" smtClean="0"/>
          </a:p>
          <a:p>
            <a:r>
              <a:rPr lang="zh-CN" altLang="en-US" dirty="0" smtClean="0"/>
              <a:t>三层抽象之上能够较容易地支持特征复用、多特征策略（包括模型过滤），此外单独的特征层也使外部特征值的引入以及内部特征值的导出成为可能。</a:t>
            </a:r>
            <a:endParaRPr lang="en-US" altLang="zh-CN" dirty="0" smtClean="0"/>
          </a:p>
          <a:p>
            <a:endParaRPr lang="zh-CN" altLang="en-US" dirty="0" smtClean="0"/>
          </a:p>
          <a:p>
            <a:endParaRPr lang="zh-CN" altLang="en-US"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事实上，尽管</a:t>
            </a:r>
            <a:r>
              <a:rPr lang="en-US" altLang="zh-CN" dirty="0" err="1" smtClean="0"/>
              <a:t>dformat</a:t>
            </a:r>
            <a:r>
              <a:rPr lang="zh-CN" altLang="en-US" dirty="0" smtClean="0"/>
              <a:t>层被叫做简单层，但其与</a:t>
            </a:r>
            <a:r>
              <a:rPr lang="en-US" altLang="zh-CN" dirty="0" smtClean="0"/>
              <a:t>Themis</a:t>
            </a:r>
            <a:r>
              <a:rPr lang="zh-CN" altLang="en-US" dirty="0" smtClean="0"/>
              <a:t>层的底层实现逻辑类似，都是上面的这套逻辑。</a:t>
            </a:r>
            <a:endParaRPr lang="en-US" altLang="zh-CN" dirty="0" smtClean="0"/>
          </a:p>
          <a:p>
            <a:endParaRPr lang="en-US" altLang="zh-CN" dirty="0" smtClean="0"/>
          </a:p>
          <a:p>
            <a:r>
              <a:rPr lang="en-US" altLang="zh-CN" dirty="0" err="1" smtClean="0"/>
              <a:t>Textractor</a:t>
            </a:r>
            <a:r>
              <a:rPr lang="zh-CN" altLang="en-US" dirty="0" smtClean="0"/>
              <a:t>抽取特征是相对于单个特征而言，输入是单条日志，输出是包含</a:t>
            </a:r>
            <a:r>
              <a:rPr lang="en-US" altLang="zh-CN" dirty="0" err="1" smtClean="0"/>
              <a:t>feature_id</a:t>
            </a:r>
            <a:r>
              <a:rPr lang="en-US" altLang="zh-CN" dirty="0" smtClean="0"/>
              <a:t>, </a:t>
            </a:r>
            <a:r>
              <a:rPr lang="en-US" altLang="zh-CN" dirty="0" err="1" smtClean="0"/>
              <a:t>log_time</a:t>
            </a:r>
            <a:r>
              <a:rPr lang="en-US" altLang="zh-CN" dirty="0" smtClean="0"/>
              <a:t>, value</a:t>
            </a:r>
            <a:r>
              <a:rPr lang="zh-CN" altLang="en-US" dirty="0" smtClean="0"/>
              <a:t>等信息的特征变量（</a:t>
            </a:r>
            <a:r>
              <a:rPr lang="en-US" altLang="zh-CN" dirty="0" err="1" smtClean="0"/>
              <a:t>FeatureValueProto</a:t>
            </a:r>
            <a:r>
              <a:rPr lang="zh-CN" altLang="en-US" dirty="0" smtClean="0"/>
              <a:t>类型）</a:t>
            </a:r>
            <a:endParaRPr lang="en-US" altLang="zh-CN" dirty="0" smtClean="0"/>
          </a:p>
          <a:p>
            <a:r>
              <a:rPr lang="en-US" altLang="zh-CN" dirty="0" err="1" smtClean="0"/>
              <a:t>Taccumulator</a:t>
            </a:r>
            <a:r>
              <a:rPr lang="zh-CN" altLang="en-US" dirty="0" smtClean="0"/>
              <a:t>这一层主要是为了统计特征，</a:t>
            </a:r>
            <a:r>
              <a:rPr lang="en-US" altLang="zh-CN" dirty="0" err="1" smtClean="0"/>
              <a:t>Textractor</a:t>
            </a:r>
            <a:r>
              <a:rPr lang="zh-CN" altLang="en-US" dirty="0" smtClean="0"/>
              <a:t>将属于不同日志相同</a:t>
            </a:r>
            <a:r>
              <a:rPr lang="en-US" altLang="zh-CN" dirty="0" err="1" smtClean="0"/>
              <a:t>feature_id</a:t>
            </a:r>
            <a:r>
              <a:rPr lang="zh-CN" altLang="en-US" dirty="0" smtClean="0"/>
              <a:t>的特征输入到一个分片中</a:t>
            </a:r>
            <a:r>
              <a:rPr lang="en-US" altLang="zh-CN" dirty="0" smtClean="0"/>
              <a:t>(</a:t>
            </a:r>
            <a:r>
              <a:rPr lang="zh-CN" altLang="en-US" dirty="0" smtClean="0"/>
              <a:t>基本有序</a:t>
            </a:r>
            <a:r>
              <a:rPr lang="en-US" altLang="zh-CN" dirty="0" smtClean="0"/>
              <a:t>)</a:t>
            </a:r>
            <a:r>
              <a:rPr lang="zh-CN" altLang="en-US" dirty="0" smtClean="0"/>
              <a:t>，</a:t>
            </a:r>
            <a:r>
              <a:rPr lang="en-US" altLang="zh-CN" dirty="0" err="1" smtClean="0"/>
              <a:t>Taccumulator</a:t>
            </a:r>
            <a:r>
              <a:rPr lang="zh-CN" altLang="en-US" dirty="0" smtClean="0"/>
              <a:t>则对单个分片进行累积，计算一段内的统计特征。</a:t>
            </a:r>
            <a:endParaRPr lang="en-US" altLang="zh-CN" dirty="0" smtClean="0"/>
          </a:p>
          <a:p>
            <a:r>
              <a:rPr lang="en-US" altLang="zh-CN" dirty="0" err="1" smtClean="0"/>
              <a:t>TaskMerger</a:t>
            </a:r>
            <a:r>
              <a:rPr lang="zh-CN" altLang="en-US" dirty="0" smtClean="0"/>
              <a:t>这一层则在特征统计完成之后进行整理，方便过滤层进行判定</a:t>
            </a:r>
            <a:endParaRPr lang="en-US" altLang="zh-CN" dirty="0" smtClean="0"/>
          </a:p>
          <a:p>
            <a:r>
              <a:rPr lang="en-US" altLang="zh-CN" dirty="0" err="1" smtClean="0"/>
              <a:t>Tfiler</a:t>
            </a:r>
            <a:r>
              <a:rPr lang="zh-CN" altLang="en-US" dirty="0" smtClean="0"/>
              <a:t>并行地计算不同策略的判定结果</a:t>
            </a:r>
            <a:endParaRPr lang="en-US" altLang="zh-CN" dirty="0" smtClean="0"/>
          </a:p>
          <a:p>
            <a:r>
              <a:rPr lang="en-US" altLang="zh-CN" dirty="0" err="1" smtClean="0"/>
              <a:t>LogMerger</a:t>
            </a:r>
            <a:r>
              <a:rPr lang="zh-CN" altLang="en-US" dirty="0" smtClean="0"/>
              <a:t>输出最后的结果，也可以叫做</a:t>
            </a:r>
            <a:r>
              <a:rPr lang="en-US" altLang="zh-CN" dirty="0" smtClean="0"/>
              <a:t>judge</a:t>
            </a:r>
            <a:r>
              <a:rPr lang="zh-CN" altLang="en-US" dirty="0" smtClean="0"/>
              <a:t>层。</a:t>
            </a:r>
            <a:endParaRPr lang="en-US" altLang="zh-CN" dirty="0" smtClean="0"/>
          </a:p>
          <a:p>
            <a:endParaRPr lang="en-US" altLang="zh-CN" dirty="0" smtClean="0"/>
          </a:p>
          <a:p>
            <a:r>
              <a:rPr lang="zh-CN" altLang="en-US" b="1" baseline="0" dirty="0" smtClean="0">
                <a:solidFill>
                  <a:srgbClr val="C00000"/>
                </a:solidFill>
              </a:rPr>
              <a:t>最终结果的阈值怎么决定？</a:t>
            </a:r>
            <a:endParaRPr lang="zh-CN" altLang="en-US" b="1" baseline="0" dirty="0">
              <a:solidFill>
                <a:srgbClr val="C00000"/>
              </a:solidFill>
            </a:endParaRP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之前的页面中，我们介绍了反作弊的系统架构，其中策略和特征是过滤过程中不可或缺的要素，那么特征和策略从哪来呢，下面将会进行介绍一些与其来源相关的基本概念。</a:t>
            </a:r>
            <a:endParaRPr lang="en-US" altLang="zh-CN" dirty="0" smtClean="0"/>
          </a:p>
          <a:p>
            <a:endParaRPr lang="en-US" altLang="zh-CN" dirty="0" smtClean="0"/>
          </a:p>
          <a:p>
            <a:pPr marL="0" marR="0" lvl="0" indent="0" algn="l" defTabSz="4572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Arial" panose="020B0604020202020204" pitchFamily="34" charset="0"/>
                <a:ea typeface="+mn-ea"/>
                <a:cs typeface="+mn-cs"/>
              </a:rPr>
              <a:t>之前我们查看的是单个计费名维度，一个计费名下可能点击量较小，我们通过</a:t>
            </a:r>
            <a:r>
              <a:rPr lang="en-US" altLang="zh-CN" sz="1200" kern="1200" dirty="0" err="1" smtClean="0">
                <a:solidFill>
                  <a:schemeClr val="tx1"/>
                </a:solidFill>
                <a:effectLst/>
                <a:latin typeface="Arial" panose="020B0604020202020204" pitchFamily="34" charset="0"/>
                <a:ea typeface="+mn-ea"/>
                <a:cs typeface="+mn-cs"/>
              </a:rPr>
              <a:t>baiduid</a:t>
            </a:r>
            <a:r>
              <a:rPr lang="zh-CN" altLang="zh-CN" sz="1200" kern="1200" dirty="0" smtClean="0">
                <a:solidFill>
                  <a:schemeClr val="tx1"/>
                </a:solidFill>
                <a:effectLst/>
                <a:latin typeface="Arial" panose="020B0604020202020204" pitchFamily="34" charset="0"/>
                <a:ea typeface="+mn-ea"/>
                <a:cs typeface="+mn-cs"/>
              </a:rPr>
              <a:t>将同一个</a:t>
            </a:r>
            <a:r>
              <a:rPr lang="en-US" altLang="zh-CN" sz="1200" kern="1200" dirty="0" err="1" smtClean="0">
                <a:solidFill>
                  <a:schemeClr val="tx1"/>
                </a:solidFill>
                <a:effectLst/>
                <a:latin typeface="Arial" panose="020B0604020202020204" pitchFamily="34" charset="0"/>
                <a:ea typeface="+mn-ea"/>
                <a:cs typeface="+mn-cs"/>
              </a:rPr>
              <a:t>baiduid</a:t>
            </a:r>
            <a:r>
              <a:rPr lang="zh-CN" altLang="zh-CN" sz="1200" kern="1200" dirty="0" smtClean="0">
                <a:solidFill>
                  <a:schemeClr val="tx1"/>
                </a:solidFill>
                <a:effectLst/>
                <a:latin typeface="Arial" panose="020B0604020202020204" pitchFamily="34" charset="0"/>
                <a:ea typeface="+mn-ea"/>
                <a:cs typeface="+mn-cs"/>
              </a:rPr>
              <a:t>点击的计费名聚合成一个新的维度，因为团伙作弊一般较为集中于某一些计费名，通过将相关联计费名聚合起来，更具有统计意义，主要用于发现人工团伙少量作弊。</a:t>
            </a:r>
            <a:endParaRPr lang="zh-CN" altLang="zh-CN" sz="1200" kern="1200" dirty="0" smtClean="0">
              <a:solidFill>
                <a:schemeClr val="tx1"/>
              </a:solidFill>
              <a:effectLst/>
              <a:latin typeface="Arial" panose="020B0604020202020204" pitchFamily="34" charset="0"/>
              <a:ea typeface="+mn-ea"/>
              <a:cs typeface="+mn-cs"/>
            </a:endParaRPr>
          </a:p>
          <a:p>
            <a:endParaRPr lang="en-US" altLang="zh-CN" dirty="0" smtClean="0"/>
          </a:p>
          <a:p>
            <a:pPr marL="0" marR="0" lvl="0" indent="0" algn="l" defTabSz="4572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Arial" panose="020B0604020202020204" pitchFamily="34" charset="0"/>
                <a:ea typeface="+mn-ea"/>
                <a:cs typeface="+mn-cs"/>
              </a:rPr>
              <a:t>针对变换</a:t>
            </a:r>
            <a:r>
              <a:rPr lang="en-US" altLang="zh-CN" sz="1200" kern="1200" dirty="0" smtClean="0">
                <a:solidFill>
                  <a:schemeClr val="tx1"/>
                </a:solidFill>
                <a:effectLst/>
                <a:latin typeface="Arial" panose="020B0604020202020204" pitchFamily="34" charset="0"/>
                <a:ea typeface="+mn-ea"/>
                <a:cs typeface="+mn-cs"/>
              </a:rPr>
              <a:t>query</a:t>
            </a:r>
            <a:r>
              <a:rPr lang="zh-CN" altLang="zh-CN" sz="1200" kern="1200" dirty="0" smtClean="0">
                <a:solidFill>
                  <a:schemeClr val="tx1"/>
                </a:solidFill>
                <a:effectLst/>
                <a:latin typeface="Arial" panose="020B0604020202020204" pitchFamily="34" charset="0"/>
                <a:ea typeface="+mn-ea"/>
                <a:cs typeface="+mn-cs"/>
              </a:rPr>
              <a:t>但是</a:t>
            </a:r>
            <a:r>
              <a:rPr lang="en-US" altLang="zh-CN" sz="1200" kern="1200" dirty="0" smtClean="0">
                <a:solidFill>
                  <a:schemeClr val="tx1"/>
                </a:solidFill>
                <a:effectLst/>
                <a:latin typeface="Arial" panose="020B0604020202020204" pitchFamily="34" charset="0"/>
                <a:ea typeface="+mn-ea"/>
                <a:cs typeface="+mn-cs"/>
              </a:rPr>
              <a:t>query</a:t>
            </a:r>
            <a:r>
              <a:rPr lang="zh-CN" altLang="zh-CN" sz="1200" kern="1200" dirty="0" smtClean="0">
                <a:solidFill>
                  <a:schemeClr val="tx1"/>
                </a:solidFill>
                <a:effectLst/>
                <a:latin typeface="Arial" panose="020B0604020202020204" pitchFamily="34" charset="0"/>
                <a:ea typeface="+mn-ea"/>
                <a:cs typeface="+mn-cs"/>
              </a:rPr>
              <a:t>中有重复片段的作弊场景</a:t>
            </a:r>
            <a:r>
              <a:rPr lang="zh-CN" altLang="en-US" sz="1200" kern="1200" dirty="0" smtClean="0">
                <a:solidFill>
                  <a:schemeClr val="tx1"/>
                </a:solidFill>
                <a:effectLst/>
                <a:latin typeface="Arial" panose="020B0604020202020204" pitchFamily="34" charset="0"/>
                <a:ea typeface="+mn-ea"/>
                <a:cs typeface="+mn-cs"/>
              </a:rPr>
              <a:t>，</a:t>
            </a:r>
            <a:r>
              <a:rPr lang="zh-CN" altLang="zh-CN" sz="1200" kern="1200" dirty="0" smtClean="0">
                <a:solidFill>
                  <a:schemeClr val="tx1"/>
                </a:solidFill>
                <a:effectLst/>
                <a:latin typeface="Arial" panose="020B0604020202020204" pitchFamily="34" charset="0"/>
                <a:ea typeface="+mn-ea"/>
                <a:cs typeface="+mn-cs"/>
              </a:rPr>
              <a:t>将</a:t>
            </a:r>
            <a:r>
              <a:rPr lang="en-US" altLang="zh-CN" sz="1200" kern="1200" dirty="0" smtClean="0">
                <a:solidFill>
                  <a:schemeClr val="tx1"/>
                </a:solidFill>
                <a:effectLst/>
                <a:latin typeface="Arial" panose="020B0604020202020204" pitchFamily="34" charset="0"/>
                <a:ea typeface="+mn-ea"/>
                <a:cs typeface="+mn-cs"/>
              </a:rPr>
              <a:t>query</a:t>
            </a:r>
            <a:r>
              <a:rPr lang="zh-CN" altLang="zh-CN" sz="1200" kern="1200" dirty="0" smtClean="0">
                <a:solidFill>
                  <a:schemeClr val="tx1"/>
                </a:solidFill>
                <a:effectLst/>
                <a:latin typeface="Arial" panose="020B0604020202020204" pitchFamily="34" charset="0"/>
                <a:ea typeface="+mn-ea"/>
                <a:cs typeface="+mn-cs"/>
              </a:rPr>
              <a:t>进行切词，对每个切好的分词片段作为一个维度对象</a:t>
            </a:r>
            <a:r>
              <a:rPr lang="en-US" altLang="zh-CN" sz="1200" kern="1200" dirty="0" smtClean="0">
                <a:solidFill>
                  <a:schemeClr val="tx1"/>
                </a:solidFill>
                <a:effectLst/>
                <a:latin typeface="Arial" panose="020B0604020202020204" pitchFamily="34" charset="0"/>
                <a:ea typeface="+mn-ea"/>
                <a:cs typeface="+mn-cs"/>
              </a:rPr>
              <a:t>.</a:t>
            </a:r>
            <a:r>
              <a:rPr lang="zh-CN" altLang="zh-CN" sz="1200" kern="1200" dirty="0" smtClean="0">
                <a:solidFill>
                  <a:schemeClr val="tx1"/>
                </a:solidFill>
                <a:effectLst/>
                <a:latin typeface="Arial" panose="020B0604020202020204" pitchFamily="34" charset="0"/>
                <a:ea typeface="+mn-ea"/>
                <a:cs typeface="+mn-cs"/>
              </a:rPr>
              <a:t>比如：</a:t>
            </a:r>
            <a:r>
              <a:rPr lang="en-US" altLang="zh-CN" sz="1200" kern="1200" dirty="0" err="1" smtClean="0">
                <a:solidFill>
                  <a:schemeClr val="tx1"/>
                </a:solidFill>
                <a:effectLst/>
                <a:latin typeface="Arial" panose="020B0604020202020204" pitchFamily="34" charset="0"/>
                <a:ea typeface="+mn-ea"/>
                <a:cs typeface="+mn-cs"/>
              </a:rPr>
              <a:t>uu</a:t>
            </a:r>
            <a:r>
              <a:rPr lang="zh-CN" altLang="zh-CN" sz="1200" kern="1200" dirty="0" smtClean="0">
                <a:solidFill>
                  <a:schemeClr val="tx1"/>
                </a:solidFill>
                <a:effectLst/>
                <a:latin typeface="Arial" panose="020B0604020202020204" pitchFamily="34" charset="0"/>
                <a:ea typeface="+mn-ea"/>
                <a:cs typeface="+mn-cs"/>
              </a:rPr>
              <a:t>，</a:t>
            </a:r>
            <a:r>
              <a:rPr lang="en-US" altLang="zh-CN" sz="1200" kern="1200" dirty="0" err="1" smtClean="0">
                <a:solidFill>
                  <a:schemeClr val="tx1"/>
                </a:solidFill>
                <a:effectLst/>
                <a:latin typeface="Arial" panose="020B0604020202020204" pitchFamily="34" charset="0"/>
                <a:ea typeface="+mn-ea"/>
                <a:cs typeface="+mn-cs"/>
              </a:rPr>
              <a:t>uu</a:t>
            </a:r>
            <a:r>
              <a:rPr lang="zh-CN" altLang="zh-CN" sz="1200" kern="1200" dirty="0" smtClean="0">
                <a:solidFill>
                  <a:schemeClr val="tx1"/>
                </a:solidFill>
                <a:effectLst/>
                <a:latin typeface="Arial" panose="020B0604020202020204" pitchFamily="34" charset="0"/>
                <a:ea typeface="+mn-ea"/>
                <a:cs typeface="+mn-cs"/>
              </a:rPr>
              <a:t>加速器，</a:t>
            </a:r>
            <a:r>
              <a:rPr lang="en-US" altLang="zh-CN" sz="1200" kern="1200" dirty="0" err="1" smtClean="0">
                <a:solidFill>
                  <a:schemeClr val="tx1"/>
                </a:solidFill>
                <a:effectLst/>
                <a:latin typeface="Arial" panose="020B0604020202020204" pitchFamily="34" charset="0"/>
                <a:ea typeface="+mn-ea"/>
                <a:cs typeface="+mn-cs"/>
              </a:rPr>
              <a:t>uu</a:t>
            </a:r>
            <a:r>
              <a:rPr lang="zh-CN" altLang="zh-CN" sz="1200" kern="1200" dirty="0" smtClean="0">
                <a:solidFill>
                  <a:schemeClr val="tx1"/>
                </a:solidFill>
                <a:effectLst/>
                <a:latin typeface="Arial" panose="020B0604020202020204" pitchFamily="34" charset="0"/>
                <a:ea typeface="+mn-ea"/>
                <a:cs typeface="+mn-cs"/>
              </a:rPr>
              <a:t>加速，</a:t>
            </a:r>
            <a:r>
              <a:rPr lang="en-US" altLang="zh-CN" sz="1200" kern="1200" dirty="0" err="1" smtClean="0">
                <a:solidFill>
                  <a:schemeClr val="tx1"/>
                </a:solidFill>
                <a:effectLst/>
                <a:latin typeface="Arial" panose="020B0604020202020204" pitchFamily="34" charset="0"/>
                <a:ea typeface="+mn-ea"/>
                <a:cs typeface="+mn-cs"/>
              </a:rPr>
              <a:t>uu</a:t>
            </a:r>
            <a:r>
              <a:rPr lang="zh-CN" altLang="zh-CN" sz="1200" kern="1200" dirty="0" smtClean="0">
                <a:solidFill>
                  <a:schemeClr val="tx1"/>
                </a:solidFill>
                <a:effectLst/>
                <a:latin typeface="Arial" panose="020B0604020202020204" pitchFamily="34" charset="0"/>
                <a:ea typeface="+mn-ea"/>
                <a:cs typeface="+mn-cs"/>
              </a:rPr>
              <a:t>加速好不好，通过切词能将重复片段提取出来即</a:t>
            </a:r>
            <a:r>
              <a:rPr lang="en-US" altLang="zh-CN" sz="1200" kern="1200" dirty="0" err="1" smtClean="0">
                <a:solidFill>
                  <a:schemeClr val="tx1"/>
                </a:solidFill>
                <a:effectLst/>
                <a:latin typeface="Arial" panose="020B0604020202020204" pitchFamily="34" charset="0"/>
                <a:ea typeface="+mn-ea"/>
                <a:cs typeface="+mn-cs"/>
              </a:rPr>
              <a:t>uu</a:t>
            </a:r>
            <a:r>
              <a:rPr lang="zh-CN" altLang="zh-CN" sz="1200" kern="1200" dirty="0" smtClean="0">
                <a:solidFill>
                  <a:schemeClr val="tx1"/>
                </a:solidFill>
                <a:effectLst/>
                <a:latin typeface="Arial" panose="020B0604020202020204" pitchFamily="34" charset="0"/>
                <a:ea typeface="+mn-ea"/>
                <a:cs typeface="+mn-cs"/>
              </a:rPr>
              <a:t>，然后聚合成一定量</a:t>
            </a:r>
            <a:r>
              <a:rPr lang="zh-CN" altLang="en-US" sz="1200" kern="1200" dirty="0" smtClean="0">
                <a:solidFill>
                  <a:schemeClr val="tx1"/>
                </a:solidFill>
                <a:effectLst/>
                <a:latin typeface="Arial" panose="020B0604020202020204" pitchFamily="34" charset="0"/>
                <a:ea typeface="+mn-ea"/>
                <a:cs typeface="+mn-cs"/>
              </a:rPr>
              <a:t>。</a:t>
            </a:r>
            <a:endParaRPr lang="en-US" altLang="zh-CN" sz="1200" kern="1200" dirty="0" smtClean="0">
              <a:solidFill>
                <a:schemeClr val="tx1"/>
              </a:solidFill>
              <a:effectLst/>
              <a:latin typeface="Arial" panose="020B06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1200" kern="1200" dirty="0" smtClean="0">
              <a:solidFill>
                <a:schemeClr val="tx1"/>
              </a:solidFill>
              <a:effectLst/>
              <a:latin typeface="Arial" panose="020B06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200" kern="1200" dirty="0" smtClean="0">
                <a:solidFill>
                  <a:schemeClr val="tx1"/>
                </a:solidFill>
                <a:effectLst/>
                <a:latin typeface="Arial" panose="020B0604020202020204" pitchFamily="34" charset="0"/>
                <a:ea typeface="+mn-ea"/>
                <a:cs typeface="+mn-cs"/>
              </a:rPr>
              <a:t>将维度对象进行一定的处理，就得到简单特征。</a:t>
            </a:r>
            <a:endParaRPr lang="zh-CN" altLang="zh-CN" sz="1200" kern="1200" dirty="0" smtClean="0">
              <a:solidFill>
                <a:schemeClr val="tx1"/>
              </a:solidFill>
              <a:effectLst/>
              <a:latin typeface="Arial" panose="020B0604020202020204" pitchFamily="34" charset="0"/>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kumimoji="1" lang="zh-CN" altLang="en-US" sz="1200" kern="1200" dirty="0" smtClean="0">
                <a:solidFill>
                  <a:schemeClr val="tx1"/>
                </a:solidFill>
                <a:latin typeface="Arial" panose="020B0604020202020204" pitchFamily="34" charset="0"/>
                <a:ea typeface="宋体" charset="0"/>
                <a:cs typeface="宋体" charset="0"/>
              </a:rPr>
              <a:t>当日志满足</a:t>
            </a:r>
            <a:r>
              <a:rPr kumimoji="1" lang="en-US" altLang="zh-CN" sz="1200" kern="1200" dirty="0" err="1" smtClean="0">
                <a:solidFill>
                  <a:schemeClr val="tx1"/>
                </a:solidFill>
                <a:latin typeface="Arial" panose="020B0604020202020204" pitchFamily="34" charset="0"/>
                <a:ea typeface="宋体" charset="0"/>
                <a:cs typeface="宋体" charset="0"/>
              </a:rPr>
              <a:t>carespace</a:t>
            </a:r>
            <a:r>
              <a:rPr kumimoji="1" lang="zh-CN" altLang="en-US" sz="1200" kern="1200" dirty="0" smtClean="0">
                <a:solidFill>
                  <a:schemeClr val="tx1"/>
                </a:solidFill>
                <a:latin typeface="Arial" panose="020B0604020202020204" pitchFamily="34" charset="0"/>
                <a:ea typeface="宋体" charset="0"/>
                <a:cs typeface="宋体" charset="0"/>
              </a:rPr>
              <a:t>时，就执行特征抽取和特征累计过程</a:t>
            </a:r>
            <a:r>
              <a:rPr kumimoji="1" lang="en-US" altLang="zh-CN" sz="1200" kern="1200" dirty="0" smtClean="0">
                <a:solidFill>
                  <a:schemeClr val="tx1"/>
                </a:solidFill>
                <a:latin typeface="Arial" panose="020B0604020202020204" pitchFamily="34" charset="0"/>
                <a:ea typeface="宋体" charset="0"/>
                <a:cs typeface="宋体" charset="0"/>
              </a:rPr>
              <a:t>(</a:t>
            </a:r>
            <a:r>
              <a:rPr kumimoji="1" lang="zh-CN" altLang="en-US" sz="1200" kern="1200" dirty="0" smtClean="0">
                <a:solidFill>
                  <a:schemeClr val="tx1"/>
                </a:solidFill>
                <a:latin typeface="Arial" panose="020B0604020202020204" pitchFamily="34" charset="0"/>
                <a:ea typeface="宋体" charset="0"/>
                <a:cs typeface="宋体" charset="0"/>
              </a:rPr>
              <a:t>返回特征输出的结果</a:t>
            </a:r>
            <a:r>
              <a:rPr kumimoji="1" lang="en-US" altLang="zh-CN" sz="1200" kern="1200" dirty="0" smtClean="0">
                <a:solidFill>
                  <a:schemeClr val="tx1"/>
                </a:solidFill>
                <a:latin typeface="Arial" panose="020B0604020202020204" pitchFamily="34" charset="0"/>
                <a:ea typeface="宋体" charset="0"/>
                <a:cs typeface="宋体" charset="0"/>
              </a:rPr>
              <a:t>)</a:t>
            </a:r>
            <a:r>
              <a:rPr kumimoji="1" lang="zh-CN" altLang="en-US" sz="1200" kern="1200" dirty="0" smtClean="0">
                <a:solidFill>
                  <a:schemeClr val="tx1"/>
                </a:solidFill>
                <a:latin typeface="Arial" panose="020B0604020202020204" pitchFamily="34" charset="0"/>
                <a:ea typeface="宋体" charset="0"/>
                <a:cs typeface="宋体" charset="0"/>
              </a:rPr>
              <a:t>，如果不满足，就直接跳过日志，这时候该日志未被策略命中。</a:t>
            </a:r>
            <a:endParaRPr kumimoji="1" lang="zh-CN" altLang="en-US" sz="1200" kern="1200" dirty="0" smtClean="0">
              <a:solidFill>
                <a:schemeClr val="tx1"/>
              </a:solidFill>
              <a:latin typeface="Arial" panose="020B0604020202020204" pitchFamily="34" charset="0"/>
              <a:ea typeface="宋体" charset="0"/>
              <a:cs typeface="宋体" charset="0"/>
            </a:endParaRPr>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kumimoji="1" lang="zh-CN" altLang="en-US" sz="1200" kern="1200" dirty="0" smtClean="0">
                <a:solidFill>
                  <a:schemeClr val="tx1"/>
                </a:solidFill>
                <a:latin typeface="Arial" panose="020B0604020202020204" pitchFamily="34" charset="0"/>
                <a:ea typeface="宋体" charset="0"/>
                <a:cs typeface="宋体" charset="0"/>
              </a:rPr>
              <a:t>当日志满足</a:t>
            </a:r>
            <a:r>
              <a:rPr kumimoji="1" lang="en-US" altLang="zh-CN" sz="1200" kern="1200" dirty="0" err="1" smtClean="0">
                <a:solidFill>
                  <a:schemeClr val="tx1"/>
                </a:solidFill>
                <a:latin typeface="Arial" panose="020B0604020202020204" pitchFamily="34" charset="0"/>
                <a:ea typeface="宋体" charset="0"/>
                <a:cs typeface="宋体" charset="0"/>
              </a:rPr>
              <a:t>carespace</a:t>
            </a:r>
            <a:r>
              <a:rPr kumimoji="1" lang="zh-CN" altLang="en-US" sz="1200" kern="1200" dirty="0" smtClean="0">
                <a:solidFill>
                  <a:schemeClr val="tx1"/>
                </a:solidFill>
                <a:latin typeface="Arial" panose="020B0604020202020204" pitchFamily="34" charset="0"/>
                <a:ea typeface="宋体" charset="0"/>
                <a:cs typeface="宋体" charset="0"/>
              </a:rPr>
              <a:t>时，就执行特征抽取和特征累计过程，如果不满足，就直接跳过日志。</a:t>
            </a:r>
            <a:endParaRPr kumimoji="1" lang="zh-CN" altLang="en-US" sz="1200" kern="1200" dirty="0" smtClean="0">
              <a:solidFill>
                <a:schemeClr val="tx1"/>
              </a:solidFill>
              <a:latin typeface="Arial" panose="020B0604020202020204" pitchFamily="34" charset="0"/>
              <a:ea typeface="宋体" charset="0"/>
              <a:cs typeface="宋体" charset="0"/>
            </a:endParaRPr>
          </a:p>
          <a:p>
            <a:endParaRPr lang="en-US" altLang="zh-CN" dirty="0" smtClean="0"/>
          </a:p>
          <a:p>
            <a:pPr marL="0" marR="0" lvl="0" indent="0" algn="l" defTabSz="4572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处理</a:t>
            </a:r>
            <a:r>
              <a:rPr lang="zh-CN" altLang="en-US" sz="1200" kern="1200" dirty="0" smtClean="0">
                <a:solidFill>
                  <a:schemeClr val="tx1"/>
                </a:solidFill>
                <a:effectLst/>
                <a:latin typeface="+mn-lt"/>
                <a:ea typeface="+mn-ea"/>
                <a:cs typeface="+mn-cs"/>
              </a:rPr>
              <a:t>条件表达式</a:t>
            </a:r>
            <a:r>
              <a:rPr lang="zh-CN" altLang="zh-CN" sz="1200" kern="1200" dirty="0" smtClean="0">
                <a:solidFill>
                  <a:schemeClr val="tx1"/>
                </a:solidFill>
                <a:effectLst/>
                <a:latin typeface="+mn-lt"/>
                <a:ea typeface="+mn-ea"/>
                <a:cs typeface="+mn-cs"/>
              </a:rPr>
              <a:t>时首先进行约束表达式集合的解析，用</a:t>
            </a:r>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拆分，用［］拆分，再识别左值右值和运算符，然后计算每个约束表达式的</a:t>
            </a:r>
            <a:r>
              <a:rPr lang="en-US" altLang="zh-CN" sz="1200" kern="1200" dirty="0" err="1" smtClean="0">
                <a:solidFill>
                  <a:schemeClr val="tx1"/>
                </a:solidFill>
                <a:effectLst/>
                <a:latin typeface="+mn-lt"/>
                <a:ea typeface="+mn-ea"/>
                <a:cs typeface="+mn-cs"/>
              </a:rPr>
              <a:t>bool</a:t>
            </a:r>
            <a:r>
              <a:rPr lang="zh-CN" altLang="zh-CN" sz="1200" kern="1200" dirty="0" smtClean="0">
                <a:solidFill>
                  <a:schemeClr val="tx1"/>
                </a:solidFill>
                <a:effectLst/>
                <a:latin typeface="+mn-lt"/>
                <a:ea typeface="+mn-ea"/>
                <a:cs typeface="+mn-cs"/>
              </a:rPr>
              <a:t>型结果进行逻辑</a:t>
            </a:r>
            <a:r>
              <a:rPr lang="en-US" altLang="zh-CN" sz="1200" kern="1200" dirty="0" smtClean="0">
                <a:solidFill>
                  <a:schemeClr val="tx1"/>
                </a:solidFill>
                <a:effectLst/>
                <a:latin typeface="+mn-lt"/>
                <a:ea typeface="+mn-ea"/>
                <a:cs typeface="+mn-cs"/>
              </a:rPr>
              <a:t>&amp;&amp;</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最终得到整个集合的结果。</a:t>
            </a:r>
            <a:endParaRPr lang="zh-CN" altLang="zh-CN" sz="1200" kern="1200" dirty="0" smtClean="0">
              <a:solidFill>
                <a:schemeClr val="tx1"/>
              </a:solidFill>
              <a:effectLst/>
              <a:latin typeface="+mn-lt"/>
              <a:ea typeface="+mn-ea"/>
              <a:cs typeface="+mn-cs"/>
            </a:endParaRPr>
          </a:p>
          <a:p>
            <a:endParaRPr lang="en-US" altLang="zh-CN" dirty="0" smtClean="0"/>
          </a:p>
          <a:p>
            <a:r>
              <a:rPr lang="zh-CN" altLang="en-US" dirty="0" smtClean="0"/>
              <a:t>同时存在</a:t>
            </a:r>
            <a:r>
              <a:rPr lang="zh-CN" altLang="en-US" baseline="0" dirty="0" smtClean="0"/>
              <a:t> </a:t>
            </a:r>
            <a:r>
              <a:rPr lang="en-US" altLang="zh-CN" baseline="0" dirty="0" smtClean="0"/>
              <a:t>&amp;&amp; </a:t>
            </a:r>
            <a:r>
              <a:rPr lang="zh-CN" altLang="en-US" baseline="0" dirty="0" smtClean="0"/>
              <a:t>和 </a:t>
            </a:r>
            <a:r>
              <a:rPr lang="en-US" altLang="zh-CN" baseline="0" dirty="0" smtClean="0"/>
              <a:t>|| </a:t>
            </a:r>
            <a:r>
              <a:rPr lang="zh-CN" altLang="en-US" baseline="0" dirty="0" smtClean="0"/>
              <a:t>应该怎么进行理解？</a:t>
            </a: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运算符的对应含义表</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为什么会有段：</a:t>
            </a:r>
            <a:endParaRPr lang="en-US" altLang="zh-CN" dirty="0" smtClean="0"/>
          </a:p>
          <a:p>
            <a:pPr marL="0" marR="0" lvl="0" indent="0" algn="l" defTabSz="457200" rtl="0" eaLnBrk="1" fontAlgn="auto" latinLnBrk="0" hangingPunct="1">
              <a:lnSpc>
                <a:spcPct val="100000"/>
              </a:lnSpc>
              <a:spcBef>
                <a:spcPts val="0"/>
              </a:spcBef>
              <a:spcAft>
                <a:spcPts val="0"/>
              </a:spcAft>
              <a:buClrTx/>
              <a:buSzTx/>
              <a:buFontTx/>
              <a:buNone/>
              <a:defRPr/>
            </a:pPr>
            <a:r>
              <a:rPr lang="zh-CN" altLang="en-US" dirty="0" smtClean="0"/>
              <a:t>作弊者不断改进自己的作弊手法，高级的作弊仅从单条日志已经很难看出来了，这时候往往需要结合日志的上下文进行分析，</a:t>
            </a:r>
            <a:r>
              <a:rPr lang="zh-CN" altLang="zh-CN" sz="1200" kern="1200" dirty="0" smtClean="0">
                <a:solidFill>
                  <a:schemeClr val="tx1"/>
                </a:solidFill>
                <a:effectLst/>
                <a:latin typeface="+mn-lt"/>
                <a:ea typeface="+mn-ea"/>
                <a:cs typeface="+mn-cs"/>
              </a:rPr>
              <a:t>主要因为时间和流量首先具有连续可统计性，可分区间这样的自然特点</a:t>
            </a:r>
            <a:r>
              <a:rPr lang="zh-CN" altLang="en-US"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而且作弊行为特点跟时间和日志到达先后有联系</a:t>
            </a:r>
            <a:r>
              <a:rPr lang="zh-CN" altLang="en-US" dirty="0" smtClean="0"/>
              <a:t>。比如通过对用户行为学的分析，我们认为一秒内正常用户是不会重复点击两次的，那么这时候我们就可以统计一秒内来自同一</a:t>
            </a:r>
            <a:r>
              <a:rPr lang="en-US" altLang="zh-CN" dirty="0" err="1" smtClean="0"/>
              <a:t>ip</a:t>
            </a:r>
            <a:r>
              <a:rPr lang="zh-CN" altLang="en-US" dirty="0" smtClean="0"/>
              <a:t>的点击次数，如果超过</a:t>
            </a:r>
            <a:r>
              <a:rPr lang="en-US" altLang="zh-CN" dirty="0" smtClean="0"/>
              <a:t>1</a:t>
            </a:r>
            <a:r>
              <a:rPr lang="zh-CN" altLang="en-US" dirty="0" smtClean="0"/>
              <a:t>就认为是作弊行为，并采取过滤手段，这里</a:t>
            </a:r>
            <a:r>
              <a:rPr lang="en-US" altLang="zh-CN" dirty="0" smtClean="0"/>
              <a:t>1</a:t>
            </a:r>
            <a:r>
              <a:rPr lang="zh-CN" altLang="en-US" dirty="0" smtClean="0"/>
              <a:t>秒就是段。</a:t>
            </a:r>
            <a:endParaRPr lang="en-US" altLang="zh-CN" dirty="0" smtClean="0"/>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dirty="0" smtClean="0"/>
          </a:p>
          <a:p>
            <a:pPr marL="0" marR="0" lvl="0" indent="0" algn="l" defTabSz="457200" rtl="0" eaLnBrk="1" fontAlgn="auto" latinLnBrk="0" hangingPunct="1">
              <a:lnSpc>
                <a:spcPct val="100000"/>
              </a:lnSpc>
              <a:spcBef>
                <a:spcPts val="0"/>
              </a:spcBef>
              <a:spcAft>
                <a:spcPts val="0"/>
              </a:spcAft>
              <a:buClrTx/>
              <a:buSzTx/>
              <a:buFontTx/>
              <a:buNone/>
              <a:defRPr/>
            </a:pPr>
            <a:r>
              <a:rPr lang="zh-CN" altLang="en-US" dirty="0" smtClean="0"/>
              <a:t>日志的存储也会有乱序的情况，这是因为从使用者发出请求到记录这条检索的信息存在延迟。</a:t>
            </a: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上一页说过，基于段的过滤实在段中的统计值达到某个阈值后，过滤段中剩下的日志，这种方法就会导致一些问题：</a:t>
            </a:r>
            <a:endParaRPr lang="en-US" altLang="zh-CN" dirty="0" smtClean="0"/>
          </a:p>
          <a:p>
            <a:endParaRPr lang="en-US" altLang="zh-CN" dirty="0" smtClean="0"/>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200" kern="1200" dirty="0" smtClean="0">
                <a:solidFill>
                  <a:schemeClr val="tx1"/>
                </a:solidFill>
                <a:effectLst/>
                <a:latin typeface="Arial" panose="020B0604020202020204" pitchFamily="34" charset="0"/>
                <a:ea typeface="+mn-ea"/>
                <a:cs typeface="+mn-cs"/>
              </a:rPr>
              <a:t>滑段在</a:t>
            </a:r>
            <a:r>
              <a:rPr lang="zh-CN" altLang="zh-CN" sz="1200" kern="1200" dirty="0" smtClean="0">
                <a:solidFill>
                  <a:schemeClr val="tx1"/>
                </a:solidFill>
                <a:effectLst/>
                <a:latin typeface="Arial" panose="020B0604020202020204" pitchFamily="34" charset="0"/>
                <a:ea typeface="+mn-ea"/>
                <a:cs typeface="+mn-cs"/>
              </a:rPr>
              <a:t>一定程度缓解段首漏过，因为下一段滑段段尾是下一段跳段段首。</a:t>
            </a:r>
            <a:r>
              <a:rPr lang="zh-CN" altLang="en-US" sz="1200" kern="1200" dirty="0" smtClean="0">
                <a:solidFill>
                  <a:schemeClr val="tx1"/>
                </a:solidFill>
                <a:effectLst/>
                <a:latin typeface="Arial" panose="020B0604020202020204" pitchFamily="34" charset="0"/>
                <a:ea typeface="+mn-ea"/>
                <a:cs typeface="+mn-cs"/>
              </a:rPr>
              <a:t>段上限黑名单我们放在之后再讨论</a:t>
            </a:r>
            <a:endParaRPr lang="zh-CN" altLang="zh-CN" sz="1200" kern="1200" dirty="0" smtClean="0">
              <a:solidFill>
                <a:schemeClr val="tx1"/>
              </a:solidFill>
              <a:effectLst/>
              <a:latin typeface="Arial" panose="020B0604020202020204" pitchFamily="34" charset="0"/>
              <a:ea typeface="+mn-ea"/>
              <a:cs typeface="+mn-cs"/>
            </a:endParaRPr>
          </a:p>
          <a:p>
            <a:endParaRPr lang="en-US" altLang="zh-CN" dirty="0" smtClean="0"/>
          </a:p>
          <a:p>
            <a:r>
              <a:rPr lang="zh-CN" altLang="en-US" dirty="0" smtClean="0"/>
              <a:t>我觉得问题的本质在于我们将后续部分全部过滤的方法</a:t>
            </a: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在机器学习中，特征是区分事物的关键，</a:t>
            </a: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承接上一页，我会简单介绍以下简单特征和统计特征，当然出于篇幅的限制，这里仅介绍部分特征，其余会在后面与策略一起进行介绍。</a:t>
            </a:r>
            <a:endParaRPr lang="en-US" altLang="zh-CN" dirty="0" smtClean="0"/>
          </a:p>
          <a:p>
            <a:endParaRPr lang="en-US" altLang="zh-CN" dirty="0" smtClean="0"/>
          </a:p>
          <a:p>
            <a:pPr marL="0" marR="0" lvl="0" indent="0" algn="l" defTabSz="457200" rtl="0" eaLnBrk="1" fontAlgn="auto" latinLnBrk="0" hangingPunct="1">
              <a:lnSpc>
                <a:spcPct val="100000"/>
              </a:lnSpc>
              <a:spcBef>
                <a:spcPts val="0"/>
              </a:spcBef>
              <a:spcAft>
                <a:spcPts val="0"/>
              </a:spcAft>
              <a:buClrTx/>
              <a:buSzTx/>
              <a:buFontTx/>
              <a:buNone/>
              <a:defRPr/>
            </a:pPr>
            <a:r>
              <a:rPr lang="en-US" altLang="zh-CN" sz="1200" dirty="0" err="1" smtClean="0">
                <a:latin typeface="+mn-ea"/>
              </a:rPr>
              <a:t>Baiduid</a:t>
            </a:r>
            <a:r>
              <a:rPr lang="zh-CN" altLang="en-US" sz="1200" dirty="0" smtClean="0">
                <a:latin typeface="+mn-ea"/>
              </a:rPr>
              <a:t>新鲜度的作用：常见</a:t>
            </a:r>
            <a:r>
              <a:rPr lang="zh-CN" altLang="en-US" sz="1200" dirty="0" smtClean="0">
                <a:solidFill>
                  <a:srgbClr val="FF0000"/>
                </a:solidFill>
                <a:latin typeface="+mn-ea"/>
              </a:rPr>
              <a:t>作弊</a:t>
            </a:r>
            <a:r>
              <a:rPr lang="zh-CN" altLang="en-US" sz="1200" dirty="0" smtClean="0">
                <a:latin typeface="+mn-ea"/>
              </a:rPr>
              <a:t>都是频繁检索或点击，防止被发现伪装成不同的人，频繁清</a:t>
            </a:r>
            <a:r>
              <a:rPr lang="en-US" altLang="zh-CN" sz="1200" dirty="0" smtClean="0">
                <a:latin typeface="+mn-ea"/>
              </a:rPr>
              <a:t>cookie</a:t>
            </a:r>
            <a:r>
              <a:rPr lang="zh-CN" altLang="en-US" sz="1200" dirty="0" smtClean="0">
                <a:latin typeface="+mn-ea"/>
              </a:rPr>
              <a:t>，</a:t>
            </a:r>
            <a:r>
              <a:rPr lang="en-US" altLang="zh-CN" sz="1200" dirty="0" err="1" smtClean="0">
                <a:solidFill>
                  <a:srgbClr val="FF0000"/>
                </a:solidFill>
                <a:latin typeface="+mn-ea"/>
              </a:rPr>
              <a:t>baiduid</a:t>
            </a:r>
            <a:r>
              <a:rPr lang="zh-CN" altLang="en-US" sz="1200" dirty="0" smtClean="0">
                <a:solidFill>
                  <a:srgbClr val="FF0000"/>
                </a:solidFill>
                <a:latin typeface="+mn-ea"/>
              </a:rPr>
              <a:t>新鲜度较小</a:t>
            </a:r>
            <a:r>
              <a:rPr lang="zh-CN" altLang="en-US" sz="1200" dirty="0" smtClean="0">
                <a:latin typeface="+mn-ea"/>
              </a:rPr>
              <a:t>。</a:t>
            </a:r>
            <a:endParaRPr lang="zh-CN" altLang="zh-CN" sz="1200" dirty="0" smtClean="0"/>
          </a:p>
          <a:p>
            <a:endParaRPr lang="en-US" altLang="zh-CN" dirty="0" smtClean="0"/>
          </a:p>
          <a:p>
            <a:r>
              <a:rPr lang="zh-CN" altLang="en-US" dirty="0" smtClean="0"/>
              <a:t>点展时间差：广告从搜索展现到最后产生点击的时间差。点展时间差与广告样式，展现位置等因素有关，比如在页面下方的广告，点展时间差较长。在设置阈值的时候也需要考虑这些因素。</a:t>
            </a:r>
            <a:endParaRPr lang="zh-CN" altLang="en-US" dirty="0" smtClean="0"/>
          </a:p>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下面进行详细的介绍。</a:t>
            </a: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表格里的内容需要进行修正，与实际策略观察结果不完全相符。</a:t>
            </a:r>
            <a:endParaRPr lang="en-US" altLang="zh-CN" dirty="0" smtClean="0"/>
          </a:p>
          <a:p>
            <a:endParaRPr lang="en-US" altLang="zh-CN" dirty="0" smtClean="0"/>
          </a:p>
          <a:p>
            <a:r>
              <a:rPr lang="zh-CN" altLang="en-US" dirty="0" smtClean="0"/>
              <a:t>标红的策略存疑？</a:t>
            </a: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然而在查看配置文件时发现，</a:t>
            </a: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策略的实现过程中有很多共性，工程的同学已经将这些业务逻辑实现。</a:t>
            </a:r>
            <a:endParaRPr lang="en-US" altLang="zh-CN" dirty="0" smtClean="0"/>
          </a:p>
          <a:p>
            <a:endParaRPr lang="en-US" altLang="zh-CN" dirty="0" smtClean="0"/>
          </a:p>
          <a:p>
            <a:r>
              <a:rPr kumimoji="1" lang="zh-CN" altLang="en-US" sz="1200" dirty="0" smtClean="0">
                <a:latin typeface="微软雅黑" panose="020B0503020204020204" pitchFamily="34" charset="-122"/>
                <a:ea typeface="微软雅黑" panose="020B0503020204020204" pitchFamily="34" charset="-122"/>
                <a:cs typeface="宋体" charset="0"/>
              </a:rPr>
              <a:t>脚本加配置文件加日志文件，是反作弊系统运行的基础</a:t>
            </a:r>
            <a:endParaRPr lang="en-US" altLang="zh-CN" dirty="0" smtClean="0"/>
          </a:p>
          <a:p>
            <a:endParaRPr lang="en-US" altLang="zh-CN" dirty="0" smtClean="0"/>
          </a:p>
          <a:p>
            <a:r>
              <a:rPr lang="zh-CN" altLang="en-US" dirty="0" smtClean="0"/>
              <a:t>调参的过程</a:t>
            </a: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由于接下来的策略介绍免不了对配置文件的解析，因此这里会将配置文件中一些基本的参数进行介绍。</a:t>
            </a:r>
            <a:endParaRPr lang="en-US" altLang="zh-CN" dirty="0" smtClean="0"/>
          </a:p>
          <a:p>
            <a:endParaRPr lang="en-US" altLang="zh-CN" dirty="0" smtClean="0"/>
          </a:p>
          <a:p>
            <a:r>
              <a:rPr lang="zh-CN" altLang="en-US" dirty="0" smtClean="0"/>
              <a:t>首先</a:t>
            </a:r>
            <a:r>
              <a:rPr lang="en-US" altLang="zh-CN" dirty="0" err="1" smtClean="0"/>
              <a:t>policy_id</a:t>
            </a:r>
            <a:r>
              <a:rPr lang="zh-CN" altLang="en-US" dirty="0" smtClean="0"/>
              <a:t>是策略名，其命名有规则。</a:t>
            </a:r>
            <a:r>
              <a:rPr lang="en-US" altLang="zh-CN" dirty="0" err="1" smtClean="0"/>
              <a:t>feature_type</a:t>
            </a:r>
            <a:r>
              <a:rPr lang="zh-CN" altLang="en-US" dirty="0" smtClean="0"/>
              <a:t>为特征类型，决定特征的计算方法，在实现中，每一个特征类型都对应着一种特征计算类型。</a:t>
            </a:r>
            <a:endParaRPr lang="en-US" altLang="zh-CN" dirty="0" smtClean="0"/>
          </a:p>
          <a:p>
            <a:endParaRPr lang="en-US" altLang="zh-CN" dirty="0" smtClean="0"/>
          </a:p>
          <a:p>
            <a:pPr marL="0" marR="0" lvl="0" indent="0" algn="l" defTabSz="457200" rtl="0" eaLnBrk="1" fontAlgn="auto" latinLnBrk="0" hangingPunct="1">
              <a:lnSpc>
                <a:spcPct val="100000"/>
              </a:lnSpc>
              <a:spcBef>
                <a:spcPts val="0"/>
              </a:spcBef>
              <a:spcAft>
                <a:spcPts val="0"/>
              </a:spcAft>
              <a:buClrTx/>
              <a:buSzTx/>
              <a:buFontTx/>
              <a:buNone/>
              <a:defRPr/>
            </a:pPr>
            <a:r>
              <a:rPr kumimoji="1" lang="en-US" altLang="zh-CN" sz="1200" dirty="0" smtClean="0">
                <a:latin typeface="微软雅黑" panose="020B0503020204020204" pitchFamily="34" charset="-122"/>
                <a:ea typeface="微软雅黑" panose="020B0503020204020204" pitchFamily="34" charset="-122"/>
                <a:cs typeface="宋体" charset="0"/>
              </a:rPr>
              <a:t>version: </a:t>
            </a:r>
            <a:r>
              <a:rPr kumimoji="1" lang="zh-CN" altLang="en-US" sz="1200" dirty="0" smtClean="0">
                <a:latin typeface="微软雅黑" panose="020B0503020204020204" pitchFamily="34" charset="-122"/>
                <a:ea typeface="微软雅黑" panose="020B0503020204020204" pitchFamily="34" charset="-122"/>
                <a:cs typeface="宋体" charset="0"/>
              </a:rPr>
              <a:t>特征的版本号，与编辑有关</a:t>
            </a:r>
            <a:r>
              <a:rPr kumimoji="0" lang="zh-CN" altLang="en-US" sz="1200" dirty="0" smtClean="0">
                <a:latin typeface="+mn-lt"/>
                <a:ea typeface="+mn-ea"/>
                <a:cs typeface="+mn-cs"/>
              </a:rPr>
              <a:t>，当对特征的修改会影响到状态累积的时候这一参数的值需要改变，比如处理的维度，段长，处理空间等，但改动应该尽量选择过滤量小的特征，因为这些改动会使状态累积重新开始。</a:t>
            </a:r>
            <a:endParaRPr kumimoji="1" lang="en-US" altLang="zh-CN" sz="1200" dirty="0" smtClean="0">
              <a:latin typeface="微软雅黑" panose="020B0503020204020204" pitchFamily="34" charset="-122"/>
              <a:ea typeface="微软雅黑" panose="020B0503020204020204" pitchFamily="34" charset="-122"/>
              <a:cs typeface="宋体" charset="0"/>
            </a:endParaRP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虽然这么说，但是</a:t>
            </a:r>
            <a:r>
              <a:rPr lang="en-US" altLang="zh-CN" dirty="0" err="1" smtClean="0"/>
              <a:t>dformat</a:t>
            </a:r>
            <a:r>
              <a:rPr lang="zh-CN" altLang="en-US" dirty="0" smtClean="0"/>
              <a:t>层的统计类策略并不少，</a:t>
            </a:r>
            <a:r>
              <a:rPr lang="en-US" altLang="zh-CN" dirty="0" smtClean="0"/>
              <a:t>79</a:t>
            </a:r>
            <a:r>
              <a:rPr lang="zh-CN" altLang="en-US" dirty="0" smtClean="0"/>
              <a:t>个策略中就有</a:t>
            </a:r>
            <a:r>
              <a:rPr lang="en-US" altLang="zh-CN" dirty="0" smtClean="0"/>
              <a:t>41</a:t>
            </a:r>
            <a:r>
              <a:rPr lang="zh-CN" altLang="en-US" dirty="0" smtClean="0"/>
              <a:t>个统计类策略</a:t>
            </a:r>
            <a:endParaRPr lang="en-US" altLang="zh-CN" dirty="0" smtClean="0"/>
          </a:p>
          <a:p>
            <a:endParaRPr lang="en-US" altLang="zh-CN" dirty="0" smtClean="0"/>
          </a:p>
          <a:p>
            <a:r>
              <a:rPr lang="zh-CN" altLang="en-US" dirty="0" smtClean="0"/>
              <a:t>而简单策略在</a:t>
            </a:r>
            <a:r>
              <a:rPr lang="en-US" altLang="zh-CN" dirty="0" smtClean="0"/>
              <a:t>Themis</a:t>
            </a:r>
            <a:r>
              <a:rPr lang="zh-CN" altLang="en-US" dirty="0" smtClean="0"/>
              <a:t>层中的数量其实比</a:t>
            </a:r>
            <a:r>
              <a:rPr lang="en-US" altLang="zh-CN" dirty="0" err="1" smtClean="0"/>
              <a:t>dformat</a:t>
            </a:r>
            <a:r>
              <a:rPr lang="zh-CN" altLang="en-US" dirty="0" smtClean="0"/>
              <a:t>层的数量还多，这里说的主要存在于指的是占比情况</a:t>
            </a: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灰名单是一种比较特殊的特征，</a:t>
            </a:r>
            <a:r>
              <a:rPr lang="zh-CN" altLang="en-US" sz="1200" b="0" i="0" kern="1200" dirty="0" smtClean="0">
                <a:solidFill>
                  <a:schemeClr val="tx1"/>
                </a:solidFill>
                <a:effectLst/>
                <a:latin typeface="+mn-lt"/>
                <a:ea typeface="+mn-ea"/>
                <a:cs typeface="+mn-cs"/>
              </a:rPr>
              <a:t>例如策略</a:t>
            </a:r>
            <a:r>
              <a:rPr lang="en-US" altLang="zh-CN" sz="1200" b="0" i="0" kern="1200" dirty="0" smtClean="0">
                <a:solidFill>
                  <a:schemeClr val="tx1"/>
                </a:solidFill>
                <a:effectLst/>
                <a:latin typeface="+mn-lt"/>
                <a:ea typeface="+mn-ea"/>
                <a:cs typeface="+mn-cs"/>
              </a:rPr>
              <a:t>331</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pc</a:t>
            </a:r>
            <a:r>
              <a:rPr lang="zh-CN" altLang="en-US" sz="1200" b="0" i="0" kern="1200" dirty="0" smtClean="0">
                <a:solidFill>
                  <a:schemeClr val="tx1"/>
                </a:solidFill>
                <a:effectLst/>
                <a:latin typeface="+mn-lt"/>
                <a:ea typeface="+mn-ea"/>
                <a:cs typeface="+mn-cs"/>
              </a:rPr>
              <a:t>端每</a:t>
            </a:r>
            <a:r>
              <a:rPr lang="en-US" altLang="zh-CN" sz="1200" b="0" i="0" kern="1200" dirty="0" smtClean="0">
                <a:solidFill>
                  <a:schemeClr val="tx1"/>
                </a:solidFill>
                <a:effectLst/>
                <a:latin typeface="+mn-lt"/>
                <a:ea typeface="+mn-ea"/>
                <a:cs typeface="+mn-cs"/>
              </a:rPr>
              <a:t>10</a:t>
            </a:r>
            <a:r>
              <a:rPr lang="zh-CN" altLang="en-US" sz="1200" b="0" i="0" kern="1200" dirty="0" smtClean="0">
                <a:solidFill>
                  <a:schemeClr val="tx1"/>
                </a:solidFill>
                <a:effectLst/>
                <a:latin typeface="+mn-lt"/>
                <a:ea typeface="+mn-ea"/>
                <a:cs typeface="+mn-cs"/>
              </a:rPr>
              <a:t>万</a:t>
            </a:r>
            <a:r>
              <a:rPr lang="en-US" altLang="zh-CN" sz="1200" b="0" i="0" kern="1200" dirty="0" err="1" smtClean="0">
                <a:solidFill>
                  <a:schemeClr val="tx1"/>
                </a:solidFill>
                <a:effectLst/>
                <a:latin typeface="+mn-lt"/>
                <a:ea typeface="+mn-ea"/>
                <a:cs typeface="+mn-cs"/>
              </a:rPr>
              <a:t>pv</a:t>
            </a: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同一点击</a:t>
            </a:r>
            <a:r>
              <a:rPr lang="en-US" altLang="zh-CN" sz="1200" b="0" i="0" kern="1200" dirty="0" err="1" smtClean="0">
                <a:solidFill>
                  <a:schemeClr val="tx1"/>
                </a:solidFill>
                <a:effectLst/>
                <a:latin typeface="+mn-lt"/>
                <a:ea typeface="+mn-ea"/>
                <a:cs typeface="+mn-cs"/>
              </a:rPr>
              <a:t>ip</a:t>
            </a:r>
            <a:r>
              <a:rPr lang="zh-CN" altLang="en-US" sz="1200" b="0" i="0" kern="1200" dirty="0" smtClean="0">
                <a:solidFill>
                  <a:schemeClr val="tx1"/>
                </a:solidFill>
                <a:effectLst/>
                <a:latin typeface="+mn-lt"/>
                <a:ea typeface="+mn-ea"/>
                <a:cs typeface="+mn-cs"/>
              </a:rPr>
              <a:t>出现的次数不超过</a:t>
            </a:r>
            <a:r>
              <a:rPr lang="en-US" altLang="zh-CN" sz="1200" b="0" i="0" kern="1200" dirty="0" smtClean="0">
                <a:solidFill>
                  <a:schemeClr val="tx1"/>
                </a:solidFill>
                <a:effectLst/>
                <a:latin typeface="+mn-lt"/>
                <a:ea typeface="+mn-ea"/>
                <a:cs typeface="+mn-cs"/>
              </a:rPr>
              <a:t>150</a:t>
            </a:r>
            <a:r>
              <a:rPr lang="zh-CN" altLang="en-US" sz="1200" b="0" i="0" kern="1200" dirty="0" smtClean="0">
                <a:solidFill>
                  <a:schemeClr val="tx1"/>
                </a:solidFill>
                <a:effectLst/>
                <a:latin typeface="+mn-lt"/>
                <a:ea typeface="+mn-ea"/>
                <a:cs typeface="+mn-cs"/>
              </a:rPr>
              <a:t>。但如果</a:t>
            </a:r>
            <a:r>
              <a:rPr lang="en-US" altLang="zh-CN" sz="1200" b="0" i="0" kern="1200" dirty="0" err="1" smtClean="0">
                <a:solidFill>
                  <a:schemeClr val="tx1"/>
                </a:solidFill>
                <a:effectLst/>
                <a:latin typeface="+mn-lt"/>
                <a:ea typeface="+mn-ea"/>
                <a:cs typeface="+mn-cs"/>
              </a:rPr>
              <a:t>ip</a:t>
            </a:r>
            <a:r>
              <a:rPr lang="zh-CN" altLang="en-US" sz="1200" b="0" i="0" kern="1200" dirty="0" smtClean="0">
                <a:solidFill>
                  <a:schemeClr val="tx1"/>
                </a:solidFill>
                <a:effectLst/>
                <a:latin typeface="+mn-lt"/>
                <a:ea typeface="+mn-ea"/>
                <a:cs typeface="+mn-cs"/>
              </a:rPr>
              <a:t>与灰名单词表文件匹配成功则视为大</a:t>
            </a:r>
            <a:r>
              <a:rPr lang="en-US" altLang="zh-CN" sz="1200" b="0" i="0" kern="1200" dirty="0" err="1" smtClean="0">
                <a:solidFill>
                  <a:schemeClr val="tx1"/>
                </a:solidFill>
                <a:effectLst/>
                <a:latin typeface="+mn-lt"/>
                <a:ea typeface="+mn-ea"/>
                <a:cs typeface="+mn-cs"/>
              </a:rPr>
              <a:t>ip</a:t>
            </a:r>
            <a:r>
              <a:rPr lang="zh-CN" altLang="en-US" sz="1200" b="0" i="0" kern="1200" dirty="0" smtClean="0">
                <a:solidFill>
                  <a:schemeClr val="tx1"/>
                </a:solidFill>
                <a:effectLst/>
                <a:latin typeface="+mn-lt"/>
                <a:ea typeface="+mn-ea"/>
                <a:cs typeface="+mn-cs"/>
              </a:rPr>
              <a:t>，对于大</a:t>
            </a:r>
            <a:r>
              <a:rPr lang="en-US" altLang="zh-CN" sz="1200" b="0" i="0" kern="1200" dirty="0" err="1" smtClean="0">
                <a:solidFill>
                  <a:schemeClr val="tx1"/>
                </a:solidFill>
                <a:effectLst/>
                <a:latin typeface="+mn-lt"/>
                <a:ea typeface="+mn-ea"/>
                <a:cs typeface="+mn-cs"/>
              </a:rPr>
              <a:t>ip</a:t>
            </a:r>
            <a:r>
              <a:rPr lang="zh-CN" altLang="en-US" sz="1200" b="0" i="0" kern="1200" dirty="0" smtClean="0">
                <a:solidFill>
                  <a:schemeClr val="tx1"/>
                </a:solidFill>
                <a:effectLst/>
                <a:latin typeface="+mn-lt"/>
                <a:ea typeface="+mn-ea"/>
                <a:cs typeface="+mn-cs"/>
              </a:rPr>
              <a:t>配置了灰名单</a:t>
            </a:r>
            <a:r>
              <a:rPr lang="en-US" altLang="zh-CN" sz="1200" b="0" i="0" kern="1200" dirty="0" smtClean="0">
                <a:solidFill>
                  <a:schemeClr val="tx1"/>
                </a:solidFill>
                <a:effectLst/>
                <a:latin typeface="+mn-lt"/>
                <a:ea typeface="+mn-ea"/>
                <a:cs typeface="+mn-cs"/>
              </a:rPr>
              <a:t>331.gray</a:t>
            </a:r>
            <a:r>
              <a:rPr lang="zh-CN" altLang="en-US" sz="1200" b="0" i="0" kern="1200" dirty="0" smtClean="0">
                <a:solidFill>
                  <a:schemeClr val="tx1"/>
                </a:solidFill>
                <a:effectLst/>
                <a:latin typeface="+mn-lt"/>
                <a:ea typeface="+mn-ea"/>
                <a:cs typeface="+mn-cs"/>
              </a:rPr>
              <a:t>，提高了阈值</a:t>
            </a:r>
            <a:r>
              <a:rPr lang="en-US" altLang="zh-CN" sz="1200" b="0" i="0" kern="1200" dirty="0" smtClean="0">
                <a:solidFill>
                  <a:schemeClr val="tx1"/>
                </a:solidFill>
                <a:effectLst/>
                <a:latin typeface="+mn-lt"/>
                <a:ea typeface="+mn-ea"/>
                <a:cs typeface="+mn-cs"/>
              </a:rPr>
              <a:t>threshold</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dirty="0" smtClean="0">
                <a:latin typeface="微软雅黑" panose="020B0503020204020204" pitchFamily="34" charset="-122"/>
                <a:ea typeface="微软雅黑" panose="020B0503020204020204" pitchFamily="34" charset="-122"/>
                <a:cs typeface="宋体" charset="0"/>
              </a:rPr>
              <a:t>词表匹配类型是</a:t>
            </a:r>
            <a:r>
              <a:rPr kumimoji="1" lang="en-US" altLang="zh-CN" sz="1200" dirty="0" err="1" smtClean="0">
                <a:latin typeface="微软雅黑" panose="020B0503020204020204" pitchFamily="34" charset="-122"/>
                <a:ea typeface="微软雅黑" panose="020B0503020204020204" pitchFamily="34" charset="-122"/>
                <a:cs typeface="宋体" charset="0"/>
              </a:rPr>
              <a:t>ipmap</a:t>
            </a:r>
            <a:r>
              <a:rPr kumimoji="1" lang="zh-CN" altLang="en-US" sz="1200" dirty="0" smtClean="0">
                <a:latin typeface="微软雅黑" panose="020B0503020204020204" pitchFamily="34" charset="-122"/>
                <a:ea typeface="微软雅黑" panose="020B0503020204020204" pitchFamily="34" charset="-122"/>
                <a:cs typeface="宋体" charset="0"/>
              </a:rPr>
              <a:t>类型，查询</a:t>
            </a:r>
            <a:r>
              <a:rPr kumimoji="1" lang="en-US" altLang="zh-CN" sz="1200" dirty="0" err="1" smtClean="0">
                <a:latin typeface="微软雅黑" panose="020B0503020204020204" pitchFamily="34" charset="-122"/>
                <a:ea typeface="微软雅黑" panose="020B0503020204020204" pitchFamily="34" charset="-122"/>
                <a:cs typeface="宋体" charset="0"/>
              </a:rPr>
              <a:t>ip</a:t>
            </a:r>
            <a:r>
              <a:rPr kumimoji="1" lang="zh-CN" altLang="en-US" sz="1200" dirty="0" smtClean="0">
                <a:latin typeface="微软雅黑" panose="020B0503020204020204" pitchFamily="34" charset="-122"/>
                <a:ea typeface="微软雅黑" panose="020B0503020204020204" pitchFamily="34" charset="-122"/>
                <a:cs typeface="宋体" charset="0"/>
              </a:rPr>
              <a:t>是否位于词表文件的</a:t>
            </a:r>
            <a:r>
              <a:rPr kumimoji="1" lang="en-US" altLang="zh-CN" sz="1200" dirty="0" err="1" smtClean="0">
                <a:latin typeface="微软雅黑" panose="020B0503020204020204" pitchFamily="34" charset="-122"/>
                <a:ea typeface="微软雅黑" panose="020B0503020204020204" pitchFamily="34" charset="-122"/>
                <a:cs typeface="宋体" charset="0"/>
              </a:rPr>
              <a:t>ip</a:t>
            </a:r>
            <a:r>
              <a:rPr kumimoji="1" lang="zh-CN" altLang="en-US" sz="1200" dirty="0" smtClean="0">
                <a:latin typeface="微软雅黑" panose="020B0503020204020204" pitchFamily="34" charset="-122"/>
                <a:ea typeface="微软雅黑" panose="020B0503020204020204" pitchFamily="34" charset="-122"/>
                <a:cs typeface="宋体" charset="0"/>
              </a:rPr>
              <a:t>段中，要求文件</a:t>
            </a:r>
            <a:r>
              <a:rPr kumimoji="1" lang="en-US" altLang="zh-CN" sz="1200" dirty="0" smtClean="0">
                <a:latin typeface="微软雅黑" panose="020B0503020204020204" pitchFamily="34" charset="-122"/>
                <a:ea typeface="微软雅黑" panose="020B0503020204020204" pitchFamily="34" charset="-122"/>
                <a:cs typeface="宋体" charset="0"/>
              </a:rPr>
              <a:t>4</a:t>
            </a:r>
            <a:r>
              <a:rPr kumimoji="1" lang="zh-CN" altLang="en-US" sz="1200" dirty="0" smtClean="0">
                <a:latin typeface="微软雅黑" panose="020B0503020204020204" pitchFamily="34" charset="-122"/>
                <a:ea typeface="微软雅黑" panose="020B0503020204020204" pitchFamily="34" charset="-122"/>
                <a:cs typeface="宋体" charset="0"/>
              </a:rPr>
              <a:t>列，用</a:t>
            </a:r>
            <a:r>
              <a:rPr kumimoji="1" lang="en-US" altLang="zh-CN" sz="1200" dirty="0" smtClean="0">
                <a:latin typeface="微软雅黑" panose="020B0503020204020204" pitchFamily="34" charset="-122"/>
                <a:ea typeface="微软雅黑" panose="020B0503020204020204" pitchFamily="34" charset="-122"/>
                <a:cs typeface="宋体" charset="0"/>
              </a:rPr>
              <a:t>\t</a:t>
            </a:r>
            <a:r>
              <a:rPr kumimoji="1" lang="zh-CN" altLang="en-US" sz="1200" dirty="0" smtClean="0">
                <a:latin typeface="微软雅黑" panose="020B0503020204020204" pitchFamily="34" charset="-122"/>
                <a:ea typeface="微软雅黑" panose="020B0503020204020204" pitchFamily="34" charset="-122"/>
                <a:cs typeface="宋体" charset="0"/>
              </a:rPr>
              <a:t>分隔，分别是</a:t>
            </a:r>
            <a:r>
              <a:rPr kumimoji="1" lang="en-US" altLang="zh-CN" sz="1200" dirty="0" err="1" smtClean="0">
                <a:latin typeface="微软雅黑" panose="020B0503020204020204" pitchFamily="34" charset="-122"/>
                <a:ea typeface="微软雅黑" panose="020B0503020204020204" pitchFamily="34" charset="-122"/>
                <a:cs typeface="宋体" charset="0"/>
              </a:rPr>
              <a:t>ip</a:t>
            </a:r>
            <a:r>
              <a:rPr kumimoji="1" lang="zh-CN" altLang="en-US" sz="1200" dirty="0" smtClean="0">
                <a:latin typeface="微软雅黑" panose="020B0503020204020204" pitchFamily="34" charset="-122"/>
                <a:ea typeface="微软雅黑" panose="020B0503020204020204" pitchFamily="34" charset="-122"/>
                <a:cs typeface="宋体" charset="0"/>
              </a:rPr>
              <a:t>段起始</a:t>
            </a:r>
            <a:r>
              <a:rPr kumimoji="1" lang="en-US" altLang="zh-CN" sz="1200" dirty="0" smtClean="0">
                <a:latin typeface="微软雅黑" panose="020B0503020204020204" pitchFamily="34" charset="-122"/>
                <a:ea typeface="微软雅黑" panose="020B0503020204020204" pitchFamily="34" charset="-122"/>
                <a:cs typeface="宋体" charset="0"/>
              </a:rPr>
              <a:t>(sip)</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err="1" smtClean="0">
                <a:latin typeface="微软雅黑" panose="020B0503020204020204" pitchFamily="34" charset="-122"/>
                <a:ea typeface="微软雅黑" panose="020B0503020204020204" pitchFamily="34" charset="-122"/>
                <a:cs typeface="宋体" charset="0"/>
              </a:rPr>
              <a:t>ip</a:t>
            </a:r>
            <a:r>
              <a:rPr kumimoji="1" lang="zh-CN" altLang="en-US" sz="1200" dirty="0" smtClean="0">
                <a:latin typeface="微软雅黑" panose="020B0503020204020204" pitchFamily="34" charset="-122"/>
                <a:ea typeface="微软雅黑" panose="020B0503020204020204" pitchFamily="34" charset="-122"/>
                <a:cs typeface="宋体" charset="0"/>
              </a:rPr>
              <a:t>段终点</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en-US" altLang="zh-CN" sz="1200" dirty="0" err="1" smtClean="0">
                <a:latin typeface="微软雅黑" panose="020B0503020204020204" pitchFamily="34" charset="-122"/>
                <a:ea typeface="微软雅黑" panose="020B0503020204020204" pitchFamily="34" charset="-122"/>
                <a:cs typeface="宋体" charset="0"/>
              </a:rPr>
              <a:t>eid</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err="1" smtClean="0">
                <a:latin typeface="微软雅黑" panose="020B0503020204020204" pitchFamily="34" charset="-122"/>
                <a:ea typeface="微软雅黑" panose="020B0503020204020204" pitchFamily="34" charset="-122"/>
                <a:cs typeface="宋体" charset="0"/>
              </a:rPr>
              <a:t>pid</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zh-CN" altLang="en-US" sz="1200" dirty="0" smtClean="0">
                <a:latin typeface="微软雅黑" panose="020B0503020204020204" pitchFamily="34" charset="-122"/>
                <a:ea typeface="微软雅黑" panose="020B0503020204020204" pitchFamily="34" charset="-122"/>
                <a:cs typeface="宋体" charset="0"/>
              </a:rPr>
              <a:t>省份</a:t>
            </a:r>
            <a:r>
              <a:rPr kumimoji="1" lang="en-US" altLang="zh-CN" sz="1200" dirty="0" smtClean="0">
                <a:latin typeface="微软雅黑" panose="020B0503020204020204" pitchFamily="34" charset="-122"/>
                <a:ea typeface="微软雅黑" panose="020B0503020204020204" pitchFamily="34" charset="-122"/>
                <a:cs typeface="宋体" charset="0"/>
              </a:rPr>
              <a:t>id),  </a:t>
            </a:r>
            <a:r>
              <a:rPr kumimoji="1" lang="en-US" altLang="zh-CN" sz="1200" dirty="0" err="1" smtClean="0">
                <a:latin typeface="微软雅黑" panose="020B0503020204020204" pitchFamily="34" charset="-122"/>
                <a:ea typeface="微软雅黑" panose="020B0503020204020204" pitchFamily="34" charset="-122"/>
                <a:cs typeface="宋体" charset="0"/>
              </a:rPr>
              <a:t>cid</a:t>
            </a:r>
            <a:r>
              <a:rPr kumimoji="1" lang="en-US" altLang="zh-CN" sz="1200" dirty="0" smtClean="0">
                <a:latin typeface="微软雅黑" panose="020B0503020204020204" pitchFamily="34" charset="-122"/>
                <a:ea typeface="微软雅黑" panose="020B0503020204020204" pitchFamily="34" charset="-122"/>
                <a:cs typeface="宋体" charset="0"/>
              </a:rPr>
              <a:t>(city</a:t>
            </a:r>
            <a:r>
              <a:rPr kumimoji="1" lang="zh-CN" altLang="en-US" sz="1200" dirty="0" smtClean="0">
                <a:latin typeface="微软雅黑" panose="020B0503020204020204" pitchFamily="34" charset="-122"/>
                <a:ea typeface="微软雅黑" panose="020B0503020204020204" pitchFamily="34" charset="-122"/>
                <a:cs typeface="宋体" charset="0"/>
              </a:rPr>
              <a:t>的</a:t>
            </a:r>
            <a:r>
              <a:rPr kumimoji="1" lang="en-US" altLang="zh-CN" sz="1200" dirty="0" smtClean="0">
                <a:latin typeface="微软雅黑" panose="020B0503020204020204" pitchFamily="34" charset="-122"/>
                <a:ea typeface="微软雅黑" panose="020B0503020204020204" pitchFamily="34" charset="-122"/>
                <a:cs typeface="宋体" charset="0"/>
              </a:rPr>
              <a:t>id)</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err="1" smtClean="0">
                <a:latin typeface="微软雅黑" panose="020B0503020204020204" pitchFamily="34" charset="-122"/>
                <a:ea typeface="微软雅黑" panose="020B0503020204020204" pitchFamily="34" charset="-122"/>
                <a:cs typeface="宋体" charset="0"/>
              </a:rPr>
              <a:t>ip</a:t>
            </a:r>
            <a:r>
              <a:rPr kumimoji="1" lang="zh-CN" altLang="en-US" sz="1200" dirty="0" smtClean="0">
                <a:latin typeface="微软雅黑" panose="020B0503020204020204" pitchFamily="34" charset="-122"/>
                <a:ea typeface="微软雅黑" panose="020B0503020204020204" pitchFamily="34" charset="-122"/>
                <a:cs typeface="宋体" charset="0"/>
              </a:rPr>
              <a:t>段左闭右开，</a:t>
            </a:r>
            <a:r>
              <a:rPr kumimoji="1" lang="en-US" altLang="zh-CN" sz="1200" dirty="0" smtClean="0">
                <a:latin typeface="微软雅黑" panose="020B0503020204020204" pitchFamily="34" charset="-122"/>
                <a:ea typeface="微软雅黑" panose="020B0503020204020204" pitchFamily="34" charset="-122"/>
                <a:cs typeface="宋体" charset="0"/>
              </a:rPr>
              <a:t>sip </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smtClean="0">
                <a:latin typeface="微软雅黑" panose="020B0503020204020204" pitchFamily="34" charset="-122"/>
                <a:ea typeface="微软雅黑" panose="020B0503020204020204" pitchFamily="34" charset="-122"/>
                <a:cs typeface="宋体" charset="0"/>
              </a:rPr>
              <a:t>start </a:t>
            </a:r>
            <a:r>
              <a:rPr kumimoji="1" lang="en-US" altLang="zh-CN" sz="1200" dirty="0" err="1" smtClean="0">
                <a:latin typeface="微软雅黑" panose="020B0503020204020204" pitchFamily="34" charset="-122"/>
                <a:ea typeface="微软雅黑" panose="020B0503020204020204" pitchFamily="34" charset="-122"/>
                <a:cs typeface="宋体" charset="0"/>
              </a:rPr>
              <a:t>ip</a:t>
            </a:r>
            <a:r>
              <a:rPr kumimoji="1" lang="zh-CN" altLang="en-US" sz="1200" dirty="0" smtClean="0">
                <a:latin typeface="微软雅黑" panose="020B0503020204020204" pitchFamily="34" charset="-122"/>
                <a:ea typeface="微软雅黑" panose="020B0503020204020204" pitchFamily="34" charset="-122"/>
                <a:cs typeface="宋体" charset="0"/>
              </a:rPr>
              <a:t>）升序，</a:t>
            </a:r>
            <a:r>
              <a:rPr kumimoji="1" lang="en-US" altLang="zh-CN" sz="1200" dirty="0" err="1" smtClean="0">
                <a:latin typeface="微软雅黑" panose="020B0503020204020204" pitchFamily="34" charset="-122"/>
                <a:ea typeface="微软雅黑" panose="020B0503020204020204" pitchFamily="34" charset="-122"/>
                <a:cs typeface="宋体" charset="0"/>
              </a:rPr>
              <a:t>eip</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smtClean="0">
                <a:latin typeface="微软雅黑" panose="020B0503020204020204" pitchFamily="34" charset="-122"/>
                <a:ea typeface="微软雅黑" panose="020B0503020204020204" pitchFamily="34" charset="-122"/>
                <a:cs typeface="宋体" charset="0"/>
              </a:rPr>
              <a:t>end </a:t>
            </a:r>
            <a:r>
              <a:rPr kumimoji="1" lang="en-US" altLang="zh-CN" sz="1200" dirty="0" err="1" smtClean="0">
                <a:latin typeface="微软雅黑" panose="020B0503020204020204" pitchFamily="34" charset="-122"/>
                <a:ea typeface="微软雅黑" panose="020B0503020204020204" pitchFamily="34" charset="-122"/>
                <a:cs typeface="宋体" charset="0"/>
              </a:rPr>
              <a:t>ip</a:t>
            </a:r>
            <a:r>
              <a:rPr kumimoji="1" lang="zh-CN" altLang="en-US" sz="1200" dirty="0" smtClean="0">
                <a:latin typeface="微软雅黑" panose="020B0503020204020204" pitchFamily="34" charset="-122"/>
                <a:ea typeface="微软雅黑" panose="020B0503020204020204" pitchFamily="34" charset="-122"/>
                <a:cs typeface="宋体" charset="0"/>
              </a:rPr>
              <a:t>）升序，查找做二分查找</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程序会将</a:t>
            </a:r>
            <a:r>
              <a:rPr lang="en-US" altLang="zh-CN" sz="1200" b="0" i="0" kern="1200" dirty="0" err="1" smtClean="0">
                <a:solidFill>
                  <a:schemeClr val="tx1"/>
                </a:solidFill>
                <a:effectLst/>
                <a:latin typeface="+mn-lt"/>
                <a:ea typeface="+mn-ea"/>
                <a:cs typeface="+mn-cs"/>
              </a:rPr>
              <a:t>ip</a:t>
            </a:r>
            <a:r>
              <a:rPr lang="zh-CN" altLang="en-US" sz="1200" b="0" i="0" kern="1200" dirty="0" smtClean="0">
                <a:solidFill>
                  <a:schemeClr val="tx1"/>
                </a:solidFill>
                <a:effectLst/>
                <a:latin typeface="+mn-lt"/>
                <a:ea typeface="+mn-ea"/>
                <a:cs typeface="+mn-cs"/>
              </a:rPr>
              <a:t>字符串全部转换成</a:t>
            </a:r>
            <a:r>
              <a:rPr lang="en-US" altLang="zh-CN" sz="1200" b="0" i="0" kern="1200" dirty="0" smtClean="0">
                <a:solidFill>
                  <a:schemeClr val="tx1"/>
                </a:solidFill>
                <a:effectLst/>
                <a:latin typeface="+mn-lt"/>
                <a:ea typeface="+mn-ea"/>
                <a:cs typeface="+mn-cs"/>
              </a:rPr>
              <a:t>10</a:t>
            </a:r>
            <a:r>
              <a:rPr lang="zh-CN" altLang="en-US" sz="1200" b="0" i="0" kern="1200" dirty="0" smtClean="0">
                <a:solidFill>
                  <a:schemeClr val="tx1"/>
                </a:solidFill>
                <a:effectLst/>
                <a:latin typeface="+mn-lt"/>
                <a:ea typeface="+mn-ea"/>
                <a:cs typeface="+mn-cs"/>
              </a:rPr>
              <a:t>进制数，转换方式是把</a:t>
            </a:r>
            <a:r>
              <a:rPr lang="en-US" altLang="zh-CN" sz="1200" b="0" i="0" kern="1200" dirty="0" err="1" smtClean="0">
                <a:solidFill>
                  <a:schemeClr val="tx1"/>
                </a:solidFill>
                <a:effectLst/>
                <a:latin typeface="+mn-lt"/>
                <a:ea typeface="+mn-ea"/>
                <a:cs typeface="+mn-cs"/>
              </a:rPr>
              <a:t>ip</a:t>
            </a:r>
            <a:r>
              <a:rPr lang="zh-CN" altLang="en-US" sz="1200" b="0" i="0" kern="1200" dirty="0" smtClean="0">
                <a:solidFill>
                  <a:schemeClr val="tx1"/>
                </a:solidFill>
                <a:effectLst/>
                <a:latin typeface="+mn-lt"/>
                <a:ea typeface="+mn-ea"/>
                <a:cs typeface="+mn-cs"/>
              </a:rPr>
              <a:t>的四个值全部转换成二进制然后直接拼接到一起，比如</a:t>
            </a:r>
            <a:r>
              <a:rPr lang="en-US" altLang="zh-CN" sz="1200" b="0" i="0" kern="1200" dirty="0" smtClean="0">
                <a:solidFill>
                  <a:schemeClr val="tx1"/>
                </a:solidFill>
                <a:effectLst/>
                <a:latin typeface="+mn-lt"/>
                <a:ea typeface="+mn-ea"/>
                <a:cs typeface="+mn-cs"/>
              </a:rPr>
              <a:t>1.1.1.1</a:t>
            </a:r>
            <a:r>
              <a:rPr lang="zh-CN" altLang="en-US" sz="1200" b="0" i="0" kern="1200" dirty="0" smtClean="0">
                <a:solidFill>
                  <a:schemeClr val="tx1"/>
                </a:solidFill>
                <a:effectLst/>
                <a:latin typeface="+mn-lt"/>
                <a:ea typeface="+mn-ea"/>
                <a:cs typeface="+mn-cs"/>
              </a:rPr>
              <a:t>就会转换成</a:t>
            </a:r>
            <a:r>
              <a:rPr lang="en-US" altLang="zh-CN" sz="1200" b="0" i="0" kern="1200" dirty="0" smtClean="0">
                <a:solidFill>
                  <a:schemeClr val="tx1"/>
                </a:solidFill>
                <a:effectLst/>
                <a:latin typeface="+mn-lt"/>
                <a:ea typeface="+mn-ea"/>
                <a:cs typeface="+mn-cs"/>
              </a:rPr>
              <a:t>00000001000000010000000100000001</a:t>
            </a:r>
            <a:r>
              <a:rPr lang="zh-CN" altLang="en-US" sz="1200" b="0" i="0" kern="1200" dirty="0" smtClean="0">
                <a:solidFill>
                  <a:schemeClr val="tx1"/>
                </a:solidFill>
                <a:effectLst/>
                <a:latin typeface="+mn-lt"/>
                <a:ea typeface="+mn-ea"/>
                <a:cs typeface="+mn-cs"/>
              </a:rPr>
              <a:t>，然后转换为</a:t>
            </a:r>
            <a:r>
              <a:rPr lang="en-US" altLang="zh-CN" sz="1200" b="0" i="0" kern="1200" dirty="0" smtClean="0">
                <a:solidFill>
                  <a:schemeClr val="tx1"/>
                </a:solidFill>
                <a:effectLst/>
                <a:latin typeface="+mn-lt"/>
                <a:ea typeface="+mn-ea"/>
                <a:cs typeface="+mn-cs"/>
              </a:rPr>
              <a:t>16843009)</a:t>
            </a:r>
            <a:r>
              <a:rPr lang="zh-CN" altLang="en-US" sz="1200" b="0" i="0" kern="1200" dirty="0" smtClean="0">
                <a:solidFill>
                  <a:schemeClr val="tx1"/>
                </a:solidFill>
                <a:effectLst/>
                <a:latin typeface="+mn-lt"/>
                <a:ea typeface="+mn-ea"/>
                <a:cs typeface="+mn-cs"/>
              </a:rPr>
              <a:t>，也就是说，实际上这种匹配方式不是用日志的</a:t>
            </a:r>
            <a:r>
              <a:rPr lang="en-US" altLang="zh-CN" sz="1200" b="0" i="0" kern="1200" dirty="0" err="1" smtClean="0">
                <a:solidFill>
                  <a:schemeClr val="tx1"/>
                </a:solidFill>
                <a:effectLst/>
                <a:latin typeface="+mn-lt"/>
                <a:ea typeface="+mn-ea"/>
                <a:cs typeface="+mn-cs"/>
              </a:rPr>
              <a:t>ip</a:t>
            </a:r>
            <a:r>
              <a:rPr lang="zh-CN" altLang="en-US" sz="1200" b="0" i="0" kern="1200" dirty="0" smtClean="0">
                <a:solidFill>
                  <a:schemeClr val="tx1"/>
                </a:solidFill>
                <a:effectLst/>
                <a:latin typeface="+mn-lt"/>
                <a:ea typeface="+mn-ea"/>
                <a:cs typeface="+mn-cs"/>
              </a:rPr>
              <a:t>值跟词表里的行进行字符串匹配，而是看这个</a:t>
            </a:r>
            <a:r>
              <a:rPr lang="en-US" altLang="zh-CN" sz="1200" b="0" i="0" kern="1200" dirty="0" err="1" smtClean="0">
                <a:solidFill>
                  <a:schemeClr val="tx1"/>
                </a:solidFill>
                <a:effectLst/>
                <a:latin typeface="+mn-lt"/>
                <a:ea typeface="+mn-ea"/>
                <a:cs typeface="+mn-cs"/>
              </a:rPr>
              <a:t>ip</a:t>
            </a:r>
            <a:r>
              <a:rPr lang="zh-CN" altLang="en-US" sz="1200" b="0" i="0" kern="1200" dirty="0" smtClean="0">
                <a:solidFill>
                  <a:schemeClr val="tx1"/>
                </a:solidFill>
                <a:effectLst/>
                <a:latin typeface="+mn-lt"/>
                <a:ea typeface="+mn-ea"/>
                <a:cs typeface="+mn-cs"/>
              </a:rPr>
              <a:t>值是否在词表各行形成的</a:t>
            </a:r>
            <a:r>
              <a:rPr lang="en-US" altLang="zh-CN" sz="1200" b="0" i="0" kern="1200" dirty="0" err="1" smtClean="0">
                <a:solidFill>
                  <a:schemeClr val="tx1"/>
                </a:solidFill>
                <a:effectLst/>
                <a:latin typeface="+mn-lt"/>
                <a:ea typeface="+mn-ea"/>
                <a:cs typeface="+mn-cs"/>
              </a:rPr>
              <a:t>ip</a:t>
            </a:r>
            <a:r>
              <a:rPr lang="zh-CN" altLang="en-US" sz="1200" b="0" i="0" kern="1200" dirty="0" smtClean="0">
                <a:solidFill>
                  <a:schemeClr val="tx1"/>
                </a:solidFill>
                <a:effectLst/>
                <a:latin typeface="+mn-lt"/>
                <a:ea typeface="+mn-ea"/>
                <a:cs typeface="+mn-cs"/>
              </a:rPr>
              <a:t>段内。比如下图中的词表，进行匹配时实际上是判断日志的</a:t>
            </a:r>
            <a:r>
              <a:rPr lang="en-US" altLang="zh-CN" sz="1200" b="0" i="0" kern="1200" dirty="0" err="1" smtClean="0">
                <a:solidFill>
                  <a:schemeClr val="tx1"/>
                </a:solidFill>
                <a:effectLst/>
                <a:latin typeface="+mn-lt"/>
                <a:ea typeface="+mn-ea"/>
                <a:cs typeface="+mn-cs"/>
              </a:rPr>
              <a:t>ip</a:t>
            </a:r>
            <a:r>
              <a:rPr lang="zh-CN" altLang="en-US" sz="1200" b="0" i="0" kern="1200" dirty="0" smtClean="0">
                <a:solidFill>
                  <a:schemeClr val="tx1"/>
                </a:solidFill>
                <a:effectLst/>
                <a:latin typeface="+mn-lt"/>
                <a:ea typeface="+mn-ea"/>
                <a:cs typeface="+mn-cs"/>
              </a:rPr>
              <a:t>是否在</a:t>
            </a:r>
            <a:r>
              <a:rPr lang="en-US" altLang="zh-CN" sz="1200" b="0" i="0" kern="1200" dirty="0" smtClean="0">
                <a:solidFill>
                  <a:schemeClr val="tx1"/>
                </a:solidFill>
                <a:effectLst/>
                <a:latin typeface="+mn-lt"/>
                <a:ea typeface="+mn-ea"/>
                <a:cs typeface="+mn-cs"/>
              </a:rPr>
              <a:t>0.0.0.0-0.0.0.0, 1.85.1.194-1.85.1.254</a:t>
            </a:r>
            <a:r>
              <a:rPr lang="zh-CN" altLang="en-US" sz="1200" b="0" i="0" kern="1200" dirty="0" smtClean="0">
                <a:solidFill>
                  <a:schemeClr val="tx1"/>
                </a:solidFill>
                <a:effectLst/>
                <a:latin typeface="+mn-lt"/>
                <a:ea typeface="+mn-ea"/>
                <a:cs typeface="+mn-cs"/>
              </a:rPr>
              <a:t>， </a:t>
            </a:r>
            <a:r>
              <a:rPr lang="en-US" altLang="zh-CN" sz="1200" b="0" i="0" kern="1200" dirty="0" smtClean="0">
                <a:solidFill>
                  <a:schemeClr val="tx1"/>
                </a:solidFill>
                <a:effectLst/>
                <a:latin typeface="+mn-lt"/>
                <a:ea typeface="+mn-ea"/>
                <a:cs typeface="+mn-cs"/>
              </a:rPr>
              <a:t>1.197.79.57-1.197.79.57</a:t>
            </a:r>
            <a:r>
              <a:rPr lang="zh-CN" altLang="en-US" sz="1200" b="0" i="0" kern="1200" dirty="0" smtClean="0">
                <a:solidFill>
                  <a:schemeClr val="tx1"/>
                </a:solidFill>
                <a:effectLst/>
                <a:latin typeface="+mn-lt"/>
                <a:ea typeface="+mn-ea"/>
                <a:cs typeface="+mn-cs"/>
              </a:rPr>
              <a:t>这三个</a:t>
            </a:r>
            <a:r>
              <a:rPr lang="en-US" altLang="zh-CN" sz="1200" b="0" i="0" kern="1200" dirty="0" err="1" smtClean="0">
                <a:solidFill>
                  <a:schemeClr val="tx1"/>
                </a:solidFill>
                <a:effectLst/>
                <a:latin typeface="+mn-lt"/>
                <a:ea typeface="+mn-ea"/>
                <a:cs typeface="+mn-cs"/>
              </a:rPr>
              <a:t>ip</a:t>
            </a:r>
            <a:r>
              <a:rPr lang="zh-CN" altLang="en-US" sz="1200" b="0" i="0" kern="1200" dirty="0" smtClean="0">
                <a:solidFill>
                  <a:schemeClr val="tx1"/>
                </a:solidFill>
                <a:effectLst/>
                <a:latin typeface="+mn-lt"/>
                <a:ea typeface="+mn-ea"/>
                <a:cs typeface="+mn-cs"/>
              </a:rPr>
              <a:t>段的合集之中</a:t>
            </a:r>
            <a:endParaRPr kumimoji="1" lang="en-US" altLang="zh-CN" sz="1200" dirty="0" smtClean="0">
              <a:latin typeface="微软雅黑" panose="020B0503020204020204" pitchFamily="34" charset="-122"/>
              <a:ea typeface="微软雅黑" panose="020B0503020204020204" pitchFamily="34" charset="-122"/>
              <a:cs typeface="宋体" charset="0"/>
            </a:endParaRPr>
          </a:p>
          <a:p>
            <a:endParaRPr lang="en-US" altLang="zh-CN" dirty="0" smtClean="0"/>
          </a:p>
          <a:p>
            <a:r>
              <a:rPr lang="en-US" altLang="zh-CN" dirty="0" smtClean="0"/>
              <a:t>condition</a:t>
            </a:r>
            <a:r>
              <a:rPr lang="zh-CN" altLang="en-US" dirty="0" smtClean="0"/>
              <a:t>是这种名单类策略中比较常见的参数</a:t>
            </a: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程序写得爬虫脚本如果不进行配置的话，一般默认会在</a:t>
            </a:r>
            <a:r>
              <a:rPr lang="en-US" altLang="zh-CN" dirty="0" err="1" smtClean="0"/>
              <a:t>ua</a:t>
            </a:r>
            <a:r>
              <a:rPr lang="zh-CN" altLang="en-US" dirty="0" smtClean="0"/>
              <a:t>中注明自己使用的语言以及自己是爬虫的信息，也算是程序员的一种默契了。</a:t>
            </a:r>
            <a:endParaRPr lang="en-US" altLang="zh-CN" dirty="0" smtClean="0"/>
          </a:p>
          <a:p>
            <a:endParaRPr lang="en-US" altLang="zh-CN" dirty="0" smtClean="0"/>
          </a:p>
          <a:p>
            <a:r>
              <a:rPr lang="en-US" altLang="zh-CN" dirty="0" smtClean="0"/>
              <a:t>Slurp</a:t>
            </a:r>
            <a:r>
              <a:rPr lang="zh-CN" altLang="en-US" dirty="0" smtClean="0"/>
              <a:t>表示是雅虎网站的爬虫</a:t>
            </a:r>
            <a:endParaRPr lang="en-US" altLang="zh-CN" dirty="0" smtClean="0"/>
          </a:p>
          <a:p>
            <a:endParaRPr lang="en-US" altLang="zh-CN" dirty="0" smtClean="0"/>
          </a:p>
          <a:p>
            <a:r>
              <a:rPr lang="en-US" altLang="zh-CN" dirty="0" err="1" smtClean="0"/>
              <a:t>Str_match</a:t>
            </a:r>
            <a:r>
              <a:rPr lang="zh-CN" altLang="en-US" dirty="0" smtClean="0"/>
              <a:t>其实就是查看某一字符串中有否含有固定的模式</a:t>
            </a:r>
            <a:r>
              <a:rPr lang="en-US" altLang="zh-CN" dirty="0" smtClean="0"/>
              <a:t>(</a:t>
            </a:r>
            <a:r>
              <a:rPr lang="zh-CN" altLang="en-US" dirty="0" smtClean="0"/>
              <a:t>子字符串</a:t>
            </a:r>
            <a:r>
              <a:rPr lang="en-US" altLang="zh-CN" dirty="0" smtClean="0"/>
              <a:t>)</a:t>
            </a:r>
            <a:r>
              <a:rPr lang="zh-CN" altLang="en-US" dirty="0" smtClean="0"/>
              <a:t>，属性的作用主要是为了查找统计方便，这种匹配方式也被叫做多模匹配，实际实现调用了一个</a:t>
            </a:r>
            <a:r>
              <a:rPr lang="en-US" altLang="zh-CN" dirty="0" err="1" smtClean="0"/>
              <a:t>baidu</a:t>
            </a:r>
            <a:r>
              <a:rPr lang="zh-CN" altLang="en-US" dirty="0" smtClean="0"/>
              <a:t>基础库进行实现，其中应用到了</a:t>
            </a:r>
            <a:r>
              <a:rPr lang="en-US" altLang="zh-CN" dirty="0" err="1" smtClean="0"/>
              <a:t>trie</a:t>
            </a:r>
            <a:r>
              <a:rPr lang="zh-CN" altLang="en-US" dirty="0" smtClean="0"/>
              <a:t>树之类的算法。</a:t>
            </a: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策略背景：推测原因可能是为了打击竞争对手</a:t>
            </a:r>
            <a:endParaRPr lang="en-US" altLang="zh-CN" dirty="0" smtClean="0"/>
          </a:p>
          <a:p>
            <a:endParaRPr lang="en-US" altLang="zh-CN" dirty="0" smtClean="0"/>
          </a:p>
          <a:p>
            <a:r>
              <a:rPr lang="en-US" altLang="zh-CN" dirty="0" err="1" smtClean="0"/>
              <a:t>Dict_type</a:t>
            </a:r>
            <a:r>
              <a:rPr lang="en-US" altLang="zh-CN" dirty="0" smtClean="0"/>
              <a:t>: </a:t>
            </a:r>
            <a:r>
              <a:rPr lang="zh-CN" altLang="en-US" dirty="0" smtClean="0"/>
              <a:t>图中的此表文件其实就是两列，第一列是</a:t>
            </a:r>
            <a:r>
              <a:rPr lang="en-US" altLang="zh-CN" dirty="0" err="1" smtClean="0"/>
              <a:t>userid</a:t>
            </a:r>
            <a:r>
              <a:rPr lang="zh-CN" altLang="en-US" dirty="0" smtClean="0"/>
              <a:t>，第二列是</a:t>
            </a:r>
            <a:r>
              <a:rPr lang="en-US" altLang="zh-CN" dirty="0" err="1" smtClean="0"/>
              <a:t>baiduid</a:t>
            </a:r>
            <a:r>
              <a:rPr lang="zh-CN" altLang="en-US" dirty="0" smtClean="0"/>
              <a:t>，进行匹配的时候，程序会按</a:t>
            </a:r>
            <a:r>
              <a:rPr lang="en-US" altLang="zh-CN" dirty="0" smtClean="0"/>
              <a:t>view</a:t>
            </a:r>
            <a:r>
              <a:rPr lang="zh-CN" altLang="en-US" dirty="0" smtClean="0"/>
              <a:t>的顺序取出一条日志的</a:t>
            </a:r>
            <a:r>
              <a:rPr lang="en-US" altLang="zh-CN" dirty="0" err="1" smtClean="0"/>
              <a:t>userid</a:t>
            </a:r>
            <a:r>
              <a:rPr lang="zh-CN" altLang="en-US" dirty="0" smtClean="0"/>
              <a:t>与</a:t>
            </a:r>
            <a:r>
              <a:rPr lang="en-US" altLang="zh-CN" dirty="0" err="1" smtClean="0"/>
              <a:t>baiduid</a:t>
            </a:r>
            <a:r>
              <a:rPr lang="zh-CN" altLang="en-US" dirty="0" smtClean="0"/>
              <a:t>字段并使用下划线进行连接，多列的匹配类型很有可能就是为了应对多</a:t>
            </a:r>
            <a:r>
              <a:rPr lang="en-US" altLang="zh-CN" dirty="0" smtClean="0"/>
              <a:t>view</a:t>
            </a:r>
            <a:r>
              <a:rPr lang="zh-CN" altLang="en-US" dirty="0" smtClean="0"/>
              <a:t>组合的情况存在的</a:t>
            </a:r>
            <a:endParaRPr lang="en-US" altLang="zh-CN" dirty="0" smtClean="0"/>
          </a:p>
          <a:p>
            <a:endParaRPr lang="en-US" altLang="zh-CN" dirty="0" smtClean="0"/>
          </a:p>
          <a:p>
            <a:r>
              <a:rPr lang="en-US" altLang="zh-CN" dirty="0" err="1" smtClean="0"/>
              <a:t>Accessid</a:t>
            </a:r>
            <a:r>
              <a:rPr lang="en-US" altLang="zh-CN" dirty="0" smtClean="0"/>
              <a:t>: 1</a:t>
            </a:r>
            <a:r>
              <a:rPr lang="zh-CN" altLang="en-US" dirty="0" smtClean="0"/>
              <a:t>凤巢， </a:t>
            </a:r>
            <a:r>
              <a:rPr lang="en-US" altLang="zh-CN" dirty="0" smtClean="0"/>
              <a:t>31</a:t>
            </a:r>
            <a:r>
              <a:rPr lang="zh-CN" altLang="en-US" dirty="0" smtClean="0"/>
              <a:t>神农，</a:t>
            </a:r>
            <a:r>
              <a:rPr lang="en-US" altLang="zh-CN" dirty="0" smtClean="0"/>
              <a:t>37AA</a:t>
            </a:r>
            <a:r>
              <a:rPr lang="zh-CN" altLang="en-US" dirty="0" smtClean="0"/>
              <a:t>表单，</a:t>
            </a:r>
            <a:r>
              <a:rPr lang="en-US" altLang="zh-CN" dirty="0" smtClean="0"/>
              <a:t>1001</a:t>
            </a:r>
            <a:r>
              <a:rPr lang="zh-CN" altLang="en-US" dirty="0" smtClean="0"/>
              <a:t>凤巢卡片，</a:t>
            </a:r>
            <a:r>
              <a:rPr lang="en-US" altLang="zh-CN" dirty="0" smtClean="0"/>
              <a:t>1002</a:t>
            </a:r>
            <a:r>
              <a:rPr lang="zh-CN" altLang="en-US" dirty="0" smtClean="0"/>
              <a:t>凤巢闪投，</a:t>
            </a:r>
            <a:r>
              <a:rPr lang="en-US" altLang="zh-CN" dirty="0" smtClean="0"/>
              <a:t>1003</a:t>
            </a:r>
            <a:r>
              <a:rPr lang="zh-CN" altLang="en-US" dirty="0" smtClean="0"/>
              <a:t>凤巢</a:t>
            </a:r>
            <a:r>
              <a:rPr lang="en-US" altLang="zh-CN" dirty="0" err="1" smtClean="0"/>
              <a:t>cpm</a:t>
            </a:r>
            <a:r>
              <a:rPr lang="zh-CN" altLang="en-US" dirty="0" smtClean="0"/>
              <a:t>展现对应的点击，</a:t>
            </a:r>
            <a:r>
              <a:rPr lang="en-US" altLang="zh-CN" dirty="0" smtClean="0"/>
              <a:t>1004</a:t>
            </a:r>
            <a:r>
              <a:rPr lang="zh-CN" altLang="en-US" dirty="0" smtClean="0"/>
              <a:t>只能落地页</a:t>
            </a:r>
            <a:r>
              <a:rPr lang="en-US" altLang="zh-CN" dirty="0" smtClean="0"/>
              <a:t>CPA</a:t>
            </a:r>
            <a:r>
              <a:rPr lang="zh-CN" altLang="en-US" dirty="0" smtClean="0"/>
              <a:t>广告</a:t>
            </a: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IN or NI</a:t>
            </a:r>
            <a:r>
              <a:rPr lang="zh-CN" altLang="en-US" sz="1200" b="0" i="0" kern="1200" dirty="0" smtClean="0">
                <a:solidFill>
                  <a:schemeClr val="tx1"/>
                </a:solidFill>
                <a:effectLst/>
                <a:latin typeface="+mn-lt"/>
                <a:ea typeface="+mn-ea"/>
                <a:cs typeface="+mn-cs"/>
              </a:rPr>
              <a:t>，</a:t>
            </a:r>
            <a:r>
              <a:rPr lang="zh-CN" altLang="en-US" sz="1200" b="0" i="0" kern="1200" baseline="0" dirty="0" smtClean="0">
                <a:solidFill>
                  <a:schemeClr val="tx1"/>
                </a:solidFill>
                <a:effectLst/>
                <a:latin typeface="+mn-lt"/>
                <a:ea typeface="+mn-ea"/>
                <a:cs typeface="+mn-cs"/>
              </a:rPr>
              <a:t> 这也是一种文件匹配的方式，下面简单介绍下这种文件匹配的方式。事实上</a:t>
            </a:r>
            <a:r>
              <a:rPr lang="en-US" altLang="zh-CN" sz="1200" b="0" i="0" kern="1200" baseline="0" dirty="0" smtClean="0">
                <a:solidFill>
                  <a:schemeClr val="tx1"/>
                </a:solidFill>
                <a:effectLst/>
                <a:latin typeface="+mn-lt"/>
                <a:ea typeface="+mn-ea"/>
                <a:cs typeface="+mn-cs"/>
              </a:rPr>
              <a:t>care</a:t>
            </a:r>
            <a:r>
              <a:rPr lang="zh-CN" altLang="en-US" sz="1200" b="0" i="0" kern="1200" baseline="0" dirty="0" smtClean="0">
                <a:solidFill>
                  <a:schemeClr val="tx1"/>
                </a:solidFill>
                <a:effectLst/>
                <a:latin typeface="+mn-lt"/>
                <a:ea typeface="+mn-ea"/>
                <a:cs typeface="+mn-cs"/>
              </a:rPr>
              <a:t>表达式中的</a:t>
            </a:r>
            <a:r>
              <a:rPr lang="en-US" altLang="zh-CN" sz="1200" b="0" i="0" kern="1200" baseline="0" dirty="0" smtClean="0">
                <a:solidFill>
                  <a:schemeClr val="tx1"/>
                </a:solidFill>
                <a:effectLst/>
                <a:latin typeface="+mn-lt"/>
                <a:ea typeface="+mn-ea"/>
                <a:cs typeface="+mn-cs"/>
              </a:rPr>
              <a:t>IN</a:t>
            </a:r>
            <a:r>
              <a:rPr lang="zh-CN" altLang="en-US" sz="1200" b="0" i="0" kern="1200" baseline="0" dirty="0" smtClean="0">
                <a:solidFill>
                  <a:schemeClr val="tx1"/>
                </a:solidFill>
                <a:effectLst/>
                <a:latin typeface="+mn-lt"/>
                <a:ea typeface="+mn-ea"/>
                <a:cs typeface="+mn-cs"/>
              </a:rPr>
              <a:t>操作调用了</a:t>
            </a:r>
            <a:r>
              <a:rPr lang="en-US" altLang="zh-CN" sz="1200" b="0" i="0" kern="1200" baseline="0" dirty="0" smtClean="0">
                <a:solidFill>
                  <a:schemeClr val="tx1"/>
                </a:solidFill>
                <a:effectLst/>
                <a:latin typeface="+mn-lt"/>
                <a:ea typeface="+mn-ea"/>
                <a:cs typeface="+mn-cs"/>
              </a:rPr>
              <a:t>multicolumn</a:t>
            </a:r>
            <a:r>
              <a:rPr lang="zh-CN" altLang="en-US" sz="1200" b="0" i="0" kern="1200" baseline="0" dirty="0" smtClean="0">
                <a:solidFill>
                  <a:schemeClr val="tx1"/>
                </a:solidFill>
                <a:effectLst/>
                <a:latin typeface="+mn-lt"/>
                <a:ea typeface="+mn-ea"/>
                <a:cs typeface="+mn-cs"/>
              </a:rPr>
              <a:t>的实现</a:t>
            </a:r>
            <a:r>
              <a:rPr lang="en-US" altLang="zh-CN" sz="1200" b="0" i="0" kern="1200" baseline="0" dirty="0" smtClean="0">
                <a:solidFill>
                  <a:schemeClr val="tx1"/>
                </a:solidFill>
                <a:effectLst/>
                <a:latin typeface="+mn-lt"/>
                <a:ea typeface="+mn-ea"/>
                <a:cs typeface="+mn-cs"/>
              </a:rPr>
              <a:t>(</a:t>
            </a:r>
            <a:r>
              <a:rPr lang="zh-CN" altLang="en-US" sz="1200" b="0" i="0" kern="1200" baseline="0" dirty="0" smtClean="0">
                <a:solidFill>
                  <a:schemeClr val="tx1"/>
                </a:solidFill>
                <a:effectLst/>
                <a:latin typeface="+mn-lt"/>
                <a:ea typeface="+mn-ea"/>
                <a:cs typeface="+mn-cs"/>
              </a:rPr>
              <a:t>多列匹配</a:t>
            </a:r>
            <a:r>
              <a:rPr lang="en-US" altLang="zh-CN" sz="1200" b="0" i="0" kern="1200" baseline="0" dirty="0" smtClean="0">
                <a:solidFill>
                  <a:schemeClr val="tx1"/>
                </a:solidFill>
                <a:effectLst/>
                <a:latin typeface="+mn-lt"/>
                <a:ea typeface="+mn-ea"/>
                <a:cs typeface="+mn-cs"/>
              </a:rPr>
              <a:t>)</a:t>
            </a:r>
            <a:r>
              <a:rPr lang="zh-CN" altLang="en-US" sz="1200" b="0" i="0" kern="1200" baseline="0" dirty="0" smtClean="0">
                <a:solidFill>
                  <a:schemeClr val="tx1"/>
                </a:solidFill>
                <a:effectLst/>
                <a:latin typeface="+mn-lt"/>
                <a:ea typeface="+mn-ea"/>
                <a:cs typeface="+mn-cs"/>
              </a:rPr>
              <a:t>，比如对于</a:t>
            </a:r>
            <a:r>
              <a:rPr lang="en-US" altLang="zh-CN" sz="1200" b="0" i="0" kern="1200" baseline="0" dirty="0" smtClean="0">
                <a:solidFill>
                  <a:schemeClr val="tx1"/>
                </a:solidFill>
                <a:effectLst/>
                <a:latin typeface="+mn-lt"/>
                <a:ea typeface="+mn-ea"/>
                <a:cs typeface="+mn-cs"/>
              </a:rPr>
              <a:t>[</a:t>
            </a:r>
            <a:r>
              <a:rPr lang="zh-CN" altLang="en-US" sz="1200" b="0" i="0" kern="1200" baseline="0" dirty="0" smtClean="0">
                <a:solidFill>
                  <a:schemeClr val="tx1"/>
                </a:solidFill>
                <a:effectLst/>
                <a:latin typeface="+mn-lt"/>
                <a:ea typeface="+mn-ea"/>
                <a:cs typeface="+mn-cs"/>
              </a:rPr>
              <a:t>‘</a:t>
            </a:r>
            <a:r>
              <a:rPr lang="en-US" altLang="zh-CN" sz="1200" dirty="0" err="1" smtClean="0">
                <a:latin typeface="Times New Roman" panose="02020603050405020304" charset="0"/>
                <a:cs typeface="Times New Roman" panose="02020603050405020304" charset="0"/>
              </a:rPr>
              <a:t>cmatch’IN‘refer.whitecmatch</a:t>
            </a:r>
            <a:r>
              <a:rPr lang="en-US" altLang="zh-CN" sz="1200" dirty="0" smtClean="0">
                <a:latin typeface="Times New Roman" panose="02020603050405020304" charset="0"/>
                <a:cs typeface="Times New Roman" panose="02020603050405020304" charset="0"/>
              </a:rPr>
              <a:t>’]</a:t>
            </a:r>
            <a:r>
              <a:rPr lang="zh-CN" altLang="en-US" sz="1200" dirty="0" smtClean="0">
                <a:latin typeface="Times New Roman" panose="02020603050405020304" charset="0"/>
                <a:cs typeface="Times New Roman" panose="02020603050405020304" charset="0"/>
              </a:rPr>
              <a:t>这一表达式，</a:t>
            </a:r>
            <a:r>
              <a:rPr lang="zh-CN" altLang="en-US" sz="1200" b="0" i="0" kern="1200" baseline="0" dirty="0" smtClean="0">
                <a:solidFill>
                  <a:schemeClr val="tx1"/>
                </a:solidFill>
                <a:effectLst/>
                <a:latin typeface="+mn-lt"/>
                <a:ea typeface="+mn-ea"/>
                <a:cs typeface="+mn-cs"/>
              </a:rPr>
              <a:t>左边这一字段对应的值可能有多个，只要任意一个值能够与右值对应的文件进行多列匹配，那么就认为表达式的值为</a:t>
            </a:r>
            <a:r>
              <a:rPr lang="en-US" altLang="zh-CN" sz="1200" b="0" i="0" kern="1200" baseline="0" dirty="0" smtClean="0">
                <a:solidFill>
                  <a:schemeClr val="tx1"/>
                </a:solidFill>
                <a:effectLst/>
                <a:latin typeface="+mn-lt"/>
                <a:ea typeface="+mn-ea"/>
                <a:cs typeface="+mn-cs"/>
              </a:rPr>
              <a:t>true</a:t>
            </a:r>
            <a:r>
              <a:rPr lang="zh-CN" altLang="en-US" sz="1200" b="0" i="0" kern="1200" baseline="0" dirty="0" smtClean="0">
                <a:solidFill>
                  <a:schemeClr val="tx1"/>
                </a:solidFill>
                <a:effectLst/>
                <a:latin typeface="+mn-lt"/>
                <a:ea typeface="+mn-ea"/>
                <a:cs typeface="+mn-cs"/>
              </a:rPr>
              <a:t>，反之则为</a:t>
            </a:r>
            <a:r>
              <a:rPr lang="en-US" altLang="zh-CN" sz="1200" b="0" i="0" kern="1200" baseline="0" dirty="0" smtClean="0">
                <a:solidFill>
                  <a:schemeClr val="tx1"/>
                </a:solidFill>
                <a:effectLst/>
                <a:latin typeface="+mn-lt"/>
                <a:ea typeface="+mn-ea"/>
                <a:cs typeface="+mn-cs"/>
              </a:rPr>
              <a:t>false</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en-US" altLang="zh-CN" sz="1200" b="0" i="0" kern="1200" dirty="0" err="1" smtClean="0">
                <a:solidFill>
                  <a:schemeClr val="tx1"/>
                </a:solidFill>
                <a:effectLst/>
                <a:latin typeface="+mn-lt"/>
                <a:ea typeface="+mn-ea"/>
                <a:cs typeface="+mn-cs"/>
              </a:rPr>
              <a:t>Adb</a:t>
            </a:r>
            <a:r>
              <a:rPr lang="zh-CN" altLang="en-US" sz="1200" b="0" i="0" kern="1200" dirty="0" smtClean="0">
                <a:solidFill>
                  <a:schemeClr val="tx1"/>
                </a:solidFill>
                <a:effectLst/>
                <a:latin typeface="+mn-lt"/>
                <a:ea typeface="+mn-ea"/>
                <a:cs typeface="+mn-cs"/>
              </a:rPr>
              <a:t>是一个用于标识反屏蔽流量的字段，</a:t>
            </a:r>
            <a:r>
              <a:rPr lang="en-US" altLang="zh-CN" sz="1200" b="0" i="0" kern="1200" dirty="0" smtClean="0">
                <a:solidFill>
                  <a:schemeClr val="tx1"/>
                </a:solidFill>
                <a:effectLst/>
                <a:latin typeface="+mn-lt"/>
                <a:ea typeface="+mn-ea"/>
                <a:cs typeface="+mn-cs"/>
              </a:rPr>
              <a:t> 1</a:t>
            </a:r>
            <a:r>
              <a:rPr lang="zh-CN" altLang="en-US" sz="1200" b="0" i="0" kern="1200" dirty="0" smtClean="0">
                <a:solidFill>
                  <a:schemeClr val="tx1"/>
                </a:solidFill>
                <a:effectLst/>
                <a:latin typeface="+mn-lt"/>
                <a:ea typeface="+mn-ea"/>
                <a:cs typeface="+mn-cs"/>
              </a:rPr>
              <a:t>：为反屏蔽流量（不过</a:t>
            </a:r>
            <a:r>
              <a:rPr lang="en-US" altLang="zh-CN" sz="1200" b="0" i="0" kern="1200" dirty="0" smtClean="0">
                <a:solidFill>
                  <a:schemeClr val="tx1"/>
                </a:solidFill>
                <a:effectLst/>
                <a:latin typeface="+mn-lt"/>
                <a:ea typeface="+mn-ea"/>
                <a:cs typeface="+mn-cs"/>
              </a:rPr>
              <a:t>refer</a:t>
            </a:r>
            <a:r>
              <a:rPr lang="zh-CN" altLang="en-US" sz="1200" b="0" i="0" kern="1200" dirty="0" smtClean="0">
                <a:solidFill>
                  <a:schemeClr val="tx1"/>
                </a:solidFill>
                <a:effectLst/>
                <a:latin typeface="+mn-lt"/>
                <a:ea typeface="+mn-ea"/>
                <a:cs typeface="+mn-cs"/>
              </a:rPr>
              <a:t>白名单策略）；</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或不存在：非反屏蔽流量</a:t>
            </a: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gn="just">
              <a:spcAft>
                <a:spcPts val="600"/>
              </a:spcAft>
              <a:buSzPct val="120000"/>
            </a:pPr>
            <a:r>
              <a:rPr kumimoji="1" lang="en-US" altLang="zh-CN" sz="1200" dirty="0" smtClean="0">
                <a:latin typeface="微软雅黑" panose="020B0503020204020204" pitchFamily="34" charset="-122"/>
                <a:ea typeface="微软雅黑" panose="020B0503020204020204" pitchFamily="34" charset="-122"/>
                <a:cs typeface="宋体" charset="0"/>
              </a:rPr>
              <a:t>151</a:t>
            </a:r>
            <a:r>
              <a:rPr kumimoji="1" lang="zh-CN" altLang="en-US" sz="1200" dirty="0" smtClean="0">
                <a:latin typeface="微软雅黑" panose="020B0503020204020204" pitchFamily="34" charset="-122"/>
                <a:ea typeface="微软雅黑" panose="020B0503020204020204" pitchFamily="34" charset="-122"/>
                <a:cs typeface="宋体" charset="0"/>
              </a:rPr>
              <a:t>特征</a:t>
            </a:r>
            <a:r>
              <a:rPr kumimoji="1" lang="en-US" altLang="zh-CN" sz="1200" dirty="0" smtClean="0">
                <a:latin typeface="微软雅黑" panose="020B0503020204020204" pitchFamily="34" charset="-122"/>
                <a:ea typeface="微软雅黑" panose="020B0503020204020204" pitchFamily="34" charset="-122"/>
                <a:cs typeface="宋体" charset="0"/>
              </a:rPr>
              <a:t>care</a:t>
            </a:r>
            <a:r>
              <a:rPr kumimoji="1" lang="zh-CN" altLang="en-US" sz="1200" dirty="0" smtClean="0">
                <a:latin typeface="微软雅黑" panose="020B0503020204020204" pitchFamily="34" charset="-122"/>
                <a:ea typeface="微软雅黑" panose="020B0503020204020204" pitchFamily="34" charset="-122"/>
                <a:cs typeface="宋体" charset="0"/>
              </a:rPr>
              <a:t>右值表达式的含义是凤巢、知心、阿拉丁广告，</a:t>
            </a:r>
            <a:r>
              <a:rPr kumimoji="1" lang="en-US" altLang="zh-CN" sz="1200" dirty="0" smtClean="0">
                <a:latin typeface="微软雅黑" panose="020B0503020204020204" pitchFamily="34" charset="-122"/>
                <a:ea typeface="微软雅黑" panose="020B0503020204020204" pitchFamily="34" charset="-122"/>
                <a:cs typeface="宋体" charset="0"/>
              </a:rPr>
              <a:t>refer</a:t>
            </a:r>
            <a:r>
              <a:rPr kumimoji="1" lang="zh-CN" altLang="en-US" sz="1200" dirty="0" smtClean="0">
                <a:latin typeface="微软雅黑" panose="020B0503020204020204" pitchFamily="34" charset="-122"/>
                <a:ea typeface="微软雅黑" panose="020B0503020204020204" pitchFamily="34" charset="-122"/>
                <a:cs typeface="宋体" charset="0"/>
              </a:rPr>
              <a:t>域不为空，</a:t>
            </a:r>
            <a:r>
              <a:rPr kumimoji="1" lang="en-US" altLang="zh-CN" sz="1200" dirty="0" err="1" smtClean="0">
                <a:latin typeface="微软雅黑" panose="020B0503020204020204" pitchFamily="34" charset="-122"/>
                <a:ea typeface="微软雅黑" panose="020B0503020204020204" pitchFamily="34" charset="-122"/>
                <a:cs typeface="宋体" charset="0"/>
              </a:rPr>
              <a:t>cmatch</a:t>
            </a:r>
            <a:r>
              <a:rPr kumimoji="1" lang="zh-CN" altLang="en-US" sz="1200" dirty="0" smtClean="0">
                <a:latin typeface="微软雅黑" panose="020B0503020204020204" pitchFamily="34" charset="-122"/>
                <a:ea typeface="微软雅黑" panose="020B0503020204020204" pitchFamily="34" charset="-122"/>
                <a:cs typeface="宋体" charset="0"/>
              </a:rPr>
              <a:t>不在</a:t>
            </a:r>
            <a:r>
              <a:rPr lang="en-US" altLang="zh-CN" sz="1200" dirty="0" err="1" smtClean="0">
                <a:latin typeface="微软雅黑" panose="020B0503020204020204" pitchFamily="34" charset="-122"/>
                <a:ea typeface="微软雅黑" panose="020B0503020204020204" pitchFamily="34" charset="-122"/>
                <a:cs typeface="Times New Roman" panose="02020603050405020304" charset="0"/>
              </a:rPr>
              <a:t>refer.whitecmatch</a:t>
            </a:r>
            <a:r>
              <a:rPr lang="zh-CN" altLang="en-US" sz="1200" dirty="0" smtClean="0">
                <a:latin typeface="微软雅黑" panose="020B0503020204020204" pitchFamily="34" charset="-122"/>
                <a:ea typeface="微软雅黑" panose="020B0503020204020204" pitchFamily="34" charset="-122"/>
                <a:cs typeface="Times New Roman" panose="02020603050405020304" charset="0"/>
              </a:rPr>
              <a:t>词表文件中或者</a:t>
            </a:r>
            <a:r>
              <a:rPr lang="en-US" altLang="zh-CN" sz="1200" dirty="0" err="1" smtClean="0">
                <a:latin typeface="微软雅黑" panose="020B0503020204020204" pitchFamily="34" charset="-122"/>
                <a:ea typeface="微软雅黑" panose="020B0503020204020204" pitchFamily="34" charset="-122"/>
                <a:cs typeface="Times New Roman" panose="02020603050405020304" charset="0"/>
              </a:rPr>
              <a:t>cmatch</a:t>
            </a:r>
            <a:r>
              <a:rPr lang="zh-CN" altLang="en-US" sz="1200" dirty="0" smtClean="0">
                <a:latin typeface="微软雅黑" panose="020B0503020204020204" pitchFamily="34" charset="-122"/>
                <a:ea typeface="微软雅黑" panose="020B0503020204020204" pitchFamily="34" charset="-122"/>
                <a:cs typeface="Times New Roman" panose="02020603050405020304" charset="0"/>
              </a:rPr>
              <a:t>在</a:t>
            </a:r>
            <a:r>
              <a:rPr lang="en-US" altLang="zh-CN" sz="1200" dirty="0" err="1" smtClean="0">
                <a:latin typeface="微软雅黑" panose="020B0503020204020204" pitchFamily="34" charset="-122"/>
                <a:ea typeface="微软雅黑" panose="020B0503020204020204" pitchFamily="34" charset="-122"/>
                <a:cs typeface="Times New Roman" panose="02020603050405020304" charset="0"/>
              </a:rPr>
              <a:t>refer.whitecmatch</a:t>
            </a:r>
            <a:r>
              <a:rPr lang="zh-CN" altLang="en-US" sz="1200" dirty="0" smtClean="0">
                <a:latin typeface="微软雅黑" panose="020B0503020204020204" pitchFamily="34" charset="-122"/>
                <a:ea typeface="微软雅黑" panose="020B0503020204020204" pitchFamily="34" charset="-122"/>
                <a:cs typeface="Times New Roman" panose="02020603050405020304" charset="0"/>
              </a:rPr>
              <a:t>词表文件中，</a:t>
            </a:r>
            <a:r>
              <a:rPr lang="en-US" altLang="zh-CN" sz="1200" dirty="0" smtClean="0">
                <a:latin typeface="微软雅黑" panose="020B0503020204020204" pitchFamily="34" charset="-122"/>
                <a:ea typeface="微软雅黑" panose="020B0503020204020204" pitchFamily="34" charset="-122"/>
                <a:cs typeface="Times New Roman" panose="02020603050405020304" charset="0"/>
              </a:rPr>
              <a:t>refer</a:t>
            </a:r>
            <a:r>
              <a:rPr lang="zh-CN" altLang="en-US" sz="1200" dirty="0" smtClean="0">
                <a:latin typeface="微软雅黑" panose="020B0503020204020204" pitchFamily="34" charset="-122"/>
                <a:ea typeface="微软雅黑" panose="020B0503020204020204" pitchFamily="34" charset="-122"/>
                <a:cs typeface="Times New Roman" panose="02020603050405020304" charset="0"/>
              </a:rPr>
              <a:t>域不为空，</a:t>
            </a:r>
            <a:r>
              <a:rPr lang="en-US" altLang="zh-CN" sz="1200" dirty="0" err="1" smtClean="0">
                <a:latin typeface="微软雅黑" panose="020B0503020204020204" pitchFamily="34" charset="-122"/>
                <a:ea typeface="微软雅黑" panose="020B0503020204020204" pitchFamily="34" charset="-122"/>
                <a:cs typeface="Times New Roman" panose="02020603050405020304" charset="0"/>
              </a:rPr>
              <a:t>adb</a:t>
            </a:r>
            <a:r>
              <a:rPr lang="zh-CN" altLang="en-US" sz="1200" dirty="0" smtClean="0">
                <a:latin typeface="微软雅黑" panose="020B0503020204020204" pitchFamily="34" charset="-122"/>
                <a:ea typeface="微软雅黑" panose="020B0503020204020204" pitchFamily="34" charset="-122"/>
                <a:cs typeface="Times New Roman" panose="02020603050405020304" charset="0"/>
              </a:rPr>
              <a:t>域值不为</a:t>
            </a:r>
            <a:r>
              <a:rPr lang="en-US" altLang="zh-CN" sz="1200" dirty="0" smtClean="0">
                <a:latin typeface="微软雅黑" panose="020B0503020204020204" pitchFamily="34" charset="-122"/>
                <a:ea typeface="微软雅黑" panose="020B0503020204020204" pitchFamily="34" charset="-122"/>
                <a:cs typeface="Times New Roman" panose="02020603050405020304" charset="0"/>
              </a:rPr>
              <a:t>1(</a:t>
            </a:r>
            <a:r>
              <a:rPr lang="zh-CN" altLang="en-US" sz="1200" dirty="0" smtClean="0">
                <a:latin typeface="微软雅黑" panose="020B0503020204020204" pitchFamily="34" charset="-122"/>
                <a:ea typeface="微软雅黑" panose="020B0503020204020204" pitchFamily="34" charset="-122"/>
                <a:cs typeface="Times New Roman" panose="02020603050405020304" charset="0"/>
              </a:rPr>
              <a:t>并非反屏蔽流量</a:t>
            </a:r>
            <a:r>
              <a:rPr lang="en-US" altLang="zh-CN" sz="1200" dirty="0" smtClean="0">
                <a:latin typeface="微软雅黑" panose="020B0503020204020204" pitchFamily="34" charset="-122"/>
                <a:ea typeface="微软雅黑" panose="020B0503020204020204" pitchFamily="34" charset="-122"/>
                <a:cs typeface="Times New Roman" panose="02020603050405020304" charset="0"/>
              </a:rPr>
              <a:t>)</a:t>
            </a:r>
            <a:endParaRPr lang="en-US" altLang="zh-CN" sz="1200" dirty="0" smtClean="0">
              <a:latin typeface="微软雅黑" panose="020B0503020204020204" pitchFamily="34" charset="-122"/>
              <a:ea typeface="微软雅黑" panose="020B0503020204020204" pitchFamily="34" charset="-122"/>
              <a:cs typeface="Times New Roman" panose="02020603050405020304" charset="0"/>
            </a:endParaRPr>
          </a:p>
          <a:p>
            <a:pPr lvl="1" algn="just">
              <a:spcAft>
                <a:spcPts val="600"/>
              </a:spcAft>
              <a:buSzPct val="120000"/>
            </a:pPr>
            <a:endParaRPr kumimoji="1" lang="en-US" altLang="zh-CN" sz="1200" dirty="0" smtClean="0">
              <a:latin typeface="微软雅黑" panose="020B0503020204020204" pitchFamily="34" charset="-122"/>
              <a:ea typeface="微软雅黑" panose="020B0503020204020204" pitchFamily="34" charset="-122"/>
              <a:cs typeface="Times New Roman" panose="02020603050405020304" charset="0"/>
            </a:endParaRPr>
          </a:p>
          <a:p>
            <a:pPr marL="457200" marR="0" lvl="1" indent="0" algn="just" defTabSz="457200" rtl="0" eaLnBrk="1" fontAlgn="auto" latinLnBrk="0" hangingPunct="1">
              <a:lnSpc>
                <a:spcPct val="100000"/>
              </a:lnSpc>
              <a:spcBef>
                <a:spcPts val="0"/>
              </a:spcBef>
              <a:spcAft>
                <a:spcPts val="600"/>
              </a:spcAft>
              <a:buClrTx/>
              <a:buSzPct val="120000"/>
              <a:buFontTx/>
              <a:buNone/>
              <a:defRPr/>
            </a:pPr>
            <a:r>
              <a:rPr kumimoji="1" lang="zh-CN" altLang="en-US" sz="1200" dirty="0" smtClean="0">
                <a:latin typeface="微软雅黑" panose="020B0503020204020204" pitchFamily="34" charset="-122"/>
                <a:ea typeface="微软雅黑" panose="020B0503020204020204" pitchFamily="34" charset="-122"/>
                <a:cs typeface="Times New Roman" panose="02020603050405020304" charset="0"/>
              </a:rPr>
              <a:t>白名单和黑名单的区别其实是通过，</a:t>
            </a:r>
            <a:r>
              <a:rPr kumimoji="1" lang="en-US" altLang="zh-CN" sz="1200" dirty="0" smtClean="0">
                <a:latin typeface="微软雅黑" panose="020B0503020204020204" pitchFamily="34" charset="-122"/>
                <a:ea typeface="微软雅黑" panose="020B0503020204020204" pitchFamily="34" charset="-122"/>
                <a:cs typeface="宋体" charset="0"/>
              </a:rPr>
              <a:t>feature</a:t>
            </a:r>
            <a:r>
              <a:rPr kumimoji="1" lang="zh-CN" altLang="en-US" sz="1200" dirty="0" smtClean="0">
                <a:latin typeface="微软雅黑" panose="020B0503020204020204" pitchFamily="34" charset="-122"/>
                <a:ea typeface="微软雅黑" panose="020B0503020204020204" pitchFamily="34" charset="-122"/>
                <a:cs typeface="宋体" charset="0"/>
              </a:rPr>
              <a:t>抽取返回的结果总是值匹配词表文件的结果，匹配成功则返回</a:t>
            </a:r>
            <a:r>
              <a:rPr kumimoji="1" lang="en-US" altLang="zh-CN" sz="1200" dirty="0" smtClean="0">
                <a:latin typeface="微软雅黑" panose="020B0503020204020204" pitchFamily="34" charset="-122"/>
                <a:ea typeface="微软雅黑" panose="020B0503020204020204" pitchFamily="34" charset="-122"/>
                <a:cs typeface="宋体" charset="0"/>
              </a:rPr>
              <a:t>true</a:t>
            </a:r>
            <a:r>
              <a:rPr kumimoji="1" lang="zh-CN" altLang="en-US" sz="1200" dirty="0" smtClean="0">
                <a:latin typeface="微软雅黑" panose="020B0503020204020204" pitchFamily="34" charset="-122"/>
                <a:ea typeface="微软雅黑" panose="020B0503020204020204" pitchFamily="34" charset="-122"/>
                <a:cs typeface="宋体" charset="0"/>
              </a:rPr>
              <a:t>，失败则为</a:t>
            </a:r>
            <a:r>
              <a:rPr kumimoji="1" lang="en-US" altLang="zh-CN" sz="1200" dirty="0" smtClean="0">
                <a:latin typeface="微软雅黑" panose="020B0503020204020204" pitchFamily="34" charset="-122"/>
                <a:ea typeface="微软雅黑" panose="020B0503020204020204" pitchFamily="34" charset="-122"/>
                <a:cs typeface="宋体" charset="0"/>
              </a:rPr>
              <a:t>false</a:t>
            </a:r>
            <a:r>
              <a:rPr kumimoji="1" lang="zh-CN" altLang="en-US" sz="1200" dirty="0" smtClean="0">
                <a:latin typeface="微软雅黑" panose="020B0503020204020204" pitchFamily="34" charset="-122"/>
                <a:ea typeface="微软雅黑" panose="020B0503020204020204" pitchFamily="34" charset="-122"/>
                <a:cs typeface="宋体" charset="0"/>
              </a:rPr>
              <a:t>，然后与</a:t>
            </a:r>
            <a:r>
              <a:rPr kumimoji="1" lang="en-US" altLang="zh-CN" sz="1200" dirty="0" smtClean="0">
                <a:latin typeface="微软雅黑" panose="020B0503020204020204" pitchFamily="34" charset="-122"/>
                <a:ea typeface="微软雅黑" panose="020B0503020204020204" pitchFamily="34" charset="-122"/>
                <a:cs typeface="宋体" charset="0"/>
              </a:rPr>
              <a:t>policy</a:t>
            </a:r>
            <a:r>
              <a:rPr kumimoji="1" lang="zh-CN" altLang="en-US" sz="1200" dirty="0" smtClean="0">
                <a:latin typeface="微软雅黑" panose="020B0503020204020204" pitchFamily="34" charset="-122"/>
                <a:ea typeface="微软雅黑" panose="020B0503020204020204" pitchFamily="34" charset="-122"/>
                <a:cs typeface="宋体" charset="0"/>
              </a:rPr>
              <a:t>中的</a:t>
            </a:r>
            <a:r>
              <a:rPr kumimoji="1" lang="en-US" altLang="zh-CN" sz="1200" dirty="0" smtClean="0">
                <a:latin typeface="微软雅黑" panose="020B0503020204020204" pitchFamily="34" charset="-122"/>
                <a:ea typeface="微软雅黑" panose="020B0503020204020204" pitchFamily="34" charset="-122"/>
                <a:cs typeface="宋体" charset="0"/>
              </a:rPr>
              <a:t>condition</a:t>
            </a:r>
            <a:r>
              <a:rPr kumimoji="1" lang="zh-CN" altLang="en-US" sz="1200" dirty="0" smtClean="0">
                <a:latin typeface="微软雅黑" panose="020B0503020204020204" pitchFamily="34" charset="-122"/>
                <a:ea typeface="微软雅黑" panose="020B0503020204020204" pitchFamily="34" charset="-122"/>
                <a:cs typeface="宋体" charset="0"/>
              </a:rPr>
              <a:t>参数进行比较一致则命中，不一致则不命中。</a:t>
            </a:r>
            <a:endParaRPr kumimoji="1" lang="en-US" altLang="zh-CN" sz="1200" dirty="0" smtClean="0">
              <a:latin typeface="微软雅黑" panose="020B0503020204020204" pitchFamily="34" charset="-122"/>
              <a:ea typeface="微软雅黑" panose="020B0503020204020204" pitchFamily="34" charset="-122"/>
              <a:cs typeface="宋体" charset="0"/>
            </a:endParaRP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gn="just">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Times New Roman" panose="02020603050405020304" charset="0"/>
              </a:rPr>
              <a:t>我觉得特征的取名具有一定的迷惑性，我刚开始看代码的时候以为是通过对文件名进行匹配来决定到底是黑名单还是白名单，但后来发现不是这样的。</a:t>
            </a:r>
            <a:endParaRPr kumimoji="1" lang="en-US" altLang="zh-CN" sz="1200" dirty="0" smtClean="0">
              <a:latin typeface="微软雅黑" panose="020B0503020204020204" pitchFamily="34" charset="-122"/>
              <a:ea typeface="微软雅黑" panose="020B0503020204020204" pitchFamily="34" charset="-122"/>
              <a:cs typeface="Times New Roman" panose="02020603050405020304" charset="0"/>
            </a:endParaRPr>
          </a:p>
          <a:p>
            <a:pPr lvl="1" algn="just">
              <a:spcAft>
                <a:spcPts val="600"/>
              </a:spcAft>
              <a:buSzPct val="120000"/>
            </a:pPr>
            <a:endParaRPr kumimoji="1" lang="en-US" altLang="zh-CN" sz="1200" dirty="0" smtClean="0">
              <a:latin typeface="微软雅黑" panose="020B0503020204020204" pitchFamily="34" charset="-122"/>
              <a:ea typeface="微软雅黑" panose="020B0503020204020204" pitchFamily="34" charset="-122"/>
              <a:cs typeface="Times New Roman" panose="02020603050405020304" charset="0"/>
            </a:endParaRPr>
          </a:p>
          <a:p>
            <a:pPr lvl="1" algn="just">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Times New Roman" panose="02020603050405020304" charset="0"/>
              </a:rPr>
              <a:t>那具体的细节是怎么样的呢？</a:t>
            </a:r>
            <a:endParaRPr kumimoji="1" lang="en-US" altLang="zh-CN" sz="1200" dirty="0" smtClean="0">
              <a:latin typeface="微软雅黑" panose="020B0503020204020204" pitchFamily="34" charset="-122"/>
              <a:ea typeface="微软雅黑" panose="020B0503020204020204" pitchFamily="34" charset="-122"/>
              <a:cs typeface="Times New Roman" panose="02020603050405020304" charset="0"/>
            </a:endParaRP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我觉得这可能是经过用户行为调研之后确定的策略，用户在点开页面检索一段时间后就应该获取完信息，如果想点击广告的话应该早就点了，点展时间太长的话感觉更可能是用户移动鼠标后误触的结果。</a:t>
            </a:r>
            <a:endParaRPr lang="en-US" altLang="zh-CN" dirty="0" smtClean="0"/>
          </a:p>
          <a:p>
            <a:endParaRPr lang="en-US" altLang="zh-CN" dirty="0" smtClean="0"/>
          </a:p>
          <a:p>
            <a:r>
              <a:rPr lang="en-US" altLang="zh-CN" dirty="0" err="1" smtClean="0"/>
              <a:t>Gray_file</a:t>
            </a:r>
            <a:r>
              <a:rPr lang="zh-CN" altLang="en-US" dirty="0" smtClean="0"/>
              <a:t>为</a:t>
            </a:r>
            <a:r>
              <a:rPr lang="en-US" altLang="zh-CN" dirty="0" err="1" smtClean="0"/>
              <a:t>empty_file</a:t>
            </a:r>
            <a:r>
              <a:rPr lang="zh-CN" altLang="en-US" dirty="0" smtClean="0"/>
              <a:t>说明灰名单文件为空，但该类型策略可以设置一个灰名单，满足灰名单的日志将获得全新的点展时间差阈值。</a:t>
            </a:r>
            <a:endParaRPr lang="en-US" altLang="zh-CN" dirty="0" smtClean="0"/>
          </a:p>
          <a:p>
            <a:endParaRPr lang="en-US" altLang="zh-CN" dirty="0" smtClean="0"/>
          </a:p>
          <a:p>
            <a:r>
              <a:rPr lang="zh-CN" altLang="en-US" dirty="0" smtClean="0"/>
              <a:t>百意广告：网盟类型的广告推广，原网盟、秋实、</a:t>
            </a:r>
            <a:r>
              <a:rPr lang="en-US" altLang="zh-CN" dirty="0" err="1" smtClean="0"/>
              <a:t>newdsp</a:t>
            </a:r>
            <a:r>
              <a:rPr lang="zh-CN" altLang="en-US" dirty="0" smtClean="0"/>
              <a:t>的流量组合；原生广告：贴吧和手百图片推广</a:t>
            </a: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这种策略是对广告主的保护，也体现了百度作为平台方对塑造良好商业环境的决心。</a:t>
            </a:r>
            <a:endParaRPr lang="en-US" altLang="zh-CN" dirty="0" smtClean="0"/>
          </a:p>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original</a:t>
            </a:r>
            <a:r>
              <a:rPr lang="zh-CN" altLang="en-US" dirty="0" smtClean="0"/>
              <a:t>是一种比较特殊的特征，其返回值就是日志在某一维度对象的值。</a:t>
            </a:r>
            <a:endParaRPr lang="en-US" altLang="zh-CN" dirty="0" smtClean="0"/>
          </a:p>
          <a:p>
            <a:endParaRPr lang="en-US" altLang="zh-CN" dirty="0" smtClean="0"/>
          </a:p>
          <a:p>
            <a:r>
              <a:rPr lang="en-US" altLang="zh-CN" dirty="0" smtClean="0"/>
              <a:t>1106</a:t>
            </a:r>
            <a:r>
              <a:rPr lang="zh-CN" altLang="en-US" dirty="0" smtClean="0"/>
              <a:t>特征的</a:t>
            </a:r>
            <a:r>
              <a:rPr lang="en-US" altLang="zh-CN" dirty="0" err="1" smtClean="0"/>
              <a:t>carespace</a:t>
            </a:r>
            <a:r>
              <a:rPr lang="zh-CN" altLang="en-US" dirty="0" smtClean="0"/>
              <a:t>大致是这个意思：凤巢广告或者原生广告</a:t>
            </a:r>
            <a:r>
              <a:rPr lang="en-US" altLang="zh-CN" dirty="0" smtClean="0"/>
              <a:t>(</a:t>
            </a:r>
            <a:r>
              <a:rPr lang="zh-CN" altLang="en-US" sz="1200" b="0" i="0" kern="1200" dirty="0" smtClean="0">
                <a:solidFill>
                  <a:schemeClr val="tx1"/>
                </a:solidFill>
                <a:effectLst/>
                <a:latin typeface="+mn-lt"/>
                <a:ea typeface="+mn-ea"/>
                <a:cs typeface="+mn-cs"/>
              </a:rPr>
              <a:t>贴吧视频 </a:t>
            </a:r>
            <a:r>
              <a:rPr lang="en-US" altLang="zh-CN" sz="1200" b="0" i="0" kern="1200" dirty="0" smtClean="0">
                <a:solidFill>
                  <a:schemeClr val="tx1"/>
                </a:solidFill>
                <a:effectLst/>
                <a:latin typeface="+mn-lt"/>
                <a:ea typeface="+mn-ea"/>
                <a:cs typeface="+mn-cs"/>
              </a:rPr>
              <a:t>CPV</a:t>
            </a:r>
            <a:r>
              <a:rPr lang="zh-CN" altLang="en-US" sz="1200" b="0" i="0" kern="1200" dirty="0" smtClean="0">
                <a:solidFill>
                  <a:schemeClr val="tx1"/>
                </a:solidFill>
                <a:effectLst/>
                <a:latin typeface="+mn-lt"/>
                <a:ea typeface="+mn-ea"/>
                <a:cs typeface="+mn-cs"/>
              </a:rPr>
              <a:t>计费</a:t>
            </a:r>
            <a:r>
              <a:rPr lang="en-US" altLang="zh-CN" dirty="0" smtClean="0"/>
              <a:t>)post</a:t>
            </a:r>
            <a:r>
              <a:rPr lang="zh-CN" altLang="en-US" dirty="0" smtClean="0"/>
              <a:t>、</a:t>
            </a:r>
            <a:r>
              <a:rPr lang="en-US" altLang="zh-CN" dirty="0" err="1" smtClean="0"/>
              <a:t>cpv_dur</a:t>
            </a:r>
            <a:r>
              <a:rPr lang="zh-CN" altLang="en-US" dirty="0" smtClean="0"/>
              <a:t>、</a:t>
            </a:r>
            <a:r>
              <a:rPr lang="en-US" altLang="zh-CN" dirty="0" err="1" smtClean="0"/>
              <a:t>cpv_end</a:t>
            </a:r>
            <a:r>
              <a:rPr lang="zh-CN" altLang="en-US" dirty="0" smtClean="0"/>
              <a:t>存在且</a:t>
            </a:r>
            <a:r>
              <a:rPr lang="en-US" altLang="zh-CN" dirty="0" err="1" smtClean="0"/>
              <a:t>cpvdur</a:t>
            </a:r>
            <a:r>
              <a:rPr lang="en-US" altLang="zh-CN" baseline="0" dirty="0" smtClean="0"/>
              <a:t> &gt;= 10000</a:t>
            </a:r>
            <a:r>
              <a:rPr lang="zh-CN" altLang="en-US" baseline="0" dirty="0" smtClean="0"/>
              <a:t>、</a:t>
            </a:r>
            <a:r>
              <a:rPr lang="en-US" altLang="zh-CN" baseline="0" dirty="0" err="1" smtClean="0"/>
              <a:t>cpv_end</a:t>
            </a:r>
            <a:r>
              <a:rPr lang="en-US" altLang="zh-CN" baseline="0" dirty="0" smtClean="0"/>
              <a:t> &gt;= 10000 </a:t>
            </a:r>
            <a:r>
              <a:rPr lang="zh-CN" altLang="en-US" baseline="0" dirty="0" smtClean="0"/>
              <a:t>或者原生广告</a:t>
            </a:r>
            <a:r>
              <a:rPr lang="en-US" altLang="zh-CN" baseline="0" dirty="0" smtClean="0"/>
              <a:t>post</a:t>
            </a:r>
            <a:r>
              <a:rPr lang="zh-CN" altLang="en-US" baseline="0" dirty="0" smtClean="0"/>
              <a:t>、</a:t>
            </a:r>
            <a:r>
              <a:rPr lang="en-US" altLang="zh-CN" baseline="0" dirty="0" err="1" smtClean="0"/>
              <a:t>cpv_dur</a:t>
            </a:r>
            <a:r>
              <a:rPr lang="zh-CN" altLang="en-US" baseline="0" dirty="0" smtClean="0"/>
              <a:t>、</a:t>
            </a:r>
            <a:r>
              <a:rPr lang="en-US" altLang="zh-CN" baseline="0" dirty="0" err="1" smtClean="0"/>
              <a:t>cpv_end</a:t>
            </a:r>
            <a:r>
              <a:rPr lang="zh-CN" altLang="en-US" baseline="0" dirty="0" smtClean="0"/>
              <a:t>字段存在且</a:t>
            </a:r>
            <a:r>
              <a:rPr lang="en-US" altLang="zh-CN" baseline="0" dirty="0" err="1" smtClean="0"/>
              <a:t>cpv_dur</a:t>
            </a:r>
            <a:r>
              <a:rPr lang="en-US" altLang="zh-CN" baseline="0" dirty="0" smtClean="0"/>
              <a:t> &lt; 10000</a:t>
            </a:r>
            <a:r>
              <a:rPr lang="zh-CN" altLang="en-US" baseline="0" dirty="0" smtClean="0"/>
              <a:t>、</a:t>
            </a:r>
            <a:r>
              <a:rPr lang="en-US" altLang="zh-CN" baseline="0" dirty="0" err="1" smtClean="0"/>
              <a:t>cpv_dur</a:t>
            </a:r>
            <a:r>
              <a:rPr lang="en-US" altLang="zh-CN" baseline="0" dirty="0" smtClean="0"/>
              <a:t> == </a:t>
            </a:r>
            <a:r>
              <a:rPr lang="en-US" altLang="zh-CN" baseline="0" dirty="0" err="1" smtClean="0"/>
              <a:t>cpv_end</a:t>
            </a:r>
            <a:r>
              <a:rPr lang="zh-CN" altLang="en-US" baseline="0" dirty="0" smtClean="0"/>
              <a:t>的范围</a:t>
            </a:r>
            <a:endParaRPr lang="en-US" altLang="zh-CN" dirty="0" smtClean="0"/>
          </a:p>
          <a:p>
            <a:endParaRPr lang="en-US" altLang="zh-CN" dirty="0" smtClean="0"/>
          </a:p>
          <a:p>
            <a:r>
              <a:rPr lang="zh-CN" altLang="zh-CN" sz="1200" kern="1200" dirty="0" smtClean="0">
                <a:solidFill>
                  <a:schemeClr val="tx1"/>
                </a:solidFill>
                <a:effectLst/>
                <a:latin typeface="+mn-lt"/>
                <a:ea typeface="+mn-ea"/>
                <a:cs typeface="+mn-cs"/>
              </a:rPr>
              <a:t>重复点击策略在</a:t>
            </a:r>
            <a:r>
              <a:rPr lang="en-US" altLang="zh-CN" sz="1200" kern="1200" dirty="0" err="1" smtClean="0">
                <a:solidFill>
                  <a:schemeClr val="tx1"/>
                </a:solidFill>
                <a:effectLst/>
                <a:latin typeface="+mn-lt"/>
                <a:ea typeface="+mn-ea"/>
                <a:cs typeface="+mn-cs"/>
              </a:rPr>
              <a:t>dformat</a:t>
            </a:r>
            <a:r>
              <a:rPr lang="zh-CN" altLang="en-US" sz="1200" kern="1200" dirty="0" smtClean="0">
                <a:solidFill>
                  <a:schemeClr val="tx1"/>
                </a:solidFill>
                <a:effectLst/>
                <a:latin typeface="+mn-lt"/>
                <a:ea typeface="+mn-ea"/>
                <a:cs typeface="+mn-cs"/>
              </a:rPr>
              <a:t>层</a:t>
            </a:r>
            <a:r>
              <a:rPr lang="zh-CN" altLang="zh-CN" sz="1200" kern="1200" dirty="0" smtClean="0">
                <a:solidFill>
                  <a:schemeClr val="tx1"/>
                </a:solidFill>
                <a:effectLst/>
                <a:latin typeface="+mn-lt"/>
                <a:ea typeface="+mn-ea"/>
                <a:cs typeface="+mn-cs"/>
              </a:rPr>
              <a:t>，有</a:t>
            </a:r>
            <a:r>
              <a:rPr lang="en-US" altLang="zh-CN" sz="1200" kern="1200" dirty="0" smtClean="0">
                <a:solidFill>
                  <a:schemeClr val="tx1"/>
                </a:solidFill>
                <a:effectLst/>
                <a:latin typeface="+mn-lt"/>
                <a:ea typeface="+mn-ea"/>
                <a:cs typeface="+mn-cs"/>
              </a:rPr>
              <a:t>5</a:t>
            </a:r>
            <a:r>
              <a:rPr lang="zh-CN" altLang="zh-CN" sz="1200" kern="1200" dirty="0" smtClean="0">
                <a:solidFill>
                  <a:schemeClr val="tx1"/>
                </a:solidFill>
                <a:effectLst/>
                <a:latin typeface="+mn-lt"/>
                <a:ea typeface="+mn-ea"/>
                <a:cs typeface="+mn-cs"/>
              </a:rPr>
              <a:t>秒的下限值是为了防止二跳点击的误过。而这部分点击将会在</a:t>
            </a:r>
            <a:r>
              <a:rPr lang="en-US" altLang="zh-CN" sz="1200" kern="1200" dirty="0" err="1" smtClean="0">
                <a:solidFill>
                  <a:schemeClr val="tx1"/>
                </a:solidFill>
                <a:effectLst/>
                <a:latin typeface="+mn-lt"/>
                <a:ea typeface="+mn-ea"/>
                <a:cs typeface="+mn-cs"/>
              </a:rPr>
              <a:t>themis</a:t>
            </a:r>
            <a:r>
              <a:rPr lang="zh-CN" altLang="zh-CN" sz="1200" kern="1200" dirty="0" smtClean="0">
                <a:solidFill>
                  <a:schemeClr val="tx1"/>
                </a:solidFill>
                <a:effectLst/>
                <a:latin typeface="+mn-lt"/>
                <a:ea typeface="+mn-ea"/>
                <a:cs typeface="+mn-cs"/>
              </a:rPr>
              <a:t>中处理</a:t>
            </a:r>
            <a:r>
              <a:rPr lang="zh-CN" altLang="en-US"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原则上对于每条点击日志都会进行二跳，但是因为存在某些场景无法进行二跳，比如</a:t>
            </a:r>
            <a:r>
              <a:rPr lang="en-US" altLang="zh-CN" sz="1200" kern="1200" dirty="0" smtClean="0">
                <a:solidFill>
                  <a:schemeClr val="tx1"/>
                </a:solidFill>
                <a:effectLst/>
                <a:latin typeface="+mn-lt"/>
                <a:ea typeface="+mn-ea"/>
                <a:cs typeface="+mn-cs"/>
              </a:rPr>
              <a:t>post</a:t>
            </a:r>
            <a:r>
              <a:rPr lang="zh-CN" altLang="en-US" sz="1200" kern="1200" dirty="0" smtClean="0">
                <a:solidFill>
                  <a:schemeClr val="tx1"/>
                </a:solidFill>
                <a:effectLst/>
                <a:latin typeface="+mn-lt"/>
                <a:ea typeface="+mn-ea"/>
                <a:cs typeface="+mn-cs"/>
              </a:rPr>
              <a:t>请求的点击；所以这里会有一个二跳判断，对于特定场景（无法二跳但正常）不进行二跳。而进行二跳的目的是为了过滤掉一些比如爬虫的简单作弊。二跳：当</a:t>
            </a:r>
            <a:r>
              <a:rPr lang="en-US" altLang="zh-CN" sz="1200" kern="1200" dirty="0" err="1" smtClean="0">
                <a:solidFill>
                  <a:schemeClr val="tx1"/>
                </a:solidFill>
                <a:effectLst/>
                <a:latin typeface="+mn-lt"/>
                <a:ea typeface="+mn-ea"/>
                <a:cs typeface="+mn-cs"/>
              </a:rPr>
              <a:t>rcv</a:t>
            </a:r>
            <a:r>
              <a:rPr lang="zh-CN" altLang="en-US" sz="1200" kern="1200" dirty="0" smtClean="0">
                <a:solidFill>
                  <a:schemeClr val="tx1"/>
                </a:solidFill>
                <a:effectLst/>
                <a:latin typeface="+mn-lt"/>
                <a:ea typeface="+mn-ea"/>
                <a:cs typeface="+mn-cs"/>
              </a:rPr>
              <a:t>受到浏览器的点击</a:t>
            </a:r>
            <a:r>
              <a:rPr lang="en-US" altLang="zh-CN" sz="1200" kern="1200" dirty="0" err="1" smtClean="0">
                <a:solidFill>
                  <a:schemeClr val="tx1"/>
                </a:solidFill>
                <a:effectLst/>
                <a:latin typeface="+mn-lt"/>
                <a:ea typeface="+mn-ea"/>
                <a:cs typeface="+mn-cs"/>
              </a:rPr>
              <a:t>url</a:t>
            </a:r>
            <a:r>
              <a:rPr lang="zh-CN" altLang="en-US" sz="1200" kern="1200" dirty="0" smtClean="0">
                <a:solidFill>
                  <a:schemeClr val="tx1"/>
                </a:solidFill>
                <a:effectLst/>
                <a:latin typeface="+mn-lt"/>
                <a:ea typeface="+mn-ea"/>
                <a:cs typeface="+mn-cs"/>
              </a:rPr>
              <a:t>，会进行一次二跳判断，如果满足二跳，</a:t>
            </a:r>
            <a:r>
              <a:rPr lang="en-US" altLang="zh-CN" sz="1200" kern="1200" dirty="0" err="1" smtClean="0">
                <a:solidFill>
                  <a:schemeClr val="tx1"/>
                </a:solidFill>
                <a:effectLst/>
                <a:latin typeface="+mn-lt"/>
                <a:ea typeface="+mn-ea"/>
                <a:cs typeface="+mn-cs"/>
              </a:rPr>
              <a:t>rcv</a:t>
            </a:r>
            <a:r>
              <a:rPr lang="zh-CN" altLang="en-US" sz="1200" kern="1200" dirty="0" smtClean="0">
                <a:solidFill>
                  <a:schemeClr val="tx1"/>
                </a:solidFill>
                <a:effectLst/>
                <a:latin typeface="+mn-lt"/>
                <a:ea typeface="+mn-ea"/>
                <a:cs typeface="+mn-cs"/>
              </a:rPr>
              <a:t>会与浏览器再进行一次交互，并进行简单的反作弊判断（</a:t>
            </a:r>
            <a:r>
              <a:rPr lang="en-US" altLang="zh-CN" sz="1200" kern="1200" dirty="0" err="1" smtClean="0">
                <a:solidFill>
                  <a:schemeClr val="tx1"/>
                </a:solidFill>
                <a:effectLst/>
                <a:latin typeface="+mn-lt"/>
                <a:ea typeface="+mn-ea"/>
                <a:cs typeface="+mn-cs"/>
              </a:rPr>
              <a:t>js</a:t>
            </a:r>
            <a:r>
              <a:rPr lang="zh-CN" altLang="en-US" sz="1200" kern="1200" dirty="0" smtClean="0">
                <a:solidFill>
                  <a:schemeClr val="tx1"/>
                </a:solidFill>
                <a:effectLst/>
                <a:latin typeface="+mn-lt"/>
                <a:ea typeface="+mn-ea"/>
                <a:cs typeface="+mn-cs"/>
              </a:rPr>
              <a:t>反作弊），并更新</a:t>
            </a:r>
            <a:r>
              <a:rPr lang="en-US" altLang="zh-CN" sz="1200" kern="1200" dirty="0" err="1" smtClean="0">
                <a:solidFill>
                  <a:schemeClr val="tx1"/>
                </a:solidFill>
                <a:effectLst/>
                <a:latin typeface="+mn-lt"/>
                <a:ea typeface="+mn-ea"/>
                <a:cs typeface="+mn-cs"/>
              </a:rPr>
              <a:t>shifen</a:t>
            </a:r>
            <a:r>
              <a:rPr lang="en-US" altLang="zh-CN" sz="1200" kern="1200" dirty="0" smtClean="0">
                <a:solidFill>
                  <a:schemeClr val="tx1"/>
                </a:solidFill>
                <a:effectLst/>
                <a:latin typeface="+mn-lt"/>
                <a:ea typeface="+mn-ea"/>
                <a:cs typeface="+mn-cs"/>
              </a:rPr>
              <a:t> cookie</a:t>
            </a:r>
            <a:r>
              <a:rPr lang="zh-CN" altLang="en-US" sz="1200" kern="1200" dirty="0" smtClean="0">
                <a:solidFill>
                  <a:schemeClr val="tx1"/>
                </a:solidFill>
                <a:effectLst/>
                <a:latin typeface="+mn-lt"/>
                <a:ea typeface="+mn-ea"/>
                <a:cs typeface="+mn-cs"/>
              </a:rPr>
              <a:t>，这导致了更新了两次</a:t>
            </a:r>
            <a:r>
              <a:rPr lang="en-US" altLang="zh-CN" sz="1200" kern="1200" dirty="0" err="1" smtClean="0">
                <a:solidFill>
                  <a:schemeClr val="tx1"/>
                </a:solidFill>
                <a:effectLst/>
                <a:latin typeface="+mn-lt"/>
                <a:ea typeface="+mn-ea"/>
                <a:cs typeface="+mn-cs"/>
              </a:rPr>
              <a:t>shifen</a:t>
            </a:r>
            <a:r>
              <a:rPr lang="en-US" altLang="zh-CN" sz="1200" kern="1200" dirty="0" smtClean="0">
                <a:solidFill>
                  <a:schemeClr val="tx1"/>
                </a:solidFill>
                <a:effectLst/>
                <a:latin typeface="+mn-lt"/>
                <a:ea typeface="+mn-ea"/>
                <a:cs typeface="+mn-cs"/>
              </a:rPr>
              <a:t> cookie</a:t>
            </a:r>
            <a:r>
              <a:rPr lang="zh-CN" altLang="en-US" sz="1200" kern="1200" dirty="0" smtClean="0">
                <a:solidFill>
                  <a:schemeClr val="tx1"/>
                </a:solidFill>
                <a:effectLst/>
                <a:latin typeface="+mn-lt"/>
                <a:ea typeface="+mn-ea"/>
                <a:cs typeface="+mn-cs"/>
              </a:rPr>
              <a:t>，对于这种有其他策略进行处理：</a:t>
            </a:r>
            <a:r>
              <a:rPr lang="en-US" altLang="zh-CN" sz="1200" kern="1200" dirty="0" smtClean="0">
                <a:solidFill>
                  <a:schemeClr val="tx1"/>
                </a:solidFill>
                <a:effectLst/>
                <a:latin typeface="+mn-lt"/>
                <a:ea typeface="+mn-ea"/>
                <a:cs typeface="+mn-cs"/>
              </a:rPr>
              <a:t>35101,383101</a:t>
            </a:r>
            <a:r>
              <a:rPr lang="zh-CN" altLang="en-US" sz="1200" kern="1200" dirty="0" smtClean="0">
                <a:solidFill>
                  <a:schemeClr val="tx1"/>
                </a:solidFill>
                <a:effectLst/>
                <a:latin typeface="+mn-lt"/>
                <a:ea typeface="+mn-ea"/>
                <a:cs typeface="+mn-cs"/>
              </a:rPr>
              <a:t>等，在一定段长内，某一个维度（</a:t>
            </a:r>
            <a:r>
              <a:rPr lang="en-US" altLang="zh-CN" sz="1200" kern="1200" dirty="0" err="1" smtClean="0">
                <a:solidFill>
                  <a:schemeClr val="tx1"/>
                </a:solidFill>
                <a:effectLst/>
                <a:latin typeface="+mn-lt"/>
                <a:ea typeface="+mn-ea"/>
                <a:cs typeface="+mn-cs"/>
              </a:rPr>
              <a:t>winfoid+url_sign+srchid</a:t>
            </a:r>
            <a:r>
              <a:rPr lang="zh-CN" altLang="en-US" sz="1200" kern="1200" dirty="0" smtClean="0">
                <a:solidFill>
                  <a:schemeClr val="tx1"/>
                </a:solidFill>
                <a:effectLst/>
                <a:latin typeface="+mn-lt"/>
                <a:ea typeface="+mn-ea"/>
                <a:cs typeface="+mn-cs"/>
              </a:rPr>
              <a:t>）最多出现一次点击</a:t>
            </a:r>
            <a:endParaRPr lang="zh-CN" altLang="en-US"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投放广告的时候可能有一些地域倾向，但不能保证效果，可能会出现异地的广告投放。</a:t>
            </a:r>
            <a:endParaRPr lang="en-US" altLang="zh-CN" dirty="0" smtClean="0"/>
          </a:p>
          <a:p>
            <a:endParaRPr lang="en-US" altLang="zh-CN" dirty="0" smtClean="0"/>
          </a:p>
          <a:p>
            <a:r>
              <a:rPr lang="zh-CN" altLang="zh-CN" sz="1200" kern="1200" dirty="0" smtClean="0">
                <a:solidFill>
                  <a:schemeClr val="tx1"/>
                </a:solidFill>
                <a:effectLst/>
                <a:latin typeface="+mn-lt"/>
                <a:ea typeface="+mn-ea"/>
                <a:cs typeface="+mn-cs"/>
              </a:rPr>
              <a:t>手机用户装了百度的产品会有</a:t>
            </a:r>
            <a:r>
              <a:rPr lang="en-US" altLang="zh-CN" sz="1200" kern="1200" dirty="0" err="1" smtClean="0">
                <a:solidFill>
                  <a:schemeClr val="tx1"/>
                </a:solidFill>
                <a:effectLst/>
                <a:latin typeface="+mn-lt"/>
                <a:ea typeface="+mn-ea"/>
                <a:cs typeface="+mn-cs"/>
              </a:rPr>
              <a:t>gps</a:t>
            </a:r>
            <a:r>
              <a:rPr lang="zh-CN" altLang="zh-CN" sz="1200" kern="1200" dirty="0" smtClean="0">
                <a:solidFill>
                  <a:schemeClr val="tx1"/>
                </a:solidFill>
                <a:effectLst/>
                <a:latin typeface="+mn-lt"/>
                <a:ea typeface="+mn-ea"/>
                <a:cs typeface="+mn-cs"/>
              </a:rPr>
              <a:t>信息，</a:t>
            </a:r>
            <a:r>
              <a:rPr lang="en-US" altLang="zh-CN" sz="1200" kern="1200" dirty="0" err="1" smtClean="0">
                <a:solidFill>
                  <a:schemeClr val="tx1"/>
                </a:solidFill>
                <a:effectLst/>
                <a:latin typeface="+mn-lt"/>
                <a:ea typeface="+mn-ea"/>
                <a:cs typeface="+mn-cs"/>
              </a:rPr>
              <a:t>gps</a:t>
            </a:r>
            <a:r>
              <a:rPr lang="zh-CN" altLang="zh-CN" sz="1200" kern="1200" dirty="0" smtClean="0">
                <a:solidFill>
                  <a:schemeClr val="tx1"/>
                </a:solidFill>
                <a:effectLst/>
                <a:latin typeface="+mn-lt"/>
                <a:ea typeface="+mn-ea"/>
                <a:cs typeface="+mn-cs"/>
              </a:rPr>
              <a:t>相对</a:t>
            </a:r>
            <a:r>
              <a:rPr lang="en-US" altLang="zh-CN" sz="1200" kern="1200" dirty="0" err="1" smtClean="0">
                <a:solidFill>
                  <a:schemeClr val="tx1"/>
                </a:solidFill>
                <a:effectLst/>
                <a:latin typeface="+mn-lt"/>
                <a:ea typeface="+mn-ea"/>
                <a:cs typeface="+mn-cs"/>
              </a:rPr>
              <a:t>ip</a:t>
            </a:r>
            <a:r>
              <a:rPr lang="zh-CN" altLang="zh-CN" sz="1200" kern="1200" dirty="0" smtClean="0">
                <a:solidFill>
                  <a:schemeClr val="tx1"/>
                </a:solidFill>
                <a:effectLst/>
                <a:latin typeface="+mn-lt"/>
                <a:ea typeface="+mn-ea"/>
                <a:cs typeface="+mn-cs"/>
              </a:rPr>
              <a:t>较为准确，但</a:t>
            </a:r>
            <a:r>
              <a:rPr lang="en-US" altLang="zh-CN" sz="1200" kern="1200" dirty="0" err="1" smtClean="0">
                <a:solidFill>
                  <a:schemeClr val="tx1"/>
                </a:solidFill>
                <a:effectLst/>
                <a:latin typeface="+mn-lt"/>
                <a:ea typeface="+mn-ea"/>
                <a:cs typeface="+mn-cs"/>
              </a:rPr>
              <a:t>gps</a:t>
            </a:r>
            <a:r>
              <a:rPr lang="zh-CN" altLang="zh-CN" sz="1200" kern="1200" dirty="0" smtClean="0">
                <a:solidFill>
                  <a:schemeClr val="tx1"/>
                </a:solidFill>
                <a:effectLst/>
                <a:latin typeface="+mn-lt"/>
                <a:ea typeface="+mn-ea"/>
                <a:cs typeface="+mn-cs"/>
              </a:rPr>
              <a:t>信息不是所有</a:t>
            </a:r>
            <a:r>
              <a:rPr lang="zh-CN" altLang="en-US" sz="1200" kern="1200" dirty="0" smtClean="0">
                <a:solidFill>
                  <a:schemeClr val="tx1"/>
                </a:solidFill>
                <a:effectLst/>
                <a:latin typeface="+mn-lt"/>
                <a:ea typeface="+mn-ea"/>
                <a:cs typeface="+mn-cs"/>
              </a:rPr>
              <a:t>日志</a:t>
            </a:r>
            <a:r>
              <a:rPr lang="zh-CN" altLang="zh-CN" sz="1200" kern="1200" dirty="0" smtClean="0">
                <a:solidFill>
                  <a:schemeClr val="tx1"/>
                </a:solidFill>
                <a:effectLst/>
                <a:latin typeface="+mn-lt"/>
                <a:ea typeface="+mn-ea"/>
                <a:cs typeface="+mn-cs"/>
              </a:rPr>
              <a:t>都会有。所以优先看</a:t>
            </a:r>
            <a:r>
              <a:rPr lang="en-US" altLang="zh-CN" sz="1200" kern="1200" dirty="0" err="1" smtClean="0">
                <a:solidFill>
                  <a:schemeClr val="tx1"/>
                </a:solidFill>
                <a:effectLst/>
                <a:latin typeface="+mn-lt"/>
                <a:ea typeface="+mn-ea"/>
                <a:cs typeface="+mn-cs"/>
              </a:rPr>
              <a:t>ip</a:t>
            </a:r>
            <a:r>
              <a:rPr lang="zh-CN" altLang="zh-CN" sz="1200" kern="1200" dirty="0" smtClean="0">
                <a:solidFill>
                  <a:schemeClr val="tx1"/>
                </a:solidFill>
                <a:effectLst/>
                <a:latin typeface="+mn-lt"/>
                <a:ea typeface="+mn-ea"/>
                <a:cs typeface="+mn-cs"/>
              </a:rPr>
              <a:t>，如果</a:t>
            </a:r>
            <a:r>
              <a:rPr lang="en-US" altLang="zh-CN" sz="1200" kern="1200" dirty="0" err="1" smtClean="0">
                <a:solidFill>
                  <a:schemeClr val="tx1"/>
                </a:solidFill>
                <a:effectLst/>
                <a:latin typeface="+mn-lt"/>
                <a:ea typeface="+mn-ea"/>
                <a:cs typeface="+mn-cs"/>
              </a:rPr>
              <a:t>ip</a:t>
            </a:r>
            <a:r>
              <a:rPr lang="zh-CN" altLang="zh-CN" sz="1200" kern="1200" dirty="0" smtClean="0">
                <a:solidFill>
                  <a:schemeClr val="tx1"/>
                </a:solidFill>
                <a:effectLst/>
                <a:latin typeface="+mn-lt"/>
                <a:ea typeface="+mn-ea"/>
                <a:cs typeface="+mn-cs"/>
              </a:rPr>
              <a:t>不一致看</a:t>
            </a:r>
            <a:r>
              <a:rPr lang="en-US" altLang="zh-CN" sz="1200" kern="1200" dirty="0" err="1" smtClean="0">
                <a:solidFill>
                  <a:schemeClr val="tx1"/>
                </a:solidFill>
                <a:effectLst/>
                <a:latin typeface="+mn-lt"/>
                <a:ea typeface="+mn-ea"/>
                <a:cs typeface="+mn-cs"/>
              </a:rPr>
              <a:t>gps</a:t>
            </a:r>
            <a:r>
              <a:rPr lang="zh-CN" altLang="zh-CN" sz="1200" kern="1200" dirty="0" smtClean="0">
                <a:solidFill>
                  <a:schemeClr val="tx1"/>
                </a:solidFill>
                <a:effectLst/>
                <a:latin typeface="+mn-lt"/>
                <a:ea typeface="+mn-ea"/>
                <a:cs typeface="+mn-cs"/>
              </a:rPr>
              <a:t>，如果</a:t>
            </a:r>
            <a:r>
              <a:rPr lang="en-US" altLang="zh-CN" sz="1200" kern="1200" dirty="0" err="1" smtClean="0">
                <a:solidFill>
                  <a:schemeClr val="tx1"/>
                </a:solidFill>
                <a:effectLst/>
                <a:latin typeface="+mn-lt"/>
                <a:ea typeface="+mn-ea"/>
                <a:cs typeface="+mn-cs"/>
              </a:rPr>
              <a:t>gps</a:t>
            </a:r>
            <a:r>
              <a:rPr lang="zh-CN" altLang="zh-CN" sz="1200" kern="1200" dirty="0" smtClean="0">
                <a:solidFill>
                  <a:schemeClr val="tx1"/>
                </a:solidFill>
                <a:effectLst/>
                <a:latin typeface="+mn-lt"/>
                <a:ea typeface="+mn-ea"/>
                <a:cs typeface="+mn-cs"/>
              </a:rPr>
              <a:t>一致则不</a:t>
            </a:r>
            <a:r>
              <a:rPr lang="en-US" altLang="zh-CN" sz="1200" kern="1200" dirty="0" smtClean="0">
                <a:solidFill>
                  <a:schemeClr val="tx1"/>
                </a:solidFill>
                <a:effectLst/>
                <a:latin typeface="+mn-lt"/>
                <a:ea typeface="+mn-ea"/>
                <a:cs typeface="+mn-cs"/>
              </a:rPr>
              <a:t>hit</a:t>
            </a:r>
            <a:r>
              <a:rPr lang="zh-CN" altLang="zh-CN" sz="1200" kern="1200" dirty="0" smtClean="0">
                <a:solidFill>
                  <a:schemeClr val="tx1"/>
                </a:solidFill>
                <a:effectLst/>
                <a:latin typeface="+mn-lt"/>
                <a:ea typeface="+mn-ea"/>
                <a:cs typeface="+mn-cs"/>
              </a:rPr>
              <a:t>，不一致则</a:t>
            </a:r>
            <a:r>
              <a:rPr lang="en-US" altLang="zh-CN" sz="1200" kern="1200" dirty="0" smtClean="0">
                <a:solidFill>
                  <a:schemeClr val="tx1"/>
                </a:solidFill>
                <a:effectLst/>
                <a:latin typeface="+mn-lt"/>
                <a:ea typeface="+mn-ea"/>
                <a:cs typeface="+mn-cs"/>
              </a:rPr>
              <a:t>hit</a:t>
            </a:r>
            <a:endParaRPr lang="en-US" altLang="zh-CN" dirty="0" smtClean="0"/>
          </a:p>
          <a:p>
            <a:r>
              <a:rPr lang="zh-CN" altLang="en-US" dirty="0" smtClean="0"/>
              <a:t>这里只要</a:t>
            </a:r>
            <a:r>
              <a:rPr lang="en-US" altLang="zh-CN" dirty="0" err="1" smtClean="0"/>
              <a:t>gps</a:t>
            </a:r>
            <a:r>
              <a:rPr lang="zh-CN" altLang="en-US" dirty="0" smtClean="0"/>
              <a:t>或者</a:t>
            </a:r>
            <a:r>
              <a:rPr lang="en-US" altLang="zh-CN" dirty="0" err="1" smtClean="0"/>
              <a:t>ip</a:t>
            </a:r>
            <a:r>
              <a:rPr lang="zh-CN" altLang="en-US" dirty="0" smtClean="0"/>
              <a:t>有一个一致，就会认为点展</a:t>
            </a:r>
            <a:r>
              <a:rPr lang="en-US" altLang="zh-CN" dirty="0" err="1" smtClean="0"/>
              <a:t>ip</a:t>
            </a:r>
            <a:r>
              <a:rPr lang="zh-CN" altLang="en-US" dirty="0" smtClean="0"/>
              <a:t>是一致的。</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某些</a:t>
            </a:r>
            <a:r>
              <a:rPr lang="en-US" altLang="zh-CN" dirty="0" err="1" smtClean="0"/>
              <a:t>ua</a:t>
            </a:r>
            <a:r>
              <a:rPr lang="zh-CN" altLang="en-US" dirty="0" smtClean="0"/>
              <a:t>能很明显看出是作弊类型的</a:t>
            </a:r>
            <a:r>
              <a:rPr lang="en-US" altLang="zh-CN" dirty="0" err="1" smtClean="0"/>
              <a:t>ua</a:t>
            </a:r>
            <a:endParaRPr lang="en-US" altLang="zh-CN" dirty="0" smtClean="0"/>
          </a:p>
          <a:p>
            <a:endParaRPr lang="en-US" altLang="zh-CN" dirty="0" smtClean="0"/>
          </a:p>
          <a:p>
            <a:r>
              <a:rPr lang="en-US" altLang="zh-CN" dirty="0" err="1" smtClean="0"/>
              <a:t>Cmatch</a:t>
            </a:r>
            <a:r>
              <a:rPr lang="en-US" altLang="zh-CN" dirty="0" smtClean="0"/>
              <a:t>:=313</a:t>
            </a:r>
            <a:r>
              <a:rPr lang="zh-CN" altLang="en-US" dirty="0" smtClean="0"/>
              <a:t>：</a:t>
            </a:r>
            <a:r>
              <a:rPr lang="en-US" altLang="zh-CN" sz="1200" b="0" i="0" kern="1200" dirty="0" smtClean="0">
                <a:solidFill>
                  <a:schemeClr val="tx1"/>
                </a:solidFill>
                <a:effectLst/>
                <a:latin typeface="+mn-lt"/>
                <a:ea typeface="+mn-ea"/>
                <a:cs typeface="+mn-cs"/>
              </a:rPr>
              <a:t>pc+</a:t>
            </a:r>
            <a:r>
              <a:rPr lang="zh-CN" altLang="en-US" sz="1200" b="0" i="0" kern="1200" dirty="0" smtClean="0">
                <a:solidFill>
                  <a:schemeClr val="tx1"/>
                </a:solidFill>
                <a:effectLst/>
                <a:latin typeface="+mn-lt"/>
                <a:ea typeface="+mn-ea"/>
                <a:cs typeface="+mn-cs"/>
              </a:rPr>
              <a:t>自主</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贴吧</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列表页</a:t>
            </a:r>
            <a:endParaRPr lang="en-US" altLang="zh-CN" sz="1200" b="0" i="0" kern="1200" dirty="0" smtClean="0">
              <a:solidFill>
                <a:schemeClr val="tx1"/>
              </a:solidFill>
              <a:effectLst/>
              <a:latin typeface="+mn-lt"/>
              <a:ea typeface="+mn-ea"/>
              <a:cs typeface="+mn-cs"/>
            </a:endParaRPr>
          </a:p>
          <a:p>
            <a:endParaRPr lang="en-US" altLang="zh-CN" dirty="0" smtClean="0"/>
          </a:p>
          <a:p>
            <a:r>
              <a:rPr lang="en-US" altLang="zh-CN" sz="1200" dirty="0" smtClean="0">
                <a:latin typeface="Times New Roman" panose="02020603050405020304" charset="0"/>
                <a:cs typeface="Times New Roman" panose="02020603050405020304" charset="0"/>
              </a:rPr>
              <a:t>RAL/2.0.17 (internal request)</a:t>
            </a:r>
            <a:r>
              <a:rPr lang="zh-CN" altLang="en-US" sz="1200" dirty="0" smtClean="0">
                <a:latin typeface="Times New Roman" panose="02020603050405020304" charset="0"/>
                <a:cs typeface="Times New Roman" panose="02020603050405020304" charset="0"/>
              </a:rPr>
              <a:t>指的是百度内部的</a:t>
            </a:r>
            <a:r>
              <a:rPr lang="en-US" altLang="zh-CN" sz="1200" dirty="0" smtClean="0">
                <a:latin typeface="Times New Roman" panose="02020603050405020304" charset="0"/>
                <a:cs typeface="Times New Roman" panose="02020603050405020304" charset="0"/>
              </a:rPr>
              <a:t>UA</a:t>
            </a:r>
            <a:r>
              <a:rPr lang="zh-CN" altLang="en-US" sz="1200" dirty="0" smtClean="0">
                <a:latin typeface="Times New Roman" panose="02020603050405020304" charset="0"/>
                <a:cs typeface="Times New Roman" panose="02020603050405020304" charset="0"/>
              </a:rPr>
              <a:t>，而</a:t>
            </a:r>
            <a:r>
              <a:rPr lang="en-US" altLang="zh-CN" sz="1200" dirty="0" smtClean="0">
                <a:latin typeface="Times New Roman" panose="02020603050405020304" charset="0"/>
                <a:cs typeface="Times New Roman" panose="02020603050405020304" charset="0"/>
              </a:rPr>
              <a:t>Mozilla/5.0(</a:t>
            </a:r>
            <a:r>
              <a:rPr lang="en-US" altLang="zh-CN" sz="1200" dirty="0" err="1" smtClean="0">
                <a:latin typeface="Times New Roman" panose="02020603050405020304" charset="0"/>
                <a:cs typeface="Times New Roman" panose="02020603050405020304" charset="0"/>
              </a:rPr>
              <a:t>compatible;MSIE</a:t>
            </a:r>
            <a:r>
              <a:rPr lang="en-US" altLang="zh-CN" sz="1200" dirty="0" smtClean="0">
                <a:latin typeface="Times New Roman" panose="02020603050405020304" charset="0"/>
                <a:cs typeface="Times New Roman" panose="02020603050405020304" charset="0"/>
              </a:rPr>
              <a:t>/6.0+http://www.myspace.com)</a:t>
            </a:r>
            <a:r>
              <a:rPr lang="zh-CN" altLang="en-US" sz="1200" dirty="0" smtClean="0">
                <a:latin typeface="Times New Roman" panose="02020603050405020304" charset="0"/>
                <a:cs typeface="Times New Roman" panose="02020603050405020304" charset="0"/>
              </a:rPr>
              <a:t>似乎指的是某个蠕虫攻击的</a:t>
            </a:r>
            <a:r>
              <a:rPr lang="en-US" altLang="zh-CN" sz="1200" dirty="0" smtClean="0">
                <a:latin typeface="Times New Roman" panose="02020603050405020304" charset="0"/>
                <a:cs typeface="Times New Roman" panose="02020603050405020304" charset="0"/>
              </a:rPr>
              <a:t>UA</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smtClean="0"/>
              <a:t>ck</a:t>
            </a:r>
            <a:r>
              <a:rPr kumimoji="1" lang="zh-CN" altLang="en-US" dirty="0" smtClean="0"/>
              <a:t>域是一个比较特殊的值</a:t>
            </a:r>
            <a:endParaRPr kumimoji="1" lang="en-US" altLang="zh-CN" dirty="0" smtClean="0"/>
          </a:p>
          <a:p>
            <a:r>
              <a:rPr kumimoji="1" lang="en-US" altLang="zh-CN" dirty="0" smtClean="0"/>
              <a:t>Ck_2</a:t>
            </a:r>
            <a:r>
              <a:rPr kumimoji="1" lang="zh-CN" altLang="en-US" dirty="0" smtClean="0"/>
              <a:t>，按下弹起时间差</a:t>
            </a:r>
            <a:endParaRPr kumimoji="1" lang="en-US" altLang="zh-CN" dirty="0" smtClean="0"/>
          </a:p>
          <a:p>
            <a:r>
              <a:rPr kumimoji="1" lang="en-US" altLang="zh-CN" dirty="0" smtClean="0"/>
              <a:t>Ck_3</a:t>
            </a:r>
            <a:r>
              <a:rPr kumimoji="1" lang="zh-CN" altLang="en-US" dirty="0" smtClean="0"/>
              <a:t>和</a:t>
            </a:r>
            <a:r>
              <a:rPr kumimoji="1" lang="en-US" altLang="zh-CN" dirty="0" smtClean="0"/>
              <a:t>ck_4</a:t>
            </a:r>
            <a:r>
              <a:rPr kumimoji="1" lang="zh-CN" altLang="en-US" dirty="0" smtClean="0"/>
              <a:t>，点击</a:t>
            </a:r>
            <a:r>
              <a:rPr kumimoji="1" lang="en-US" altLang="zh-CN" dirty="0" smtClean="0"/>
              <a:t>x</a:t>
            </a:r>
            <a:r>
              <a:rPr kumimoji="1" lang="zh-CN" altLang="en-US" dirty="0" smtClean="0"/>
              <a:t>，</a:t>
            </a:r>
            <a:r>
              <a:rPr kumimoji="1" lang="en-US" altLang="zh-CN" dirty="0" smtClean="0"/>
              <a:t>y</a:t>
            </a:r>
            <a:r>
              <a:rPr kumimoji="1" lang="zh-CN" altLang="en-US" dirty="0" smtClean="0"/>
              <a:t>坐标</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统计类策略在</a:t>
            </a:r>
            <a:r>
              <a:rPr lang="en-US" altLang="zh-CN" dirty="0" err="1" smtClean="0"/>
              <a:t>dformat</a:t>
            </a:r>
            <a:r>
              <a:rPr lang="zh-CN" altLang="en-US" dirty="0" smtClean="0"/>
              <a:t>层与</a:t>
            </a:r>
            <a:r>
              <a:rPr lang="en-US" altLang="zh-CN" dirty="0" smtClean="0"/>
              <a:t>Themis</a:t>
            </a:r>
            <a:r>
              <a:rPr lang="zh-CN" altLang="en-US" dirty="0" smtClean="0"/>
              <a:t>层都有，</a:t>
            </a:r>
            <a:r>
              <a:rPr lang="en-US" altLang="zh-CN" dirty="0" smtClean="0"/>
              <a:t>Themis</a:t>
            </a:r>
            <a:r>
              <a:rPr lang="zh-CN" altLang="en-US" dirty="0" smtClean="0"/>
              <a:t>层中占多数，</a:t>
            </a:r>
            <a:r>
              <a:rPr lang="en-US" altLang="zh-CN" dirty="0" err="1" smtClean="0"/>
              <a:t>dformat</a:t>
            </a:r>
            <a:r>
              <a:rPr lang="zh-CN" altLang="en-US" dirty="0" smtClean="0"/>
              <a:t>层中也不少，统计类策略的数量远多于简单类策略</a:t>
            </a:r>
            <a:endParaRPr lang="en-US" altLang="zh-CN" dirty="0" smtClean="0"/>
          </a:p>
          <a:p>
            <a:endParaRPr lang="en-US" altLang="zh-CN" dirty="0" smtClean="0"/>
          </a:p>
          <a:p>
            <a:r>
              <a:rPr lang="en-US" altLang="zh-CN" dirty="0" err="1" smtClean="0"/>
              <a:t>Dformat</a:t>
            </a:r>
            <a:r>
              <a:rPr lang="zh-CN" altLang="en-US" dirty="0" smtClean="0"/>
              <a:t>层中的统计类策略大多步长比较小，窗口比较容易载入。</a:t>
            </a:r>
            <a:endParaRPr lang="zh-CN" altLang="en-US" dirty="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sz="1200" dirty="0" smtClean="0">
              <a:latin typeface="微软雅黑" panose="020B0503020204020204" pitchFamily="34" charset="-122"/>
              <a:ea typeface="微软雅黑" panose="020B0503020204020204" pitchFamily="34" charset="-122"/>
            </a:endParaRPr>
          </a:p>
          <a:p>
            <a:r>
              <a:rPr lang="zh-CN" altLang="en-US" sz="1200" kern="1200" dirty="0" smtClean="0">
                <a:solidFill>
                  <a:schemeClr val="tx1"/>
                </a:solidFill>
                <a:effectLst/>
                <a:latin typeface="+mn-lt"/>
                <a:ea typeface="+mn-ea"/>
                <a:cs typeface="+mn-cs"/>
              </a:rPr>
              <a:t>讲人话：</a:t>
            </a:r>
            <a:r>
              <a:rPr lang="zh-CN" altLang="zh-CN" sz="1200" kern="1200" dirty="0" smtClean="0">
                <a:solidFill>
                  <a:schemeClr val="tx1"/>
                </a:solidFill>
                <a:effectLst/>
                <a:latin typeface="+mn-lt"/>
                <a:ea typeface="+mn-ea"/>
                <a:cs typeface="+mn-cs"/>
              </a:rPr>
              <a:t>主要是控制对象一段时间或者</a:t>
            </a:r>
            <a:r>
              <a:rPr lang="en-US" altLang="zh-CN" sz="1200" kern="1200" dirty="0" err="1" smtClean="0">
                <a:solidFill>
                  <a:schemeClr val="tx1"/>
                </a:solidFill>
                <a:effectLst/>
                <a:latin typeface="+mn-lt"/>
                <a:ea typeface="+mn-ea"/>
                <a:cs typeface="+mn-cs"/>
              </a:rPr>
              <a:t>pv</a:t>
            </a:r>
            <a:r>
              <a:rPr lang="zh-CN" altLang="zh-CN" sz="1200" kern="1200" dirty="0" smtClean="0">
                <a:solidFill>
                  <a:schemeClr val="tx1"/>
                </a:solidFill>
                <a:effectLst/>
                <a:latin typeface="+mn-lt"/>
                <a:ea typeface="+mn-ea"/>
                <a:cs typeface="+mn-cs"/>
              </a:rPr>
              <a:t>段内出现不超过</a:t>
            </a:r>
            <a:r>
              <a:rPr lang="en-US" altLang="zh-CN" sz="1200" kern="1200" dirty="0" smtClean="0">
                <a:solidFill>
                  <a:schemeClr val="tx1"/>
                </a:solidFill>
                <a:effectLst/>
                <a:latin typeface="+mn-lt"/>
                <a:ea typeface="+mn-ea"/>
                <a:cs typeface="+mn-cs"/>
              </a:rPr>
              <a:t>x</a:t>
            </a:r>
            <a:r>
              <a:rPr lang="zh-CN" altLang="zh-CN" sz="1200" kern="1200" dirty="0" smtClean="0">
                <a:solidFill>
                  <a:schemeClr val="tx1"/>
                </a:solidFill>
                <a:effectLst/>
                <a:latin typeface="+mn-lt"/>
                <a:ea typeface="+mn-ea"/>
                <a:cs typeface="+mn-cs"/>
              </a:rPr>
              <a:t>次，例如解决频繁点击的问题。</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kern="1200" dirty="0" err="1" smtClean="0">
                <a:solidFill>
                  <a:schemeClr val="tx1"/>
                </a:solidFill>
                <a:effectLst/>
                <a:latin typeface="+mn-lt"/>
                <a:ea typeface="+mn-ea"/>
                <a:cs typeface="+mn-cs"/>
              </a:rPr>
              <a:t>Sum_segment</a:t>
            </a:r>
            <a:r>
              <a:rPr lang="zh-CN" altLang="en-US" sz="1200" kern="1200" dirty="0" smtClean="0">
                <a:solidFill>
                  <a:schemeClr val="tx1"/>
                </a:solidFill>
                <a:effectLst/>
                <a:latin typeface="+mn-lt"/>
                <a:ea typeface="+mn-ea"/>
                <a:cs typeface="+mn-cs"/>
              </a:rPr>
              <a:t>感觉较子维度和数目特征或许更好</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en-US" dirty="0" smtClean="0"/>
              <a:t>局限性：难以应对总量波动场景；不适用于数据分布集中的维度，如</a:t>
            </a:r>
            <a:r>
              <a:rPr lang="en-US" altLang="zh-CN" dirty="0" smtClean="0"/>
              <a:t>top</a:t>
            </a:r>
            <a:r>
              <a:rPr lang="zh-CN" altLang="en-US" dirty="0" smtClean="0"/>
              <a:t>计费名，热词等。存在段首漏过和株连误过的问题。</a:t>
            </a:r>
            <a:endParaRPr lang="zh-CN" altLang="en-US" dirty="0" smtClean="0"/>
          </a:p>
          <a:p>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在实现时，使用了一个类似字典的结构来存储段内每一个维度对象或维度对象组合的频次，</a:t>
            </a:r>
            <a:r>
              <a:rPr lang="en-US" altLang="zh-CN" dirty="0" smtClean="0"/>
              <a:t>key</a:t>
            </a:r>
            <a:r>
              <a:rPr lang="zh-CN" altLang="en-US" dirty="0" smtClean="0"/>
              <a:t>为维度对象，</a:t>
            </a:r>
            <a:r>
              <a:rPr lang="en-US" altLang="zh-CN" dirty="0" smtClean="0"/>
              <a:t>value</a:t>
            </a:r>
            <a:r>
              <a:rPr lang="zh-CN" altLang="en-US" dirty="0" smtClean="0"/>
              <a:t>为其频次，这样方便累加。</a:t>
            </a:r>
            <a:endParaRPr lang="en-US" altLang="zh-CN" dirty="0" smtClean="0"/>
          </a:p>
          <a:p>
            <a:endParaRPr lang="en-US" altLang="zh-CN" dirty="0" smtClean="0"/>
          </a:p>
          <a:p>
            <a:r>
              <a:rPr lang="en-US" altLang="zh-CN" dirty="0" err="1" smtClean="0"/>
              <a:t>SearchClick</a:t>
            </a:r>
            <a:r>
              <a:rPr lang="zh-CN" altLang="en-US" dirty="0" smtClean="0"/>
              <a:t>是一种</a:t>
            </a:r>
            <a:r>
              <a:rPr lang="en-US" altLang="zh-CN" dirty="0" err="1" smtClean="0"/>
              <a:t>care_tag</a:t>
            </a:r>
            <a:r>
              <a:rPr lang="zh-CN" altLang="en-US" dirty="0" smtClean="0"/>
              <a:t>，其对应的表达式</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331</a:t>
            </a:r>
            <a:r>
              <a:rPr lang="zh-CN" altLang="en-US" dirty="0" smtClean="0"/>
              <a:t>策略也是一条用于保护广告主的策略，正常的用户不会在短时间内频繁地点击广告，因此点击比较频繁的</a:t>
            </a:r>
            <a:r>
              <a:rPr lang="en-US" altLang="zh-CN" dirty="0" err="1" smtClean="0"/>
              <a:t>ip</a:t>
            </a:r>
            <a:r>
              <a:rPr lang="zh-CN" altLang="en-US" dirty="0" smtClean="0"/>
              <a:t>就有可能是作弊，需要过滤。</a:t>
            </a:r>
            <a:endParaRPr lang="en-US" altLang="zh-CN" dirty="0" smtClean="0"/>
          </a:p>
          <a:p>
            <a:endParaRPr lang="en-US" altLang="zh-CN" dirty="0" smtClean="0"/>
          </a:p>
          <a:p>
            <a:r>
              <a:rPr lang="zh-CN" altLang="en-US" dirty="0" smtClean="0"/>
              <a:t>灰名单一般有两列，第一列是维度对象值，第二列是新的阈值</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实现时的数据结构与数目特征类似</a:t>
            </a:r>
            <a:r>
              <a:rPr lang="en-US" altLang="zh-CN" dirty="0" smtClean="0"/>
              <a:t>(</a:t>
            </a:r>
            <a:r>
              <a:rPr lang="zh-CN" altLang="en-US" dirty="0" smtClean="0"/>
              <a:t>不是一个类</a:t>
            </a:r>
            <a:r>
              <a:rPr lang="en-US" altLang="zh-CN" dirty="0" smtClean="0"/>
              <a:t>)</a:t>
            </a:r>
            <a:r>
              <a:rPr lang="zh-CN" altLang="en-US" dirty="0" smtClean="0"/>
              <a:t>。</a:t>
            </a:r>
            <a:endParaRPr lang="en-US" altLang="zh-CN" dirty="0" smtClean="0"/>
          </a:p>
          <a:p>
            <a:endParaRPr lang="en-US" altLang="zh-CN" dirty="0" smtClean="0"/>
          </a:p>
          <a:p>
            <a:r>
              <a:rPr lang="en-US" altLang="zh-CN" sz="1200" dirty="0" smtClean="0">
                <a:solidFill>
                  <a:srgbClr val="33CC33"/>
                </a:solidFill>
                <a:latin typeface="Times New Roman" panose="02020603050405020304" charset="0"/>
                <a:cs typeface="Times New Roman" panose="02020603050405020304" charset="0"/>
              </a:rPr>
              <a:t>[#</a:t>
            </a:r>
            <a:r>
              <a:rPr lang="en-US" altLang="zh-CN" sz="1200" dirty="0" err="1" smtClean="0">
                <a:solidFill>
                  <a:srgbClr val="33CC33"/>
                </a:solidFill>
                <a:latin typeface="Times New Roman" panose="02020603050405020304" charset="0"/>
                <a:cs typeface="Times New Roman" panose="02020603050405020304" charset="0"/>
              </a:rPr>
              <a:t>AspWiseWebSrc</a:t>
            </a:r>
            <a:r>
              <a:rPr lang="en-US" altLang="zh-CN" sz="1200" dirty="0" smtClean="0">
                <a:solidFill>
                  <a:srgbClr val="33CC33"/>
                </a:solidFill>
                <a:latin typeface="Times New Roman" panose="02020603050405020304" charset="0"/>
                <a:cs typeface="Times New Roman" panose="02020603050405020304" charset="0"/>
              </a:rPr>
              <a:t>]</a:t>
            </a:r>
            <a:r>
              <a:rPr lang="en-US" altLang="zh-CN" sz="1200" baseline="0" dirty="0" smtClean="0">
                <a:solidFill>
                  <a:srgbClr val="33CC33"/>
                </a:solidFill>
                <a:latin typeface="Times New Roman" panose="02020603050405020304" charset="0"/>
                <a:cs typeface="Times New Roman" panose="02020603050405020304" charset="0"/>
              </a:rPr>
              <a:t> </a:t>
            </a:r>
            <a:r>
              <a:rPr lang="en-US" altLang="zh-CN" dirty="0" smtClean="0"/>
              <a:t>= [‘</a:t>
            </a:r>
            <a:r>
              <a:rPr lang="en-US" altLang="zh-CN" dirty="0" err="1" smtClean="0"/>
              <a:t>srcid_list</a:t>
            </a:r>
            <a:r>
              <a:rPr lang="en-US" altLang="zh-CN" dirty="0" smtClean="0"/>
              <a:t>’:=‘111’,‘160’] </a:t>
            </a:r>
            <a:r>
              <a:rPr lang="zh-CN" altLang="en-US" dirty="0" smtClean="0"/>
              <a:t>表示</a:t>
            </a:r>
            <a:r>
              <a:rPr lang="en-US" altLang="zh-CN" dirty="0" smtClean="0"/>
              <a:t>wise</a:t>
            </a:r>
            <a:r>
              <a:rPr lang="zh-CN" altLang="en-US" dirty="0" smtClean="0"/>
              <a:t>凤巢网页， </a:t>
            </a:r>
            <a:r>
              <a:rPr lang="en-US" altLang="zh-CN" dirty="0" smtClean="0"/>
              <a:t>[#</a:t>
            </a:r>
            <a:r>
              <a:rPr lang="en-US" altLang="zh-CN" sz="1200" dirty="0" err="1" smtClean="0">
                <a:solidFill>
                  <a:srgbClr val="33CC33"/>
                </a:solidFill>
                <a:latin typeface="Times New Roman" panose="02020603050405020304" charset="0"/>
                <a:cs typeface="Times New Roman" panose="02020603050405020304" charset="0"/>
              </a:rPr>
              <a:t>ValidBaiduid</a:t>
            </a:r>
            <a:r>
              <a:rPr lang="en-US" altLang="zh-CN" dirty="0" smtClean="0"/>
              <a:t>] = [‘</a:t>
            </a:r>
            <a:r>
              <a:rPr lang="en-US" altLang="zh-CN" dirty="0" err="1" smtClean="0"/>
              <a:t>bd</a:t>
            </a:r>
            <a:r>
              <a:rPr lang="en-US" altLang="zh-CN" dirty="0" smtClean="0"/>
              <a:t>’!=‘-NULL-’] </a:t>
            </a:r>
            <a:r>
              <a:rPr lang="zh-CN" altLang="en-US" dirty="0" smtClean="0"/>
              <a:t>表示</a:t>
            </a:r>
            <a:r>
              <a:rPr lang="en-US" altLang="zh-CN" dirty="0" err="1" smtClean="0"/>
              <a:t>baiduid</a:t>
            </a:r>
            <a:r>
              <a:rPr lang="zh-CN" altLang="en-US" dirty="0" smtClean="0"/>
              <a:t>不为空，</a:t>
            </a:r>
            <a:r>
              <a:rPr lang="en-US" altLang="zh-CN" dirty="0" err="1" smtClean="0"/>
              <a:t>wbwsid</a:t>
            </a:r>
            <a:r>
              <a:rPr lang="zh-CN" altLang="en-US" dirty="0" smtClean="0"/>
              <a:t>表示浏览器</a:t>
            </a:r>
            <a:r>
              <a:rPr lang="en-US" altLang="zh-CN" dirty="0" smtClean="0"/>
              <a:t>id</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可以看到</a:t>
            </a:r>
            <a:r>
              <a:rPr lang="en-US" altLang="zh-CN" dirty="0" smtClean="0"/>
              <a:t>60412</a:t>
            </a:r>
            <a:r>
              <a:rPr lang="zh-CN" altLang="en-US" dirty="0" smtClean="0"/>
              <a:t>策略其实是一个</a:t>
            </a:r>
            <a:r>
              <a:rPr lang="zh-CN" altLang="en-US" b="1" dirty="0" smtClean="0">
                <a:solidFill>
                  <a:srgbClr val="FF0000"/>
                </a:solidFill>
              </a:rPr>
              <a:t>多特征策略</a:t>
            </a:r>
            <a:r>
              <a:rPr lang="zh-CN" altLang="en-US" dirty="0" smtClean="0"/>
              <a:t>，但处于篇幅限制，这里就不再赘述集中度策略的相关内容，多特征策略的过滤一般是需要满足与的关系</a:t>
            </a:r>
            <a:r>
              <a:rPr lang="en-US" altLang="zh-CN" dirty="0" smtClean="0"/>
              <a:t>(</a:t>
            </a:r>
            <a:r>
              <a:rPr lang="zh-CN" altLang="en-US" dirty="0" smtClean="0"/>
              <a:t>也就是所有特征都命中</a:t>
            </a:r>
            <a:r>
              <a:rPr lang="en-US" altLang="zh-CN" dirty="0" smtClean="0"/>
              <a:t>)</a:t>
            </a:r>
            <a:r>
              <a:rPr lang="zh-CN" altLang="en-US" dirty="0" smtClean="0"/>
              <a:t>。</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t>
            </a:r>
            <a:r>
              <a:rPr lang="en-US" altLang="zh-CN" dirty="0" err="1" smtClean="0"/>
              <a:t>FcLU</a:t>
            </a:r>
            <a:r>
              <a:rPr lang="en-US" altLang="zh-CN" dirty="0" smtClean="0"/>
              <a:t>]</a:t>
            </a:r>
            <a:r>
              <a:rPr lang="zh-CN" altLang="en-US" dirty="0" smtClean="0"/>
              <a:t>表示凤巢流量</a:t>
            </a:r>
            <a:endParaRPr lang="en-US" altLang="zh-CN" dirty="0" smtClean="0"/>
          </a:p>
          <a:p>
            <a:r>
              <a:rPr lang="en-US" altLang="zh-CN" dirty="0" smtClean="0"/>
              <a:t>[#Wise]</a:t>
            </a:r>
            <a:r>
              <a:rPr lang="zh-CN" altLang="en-US" dirty="0" smtClean="0"/>
              <a:t>无线端</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7101</a:t>
            </a:r>
            <a:r>
              <a:rPr lang="zh-CN" altLang="en-US" dirty="0" smtClean="0"/>
              <a:t>策略是多特征策略，策略类型是</a:t>
            </a:r>
            <a:r>
              <a:rPr lang="en-US" altLang="zh-CN" dirty="0" err="1" smtClean="0"/>
              <a:t>acp</a:t>
            </a:r>
            <a:r>
              <a:rPr lang="zh-CN" altLang="en-US" dirty="0" smtClean="0"/>
              <a:t>，意思是使用</a:t>
            </a:r>
            <a:r>
              <a:rPr lang="en-US" altLang="zh-CN" dirty="0" err="1" smtClean="0"/>
              <a:t>sum_segment</a:t>
            </a:r>
            <a:r>
              <a:rPr lang="en-US" altLang="zh-CN" dirty="0" smtClean="0"/>
              <a:t>/segment</a:t>
            </a:r>
            <a:r>
              <a:rPr lang="zh-CN" altLang="en-US" dirty="0" smtClean="0"/>
              <a:t>，计算每个主维度对象下，子维度对象值的平均值。</a:t>
            </a:r>
            <a:endParaRPr lang="en-US" altLang="zh-CN" dirty="0" smtClean="0"/>
          </a:p>
          <a:p>
            <a:endParaRPr lang="en-US" altLang="zh-CN" dirty="0" smtClean="0"/>
          </a:p>
          <a:p>
            <a:r>
              <a:rPr lang="zh-CN" altLang="en-US" dirty="0" smtClean="0"/>
              <a:t>这个策略主要是避免作弊这故意刷高付费的广告，影响广告主的收益。</a:t>
            </a:r>
            <a:endParaRPr lang="en-US" altLang="zh-CN" dirty="0" smtClean="0"/>
          </a:p>
          <a:p>
            <a:endParaRPr lang="en-US" altLang="zh-CN" dirty="0" smtClean="0"/>
          </a:p>
          <a:p>
            <a:r>
              <a:rPr lang="en-US" altLang="zh-CN" dirty="0" smtClean="0"/>
              <a:t>31101</a:t>
            </a:r>
            <a:r>
              <a:rPr lang="zh-CN" altLang="en-US" dirty="0" smtClean="0"/>
              <a:t>是数目特征，与</a:t>
            </a:r>
            <a:r>
              <a:rPr lang="en-US" altLang="zh-CN" dirty="0" smtClean="0"/>
              <a:t>31001</a:t>
            </a:r>
            <a:r>
              <a:rPr lang="zh-CN" altLang="en-US" dirty="0" smtClean="0"/>
              <a:t>的处理空间相同，计算的是一天之内，单个</a:t>
            </a:r>
            <a:r>
              <a:rPr lang="en-US" altLang="zh-CN" dirty="0" err="1" smtClean="0"/>
              <a:t>baiduid</a:t>
            </a:r>
            <a:r>
              <a:rPr lang="zh-CN" altLang="en-US" dirty="0" smtClean="0"/>
              <a:t>出现的频数。</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日志乱序的问题指的是由于日志的记录相较于检索请求的时间存在延迟，且延迟的时间不可控，因此日志排列存在乱序，当前时间段的日志可能位于下一个时间段的日志中。</a:t>
            </a:r>
            <a:endParaRPr lang="en-US" altLang="zh-CN" dirty="0" smtClean="0"/>
          </a:p>
          <a:p>
            <a:endParaRPr lang="en-US" altLang="zh-CN" dirty="0" smtClean="0"/>
          </a:p>
          <a:p>
            <a:r>
              <a:rPr lang="zh-CN" altLang="en-US" dirty="0" smtClean="0"/>
              <a:t>一般来说，这种延迟不会太久，因此按照日志顺序来设置时间段的问题不大。但是但我们需要精确的数据时，就需要对这些乱序的日志进行重排。</a:t>
            </a:r>
            <a:endParaRPr lang="en-US" altLang="zh-CN" dirty="0" smtClean="0"/>
          </a:p>
          <a:p>
            <a:endParaRPr lang="en-US" altLang="zh-CN" dirty="0" smtClean="0"/>
          </a:p>
          <a:p>
            <a:r>
              <a:rPr lang="zh-CN" altLang="en-US" dirty="0" smtClean="0"/>
              <a:t>窗口比较大的话段首漏过和株连误过的情况都会比较严重。</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altLang="zh-CN" sz="1200" dirty="0" smtClean="0">
                <a:solidFill>
                  <a:srgbClr val="33CC33"/>
                </a:solidFill>
                <a:latin typeface="Times New Roman" panose="02020603050405020304" charset="0"/>
                <a:cs typeface="Times New Roman" panose="02020603050405020304" charset="0"/>
              </a:rPr>
              <a:t>[#</a:t>
            </a:r>
            <a:r>
              <a:rPr lang="en-US" altLang="zh-CN" sz="1200" dirty="0" err="1" smtClean="0">
                <a:solidFill>
                  <a:srgbClr val="33CC33"/>
                </a:solidFill>
                <a:latin typeface="Times New Roman" panose="02020603050405020304" charset="0"/>
                <a:cs typeface="Times New Roman" panose="02020603050405020304" charset="0"/>
              </a:rPr>
              <a:t>AspPCGroupNoHuiliu</a:t>
            </a:r>
            <a:r>
              <a:rPr lang="en-US" altLang="zh-CN" sz="1200" dirty="0" smtClean="0">
                <a:solidFill>
                  <a:srgbClr val="33CC33"/>
                </a:solidFill>
                <a:latin typeface="Times New Roman" panose="02020603050405020304" charset="0"/>
                <a:cs typeface="Times New Roman" panose="02020603050405020304" charset="0"/>
              </a:rPr>
              <a:t>] pc</a:t>
            </a:r>
            <a:r>
              <a:rPr lang="zh-CN" altLang="en-US" sz="1200" dirty="0" smtClean="0">
                <a:solidFill>
                  <a:srgbClr val="33CC33"/>
                </a:solidFill>
                <a:latin typeface="Times New Roman" panose="02020603050405020304" charset="0"/>
                <a:cs typeface="Times New Roman" panose="02020603050405020304" charset="0"/>
              </a:rPr>
              <a:t>端检索日志，去除回流的流量</a:t>
            </a:r>
            <a:r>
              <a:rPr lang="en-US" altLang="zh-CN" sz="1200" dirty="0" smtClean="0">
                <a:solidFill>
                  <a:srgbClr val="33CC33"/>
                </a:solidFill>
                <a:latin typeface="Times New Roman" panose="02020603050405020304" charset="0"/>
                <a:cs typeface="Times New Roman" panose="02020603050405020304" charset="0"/>
              </a:rPr>
              <a:t>(</a:t>
            </a:r>
            <a:r>
              <a:rPr lang="zh-CN" altLang="en-US" sz="1200" dirty="0" smtClean="0">
                <a:solidFill>
                  <a:srgbClr val="33CC33"/>
                </a:solidFill>
                <a:latin typeface="Times New Roman" panose="02020603050405020304" charset="0"/>
                <a:cs typeface="Times New Roman" panose="02020603050405020304" charset="0"/>
              </a:rPr>
              <a:t>在第三方网页展现一个广告位，点击之后进行搜索结果页</a:t>
            </a:r>
            <a:r>
              <a:rPr lang="zh-CN" altLang="en-US" sz="1200" b="0" i="0" kern="1200" dirty="0" smtClean="0">
                <a:solidFill>
                  <a:schemeClr val="tx1"/>
                </a:solidFill>
                <a:effectLst/>
                <a:latin typeface="+mn-lt"/>
                <a:ea typeface="+mn-ea"/>
                <a:cs typeface="+mn-cs"/>
              </a:rPr>
              <a:t>，为大搜索增加流量</a:t>
            </a:r>
            <a:r>
              <a:rPr lang="en-US" altLang="zh-CN" sz="1200" dirty="0" smtClean="0">
                <a:solidFill>
                  <a:srgbClr val="33CC33"/>
                </a:solidFill>
                <a:latin typeface="Times New Roman" panose="02020603050405020304" charset="0"/>
                <a:cs typeface="Times New Roman" panose="02020603050405020304" charset="0"/>
              </a:rPr>
              <a:t>)</a:t>
            </a:r>
            <a:endParaRPr lang="en-US" altLang="zh-CN" sz="1200" dirty="0" smtClean="0">
              <a:solidFill>
                <a:srgbClr val="33CC33"/>
              </a:solidFill>
              <a:latin typeface="Times New Roman" panose="02020603050405020304" charset="0"/>
              <a:cs typeface="Times New Roman" panose="02020603050405020304" charset="0"/>
            </a:endParaRPr>
          </a:p>
          <a:p>
            <a:pPr marL="0" marR="0" lvl="0" indent="0" algn="l" defTabSz="457200" rtl="0" eaLnBrk="1" fontAlgn="auto" latinLnBrk="0" hangingPunct="1">
              <a:lnSpc>
                <a:spcPct val="100000"/>
              </a:lnSpc>
              <a:spcBef>
                <a:spcPts val="0"/>
              </a:spcBef>
              <a:spcAft>
                <a:spcPts val="0"/>
              </a:spcAft>
              <a:buClrTx/>
              <a:buSzTx/>
              <a:buFontTx/>
              <a:buNone/>
              <a:defRPr/>
            </a:pPr>
            <a:r>
              <a:rPr lang="en-US" altLang="zh-CN" sz="1200" dirty="0" smtClean="0">
                <a:solidFill>
                  <a:srgbClr val="33CC33"/>
                </a:solidFill>
                <a:latin typeface="Times New Roman" panose="02020603050405020304" charset="0"/>
                <a:cs typeface="Times New Roman" panose="02020603050405020304" charset="0"/>
              </a:rPr>
              <a:t>['</a:t>
            </a:r>
            <a:r>
              <a:rPr lang="en-US" altLang="zh-CN" sz="1200" dirty="0" err="1" smtClean="0">
                <a:solidFill>
                  <a:srgbClr val="33CC33"/>
                </a:solidFill>
                <a:latin typeface="Times New Roman" panose="02020603050405020304" charset="0"/>
                <a:cs typeface="Times New Roman" panose="02020603050405020304" charset="0"/>
              </a:rPr>
              <a:t>flow_group</a:t>
            </a:r>
            <a:r>
              <a:rPr lang="en-US" altLang="zh-CN" sz="1200" dirty="0" smtClean="0">
                <a:solidFill>
                  <a:srgbClr val="33CC33"/>
                </a:solidFill>
                <a:latin typeface="Times New Roman" panose="02020603050405020304" charset="0"/>
                <a:cs typeface="Times New Roman" panose="02020603050405020304" charset="0"/>
              </a:rPr>
              <a:t>'!='</a:t>
            </a:r>
            <a:r>
              <a:rPr lang="en-US" altLang="zh-CN" sz="1200" dirty="0" err="1" smtClean="0">
                <a:solidFill>
                  <a:srgbClr val="33CC33"/>
                </a:solidFill>
                <a:latin typeface="Times New Roman" panose="02020603050405020304" charset="0"/>
                <a:cs typeface="Times New Roman" panose="02020603050405020304" charset="0"/>
              </a:rPr>
              <a:t>organic_noads</a:t>
            </a:r>
            <a:r>
              <a:rPr lang="en-US" altLang="zh-CN" sz="1200" dirty="0" smtClean="0">
                <a:solidFill>
                  <a:srgbClr val="33CC33"/>
                </a:solidFill>
                <a:latin typeface="Times New Roman" panose="02020603050405020304" charset="0"/>
                <a:cs typeface="Times New Roman" panose="02020603050405020304" charset="0"/>
              </a:rPr>
              <a:t>'] </a:t>
            </a:r>
            <a:endParaRPr lang="en-US" altLang="zh-CN" sz="1200" dirty="0" smtClean="0">
              <a:solidFill>
                <a:srgbClr val="33CC33"/>
              </a:solidFill>
              <a:latin typeface="Times New Roman" panose="02020603050405020304" charset="0"/>
              <a:cs typeface="Times New Roman" panose="02020603050405020304" charset="0"/>
            </a:endParaRPr>
          </a:p>
          <a:p>
            <a:pPr marL="0" marR="0" lvl="0" indent="0" algn="l" defTabSz="457200" rtl="0" eaLnBrk="1" fontAlgn="auto" latinLnBrk="0" hangingPunct="1">
              <a:lnSpc>
                <a:spcPct val="100000"/>
              </a:lnSpc>
              <a:spcBef>
                <a:spcPts val="0"/>
              </a:spcBef>
              <a:spcAft>
                <a:spcPts val="0"/>
              </a:spcAft>
              <a:buClrTx/>
              <a:buSzTx/>
              <a:buFontTx/>
              <a:buNone/>
              <a:defRPr/>
            </a:pPr>
            <a:r>
              <a:rPr lang="en-US" altLang="zh-CN" sz="1200" dirty="0" smtClean="0">
                <a:solidFill>
                  <a:srgbClr val="33CC33"/>
                </a:solidFill>
                <a:latin typeface="Times New Roman" panose="02020603050405020304" charset="0"/>
                <a:cs typeface="Times New Roman" panose="02020603050405020304" charset="0"/>
              </a:rPr>
              <a:t>[#</a:t>
            </a:r>
            <a:r>
              <a:rPr lang="en-US" altLang="zh-CN" sz="1200" dirty="0" err="1" smtClean="0">
                <a:solidFill>
                  <a:srgbClr val="33CC33"/>
                </a:solidFill>
                <a:latin typeface="Times New Roman" panose="02020603050405020304" charset="0"/>
                <a:cs typeface="Times New Roman" panose="02020603050405020304" charset="0"/>
              </a:rPr>
              <a:t>NullBaiduid</a:t>
            </a:r>
            <a:r>
              <a:rPr lang="en-US" altLang="zh-CN" sz="1200" baseline="0" dirty="0" smtClean="0">
                <a:solidFill>
                  <a:srgbClr val="33CC33"/>
                </a:solidFill>
                <a:latin typeface="Times New Roman" panose="02020603050405020304" charset="0"/>
                <a:cs typeface="Times New Roman" panose="02020603050405020304" charset="0"/>
              </a:rPr>
              <a:t>] </a:t>
            </a:r>
            <a:r>
              <a:rPr lang="en-US" altLang="zh-CN" sz="1200" baseline="0" dirty="0" err="1" smtClean="0">
                <a:solidFill>
                  <a:srgbClr val="33CC33"/>
                </a:solidFill>
                <a:latin typeface="Times New Roman" panose="02020603050405020304" charset="0"/>
                <a:cs typeface="Times New Roman" panose="02020603050405020304" charset="0"/>
              </a:rPr>
              <a:t>baiduid</a:t>
            </a:r>
            <a:r>
              <a:rPr lang="zh-CN" altLang="en-US" sz="1200" baseline="0" dirty="0" smtClean="0">
                <a:solidFill>
                  <a:srgbClr val="33CC33"/>
                </a:solidFill>
                <a:latin typeface="Times New Roman" panose="02020603050405020304" charset="0"/>
                <a:cs typeface="Times New Roman" panose="02020603050405020304" charset="0"/>
              </a:rPr>
              <a:t>为空的日志</a:t>
            </a:r>
            <a:endParaRPr lang="en-US" altLang="zh-CN" sz="1200" dirty="0" smtClean="0">
              <a:solidFill>
                <a:srgbClr val="33CC33"/>
              </a:solidFill>
              <a:latin typeface="Times New Roman" panose="02020603050405020304" charset="0"/>
              <a:cs typeface="Times New Roman" panose="02020603050405020304"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dirty="0" smtClean="0"/>
          </a:p>
          <a:p>
            <a:pPr marL="0" marR="0" lvl="0" indent="0" algn="l" defTabSz="457200" rtl="0" eaLnBrk="1" fontAlgn="auto" latinLnBrk="0" hangingPunct="1">
              <a:lnSpc>
                <a:spcPct val="100000"/>
              </a:lnSpc>
              <a:spcBef>
                <a:spcPts val="0"/>
              </a:spcBef>
              <a:spcAft>
                <a:spcPts val="0"/>
              </a:spcAft>
              <a:buClrTx/>
              <a:buSzTx/>
              <a:buFontTx/>
              <a:buNone/>
              <a:defRPr/>
            </a:pPr>
            <a:r>
              <a:rPr lang="zh-CN" altLang="en-US" dirty="0" smtClean="0"/>
              <a:t>为什么说多段上限策略其实是跳段，我们需要从脚本中研究这一策略的计算逻辑。以正文</a:t>
            </a:r>
            <a:r>
              <a:rPr lang="en-US" altLang="zh-CN" dirty="0" err="1" smtClean="0"/>
              <a:t>ppt</a:t>
            </a:r>
            <a:r>
              <a:rPr lang="zh-CN" altLang="en-US" dirty="0" smtClean="0"/>
              <a:t>中的配置文件为例，我们仅仅需要统计</a:t>
            </a:r>
            <a:r>
              <a:rPr lang="en-US" altLang="zh-CN" dirty="0" smtClean="0"/>
              <a:t>1</a:t>
            </a:r>
            <a:r>
              <a:rPr lang="zh-CN" altLang="en-US" dirty="0" smtClean="0"/>
              <a:t>秒内的</a:t>
            </a:r>
            <a:r>
              <a:rPr lang="en-US" altLang="zh-CN" dirty="0" err="1" smtClean="0"/>
              <a:t>ip</a:t>
            </a:r>
            <a:r>
              <a:rPr lang="zh-CN" altLang="en-US" dirty="0" smtClean="0"/>
              <a:t>频数，而程序在进行特征累积的时候会保存</a:t>
            </a:r>
            <a:r>
              <a:rPr lang="en-US" altLang="zh-CN" dirty="0" smtClean="0"/>
              <a:t>1800</a:t>
            </a:r>
            <a:r>
              <a:rPr lang="zh-CN" altLang="en-US" dirty="0" smtClean="0"/>
              <a:t>秒长度的段，其中有</a:t>
            </a:r>
            <a:r>
              <a:rPr lang="en-US" altLang="zh-CN" dirty="0" smtClean="0"/>
              <a:t>1800</a:t>
            </a:r>
            <a:r>
              <a:rPr lang="zh-CN" altLang="en-US" dirty="0" smtClean="0"/>
              <a:t>个步，程序在遇到一个延迟的记录</a:t>
            </a:r>
            <a:r>
              <a:rPr lang="en-US" altLang="zh-CN" dirty="0" smtClean="0"/>
              <a:t>(</a:t>
            </a:r>
            <a:r>
              <a:rPr lang="en-US" altLang="zh-CN" dirty="0" err="1" smtClean="0"/>
              <a:t>FeatureValueProto</a:t>
            </a:r>
            <a:r>
              <a:rPr lang="zh-CN" altLang="en-US" dirty="0" smtClean="0"/>
              <a:t>类型</a:t>
            </a:r>
            <a:r>
              <a:rPr lang="en-US" altLang="zh-CN" dirty="0" smtClean="0"/>
              <a:t>)</a:t>
            </a:r>
            <a:r>
              <a:rPr lang="zh-CN" altLang="en-US" dirty="0" smtClean="0"/>
              <a:t>后，会根据记录中的精确时间将这条日志划到其本应属于的时间步中，并加到这一步的统计量中，程序在最后返回的其实只是每一步的累积量而非段的累积量。</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自动黑名单段上限的创新之处在于考虑到了历史信息。</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这里我会介绍以下自动黑名单段上限策略的实现，公式有点多，大家可以随时提问。</a:t>
            </a:r>
            <a:endParaRPr lang="en-US" altLang="zh-CN" dirty="0" smtClean="0"/>
          </a:p>
          <a:p>
            <a:endParaRPr lang="en-US" altLang="zh-CN" dirty="0" smtClean="0"/>
          </a:p>
          <a:p>
            <a:r>
              <a:rPr lang="zh-CN" altLang="en-US" dirty="0" smtClean="0"/>
              <a:t>这里假设是对一个确定维度对象的计算，但具体是哪个维度对象则不需要</a:t>
            </a:r>
            <a:r>
              <a:rPr lang="en-US" altLang="zh-CN" dirty="0" smtClean="0"/>
              <a:t>care</a:t>
            </a:r>
            <a:r>
              <a:rPr lang="zh-CN" altLang="en-US" dirty="0" smtClean="0"/>
              <a:t>。</a:t>
            </a:r>
            <a:endParaRPr lang="en-US" altLang="zh-CN" dirty="0" smtClean="0"/>
          </a:p>
          <a:p>
            <a:endParaRPr lang="en-US" altLang="zh-CN" dirty="0" smtClean="0"/>
          </a:p>
          <a:p>
            <a:r>
              <a:rPr lang="zh-CN" altLang="en-US" dirty="0" smtClean="0"/>
              <a:t>通过这种方式，如果某个维度对象在某一段频数很高</a:t>
            </a:r>
            <a:r>
              <a:rPr lang="en-US" altLang="zh-CN" dirty="0" smtClean="0"/>
              <a:t>(</a:t>
            </a:r>
            <a:r>
              <a:rPr lang="zh-CN" altLang="en-US" dirty="0" smtClean="0"/>
              <a:t>超出阈值，作弊现象发生</a:t>
            </a:r>
            <a:r>
              <a:rPr lang="en-US" altLang="zh-CN" dirty="0" smtClean="0"/>
              <a:t>)</a:t>
            </a:r>
            <a:r>
              <a:rPr lang="zh-CN" altLang="en-US" dirty="0" smtClean="0"/>
              <a:t>，那么这一段的特征值就会对后面段的特征值产生持续影响，有很大可能后面的很多段即使本身的累积量并未超出阈值，但统计量却超出阈值导致被过滤，直到影响随着段的移动减少。这种现象就像是被投进了黑名单一样，不过是自动产生的黑名单。</a:t>
            </a:r>
            <a:endParaRPr lang="en-US" altLang="zh-CN" dirty="0" smtClean="0"/>
          </a:p>
          <a:p>
            <a:endParaRPr lang="en-US" altLang="zh-CN" dirty="0" smtClean="0"/>
          </a:p>
          <a:p>
            <a:r>
              <a:rPr lang="zh-CN" altLang="en-US" dirty="0" smtClean="0"/>
              <a:t>统计量的计算如果使用上面的公式，需要缓存大量段的信息，内存开销较大。考虑到公式的递推性质，可以将其转化成下面的公式，这样就只需要保存当前段的累积量和上一段的统计量就可以了。</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有些情况下，可能当前段的前一段没有累积量，但这并不影响计算，只需要用离当前段最近的有值历史段的统计量计算前一段的统计量即可。</a:t>
            </a:r>
            <a:endParaRPr lang="en-US" altLang="zh-CN" dirty="0" smtClean="0"/>
          </a:p>
          <a:p>
            <a:endParaRPr lang="en-US" altLang="zh-CN" dirty="0" smtClean="0"/>
          </a:p>
          <a:p>
            <a:r>
              <a:rPr lang="zh-CN" altLang="en-US" dirty="0" smtClean="0"/>
              <a:t>知道这些信息后其实就知道特征值是怎么计算的了：</a:t>
            </a:r>
            <a:endParaRPr lang="en-US" altLang="zh-CN" dirty="0" smtClean="0"/>
          </a:p>
          <a:p>
            <a:pPr marL="171450" indent="-171450">
              <a:buFontTx/>
              <a:buChar char="-"/>
            </a:pPr>
            <a:r>
              <a:rPr lang="zh-CN" altLang="en-US" dirty="0" smtClean="0"/>
              <a:t>如果下一条日志在当前段中，直接对累积量累加即可</a:t>
            </a:r>
            <a:endParaRPr lang="en-US" altLang="zh-CN" dirty="0" smtClean="0"/>
          </a:p>
          <a:p>
            <a:pPr marL="171450" indent="-171450">
              <a:buFontTx/>
              <a:buChar char="-"/>
            </a:pPr>
            <a:r>
              <a:rPr lang="zh-CN" altLang="en-US" dirty="0" smtClean="0"/>
              <a:t>如果下一条日志在当前段的后面并且所处的段与当前段间距不超过</a:t>
            </a:r>
            <a:r>
              <a:rPr lang="en-US" altLang="zh-CN" dirty="0" smtClean="0"/>
              <a:t>N</a:t>
            </a:r>
            <a:r>
              <a:rPr lang="zh-CN" altLang="en-US" dirty="0" smtClean="0"/>
              <a:t>，则根据当前段的信息计算日志所在段并作为该段的前一段统计量，然后开始对该段的累积量计数</a:t>
            </a:r>
            <a:endParaRPr lang="en-US" altLang="zh-CN" dirty="0" smtClean="0"/>
          </a:p>
          <a:p>
            <a:pPr marL="171450" indent="-171450">
              <a:buFontTx/>
              <a:buChar char="-"/>
            </a:pPr>
            <a:r>
              <a:rPr lang="zh-CN" altLang="en-US" dirty="0" smtClean="0"/>
              <a:t>如果下一条日志所在段与当前段间距超过</a:t>
            </a:r>
            <a:r>
              <a:rPr lang="en-US" altLang="zh-CN" dirty="0" smtClean="0"/>
              <a:t>N</a:t>
            </a:r>
            <a:r>
              <a:rPr lang="zh-CN" altLang="en-US" dirty="0" smtClean="0"/>
              <a:t>，则将该段的历史影响量置</a:t>
            </a:r>
            <a:r>
              <a:rPr lang="en-US" altLang="zh-CN" dirty="0" smtClean="0"/>
              <a:t>0</a:t>
            </a:r>
            <a:r>
              <a:rPr lang="zh-CN" altLang="en-US" dirty="0" smtClean="0"/>
              <a:t>，并开始对该段的累积量计数</a:t>
            </a:r>
            <a:endParaRPr lang="en-US" altLang="zh-CN" dirty="0" smtClean="0"/>
          </a:p>
          <a:p>
            <a:pPr marL="171450" indent="-171450">
              <a:buFontTx/>
              <a:buChar char="-"/>
            </a:pPr>
            <a:endParaRPr lang="en-US" altLang="zh-CN" dirty="0" smtClean="0"/>
          </a:p>
          <a:p>
            <a:pPr marL="0" indent="0">
              <a:buFontTx/>
              <a:buNone/>
            </a:pPr>
            <a:r>
              <a:rPr lang="zh-CN" altLang="en-US" dirty="0" smtClean="0"/>
              <a:t>一些问题：</a:t>
            </a:r>
            <a:endParaRPr lang="en-US" altLang="zh-CN" dirty="0" smtClean="0"/>
          </a:p>
          <a:p>
            <a:pPr marL="0" indent="0">
              <a:buFontTx/>
              <a:buNone/>
            </a:pPr>
            <a:r>
              <a:rPr lang="zh-CN" altLang="en-US" dirty="0" smtClean="0"/>
              <a:t>这种迂回的方法似乎忽略了之前段累积量过小导致的影响量小？</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1200" dirty="0" smtClean="0">
              <a:solidFill>
                <a:srgbClr val="33CC33"/>
              </a:solidFill>
              <a:latin typeface="Times New Roman" panose="02020603050405020304" charset="0"/>
              <a:cs typeface="Times New Roman" panose="02020603050405020304" charset="0"/>
            </a:endParaRP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比如说某一个计费名下一天的扣费金额高不一定是因为作弊，也有可能是因为正常点击的次数多。可以应用于数据分布比较集中的维度。</a:t>
            </a:r>
            <a:endParaRPr lang="en-US" altLang="zh-CN" dirty="0" smtClean="0"/>
          </a:p>
          <a:p>
            <a:endParaRPr lang="en-US" altLang="zh-CN" dirty="0" smtClean="0"/>
          </a:p>
          <a:p>
            <a:r>
              <a:rPr lang="zh-CN" altLang="en-US" dirty="0" smtClean="0"/>
              <a:t>段首漏过、株连误过</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1200" dirty="0" smtClean="0">
                <a:solidFill>
                  <a:srgbClr val="33CC33"/>
                </a:solidFill>
                <a:latin typeface="Times New Roman" panose="02020603050405020304" charset="0"/>
                <a:cs typeface="Times New Roman" panose="02020603050405020304" charset="0"/>
              </a:rPr>
              <a:t>篇幅有限，</a:t>
            </a:r>
            <a:r>
              <a:rPr lang="en-US" altLang="zh-CN" sz="1200" dirty="0" smtClean="0">
                <a:solidFill>
                  <a:srgbClr val="33CC33"/>
                </a:solidFill>
                <a:latin typeface="Times New Roman" panose="02020603050405020304" charset="0"/>
                <a:cs typeface="Times New Roman" panose="02020603050405020304" charset="0"/>
              </a:rPr>
              <a:t>remain</a:t>
            </a:r>
            <a:r>
              <a:rPr lang="zh-CN" altLang="en-US" sz="1200" dirty="0" smtClean="0">
                <a:solidFill>
                  <a:srgbClr val="33CC33"/>
                </a:solidFill>
                <a:latin typeface="Times New Roman" panose="02020603050405020304" charset="0"/>
                <a:cs typeface="Times New Roman" panose="02020603050405020304" charset="0"/>
              </a:rPr>
              <a:t>和</a:t>
            </a:r>
            <a:r>
              <a:rPr lang="en-US" altLang="zh-CN" sz="1200" dirty="0" err="1" smtClean="0">
                <a:solidFill>
                  <a:srgbClr val="33CC33"/>
                </a:solidFill>
                <a:latin typeface="Times New Roman" panose="02020603050405020304" charset="0"/>
                <a:cs typeface="Times New Roman" panose="02020603050405020304" charset="0"/>
              </a:rPr>
              <a:t>simple_ratio</a:t>
            </a:r>
            <a:r>
              <a:rPr lang="zh-CN" altLang="en-US" sz="1200" dirty="0" smtClean="0">
                <a:solidFill>
                  <a:srgbClr val="33CC33"/>
                </a:solidFill>
                <a:latin typeface="Times New Roman" panose="02020603050405020304" charset="0"/>
                <a:cs typeface="Times New Roman" panose="02020603050405020304" charset="0"/>
              </a:rPr>
              <a:t>的含义将在这里介绍：</a:t>
            </a:r>
            <a:endParaRPr lang="en-US" altLang="zh-CN" sz="1200" dirty="0" smtClean="0">
              <a:solidFill>
                <a:srgbClr val="33CC33"/>
              </a:solidFill>
              <a:latin typeface="Times New Roman" panose="02020603050405020304" charset="0"/>
              <a:cs typeface="Times New Roman" panose="02020603050405020304" charset="0"/>
            </a:endParaRPr>
          </a:p>
          <a:p>
            <a:pPr marL="0" marR="0" lvl="0" indent="0" algn="l" defTabSz="457200" rtl="0" eaLnBrk="1" fontAlgn="auto" latinLnBrk="0" hangingPunct="1">
              <a:lnSpc>
                <a:spcPct val="100000"/>
              </a:lnSpc>
              <a:spcBef>
                <a:spcPts val="0"/>
              </a:spcBef>
              <a:spcAft>
                <a:spcPts val="0"/>
              </a:spcAft>
              <a:buClrTx/>
              <a:buSzTx/>
              <a:buFontTx/>
              <a:buNone/>
              <a:defRPr/>
            </a:pPr>
            <a:r>
              <a:rPr lang="en-US" altLang="zh-CN" sz="1200" dirty="0" smtClean="0">
                <a:solidFill>
                  <a:srgbClr val="33CC33"/>
                </a:solidFill>
                <a:latin typeface="Times New Roman" panose="02020603050405020304" charset="0"/>
                <a:cs typeface="Times New Roman" panose="02020603050405020304" charset="0"/>
              </a:rPr>
              <a:t>remain: </a:t>
            </a:r>
            <a:r>
              <a:rPr lang="zh-CN" altLang="en-US" sz="1200" dirty="0" smtClean="0">
                <a:solidFill>
                  <a:srgbClr val="33CC33"/>
                </a:solidFill>
                <a:latin typeface="Times New Roman" panose="02020603050405020304" charset="0"/>
                <a:cs typeface="Times New Roman" panose="02020603050405020304" charset="0"/>
              </a:rPr>
              <a:t>当维度对象在参考空间或过滤空间的累积量超出</a:t>
            </a:r>
            <a:r>
              <a:rPr lang="en-US" altLang="zh-CN" sz="1200" dirty="0" smtClean="0">
                <a:solidFill>
                  <a:srgbClr val="33CC33"/>
                </a:solidFill>
                <a:latin typeface="Times New Roman" panose="02020603050405020304" charset="0"/>
                <a:cs typeface="Times New Roman" panose="02020603050405020304" charset="0"/>
              </a:rPr>
              <a:t>remain</a:t>
            </a:r>
            <a:r>
              <a:rPr lang="zh-CN" altLang="en-US" sz="1200" dirty="0" smtClean="0">
                <a:solidFill>
                  <a:srgbClr val="33CC33"/>
                </a:solidFill>
                <a:latin typeface="Times New Roman" panose="02020603050405020304" charset="0"/>
                <a:cs typeface="Times New Roman" panose="02020603050405020304" charset="0"/>
              </a:rPr>
              <a:t>值后才开始过滤，在此之前即使比例达到阈值也不会过滤。</a:t>
            </a:r>
            <a:endParaRPr lang="en-US" altLang="zh-CN" sz="1200" dirty="0" smtClean="0">
              <a:solidFill>
                <a:srgbClr val="33CC33"/>
              </a:solidFill>
              <a:latin typeface="Times New Roman" panose="02020603050405020304" charset="0"/>
              <a:cs typeface="Times New Roman" panose="02020603050405020304"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1200" dirty="0" smtClean="0">
              <a:solidFill>
                <a:srgbClr val="33CC33"/>
              </a:solidFill>
              <a:latin typeface="Times New Roman" panose="02020603050405020304" charset="0"/>
              <a:cs typeface="Times New Roman" panose="02020603050405020304" charset="0"/>
            </a:endParaRPr>
          </a:p>
          <a:p>
            <a:pPr marL="0" marR="0" indent="0" algn="l" defTabSz="914400" rtl="0" eaLnBrk="0" fontAlgn="base" latinLnBrk="0" hangingPunct="0">
              <a:lnSpc>
                <a:spcPct val="100000"/>
              </a:lnSpc>
              <a:spcBef>
                <a:spcPct val="30000"/>
              </a:spcBef>
              <a:spcAft>
                <a:spcPct val="0"/>
              </a:spcAft>
              <a:buClrTx/>
              <a:buSzTx/>
              <a:buFontTx/>
              <a:buNone/>
              <a:defRPr/>
            </a:pPr>
            <a:r>
              <a:rPr lang="en-US" altLang="zh-CN" sz="1200" dirty="0" err="1" smtClean="0">
                <a:solidFill>
                  <a:srgbClr val="33CC33"/>
                </a:solidFill>
                <a:latin typeface="Times New Roman" panose="02020603050405020304" charset="0"/>
                <a:cs typeface="Times New Roman" panose="02020603050405020304" charset="0"/>
              </a:rPr>
              <a:t>simple_ratio</a:t>
            </a:r>
            <a:r>
              <a:rPr lang="en-US" altLang="zh-CN" sz="1200" dirty="0" smtClean="0">
                <a:solidFill>
                  <a:srgbClr val="33CC33"/>
                </a:solidFill>
                <a:latin typeface="Times New Roman" panose="02020603050405020304" charset="0"/>
                <a:cs typeface="Times New Roman" panose="02020603050405020304" charset="0"/>
              </a:rPr>
              <a:t>: 1</a:t>
            </a:r>
            <a:r>
              <a:rPr lang="zh-CN" altLang="en-US" sz="1200" dirty="0" smtClean="0">
                <a:solidFill>
                  <a:srgbClr val="33CC33"/>
                </a:solidFill>
                <a:latin typeface="Times New Roman" panose="02020603050405020304" charset="0"/>
                <a:cs typeface="Times New Roman" panose="02020603050405020304" charset="0"/>
              </a:rPr>
              <a:t>或者</a:t>
            </a:r>
            <a:r>
              <a:rPr lang="en-US" altLang="zh-CN" sz="1200" dirty="0" smtClean="0">
                <a:solidFill>
                  <a:srgbClr val="33CC33"/>
                </a:solidFill>
                <a:latin typeface="Times New Roman" panose="02020603050405020304" charset="0"/>
                <a:cs typeface="Times New Roman" panose="02020603050405020304" charset="0"/>
              </a:rPr>
              <a:t>0</a:t>
            </a:r>
            <a:r>
              <a:rPr lang="zh-CN" altLang="en-US" sz="1200" dirty="0" smtClean="0">
                <a:solidFill>
                  <a:srgbClr val="33CC33"/>
                </a:solidFill>
                <a:latin typeface="Times New Roman" panose="02020603050405020304" charset="0"/>
                <a:cs typeface="Times New Roman" panose="02020603050405020304" charset="0"/>
              </a:rPr>
              <a:t>，决定了如何计算比例值</a:t>
            </a:r>
            <a:endParaRPr lang="en-US" altLang="zh-CN" sz="1200" dirty="0" smtClean="0">
              <a:solidFill>
                <a:srgbClr val="33CC33"/>
              </a:solidFill>
              <a:latin typeface="Times New Roman" panose="02020603050405020304" charset="0"/>
              <a:cs typeface="Times New Roman" panose="02020603050405020304" charset="0"/>
            </a:endParaRPr>
          </a:p>
          <a:p>
            <a:pPr marL="0" marR="0" indent="0" algn="l" defTabSz="914400" rtl="0" eaLnBrk="0" fontAlgn="base" latinLnBrk="0" hangingPunct="0">
              <a:lnSpc>
                <a:spcPct val="100000"/>
              </a:lnSpc>
              <a:spcBef>
                <a:spcPct val="30000"/>
              </a:spcBef>
              <a:spcAft>
                <a:spcPct val="0"/>
              </a:spcAft>
              <a:buClrTx/>
              <a:buSzTx/>
              <a:buFontTx/>
              <a:buNone/>
              <a:defRPr/>
            </a:pPr>
            <a:r>
              <a:rPr lang="en-US" altLang="zh-CN" sz="1200" kern="1200" dirty="0" err="1" smtClean="0">
                <a:solidFill>
                  <a:schemeClr val="tx1"/>
                </a:solidFill>
                <a:effectLst/>
                <a:latin typeface="Arial" panose="020B0604020202020204" pitchFamily="34" charset="0"/>
                <a:ea typeface="宋体" pitchFamily="2" charset="-122"/>
                <a:cs typeface="+mn-cs"/>
              </a:rPr>
              <a:t>Simple_ratio</a:t>
            </a:r>
            <a:r>
              <a:rPr lang="en-US" altLang="zh-CN" sz="1200" kern="1200" dirty="0" smtClean="0">
                <a:solidFill>
                  <a:schemeClr val="tx1"/>
                </a:solidFill>
                <a:effectLst/>
                <a:latin typeface="Arial" panose="020B0604020202020204" pitchFamily="34" charset="0"/>
                <a:ea typeface="宋体" pitchFamily="2" charset="-122"/>
                <a:cs typeface="+mn-cs"/>
              </a:rPr>
              <a:t>=1,</a:t>
            </a:r>
            <a:r>
              <a:rPr lang="zh-CN" altLang="en-US" sz="1200" kern="1200" dirty="0" smtClean="0">
                <a:solidFill>
                  <a:schemeClr val="tx1"/>
                </a:solidFill>
                <a:effectLst/>
                <a:latin typeface="Arial" panose="020B0604020202020204" pitchFamily="34" charset="0"/>
                <a:ea typeface="宋体" pitchFamily="2" charset="-122"/>
                <a:cs typeface="+mn-cs"/>
              </a:rPr>
              <a:t>新公式，分子</a:t>
            </a:r>
            <a:r>
              <a:rPr lang="en-US" altLang="zh-CN" sz="1200" kern="1200" dirty="0" smtClean="0">
                <a:solidFill>
                  <a:schemeClr val="tx1"/>
                </a:solidFill>
                <a:effectLst/>
                <a:latin typeface="Arial" panose="020B0604020202020204" pitchFamily="34" charset="0"/>
                <a:ea typeface="宋体" pitchFamily="2" charset="-122"/>
                <a:cs typeface="+mn-cs"/>
              </a:rPr>
              <a:t>or</a:t>
            </a:r>
            <a:r>
              <a:rPr lang="zh-CN" altLang="en-US" sz="1200" kern="1200" dirty="0" smtClean="0">
                <a:solidFill>
                  <a:schemeClr val="tx1"/>
                </a:solidFill>
                <a:effectLst/>
                <a:latin typeface="Arial" panose="020B0604020202020204" pitchFamily="34" charset="0"/>
                <a:ea typeface="宋体" pitchFamily="2" charset="-122"/>
                <a:cs typeface="+mn-cs"/>
              </a:rPr>
              <a:t>分母的累计值</a:t>
            </a:r>
            <a:r>
              <a:rPr lang="en-US" altLang="zh-CN" sz="1200" kern="1200" dirty="0" smtClean="0">
                <a:solidFill>
                  <a:schemeClr val="tx1"/>
                </a:solidFill>
                <a:effectLst/>
                <a:latin typeface="Arial" panose="020B0604020202020204" pitchFamily="34" charset="0"/>
                <a:ea typeface="宋体" pitchFamily="2" charset="-122"/>
                <a:cs typeface="+mn-cs"/>
              </a:rPr>
              <a:t>&gt;remain,</a:t>
            </a:r>
            <a:r>
              <a:rPr lang="zh-CN" altLang="en-US" sz="1200" kern="1200" baseline="0" dirty="0" smtClean="0">
                <a:solidFill>
                  <a:schemeClr val="tx1"/>
                </a:solidFill>
                <a:effectLst/>
                <a:latin typeface="Arial" panose="020B0604020202020204" pitchFamily="34" charset="0"/>
                <a:ea typeface="宋体" pitchFamily="2" charset="-122"/>
                <a:cs typeface="+mn-cs"/>
              </a:rPr>
              <a:t> </a:t>
            </a:r>
            <a:r>
              <a:rPr lang="en-US" altLang="zh-CN" sz="1200" kern="1200" baseline="0" dirty="0" smtClean="0">
                <a:solidFill>
                  <a:schemeClr val="tx1"/>
                </a:solidFill>
                <a:effectLst/>
                <a:latin typeface="Arial" panose="020B0604020202020204" pitchFamily="34" charset="0"/>
                <a:ea typeface="宋体" pitchFamily="2" charset="-122"/>
                <a:cs typeface="+mn-cs"/>
              </a:rPr>
              <a:t>and</a:t>
            </a:r>
            <a:r>
              <a:rPr lang="zh-CN" altLang="en-US" sz="1200" kern="1200" baseline="0" dirty="0" smtClean="0">
                <a:solidFill>
                  <a:schemeClr val="tx1"/>
                </a:solidFill>
                <a:effectLst/>
                <a:latin typeface="Arial" panose="020B0604020202020204" pitchFamily="34" charset="0"/>
                <a:ea typeface="宋体" pitchFamily="2" charset="-122"/>
                <a:cs typeface="+mn-cs"/>
              </a:rPr>
              <a:t> </a:t>
            </a:r>
            <a:r>
              <a:rPr lang="zh-CN" altLang="en-US" sz="1200" kern="1200" dirty="0" smtClean="0">
                <a:solidFill>
                  <a:schemeClr val="tx1"/>
                </a:solidFill>
                <a:effectLst/>
                <a:latin typeface="Arial" panose="020B0604020202020204" pitchFamily="34" charset="0"/>
                <a:ea typeface="宋体" pitchFamily="2" charset="-122"/>
                <a:cs typeface="+mn-cs"/>
              </a:rPr>
              <a:t>分子</a:t>
            </a:r>
            <a:r>
              <a:rPr lang="en-US" altLang="zh-CN" sz="1200" kern="1200" dirty="0" smtClean="0">
                <a:solidFill>
                  <a:schemeClr val="tx1"/>
                </a:solidFill>
                <a:effectLst/>
                <a:latin typeface="Arial" panose="020B0604020202020204" pitchFamily="34" charset="0"/>
                <a:ea typeface="宋体" pitchFamily="2" charset="-122"/>
                <a:cs typeface="+mn-cs"/>
              </a:rPr>
              <a:t>/</a:t>
            </a:r>
            <a:r>
              <a:rPr lang="zh-CN" altLang="en-US" sz="1200" kern="1200" dirty="0" smtClean="0">
                <a:solidFill>
                  <a:schemeClr val="tx1"/>
                </a:solidFill>
                <a:effectLst/>
                <a:latin typeface="Arial" panose="020B0604020202020204" pitchFamily="34" charset="0"/>
                <a:ea typeface="宋体" pitchFamily="2" charset="-122"/>
                <a:cs typeface="+mn-cs"/>
              </a:rPr>
              <a:t>分母</a:t>
            </a:r>
            <a:r>
              <a:rPr lang="en-US" altLang="zh-CN" sz="1200" kern="1200" dirty="0" smtClean="0">
                <a:solidFill>
                  <a:schemeClr val="tx1"/>
                </a:solidFill>
                <a:effectLst/>
                <a:latin typeface="Arial" panose="020B0604020202020204" pitchFamily="34" charset="0"/>
                <a:ea typeface="宋体" pitchFamily="2" charset="-122"/>
                <a:cs typeface="+mn-cs"/>
              </a:rPr>
              <a:t>&gt;threshold</a:t>
            </a:r>
            <a:endParaRPr lang="zh-CN" altLang="en-US" sz="1200" kern="1200" dirty="0" smtClean="0">
              <a:solidFill>
                <a:schemeClr val="tx1"/>
              </a:solidFill>
              <a:effectLst/>
              <a:latin typeface="Arial" panose="020B0604020202020204" pitchFamily="34" charset="0"/>
              <a:ea typeface="宋体" pitchFamily="2" charset="-122"/>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en-US" altLang="zh-CN" sz="1200" kern="1200" dirty="0" err="1" smtClean="0">
                <a:solidFill>
                  <a:schemeClr val="tx1"/>
                </a:solidFill>
                <a:effectLst/>
                <a:latin typeface="Arial" panose="020B0604020202020204" pitchFamily="34" charset="0"/>
                <a:ea typeface="宋体" pitchFamily="2" charset="-122"/>
                <a:cs typeface="+mn-cs"/>
              </a:rPr>
              <a:t>Remain_numerator</a:t>
            </a:r>
            <a:r>
              <a:rPr lang="en-US" altLang="zh-CN" sz="1200" kern="1200" dirty="0" smtClean="0">
                <a:solidFill>
                  <a:schemeClr val="tx1"/>
                </a:solidFill>
                <a:effectLst/>
                <a:latin typeface="Arial" panose="020B0604020202020204" pitchFamily="34" charset="0"/>
                <a:ea typeface="宋体" pitchFamily="2" charset="-122"/>
                <a:cs typeface="+mn-cs"/>
              </a:rPr>
              <a:t>=1,</a:t>
            </a:r>
            <a:r>
              <a:rPr lang="zh-CN" altLang="en-US" sz="1200" kern="1200" dirty="0" smtClean="0">
                <a:solidFill>
                  <a:schemeClr val="tx1"/>
                </a:solidFill>
                <a:effectLst/>
                <a:latin typeface="Arial" panose="020B0604020202020204" pitchFamily="34" charset="0"/>
                <a:ea typeface="宋体" pitchFamily="2" charset="-122"/>
                <a:cs typeface="+mn-cs"/>
              </a:rPr>
              <a:t> 分子</a:t>
            </a:r>
            <a:r>
              <a:rPr lang="en-US" altLang="zh-CN" sz="1200" kern="1200" dirty="0" smtClean="0">
                <a:solidFill>
                  <a:schemeClr val="tx1"/>
                </a:solidFill>
                <a:effectLst/>
                <a:latin typeface="Arial" panose="020B0604020202020204" pitchFamily="34" charset="0"/>
                <a:ea typeface="宋体" pitchFamily="2" charset="-122"/>
                <a:cs typeface="+mn-cs"/>
              </a:rPr>
              <a:t>&gt;remain</a:t>
            </a:r>
            <a:r>
              <a:rPr lang="zh-CN" altLang="en-US" sz="1200" kern="1200" dirty="0" smtClean="0">
                <a:solidFill>
                  <a:schemeClr val="tx1"/>
                </a:solidFill>
                <a:effectLst/>
                <a:latin typeface="Arial" panose="020B0604020202020204" pitchFamily="34" charset="0"/>
                <a:ea typeface="宋体" pitchFamily="2" charset="-122"/>
                <a:cs typeface="+mn-cs"/>
              </a:rPr>
              <a:t>才会去计算</a:t>
            </a:r>
            <a:r>
              <a:rPr lang="en-US" altLang="zh-CN" sz="1200" kern="1200" dirty="0" smtClean="0">
                <a:solidFill>
                  <a:schemeClr val="tx1"/>
                </a:solidFill>
                <a:effectLst/>
                <a:latin typeface="Arial" panose="020B0604020202020204" pitchFamily="34" charset="0"/>
                <a:ea typeface="宋体" pitchFamily="2" charset="-122"/>
                <a:cs typeface="+mn-cs"/>
              </a:rPr>
              <a:t>ratio</a:t>
            </a:r>
            <a:r>
              <a:rPr lang="zh-CN" altLang="en-US" sz="1200" kern="1200" dirty="0" smtClean="0">
                <a:solidFill>
                  <a:schemeClr val="tx1"/>
                </a:solidFill>
                <a:effectLst/>
                <a:latin typeface="Arial" panose="020B0604020202020204" pitchFamily="34" charset="0"/>
                <a:ea typeface="宋体" pitchFamily="2" charset="-122"/>
                <a:cs typeface="+mn-cs"/>
              </a:rPr>
              <a:t>。</a:t>
            </a:r>
            <a:endParaRPr lang="zh-CN" altLang="en-US" sz="1200" kern="1200" dirty="0" smtClean="0">
              <a:solidFill>
                <a:schemeClr val="tx1"/>
              </a:solidFill>
              <a:effectLst/>
              <a:latin typeface="Arial" panose="020B0604020202020204" pitchFamily="34" charset="0"/>
              <a:ea typeface="宋体" pitchFamily="2" charset="-122"/>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en-US" altLang="zh-CN" sz="1200" kern="1200" dirty="0" err="1" smtClean="0">
                <a:solidFill>
                  <a:schemeClr val="tx1"/>
                </a:solidFill>
                <a:effectLst/>
                <a:latin typeface="Arial" panose="020B0604020202020204" pitchFamily="34" charset="0"/>
                <a:ea typeface="宋体" pitchFamily="2" charset="-122"/>
                <a:cs typeface="+mn-cs"/>
              </a:rPr>
              <a:t>Remain_numerator</a:t>
            </a:r>
            <a:r>
              <a:rPr lang="en-US" altLang="zh-CN" sz="1200" kern="1200" dirty="0" smtClean="0">
                <a:solidFill>
                  <a:schemeClr val="tx1"/>
                </a:solidFill>
                <a:effectLst/>
                <a:latin typeface="Arial" panose="020B0604020202020204" pitchFamily="34" charset="0"/>
                <a:ea typeface="宋体" pitchFamily="2" charset="-122"/>
                <a:cs typeface="+mn-cs"/>
              </a:rPr>
              <a:t>=0,</a:t>
            </a:r>
            <a:r>
              <a:rPr lang="zh-CN" altLang="en-US" sz="1200" kern="1200" dirty="0" smtClean="0">
                <a:solidFill>
                  <a:schemeClr val="tx1"/>
                </a:solidFill>
                <a:effectLst/>
                <a:latin typeface="Arial" panose="020B0604020202020204" pitchFamily="34" charset="0"/>
                <a:ea typeface="宋体" pitchFamily="2" charset="-122"/>
                <a:cs typeface="+mn-cs"/>
              </a:rPr>
              <a:t> 分母</a:t>
            </a:r>
            <a:r>
              <a:rPr lang="en-US" altLang="zh-CN" sz="1200" kern="1200" dirty="0" smtClean="0">
                <a:solidFill>
                  <a:schemeClr val="tx1"/>
                </a:solidFill>
                <a:effectLst/>
                <a:latin typeface="Arial" panose="020B0604020202020204" pitchFamily="34" charset="0"/>
                <a:ea typeface="宋体" pitchFamily="2" charset="-122"/>
                <a:cs typeface="+mn-cs"/>
              </a:rPr>
              <a:t>&gt;remain</a:t>
            </a:r>
            <a:r>
              <a:rPr lang="zh-CN" altLang="en-US" sz="1200" kern="1200" dirty="0" smtClean="0">
                <a:solidFill>
                  <a:schemeClr val="tx1"/>
                </a:solidFill>
                <a:effectLst/>
                <a:latin typeface="Arial" panose="020B0604020202020204" pitchFamily="34" charset="0"/>
                <a:ea typeface="宋体" pitchFamily="2" charset="-122"/>
                <a:cs typeface="+mn-cs"/>
              </a:rPr>
              <a:t>才会去计算</a:t>
            </a:r>
            <a:r>
              <a:rPr lang="en-US" altLang="zh-CN" sz="1200" kern="1200" dirty="0" smtClean="0">
                <a:solidFill>
                  <a:schemeClr val="tx1"/>
                </a:solidFill>
                <a:effectLst/>
                <a:latin typeface="Arial" panose="020B0604020202020204" pitchFamily="34" charset="0"/>
                <a:ea typeface="宋体" pitchFamily="2" charset="-122"/>
                <a:cs typeface="+mn-cs"/>
              </a:rPr>
              <a:t>ratio</a:t>
            </a:r>
            <a:r>
              <a:rPr lang="zh-CN" altLang="en-US" sz="1200" kern="1200" dirty="0" smtClean="0">
                <a:solidFill>
                  <a:schemeClr val="tx1"/>
                </a:solidFill>
                <a:effectLst/>
                <a:latin typeface="Arial" panose="020B0604020202020204" pitchFamily="34" charset="0"/>
                <a:ea typeface="宋体" pitchFamily="2" charset="-122"/>
                <a:cs typeface="+mn-cs"/>
              </a:rPr>
              <a:t>。</a:t>
            </a:r>
            <a:endParaRPr lang="zh-CN" altLang="en-US" sz="1200" kern="1200" dirty="0" smtClean="0">
              <a:solidFill>
                <a:schemeClr val="tx1"/>
              </a:solidFill>
              <a:effectLst/>
              <a:latin typeface="Arial" panose="020B0604020202020204" pitchFamily="34" charset="0"/>
              <a:ea typeface="宋体" pitchFamily="2" charset="-122"/>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lang="en-US" altLang="zh-CN" sz="1200" kern="1200" dirty="0" err="1" smtClean="0">
                <a:solidFill>
                  <a:schemeClr val="tx1"/>
                </a:solidFill>
                <a:effectLst/>
                <a:latin typeface="Arial" panose="020B0604020202020204" pitchFamily="34" charset="0"/>
                <a:ea typeface="宋体" pitchFamily="2" charset="-122"/>
                <a:cs typeface="+mn-cs"/>
              </a:rPr>
              <a:t>Simple_ratio</a:t>
            </a:r>
            <a:r>
              <a:rPr lang="en-US" altLang="zh-CN" sz="1200" kern="1200" dirty="0" smtClean="0">
                <a:solidFill>
                  <a:schemeClr val="tx1"/>
                </a:solidFill>
                <a:effectLst/>
                <a:latin typeface="Arial" panose="020B0604020202020204" pitchFamily="34" charset="0"/>
                <a:ea typeface="宋体" pitchFamily="2" charset="-122"/>
                <a:cs typeface="+mn-cs"/>
              </a:rPr>
              <a:t>=0,</a:t>
            </a:r>
            <a:r>
              <a:rPr lang="zh-CN" altLang="en-US" sz="1200" kern="1200" dirty="0" smtClean="0">
                <a:solidFill>
                  <a:schemeClr val="tx1"/>
                </a:solidFill>
                <a:effectLst/>
                <a:latin typeface="Arial" panose="020B0604020202020204" pitchFamily="34" charset="0"/>
                <a:ea typeface="宋体" pitchFamily="2" charset="-122"/>
                <a:cs typeface="+mn-cs"/>
              </a:rPr>
              <a:t>旧公式，（分子</a:t>
            </a:r>
            <a:r>
              <a:rPr lang="en-US" altLang="zh-CN" sz="1200" kern="1200" dirty="0" smtClean="0">
                <a:solidFill>
                  <a:schemeClr val="tx1"/>
                </a:solidFill>
                <a:effectLst/>
                <a:latin typeface="Arial" panose="020B0604020202020204" pitchFamily="34" charset="0"/>
                <a:ea typeface="宋体" pitchFamily="2" charset="-122"/>
                <a:cs typeface="+mn-cs"/>
              </a:rPr>
              <a:t>-remain</a:t>
            </a:r>
            <a:r>
              <a:rPr lang="zh-CN" altLang="en-US" sz="1200" kern="1200" dirty="0" smtClean="0">
                <a:solidFill>
                  <a:schemeClr val="tx1"/>
                </a:solidFill>
                <a:effectLst/>
                <a:latin typeface="Arial" panose="020B0604020202020204" pitchFamily="34" charset="0"/>
                <a:ea typeface="宋体" pitchFamily="2" charset="-122"/>
                <a:cs typeface="+mn-cs"/>
              </a:rPr>
              <a:t>）</a:t>
            </a:r>
            <a:r>
              <a:rPr lang="en-US" altLang="zh-CN" sz="1200" kern="1200" dirty="0" smtClean="0">
                <a:solidFill>
                  <a:schemeClr val="tx1"/>
                </a:solidFill>
                <a:effectLst/>
                <a:latin typeface="Arial" panose="020B0604020202020204" pitchFamily="34" charset="0"/>
                <a:ea typeface="宋体" pitchFamily="2" charset="-122"/>
                <a:cs typeface="+mn-cs"/>
              </a:rPr>
              <a:t>/</a:t>
            </a:r>
            <a:r>
              <a:rPr lang="zh-CN" altLang="en-US" sz="1200" kern="1200" dirty="0" smtClean="0">
                <a:solidFill>
                  <a:schemeClr val="tx1"/>
                </a:solidFill>
                <a:effectLst/>
                <a:latin typeface="Arial" panose="020B0604020202020204" pitchFamily="34" charset="0"/>
                <a:ea typeface="宋体" pitchFamily="2" charset="-122"/>
                <a:cs typeface="+mn-cs"/>
              </a:rPr>
              <a:t>分母</a:t>
            </a:r>
            <a:r>
              <a:rPr lang="en-US" altLang="zh-CN" sz="1200" kern="1200" dirty="0" smtClean="0">
                <a:solidFill>
                  <a:schemeClr val="tx1"/>
                </a:solidFill>
                <a:effectLst/>
                <a:latin typeface="Arial" panose="020B0604020202020204" pitchFamily="34" charset="0"/>
                <a:ea typeface="宋体" pitchFamily="2" charset="-122"/>
                <a:cs typeface="+mn-cs"/>
              </a:rPr>
              <a:t>&gt;threshold</a:t>
            </a:r>
            <a:endParaRPr lang="zh-CN" altLang="en-US" sz="1200" kern="1200" dirty="0" smtClean="0">
              <a:solidFill>
                <a:schemeClr val="tx1"/>
              </a:solidFill>
              <a:effectLst/>
              <a:latin typeface="Arial" panose="020B0604020202020204" pitchFamily="34" charset="0"/>
              <a:ea typeface="宋体" pitchFamily="2"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1200" dirty="0" smtClean="0">
              <a:solidFill>
                <a:srgbClr val="33CC33"/>
              </a:solidFill>
              <a:latin typeface="Times New Roman" panose="02020603050405020304" charset="0"/>
              <a:cs typeface="Times New Roman" panose="02020603050405020304" charset="0"/>
            </a:endParaRP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1200" dirty="0" smtClean="0">
                <a:solidFill>
                  <a:srgbClr val="33CC33"/>
                </a:solidFill>
                <a:latin typeface="Times New Roman" panose="02020603050405020304" charset="0"/>
                <a:cs typeface="Times New Roman" panose="02020603050405020304" charset="0"/>
              </a:rPr>
              <a:t>这里没有</a:t>
            </a:r>
            <a:r>
              <a:rPr lang="en-US" altLang="zh-CN" sz="1200" kern="1200" dirty="0" err="1" smtClean="0">
                <a:solidFill>
                  <a:schemeClr val="tx1"/>
                </a:solidFill>
                <a:effectLst/>
                <a:latin typeface="Arial" panose="020B0604020202020204" pitchFamily="34" charset="0"/>
                <a:ea typeface="宋体" pitchFamily="2" charset="-122"/>
                <a:cs typeface="+mn-cs"/>
              </a:rPr>
              <a:t>Remain_numerator</a:t>
            </a:r>
            <a:r>
              <a:rPr lang="zh-CN" altLang="en-US" sz="1200" kern="1200" dirty="0" smtClean="0">
                <a:solidFill>
                  <a:schemeClr val="tx1"/>
                </a:solidFill>
                <a:effectLst/>
                <a:latin typeface="Arial" panose="020B0604020202020204" pitchFamily="34" charset="0"/>
                <a:ea typeface="宋体" pitchFamily="2" charset="-122"/>
                <a:cs typeface="+mn-cs"/>
              </a:rPr>
              <a:t>字段</a:t>
            </a:r>
            <a:r>
              <a:rPr lang="zh-CN" altLang="en-US" sz="1200" dirty="0" smtClean="0">
                <a:solidFill>
                  <a:srgbClr val="33CC33"/>
                </a:solidFill>
                <a:latin typeface="Times New Roman" panose="02020603050405020304" charset="0"/>
                <a:cs typeface="Times New Roman" panose="02020603050405020304" charset="0"/>
              </a:rPr>
              <a:t>，所以过滤的条件是分子大于</a:t>
            </a:r>
            <a:r>
              <a:rPr lang="en-US" altLang="zh-CN" sz="1200" dirty="0" smtClean="0">
                <a:solidFill>
                  <a:srgbClr val="33CC33"/>
                </a:solidFill>
                <a:latin typeface="Times New Roman" panose="02020603050405020304" charset="0"/>
                <a:cs typeface="Times New Roman" panose="02020603050405020304" charset="0"/>
              </a:rPr>
              <a:t>remain</a:t>
            </a:r>
            <a:r>
              <a:rPr lang="zh-CN" altLang="en-US" sz="1200" dirty="0" smtClean="0">
                <a:solidFill>
                  <a:srgbClr val="33CC33"/>
                </a:solidFill>
                <a:latin typeface="Times New Roman" panose="02020603050405020304" charset="0"/>
                <a:cs typeface="Times New Roman" panose="02020603050405020304" charset="0"/>
              </a:rPr>
              <a:t>，且比例大于阈值。</a:t>
            </a:r>
            <a:endParaRPr lang="en-US" altLang="zh-CN" sz="1200" dirty="0" smtClean="0">
              <a:solidFill>
                <a:srgbClr val="33CC33"/>
              </a:solidFill>
              <a:latin typeface="Times New Roman" panose="02020603050405020304" charset="0"/>
              <a:cs typeface="Times New Roman" panose="02020603050405020304"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1200" dirty="0" smtClean="0">
              <a:solidFill>
                <a:srgbClr val="33CC33"/>
              </a:solidFill>
              <a:latin typeface="Times New Roman" panose="02020603050405020304" charset="0"/>
              <a:cs typeface="Times New Roman" panose="02020603050405020304" charset="0"/>
            </a:endParaRPr>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sz="1200" dirty="0" smtClean="0">
              <a:solidFill>
                <a:srgbClr val="33CC33"/>
              </a:solidFill>
              <a:latin typeface="Times New Roman" panose="02020603050405020304" charset="0"/>
              <a:cs typeface="Times New Roman" panose="02020603050405020304" charset="0"/>
            </a:endParaRP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每有一个子维度对象落在某个桶中，该桶对应的计数加一。统计完成后用每个桶的累积量除以所有桶累积量的和，即得到每个桶的占比。</a:t>
            </a:r>
            <a:endParaRPr lang="en-US" altLang="zh-CN" dirty="0" smtClean="0"/>
          </a:p>
          <a:p>
            <a:endParaRPr lang="en-US" altLang="zh-CN" dirty="0" smtClean="0"/>
          </a:p>
          <a:p>
            <a:endParaRPr lang="en-US" altLang="zh-CN" dirty="0" smtClean="0"/>
          </a:p>
          <a:p>
            <a:r>
              <a:rPr lang="zh-CN" altLang="en-US" dirty="0" smtClean="0"/>
              <a:t>分布策略适合于那些维度对象集中在某些桶中的作弊，比如点展时间差非常大的那种作弊</a:t>
            </a:r>
            <a:r>
              <a:rPr lang="en-US" altLang="zh-CN" dirty="0" smtClean="0"/>
              <a:t>(</a:t>
            </a:r>
            <a:r>
              <a:rPr lang="zh-CN" altLang="en-US" dirty="0" smtClean="0"/>
              <a:t>一般点展时间差在低值的桶内更多一点，也就是说比较小</a:t>
            </a:r>
            <a:r>
              <a:rPr lang="en-US" altLang="zh-CN" dirty="0" smtClean="0"/>
              <a:t>)</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需要说明的是基准分布中所有桶的占比之和不一定为</a:t>
            </a:r>
            <a:r>
              <a:rPr lang="en-US" altLang="zh-CN" dirty="0" smtClean="0"/>
              <a:t>1</a:t>
            </a:r>
            <a:r>
              <a:rPr lang="zh-CN" altLang="en-US" baseline="0" dirty="0" smtClean="0"/>
              <a:t>， 通过将某个桶的占比调整大小，可以主动调节某个桶被过滤的难易程度。比如把</a:t>
            </a:r>
            <a:r>
              <a:rPr lang="en-US" altLang="zh-CN" baseline="0" dirty="0" smtClean="0"/>
              <a:t>5</a:t>
            </a:r>
            <a:r>
              <a:rPr lang="zh-CN" altLang="en-US" baseline="0" dirty="0" smtClean="0"/>
              <a:t>号桶的基准分布占比设置为</a:t>
            </a:r>
            <a:r>
              <a:rPr lang="en-US" altLang="zh-CN" baseline="0" dirty="0" smtClean="0"/>
              <a:t>1</a:t>
            </a:r>
            <a:r>
              <a:rPr lang="zh-CN" altLang="en-US" baseline="0" dirty="0" smtClean="0"/>
              <a:t>，那么这个桶就永远不会被策略命中。</a:t>
            </a:r>
            <a:endParaRPr lang="en-US" altLang="zh-CN" baseline="0" dirty="0" smtClean="0"/>
          </a:p>
          <a:p>
            <a:endParaRPr lang="en-US" altLang="zh-CN" dirty="0" smtClean="0"/>
          </a:p>
          <a:p>
            <a:pPr>
              <a:buFont typeface="Symbol" charset="2"/>
              <a:buChar char="-"/>
            </a:pPr>
            <a:r>
              <a:rPr lang="zh-CN" altLang="en-US" sz="1200" dirty="0" smtClean="0"/>
              <a:t>局部距离：</a:t>
            </a:r>
            <a:r>
              <a:rPr lang="zh-CN" altLang="zh-CN" sz="1200" kern="1200" dirty="0" smtClean="0">
                <a:latin typeface="Arial" panose="020B0604020202020204" pitchFamily="34" charset="0"/>
                <a:ea typeface="+mn-ea"/>
              </a:rPr>
              <a:t>统计当前点击所在的第</a:t>
            </a:r>
            <a:r>
              <a:rPr lang="en-US" altLang="zh-CN" sz="1200" kern="1200" dirty="0" err="1" smtClean="0">
                <a:latin typeface="Arial" panose="020B0604020202020204" pitchFamily="34" charset="0"/>
                <a:ea typeface="+mn-ea"/>
              </a:rPr>
              <a:t>i</a:t>
            </a:r>
            <a:r>
              <a:rPr lang="zh-CN" altLang="zh-CN" sz="1200" kern="1200" dirty="0" smtClean="0">
                <a:latin typeface="Arial" panose="020B0604020202020204" pitchFamily="34" charset="0"/>
                <a:ea typeface="+mn-ea"/>
              </a:rPr>
              <a:t>桶</a:t>
            </a:r>
            <a:r>
              <a:rPr lang="en-US" altLang="zh-CN" sz="1200" kern="1200" dirty="0" smtClean="0">
                <a:latin typeface="Arial" panose="020B0604020202020204" pitchFamily="34" charset="0"/>
                <a:ea typeface="+mn-ea"/>
              </a:rPr>
              <a:t>(</a:t>
            </a:r>
            <a:r>
              <a:rPr lang="zh-CN" altLang="en-US" sz="1200" kern="1200" dirty="0" smtClean="0">
                <a:latin typeface="Arial" panose="020B0604020202020204" pitchFamily="34" charset="0"/>
                <a:ea typeface="+mn-ea"/>
              </a:rPr>
              <a:t>差异最大的那个桶</a:t>
            </a:r>
            <a:r>
              <a:rPr lang="en-US" altLang="zh-CN" sz="1200" kern="1200" dirty="0" smtClean="0">
                <a:latin typeface="Arial" panose="020B0604020202020204" pitchFamily="34" charset="0"/>
                <a:ea typeface="+mn-ea"/>
              </a:rPr>
              <a:t>)</a:t>
            </a:r>
            <a:r>
              <a:rPr lang="zh-CN" altLang="zh-CN" sz="1200" kern="1200" dirty="0" smtClean="0">
                <a:latin typeface="Arial" panose="020B0604020202020204" pitchFamily="34" charset="0"/>
                <a:ea typeface="+mn-ea"/>
              </a:rPr>
              <a:t>的概率与基准分布的相应桶的概率的差异，只考虑当前日志所在桶的差异。</a:t>
            </a:r>
            <a:endParaRPr lang="en-US" altLang="zh-CN" sz="1200" kern="1200" dirty="0" smtClean="0">
              <a:latin typeface="Arial" panose="020B0604020202020204" pitchFamily="34" charset="0"/>
              <a:ea typeface="+mn-ea"/>
            </a:endParaRPr>
          </a:p>
          <a:p>
            <a:pPr>
              <a:buFont typeface="Symbol" charset="2"/>
              <a:buChar char="-"/>
            </a:pPr>
            <a:r>
              <a:rPr lang="zh-CN" altLang="en-US" sz="1200" kern="1200" dirty="0" smtClean="0">
                <a:latin typeface="+mn-ea"/>
              </a:rPr>
              <a:t>全局距离</a:t>
            </a:r>
            <a:r>
              <a:rPr lang="zh-CN" altLang="en-US" sz="1200" kern="1200" dirty="0" smtClean="0">
                <a:latin typeface="Arial" panose="020B0604020202020204" pitchFamily="34" charset="0"/>
                <a:ea typeface="+mn-ea"/>
              </a:rPr>
              <a:t>：考虑</a:t>
            </a:r>
            <a:r>
              <a:rPr lang="zh-CN" altLang="zh-CN" sz="1200" kern="1200" dirty="0" smtClean="0">
                <a:latin typeface="Arial" panose="020B0604020202020204" pitchFamily="34" charset="0"/>
                <a:ea typeface="+mn-ea"/>
              </a:rPr>
              <a:t>分布整体差异性，过滤全局流量</a:t>
            </a:r>
            <a:r>
              <a:rPr lang="zh-CN" altLang="en-US" sz="1400" kern="1200" dirty="0" smtClean="0">
                <a:latin typeface="Arial" panose="020B0604020202020204" pitchFamily="34" charset="0"/>
                <a:ea typeface="+mn-ea"/>
              </a:rPr>
              <a:t>。</a:t>
            </a:r>
            <a:endParaRPr lang="en-US" altLang="zh-CN" sz="1200" kern="1200" dirty="0" smtClean="0">
              <a:latin typeface="+mn-lt"/>
              <a:ea typeface="+mn-ea"/>
            </a:endParaRPr>
          </a:p>
          <a:p>
            <a:pPr>
              <a:buFont typeface="Symbol" charset="2"/>
              <a:buChar char="-"/>
            </a:pPr>
            <a:endParaRPr lang="en-US" altLang="zh-CN" dirty="0" smtClean="0"/>
          </a:p>
          <a:p>
            <a:r>
              <a:rPr lang="zh-CN" altLang="en-US" dirty="0" smtClean="0"/>
              <a:t>当前分布有些桶的占比小于基准分布中的占比，这些桶不会被策略命中，即使距离大于阈值。</a:t>
            </a:r>
            <a:endParaRPr lang="en-US" altLang="zh-CN" dirty="0" smtClean="0"/>
          </a:p>
          <a:p>
            <a:endParaRPr lang="en-US" altLang="zh-CN" dirty="0" smtClean="0"/>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200" kern="1200" dirty="0" smtClean="0">
                <a:solidFill>
                  <a:schemeClr val="tx1"/>
                </a:solidFill>
                <a:effectLst/>
                <a:latin typeface="Arial" panose="020B0604020202020204" pitchFamily="34" charset="0"/>
                <a:ea typeface="宋体" pitchFamily="2" charset="-122"/>
                <a:cs typeface="+mn-cs"/>
              </a:rPr>
              <a:t>优点：</a:t>
            </a:r>
            <a:r>
              <a:rPr lang="zh-CN" altLang="zh-CN" sz="1200" kern="1200" dirty="0" smtClean="0">
                <a:solidFill>
                  <a:schemeClr val="tx1"/>
                </a:solidFill>
                <a:effectLst/>
                <a:latin typeface="Arial" panose="020B0604020202020204" pitchFamily="34" charset="0"/>
                <a:ea typeface="宋体" pitchFamily="2" charset="-122"/>
                <a:cs typeface="+mn-cs"/>
              </a:rPr>
              <a:t>实现了分区间限制，更加细化，适用作弊点击分布在多个桶内的情况</a:t>
            </a:r>
            <a:r>
              <a:rPr lang="en-US" altLang="zh-CN" sz="1200" kern="1200" dirty="0" smtClean="0">
                <a:solidFill>
                  <a:schemeClr val="tx1"/>
                </a:solidFill>
                <a:effectLst/>
                <a:latin typeface="Arial" panose="020B0604020202020204" pitchFamily="34" charset="0"/>
                <a:ea typeface="宋体" pitchFamily="2" charset="-122"/>
                <a:cs typeface="+mn-cs"/>
              </a:rPr>
              <a:t>(</a:t>
            </a:r>
            <a:r>
              <a:rPr lang="zh-CN" altLang="en-US" sz="1200" kern="1200" dirty="0" smtClean="0">
                <a:solidFill>
                  <a:schemeClr val="tx1"/>
                </a:solidFill>
                <a:effectLst/>
                <a:latin typeface="Arial" panose="020B0604020202020204" pitchFamily="34" charset="0"/>
                <a:ea typeface="宋体" pitchFamily="2" charset="-122"/>
                <a:cs typeface="+mn-cs"/>
              </a:rPr>
              <a:t>在段中均匀分布</a:t>
            </a:r>
            <a:r>
              <a:rPr lang="en-US" altLang="zh-CN" sz="1200" kern="1200" dirty="0" smtClean="0">
                <a:solidFill>
                  <a:schemeClr val="tx1"/>
                </a:solidFill>
                <a:effectLst/>
                <a:latin typeface="Arial" panose="020B0604020202020204" pitchFamily="34" charset="0"/>
                <a:ea typeface="宋体" pitchFamily="2" charset="-122"/>
                <a:cs typeface="+mn-cs"/>
              </a:rPr>
              <a:t>)</a:t>
            </a:r>
            <a:r>
              <a:rPr lang="zh-CN" altLang="zh-CN" sz="1200" kern="1200" dirty="0" smtClean="0">
                <a:solidFill>
                  <a:schemeClr val="tx1"/>
                </a:solidFill>
                <a:effectLst/>
                <a:latin typeface="Arial" panose="020B0604020202020204" pitchFamily="34" charset="0"/>
                <a:ea typeface="宋体" pitchFamily="2" charset="-122"/>
                <a:cs typeface="+mn-cs"/>
              </a:rPr>
              <a:t>，跨桶攻击。</a:t>
            </a:r>
            <a:r>
              <a:rPr lang="zh-CN" altLang="zh-CN" dirty="0" smtClean="0">
                <a:effectLst/>
              </a:rPr>
              <a:t> </a:t>
            </a:r>
            <a:endParaRPr lang="zh-CN" altLang="zh-CN" sz="1200" kern="1200" dirty="0" smtClean="0">
              <a:solidFill>
                <a:schemeClr val="tx1"/>
              </a:solidFill>
              <a:effectLst/>
              <a:latin typeface="Arial" panose="020B0604020202020204" pitchFamily="34" charset="0"/>
              <a:ea typeface="宋体" pitchFamily="2" charset="-122"/>
              <a:cs typeface="+mn-cs"/>
            </a:endParaRPr>
          </a:p>
          <a:p>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kumimoji="1" lang="zh-CN" altLang="en-US" sz="1200" kern="1200" dirty="0" smtClean="0">
                <a:solidFill>
                  <a:schemeClr val="tx1"/>
                </a:solidFill>
                <a:latin typeface="Arial" panose="020B0604020202020204" pitchFamily="34" charset="0"/>
                <a:ea typeface="宋体" charset="0"/>
                <a:cs typeface="宋体" charset="0"/>
              </a:rPr>
              <a:t>实际上从分布特征的概念中可以看出，子维度对象应该是数值</a:t>
            </a:r>
            <a:endParaRPr kumimoji="1" lang="en-US" altLang="zh-CN" sz="1200" kern="1200" dirty="0" smtClean="0">
              <a:solidFill>
                <a:schemeClr val="tx1"/>
              </a:solidFill>
              <a:latin typeface="Arial" panose="020B0604020202020204" pitchFamily="34" charset="0"/>
              <a:ea typeface="宋体" charset="0"/>
              <a:cs typeface="宋体" charset="0"/>
            </a:endParaRPr>
          </a:p>
          <a:p>
            <a:pPr marL="0" marR="0" indent="0" algn="l" defTabSz="914400" rtl="0" eaLnBrk="0" fontAlgn="base" latinLnBrk="0" hangingPunct="0">
              <a:lnSpc>
                <a:spcPct val="100000"/>
              </a:lnSpc>
              <a:spcBef>
                <a:spcPct val="30000"/>
              </a:spcBef>
              <a:spcAft>
                <a:spcPct val="0"/>
              </a:spcAft>
              <a:buClrTx/>
              <a:buSzTx/>
              <a:buFontTx/>
              <a:buNone/>
              <a:defRPr/>
            </a:pPr>
            <a:endParaRPr kumimoji="1" lang="en-US" altLang="zh-CN" sz="1200" kern="1200" dirty="0" smtClean="0">
              <a:solidFill>
                <a:schemeClr val="tx1"/>
              </a:solidFill>
              <a:latin typeface="Arial" panose="020B0604020202020204" pitchFamily="34" charset="0"/>
              <a:ea typeface="宋体" charset="0"/>
              <a:cs typeface="宋体" charset="0"/>
            </a:endParaRPr>
          </a:p>
          <a:p>
            <a:pPr marL="0" marR="0" indent="0" algn="l" defTabSz="914400" rtl="0" eaLnBrk="0" fontAlgn="base" latinLnBrk="0" hangingPunct="0">
              <a:lnSpc>
                <a:spcPct val="100000"/>
              </a:lnSpc>
              <a:spcBef>
                <a:spcPct val="30000"/>
              </a:spcBef>
              <a:spcAft>
                <a:spcPct val="0"/>
              </a:spcAft>
              <a:buClrTx/>
              <a:buSzTx/>
              <a:buFontTx/>
              <a:buNone/>
              <a:defRPr/>
            </a:pPr>
            <a:r>
              <a:rPr kumimoji="1" lang="zh-CN" altLang="en-US" sz="1200" kern="1200" dirty="0" smtClean="0">
                <a:solidFill>
                  <a:schemeClr val="tx1"/>
                </a:solidFill>
                <a:latin typeface="Arial" panose="020B0604020202020204" pitchFamily="34" charset="0"/>
                <a:ea typeface="宋体" charset="0"/>
                <a:cs typeface="宋体" charset="0"/>
              </a:rPr>
              <a:t> </a:t>
            </a:r>
            <a:r>
              <a:rPr kumimoji="1" lang="en-US" altLang="zh-CN" sz="1200" kern="1200" dirty="0" err="1" smtClean="0">
                <a:solidFill>
                  <a:schemeClr val="tx1"/>
                </a:solidFill>
                <a:latin typeface="Arial" panose="020B0604020202020204" pitchFamily="34" charset="0"/>
                <a:ea typeface="宋体" charset="0"/>
                <a:cs typeface="宋体" charset="0"/>
              </a:rPr>
              <a:t>cur_count</a:t>
            </a:r>
            <a:r>
              <a:rPr kumimoji="1" lang="en-US" altLang="zh-CN" sz="1200" kern="1200" dirty="0" smtClean="0">
                <a:solidFill>
                  <a:schemeClr val="tx1"/>
                </a:solidFill>
                <a:latin typeface="Arial" panose="020B0604020202020204" pitchFamily="34" charset="0"/>
                <a:ea typeface="宋体" charset="0"/>
                <a:cs typeface="宋体" charset="0"/>
              </a:rPr>
              <a:t>&lt;</a:t>
            </a:r>
            <a:r>
              <a:rPr kumimoji="1" lang="en-US" altLang="zh-CN" sz="1200" kern="1200" dirty="0" err="1" smtClean="0">
                <a:solidFill>
                  <a:schemeClr val="tx1"/>
                </a:solidFill>
                <a:latin typeface="Arial" panose="020B0604020202020204" pitchFamily="34" charset="0"/>
                <a:ea typeface="宋体" charset="0"/>
                <a:cs typeface="宋体" charset="0"/>
              </a:rPr>
              <a:t>count_threshold</a:t>
            </a:r>
            <a:r>
              <a:rPr kumimoji="1" lang="zh-CN" altLang="en-US" sz="1200" kern="1200" dirty="0" smtClean="0">
                <a:solidFill>
                  <a:schemeClr val="tx1"/>
                </a:solidFill>
                <a:latin typeface="Arial" panose="020B0604020202020204" pitchFamily="34" charset="0"/>
                <a:ea typeface="宋体" charset="0"/>
                <a:cs typeface="宋体" charset="0"/>
              </a:rPr>
              <a:t> 或者 </a:t>
            </a:r>
            <a:r>
              <a:rPr kumimoji="1" lang="en-US" altLang="zh-CN" sz="1200" kern="1200" baseline="0" dirty="0" err="1" smtClean="0">
                <a:solidFill>
                  <a:schemeClr val="tx1"/>
                </a:solidFill>
                <a:latin typeface="Arial" panose="020B0604020202020204" pitchFamily="34" charset="0"/>
                <a:ea typeface="宋体" charset="0"/>
                <a:cs typeface="宋体" charset="0"/>
              </a:rPr>
              <a:t>pci</a:t>
            </a:r>
            <a:r>
              <a:rPr kumimoji="1" lang="en-US" altLang="zh-CN" sz="1200" kern="1200" baseline="0" dirty="0" smtClean="0">
                <a:solidFill>
                  <a:schemeClr val="tx1"/>
                </a:solidFill>
                <a:latin typeface="Arial" panose="020B0604020202020204" pitchFamily="34" charset="0"/>
                <a:ea typeface="宋体" charset="0"/>
                <a:cs typeface="宋体" charset="0"/>
              </a:rPr>
              <a:t>&lt;</a:t>
            </a:r>
            <a:r>
              <a:rPr kumimoji="1" lang="en-US" altLang="zh-CN" sz="1200" kern="1200" baseline="0" dirty="0" err="1" smtClean="0">
                <a:solidFill>
                  <a:schemeClr val="tx1"/>
                </a:solidFill>
                <a:latin typeface="Arial" panose="020B0604020202020204" pitchFamily="34" charset="0"/>
                <a:ea typeface="宋体" charset="0"/>
                <a:cs typeface="宋体" charset="0"/>
              </a:rPr>
              <a:t>pbi</a:t>
            </a:r>
            <a:r>
              <a:rPr kumimoji="1" lang="zh-CN" altLang="en-US" sz="1200" kern="1200" baseline="0" dirty="0" smtClean="0">
                <a:solidFill>
                  <a:schemeClr val="tx1"/>
                </a:solidFill>
                <a:latin typeface="Arial" panose="020B0604020202020204" pitchFamily="34" charset="0"/>
                <a:ea typeface="宋体" charset="0"/>
                <a:cs typeface="宋体" charset="0"/>
              </a:rPr>
              <a:t>，不过滤</a:t>
            </a:r>
            <a:endParaRPr kumimoji="1" lang="en-US" altLang="zh-CN" sz="1200" kern="1200" baseline="0" dirty="0" smtClean="0">
              <a:solidFill>
                <a:schemeClr val="tx1"/>
              </a:solidFill>
              <a:latin typeface="Arial" panose="020B0604020202020204" pitchFamily="34" charset="0"/>
              <a:ea typeface="宋体" charset="0"/>
              <a:cs typeface="宋体" charset="0"/>
            </a:endParaRPr>
          </a:p>
          <a:p>
            <a:pPr marL="0" marR="0" indent="0" algn="l" defTabSz="914400" rtl="0" eaLnBrk="0" fontAlgn="base" latinLnBrk="0" hangingPunct="0">
              <a:lnSpc>
                <a:spcPct val="100000"/>
              </a:lnSpc>
              <a:spcBef>
                <a:spcPct val="30000"/>
              </a:spcBef>
              <a:spcAft>
                <a:spcPct val="0"/>
              </a:spcAft>
              <a:buClrTx/>
              <a:buSzTx/>
              <a:buFontTx/>
              <a:buNone/>
              <a:defRPr/>
            </a:pPr>
            <a:endParaRPr kumimoji="1" lang="en-US" altLang="zh-CN" sz="1200" kern="1200" baseline="0" dirty="0" smtClean="0">
              <a:solidFill>
                <a:schemeClr val="tx1"/>
              </a:solidFill>
              <a:latin typeface="Arial" panose="020B0604020202020204" pitchFamily="34" charset="0"/>
              <a:ea typeface="宋体" charset="0"/>
              <a:cs typeface="Times New Roman" panose="02020603050405020304" charset="0"/>
            </a:endParaRPr>
          </a:p>
          <a:p>
            <a:pPr marL="0" marR="0" indent="0" algn="l" defTabSz="914400" rtl="0" eaLnBrk="0" fontAlgn="base" latinLnBrk="0" hangingPunct="0">
              <a:lnSpc>
                <a:spcPct val="100000"/>
              </a:lnSpc>
              <a:spcBef>
                <a:spcPct val="30000"/>
              </a:spcBef>
              <a:spcAft>
                <a:spcPct val="0"/>
              </a:spcAft>
              <a:buClrTx/>
              <a:buSzTx/>
              <a:buFontTx/>
              <a:buNone/>
              <a:defRPr/>
            </a:pPr>
            <a:r>
              <a:rPr kumimoji="1" lang="en-US" altLang="zh-CN" sz="1200" kern="1200" dirty="0" err="1" smtClean="0">
                <a:solidFill>
                  <a:schemeClr val="tx1"/>
                </a:solidFill>
                <a:latin typeface="Arial" panose="020B0604020202020204" pitchFamily="34" charset="0"/>
                <a:ea typeface="宋体" charset="0"/>
                <a:cs typeface="宋体" charset="0"/>
              </a:rPr>
              <a:t>Simple_distribution</a:t>
            </a:r>
            <a:r>
              <a:rPr kumimoji="1" lang="zh-CN" altLang="en-US" sz="1200" kern="1200" dirty="0" smtClean="0">
                <a:solidFill>
                  <a:schemeClr val="tx1"/>
                </a:solidFill>
                <a:latin typeface="Arial" panose="020B0604020202020204" pitchFamily="34" charset="0"/>
                <a:ea typeface="宋体" charset="0"/>
                <a:cs typeface="宋体" charset="0"/>
              </a:rPr>
              <a:t>的取值有以下两种情况</a:t>
            </a:r>
            <a:endParaRPr kumimoji="1" lang="en-US" altLang="zh-CN" sz="1200" kern="1200" dirty="0" smtClean="0">
              <a:solidFill>
                <a:schemeClr val="tx1"/>
              </a:solidFill>
              <a:latin typeface="Arial" panose="020B0604020202020204" pitchFamily="34" charset="0"/>
              <a:ea typeface="宋体" charset="0"/>
              <a:cs typeface="宋体" charset="0"/>
            </a:endParaRPr>
          </a:p>
          <a:p>
            <a:pPr marL="0" marR="0" indent="0" algn="l" defTabSz="914400" rtl="0" eaLnBrk="0" fontAlgn="base" latinLnBrk="0" hangingPunct="0">
              <a:lnSpc>
                <a:spcPct val="100000"/>
              </a:lnSpc>
              <a:spcBef>
                <a:spcPct val="30000"/>
              </a:spcBef>
              <a:spcAft>
                <a:spcPct val="0"/>
              </a:spcAft>
              <a:buClrTx/>
              <a:buSzTx/>
              <a:buFontTx/>
              <a:buNone/>
              <a:defRPr/>
            </a:pPr>
            <a:r>
              <a:rPr kumimoji="1" lang="en-US" altLang="zh-CN" sz="1200" kern="1200" dirty="0" smtClean="0">
                <a:solidFill>
                  <a:schemeClr val="tx1"/>
                </a:solidFill>
                <a:latin typeface="Arial" panose="020B0604020202020204" pitchFamily="34" charset="0"/>
                <a:ea typeface="宋体" charset="0"/>
                <a:cs typeface="宋体" charset="0"/>
              </a:rPr>
              <a:t>1,</a:t>
            </a:r>
            <a:r>
              <a:rPr kumimoji="1" lang="zh-CN" altLang="en-US" sz="1200" kern="1200" baseline="0" dirty="0" smtClean="0">
                <a:solidFill>
                  <a:schemeClr val="tx1"/>
                </a:solidFill>
                <a:latin typeface="Arial" panose="020B0604020202020204" pitchFamily="34" charset="0"/>
                <a:ea typeface="宋体" charset="0"/>
                <a:cs typeface="宋体" charset="0"/>
              </a:rPr>
              <a:t> </a:t>
            </a:r>
            <a:r>
              <a:rPr kumimoji="1" lang="zh-CN" altLang="en-US" sz="1200" kern="1200" dirty="0" smtClean="0">
                <a:solidFill>
                  <a:schemeClr val="tx1"/>
                </a:solidFill>
                <a:latin typeface="Arial" panose="020B0604020202020204" pitchFamily="34" charset="0"/>
                <a:ea typeface="宋体" charset="0"/>
                <a:cs typeface="宋体" charset="0"/>
              </a:rPr>
              <a:t>新公式，距离</a:t>
            </a:r>
            <a:r>
              <a:rPr kumimoji="1" lang="en-US" altLang="zh-CN" sz="1200" kern="1200" dirty="0" smtClean="0">
                <a:solidFill>
                  <a:schemeClr val="tx1"/>
                </a:solidFill>
                <a:latin typeface="Arial" panose="020B0604020202020204" pitchFamily="34" charset="0"/>
                <a:ea typeface="宋体" charset="0"/>
                <a:cs typeface="宋体" charset="0"/>
              </a:rPr>
              <a:t>&gt;threshold</a:t>
            </a:r>
            <a:endParaRPr kumimoji="1" lang="zh-CN" altLang="en-US" sz="1200" kern="1200" baseline="0" dirty="0" smtClean="0">
              <a:solidFill>
                <a:schemeClr val="tx1"/>
              </a:solidFill>
              <a:latin typeface="Arial" panose="020B0604020202020204" pitchFamily="34" charset="0"/>
              <a:ea typeface="宋体" charset="0"/>
              <a:cs typeface="宋体" charset="0"/>
            </a:endParaRPr>
          </a:p>
          <a:p>
            <a:pPr marL="0" marR="0" indent="0" algn="l" defTabSz="914400" rtl="0" eaLnBrk="0" fontAlgn="base" latinLnBrk="0" hangingPunct="0">
              <a:lnSpc>
                <a:spcPct val="100000"/>
              </a:lnSpc>
              <a:spcBef>
                <a:spcPct val="30000"/>
              </a:spcBef>
              <a:spcAft>
                <a:spcPct val="0"/>
              </a:spcAft>
              <a:buClrTx/>
              <a:buSzTx/>
              <a:buFontTx/>
              <a:buNone/>
              <a:defRPr/>
            </a:pPr>
            <a:r>
              <a:rPr kumimoji="1" lang="en-US" altLang="zh-CN" sz="1200" kern="1200" baseline="0" dirty="0" smtClean="0">
                <a:solidFill>
                  <a:schemeClr val="tx1"/>
                </a:solidFill>
                <a:latin typeface="Arial" panose="020B0604020202020204" pitchFamily="34" charset="0"/>
                <a:ea typeface="宋体" charset="0"/>
                <a:cs typeface="宋体" charset="0"/>
              </a:rPr>
              <a:t>0</a:t>
            </a:r>
            <a:r>
              <a:rPr kumimoji="1" lang="zh-CN" altLang="en-US" sz="1200" kern="1200" baseline="0" dirty="0" smtClean="0">
                <a:solidFill>
                  <a:schemeClr val="tx1"/>
                </a:solidFill>
                <a:latin typeface="Arial" panose="020B0604020202020204" pitchFamily="34" charset="0"/>
                <a:ea typeface="宋体" charset="0"/>
                <a:cs typeface="宋体" charset="0"/>
              </a:rPr>
              <a:t>，旧公式，引入</a:t>
            </a:r>
            <a:r>
              <a:rPr kumimoji="1" lang="en-US" altLang="zh-CN" sz="1200" kern="1200" baseline="0" dirty="0" err="1" smtClean="0">
                <a:solidFill>
                  <a:schemeClr val="tx1"/>
                </a:solidFill>
                <a:latin typeface="Arial" panose="020B0604020202020204" pitchFamily="34" charset="0"/>
                <a:ea typeface="宋体" charset="0"/>
                <a:cs typeface="宋体" charset="0"/>
              </a:rPr>
              <a:t>B_value</a:t>
            </a:r>
            <a:endParaRPr kumimoji="1" lang="zh-CN" altLang="en-US" sz="1200" kern="1200" baseline="0" dirty="0" smtClean="0">
              <a:solidFill>
                <a:schemeClr val="tx1"/>
              </a:solidFill>
              <a:latin typeface="Arial" panose="020B0604020202020204" pitchFamily="34" charset="0"/>
              <a:ea typeface="宋体" charset="0"/>
              <a:cs typeface="宋体" charset="0"/>
            </a:endParaRPr>
          </a:p>
          <a:p>
            <a:pPr marL="0" marR="0" indent="0" algn="l" defTabSz="914400" rtl="0" eaLnBrk="0" fontAlgn="base" latinLnBrk="0" hangingPunct="0">
              <a:lnSpc>
                <a:spcPct val="100000"/>
              </a:lnSpc>
              <a:spcBef>
                <a:spcPct val="30000"/>
              </a:spcBef>
              <a:spcAft>
                <a:spcPct val="0"/>
              </a:spcAft>
              <a:buClrTx/>
              <a:buSzTx/>
              <a:buFontTx/>
              <a:buNone/>
              <a:defRPr/>
            </a:pPr>
            <a:endParaRPr lang="en-US" altLang="zh-CN" sz="1200" dirty="0" smtClean="0">
              <a:solidFill>
                <a:srgbClr val="33CC33"/>
              </a:solidFill>
              <a:latin typeface="Times New Roman" panose="02020603050405020304" charset="0"/>
              <a:cs typeface="Times New Roman" panose="02020603050405020304" charset="0"/>
            </a:endParaRP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kern="1200" dirty="0" smtClean="0">
                <a:solidFill>
                  <a:schemeClr val="tx1"/>
                </a:solidFill>
                <a:latin typeface="Arial" panose="020B0604020202020204" pitchFamily="34" charset="0"/>
                <a:ea typeface="宋体" charset="0"/>
                <a:cs typeface="宋体" charset="0"/>
              </a:rPr>
              <a:t>实际上从数目分布特征的概念中可以看出，子维度对象应该是离散的非数值变量</a:t>
            </a:r>
            <a:r>
              <a:rPr kumimoji="1" lang="en-US" altLang="zh-CN" sz="1200" kern="1200" dirty="0" smtClean="0">
                <a:solidFill>
                  <a:schemeClr val="tx1"/>
                </a:solidFill>
                <a:latin typeface="Arial" panose="020B0604020202020204" pitchFamily="34" charset="0"/>
                <a:ea typeface="宋体" charset="0"/>
                <a:cs typeface="宋体" charset="0"/>
              </a:rPr>
              <a:t>(</a:t>
            </a:r>
            <a:r>
              <a:rPr kumimoji="1" lang="zh-CN" altLang="en-US" sz="1200" kern="1200" dirty="0" smtClean="0">
                <a:solidFill>
                  <a:schemeClr val="tx1"/>
                </a:solidFill>
                <a:latin typeface="Arial" panose="020B0604020202020204" pitchFamily="34" charset="0"/>
                <a:ea typeface="宋体" charset="0"/>
                <a:cs typeface="宋体" charset="0"/>
              </a:rPr>
              <a:t>比如：</a:t>
            </a:r>
            <a:r>
              <a:rPr kumimoji="1" lang="en-US" altLang="zh-CN" sz="1200" kern="1200" dirty="0" smtClean="0">
                <a:solidFill>
                  <a:schemeClr val="tx1"/>
                </a:solidFill>
                <a:latin typeface="Arial" panose="020B0604020202020204" pitchFamily="34" charset="0"/>
                <a:ea typeface="宋体" charset="0"/>
                <a:cs typeface="宋体" charset="0"/>
              </a:rPr>
              <a:t>123_cps, 234_cps)</a:t>
            </a:r>
            <a:endParaRPr kumimoji="1" lang="en-US" altLang="zh-CN" sz="1200" kern="1200" dirty="0" smtClean="0">
              <a:solidFill>
                <a:schemeClr val="tx1"/>
              </a:solidFill>
              <a:latin typeface="Arial" panose="020B0604020202020204" pitchFamily="34" charset="0"/>
              <a:ea typeface="宋体" charset="0"/>
              <a:cs typeface="宋体" charset="0"/>
            </a:endParaRPr>
          </a:p>
          <a:p>
            <a:pPr marL="0" marR="0" indent="0" algn="l" defTabSz="914400" rtl="0" eaLnBrk="0" fontAlgn="base" latinLnBrk="0" hangingPunct="0">
              <a:lnSpc>
                <a:spcPct val="100000"/>
              </a:lnSpc>
              <a:spcBef>
                <a:spcPct val="30000"/>
              </a:spcBef>
              <a:spcAft>
                <a:spcPct val="0"/>
              </a:spcAft>
              <a:buClrTx/>
              <a:buSzTx/>
              <a:buFontTx/>
              <a:buNone/>
              <a:defRPr/>
            </a:pPr>
            <a:endParaRPr lang="en-US" altLang="zh-CN" sz="1200" dirty="0" smtClean="0">
              <a:solidFill>
                <a:srgbClr val="33CC33"/>
              </a:solidFill>
              <a:latin typeface="Times New Roman" panose="02020603050405020304" charset="0"/>
              <a:cs typeface="Times New Roman" panose="02020603050405020304" charset="0"/>
            </a:endParaRPr>
          </a:p>
          <a:p>
            <a:r>
              <a:rPr lang="en-US" altLang="zh-CN" sz="1200" dirty="0" smtClean="0">
                <a:solidFill>
                  <a:srgbClr val="33CC33"/>
                </a:solidFill>
                <a:latin typeface="Times New Roman" panose="02020603050405020304" charset="0"/>
                <a:cs typeface="Times New Roman" panose="02020603050405020304" charset="0"/>
              </a:rPr>
              <a:t>( [#</a:t>
            </a:r>
            <a:r>
              <a:rPr lang="en-US" altLang="zh-CN" sz="1200" dirty="0" err="1" smtClean="0">
                <a:solidFill>
                  <a:srgbClr val="33CC33"/>
                </a:solidFill>
                <a:latin typeface="Times New Roman" panose="02020603050405020304" charset="0"/>
                <a:cs typeface="Times New Roman" panose="02020603050405020304" charset="0"/>
              </a:rPr>
              <a:t>DspClick</a:t>
            </a:r>
            <a:r>
              <a:rPr lang="en-US" altLang="zh-CN" sz="1200" dirty="0" smtClean="0">
                <a:solidFill>
                  <a:srgbClr val="33CC33"/>
                </a:solidFill>
                <a:latin typeface="Times New Roman" panose="02020603050405020304" charset="0"/>
                <a:cs typeface="Times New Roman" panose="02020603050405020304" charset="0"/>
              </a:rPr>
              <a:t>] || [#</a:t>
            </a:r>
            <a:r>
              <a:rPr lang="en-US" altLang="zh-CN" sz="1200" dirty="0" err="1" smtClean="0">
                <a:solidFill>
                  <a:srgbClr val="33CC33"/>
                </a:solidFill>
                <a:latin typeface="Times New Roman" panose="02020603050405020304" charset="0"/>
                <a:cs typeface="Times New Roman" panose="02020603050405020304" charset="0"/>
              </a:rPr>
              <a:t>FeedDsp</a:t>
            </a:r>
            <a:r>
              <a:rPr lang="en-US" altLang="zh-CN" sz="1200" dirty="0" smtClean="0">
                <a:solidFill>
                  <a:srgbClr val="33CC33"/>
                </a:solidFill>
                <a:latin typeface="Times New Roman" panose="02020603050405020304" charset="0"/>
                <a:cs typeface="Times New Roman" panose="02020603050405020304" charset="0"/>
              </a:rPr>
              <a:t>] ) &amp;&amp; [‘</a:t>
            </a:r>
            <a:r>
              <a:rPr lang="en-US" altLang="zh-CN" sz="1200" dirty="0" err="1" smtClean="0">
                <a:solidFill>
                  <a:srgbClr val="33CC33"/>
                </a:solidFill>
                <a:latin typeface="Times New Roman" panose="02020603050405020304" charset="0"/>
                <a:cs typeface="Times New Roman" panose="02020603050405020304" charset="0"/>
              </a:rPr>
              <a:t>nttp</a:t>
            </a:r>
            <a:r>
              <a:rPr lang="en-US" altLang="zh-CN" sz="1200" dirty="0" smtClean="0">
                <a:solidFill>
                  <a:srgbClr val="33CC33"/>
                </a:solidFill>
                <a:latin typeface="Times New Roman" panose="02020603050405020304" charset="0"/>
                <a:cs typeface="Times New Roman" panose="02020603050405020304" charset="0"/>
              </a:rPr>
              <a:t>’:=‘2’,‘3’][#</a:t>
            </a:r>
            <a:r>
              <a:rPr lang="en-US" altLang="zh-CN" sz="1200" dirty="0" err="1" smtClean="0">
                <a:solidFill>
                  <a:srgbClr val="33CC33"/>
                </a:solidFill>
                <a:latin typeface="Times New Roman" panose="02020603050405020304" charset="0"/>
                <a:cs typeface="Times New Roman" panose="02020603050405020304" charset="0"/>
              </a:rPr>
              <a:t>ValidBaiduid</a:t>
            </a:r>
            <a:r>
              <a:rPr lang="en-US" altLang="zh-CN" sz="1200" dirty="0" smtClean="0">
                <a:solidFill>
                  <a:srgbClr val="33CC33"/>
                </a:solidFill>
                <a:latin typeface="Times New Roman" panose="02020603050405020304" charset="0"/>
                <a:cs typeface="Times New Roman" panose="02020603050405020304" charset="0"/>
              </a:rPr>
              <a:t>]</a:t>
            </a:r>
            <a:r>
              <a:rPr lang="zh-CN" altLang="en-US" sz="1200" dirty="0" smtClean="0">
                <a:solidFill>
                  <a:srgbClr val="33CC33"/>
                </a:solidFill>
                <a:latin typeface="Times New Roman" panose="02020603050405020304" charset="0"/>
                <a:cs typeface="Times New Roman" panose="02020603050405020304" charset="0"/>
              </a:rPr>
              <a:t>：信息流原生广告或者秋实，</a:t>
            </a:r>
            <a:r>
              <a:rPr lang="en-US" altLang="zh-CN" sz="1200" dirty="0" smtClean="0">
                <a:solidFill>
                  <a:srgbClr val="33CC33"/>
                </a:solidFill>
                <a:latin typeface="Times New Roman" panose="02020603050405020304" charset="0"/>
                <a:cs typeface="Times New Roman" panose="02020603050405020304" charset="0"/>
              </a:rPr>
              <a:t>LU</a:t>
            </a:r>
            <a:r>
              <a:rPr lang="zh-CN" altLang="en-US" sz="1200" dirty="0" smtClean="0">
                <a:solidFill>
                  <a:srgbClr val="33CC33"/>
                </a:solidFill>
                <a:latin typeface="Times New Roman" panose="02020603050405020304" charset="0"/>
                <a:cs typeface="Times New Roman" panose="02020603050405020304" charset="0"/>
              </a:rPr>
              <a:t>导流广告</a:t>
            </a:r>
            <a:endParaRPr lang="en-US" altLang="zh-CN" sz="1200" dirty="0" smtClean="0">
              <a:solidFill>
                <a:srgbClr val="33CC33"/>
              </a:solidFill>
              <a:latin typeface="Times New Roman" panose="02020603050405020304" charset="0"/>
              <a:cs typeface="Times New Roman" panose="02020603050405020304" charset="0"/>
            </a:endParaRPr>
          </a:p>
          <a:p>
            <a:endParaRPr lang="en-US" altLang="zh-CN" sz="1200" dirty="0" smtClean="0">
              <a:solidFill>
                <a:srgbClr val="33CC33"/>
              </a:solidFill>
              <a:latin typeface="Times New Roman" panose="02020603050405020304" charset="0"/>
              <a:cs typeface="Times New Roman" panose="02020603050405020304" charset="0"/>
            </a:endParaRPr>
          </a:p>
          <a:p>
            <a:r>
              <a:rPr kumimoji="1" lang="en-US" altLang="zh-CN" dirty="0" err="1" smtClean="0"/>
              <a:t>nttp</a:t>
            </a:r>
            <a:r>
              <a:rPr kumimoji="1" lang="zh-CN" altLang="en-US" dirty="0" smtClean="0"/>
              <a:t>，百意，</a:t>
            </a:r>
            <a:r>
              <a:rPr kumimoji="1" lang="en-US" altLang="zh-CN" dirty="0" smtClean="0"/>
              <a:t>1</a:t>
            </a:r>
            <a:r>
              <a:rPr kumimoji="1" lang="zh-CN" altLang="en-US" baseline="0" dirty="0" smtClean="0"/>
              <a:t> </a:t>
            </a:r>
            <a:r>
              <a:rPr kumimoji="1" lang="en-US" altLang="zh-CN" baseline="0" dirty="0" smtClean="0"/>
              <a:t>pc</a:t>
            </a:r>
            <a:r>
              <a:rPr kumimoji="1" lang="zh-CN" altLang="en-US" baseline="0" dirty="0" smtClean="0"/>
              <a:t>网页，</a:t>
            </a:r>
            <a:r>
              <a:rPr kumimoji="1" lang="en-US" altLang="zh-CN" baseline="0" dirty="0" smtClean="0"/>
              <a:t>2</a:t>
            </a:r>
            <a:r>
              <a:rPr kumimoji="1" lang="zh-CN" altLang="en-US" baseline="0" dirty="0" smtClean="0"/>
              <a:t> </a:t>
            </a:r>
            <a:r>
              <a:rPr kumimoji="1" lang="en-US" altLang="zh-CN" baseline="0" dirty="0" smtClean="0"/>
              <a:t>wise</a:t>
            </a:r>
            <a:r>
              <a:rPr kumimoji="1" lang="zh-CN" altLang="en-US" baseline="0" dirty="0" smtClean="0"/>
              <a:t>网页， </a:t>
            </a:r>
            <a:r>
              <a:rPr kumimoji="1" lang="en-US" altLang="zh-CN" baseline="0" dirty="0" smtClean="0"/>
              <a:t>3</a:t>
            </a:r>
            <a:r>
              <a:rPr kumimoji="1" lang="zh-CN" altLang="en-US" baseline="0" dirty="0" smtClean="0"/>
              <a:t> </a:t>
            </a:r>
            <a:r>
              <a:rPr kumimoji="1" lang="en-US" altLang="zh-CN" baseline="0" dirty="0" smtClean="0"/>
              <a:t>app</a:t>
            </a:r>
            <a:endParaRPr kumimoji="1" lang="zh-CN" altLang="en-US" baseline="0" dirty="0" smtClean="0"/>
          </a:p>
          <a:p>
            <a:r>
              <a:rPr lang="zh-CN" altLang="en-US" sz="1200" b="0" i="0" kern="1200" dirty="0" smtClean="0">
                <a:solidFill>
                  <a:schemeClr val="tx1"/>
                </a:solidFill>
                <a:effectLst/>
                <a:latin typeface="Arial" panose="020B0604020202020204" pitchFamily="34" charset="0"/>
                <a:ea typeface="宋体" pitchFamily="2" charset="-122"/>
                <a:cs typeface="+mn-cs"/>
              </a:rPr>
              <a:t>由于百意点击日志中</a:t>
            </a:r>
            <a:r>
              <a:rPr lang="en-US" altLang="zh-CN" sz="1200" b="0" i="0" kern="1200" dirty="0" err="1" smtClean="0">
                <a:solidFill>
                  <a:schemeClr val="tx1"/>
                </a:solidFill>
                <a:effectLst/>
                <a:latin typeface="Arial" panose="020B0604020202020204" pitchFamily="34" charset="0"/>
                <a:ea typeface="宋体" pitchFamily="2" charset="-122"/>
                <a:cs typeface="+mn-cs"/>
              </a:rPr>
              <a:t>is_wireless</a:t>
            </a:r>
            <a:r>
              <a:rPr lang="zh-CN" altLang="en-US" sz="1200" b="0" i="0" kern="1200" dirty="0" smtClean="0">
                <a:solidFill>
                  <a:schemeClr val="tx1"/>
                </a:solidFill>
                <a:effectLst/>
                <a:latin typeface="Arial" panose="020B0604020202020204" pitchFamily="34" charset="0"/>
                <a:ea typeface="宋体" pitchFamily="2" charset="-122"/>
                <a:cs typeface="+mn-cs"/>
              </a:rPr>
              <a:t>无实际意义，在统计中使用日志中</a:t>
            </a:r>
            <a:r>
              <a:rPr lang="en-US" altLang="zh-CN" sz="1200" b="0" i="0" kern="1200" dirty="0" smtClean="0">
                <a:solidFill>
                  <a:schemeClr val="tx1"/>
                </a:solidFill>
                <a:effectLst/>
                <a:latin typeface="Arial" panose="020B0604020202020204" pitchFamily="34" charset="0"/>
                <a:ea typeface="宋体" pitchFamily="2" charset="-122"/>
                <a:cs typeface="+mn-cs"/>
              </a:rPr>
              <a:t>k</a:t>
            </a:r>
            <a:r>
              <a:rPr lang="zh-CN" altLang="en-US" sz="1200" b="0" i="0" kern="1200" dirty="0" smtClean="0">
                <a:solidFill>
                  <a:schemeClr val="tx1"/>
                </a:solidFill>
                <a:effectLst/>
                <a:latin typeface="Arial" panose="020B0604020202020204" pitchFamily="34" charset="0"/>
                <a:ea typeface="宋体" pitchFamily="2" charset="-122"/>
                <a:cs typeface="+mn-cs"/>
              </a:rPr>
              <a:t>域的</a:t>
            </a:r>
            <a:r>
              <a:rPr lang="en-US" altLang="zh-CN" sz="1200" b="0" i="0" kern="1200" dirty="0" err="1" smtClean="0">
                <a:solidFill>
                  <a:schemeClr val="tx1"/>
                </a:solidFill>
                <a:effectLst/>
                <a:latin typeface="Arial" panose="020B0604020202020204" pitchFamily="34" charset="0"/>
                <a:ea typeface="宋体" pitchFamily="2" charset="-122"/>
                <a:cs typeface="+mn-cs"/>
              </a:rPr>
              <a:t>nttp</a:t>
            </a:r>
            <a:r>
              <a:rPr lang="zh-CN" altLang="en-US" sz="1200" b="0" i="0" kern="1200" dirty="0" smtClean="0">
                <a:solidFill>
                  <a:schemeClr val="tx1"/>
                </a:solidFill>
                <a:effectLst/>
                <a:latin typeface="Arial" panose="020B0604020202020204" pitchFamily="34" charset="0"/>
                <a:ea typeface="宋体" pitchFamily="2" charset="-122"/>
                <a:cs typeface="+mn-cs"/>
              </a:rPr>
              <a:t>字段区分，</a:t>
            </a:r>
            <a:r>
              <a:rPr lang="en-US" altLang="zh-CN" sz="1200" b="0" i="0" kern="1200" dirty="0" smtClean="0">
                <a:solidFill>
                  <a:schemeClr val="tx1"/>
                </a:solidFill>
                <a:effectLst/>
                <a:latin typeface="Arial" panose="020B0604020202020204" pitchFamily="34" charset="0"/>
                <a:ea typeface="宋体" pitchFamily="2" charset="-122"/>
                <a:cs typeface="+mn-cs"/>
              </a:rPr>
              <a:t>is_wireless:0</a:t>
            </a:r>
            <a:r>
              <a:rPr lang="zh-CN" altLang="en-US" sz="1200" b="0" i="0" kern="1200" dirty="0" smtClean="0">
                <a:solidFill>
                  <a:schemeClr val="tx1"/>
                </a:solidFill>
                <a:effectLst/>
                <a:latin typeface="Arial" panose="020B0604020202020204" pitchFamily="34" charset="0"/>
                <a:ea typeface="宋体" pitchFamily="2" charset="-122"/>
                <a:cs typeface="+mn-cs"/>
              </a:rPr>
              <a:t>表示</a:t>
            </a:r>
            <a:r>
              <a:rPr lang="en-US" altLang="zh-CN" sz="1200" b="0" i="0" kern="1200" dirty="0" err="1" smtClean="0">
                <a:solidFill>
                  <a:schemeClr val="tx1"/>
                </a:solidFill>
                <a:effectLst/>
                <a:latin typeface="Arial" panose="020B0604020202020204" pitchFamily="34" charset="0"/>
                <a:ea typeface="宋体" pitchFamily="2" charset="-122"/>
                <a:cs typeface="+mn-cs"/>
              </a:rPr>
              <a:t>nttp</a:t>
            </a:r>
            <a:r>
              <a:rPr lang="en-US" altLang="zh-CN" sz="1200" b="0" i="0" kern="1200" dirty="0" smtClean="0">
                <a:solidFill>
                  <a:schemeClr val="tx1"/>
                </a:solidFill>
                <a:effectLst/>
                <a:latin typeface="Arial" panose="020B0604020202020204" pitchFamily="34" charset="0"/>
                <a:ea typeface="宋体" pitchFamily="2" charset="-122"/>
                <a:cs typeface="+mn-cs"/>
              </a:rPr>
              <a:t>=1</a:t>
            </a:r>
            <a:r>
              <a:rPr lang="zh-CN" altLang="en-US" sz="1200" b="0" i="0" kern="1200" dirty="0" smtClean="0">
                <a:solidFill>
                  <a:schemeClr val="tx1"/>
                </a:solidFill>
                <a:effectLst/>
                <a:latin typeface="Arial" panose="020B0604020202020204" pitchFamily="34" charset="0"/>
                <a:ea typeface="宋体" pitchFamily="2" charset="-122"/>
                <a:cs typeface="+mn-cs"/>
              </a:rPr>
              <a:t>，</a:t>
            </a:r>
            <a:r>
              <a:rPr lang="en-US" altLang="zh-CN" sz="1200" b="0" i="0" kern="1200" dirty="0" smtClean="0">
                <a:solidFill>
                  <a:schemeClr val="tx1"/>
                </a:solidFill>
                <a:effectLst/>
                <a:latin typeface="Arial" panose="020B0604020202020204" pitchFamily="34" charset="0"/>
                <a:ea typeface="宋体" pitchFamily="2" charset="-122"/>
                <a:cs typeface="+mn-cs"/>
              </a:rPr>
              <a:t>is_wireless:1</a:t>
            </a:r>
            <a:r>
              <a:rPr lang="zh-CN" altLang="en-US" sz="1200" b="0" i="0" kern="1200" dirty="0" smtClean="0">
                <a:solidFill>
                  <a:schemeClr val="tx1"/>
                </a:solidFill>
                <a:effectLst/>
                <a:latin typeface="Arial" panose="020B0604020202020204" pitchFamily="34" charset="0"/>
                <a:ea typeface="宋体" pitchFamily="2" charset="-122"/>
                <a:cs typeface="+mn-cs"/>
              </a:rPr>
              <a:t>表示</a:t>
            </a:r>
            <a:r>
              <a:rPr lang="en-US" altLang="zh-CN" sz="1200" b="0" i="0" kern="1200" dirty="0" err="1" smtClean="0">
                <a:solidFill>
                  <a:schemeClr val="tx1"/>
                </a:solidFill>
                <a:effectLst/>
                <a:latin typeface="Arial" panose="020B0604020202020204" pitchFamily="34" charset="0"/>
                <a:ea typeface="宋体" pitchFamily="2" charset="-122"/>
                <a:cs typeface="+mn-cs"/>
              </a:rPr>
              <a:t>nttp</a:t>
            </a:r>
            <a:r>
              <a:rPr lang="en-US" altLang="zh-CN" sz="1200" b="0" i="0" kern="1200" dirty="0" smtClean="0">
                <a:solidFill>
                  <a:schemeClr val="tx1"/>
                </a:solidFill>
                <a:effectLst/>
                <a:latin typeface="Arial" panose="020B0604020202020204" pitchFamily="34" charset="0"/>
                <a:ea typeface="宋体" pitchFamily="2" charset="-122"/>
                <a:cs typeface="+mn-cs"/>
              </a:rPr>
              <a:t>=2,3</a:t>
            </a:r>
            <a:endParaRPr kumimoji="1" lang="zh-CN" altLang="en-US" dirty="0" smtClean="0"/>
          </a:p>
          <a:p>
            <a:endParaRPr lang="en-US" altLang="zh-CN" sz="1200" dirty="0">
              <a:solidFill>
                <a:srgbClr val="33CC33"/>
              </a:solidFill>
              <a:latin typeface="Times New Roman" panose="02020603050405020304" charset="0"/>
              <a:cs typeface="Times New Roman" panose="02020603050405020304" charset="0"/>
            </a:endParaRP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zh-CN" sz="1200" dirty="0" smtClean="0">
                <a:solidFill>
                  <a:srgbClr val="000000"/>
                </a:solidFill>
              </a:rPr>
              <a:t>在一定段长内，主维度对象下单个二级维度对象中出现的三级维度对象的种类分布。</a:t>
            </a:r>
            <a:endParaRPr lang="en-US" altLang="zh-CN" sz="1200" dirty="0" smtClean="0">
              <a:solidFill>
                <a:srgbClr val="000000"/>
              </a:solidFill>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dirty="0" smtClean="0">
              <a:solidFill>
                <a:srgbClr val="000000"/>
              </a:solidFill>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dirty="0" smtClean="0">
                <a:solidFill>
                  <a:srgbClr val="33CC33"/>
                </a:solidFill>
                <a:latin typeface="Times New Roman" panose="02020603050405020304" charset="0"/>
                <a:cs typeface="Times New Roman" panose="02020603050405020304" charset="0"/>
              </a:rPr>
              <a:t>信息流广告，或者</a:t>
            </a:r>
            <a:r>
              <a:rPr lang="en-US" altLang="zh-CN" sz="1200" dirty="0" smtClean="0">
                <a:solidFill>
                  <a:srgbClr val="33CC33"/>
                </a:solidFill>
                <a:latin typeface="Times New Roman" panose="02020603050405020304" charset="0"/>
                <a:cs typeface="Times New Roman" panose="02020603050405020304" charset="0"/>
              </a:rPr>
              <a:t>wise</a:t>
            </a:r>
            <a:r>
              <a:rPr lang="zh-CN" altLang="en-US" sz="1200" dirty="0" smtClean="0">
                <a:solidFill>
                  <a:srgbClr val="33CC33"/>
                </a:solidFill>
                <a:latin typeface="Times New Roman" panose="02020603050405020304" charset="0"/>
                <a:cs typeface="Times New Roman" panose="02020603050405020304" charset="0"/>
              </a:rPr>
              <a:t>端凤巢广告，或者</a:t>
            </a:r>
            <a:r>
              <a:rPr lang="zh-CN" altLang="en-US" sz="1200" b="0" i="0" kern="1200" dirty="0" smtClean="0">
                <a:solidFill>
                  <a:schemeClr val="tx1"/>
                </a:solidFill>
                <a:effectLst/>
                <a:latin typeface="+mn-lt"/>
                <a:ea typeface="+mn-ea"/>
                <a:cs typeface="+mn-cs"/>
              </a:rPr>
              <a:t>无线汇川</a:t>
            </a:r>
            <a:r>
              <a:rPr lang="en-US" altLang="zh-CN" sz="1200" b="0" i="0" kern="1200" dirty="0" smtClean="0">
                <a:solidFill>
                  <a:schemeClr val="tx1"/>
                </a:solidFill>
                <a:effectLst/>
                <a:latin typeface="+mn-lt"/>
                <a:ea typeface="+mn-ea"/>
                <a:cs typeface="+mn-cs"/>
              </a:rPr>
              <a:t>-APP</a:t>
            </a:r>
            <a:r>
              <a:rPr lang="zh-CN" altLang="en-US" sz="1200" b="0" i="0" kern="1200" dirty="0" smtClean="0">
                <a:solidFill>
                  <a:schemeClr val="tx1"/>
                </a:solidFill>
                <a:effectLst/>
                <a:latin typeface="+mn-lt"/>
                <a:ea typeface="+mn-ea"/>
                <a:cs typeface="+mn-cs"/>
              </a:rPr>
              <a:t>导流</a:t>
            </a:r>
            <a:r>
              <a:rPr lang="en-US" altLang="zh-CN" sz="1200" b="0" i="0" kern="1200" dirty="0" smtClean="0">
                <a:solidFill>
                  <a:schemeClr val="tx1"/>
                </a:solidFill>
                <a:effectLst/>
                <a:latin typeface="+mn-lt"/>
                <a:ea typeface="+mn-ea"/>
                <a:cs typeface="+mn-cs"/>
              </a:rPr>
              <a:t>ASP</a:t>
            </a:r>
            <a:r>
              <a:rPr lang="zh-CN" altLang="en-US" sz="1200" b="0" i="0" kern="1200" dirty="0" smtClean="0">
                <a:solidFill>
                  <a:schemeClr val="tx1"/>
                </a:solidFill>
                <a:effectLst/>
                <a:latin typeface="+mn-lt"/>
                <a:ea typeface="+mn-ea"/>
                <a:cs typeface="+mn-cs"/>
              </a:rPr>
              <a:t>广告</a:t>
            </a:r>
            <a:endParaRPr lang="en-US" altLang="zh-CN" sz="1200" dirty="0">
              <a:solidFill>
                <a:srgbClr val="33CC33"/>
              </a:solidFill>
              <a:latin typeface="Times New Roman" panose="02020603050405020304" charset="0"/>
              <a:cs typeface="Times New Roman" panose="02020603050405020304" charset="0"/>
            </a:endParaRP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集中度策略和比例策略</a:t>
            </a:r>
            <a:endParaRPr lang="zh-CN" altLang="en-US" dirty="0" smtClean="0"/>
          </a:p>
          <a:p>
            <a:r>
              <a:rPr lang="zh-CN" altLang="en-US" dirty="0" smtClean="0"/>
              <a:t>如：某</a:t>
            </a:r>
            <a:r>
              <a:rPr lang="en-US" altLang="zh-CN" dirty="0" err="1" smtClean="0"/>
              <a:t>userid</a:t>
            </a:r>
            <a:r>
              <a:rPr lang="zh-CN" altLang="en-US" dirty="0" smtClean="0"/>
              <a:t>下，某</a:t>
            </a:r>
            <a:r>
              <a:rPr lang="en-US" altLang="zh-CN" dirty="0" err="1" smtClean="0"/>
              <a:t>baiduid</a:t>
            </a:r>
            <a:r>
              <a:rPr lang="zh-CN" altLang="en-US" dirty="0" smtClean="0"/>
              <a:t>占比过高（点击作弊），</a:t>
            </a:r>
            <a:r>
              <a:rPr lang="en-US" altLang="zh-CN" dirty="0" smtClean="0"/>
              <a:t>filter</a:t>
            </a:r>
            <a:r>
              <a:rPr lang="zh-CN" altLang="en-US" dirty="0" smtClean="0"/>
              <a:t>不易圈流量</a:t>
            </a:r>
            <a:endParaRPr lang="zh-CN" altLang="en-US" dirty="0" smtClean="0"/>
          </a:p>
          <a:p>
            <a:endParaRPr lang="zh-CN" altLang="en-US" dirty="0" smtClean="0"/>
          </a:p>
          <a:p>
            <a:r>
              <a:rPr lang="en-US" altLang="zh-CN" dirty="0" smtClean="0"/>
              <a:t>Limit 1</a:t>
            </a:r>
            <a:r>
              <a:rPr lang="zh-CN" altLang="en-US" dirty="0" smtClean="0"/>
              <a:t>：</a:t>
            </a:r>
            <a:r>
              <a:rPr lang="en-US" altLang="zh-CN" dirty="0" smtClean="0"/>
              <a:t>top K</a:t>
            </a:r>
            <a:r>
              <a:rPr lang="zh-CN" altLang="en-US" dirty="0" smtClean="0"/>
              <a:t>的</a:t>
            </a:r>
            <a:r>
              <a:rPr lang="en-US" altLang="zh-CN" dirty="0" smtClean="0"/>
              <a:t>K</a:t>
            </a:r>
            <a:r>
              <a:rPr lang="zh-CN" altLang="en-US" dirty="0" smtClean="0"/>
              <a:t>一般比较小，小于</a:t>
            </a:r>
            <a:r>
              <a:rPr lang="en-US" altLang="zh-CN" dirty="0" smtClean="0"/>
              <a:t>100</a:t>
            </a:r>
            <a:endParaRPr lang="en-US" altLang="zh-CN" dirty="0" smtClean="0"/>
          </a:p>
          <a:p>
            <a:r>
              <a:rPr lang="en-US" altLang="zh-CN" dirty="0" smtClean="0"/>
              <a:t>Limit 2</a:t>
            </a:r>
            <a:r>
              <a:rPr lang="zh-CN" altLang="en-US" dirty="0" smtClean="0"/>
              <a:t>：维度一般是比较宽的维度，也就是说独立对象数较多。原因是宽维度下才具备分布统计意义。</a:t>
            </a:r>
            <a:endParaRPr lang="zh-CN" altLang="en-US" dirty="0" smtClean="0"/>
          </a:p>
          <a:p>
            <a:r>
              <a:rPr lang="en-US" altLang="zh-CN" dirty="0" smtClean="0"/>
              <a:t>Limit 3</a:t>
            </a:r>
            <a:r>
              <a:rPr lang="zh-CN" altLang="en-US" dirty="0" smtClean="0"/>
              <a:t>：子维度对象的频次分布一般具备长尾特征，即可能存在</a:t>
            </a:r>
            <a:r>
              <a:rPr lang="en-US" altLang="zh-CN" dirty="0" smtClean="0"/>
              <a:t>50%</a:t>
            </a:r>
            <a:r>
              <a:rPr lang="zh-CN" altLang="en-US" dirty="0" smtClean="0"/>
              <a:t>的子维度对象的频次占比都小于千分之一。</a:t>
            </a:r>
            <a:endParaRPr lang="zh-CN" altLang="en-US" dirty="0" smtClean="0"/>
          </a:p>
          <a:p>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dirty="0" err="1" smtClean="0"/>
              <a:t>url_type</a:t>
            </a:r>
            <a:r>
              <a:rPr kumimoji="1" lang="en-US" altLang="zh-CN" dirty="0" smtClean="0"/>
              <a:t>,</a:t>
            </a:r>
            <a:r>
              <a:rPr kumimoji="1" lang="zh-CN" altLang="en-US" dirty="0" smtClean="0"/>
              <a:t> 表征此次检索，描述检索属性，特点，</a:t>
            </a:r>
            <a:r>
              <a:rPr kumimoji="1" lang="en-US" altLang="zh-CN" dirty="0" err="1" smtClean="0"/>
              <a:t>url</a:t>
            </a:r>
            <a:r>
              <a:rPr kumimoji="1" lang="zh-CN" altLang="en-US" dirty="0" smtClean="0"/>
              <a:t>后面多个域的取值拼接在一起的结果。</a:t>
            </a:r>
            <a:endParaRPr kumimoji="1" lang="zh-CN" altLang="en-US" dirty="0" smtClean="0"/>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dirty="0" smtClean="0">
              <a:solidFill>
                <a:srgbClr val="33CC33"/>
              </a:solidFill>
              <a:latin typeface="Times New Roman" panose="02020603050405020304" charset="0"/>
              <a:cs typeface="Times New Roman" panose="02020603050405020304" charset="0"/>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dirty="0" smtClean="0">
                <a:solidFill>
                  <a:srgbClr val="33CC33"/>
                </a:solidFill>
                <a:latin typeface="Times New Roman" panose="02020603050405020304" charset="0"/>
                <a:cs typeface="Times New Roman" panose="02020603050405020304" charset="0"/>
              </a:rPr>
              <a:t>为什么会有两个？后面可以查代码了解一下具体信息。</a:t>
            </a:r>
            <a:endParaRPr lang="en-US" altLang="zh-CN" sz="1200" dirty="0" smtClean="0">
              <a:solidFill>
                <a:srgbClr val="33CC33"/>
              </a:solidFill>
              <a:latin typeface="Times New Roman" panose="02020603050405020304" charset="0"/>
              <a:cs typeface="Times New Roman" panose="02020603050405020304" charset="0"/>
            </a:endParaRP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为什么时间差是在一个区间中，而不是小于某个值的都被滤掉，这是因为小于某个值的时候，问题与现在不一样，这一现象和实际情况有关，后面在遇到</a:t>
            </a:r>
            <a:r>
              <a:rPr lang="en-US" altLang="zh-CN" dirty="0" smtClean="0"/>
              <a:t>hijack</a:t>
            </a:r>
            <a:r>
              <a:rPr lang="zh-CN" altLang="en-US" dirty="0" smtClean="0"/>
              <a:t>策略时会进行说明。 </a:t>
            </a:r>
            <a:endParaRPr lang="en-US" altLang="zh-CN" dirty="0" smtClean="0"/>
          </a:p>
          <a:p>
            <a:endParaRPr lang="en-US" altLang="zh-CN" dirty="0" smtClean="0"/>
          </a:p>
          <a:p>
            <a:r>
              <a:rPr lang="zh-CN" altLang="en-US" dirty="0" smtClean="0"/>
              <a:t>什么是重复检索：重复检索是一个比较大的领域，同一个维度对象下的两条日志之间时间差小于某个阈值的都可以认为是重复检索。</a:t>
            </a:r>
            <a:endParaRPr lang="en-US" altLang="zh-CN" dirty="0" smtClean="0"/>
          </a:p>
          <a:p>
            <a:endParaRPr lang="en-US" altLang="zh-CN" dirty="0" smtClean="0"/>
          </a:p>
          <a:p>
            <a:r>
              <a:rPr lang="en-US" altLang="zh-CN" dirty="0" smtClean="0"/>
              <a:t>wise</a:t>
            </a:r>
            <a:r>
              <a:rPr lang="zh-CN" altLang="en-US" dirty="0" smtClean="0"/>
              <a:t>预读：在</a:t>
            </a:r>
            <a:r>
              <a:rPr lang="en-US" altLang="zh-CN" dirty="0" smtClean="0"/>
              <a:t>wise</a:t>
            </a:r>
            <a:r>
              <a:rPr lang="zh-CN" altLang="en-US" dirty="0" smtClean="0"/>
              <a:t>端，手机浏览器会提前缓存下一页的东西，百度看到的下一页的</a:t>
            </a:r>
            <a:r>
              <a:rPr lang="en-US" altLang="zh-CN" dirty="0" err="1" smtClean="0"/>
              <a:t>pv</a:t>
            </a:r>
            <a:r>
              <a:rPr lang="zh-CN" altLang="en-US" dirty="0" smtClean="0"/>
              <a:t>但是用户没点下一页，这样的也要</a:t>
            </a:r>
            <a:r>
              <a:rPr lang="en-US" altLang="zh-CN" dirty="0" smtClean="0"/>
              <a:t>hit</a:t>
            </a:r>
            <a:r>
              <a:rPr lang="zh-CN" altLang="en-US" dirty="0" smtClean="0"/>
              <a:t>一下。</a:t>
            </a:r>
            <a:endParaRPr lang="zh-CN" altLang="en-US" dirty="0" smtClean="0"/>
          </a:p>
          <a:p>
            <a:endParaRPr lang="en-US" altLang="zh-CN" dirty="0" smtClean="0"/>
          </a:p>
          <a:p>
            <a:r>
              <a:rPr lang="zh-CN" altLang="en-US" dirty="0" smtClean="0"/>
              <a:t>回翻：回到上一页</a:t>
            </a:r>
            <a:r>
              <a:rPr lang="en-US" altLang="zh-CN" dirty="0" smtClean="0"/>
              <a:t>, </a:t>
            </a:r>
            <a:r>
              <a:rPr lang="zh-CN" altLang="en-US" dirty="0" smtClean="0"/>
              <a:t>这样只能算</a:t>
            </a:r>
            <a:r>
              <a:rPr lang="en-US" altLang="zh-CN" dirty="0" smtClean="0"/>
              <a:t>1</a:t>
            </a:r>
            <a:r>
              <a:rPr lang="zh-CN" altLang="en-US" dirty="0" smtClean="0"/>
              <a:t>条</a:t>
            </a:r>
            <a:r>
              <a:rPr lang="en-US" altLang="zh-CN" dirty="0" err="1" smtClean="0"/>
              <a:t>pv</a:t>
            </a:r>
            <a:endParaRPr lang="en-US" altLang="zh-CN" dirty="0" smtClean="0"/>
          </a:p>
          <a:p>
            <a:endParaRPr lang="en-US" altLang="zh-CN" dirty="0" smtClean="0"/>
          </a:p>
          <a:p>
            <a:r>
              <a:rPr lang="zh-CN" altLang="en-US" dirty="0" smtClean="0"/>
              <a:t>重发</a:t>
            </a:r>
            <a:r>
              <a:rPr lang="en-US" altLang="zh-CN" dirty="0" smtClean="0"/>
              <a:t>PV</a:t>
            </a:r>
            <a:r>
              <a:rPr lang="zh-CN" altLang="en-US" dirty="0" smtClean="0"/>
              <a:t>劫持</a:t>
            </a:r>
            <a:endParaRPr lang="zh-CN" altLang="en-US" dirty="0" smtClean="0"/>
          </a:p>
          <a:p>
            <a:r>
              <a:rPr lang="en-US" altLang="zh-CN" dirty="0" smtClean="0"/>
              <a:t>1.</a:t>
            </a:r>
            <a:r>
              <a:rPr lang="en-US" altLang="zh-CN" baseline="0" dirty="0" smtClean="0"/>
              <a:t> </a:t>
            </a:r>
            <a:r>
              <a:rPr lang="zh-CN" altLang="en-US" dirty="0" smtClean="0"/>
              <a:t>计费名劫持：流量的</a:t>
            </a:r>
            <a:r>
              <a:rPr lang="en-US" altLang="zh-CN" dirty="0" smtClean="0"/>
              <a:t>PV</a:t>
            </a:r>
            <a:r>
              <a:rPr lang="zh-CN" altLang="en-US" dirty="0" smtClean="0"/>
              <a:t>通过在</a:t>
            </a:r>
            <a:r>
              <a:rPr lang="en-US" altLang="zh-CN" dirty="0" err="1" smtClean="0"/>
              <a:t>url</a:t>
            </a:r>
            <a:r>
              <a:rPr lang="zh-CN" altLang="en-US" dirty="0" smtClean="0"/>
              <a:t>中添加计费名</a:t>
            </a:r>
            <a:r>
              <a:rPr lang="en-US" altLang="zh-CN" dirty="0" err="1" smtClean="0"/>
              <a:t>tn</a:t>
            </a:r>
            <a:r>
              <a:rPr lang="en-US" altLang="zh-CN" dirty="0" smtClean="0"/>
              <a:t>=</a:t>
            </a:r>
            <a:r>
              <a:rPr lang="zh-CN" altLang="en-US" dirty="0" smtClean="0"/>
              <a:t>字段来标记来源联盟。部分联盟会通过各种手段篡改正常</a:t>
            </a:r>
            <a:r>
              <a:rPr lang="en-US" altLang="zh-CN" dirty="0" err="1" smtClean="0"/>
              <a:t>url</a:t>
            </a:r>
            <a:r>
              <a:rPr lang="zh-CN" altLang="en-US" dirty="0" smtClean="0"/>
              <a:t>中</a:t>
            </a:r>
            <a:r>
              <a:rPr lang="en-US" altLang="zh-CN" dirty="0" err="1" smtClean="0"/>
              <a:t>tn</a:t>
            </a:r>
            <a:r>
              <a:rPr lang="en-US" altLang="zh-CN" dirty="0" smtClean="0"/>
              <a:t>=</a:t>
            </a:r>
            <a:r>
              <a:rPr lang="zh-CN" altLang="en-US" dirty="0" smtClean="0"/>
              <a:t>字段到自家的计费名上，构成劫持。</a:t>
            </a:r>
            <a:endParaRPr lang="zh-CN" altLang="en-US" dirty="0" smtClean="0"/>
          </a:p>
          <a:p>
            <a:r>
              <a:rPr lang="en-US" altLang="zh-CN" dirty="0" smtClean="0"/>
              <a:t>2. </a:t>
            </a:r>
            <a:r>
              <a:rPr lang="zh-CN" altLang="en-US" dirty="0" smtClean="0"/>
              <a:t>重发</a:t>
            </a:r>
            <a:r>
              <a:rPr lang="en-US" altLang="zh-CN" dirty="0" smtClean="0"/>
              <a:t>PV</a:t>
            </a:r>
            <a:r>
              <a:rPr lang="zh-CN" altLang="en-US" dirty="0" smtClean="0"/>
              <a:t>劫持：用户发起了一次检索之后， 作弊者</a:t>
            </a:r>
            <a:r>
              <a:rPr lang="en-US" altLang="zh-CN" dirty="0" smtClean="0"/>
              <a:t>/</a:t>
            </a:r>
            <a:r>
              <a:rPr lang="zh-CN" altLang="en-US" dirty="0" smtClean="0"/>
              <a:t>作弊器会自动替换计费名立即</a:t>
            </a:r>
            <a:r>
              <a:rPr lang="en-US" altLang="zh-CN" dirty="0" smtClean="0"/>
              <a:t>(2s</a:t>
            </a:r>
            <a:r>
              <a:rPr lang="zh-CN" altLang="en-US" dirty="0" smtClean="0"/>
              <a:t>内</a:t>
            </a:r>
            <a:r>
              <a:rPr lang="en-US" altLang="zh-CN" dirty="0" smtClean="0"/>
              <a:t>)</a:t>
            </a:r>
            <a:r>
              <a:rPr lang="zh-CN" altLang="en-US" dirty="0" smtClean="0"/>
              <a:t>重发一次请求，并将第二次请求的结果展现给用户， 用户后续的行为都会发生在被替换的计费名上， 即劫持成功。</a:t>
            </a:r>
            <a:endParaRPr lang="zh-CN" altLang="en-US" dirty="0" smtClean="0"/>
          </a:p>
          <a:p>
            <a:r>
              <a:rPr lang="en-US" altLang="zh-CN" dirty="0" smtClean="0"/>
              <a:t>3. </a:t>
            </a:r>
            <a:r>
              <a:rPr lang="zh-CN" altLang="en-US" dirty="0" smtClean="0"/>
              <a:t>重发劫持策略：如果同用户同</a:t>
            </a:r>
            <a:r>
              <a:rPr lang="en-US" altLang="zh-CN" dirty="0" smtClean="0"/>
              <a:t>query</a:t>
            </a:r>
            <a:r>
              <a:rPr lang="zh-CN" altLang="en-US" dirty="0" smtClean="0"/>
              <a:t>在</a:t>
            </a:r>
            <a:r>
              <a:rPr lang="en-US" altLang="zh-CN" dirty="0" smtClean="0"/>
              <a:t>T</a:t>
            </a:r>
            <a:r>
              <a:rPr lang="zh-CN" altLang="en-US" dirty="0" smtClean="0"/>
              <a:t>时间内发起两次包含不同计费名</a:t>
            </a:r>
            <a:r>
              <a:rPr lang="en-US" altLang="zh-CN" dirty="0" smtClean="0"/>
              <a:t>(</a:t>
            </a:r>
            <a:r>
              <a:rPr lang="en-US" altLang="zh-CN" dirty="0" err="1" smtClean="0"/>
              <a:t>partner_id</a:t>
            </a:r>
            <a:r>
              <a:rPr lang="en-US" altLang="zh-CN" dirty="0" smtClean="0"/>
              <a:t>)</a:t>
            </a:r>
            <a:r>
              <a:rPr lang="zh-CN" altLang="en-US" dirty="0" smtClean="0"/>
              <a:t>的检索请求</a:t>
            </a:r>
            <a:r>
              <a:rPr lang="en-US" altLang="zh-CN" dirty="0" smtClean="0"/>
              <a:t>S1</a:t>
            </a:r>
            <a:r>
              <a:rPr lang="zh-CN" altLang="en-US" dirty="0" smtClean="0"/>
              <a:t>和</a:t>
            </a:r>
            <a:r>
              <a:rPr lang="en-US" altLang="zh-CN" dirty="0" smtClean="0"/>
              <a:t>S2</a:t>
            </a:r>
            <a:r>
              <a:rPr lang="zh-CN" altLang="en-US" dirty="0" smtClean="0"/>
              <a:t>，则判定</a:t>
            </a:r>
            <a:r>
              <a:rPr lang="en-US" altLang="zh-CN" dirty="0" smtClean="0"/>
              <a:t>S2</a:t>
            </a:r>
            <a:r>
              <a:rPr lang="zh-CN" altLang="en-US" dirty="0" smtClean="0"/>
              <a:t>是劫持</a:t>
            </a:r>
            <a:r>
              <a:rPr lang="en-US" altLang="zh-CN" dirty="0" smtClean="0"/>
              <a:t>S1</a:t>
            </a:r>
            <a:r>
              <a:rPr lang="zh-CN" altLang="en-US" dirty="0" smtClean="0"/>
              <a:t>后的重发请求，需要把</a:t>
            </a:r>
            <a:r>
              <a:rPr lang="en-US" altLang="zh-CN" dirty="0" smtClean="0"/>
              <a:t>S2</a:t>
            </a:r>
            <a:r>
              <a:rPr lang="zh-CN" altLang="en-US" dirty="0" smtClean="0"/>
              <a:t>对应点击中的计费名修正到</a:t>
            </a:r>
            <a:r>
              <a:rPr lang="en-US" altLang="zh-CN" dirty="0" smtClean="0"/>
              <a:t>S1</a:t>
            </a:r>
            <a:r>
              <a:rPr lang="zh-CN" altLang="en-US" dirty="0" smtClean="0"/>
              <a:t>的计费名</a:t>
            </a:r>
            <a:endParaRPr lang="zh-CN" altLang="en-US" dirty="0" smtClean="0"/>
          </a:p>
          <a:p>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zh-CN" sz="1200" kern="1200" dirty="0" smtClean="0">
                <a:solidFill>
                  <a:schemeClr val="tx1"/>
                </a:solidFill>
                <a:effectLst/>
                <a:latin typeface="+mn-lt"/>
                <a:ea typeface="+mn-ea"/>
                <a:cs typeface="+mn-cs"/>
              </a:rPr>
              <a:t>如果符合要求的</a:t>
            </a:r>
            <a:r>
              <a:rPr lang="en-US" altLang="zh-CN" sz="1200" kern="1200" dirty="0" err="1" smtClean="0">
                <a:solidFill>
                  <a:schemeClr val="tx1"/>
                </a:solidFill>
                <a:effectLst/>
                <a:latin typeface="+mn-lt"/>
                <a:ea typeface="+mn-ea"/>
                <a:cs typeface="+mn-cs"/>
              </a:rPr>
              <a:t>pv</a:t>
            </a:r>
            <a:r>
              <a:rPr lang="zh-CN" altLang="zh-CN" sz="1200" kern="1200" dirty="0" smtClean="0">
                <a:solidFill>
                  <a:schemeClr val="tx1"/>
                </a:solidFill>
                <a:effectLst/>
                <a:latin typeface="+mn-lt"/>
                <a:ea typeface="+mn-ea"/>
                <a:cs typeface="+mn-cs"/>
              </a:rPr>
              <a:t>有多个，则保存离当前节点最近的前一个</a:t>
            </a:r>
            <a:r>
              <a:rPr lang="zh-CN" altLang="en-US"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kern="1200" dirty="0" smtClean="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kumimoji="1" lang="en-US" altLang="zh-CN" dirty="0" err="1" smtClean="0"/>
              <a:t>pn,page</a:t>
            </a:r>
            <a:r>
              <a:rPr kumimoji="1" lang="zh-CN" altLang="en-US" baseline="0" dirty="0" smtClean="0"/>
              <a:t> </a:t>
            </a:r>
            <a:r>
              <a:rPr kumimoji="1" lang="en-US" altLang="zh-CN" baseline="0" dirty="0" smtClean="0"/>
              <a:t>number,</a:t>
            </a:r>
            <a:r>
              <a:rPr kumimoji="1" lang="zh-CN" altLang="en-US" baseline="0" dirty="0" smtClean="0"/>
              <a:t>第几页，首页从</a:t>
            </a:r>
            <a:r>
              <a:rPr kumimoji="1" lang="en-US" altLang="zh-CN" baseline="0" dirty="0" smtClean="0"/>
              <a:t>0</a:t>
            </a:r>
            <a:r>
              <a:rPr kumimoji="1" lang="zh-CN" altLang="en-US" baseline="0" dirty="0" smtClean="0"/>
              <a:t>开始，这一策略</a:t>
            </a:r>
            <a:r>
              <a:rPr kumimoji="1" lang="zh-CN" altLang="en-US" dirty="0" smtClean="0"/>
              <a:t>处理的是</a:t>
            </a:r>
            <a:r>
              <a:rPr kumimoji="1" lang="en-US" altLang="zh-CN" dirty="0" smtClean="0"/>
              <a:t>wise</a:t>
            </a:r>
            <a:r>
              <a:rPr kumimoji="1" lang="zh-CN" altLang="en-US" dirty="0" smtClean="0"/>
              <a:t>端回翻类问题，其实不同频道都会有这一问题，也有相对应的策略，阈值是不同的。</a:t>
            </a:r>
            <a:endParaRPr lang="en-US" altLang="zh-CN" sz="1200" dirty="0" smtClean="0">
              <a:solidFill>
                <a:srgbClr val="33CC33"/>
              </a:solidFill>
              <a:latin typeface="Times New Roman" panose="02020603050405020304" charset="0"/>
              <a:cs typeface="Times New Roman" panose="02020603050405020304" charset="0"/>
            </a:endParaRP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dirty="0" smtClean="0">
                <a:latin typeface="微软雅黑" panose="020B0503020204020204" pitchFamily="34" charset="-122"/>
                <a:ea typeface="微软雅黑" panose="020B0503020204020204" pitchFamily="34" charset="-122"/>
                <a:cs typeface="宋体" charset="0"/>
              </a:rPr>
              <a:t>作弊者会通过各种手段篡改正常</a:t>
            </a:r>
            <a:r>
              <a:rPr kumimoji="1" lang="en-US" altLang="zh-CN" sz="1200" dirty="0" err="1" smtClean="0">
                <a:latin typeface="微软雅黑" panose="020B0503020204020204" pitchFamily="34" charset="-122"/>
                <a:ea typeface="微软雅黑" panose="020B0503020204020204" pitchFamily="34" charset="-122"/>
                <a:cs typeface="宋体" charset="0"/>
              </a:rPr>
              <a:t>url</a:t>
            </a:r>
            <a:r>
              <a:rPr kumimoji="1" lang="zh-CN" altLang="en-US" sz="1200" smtClean="0">
                <a:latin typeface="微软雅黑" panose="020B0503020204020204" pitchFamily="34" charset="-122"/>
                <a:ea typeface="微软雅黑" panose="020B0503020204020204" pitchFamily="34" charset="-122"/>
                <a:cs typeface="宋体" charset="0"/>
              </a:rPr>
              <a:t>中的计费名，换成自己的计费名，构成劫持。此时第一次出来的检索界面，用户是没有看到的，用户只看到了劫持后的检索界面</a:t>
            </a:r>
            <a:endParaRPr lang="en-US" altLang="zh-CN" sz="1200" dirty="0" smtClean="0">
              <a:solidFill>
                <a:srgbClr val="33CC33"/>
              </a:solidFill>
              <a:latin typeface="Times New Roman" panose="02020603050405020304" charset="0"/>
              <a:cs typeface="Times New Roman" panose="02020603050405020304" charset="0"/>
            </a:endParaRPr>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其实都是某个区间，只不过</a:t>
            </a:r>
            <a:r>
              <a:rPr lang="en-US" altLang="zh-CN" dirty="0" smtClean="0"/>
              <a:t>hijack</a:t>
            </a:r>
            <a:r>
              <a:rPr lang="zh-CN" altLang="en-US" dirty="0" smtClean="0"/>
              <a:t>策略的区间左侧为</a:t>
            </a:r>
            <a:r>
              <a:rPr lang="en-US" altLang="zh-CN" dirty="0" smtClean="0"/>
              <a:t>0</a:t>
            </a:r>
            <a:r>
              <a:rPr lang="zh-CN" altLang="en-US" dirty="0" smtClean="0"/>
              <a:t>而已</a:t>
            </a:r>
            <a:endParaRPr lang="en-US" altLang="zh-CN" dirty="0" smtClean="0"/>
          </a:p>
        </p:txBody>
      </p:sp>
      <p:sp>
        <p:nvSpPr>
          <p:cNvPr id="4" name="灯片编号占位符 3"/>
          <p:cNvSpPr>
            <a:spLocks noGrp="1"/>
          </p:cNvSpPr>
          <p:nvPr>
            <p:ph type="sldNum" sz="quarter" idx="10"/>
          </p:nvPr>
        </p:nvSpPr>
        <p:spPr/>
        <p:txBody>
          <a:bodyPr/>
          <a:lstStyle/>
          <a:p>
            <a:fld id="{F124CCF0-5633-634F-B6D6-5507779C9B99}"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kumimoji="1" lang="zh-CN" altLang="en-US" smtClean="0"/>
              <a:t>单击此处编辑母版标题样式</a:t>
            </a:r>
            <a:endParaRPr kumimoji="1"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zh-CN" altLang="en-US" smtClean="0"/>
              <a:t>单击此处编辑母版副标题样式</a:t>
            </a:r>
            <a:endParaRPr kumimoji="1" lang="zh-CN" altLang="en-US"/>
          </a:p>
        </p:txBody>
      </p:sp>
      <p:sp>
        <p:nvSpPr>
          <p:cNvPr id="4" name="日期占位符 3"/>
          <p:cNvSpPr>
            <a:spLocks noGrp="1"/>
          </p:cNvSpPr>
          <p:nvPr>
            <p:ph type="dt" sz="half" idx="10"/>
          </p:nvPr>
        </p:nvSpPr>
        <p:spPr/>
        <p:txBody>
          <a:bodyPr/>
          <a:lstStyle/>
          <a:p>
            <a:fld id="{1A884C5F-F626-6D4F-AF36-64933E703500}"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A738F2-617A-654C-BA20-6329BEB1AAD2}"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1A884C5F-F626-6D4F-AF36-64933E703500}"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A738F2-617A-654C-BA20-6329BEB1AAD2}"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smtClean="0"/>
              <a:t>单击此处编辑母版文本样式</a:t>
            </a:r>
            <a:endParaRPr kumimoji="1" lang="zh-CN" altLang="en-US" smtClean="0"/>
          </a:p>
        </p:txBody>
      </p:sp>
      <p:sp>
        <p:nvSpPr>
          <p:cNvPr id="4" name="日期占位符 3"/>
          <p:cNvSpPr>
            <a:spLocks noGrp="1"/>
          </p:cNvSpPr>
          <p:nvPr>
            <p:ph type="dt" sz="half" idx="10"/>
          </p:nvPr>
        </p:nvSpPr>
        <p:spPr/>
        <p:txBody>
          <a:bodyPr/>
          <a:lstStyle/>
          <a:p>
            <a:fld id="{1A884C5F-F626-6D4F-AF36-64933E703500}"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A738F2-617A-654C-BA20-6329BEB1AAD2}"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5" name="日期占位符 4"/>
          <p:cNvSpPr>
            <a:spLocks noGrp="1"/>
          </p:cNvSpPr>
          <p:nvPr>
            <p:ph type="dt" sz="half" idx="10"/>
          </p:nvPr>
        </p:nvSpPr>
        <p:spPr/>
        <p:txBody>
          <a:bodyPr/>
          <a:lstStyle/>
          <a:p>
            <a:fld id="{1A884C5F-F626-6D4F-AF36-64933E703500}"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F6A738F2-617A-654C-BA20-6329BEB1AAD2}"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mtClean="0"/>
              <a:t>单击此处编辑母版文本样式</a:t>
            </a:r>
            <a:endParaRPr kumimoji="1" lang="zh-CN" altLang="en-US" smtClean="0"/>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mtClean="0"/>
              <a:t>单击此处编辑母版文本样式</a:t>
            </a:r>
            <a:endParaRPr kumimoji="1" lang="zh-CN" altLang="en-US" smtClean="0"/>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7" name="日期占位符 6"/>
          <p:cNvSpPr>
            <a:spLocks noGrp="1"/>
          </p:cNvSpPr>
          <p:nvPr>
            <p:ph type="dt" sz="half" idx="10"/>
          </p:nvPr>
        </p:nvSpPr>
        <p:spPr/>
        <p:txBody>
          <a:bodyPr/>
          <a:lstStyle/>
          <a:p>
            <a:fld id="{1A884C5F-F626-6D4F-AF36-64933E703500}" type="datetimeFigureOut">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F6A738F2-617A-654C-BA20-6329BEB1AAD2}"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日期占位符 2"/>
          <p:cNvSpPr>
            <a:spLocks noGrp="1"/>
          </p:cNvSpPr>
          <p:nvPr>
            <p:ph type="dt" sz="half" idx="10"/>
          </p:nvPr>
        </p:nvSpPr>
        <p:spPr/>
        <p:txBody>
          <a:bodyPr/>
          <a:lstStyle/>
          <a:p>
            <a:fld id="{1A884C5F-F626-6D4F-AF36-64933E70350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F6A738F2-617A-654C-BA20-6329BEB1AAD2}"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884C5F-F626-6D4F-AF36-64933E703500}"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F6A738F2-617A-654C-BA20-6329BEB1AAD2}"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smtClean="0"/>
              <a:t>单击此处编辑母版文本样式</a:t>
            </a:r>
            <a:endParaRPr kumimoji="1" lang="zh-CN" altLang="en-US" smtClean="0"/>
          </a:p>
        </p:txBody>
      </p:sp>
      <p:sp>
        <p:nvSpPr>
          <p:cNvPr id="5" name="日期占位符 4"/>
          <p:cNvSpPr>
            <a:spLocks noGrp="1"/>
          </p:cNvSpPr>
          <p:nvPr>
            <p:ph type="dt" sz="half" idx="10"/>
          </p:nvPr>
        </p:nvSpPr>
        <p:spPr/>
        <p:txBody>
          <a:bodyPr/>
          <a:lstStyle/>
          <a:p>
            <a:fld id="{1A884C5F-F626-6D4F-AF36-64933E703500}"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F6A738F2-617A-654C-BA20-6329BEB1AAD2}"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kumimoji="1" lang="zh-CN" altLang="en-US" smtClean="0"/>
              <a:t>单击此处编辑母版标题样式</a:t>
            </a:r>
            <a:endParaRPr kumimoji="1"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smtClean="0"/>
              <a:t>单击此处编辑母版文本样式</a:t>
            </a:r>
            <a:endParaRPr kumimoji="1" lang="zh-CN" altLang="en-US" smtClean="0"/>
          </a:p>
        </p:txBody>
      </p:sp>
      <p:sp>
        <p:nvSpPr>
          <p:cNvPr id="5" name="日期占位符 4"/>
          <p:cNvSpPr>
            <a:spLocks noGrp="1"/>
          </p:cNvSpPr>
          <p:nvPr>
            <p:ph type="dt" sz="half" idx="10"/>
          </p:nvPr>
        </p:nvSpPr>
        <p:spPr/>
        <p:txBody>
          <a:bodyPr/>
          <a:lstStyle/>
          <a:p>
            <a:fld id="{1A884C5F-F626-6D4F-AF36-64933E703500}"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F6A738F2-617A-654C-BA20-6329BEB1AAD2}"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p:txBody>
          <a:bodyPr vert="eaVert"/>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1A884C5F-F626-6D4F-AF36-64933E703500}"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A738F2-617A-654C-BA20-6329BEB1AAD2}"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a:xfrm>
            <a:off x="457200" y="154781"/>
            <a:ext cx="6019800" cy="3290888"/>
          </a:xfrm>
        </p:spPr>
        <p:txBody>
          <a:bodyPr vert="eaVert"/>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1A884C5F-F626-6D4F-AF36-64933E703500}"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6A738F2-617A-654C-BA20-6329BEB1AAD2}"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A884C5F-F626-6D4F-AF36-64933E703500}" type="datetimeFigureOut">
              <a:rPr kumimoji="1" lang="zh-CN" altLang="en-US" smtClean="0"/>
            </a:fld>
            <a:endParaRPr kumimoji="1"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6A738F2-617A-654C-BA20-6329BEB1AAD2}"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2.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1.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1.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1.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2.xml"/><Relationship Id="rId3" Type="http://schemas.openxmlformats.org/officeDocument/2006/relationships/image" Target="../media/image25.png"/><Relationship Id="rId2" Type="http://schemas.openxmlformats.org/officeDocument/2006/relationships/hyperlink" Target="http://www.hao123.com/" TargetMode="External"/><Relationship Id="rId1"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1.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1.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1.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5.xml.rels><?xml version="1.0" encoding="UTF-8" standalone="yes"?>
<Relationships xmlns="http://schemas.openxmlformats.org/package/2006/relationships"><Relationship Id="rId5" Type="http://schemas.openxmlformats.org/officeDocument/2006/relationships/notesSlide" Target="../notesSlides/notesSlide62.xml"/><Relationship Id="rId4" Type="http://schemas.openxmlformats.org/officeDocument/2006/relationships/slideLayout" Target="../slideLayouts/slideLayout2.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1.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3229211" y="2304483"/>
            <a:ext cx="4512774" cy="584775"/>
          </a:xfrm>
          <a:prstGeom prst="rect">
            <a:avLst/>
          </a:prstGeom>
          <a:noFill/>
        </p:spPr>
        <p:txBody>
          <a:bodyPr wrap="square" rtlCol="0">
            <a:spAutoFit/>
          </a:bodyPr>
          <a:lstStyle/>
          <a:p>
            <a:pPr algn="ctr"/>
            <a:r>
              <a:rPr kumimoji="1" lang="zh-CN" altLang="en-US" sz="3200" spc="200" dirty="0">
                <a:solidFill>
                  <a:schemeClr val="tx1">
                    <a:lumMod val="75000"/>
                    <a:lumOff val="25000"/>
                  </a:schemeClr>
                </a:solidFill>
                <a:latin typeface="微软雅黑"/>
                <a:ea typeface="微软雅黑"/>
                <a:cs typeface="微软雅黑"/>
              </a:rPr>
              <a:t>反</a:t>
            </a:r>
            <a:r>
              <a:rPr kumimoji="1" lang="zh-CN" altLang="en-US" sz="3200" spc="200" dirty="0" smtClean="0">
                <a:solidFill>
                  <a:schemeClr val="tx1">
                    <a:lumMod val="75000"/>
                    <a:lumOff val="25000"/>
                  </a:schemeClr>
                </a:solidFill>
                <a:latin typeface="微软雅黑"/>
                <a:ea typeface="微软雅黑"/>
                <a:cs typeface="微软雅黑"/>
              </a:rPr>
              <a:t>作弊新人策略串讲</a:t>
            </a:r>
            <a:endParaRPr kumimoji="1" lang="en-US" altLang="zh-CN" sz="3200" spc="200" dirty="0" smtClean="0">
              <a:solidFill>
                <a:schemeClr val="tx1">
                  <a:lumMod val="75000"/>
                  <a:lumOff val="25000"/>
                </a:schemeClr>
              </a:solidFill>
              <a:latin typeface="微软雅黑"/>
              <a:ea typeface="微软雅黑"/>
              <a:cs typeface="微软雅黑"/>
            </a:endParaRPr>
          </a:p>
        </p:txBody>
      </p:sp>
      <p:sp>
        <p:nvSpPr>
          <p:cNvPr id="4" name="文本框 3"/>
          <p:cNvSpPr txBox="1"/>
          <p:nvPr/>
        </p:nvSpPr>
        <p:spPr>
          <a:xfrm>
            <a:off x="1545244" y="3075806"/>
            <a:ext cx="3048000" cy="553998"/>
          </a:xfrm>
          <a:prstGeom prst="rect">
            <a:avLst/>
          </a:prstGeom>
          <a:noFill/>
        </p:spPr>
        <p:txBody>
          <a:bodyPr wrap="square" rtlCol="0">
            <a:spAutoFit/>
          </a:bodyPr>
          <a:lstStyle/>
          <a:p>
            <a:r>
              <a:rPr kumimoji="1" lang="en-US" altLang="zh-CN" sz="1000" spc="480" dirty="0" smtClean="0">
                <a:solidFill>
                  <a:schemeClr val="bg1"/>
                </a:solidFill>
                <a:latin typeface="微软雅黑"/>
                <a:ea typeface="微软雅黑"/>
                <a:cs typeface="微软雅黑"/>
              </a:rPr>
              <a:t>2018</a:t>
            </a:r>
            <a:endParaRPr kumimoji="1" lang="en-US" altLang="zh-CN" sz="1000" spc="480" dirty="0" smtClean="0">
              <a:solidFill>
                <a:schemeClr val="bg1"/>
              </a:solidFill>
              <a:latin typeface="微软雅黑"/>
              <a:ea typeface="微软雅黑"/>
              <a:cs typeface="微软雅黑"/>
            </a:endParaRPr>
          </a:p>
          <a:p>
            <a:r>
              <a:rPr kumimoji="1" lang="zh-CN" altLang="en-US" sz="1000" spc="480" dirty="0" smtClean="0">
                <a:solidFill>
                  <a:schemeClr val="bg1"/>
                </a:solidFill>
                <a:latin typeface="微软雅黑"/>
                <a:ea typeface="微软雅黑"/>
                <a:cs typeface="微软雅黑"/>
              </a:rPr>
              <a:t>／</a:t>
            </a:r>
            <a:r>
              <a:rPr kumimoji="1" lang="en-US" altLang="zh-CN" sz="1000" spc="480" dirty="0" smtClean="0">
                <a:solidFill>
                  <a:schemeClr val="bg1"/>
                </a:solidFill>
                <a:latin typeface="微软雅黑"/>
                <a:ea typeface="微软雅黑"/>
                <a:cs typeface="微软雅黑"/>
              </a:rPr>
              <a:t>09</a:t>
            </a:r>
            <a:endParaRPr kumimoji="1" lang="en-US" altLang="zh-CN" sz="1000" spc="480" dirty="0" smtClean="0">
              <a:solidFill>
                <a:schemeClr val="bg1"/>
              </a:solidFill>
              <a:latin typeface="微软雅黑"/>
              <a:ea typeface="微软雅黑"/>
              <a:cs typeface="微软雅黑"/>
            </a:endParaRPr>
          </a:p>
          <a:p>
            <a:r>
              <a:rPr kumimoji="1" lang="zh-CN" altLang="en-US" sz="1000" spc="480" dirty="0" smtClean="0">
                <a:solidFill>
                  <a:schemeClr val="bg1"/>
                </a:solidFill>
                <a:latin typeface="微软雅黑"/>
                <a:ea typeface="微软雅黑"/>
                <a:cs typeface="微软雅黑"/>
              </a:rPr>
              <a:t>／</a:t>
            </a:r>
            <a:r>
              <a:rPr kumimoji="1" lang="en-US" altLang="zh-CN" sz="1000" spc="480" dirty="0" smtClean="0">
                <a:solidFill>
                  <a:schemeClr val="bg1"/>
                </a:solidFill>
                <a:latin typeface="微软雅黑"/>
                <a:ea typeface="微软雅黑"/>
                <a:cs typeface="微软雅黑"/>
              </a:rPr>
              <a:t>13</a:t>
            </a:r>
            <a:endParaRPr kumimoji="1" lang="zh-CN" altLang="en-US" sz="1000" spc="480" dirty="0">
              <a:solidFill>
                <a:schemeClr val="bg1"/>
              </a:solidFill>
              <a:latin typeface="微软雅黑"/>
              <a:ea typeface="微软雅黑"/>
              <a:cs typeface="微软雅黑"/>
            </a:endParaRPr>
          </a:p>
        </p:txBody>
      </p:sp>
      <p:sp>
        <p:nvSpPr>
          <p:cNvPr id="2" name="文本框 1"/>
          <p:cNvSpPr txBox="1"/>
          <p:nvPr/>
        </p:nvSpPr>
        <p:spPr>
          <a:xfrm>
            <a:off x="3810037" y="3815277"/>
            <a:ext cx="3351121" cy="646331"/>
          </a:xfrm>
          <a:prstGeom prst="rect">
            <a:avLst/>
          </a:prstGeom>
          <a:noFill/>
        </p:spPr>
        <p:txBody>
          <a:bodyPr wrap="square" rtlCol="0">
            <a:spAutoFit/>
          </a:bodyPr>
          <a:lstStyle/>
          <a:p>
            <a:pPr algn="ctr"/>
            <a:r>
              <a:rPr lang="en-US" altLang="zh-CN" dirty="0" smtClean="0">
                <a:latin typeface="楷体" panose="02010609060101010101" pitchFamily="49" charset="-122"/>
                <a:ea typeface="楷体" panose="02010609060101010101" pitchFamily="49" charset="-122"/>
              </a:rPr>
              <a:t>By </a:t>
            </a:r>
            <a:r>
              <a:rPr lang="zh-CN" altLang="en-US" dirty="0" smtClean="0">
                <a:latin typeface="楷体" panose="02010609060101010101" pitchFamily="49" charset="-122"/>
                <a:ea typeface="楷体" panose="02010609060101010101" pitchFamily="49" charset="-122"/>
              </a:rPr>
              <a:t>方文征</a:t>
            </a:r>
            <a:endParaRPr lang="en-US" altLang="zh-CN" dirty="0" smtClean="0">
              <a:latin typeface="楷体" panose="02010609060101010101" pitchFamily="49" charset="-122"/>
              <a:ea typeface="楷体" panose="02010609060101010101" pitchFamily="49" charset="-122"/>
            </a:endParaRPr>
          </a:p>
          <a:p>
            <a:pPr algn="ctr"/>
            <a:r>
              <a:rPr lang="en-US" altLang="zh-CN" dirty="0" smtClean="0">
                <a:latin typeface="楷体" panose="02010609060101010101" pitchFamily="49" charset="-122"/>
                <a:ea typeface="楷体" panose="02010609060101010101" pitchFamily="49" charset="-122"/>
              </a:rPr>
              <a:t>fangwenzheng@baidu.com</a:t>
            </a:r>
            <a:endParaRPr lang="zh-CN" altLang="en-US"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4150895" y="1286533"/>
            <a:ext cx="2425344" cy="400110"/>
          </a:xfrm>
          <a:prstGeom prst="rect">
            <a:avLst/>
          </a:prstGeom>
          <a:noFill/>
        </p:spPr>
        <p:txBody>
          <a:bodyPr wrap="none" rtlCol="0">
            <a:spAutoFit/>
          </a:bodyPr>
          <a:lstStyle/>
          <a:p>
            <a:r>
              <a:rPr kumimoji="1" lang="zh-CN" altLang="zh-CN" sz="2000" spc="170" dirty="0" smtClean="0">
                <a:solidFill>
                  <a:srgbClr val="E10611"/>
                </a:solidFill>
                <a:latin typeface="微软雅黑"/>
                <a:ea typeface="微软雅黑"/>
                <a:cs typeface="微软雅黑"/>
              </a:rPr>
              <a:t>0</a:t>
            </a:r>
            <a:r>
              <a:rPr kumimoji="1" lang="en-US" altLang="zh-CN" sz="2000" spc="170" dirty="0" smtClean="0">
                <a:solidFill>
                  <a:srgbClr val="E10611"/>
                </a:solidFill>
                <a:latin typeface="微软雅黑"/>
                <a:ea typeface="微软雅黑"/>
                <a:cs typeface="微软雅黑"/>
              </a:rPr>
              <a:t>1 </a:t>
            </a:r>
            <a:r>
              <a:rPr kumimoji="1" lang="en-US" altLang="zh-CN" sz="2000" spc="170" dirty="0" smtClean="0">
                <a:solidFill>
                  <a:schemeClr val="tx1">
                    <a:lumMod val="75000"/>
                    <a:lumOff val="25000"/>
                  </a:schemeClr>
                </a:solidFill>
                <a:latin typeface="微软雅黑"/>
                <a:ea typeface="微软雅黑"/>
                <a:cs typeface="微软雅黑"/>
              </a:rPr>
              <a:t>……  </a:t>
            </a:r>
            <a:r>
              <a:rPr kumimoji="1" lang="zh-CN" altLang="en-US" sz="2000" spc="230" dirty="0" smtClean="0">
                <a:solidFill>
                  <a:schemeClr val="tx1">
                    <a:lumMod val="75000"/>
                    <a:lumOff val="25000"/>
                  </a:schemeClr>
                </a:solidFill>
                <a:latin typeface="微软雅黑"/>
                <a:ea typeface="微软雅黑"/>
                <a:cs typeface="微软雅黑"/>
              </a:rPr>
              <a:t>业务背景</a:t>
            </a:r>
            <a:endParaRPr kumimoji="1" lang="zh-CN" altLang="en-US" sz="2000" spc="230" dirty="0">
              <a:solidFill>
                <a:schemeClr val="tx1">
                  <a:lumMod val="75000"/>
                  <a:lumOff val="25000"/>
                </a:schemeClr>
              </a:solidFill>
              <a:latin typeface="微软雅黑"/>
              <a:ea typeface="微软雅黑"/>
              <a:cs typeface="微软雅黑"/>
            </a:endParaRPr>
          </a:p>
        </p:txBody>
      </p:sp>
      <p:sp>
        <p:nvSpPr>
          <p:cNvPr id="4" name="文本框 3"/>
          <p:cNvSpPr txBox="1"/>
          <p:nvPr/>
        </p:nvSpPr>
        <p:spPr>
          <a:xfrm>
            <a:off x="4150895" y="1821271"/>
            <a:ext cx="3886641" cy="400110"/>
          </a:xfrm>
          <a:prstGeom prst="rect">
            <a:avLst/>
          </a:prstGeom>
          <a:noFill/>
        </p:spPr>
        <p:txBody>
          <a:bodyPr wrap="none" rtlCol="0">
            <a:spAutoFit/>
          </a:bodyPr>
          <a:lstStyle/>
          <a:p>
            <a:r>
              <a:rPr kumimoji="1" lang="zh-CN" altLang="zh-CN" sz="2000" spc="170" dirty="0" smtClean="0">
                <a:solidFill>
                  <a:srgbClr val="E10611"/>
                </a:solidFill>
                <a:latin typeface="微软雅黑"/>
                <a:ea typeface="微软雅黑"/>
                <a:cs typeface="微软雅黑"/>
              </a:rPr>
              <a:t>0</a:t>
            </a:r>
            <a:r>
              <a:rPr kumimoji="1" lang="en-US" altLang="zh-CN" sz="2000" spc="170" dirty="0" smtClean="0">
                <a:solidFill>
                  <a:srgbClr val="E10611"/>
                </a:solidFill>
                <a:latin typeface="微软雅黑"/>
                <a:ea typeface="微软雅黑"/>
                <a:cs typeface="微软雅黑"/>
              </a:rPr>
              <a:t>2 </a:t>
            </a:r>
            <a:r>
              <a:rPr kumimoji="1" lang="en-US" altLang="zh-CN" sz="2000" spc="170" dirty="0" smtClean="0">
                <a:solidFill>
                  <a:schemeClr val="tx1">
                    <a:lumMod val="75000"/>
                    <a:lumOff val="25000"/>
                  </a:schemeClr>
                </a:solidFill>
                <a:latin typeface="微软雅黑"/>
                <a:ea typeface="微软雅黑"/>
                <a:cs typeface="微软雅黑"/>
              </a:rPr>
              <a:t>……  </a:t>
            </a:r>
            <a:r>
              <a:rPr kumimoji="1" lang="zh-CN" altLang="en-US" sz="2000" spc="170" dirty="0" smtClean="0">
                <a:solidFill>
                  <a:schemeClr val="tx1">
                    <a:lumMod val="75000"/>
                    <a:lumOff val="25000"/>
                  </a:schemeClr>
                </a:solidFill>
                <a:latin typeface="微软雅黑"/>
                <a:ea typeface="微软雅黑"/>
                <a:cs typeface="微软雅黑"/>
              </a:rPr>
              <a:t>系统框架和</a:t>
            </a:r>
            <a:r>
              <a:rPr kumimoji="1" lang="zh-CN" altLang="en-US" sz="2000" spc="230" dirty="0" smtClean="0">
                <a:solidFill>
                  <a:schemeClr val="tx1">
                    <a:lumMod val="75000"/>
                    <a:lumOff val="25000"/>
                  </a:schemeClr>
                </a:solidFill>
                <a:latin typeface="微软雅黑"/>
                <a:ea typeface="微软雅黑"/>
                <a:cs typeface="微软雅黑"/>
              </a:rPr>
              <a:t>基本概念</a:t>
            </a:r>
            <a:endParaRPr kumimoji="1" lang="zh-CN" altLang="en-US" sz="2000" spc="230" dirty="0">
              <a:solidFill>
                <a:schemeClr val="tx1">
                  <a:lumMod val="75000"/>
                  <a:lumOff val="25000"/>
                </a:schemeClr>
              </a:solidFill>
              <a:latin typeface="微软雅黑"/>
              <a:ea typeface="微软雅黑"/>
              <a:cs typeface="微软雅黑"/>
            </a:endParaRPr>
          </a:p>
        </p:txBody>
      </p:sp>
      <p:sp>
        <p:nvSpPr>
          <p:cNvPr id="5" name="文本框 4"/>
          <p:cNvSpPr txBox="1"/>
          <p:nvPr/>
        </p:nvSpPr>
        <p:spPr>
          <a:xfrm>
            <a:off x="4150895" y="2356007"/>
            <a:ext cx="3283271" cy="400110"/>
          </a:xfrm>
          <a:prstGeom prst="rect">
            <a:avLst/>
          </a:prstGeom>
          <a:noFill/>
        </p:spPr>
        <p:txBody>
          <a:bodyPr wrap="none" rtlCol="0">
            <a:spAutoFit/>
          </a:bodyPr>
          <a:lstStyle/>
          <a:p>
            <a:r>
              <a:rPr kumimoji="1" lang="zh-CN" altLang="zh-CN" sz="2000" spc="170" dirty="0" smtClean="0">
                <a:solidFill>
                  <a:srgbClr val="E10611"/>
                </a:solidFill>
                <a:latin typeface="微软雅黑"/>
                <a:ea typeface="微软雅黑"/>
                <a:cs typeface="微软雅黑"/>
              </a:rPr>
              <a:t>0</a:t>
            </a:r>
            <a:r>
              <a:rPr kumimoji="1" lang="en-US" altLang="zh-CN" sz="2000" spc="170" dirty="0" smtClean="0">
                <a:solidFill>
                  <a:srgbClr val="E10611"/>
                </a:solidFill>
                <a:latin typeface="微软雅黑"/>
                <a:ea typeface="微软雅黑"/>
                <a:cs typeface="微软雅黑"/>
              </a:rPr>
              <a:t>3 </a:t>
            </a:r>
            <a:r>
              <a:rPr kumimoji="1" lang="en-US" altLang="zh-CN" sz="2000" spc="170" dirty="0" smtClean="0">
                <a:solidFill>
                  <a:schemeClr val="tx1">
                    <a:lumMod val="75000"/>
                    <a:lumOff val="25000"/>
                  </a:schemeClr>
                </a:solidFill>
                <a:latin typeface="微软雅黑"/>
                <a:ea typeface="微软雅黑"/>
                <a:cs typeface="微软雅黑"/>
              </a:rPr>
              <a:t>……  </a:t>
            </a:r>
            <a:r>
              <a:rPr kumimoji="1" lang="zh-CN" altLang="en-US" sz="2000" spc="230" dirty="0" smtClean="0">
                <a:solidFill>
                  <a:schemeClr val="tx1">
                    <a:lumMod val="75000"/>
                    <a:lumOff val="25000"/>
                  </a:schemeClr>
                </a:solidFill>
                <a:latin typeface="微软雅黑"/>
                <a:ea typeface="微软雅黑"/>
                <a:cs typeface="微软雅黑"/>
              </a:rPr>
              <a:t>策略及特征介绍</a:t>
            </a:r>
            <a:endParaRPr kumimoji="1" lang="zh-CN" altLang="en-US" sz="2000" spc="230" dirty="0">
              <a:solidFill>
                <a:schemeClr val="tx1">
                  <a:lumMod val="75000"/>
                  <a:lumOff val="25000"/>
                </a:schemeClr>
              </a:solidFill>
              <a:latin typeface="微软雅黑"/>
              <a:ea typeface="微软雅黑"/>
              <a:cs typeface="微软雅黑"/>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3335422" y="1971117"/>
            <a:ext cx="5126790" cy="533288"/>
          </a:xfrm>
          <a:prstGeom prst="rect">
            <a:avLst/>
          </a:prstGeom>
          <a:noFill/>
        </p:spPr>
        <p:txBody>
          <a:bodyPr wrap="square" rtlCol="0">
            <a:spAutoFit/>
          </a:bodyPr>
          <a:lstStyle/>
          <a:p>
            <a:pPr>
              <a:lnSpc>
                <a:spcPct val="110000"/>
              </a:lnSpc>
            </a:pPr>
            <a:r>
              <a:rPr kumimoji="1" lang="zh-CN" altLang="en-US" sz="2800" spc="540" dirty="0" smtClean="0">
                <a:solidFill>
                  <a:schemeClr val="tx1">
                    <a:lumMod val="75000"/>
                    <a:lumOff val="25000"/>
                  </a:schemeClr>
                </a:solidFill>
                <a:latin typeface="微软雅黑"/>
                <a:ea typeface="微软雅黑"/>
                <a:cs typeface="微软雅黑"/>
              </a:rPr>
              <a:t>业务背景</a:t>
            </a:r>
            <a:endParaRPr kumimoji="1" lang="zh-CN" altLang="en-US" sz="2400" spc="70" dirty="0">
              <a:solidFill>
                <a:schemeClr val="tx1">
                  <a:lumMod val="75000"/>
                  <a:lumOff val="25000"/>
                </a:schemeClr>
              </a:solidFill>
              <a:latin typeface="微软雅黑"/>
              <a:ea typeface="微软雅黑"/>
              <a:cs typeface="微软雅黑"/>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2" name="文本框 11"/>
          <p:cNvSpPr txBox="1"/>
          <p:nvPr/>
        </p:nvSpPr>
        <p:spPr>
          <a:xfrm>
            <a:off x="828448" y="404225"/>
            <a:ext cx="2681234" cy="393954"/>
          </a:xfrm>
          <a:prstGeom prst="rect">
            <a:avLst/>
          </a:prstGeom>
          <a:noFill/>
        </p:spPr>
        <p:txBody>
          <a:bodyPr wrap="square" rtlCol="0">
            <a:spAutoFit/>
          </a:bodyPr>
          <a:lstStyle/>
          <a:p>
            <a:pPr>
              <a:lnSpc>
                <a:spcPct val="140000"/>
              </a:lnSpc>
            </a:pPr>
            <a:r>
              <a:rPr kumimoji="1" lang="zh-CN" altLang="en-US" sz="1400" b="1" spc="200" dirty="0" smtClean="0">
                <a:latin typeface="微软雅黑"/>
                <a:ea typeface="微软雅黑"/>
                <a:cs typeface="微软雅黑"/>
              </a:rPr>
              <a:t>业务背景</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从搜索到变现</a:t>
            </a:r>
            <a:endParaRPr kumimoji="1" lang="zh-CN" altLang="en-US" sz="1400" b="1" spc="200" dirty="0">
              <a:latin typeface="微软雅黑"/>
              <a:ea typeface="微软雅黑"/>
              <a:cs typeface="微软雅黑"/>
            </a:endParaRPr>
          </a:p>
        </p:txBody>
      </p:sp>
      <p:sp>
        <p:nvSpPr>
          <p:cNvPr id="2" name="文本框 1"/>
          <p:cNvSpPr txBox="1"/>
          <p:nvPr/>
        </p:nvSpPr>
        <p:spPr>
          <a:xfrm>
            <a:off x="5570798" y="3769116"/>
            <a:ext cx="2702859" cy="307777"/>
          </a:xfrm>
          <a:prstGeom prst="rect">
            <a:avLst/>
          </a:prstGeom>
          <a:noFill/>
        </p:spPr>
        <p:txBody>
          <a:bodyPr wrap="square" rtlCol="0">
            <a:spAutoFit/>
          </a:bodyPr>
          <a:lstStyle/>
          <a:p>
            <a:pPr algn="ctr"/>
            <a:r>
              <a:rPr lang="zh-CN" altLang="en-US" sz="1400" dirty="0" smtClean="0">
                <a:latin typeface="+mn-ea"/>
              </a:rPr>
              <a:t>图</a:t>
            </a:r>
            <a:r>
              <a:rPr lang="en-US" altLang="zh-CN" sz="1400" dirty="0" smtClean="0">
                <a:latin typeface="+mn-ea"/>
              </a:rPr>
              <a:t>a: </a:t>
            </a:r>
            <a:r>
              <a:rPr lang="zh-CN" altLang="en-US" sz="1400" dirty="0">
                <a:latin typeface="+mn-ea"/>
              </a:rPr>
              <a:t>凤</a:t>
            </a:r>
            <a:r>
              <a:rPr lang="zh-CN" altLang="en-US" sz="1400" dirty="0" smtClean="0">
                <a:latin typeface="+mn-ea"/>
              </a:rPr>
              <a:t>巢商业模式图</a:t>
            </a:r>
            <a:r>
              <a:rPr lang="en-US" altLang="zh-CN" sz="1400" dirty="0" smtClean="0">
                <a:latin typeface="+mn-ea"/>
              </a:rPr>
              <a:t> </a:t>
            </a:r>
            <a:endParaRPr lang="zh-CN" altLang="en-US" sz="1400" dirty="0">
              <a:latin typeface="+mn-ea"/>
            </a:endParaRPr>
          </a:p>
        </p:txBody>
      </p:sp>
      <p:graphicFrame>
        <p:nvGraphicFramePr>
          <p:cNvPr id="54" name="图示 53"/>
          <p:cNvGraphicFramePr/>
          <p:nvPr/>
        </p:nvGraphicFramePr>
        <p:xfrm>
          <a:off x="4797992" y="1505552"/>
          <a:ext cx="4248472" cy="2160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5" name="文本框 54"/>
          <p:cNvSpPr txBox="1"/>
          <p:nvPr/>
        </p:nvSpPr>
        <p:spPr>
          <a:xfrm>
            <a:off x="828447" y="1077425"/>
            <a:ext cx="3783893" cy="2936188"/>
          </a:xfrm>
          <a:prstGeom prst="rect">
            <a:avLst/>
          </a:prstGeom>
          <a:noFill/>
        </p:spPr>
        <p:txBody>
          <a:bodyPr wrap="square" rtlCol="0">
            <a:spAutoFit/>
          </a:bodyPr>
          <a:lstStyle/>
          <a:p>
            <a:pPr>
              <a:lnSpc>
                <a:spcPct val="140000"/>
              </a:lnSpc>
            </a:pPr>
            <a:r>
              <a:rPr kumimoji="1" lang="zh-CN" altLang="en-US" dirty="0" smtClean="0">
                <a:latin typeface="微软雅黑"/>
                <a:ea typeface="微软雅黑"/>
                <a:cs typeface="微软雅黑"/>
              </a:rPr>
              <a:t>参与方</a:t>
            </a:r>
            <a:endParaRPr kumimoji="1" lang="en-US" altLang="zh-CN" dirty="0" smtClean="0">
              <a:latin typeface="微软雅黑"/>
              <a:ea typeface="微软雅黑"/>
              <a:cs typeface="微软雅黑"/>
            </a:endParaRPr>
          </a:p>
          <a:p>
            <a:pPr marL="285750" indent="-285750">
              <a:lnSpc>
                <a:spcPct val="140000"/>
              </a:lnSpc>
              <a:buFont typeface="Arial" panose="020B0604020202020204" pitchFamily="34" charset="0"/>
              <a:buChar char="•"/>
            </a:pPr>
            <a:r>
              <a:rPr kumimoji="1" lang="zh-CN" altLang="en-US" sz="1600" dirty="0" smtClean="0">
                <a:latin typeface="微软雅黑"/>
                <a:ea typeface="微软雅黑"/>
                <a:cs typeface="微软雅黑"/>
              </a:rPr>
              <a:t>百度、广告主、网民</a:t>
            </a:r>
            <a:endParaRPr kumimoji="1" lang="en-US" altLang="zh-CN" sz="1600" dirty="0" smtClean="0">
              <a:latin typeface="微软雅黑"/>
              <a:ea typeface="微软雅黑"/>
              <a:cs typeface="微软雅黑"/>
            </a:endParaRPr>
          </a:p>
          <a:p>
            <a:pPr marL="171450" indent="-171450">
              <a:lnSpc>
                <a:spcPct val="140000"/>
              </a:lnSpc>
              <a:buFont typeface="Arial" panose="020B0604020202020204" pitchFamily="34" charset="0"/>
              <a:buChar char="•"/>
            </a:pPr>
            <a:endParaRPr kumimoji="1" lang="en-US" altLang="zh-CN" sz="1600" dirty="0">
              <a:latin typeface="微软雅黑"/>
              <a:ea typeface="微软雅黑"/>
              <a:cs typeface="微软雅黑"/>
            </a:endParaRPr>
          </a:p>
          <a:p>
            <a:pPr>
              <a:lnSpc>
                <a:spcPct val="140000"/>
              </a:lnSpc>
            </a:pPr>
            <a:r>
              <a:rPr kumimoji="1" lang="zh-CN" altLang="en-US" dirty="0" smtClean="0">
                <a:latin typeface="微软雅黑"/>
                <a:ea typeface="微软雅黑"/>
                <a:cs typeface="微软雅黑"/>
              </a:rPr>
              <a:t>凤巢商业模式</a:t>
            </a:r>
            <a:endParaRPr kumimoji="1" lang="en-US" altLang="zh-CN" dirty="0" smtClean="0">
              <a:latin typeface="微软雅黑"/>
              <a:ea typeface="微软雅黑"/>
              <a:cs typeface="微软雅黑"/>
            </a:endParaRPr>
          </a:p>
          <a:p>
            <a:pPr marL="285750" indent="-285750">
              <a:lnSpc>
                <a:spcPct val="140000"/>
              </a:lnSpc>
              <a:buFont typeface="Arial" panose="020B0604020202020204" pitchFamily="34" charset="0"/>
              <a:buChar char="•"/>
            </a:pPr>
            <a:r>
              <a:rPr kumimoji="1" lang="zh-CN" altLang="en-US" sz="1600" dirty="0">
                <a:latin typeface="微软雅黑"/>
                <a:ea typeface="微软雅黑"/>
                <a:cs typeface="微软雅黑"/>
              </a:rPr>
              <a:t>广告主竞拍关键词，</a:t>
            </a:r>
            <a:r>
              <a:rPr kumimoji="1" lang="zh-CN" altLang="en-US" sz="1600" dirty="0" smtClean="0">
                <a:latin typeface="微软雅黑"/>
                <a:ea typeface="微软雅黑"/>
                <a:cs typeface="微软雅黑"/>
              </a:rPr>
              <a:t>广告</a:t>
            </a:r>
            <a:r>
              <a:rPr kumimoji="1" lang="zh-CN" altLang="en-US" sz="1600" dirty="0">
                <a:latin typeface="微软雅黑"/>
                <a:ea typeface="微软雅黑"/>
                <a:cs typeface="微软雅黑"/>
              </a:rPr>
              <a:t>根据</a:t>
            </a:r>
            <a:r>
              <a:rPr kumimoji="1" lang="zh-CN" altLang="en-US" sz="1600" dirty="0" smtClean="0">
                <a:latin typeface="微软雅黑"/>
                <a:ea typeface="微软雅黑"/>
                <a:cs typeface="微软雅黑"/>
              </a:rPr>
              <a:t>竞</a:t>
            </a:r>
            <a:r>
              <a:rPr kumimoji="1" lang="zh-CN" altLang="en-US" sz="1600" dirty="0">
                <a:latin typeface="微软雅黑"/>
                <a:ea typeface="微软雅黑"/>
                <a:cs typeface="微软雅黑"/>
              </a:rPr>
              <a:t>拍价格及</a:t>
            </a:r>
            <a:r>
              <a:rPr kumimoji="1" lang="zh-CN" altLang="en-US" sz="1600" dirty="0" smtClean="0">
                <a:latin typeface="微软雅黑"/>
                <a:ea typeface="微软雅黑"/>
                <a:cs typeface="微软雅黑"/>
              </a:rPr>
              <a:t>质量的综合考量按顺序展现</a:t>
            </a:r>
            <a:r>
              <a:rPr kumimoji="1" lang="zh-CN" altLang="en-US" sz="1600" dirty="0">
                <a:latin typeface="微软雅黑"/>
                <a:ea typeface="微软雅黑"/>
                <a:cs typeface="微软雅黑"/>
              </a:rPr>
              <a:t>在搜索结果页面中，广告</a:t>
            </a:r>
            <a:r>
              <a:rPr kumimoji="1" lang="zh-CN" altLang="en-US" sz="1600" dirty="0" smtClean="0">
                <a:latin typeface="微软雅黑"/>
                <a:ea typeface="微软雅黑"/>
                <a:cs typeface="微软雅黑"/>
              </a:rPr>
              <a:t>每被点击</a:t>
            </a:r>
            <a:r>
              <a:rPr kumimoji="1" lang="zh-CN" altLang="en-US" sz="1600" dirty="0">
                <a:latin typeface="微软雅黑"/>
                <a:ea typeface="微软雅黑"/>
                <a:cs typeface="微软雅黑"/>
              </a:rPr>
              <a:t>一次</a:t>
            </a:r>
            <a:r>
              <a:rPr kumimoji="1" lang="zh-CN" altLang="en-US" sz="1600" dirty="0" smtClean="0">
                <a:latin typeface="微软雅黑"/>
                <a:ea typeface="微软雅黑"/>
                <a:cs typeface="微软雅黑"/>
              </a:rPr>
              <a:t>，搜索引擎从广告主的资金池中扣费。</a:t>
            </a:r>
            <a:endParaRPr kumimoji="1" lang="zh-CN" altLang="en-US" sz="1600" dirty="0">
              <a:latin typeface="微软雅黑"/>
              <a:ea typeface="微软雅黑"/>
              <a:cs typeface="微软雅黑"/>
            </a:endParaRPr>
          </a:p>
        </p:txBody>
      </p:sp>
      <p:sp>
        <p:nvSpPr>
          <p:cNvPr id="14" name="文本框 13"/>
          <p:cNvSpPr txBox="1"/>
          <p:nvPr/>
        </p:nvSpPr>
        <p:spPr>
          <a:xfrm>
            <a:off x="7328777" y="2412332"/>
            <a:ext cx="1377696" cy="307777"/>
          </a:xfrm>
          <a:prstGeom prst="rect">
            <a:avLst/>
          </a:prstGeom>
          <a:noFill/>
        </p:spPr>
        <p:txBody>
          <a:bodyPr wrap="square" rtlCol="0">
            <a:spAutoFit/>
          </a:bodyPr>
          <a:lstStyle/>
          <a:p>
            <a:pPr algn="ctr"/>
            <a:r>
              <a:rPr lang="zh-CN" altLang="en-US" sz="1400" dirty="0" smtClean="0">
                <a:latin typeface="微软雅黑" panose="020B0503020204020204" pitchFamily="34" charset="-122"/>
                <a:ea typeface="微软雅黑" panose="020B0503020204020204" pitchFamily="34" charset="-122"/>
              </a:rPr>
              <a:t>需求对接</a:t>
            </a:r>
            <a:endParaRPr lang="zh-CN" altLang="en-US" sz="1400" dirty="0">
              <a:latin typeface="微软雅黑" panose="020B0503020204020204" pitchFamily="34" charset="-122"/>
              <a:ea typeface="微软雅黑" panose="020B0503020204020204" pitchFamily="34" charset="-122"/>
            </a:endParaRPr>
          </a:p>
        </p:txBody>
      </p:sp>
      <p:sp>
        <p:nvSpPr>
          <p:cNvPr id="56" name="文本框 55"/>
          <p:cNvSpPr txBox="1"/>
          <p:nvPr/>
        </p:nvSpPr>
        <p:spPr>
          <a:xfrm>
            <a:off x="5138235" y="2410843"/>
            <a:ext cx="1377696" cy="307777"/>
          </a:xfrm>
          <a:prstGeom prst="rect">
            <a:avLst/>
          </a:prstGeom>
          <a:noFill/>
        </p:spPr>
        <p:txBody>
          <a:bodyPr wrap="square" rtlCol="0">
            <a:spAutoFit/>
          </a:bodyPr>
          <a:lstStyle/>
          <a:p>
            <a:pPr algn="ctr"/>
            <a:r>
              <a:rPr lang="zh-CN" altLang="en-US" sz="1400" dirty="0" smtClean="0">
                <a:latin typeface="微软雅黑" panose="020B0503020204020204" pitchFamily="34" charset="-122"/>
                <a:ea typeface="微软雅黑" panose="020B0503020204020204" pitchFamily="34" charset="-122"/>
              </a:rPr>
              <a:t>广告投放</a:t>
            </a:r>
            <a:endParaRPr lang="zh-CN" altLang="en-US" sz="1400" dirty="0">
              <a:latin typeface="微软雅黑" panose="020B0503020204020204" pitchFamily="34" charset="-122"/>
              <a:ea typeface="微软雅黑" panose="020B0503020204020204" pitchFamily="34" charset="-122"/>
            </a:endParaRPr>
          </a:p>
        </p:txBody>
      </p:sp>
      <p:sp>
        <p:nvSpPr>
          <p:cNvPr id="57" name="文本框 56"/>
          <p:cNvSpPr txBox="1"/>
          <p:nvPr/>
        </p:nvSpPr>
        <p:spPr>
          <a:xfrm>
            <a:off x="6233379" y="3461339"/>
            <a:ext cx="1377696" cy="307777"/>
          </a:xfrm>
          <a:prstGeom prst="rect">
            <a:avLst/>
          </a:prstGeom>
          <a:noFill/>
        </p:spPr>
        <p:txBody>
          <a:bodyPr wrap="square" rtlCol="0">
            <a:spAutoFit/>
          </a:bodyPr>
          <a:lstStyle/>
          <a:p>
            <a:pPr algn="ctr"/>
            <a:r>
              <a:rPr lang="zh-CN" altLang="en-US" sz="1400" dirty="0" smtClean="0">
                <a:latin typeface="微软雅黑" panose="020B0503020204020204" pitchFamily="34" charset="-122"/>
                <a:ea typeface="微软雅黑" panose="020B0503020204020204" pitchFamily="34" charset="-122"/>
              </a:rPr>
              <a:t>搜索服务</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8" name="文本框 7"/>
          <p:cNvSpPr txBox="1"/>
          <p:nvPr/>
        </p:nvSpPr>
        <p:spPr>
          <a:xfrm>
            <a:off x="828448" y="404225"/>
            <a:ext cx="2499968" cy="393954"/>
          </a:xfrm>
          <a:prstGeom prst="rect">
            <a:avLst/>
          </a:prstGeom>
          <a:noFill/>
        </p:spPr>
        <p:txBody>
          <a:bodyPr wrap="square" rtlCol="0">
            <a:spAutoFit/>
          </a:bodyPr>
          <a:lstStyle/>
          <a:p>
            <a:pPr>
              <a:lnSpc>
                <a:spcPct val="140000"/>
              </a:lnSpc>
            </a:pPr>
            <a:r>
              <a:rPr kumimoji="1" lang="zh-CN" altLang="en-US" sz="1400" b="1" spc="200" dirty="0" smtClean="0">
                <a:latin typeface="微软雅黑"/>
                <a:ea typeface="微软雅黑"/>
                <a:cs typeface="微软雅黑"/>
              </a:rPr>
              <a:t>业务背景</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作弊</a:t>
            </a:r>
            <a:endParaRPr kumimoji="1" lang="zh-CN" altLang="en-US" sz="1400" b="1" spc="200" dirty="0">
              <a:latin typeface="微软雅黑"/>
              <a:ea typeface="微软雅黑"/>
              <a:cs typeface="微软雅黑"/>
            </a:endParaRPr>
          </a:p>
        </p:txBody>
      </p:sp>
      <p:sp>
        <p:nvSpPr>
          <p:cNvPr id="9" name="内容占位符 2"/>
          <p:cNvSpPr txBox="1"/>
          <p:nvPr/>
        </p:nvSpPr>
        <p:spPr>
          <a:xfrm>
            <a:off x="516474" y="1096928"/>
            <a:ext cx="8091078" cy="4046572"/>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panose="020B060402020202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2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2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9pPr>
          </a:lstStyle>
          <a:p>
            <a:pPr algn="l">
              <a:spcAft>
                <a:spcPts val="600"/>
              </a:spcAft>
              <a:buSzPct val="120000"/>
            </a:pPr>
            <a:r>
              <a:rPr kumimoji="1" lang="zh-CN" altLang="en-US" sz="1800" dirty="0" smtClean="0">
                <a:solidFill>
                  <a:schemeClr val="tx1"/>
                </a:solidFill>
                <a:latin typeface="微软雅黑" panose="020B0503020204020204" pitchFamily="34" charset="-122"/>
                <a:ea typeface="微软雅黑" panose="020B0503020204020204" pitchFamily="34" charset="-122"/>
                <a:cs typeface="宋体" charset="0"/>
              </a:rPr>
              <a:t>作弊的定义</a:t>
            </a:r>
            <a:endParaRPr kumimoji="1" lang="en-US" altLang="zh-CN" sz="1800" dirty="0" smtClean="0">
              <a:solidFill>
                <a:schemeClr val="tx1"/>
              </a:solidFill>
              <a:latin typeface="微软雅黑" panose="020B0503020204020204" pitchFamily="34" charset="-122"/>
              <a:ea typeface="微软雅黑" panose="020B0503020204020204" pitchFamily="34" charset="-122"/>
              <a:cs typeface="宋体" charset="0"/>
            </a:endParaRPr>
          </a:p>
          <a:p>
            <a:pPr marL="285750" indent="-285750" algn="l">
              <a:spcAft>
                <a:spcPts val="600"/>
              </a:spcAft>
              <a:buSzPct val="120000"/>
              <a:buFont typeface="Arial" panose="020B0604020202020204" pitchFamily="34" charset="0"/>
              <a:buChar char="•"/>
            </a:pPr>
            <a:r>
              <a:rPr kumimoji="1" lang="zh-CN" altLang="en-US" sz="1600" dirty="0" smtClean="0">
                <a:solidFill>
                  <a:schemeClr val="tx1"/>
                </a:solidFill>
                <a:latin typeface="微软雅黑" panose="020B0503020204020204" pitchFamily="34" charset="-122"/>
                <a:ea typeface="微软雅黑" panose="020B0503020204020204" pitchFamily="34" charset="-122"/>
                <a:cs typeface="宋体" charset="0"/>
              </a:rPr>
              <a:t>搜索引擎为网民们打开了互联网的大门，但有些人并非用之畅游互联网，而是用于采集信息或是谋取利益。在我的理解中，这些别有用心的搜索加上正常用户误触所造成的非正常检索、点击行为就被</a:t>
            </a:r>
            <a:r>
              <a:rPr kumimoji="1" lang="zh-CN" altLang="en-US" sz="1600" dirty="0">
                <a:solidFill>
                  <a:schemeClr val="tx1"/>
                </a:solidFill>
                <a:latin typeface="微软雅黑" panose="020B0503020204020204" pitchFamily="34" charset="-122"/>
                <a:ea typeface="微软雅黑" panose="020B0503020204020204" pitchFamily="34" charset="-122"/>
                <a:cs typeface="宋体" charset="0"/>
              </a:rPr>
              <a:t>称为</a:t>
            </a:r>
            <a:r>
              <a:rPr kumimoji="1" lang="zh-CN" altLang="en-US" sz="1600" dirty="0" smtClean="0">
                <a:solidFill>
                  <a:schemeClr val="tx1"/>
                </a:solidFill>
                <a:latin typeface="微软雅黑" panose="020B0503020204020204" pitchFamily="34" charset="-122"/>
                <a:ea typeface="微软雅黑" panose="020B0503020204020204" pitchFamily="34" charset="-122"/>
                <a:cs typeface="宋体" charset="0"/>
              </a:rPr>
              <a:t>作弊行为。</a:t>
            </a:r>
            <a:endParaRPr kumimoji="1" lang="en-US" altLang="zh-CN" sz="1600" dirty="0" smtClean="0">
              <a:solidFill>
                <a:schemeClr val="tx1"/>
              </a:solidFill>
              <a:latin typeface="微软雅黑" panose="020B0503020204020204" pitchFamily="34" charset="-122"/>
              <a:ea typeface="微软雅黑" panose="020B0503020204020204" pitchFamily="34" charset="-122"/>
              <a:cs typeface="宋体" charset="0"/>
            </a:endParaRPr>
          </a:p>
          <a:p>
            <a:pPr marL="285750" indent="-285750" algn="l">
              <a:spcAft>
                <a:spcPts val="600"/>
              </a:spcAft>
              <a:buSzPct val="120000"/>
              <a:buFont typeface="Arial" panose="020B0604020202020204" pitchFamily="34" charset="0"/>
              <a:buChar char="•"/>
            </a:pPr>
            <a:r>
              <a:rPr kumimoji="1" lang="zh-CN" altLang="en-US" sz="1600" dirty="0" smtClean="0">
                <a:solidFill>
                  <a:schemeClr val="tx1"/>
                </a:solidFill>
                <a:latin typeface="微软雅黑" panose="020B0503020204020204" pitchFamily="34" charset="-122"/>
                <a:ea typeface="微软雅黑" panose="020B0503020204020204" pitchFamily="34" charset="-122"/>
                <a:cs typeface="宋体" charset="0"/>
              </a:rPr>
              <a:t>分为商业类作弊和非商业类作弊两种</a:t>
            </a:r>
            <a:endParaRPr kumimoji="1" lang="zh-CN" altLang="en-US" sz="1800" dirty="0" smtClean="0">
              <a:solidFill>
                <a:schemeClr val="tx1"/>
              </a:solidFill>
              <a:latin typeface="微软雅黑" panose="020B0503020204020204" pitchFamily="34" charset="-122"/>
              <a:ea typeface="微软雅黑" panose="020B0503020204020204" pitchFamily="34" charset="-122"/>
              <a:cs typeface="宋体" charset="0"/>
            </a:endParaRPr>
          </a:p>
          <a:p>
            <a:pPr algn="l">
              <a:spcAft>
                <a:spcPts val="600"/>
              </a:spcAft>
              <a:buSzPct val="120000"/>
            </a:pPr>
            <a:r>
              <a:rPr kumimoji="1" lang="zh-CN" altLang="en-US" sz="1800" dirty="0" smtClean="0">
                <a:solidFill>
                  <a:schemeClr val="tx1"/>
                </a:solidFill>
                <a:latin typeface="微软雅黑" panose="020B0503020204020204" pitchFamily="34" charset="-122"/>
                <a:ea typeface="微软雅黑" panose="020B0503020204020204" pitchFamily="34" charset="-122"/>
                <a:cs typeface="宋体" charset="0"/>
              </a:rPr>
              <a:t>检索作弊的主要动机</a:t>
            </a:r>
            <a:endParaRPr kumimoji="1" lang="en-US" altLang="zh-CN" sz="1800" dirty="0" smtClean="0">
              <a:solidFill>
                <a:schemeClr val="tx1"/>
              </a:solidFill>
              <a:latin typeface="微软雅黑" panose="020B0503020204020204" pitchFamily="34" charset="-122"/>
              <a:ea typeface="微软雅黑" panose="020B0503020204020204" pitchFamily="34" charset="-122"/>
              <a:cs typeface="宋体" charset="0"/>
            </a:endParaRPr>
          </a:p>
          <a:p>
            <a:pPr marL="285750" indent="-285750" algn="l">
              <a:spcAft>
                <a:spcPts val="600"/>
              </a:spcAft>
              <a:buSzPct val="120000"/>
              <a:buFont typeface="Arial" panose="020B0604020202020204" pitchFamily="34" charset="0"/>
              <a:buChar char="•"/>
            </a:pPr>
            <a:r>
              <a:rPr kumimoji="1" lang="zh-CN" altLang="en-US" sz="1600" dirty="0" smtClean="0">
                <a:solidFill>
                  <a:schemeClr val="tx1"/>
                </a:solidFill>
                <a:latin typeface="微软雅黑" panose="020B0503020204020204" pitchFamily="34" charset="-122"/>
                <a:ea typeface="微软雅黑" panose="020B0503020204020204" pitchFamily="34" charset="-122"/>
                <a:cs typeface="宋体" charset="0"/>
              </a:rPr>
              <a:t>学术研究，第三方评估，爬虫获取信息，</a:t>
            </a:r>
            <a:r>
              <a:rPr kumimoji="1" lang="en-US" altLang="zh-CN" sz="1600" dirty="0" smtClean="0">
                <a:solidFill>
                  <a:schemeClr val="tx1"/>
                </a:solidFill>
                <a:latin typeface="微软雅黑" panose="020B0503020204020204" pitchFamily="34" charset="-122"/>
                <a:ea typeface="微软雅黑" panose="020B0503020204020204" pitchFamily="34" charset="-122"/>
                <a:cs typeface="宋体" charset="0"/>
              </a:rPr>
              <a:t>CPM</a:t>
            </a:r>
            <a:r>
              <a:rPr kumimoji="1" lang="zh-CN" altLang="en-US" sz="1600" dirty="0" smtClean="0">
                <a:solidFill>
                  <a:schemeClr val="tx1"/>
                </a:solidFill>
                <a:latin typeface="微软雅黑" panose="020B0503020204020204" pitchFamily="34" charset="-122"/>
                <a:ea typeface="微软雅黑" panose="020B0503020204020204" pitchFamily="34" charset="-122"/>
                <a:cs typeface="宋体" charset="0"/>
              </a:rPr>
              <a:t>计费模式下的作弊，</a:t>
            </a:r>
            <a:r>
              <a:rPr kumimoji="1" lang="en-US" altLang="zh-CN" sz="1600" dirty="0" smtClean="0">
                <a:solidFill>
                  <a:schemeClr val="tx1"/>
                </a:solidFill>
                <a:latin typeface="微软雅黑" panose="020B0503020204020204" pitchFamily="34" charset="-122"/>
                <a:ea typeface="微软雅黑" panose="020B0503020204020204" pitchFamily="34" charset="-122"/>
                <a:cs typeface="宋体" charset="0"/>
              </a:rPr>
              <a:t>SEO</a:t>
            </a:r>
            <a:r>
              <a:rPr kumimoji="1" lang="zh-CN" altLang="en-US" sz="1600" dirty="0" smtClean="0">
                <a:solidFill>
                  <a:schemeClr val="tx1"/>
                </a:solidFill>
                <a:latin typeface="微软雅黑" panose="020B0503020204020204" pitchFamily="34" charset="-122"/>
                <a:ea typeface="微软雅黑" panose="020B0503020204020204" pitchFamily="34" charset="-122"/>
                <a:cs typeface="宋体" charset="0"/>
              </a:rPr>
              <a:t>优化</a:t>
            </a:r>
            <a:r>
              <a:rPr kumimoji="1" lang="en-US" altLang="zh-CN" sz="1600" dirty="0" smtClean="0">
                <a:solidFill>
                  <a:schemeClr val="tx1"/>
                </a:solidFill>
                <a:latin typeface="微软雅黑" panose="020B0503020204020204" pitchFamily="34" charset="-122"/>
                <a:ea typeface="微软雅黑" panose="020B0503020204020204" pitchFamily="34" charset="-122"/>
                <a:cs typeface="宋体" charset="0"/>
              </a:rPr>
              <a:t>SEM</a:t>
            </a:r>
            <a:r>
              <a:rPr kumimoji="1" lang="zh-CN" altLang="en-US" sz="1600" dirty="0" smtClean="0">
                <a:solidFill>
                  <a:schemeClr val="tx1"/>
                </a:solidFill>
                <a:latin typeface="微软雅黑" panose="020B0503020204020204" pitchFamily="34" charset="-122"/>
                <a:ea typeface="微软雅黑" panose="020B0503020204020204" pitchFamily="34" charset="-122"/>
                <a:cs typeface="宋体" charset="0"/>
              </a:rPr>
              <a:t>优化，网络攻击前准备，刷搜索风云榜，刷搜索下拉框，点击作弊掩护</a:t>
            </a:r>
            <a:endParaRPr kumimoji="1" lang="zh-CN" altLang="en-US" sz="1800" dirty="0" smtClean="0">
              <a:solidFill>
                <a:schemeClr val="tx1"/>
              </a:solidFill>
              <a:latin typeface="微软雅黑" panose="020B0503020204020204" pitchFamily="34" charset="-122"/>
              <a:ea typeface="微软雅黑" panose="020B0503020204020204" pitchFamily="34" charset="-122"/>
              <a:cs typeface="宋体" charset="0"/>
            </a:endParaRPr>
          </a:p>
          <a:p>
            <a:pPr algn="l">
              <a:spcAft>
                <a:spcPts val="600"/>
              </a:spcAft>
              <a:buSzPct val="120000"/>
            </a:pPr>
            <a:r>
              <a:rPr kumimoji="1" lang="zh-CN" altLang="en-US" sz="1800" dirty="0" smtClean="0">
                <a:solidFill>
                  <a:schemeClr val="tx1"/>
                </a:solidFill>
                <a:latin typeface="微软雅黑" panose="020B0503020204020204" pitchFamily="34" charset="-122"/>
                <a:ea typeface="微软雅黑" panose="020B0503020204020204" pitchFamily="34" charset="-122"/>
                <a:cs typeface="宋体" charset="0"/>
              </a:rPr>
              <a:t>点击作弊的主要动机</a:t>
            </a:r>
            <a:endParaRPr kumimoji="1" lang="en-US" altLang="zh-CN" sz="1800" dirty="0" smtClean="0">
              <a:solidFill>
                <a:schemeClr val="tx1"/>
              </a:solidFill>
              <a:latin typeface="微软雅黑" panose="020B0503020204020204" pitchFamily="34" charset="-122"/>
              <a:ea typeface="微软雅黑" panose="020B0503020204020204" pitchFamily="34" charset="-122"/>
              <a:cs typeface="宋体" charset="0"/>
            </a:endParaRPr>
          </a:p>
          <a:p>
            <a:pPr marL="285750" lvl="0" indent="-285750" algn="l">
              <a:spcBef>
                <a:spcPts val="0"/>
              </a:spcBef>
              <a:spcAft>
                <a:spcPts val="600"/>
              </a:spcAft>
              <a:buSzPct val="120000"/>
              <a:buFont typeface="Arial" panose="020B0604020202020204" pitchFamily="34" charset="0"/>
              <a:buChar char="•"/>
            </a:pPr>
            <a:r>
              <a:rPr kumimoji="1" lang="zh-CN" altLang="en-US" sz="1600" dirty="0">
                <a:solidFill>
                  <a:prstClr val="black"/>
                </a:solidFill>
                <a:latin typeface="微软雅黑" panose="020B0503020204020204" pitchFamily="34" charset="-122"/>
                <a:ea typeface="微软雅黑" panose="020B0503020204020204" pitchFamily="34" charset="-122"/>
                <a:cs typeface="宋体" charset="0"/>
              </a:rPr>
              <a:t>打击竞争对手</a:t>
            </a:r>
            <a:endParaRPr kumimoji="1" lang="zh-CN" altLang="en-US" sz="1600" dirty="0">
              <a:solidFill>
                <a:prstClr val="black"/>
              </a:solidFill>
              <a:latin typeface="微软雅黑" panose="020B0503020204020204" pitchFamily="34" charset="-122"/>
              <a:ea typeface="微软雅黑" panose="020B0503020204020204" pitchFamily="34" charset="-122"/>
              <a:cs typeface="宋体" charset="0"/>
            </a:endParaRPr>
          </a:p>
          <a:p>
            <a:pPr marL="285750" lvl="0" indent="-285750" algn="l">
              <a:spcBef>
                <a:spcPts val="0"/>
              </a:spcBef>
              <a:spcAft>
                <a:spcPts val="600"/>
              </a:spcAft>
              <a:buSzPct val="120000"/>
              <a:buFont typeface="Arial" panose="020B0604020202020204" pitchFamily="34" charset="0"/>
              <a:buChar char="•"/>
            </a:pPr>
            <a:r>
              <a:rPr kumimoji="1" lang="zh-CN" altLang="en-US" sz="1600" dirty="0">
                <a:solidFill>
                  <a:prstClr val="black"/>
                </a:solidFill>
                <a:latin typeface="微软雅黑" panose="020B0503020204020204" pitchFamily="34" charset="-122"/>
                <a:ea typeface="微软雅黑" panose="020B0503020204020204" pitchFamily="34" charset="-122"/>
                <a:cs typeface="宋体" charset="0"/>
              </a:rPr>
              <a:t>赚取不正当</a:t>
            </a:r>
            <a:r>
              <a:rPr kumimoji="1" lang="zh-CN" altLang="en-US" sz="1600" dirty="0" smtClean="0">
                <a:solidFill>
                  <a:prstClr val="black"/>
                </a:solidFill>
                <a:latin typeface="微软雅黑" panose="020B0503020204020204" pitchFamily="34" charset="-122"/>
                <a:ea typeface="微软雅黑" panose="020B0503020204020204" pitchFamily="34" charset="-122"/>
                <a:cs typeface="宋体" charset="0"/>
              </a:rPr>
              <a:t>分成</a:t>
            </a:r>
            <a:endParaRPr kumimoji="1" lang="zh-CN" altLang="en-US" sz="1800" dirty="0" smtClean="0">
              <a:solidFill>
                <a:schemeClr val="tx1"/>
              </a:solidFill>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8" name="文本框 7"/>
          <p:cNvSpPr txBox="1"/>
          <p:nvPr/>
        </p:nvSpPr>
        <p:spPr>
          <a:xfrm>
            <a:off x="828448" y="404225"/>
            <a:ext cx="1725152"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业务背景</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反作弊</a:t>
            </a:r>
            <a:endParaRPr kumimoji="1" lang="zh-CN" altLang="en-US" sz="1400" b="1" spc="200" dirty="0">
              <a:latin typeface="微软雅黑"/>
              <a:ea typeface="微软雅黑"/>
              <a:cs typeface="微软雅黑"/>
            </a:endParaRPr>
          </a:p>
        </p:txBody>
      </p:sp>
      <p:sp>
        <p:nvSpPr>
          <p:cNvPr id="9" name="内容占位符 2"/>
          <p:cNvSpPr txBox="1"/>
          <p:nvPr/>
        </p:nvSpPr>
        <p:spPr>
          <a:xfrm>
            <a:off x="516474" y="974656"/>
            <a:ext cx="4066956" cy="3877760"/>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panose="020B060402020202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2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2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9pPr>
          </a:lstStyle>
          <a:p>
            <a:pPr algn="l">
              <a:spcAft>
                <a:spcPts val="600"/>
              </a:spcAft>
              <a:buSzPct val="120000"/>
            </a:pPr>
            <a:r>
              <a:rPr kumimoji="1" lang="zh-CN" altLang="en-US" sz="1800" dirty="0" smtClean="0">
                <a:solidFill>
                  <a:schemeClr val="tx1"/>
                </a:solidFill>
                <a:latin typeface="微软雅黑" panose="020B0503020204020204" pitchFamily="34" charset="-122"/>
                <a:ea typeface="微软雅黑" panose="020B0503020204020204" pitchFamily="34" charset="-122"/>
                <a:cs typeface="宋体" charset="0"/>
              </a:rPr>
              <a:t>反作弊要做的事</a:t>
            </a:r>
            <a:endParaRPr kumimoji="1" lang="en-US" altLang="zh-CN" sz="1800" dirty="0" smtClean="0">
              <a:solidFill>
                <a:schemeClr val="tx1"/>
              </a:solidFill>
              <a:latin typeface="微软雅黑" panose="020B0503020204020204" pitchFamily="34" charset="-122"/>
              <a:ea typeface="微软雅黑" panose="020B0503020204020204" pitchFamily="34" charset="-122"/>
              <a:cs typeface="宋体" charset="0"/>
            </a:endParaRPr>
          </a:p>
          <a:p>
            <a:pPr marL="285750" indent="-285750" algn="l">
              <a:spcAft>
                <a:spcPts val="600"/>
              </a:spcAft>
              <a:buSzPct val="120000"/>
              <a:buFont typeface="Arial" panose="020B0604020202020204" pitchFamily="34" charset="0"/>
              <a:buChar char="•"/>
            </a:pPr>
            <a:r>
              <a:rPr kumimoji="1" lang="zh-CN" altLang="en-US" sz="1600" dirty="0" smtClean="0">
                <a:solidFill>
                  <a:schemeClr val="tx1"/>
                </a:solidFill>
                <a:latin typeface="微软雅黑" panose="020B0503020204020204" pitchFamily="34" charset="-122"/>
                <a:ea typeface="微软雅黑" panose="020B0503020204020204" pitchFamily="34" charset="-122"/>
                <a:cs typeface="宋体" charset="0"/>
              </a:rPr>
              <a:t>根据作弊流量的特点，区分作弊流量和正常流量</a:t>
            </a:r>
            <a:endParaRPr kumimoji="1" lang="en-US" altLang="zh-CN" sz="1800" dirty="0">
              <a:solidFill>
                <a:schemeClr val="tx1"/>
              </a:solidFill>
              <a:latin typeface="微软雅黑" panose="020B0503020204020204" pitchFamily="34" charset="-122"/>
              <a:ea typeface="微软雅黑" panose="020B0503020204020204" pitchFamily="34" charset="-122"/>
              <a:cs typeface="宋体" charset="0"/>
            </a:endParaRPr>
          </a:p>
          <a:p>
            <a:pPr algn="l">
              <a:spcAft>
                <a:spcPts val="600"/>
              </a:spcAft>
              <a:buSzPct val="120000"/>
            </a:pPr>
            <a:r>
              <a:rPr kumimoji="1" lang="zh-CN" altLang="en-US" sz="1800" dirty="0" smtClean="0">
                <a:solidFill>
                  <a:schemeClr val="tx1"/>
                </a:solidFill>
                <a:latin typeface="微软雅黑" panose="020B0503020204020204" pitchFamily="34" charset="-122"/>
                <a:ea typeface="微软雅黑" panose="020B0503020204020204" pitchFamily="34" charset="-122"/>
                <a:cs typeface="宋体" charset="0"/>
              </a:rPr>
              <a:t>反作弊的意义</a:t>
            </a:r>
            <a:endParaRPr kumimoji="1" lang="en-US" altLang="zh-CN" sz="1800" dirty="0" smtClean="0">
              <a:solidFill>
                <a:schemeClr val="tx1"/>
              </a:solidFill>
              <a:latin typeface="微软雅黑" panose="020B0503020204020204" pitchFamily="34" charset="-122"/>
              <a:ea typeface="微软雅黑" panose="020B0503020204020204" pitchFamily="34" charset="-122"/>
              <a:cs typeface="宋体" charset="0"/>
            </a:endParaRPr>
          </a:p>
          <a:p>
            <a:pPr marL="285750" indent="-285750" algn="l">
              <a:spcAft>
                <a:spcPts val="600"/>
              </a:spcAft>
              <a:buSzPct val="120000"/>
              <a:buFont typeface="Arial" panose="020B0604020202020204" pitchFamily="34" charset="0"/>
              <a:buChar char="•"/>
            </a:pPr>
            <a:r>
              <a:rPr kumimoji="1" lang="zh-CN" altLang="en-US" sz="1600" dirty="0" smtClean="0">
                <a:solidFill>
                  <a:schemeClr val="tx1"/>
                </a:solidFill>
                <a:latin typeface="微软雅黑" panose="020B0503020204020204" pitchFamily="34" charset="-122"/>
                <a:ea typeface="微软雅黑" panose="020B0503020204020204" pitchFamily="34" charset="-122"/>
                <a:cs typeface="宋体" charset="0"/>
              </a:rPr>
              <a:t>塑造良好的商业环境：没有规范的市场很容易陷入恶性循环并摧毁整个行业，广告主之间通过作弊的方式进行商业竞争既是对竞争对手的打击，也消耗了百度作为平台方的信誉。</a:t>
            </a:r>
            <a:endParaRPr kumimoji="1" lang="zh-CN" altLang="en-US" sz="1600" dirty="0">
              <a:solidFill>
                <a:schemeClr val="tx1"/>
              </a:solidFill>
              <a:latin typeface="微软雅黑" panose="020B0503020204020204" pitchFamily="34" charset="-122"/>
              <a:ea typeface="微软雅黑" panose="020B0503020204020204" pitchFamily="34" charset="-122"/>
              <a:cs typeface="宋体" charset="0"/>
            </a:endParaRPr>
          </a:p>
          <a:p>
            <a:pPr marL="285750" indent="-285750" algn="l">
              <a:spcAft>
                <a:spcPts val="600"/>
              </a:spcAft>
              <a:buSzPct val="120000"/>
              <a:buFont typeface="Arial" panose="020B0604020202020204" pitchFamily="34" charset="0"/>
              <a:buChar char="•"/>
            </a:pPr>
            <a:r>
              <a:rPr kumimoji="1" lang="zh-CN" altLang="en-US" sz="1600" dirty="0" smtClean="0">
                <a:solidFill>
                  <a:schemeClr val="tx1"/>
                </a:solidFill>
                <a:latin typeface="微软雅黑" panose="020B0503020204020204" pitchFamily="34" charset="-122"/>
                <a:ea typeface="微软雅黑" panose="020B0503020204020204" pitchFamily="34" charset="-122"/>
                <a:cs typeface="宋体" charset="0"/>
              </a:rPr>
              <a:t>技术需求：百度提升搜索和推送效果需要纯净的数据，作弊流量会造成很大影响。</a:t>
            </a:r>
            <a:endParaRPr kumimoji="1" lang="zh-CN" altLang="en-US" sz="1600" dirty="0">
              <a:solidFill>
                <a:schemeClr val="tx1"/>
              </a:solidFill>
              <a:latin typeface="微软雅黑" panose="020B0503020204020204" pitchFamily="34" charset="-122"/>
              <a:ea typeface="微软雅黑" panose="020B0503020204020204" pitchFamily="34" charset="-122"/>
              <a:cs typeface="宋体" charset="0"/>
            </a:endParaRPr>
          </a:p>
        </p:txBody>
      </p:sp>
      <p:pic>
        <p:nvPicPr>
          <p:cNvPr id="4" name="图片 3"/>
          <p:cNvPicPr>
            <a:picLocks noChangeAspect="1"/>
          </p:cNvPicPr>
          <p:nvPr/>
        </p:nvPicPr>
        <p:blipFill>
          <a:blip r:embed="rId2"/>
          <a:stretch>
            <a:fillRect/>
          </a:stretch>
        </p:blipFill>
        <p:spPr>
          <a:xfrm>
            <a:off x="4949189" y="2143722"/>
            <a:ext cx="4000693" cy="1993938"/>
          </a:xfrm>
          <a:prstGeom prst="rect">
            <a:avLst/>
          </a:prstGeom>
        </p:spPr>
      </p:pic>
      <p:sp>
        <p:nvSpPr>
          <p:cNvPr id="2" name="矩形 1"/>
          <p:cNvSpPr/>
          <p:nvPr/>
        </p:nvSpPr>
        <p:spPr>
          <a:xfrm>
            <a:off x="4949189" y="974656"/>
            <a:ext cx="3429001" cy="692497"/>
          </a:xfrm>
          <a:prstGeom prst="rect">
            <a:avLst/>
          </a:prstGeom>
        </p:spPr>
        <p:txBody>
          <a:bodyPr wrap="square">
            <a:spAutoFit/>
          </a:bodyPr>
          <a:lstStyle/>
          <a:p>
            <a:pPr>
              <a:spcAft>
                <a:spcPts val="600"/>
              </a:spcAft>
              <a:buSzPct val="120000"/>
            </a:pPr>
            <a:r>
              <a:rPr kumimoji="1" lang="zh-CN" altLang="en-US" dirty="0">
                <a:latin typeface="微软雅黑" panose="020B0503020204020204" pitchFamily="34" charset="-122"/>
                <a:ea typeface="微软雅黑" panose="020B0503020204020204" pitchFamily="34" charset="-122"/>
                <a:cs typeface="宋体" charset="0"/>
              </a:rPr>
              <a:t>作弊流量的特点</a:t>
            </a:r>
            <a:endParaRPr kumimoji="1" lang="en-US" altLang="zh-CN" dirty="0">
              <a:latin typeface="微软雅黑" panose="020B0503020204020204" pitchFamily="34" charset="-122"/>
              <a:ea typeface="微软雅黑" panose="020B0503020204020204" pitchFamily="34" charset="-122"/>
              <a:cs typeface="宋体" charset="0"/>
            </a:endParaRPr>
          </a:p>
          <a:p>
            <a:pPr marL="285750" indent="-285750">
              <a:spcAft>
                <a:spcPts val="600"/>
              </a:spcAft>
              <a:buSzPct val="120000"/>
              <a:buFont typeface="Arial" panose="020B0604020202020204" pitchFamily="34" charset="0"/>
              <a:buChar char="•"/>
            </a:pPr>
            <a:r>
              <a:rPr kumimoji="1" lang="zh-CN" altLang="en-US" sz="1600" dirty="0">
                <a:latin typeface="微软雅黑" panose="020B0503020204020204" pitchFamily="34" charset="-122"/>
                <a:ea typeface="微软雅黑" panose="020B0503020204020204" pitchFamily="34" charset="-122"/>
                <a:cs typeface="宋体" charset="0"/>
              </a:rPr>
              <a:t>拐点，突增突降，分布异常</a:t>
            </a:r>
            <a:endParaRPr kumimoji="1" lang="zh-CN" altLang="en-US" sz="1600" dirty="0">
              <a:latin typeface="微软雅黑" panose="020B0503020204020204" pitchFamily="34" charset="-122"/>
              <a:ea typeface="微软雅黑" panose="020B0503020204020204" pitchFamily="34" charset="-122"/>
              <a:cs typeface="宋体" charset="0"/>
            </a:endParaRPr>
          </a:p>
        </p:txBody>
      </p:sp>
      <p:sp>
        <p:nvSpPr>
          <p:cNvPr id="3" name="文本框 2"/>
          <p:cNvSpPr txBox="1"/>
          <p:nvPr/>
        </p:nvSpPr>
        <p:spPr>
          <a:xfrm>
            <a:off x="5400770" y="4152563"/>
            <a:ext cx="3097530" cy="307777"/>
          </a:xfrm>
          <a:prstGeom prst="rect">
            <a:avLst/>
          </a:prstGeom>
          <a:noFill/>
        </p:spPr>
        <p:txBody>
          <a:bodyPr wrap="square" rtlCol="0">
            <a:spAutoFit/>
          </a:bodyPr>
          <a:lstStyle/>
          <a:p>
            <a:pPr algn="ctr"/>
            <a:r>
              <a:rPr lang="zh-CN" altLang="en-US" sz="1400" dirty="0" smtClean="0">
                <a:latin typeface="微软雅黑" panose="020B0503020204020204" pitchFamily="34" charset="-122"/>
                <a:ea typeface="微软雅黑" panose="020B0503020204020204" pitchFamily="34" charset="-122"/>
              </a:rPr>
              <a:t>图</a:t>
            </a:r>
            <a:r>
              <a:rPr lang="en-US" altLang="zh-CN" sz="1400" dirty="0" smtClean="0">
                <a:latin typeface="微软雅黑" panose="020B0503020204020204" pitchFamily="34" charset="-122"/>
                <a:ea typeface="微软雅黑" panose="020B0503020204020204" pitchFamily="34" charset="-122"/>
              </a:rPr>
              <a:t>1</a:t>
            </a:r>
            <a:r>
              <a:rPr lang="zh-CN" altLang="en-US" sz="1400" dirty="0" smtClean="0">
                <a:latin typeface="微软雅黑" panose="020B0503020204020204" pitchFamily="34" charset="-122"/>
                <a:ea typeface="微软雅黑" panose="020B0503020204020204" pitchFamily="34" charset="-122"/>
              </a:rPr>
              <a:t>：正常曲线和作弊曲线对比</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 name="文本框 4"/>
          <p:cNvSpPr txBox="1"/>
          <p:nvPr/>
        </p:nvSpPr>
        <p:spPr>
          <a:xfrm>
            <a:off x="3335422" y="1704473"/>
            <a:ext cx="5126790" cy="1009507"/>
          </a:xfrm>
          <a:prstGeom prst="rect">
            <a:avLst/>
          </a:prstGeom>
          <a:noFill/>
        </p:spPr>
        <p:txBody>
          <a:bodyPr wrap="square" rtlCol="0">
            <a:spAutoFit/>
          </a:bodyPr>
          <a:lstStyle/>
          <a:p>
            <a:pPr>
              <a:lnSpc>
                <a:spcPct val="110000"/>
              </a:lnSpc>
            </a:pPr>
            <a:r>
              <a:rPr kumimoji="1" lang="zh-CN" altLang="en-US" sz="2800" spc="540" dirty="0">
                <a:solidFill>
                  <a:schemeClr val="tx1">
                    <a:lumMod val="75000"/>
                    <a:lumOff val="25000"/>
                  </a:schemeClr>
                </a:solidFill>
                <a:latin typeface="微软雅黑"/>
                <a:ea typeface="微软雅黑"/>
                <a:cs typeface="微软雅黑"/>
              </a:rPr>
              <a:t>系统框架和基本概念</a:t>
            </a:r>
            <a:endParaRPr kumimoji="1" lang="en-US" altLang="zh-CN" sz="2800" spc="540" dirty="0" smtClean="0">
              <a:solidFill>
                <a:schemeClr val="tx1">
                  <a:lumMod val="75000"/>
                  <a:lumOff val="25000"/>
                </a:schemeClr>
              </a:solidFill>
              <a:latin typeface="微软雅黑"/>
              <a:ea typeface="微软雅黑"/>
              <a:cs typeface="微软雅黑"/>
            </a:endParaRPr>
          </a:p>
          <a:p>
            <a:pPr>
              <a:lnSpc>
                <a:spcPct val="120000"/>
              </a:lnSpc>
            </a:pPr>
            <a:r>
              <a:rPr kumimoji="1" lang="en-US" altLang="zh-CN" sz="2400" spc="70" dirty="0" smtClean="0">
                <a:solidFill>
                  <a:schemeClr val="tx1">
                    <a:lumMod val="75000"/>
                    <a:lumOff val="25000"/>
                  </a:schemeClr>
                </a:solidFill>
                <a:latin typeface="微软雅黑"/>
                <a:ea typeface="微软雅黑"/>
                <a:cs typeface="微软雅黑"/>
              </a:rPr>
              <a:t>This part of lecture subject</a:t>
            </a:r>
            <a:endParaRPr kumimoji="1" lang="zh-CN" altLang="en-US" sz="2400" spc="70" dirty="0">
              <a:solidFill>
                <a:schemeClr val="tx1">
                  <a:lumMod val="75000"/>
                  <a:lumOff val="25000"/>
                </a:schemeClr>
              </a:solidFill>
              <a:latin typeface="微软雅黑"/>
              <a:ea typeface="微软雅黑"/>
              <a:cs typeface="微软雅黑"/>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571812"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反作弊系统框架</a:t>
            </a:r>
            <a:endParaRPr kumimoji="1" lang="zh-CN" altLang="en-US" sz="1400" b="1" spc="200" dirty="0">
              <a:latin typeface="微软雅黑"/>
              <a:ea typeface="微软雅黑"/>
              <a:cs typeface="微软雅黑"/>
            </a:endParaRPr>
          </a:p>
        </p:txBody>
      </p:sp>
      <p:sp>
        <p:nvSpPr>
          <p:cNvPr id="3" name="矩形 2"/>
          <p:cNvSpPr/>
          <p:nvPr/>
        </p:nvSpPr>
        <p:spPr>
          <a:xfrm>
            <a:off x="365760" y="1002090"/>
            <a:ext cx="4323806" cy="3477875"/>
          </a:xfrm>
          <a:prstGeom prst="rect">
            <a:avLst/>
          </a:prstGeom>
        </p:spPr>
        <p:txBody>
          <a:bodyPr wrap="square">
            <a:spAutoFit/>
          </a:bodyPr>
          <a:lstStyle/>
          <a:p>
            <a:r>
              <a:rPr lang="zh-CN" altLang="en-US" dirty="0" smtClean="0">
                <a:latin typeface="微软雅黑" panose="020B0503020204020204" pitchFamily="34" charset="-122"/>
                <a:ea typeface="微软雅黑" panose="020B0503020204020204" pitchFamily="34" charset="-122"/>
              </a:rPr>
              <a:t>反作弊系统特点</a:t>
            </a:r>
            <a:endParaRPr lang="en-US" altLang="zh-CN" dirty="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多级过滤</a:t>
            </a:r>
            <a:endParaRPr lang="en-US" altLang="zh-CN" sz="1600" dirty="0" smtClean="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400" dirty="0" smtClean="0">
                <a:latin typeface="微软雅黑" panose="020B0503020204020204" pitchFamily="34" charset="-122"/>
                <a:ea typeface="微软雅黑" panose="020B0503020204020204" pitchFamily="34" charset="-122"/>
              </a:rPr>
              <a:t>简单过滤层</a:t>
            </a:r>
            <a:r>
              <a:rPr lang="en-US" altLang="zh-CN" sz="1400" dirty="0" smtClean="0">
                <a:latin typeface="微软雅黑" panose="020B0503020204020204" pitchFamily="34" charset="-122"/>
                <a:ea typeface="微软雅黑" panose="020B0503020204020204" pitchFamily="34" charset="-122"/>
              </a:rPr>
              <a:t>(</a:t>
            </a:r>
            <a:r>
              <a:rPr lang="en-US" altLang="zh-CN" sz="1400" dirty="0" err="1" smtClean="0">
                <a:latin typeface="微软雅黑" panose="020B0503020204020204" pitchFamily="34" charset="-122"/>
                <a:ea typeface="微软雅黑" panose="020B0503020204020204" pitchFamily="34" charset="-122"/>
              </a:rPr>
              <a:t>dformat</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统计过滤层</a:t>
            </a:r>
            <a:r>
              <a:rPr lang="en-US" altLang="zh-CN" sz="1400" dirty="0" smtClean="0">
                <a:latin typeface="微软雅黑" panose="020B0503020204020204" pitchFamily="34" charset="-122"/>
                <a:ea typeface="微软雅黑" panose="020B0503020204020204" pitchFamily="34" charset="-122"/>
              </a:rPr>
              <a:t>(Themis)</a:t>
            </a:r>
            <a:endParaRPr lang="en-US" altLang="zh-CN" sz="1400" dirty="0" smtClean="0">
              <a:latin typeface="微软雅黑" panose="020B0503020204020204" pitchFamily="34" charset="-122"/>
              <a:ea typeface="微软雅黑" panose="020B0503020204020204" pitchFamily="34" charset="-122"/>
            </a:endParaRPr>
          </a:p>
          <a:p>
            <a:pPr marL="1200150" lvl="2" indent="-285750">
              <a:buFont typeface="Arial" panose="020B0604020202020204" pitchFamily="34" charset="0"/>
              <a:buChar char="•"/>
            </a:pPr>
            <a:r>
              <a:rPr lang="zh-CN" altLang="en-US" sz="1200" dirty="0" smtClean="0">
                <a:latin typeface="微软雅黑" panose="020B0503020204020204" pitchFamily="34" charset="-122"/>
                <a:ea typeface="微软雅黑" panose="020B0503020204020204" pitchFamily="34" charset="-122"/>
              </a:rPr>
              <a:t>防止小流量高级作弊被大量简单作弊淹没</a:t>
            </a:r>
            <a:endParaRPr lang="en-US" altLang="zh-CN" sz="1200" dirty="0" smtClean="0">
              <a:latin typeface="微软雅黑" panose="020B0503020204020204" pitchFamily="34" charset="-122"/>
              <a:ea typeface="微软雅黑" panose="020B0503020204020204" pitchFamily="34" charset="-122"/>
            </a:endParaRPr>
          </a:p>
          <a:p>
            <a:pPr marL="1200150" lvl="2"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过滤层级之间</a:t>
            </a:r>
            <a:r>
              <a:rPr lang="zh-CN" altLang="en-US" sz="1600" dirty="0" smtClean="0">
                <a:latin typeface="微软雅黑" panose="020B0503020204020204" pitchFamily="34" charset="-122"/>
                <a:ea typeface="微软雅黑" panose="020B0503020204020204" pitchFamily="34" charset="-122"/>
              </a:rPr>
              <a:t>串行、层内并行</a:t>
            </a:r>
            <a:endParaRPr lang="zh-CN" altLang="en-US" sz="1600"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400" dirty="0" smtClean="0">
                <a:latin typeface="微软雅黑" panose="020B0503020204020204" pitchFamily="34" charset="-122"/>
                <a:ea typeface="微软雅黑" panose="020B0503020204020204" pitchFamily="34" charset="-122"/>
              </a:rPr>
              <a:t>已</a:t>
            </a:r>
            <a:r>
              <a:rPr lang="zh-CN" altLang="en-US" sz="1400" dirty="0">
                <a:latin typeface="微软雅黑" panose="020B0503020204020204" pitchFamily="34" charset="-122"/>
                <a:ea typeface="微软雅黑" panose="020B0503020204020204" pitchFamily="34" charset="-122"/>
              </a:rPr>
              <a:t>过滤透传给</a:t>
            </a:r>
            <a:r>
              <a:rPr lang="zh-CN" altLang="en-US" sz="1400" dirty="0" smtClean="0">
                <a:latin typeface="微软雅黑" panose="020B0503020204020204" pitchFamily="34" charset="-122"/>
                <a:ea typeface="微软雅黑" panose="020B0503020204020204" pitchFamily="34" charset="-122"/>
              </a:rPr>
              <a:t>下游，</a:t>
            </a:r>
            <a:r>
              <a:rPr lang="zh-CN" altLang="en-US" sz="1400" dirty="0">
                <a:latin typeface="微软雅黑" panose="020B0503020204020204" pitchFamily="34" charset="-122"/>
                <a:ea typeface="微软雅黑" panose="020B0503020204020204" pitchFamily="34" charset="-122"/>
              </a:rPr>
              <a:t>对后续过滤层级不</a:t>
            </a:r>
            <a:r>
              <a:rPr lang="zh-CN" altLang="en-US" sz="1400" dirty="0" smtClean="0">
                <a:latin typeface="微软雅黑" panose="020B0503020204020204" pitchFamily="34" charset="-122"/>
                <a:ea typeface="微软雅黑" panose="020B0503020204020204" pitchFamily="34" charset="-122"/>
              </a:rPr>
              <a:t>可见（比如一条日志被</a:t>
            </a:r>
            <a:r>
              <a:rPr lang="en-US" altLang="zh-CN" sz="1400" dirty="0" err="1" smtClean="0">
                <a:latin typeface="微软雅黑" panose="020B0503020204020204" pitchFamily="34" charset="-122"/>
                <a:ea typeface="微软雅黑" panose="020B0503020204020204" pitchFamily="34" charset="-122"/>
              </a:rPr>
              <a:t>dformat</a:t>
            </a:r>
            <a:r>
              <a:rPr lang="zh-CN" altLang="en-US" sz="1400" dirty="0" smtClean="0">
                <a:latin typeface="微软雅黑" panose="020B0503020204020204" pitchFamily="34" charset="-122"/>
                <a:ea typeface="微软雅黑" panose="020B0503020204020204" pitchFamily="34" charset="-122"/>
              </a:rPr>
              <a:t>层过滤后，</a:t>
            </a:r>
            <a:r>
              <a:rPr lang="en-US" altLang="zh-CN" sz="1400" dirty="0" smtClean="0">
                <a:latin typeface="微软雅黑" panose="020B0503020204020204" pitchFamily="34" charset="-122"/>
                <a:ea typeface="微软雅黑" panose="020B0503020204020204" pitchFamily="34" charset="-122"/>
              </a:rPr>
              <a:t>Themis</a:t>
            </a:r>
            <a:r>
              <a:rPr lang="zh-CN" altLang="en-US" sz="1400" dirty="0" smtClean="0">
                <a:latin typeface="微软雅黑" panose="020B0503020204020204" pitchFamily="34" charset="-122"/>
                <a:ea typeface="微软雅黑" panose="020B0503020204020204" pitchFamily="34" charset="-122"/>
              </a:rPr>
              <a:t>层不会接收到该条日志）</a:t>
            </a:r>
            <a:endParaRPr lang="en-US" altLang="zh-CN" sz="1400" dirty="0" smtClean="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400" dirty="0" smtClean="0">
                <a:latin typeface="微软雅黑" panose="020B0503020204020204" pitchFamily="34" charset="-122"/>
                <a:ea typeface="微软雅黑" panose="020B0503020204020204" pitchFamily="34" charset="-122"/>
              </a:rPr>
              <a:t>特征累积并行</a:t>
            </a:r>
            <a:endParaRPr lang="en-US" altLang="zh-CN" sz="1400" dirty="0" smtClean="0">
              <a:latin typeface="微软雅黑" panose="020B0503020204020204" pitchFamily="34" charset="-122"/>
              <a:ea typeface="微软雅黑" panose="020B0503020204020204" pitchFamily="34" charset="-122"/>
            </a:endParaRPr>
          </a:p>
          <a:p>
            <a:pPr lvl="1"/>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级内三层</a:t>
            </a:r>
            <a:r>
              <a:rPr lang="zh-CN" altLang="en-US" sz="1600" dirty="0" smtClean="0">
                <a:latin typeface="微软雅黑" panose="020B0503020204020204" pitchFamily="34" charset="-122"/>
                <a:ea typeface="微软雅黑" panose="020B0503020204020204" pitchFamily="34" charset="-122"/>
              </a:rPr>
              <a:t>抽象</a:t>
            </a:r>
            <a:endParaRPr lang="en-US" altLang="zh-CN" sz="1600" dirty="0" smtClean="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400" dirty="0" smtClean="0">
                <a:latin typeface="微软雅黑" panose="020B0503020204020204" pitchFamily="34" charset="-122"/>
                <a:ea typeface="微软雅黑" panose="020B0503020204020204" pitchFamily="34" charset="-122"/>
              </a:rPr>
              <a:t>数据层、特征层、过滤层</a:t>
            </a:r>
            <a:endParaRPr lang="en-US" altLang="zh-CN" sz="1400" dirty="0" smtClean="0">
              <a:latin typeface="微软雅黑" panose="020B0503020204020204" pitchFamily="34" charset="-122"/>
              <a:ea typeface="微软雅黑" panose="020B0503020204020204" pitchFamily="34" charset="-122"/>
            </a:endParaRPr>
          </a:p>
          <a:p>
            <a:pPr marL="1200150" lvl="2" indent="-285750">
              <a:buFont typeface="Arial" panose="020B0604020202020204" pitchFamily="34" charset="0"/>
              <a:buChar char="•"/>
            </a:pPr>
            <a:r>
              <a:rPr lang="zh-CN" altLang="en-US" sz="1200" dirty="0" smtClean="0">
                <a:latin typeface="微软雅黑" panose="020B0503020204020204" pitchFamily="34" charset="-122"/>
                <a:ea typeface="微软雅黑" panose="020B0503020204020204" pitchFamily="34" charset="-122"/>
              </a:rPr>
              <a:t>特征</a:t>
            </a:r>
            <a:r>
              <a:rPr lang="zh-CN" altLang="en-US" sz="1200" dirty="0">
                <a:latin typeface="微软雅黑" panose="020B0503020204020204" pitchFamily="34" charset="-122"/>
                <a:ea typeface="微软雅黑" panose="020B0503020204020204" pitchFamily="34" charset="-122"/>
              </a:rPr>
              <a:t>复用、多特征策略（包括模型过滤</a:t>
            </a:r>
            <a:r>
              <a:rPr lang="zh-CN" altLang="en-US" sz="1400" dirty="0" smtClean="0">
                <a:latin typeface="微软雅黑" panose="020B0503020204020204" pitchFamily="34" charset="-122"/>
                <a:ea typeface="微软雅黑" panose="020B0503020204020204" pitchFamily="34" charset="-122"/>
              </a:rPr>
              <a:t>）</a:t>
            </a:r>
            <a:endParaRPr lang="en-US" altLang="zh-CN" sz="1400" dirty="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849257" y="4004236"/>
            <a:ext cx="2322286" cy="276999"/>
          </a:xfrm>
          <a:prstGeom prst="rect">
            <a:avLst/>
          </a:prstGeom>
          <a:noFill/>
        </p:spPr>
        <p:txBody>
          <a:bodyPr wrap="square" rtlCol="0">
            <a:spAutoFit/>
          </a:bodyPr>
          <a:lstStyle/>
          <a:p>
            <a:pPr algn="ctr"/>
            <a:r>
              <a:rPr lang="zh-CN" altLang="en-US" sz="1200" dirty="0" smtClean="0">
                <a:latin typeface="+mn-ea"/>
              </a:rPr>
              <a:t>图</a:t>
            </a:r>
            <a:r>
              <a:rPr lang="en-US" altLang="zh-CN" sz="1200" dirty="0" smtClean="0">
                <a:latin typeface="+mn-ea"/>
              </a:rPr>
              <a:t>a: </a:t>
            </a:r>
            <a:r>
              <a:rPr lang="zh-CN" altLang="en-US" sz="1200" dirty="0" smtClean="0">
                <a:latin typeface="+mn-ea"/>
              </a:rPr>
              <a:t>反作弊系统框架图</a:t>
            </a:r>
            <a:endParaRPr lang="zh-CN" altLang="en-US" sz="1200" dirty="0">
              <a:latin typeface="+mn-ea"/>
            </a:endParaRPr>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2983" y="1002090"/>
            <a:ext cx="3094834" cy="2783238"/>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776996"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过滤层级内部结构</a:t>
            </a:r>
            <a:endParaRPr kumimoji="1" lang="zh-CN" altLang="en-US" sz="1400" b="1" spc="200" dirty="0">
              <a:latin typeface="微软雅黑"/>
              <a:ea typeface="微软雅黑"/>
              <a:cs typeface="微软雅黑"/>
            </a:endParaRPr>
          </a:p>
        </p:txBody>
      </p:sp>
      <p:sp>
        <p:nvSpPr>
          <p:cNvPr id="3" name="矩形 2"/>
          <p:cNvSpPr/>
          <p:nvPr/>
        </p:nvSpPr>
        <p:spPr>
          <a:xfrm>
            <a:off x="365760" y="1002090"/>
            <a:ext cx="4960620" cy="4339650"/>
          </a:xfrm>
          <a:prstGeom prst="rect">
            <a:avLst/>
          </a:prstGeom>
        </p:spPr>
        <p:txBody>
          <a:bodyPr wrap="square">
            <a:spAutoFit/>
          </a:bodyPr>
          <a:lstStyle/>
          <a:p>
            <a:r>
              <a:rPr lang="zh-CN" altLang="en-US" dirty="0" smtClean="0">
                <a:latin typeface="微软雅黑" panose="020B0503020204020204" pitchFamily="34" charset="-122"/>
                <a:ea typeface="微软雅黑" panose="020B0503020204020204" pitchFamily="34" charset="-122"/>
              </a:rPr>
              <a:t>级</a:t>
            </a:r>
            <a:r>
              <a:rPr lang="zh-CN" altLang="en-US" dirty="0">
                <a:latin typeface="微软雅黑" panose="020B0503020204020204" pitchFamily="34" charset="-122"/>
                <a:ea typeface="微软雅黑" panose="020B0503020204020204" pitchFamily="34" charset="-122"/>
              </a:rPr>
              <a:t>内过滤逻辑分层</a:t>
            </a: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600" dirty="0" err="1" smtClean="0">
                <a:latin typeface="微软雅黑" panose="020B0503020204020204" pitchFamily="34" charset="-122"/>
                <a:ea typeface="微软雅黑" panose="020B0503020204020204" pitchFamily="34" charset="-122"/>
              </a:rPr>
              <a:t>CareSpace</a:t>
            </a:r>
            <a:r>
              <a:rPr lang="en-US" altLang="zh-CN" sz="1600" dirty="0" smtClean="0">
                <a:latin typeface="微软雅黑" panose="020B0503020204020204" pitchFamily="34" charset="-122"/>
                <a:ea typeface="微软雅黑" panose="020B0503020204020204" pitchFamily="34" charset="-122"/>
              </a:rPr>
              <a:t>:</a:t>
            </a:r>
            <a:endParaRPr lang="en-US" altLang="zh-CN" sz="1600" dirty="0" smtClean="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400" dirty="0" smtClean="0">
                <a:latin typeface="微软雅黑" panose="020B0503020204020204" pitchFamily="34" charset="-122"/>
                <a:ea typeface="微软雅黑" panose="020B0503020204020204" pitchFamily="34" charset="-122"/>
              </a:rPr>
              <a:t>决定日志是否处于处理空间内，若是则开始策略命中判定。</a:t>
            </a:r>
            <a:endParaRPr lang="en-US" altLang="zh-CN" sz="1400" dirty="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600" dirty="0" smtClean="0">
                <a:latin typeface="微软雅黑" panose="020B0503020204020204" pitchFamily="34" charset="-122"/>
                <a:ea typeface="微软雅黑" panose="020B0503020204020204" pitchFamily="34" charset="-122"/>
              </a:rPr>
              <a:t>Extractor:</a:t>
            </a:r>
            <a:endParaRPr lang="en-US" altLang="zh-CN" sz="1600" dirty="0" smtClean="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400" dirty="0" smtClean="0">
                <a:latin typeface="微软雅黑" panose="020B0503020204020204" pitchFamily="34" charset="-122"/>
                <a:ea typeface="微软雅黑" panose="020B0503020204020204" pitchFamily="34" charset="-122"/>
              </a:rPr>
              <a:t>抽取</a:t>
            </a:r>
            <a:r>
              <a:rPr lang="zh-CN" altLang="en-US" sz="1400" dirty="0">
                <a:latin typeface="微软雅黑" panose="020B0503020204020204" pitchFamily="34" charset="-122"/>
                <a:ea typeface="微软雅黑" panose="020B0503020204020204" pitchFamily="34" charset="-122"/>
              </a:rPr>
              <a:t>特征并分片输出，相同</a:t>
            </a:r>
            <a:r>
              <a:rPr lang="en-US" altLang="zh-CN" sz="1400" dirty="0" err="1">
                <a:latin typeface="微软雅黑" panose="020B0503020204020204" pitchFamily="34" charset="-122"/>
                <a:ea typeface="微软雅黑" panose="020B0503020204020204" pitchFamily="34" charset="-122"/>
              </a:rPr>
              <a:t>feature_id</a:t>
            </a:r>
            <a:r>
              <a:rPr lang="zh-CN" altLang="en-US" sz="1400" dirty="0">
                <a:latin typeface="微软雅黑" panose="020B0503020204020204" pitchFamily="34" charset="-122"/>
                <a:ea typeface="微软雅黑" panose="020B0503020204020204" pitchFamily="34" charset="-122"/>
              </a:rPr>
              <a:t>分到同一个分片</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A</a:t>
            </a:r>
            <a:r>
              <a:rPr lang="en-US" altLang="zh-CN" sz="1600" dirty="0" smtClean="0">
                <a:latin typeface="微软雅黑" panose="020B0503020204020204" pitchFamily="34" charset="-122"/>
                <a:ea typeface="微软雅黑" panose="020B0503020204020204" pitchFamily="34" charset="-122"/>
              </a:rPr>
              <a:t>ccumulator</a:t>
            </a:r>
            <a:r>
              <a:rPr lang="zh-CN" altLang="en-US" sz="1600" dirty="0" smtClean="0">
                <a:latin typeface="微软雅黑" panose="020B0503020204020204" pitchFamily="34" charset="-122"/>
                <a:ea typeface="微软雅黑" panose="020B0503020204020204" pitchFamily="34" charset="-122"/>
              </a:rPr>
              <a:t>：</a:t>
            </a:r>
            <a:endParaRPr lang="en-US" altLang="zh-CN" sz="1600" dirty="0" smtClean="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400" dirty="0" smtClean="0">
                <a:latin typeface="微软雅黑" panose="020B0503020204020204" pitchFamily="34" charset="-122"/>
                <a:ea typeface="微软雅黑" panose="020B0503020204020204" pitchFamily="34" charset="-122"/>
              </a:rPr>
              <a:t>并行处理</a:t>
            </a:r>
            <a:r>
              <a:rPr lang="zh-CN" altLang="en-US" sz="1400" dirty="0">
                <a:latin typeface="微软雅黑" panose="020B0503020204020204" pitchFamily="34" charset="-122"/>
                <a:ea typeface="微软雅黑" panose="020B0503020204020204" pitchFamily="34" charset="-122"/>
              </a:rPr>
              <a:t>对应分片</a:t>
            </a:r>
            <a:r>
              <a:rPr lang="zh-CN" altLang="en-US" sz="1400" dirty="0" smtClean="0">
                <a:latin typeface="微软雅黑" panose="020B0503020204020204" pitchFamily="34" charset="-122"/>
                <a:ea typeface="微软雅黑" panose="020B0503020204020204" pitchFamily="34" charset="-122"/>
              </a:rPr>
              <a:t>，累积统计特征。</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600" dirty="0" smtClean="0">
                <a:latin typeface="微软雅黑" panose="020B0503020204020204" pitchFamily="34" charset="-122"/>
                <a:ea typeface="微软雅黑" panose="020B0503020204020204" pitchFamily="34" charset="-122"/>
              </a:rPr>
              <a:t>Policy</a:t>
            </a:r>
            <a:r>
              <a:rPr lang="zh-CN" altLang="en-US" sz="1600" dirty="0" smtClean="0">
                <a:latin typeface="微软雅黑" panose="020B0503020204020204" pitchFamily="34" charset="-122"/>
                <a:ea typeface="微软雅黑" panose="020B0503020204020204" pitchFamily="34" charset="-122"/>
              </a:rPr>
              <a:t>：</a:t>
            </a:r>
            <a:endParaRPr lang="en-US" altLang="zh-CN" sz="1600" dirty="0" smtClean="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400" dirty="0" smtClean="0">
                <a:latin typeface="微软雅黑" panose="020B0503020204020204" pitchFamily="34" charset="-122"/>
                <a:ea typeface="微软雅黑" panose="020B0503020204020204" pitchFamily="34" charset="-122"/>
              </a:rPr>
              <a:t>过滤样本，调用</a:t>
            </a:r>
            <a:r>
              <a:rPr lang="zh-CN" altLang="en-US" sz="1400" dirty="0">
                <a:latin typeface="微软雅黑" panose="020B0503020204020204" pitchFamily="34" charset="-122"/>
                <a:ea typeface="微软雅黑" panose="020B0503020204020204" pitchFamily="34" charset="-122"/>
              </a:rPr>
              <a:t>策略组件完成策略判定</a:t>
            </a:r>
            <a:r>
              <a:rPr lang="zh-CN" altLang="en-US" sz="1400" dirty="0" smtClean="0">
                <a:latin typeface="微软雅黑" panose="020B0503020204020204" pitchFamily="34" charset="-122"/>
                <a:ea typeface="微软雅黑" panose="020B0503020204020204" pitchFamily="34" charset="-122"/>
              </a:rPr>
              <a:t>输出（策略是否命中）。</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600" dirty="0" smtClean="0">
                <a:latin typeface="微软雅黑" panose="020B0503020204020204" pitchFamily="34" charset="-122"/>
                <a:ea typeface="微软雅黑" panose="020B0503020204020204" pitchFamily="34" charset="-122"/>
              </a:rPr>
              <a:t>Judge</a:t>
            </a:r>
            <a:r>
              <a:rPr lang="zh-CN" altLang="en-US" sz="1600" dirty="0" smtClean="0">
                <a:latin typeface="微软雅黑" panose="020B0503020204020204" pitchFamily="34" charset="-122"/>
                <a:ea typeface="微软雅黑" panose="020B0503020204020204" pitchFamily="34" charset="-122"/>
              </a:rPr>
              <a:t>：</a:t>
            </a:r>
            <a:endParaRPr lang="en-US" altLang="zh-CN" sz="1600" dirty="0" smtClean="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400" dirty="0" smtClean="0">
                <a:latin typeface="微软雅黑" panose="020B0503020204020204" pitchFamily="34" charset="-122"/>
                <a:ea typeface="微软雅黑" panose="020B0503020204020204" pitchFamily="34" charset="-122"/>
              </a:rPr>
              <a:t>对</a:t>
            </a:r>
            <a:r>
              <a:rPr lang="zh-CN" altLang="en-US" sz="1400" dirty="0">
                <a:latin typeface="微软雅黑" panose="020B0503020204020204" pitchFamily="34" charset="-122"/>
                <a:ea typeface="微软雅黑" panose="020B0503020204020204" pitchFamily="34" charset="-122"/>
              </a:rPr>
              <a:t>各个策略的判定</a:t>
            </a:r>
            <a:r>
              <a:rPr lang="zh-CN" altLang="en-US" sz="1400" dirty="0" smtClean="0">
                <a:latin typeface="微软雅黑" panose="020B0503020204020204" pitchFamily="34" charset="-122"/>
                <a:ea typeface="微软雅黑" panose="020B0503020204020204" pitchFamily="34" charset="-122"/>
              </a:rPr>
              <a:t>结果</a:t>
            </a:r>
            <a:r>
              <a:rPr lang="zh-CN" altLang="en-US" sz="1400" dirty="0">
                <a:latin typeface="微软雅黑" panose="020B0503020204020204" pitchFamily="34" charset="-122"/>
                <a:ea typeface="微软雅黑" panose="020B0503020204020204" pitchFamily="34" charset="-122"/>
              </a:rPr>
              <a:t>进行</a:t>
            </a:r>
            <a:r>
              <a:rPr lang="zh-CN" altLang="en-US" sz="1400" dirty="0" smtClean="0">
                <a:latin typeface="微软雅黑" panose="020B0503020204020204" pitchFamily="34" charset="-122"/>
                <a:ea typeface="微软雅黑" panose="020B0503020204020204" pitchFamily="34" charset="-122"/>
              </a:rPr>
              <a:t>加权求和，并根据阈值，</a:t>
            </a:r>
            <a:r>
              <a:rPr lang="zh-CN" altLang="en-US" sz="1400" dirty="0">
                <a:latin typeface="微软雅黑" panose="020B0503020204020204" pitchFamily="34" charset="-122"/>
                <a:ea typeface="微软雅黑" panose="020B0503020204020204" pitchFamily="34" charset="-122"/>
              </a:rPr>
              <a:t>输出</a:t>
            </a:r>
            <a:r>
              <a:rPr lang="en-US" altLang="zh-CN" sz="1400" dirty="0">
                <a:latin typeface="微软雅黑" panose="020B0503020204020204" pitchFamily="34" charset="-122"/>
                <a:ea typeface="微软雅黑" panose="020B0503020204020204" pitchFamily="34" charset="-122"/>
              </a:rPr>
              <a:t>normal</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spam</a:t>
            </a:r>
            <a:r>
              <a:rPr lang="zh-CN" altLang="en-US"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7361" y="887790"/>
            <a:ext cx="3870739" cy="3189621"/>
          </a:xfrm>
          <a:prstGeom prst="rect">
            <a:avLst/>
          </a:prstGeom>
        </p:spPr>
      </p:pic>
      <p:sp>
        <p:nvSpPr>
          <p:cNvPr id="8" name="文本框 7"/>
          <p:cNvSpPr txBox="1"/>
          <p:nvPr/>
        </p:nvSpPr>
        <p:spPr>
          <a:xfrm>
            <a:off x="5881480" y="4077411"/>
            <a:ext cx="2451100" cy="276999"/>
          </a:xfrm>
          <a:prstGeom prst="rect">
            <a:avLst/>
          </a:prstGeom>
          <a:noFill/>
        </p:spPr>
        <p:txBody>
          <a:bodyPr wrap="square" rtlCol="0">
            <a:spAutoFit/>
          </a:bodyPr>
          <a:lstStyle/>
          <a:p>
            <a:pPr algn="ctr"/>
            <a:r>
              <a:rPr lang="zh-CN" altLang="en-US" sz="1200" dirty="0" smtClean="0">
                <a:latin typeface="+mn-ea"/>
              </a:rPr>
              <a:t>图</a:t>
            </a:r>
            <a:r>
              <a:rPr lang="en-US" altLang="zh-CN" sz="1200" dirty="0" smtClean="0">
                <a:latin typeface="+mn-ea"/>
              </a:rPr>
              <a:t>a: </a:t>
            </a:r>
            <a:r>
              <a:rPr lang="zh-CN" altLang="en-US" sz="1200" dirty="0" smtClean="0">
                <a:latin typeface="+mn-ea"/>
              </a:rPr>
              <a:t>过滤层级内部结构</a:t>
            </a:r>
            <a:endParaRPr lang="zh-CN" altLang="en-US" sz="1200" dirty="0">
              <a:latin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545890"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a:latin typeface="微软雅黑"/>
                <a:ea typeface="微软雅黑"/>
                <a:cs typeface="微软雅黑"/>
              </a:rPr>
              <a:t>维度</a:t>
            </a:r>
            <a:endParaRPr kumimoji="1" lang="zh-CN" altLang="en-US" sz="1400" b="1" spc="200" dirty="0">
              <a:latin typeface="微软雅黑"/>
              <a:ea typeface="微软雅黑"/>
              <a:cs typeface="微软雅黑"/>
            </a:endParaRPr>
          </a:p>
        </p:txBody>
      </p:sp>
      <p:sp>
        <p:nvSpPr>
          <p:cNvPr id="3" name="矩形 2"/>
          <p:cNvSpPr/>
          <p:nvPr/>
        </p:nvSpPr>
        <p:spPr>
          <a:xfrm>
            <a:off x="365760" y="923969"/>
            <a:ext cx="8350538" cy="4093428"/>
          </a:xfrm>
          <a:prstGeom prst="rect">
            <a:avLst/>
          </a:prstGeom>
        </p:spPr>
        <p:txBody>
          <a:bodyPr wrap="square">
            <a:spAutoFit/>
          </a:bodyPr>
          <a:lstStyle/>
          <a:p>
            <a:r>
              <a:rPr lang="zh-CN" altLang="en-US" dirty="0" smtClean="0">
                <a:latin typeface="微软雅黑" panose="020B0503020204020204" pitchFamily="34" charset="-122"/>
                <a:ea typeface="微软雅黑" panose="020B0503020204020204" pitchFamily="34" charset="-122"/>
              </a:rPr>
              <a:t>维度的定义</a:t>
            </a:r>
            <a:endParaRPr lang="en-US" altLang="zh-CN" dirty="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一</a:t>
            </a:r>
            <a:r>
              <a:rPr lang="zh-CN" altLang="en-US" sz="1600" dirty="0">
                <a:latin typeface="微软雅黑" panose="020B0503020204020204" pitchFamily="34" charset="-122"/>
                <a:ea typeface="微软雅黑" panose="020B0503020204020204" pitchFamily="34" charset="-122"/>
              </a:rPr>
              <a:t>个或多个属性、字段，反映了统计的</a:t>
            </a:r>
            <a:r>
              <a:rPr lang="zh-CN" altLang="en-US" sz="1600" dirty="0" smtClean="0">
                <a:latin typeface="微软雅黑" panose="020B0503020204020204" pitchFamily="34" charset="-122"/>
                <a:ea typeface="微软雅黑" panose="020B0503020204020204" pitchFamily="34" charset="-122"/>
              </a:rPr>
              <a:t>粒度</a:t>
            </a:r>
            <a:endParaRPr lang="en-US" altLang="zh-CN" sz="1600" dirty="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基本</a:t>
            </a:r>
            <a:r>
              <a:rPr lang="zh-CN" altLang="en-US" dirty="0" smtClean="0">
                <a:latin typeface="微软雅黑" panose="020B0503020204020204" pitchFamily="34" charset="-122"/>
                <a:ea typeface="微软雅黑" panose="020B0503020204020204" pitchFamily="34" charset="-122"/>
              </a:rPr>
              <a:t>维度</a:t>
            </a:r>
            <a:endParaRPr lang="en-US" altLang="zh-CN" dirty="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单一字段，如</a:t>
            </a:r>
            <a:r>
              <a:rPr lang="en-US" altLang="zh-CN" sz="1600" dirty="0" err="1">
                <a:latin typeface="微软雅黑" panose="020B0503020204020204" pitchFamily="34" charset="-122"/>
                <a:ea typeface="微软雅黑" panose="020B0503020204020204" pitchFamily="34" charset="-122"/>
              </a:rPr>
              <a:t>baiduid</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cookie</a:t>
            </a:r>
            <a:r>
              <a:rPr lang="zh-CN" altLang="en-US"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cntname</a:t>
            </a:r>
            <a:r>
              <a:rPr lang="zh-CN" altLang="en-US" sz="1600" dirty="0">
                <a:latin typeface="微软雅黑" panose="020B0503020204020204" pitchFamily="34" charset="-122"/>
                <a:ea typeface="微软雅黑" panose="020B0503020204020204" pitchFamily="34" charset="-122"/>
              </a:rPr>
              <a:t>（计费</a:t>
            </a:r>
            <a:r>
              <a:rPr lang="zh-CN" altLang="en-US" sz="1600" dirty="0" smtClean="0">
                <a:latin typeface="微软雅黑" panose="020B0503020204020204" pitchFamily="34" charset="-122"/>
                <a:ea typeface="微软雅黑" panose="020B0503020204020204" pitchFamily="34" charset="-122"/>
              </a:rPr>
              <a:t>名）</a:t>
            </a:r>
            <a:r>
              <a:rPr lang="zh-CN" altLang="en-US" sz="1600" dirty="0">
                <a:latin typeface="微软雅黑" panose="020B0503020204020204" pitchFamily="34" charset="-122"/>
                <a:ea typeface="微软雅黑" panose="020B0503020204020204" pitchFamily="34" charset="-122"/>
              </a:rPr>
              <a:t>等</a:t>
            </a:r>
            <a:r>
              <a:rPr lang="zh-CN" altLang="en-US" sz="1600" dirty="0" smtClean="0">
                <a:latin typeface="微软雅黑" panose="020B0503020204020204" pitchFamily="34" charset="-122"/>
                <a:ea typeface="微软雅黑" panose="020B0503020204020204" pitchFamily="34" charset="-122"/>
              </a:rPr>
              <a:t>。</a:t>
            </a:r>
            <a:endParaRPr lang="en-US" altLang="zh-CN" sz="1600" dirty="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高级</a:t>
            </a:r>
            <a:r>
              <a:rPr lang="zh-CN" altLang="en-US" dirty="0" smtClean="0">
                <a:latin typeface="微软雅黑" panose="020B0503020204020204" pitchFamily="34" charset="-122"/>
                <a:ea typeface="微软雅黑" panose="020B0503020204020204" pitchFamily="34" charset="-122"/>
              </a:rPr>
              <a:t>维度</a:t>
            </a:r>
            <a:r>
              <a:rPr lang="en-US" altLang="zh-CN"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从</a:t>
            </a:r>
            <a:r>
              <a:rPr lang="zh-CN" altLang="en-US" sz="1600" dirty="0">
                <a:latin typeface="微软雅黑" panose="020B0503020204020204" pitchFamily="34" charset="-122"/>
                <a:ea typeface="微软雅黑" panose="020B0503020204020204" pitchFamily="34" charset="-122"/>
              </a:rPr>
              <a:t>单维度上看点击量都较少，聚合起来具有统计</a:t>
            </a:r>
            <a:r>
              <a:rPr lang="zh-CN" altLang="en-US" sz="1600" dirty="0" smtClean="0">
                <a:latin typeface="微软雅黑" panose="020B0503020204020204" pitchFamily="34" charset="-122"/>
                <a:ea typeface="微软雅黑" panose="020B0503020204020204" pitchFamily="34" charset="-122"/>
              </a:rPr>
              <a:t>意义</a:t>
            </a:r>
            <a:r>
              <a:rPr lang="en-US" altLang="zh-CN" sz="1600" dirty="0">
                <a:latin typeface="微软雅黑" panose="020B0503020204020204" pitchFamily="34" charset="-122"/>
                <a:ea typeface="微软雅黑" panose="020B0503020204020204" pitchFamily="34" charset="-122"/>
              </a:rPr>
              <a:t>)</a:t>
            </a:r>
            <a:endParaRPr lang="zh-CN" altLang="en-US" sz="1600" dirty="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600" dirty="0" smtClean="0">
                <a:latin typeface="微软雅黑" panose="020B0503020204020204" pitchFamily="34" charset="-122"/>
                <a:ea typeface="微软雅黑" panose="020B0503020204020204" pitchFamily="34" charset="-122"/>
              </a:rPr>
              <a:t>query</a:t>
            </a:r>
            <a:r>
              <a:rPr lang="zh-CN" altLang="en-US" sz="1600" dirty="0">
                <a:latin typeface="微软雅黑" panose="020B0503020204020204" pitchFamily="34" charset="-122"/>
                <a:ea typeface="微软雅黑" panose="020B0503020204020204" pitchFamily="34" charset="-122"/>
              </a:rPr>
              <a:t>分词维度</a:t>
            </a:r>
            <a:endParaRPr lang="zh-CN" altLang="en-US" sz="1600"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对</a:t>
            </a:r>
            <a:r>
              <a:rPr lang="en-US" altLang="zh-CN" sz="1400" dirty="0">
                <a:latin typeface="微软雅黑" panose="020B0503020204020204" pitchFamily="34" charset="-122"/>
                <a:ea typeface="微软雅黑" panose="020B0503020204020204" pitchFamily="34" charset="-122"/>
              </a:rPr>
              <a:t>query</a:t>
            </a:r>
            <a:r>
              <a:rPr lang="zh-CN" altLang="en-US" sz="1400" dirty="0">
                <a:latin typeface="微软雅黑" panose="020B0503020204020204" pitchFamily="34" charset="-122"/>
                <a:ea typeface="微软雅黑" panose="020B0503020204020204" pitchFamily="34" charset="-122"/>
              </a:rPr>
              <a:t>进行分词，分词后</a:t>
            </a:r>
            <a:r>
              <a:rPr lang="zh-CN" altLang="en-US" sz="1400" dirty="0" smtClean="0">
                <a:latin typeface="微软雅黑" panose="020B0503020204020204" pitchFamily="34" charset="-122"/>
                <a:ea typeface="微软雅黑" panose="020B0503020204020204" pitchFamily="34" charset="-122"/>
              </a:rPr>
              <a:t>的</a:t>
            </a:r>
            <a:r>
              <a:rPr lang="zh-CN" altLang="en-US" sz="1400" dirty="0">
                <a:latin typeface="微软雅黑" panose="020B0503020204020204" pitchFamily="34" charset="-122"/>
                <a:ea typeface="微软雅黑" panose="020B0503020204020204" pitchFamily="34" charset="-122"/>
              </a:rPr>
              <a:t>每一</a:t>
            </a:r>
            <a:r>
              <a:rPr lang="zh-CN" altLang="en-US" sz="1400" dirty="0" smtClean="0">
                <a:latin typeface="微软雅黑" panose="020B0503020204020204" pitchFamily="34" charset="-122"/>
                <a:ea typeface="微软雅黑" panose="020B0503020204020204" pitchFamily="34" charset="-122"/>
              </a:rPr>
              <a:t>个分词片段作为</a:t>
            </a:r>
            <a:r>
              <a:rPr lang="zh-CN" altLang="en-US" sz="1400" dirty="0">
                <a:latin typeface="微软雅黑" panose="020B0503020204020204" pitchFamily="34" charset="-122"/>
                <a:ea typeface="微软雅黑" panose="020B0503020204020204" pitchFamily="34" charset="-122"/>
              </a:rPr>
              <a:t>维度</a:t>
            </a:r>
            <a:r>
              <a:rPr lang="zh-CN" altLang="en-US" sz="1400" dirty="0" smtClean="0">
                <a:latin typeface="微软雅黑" panose="020B0503020204020204" pitchFamily="34" charset="-122"/>
                <a:ea typeface="微软雅黑" panose="020B0503020204020204" pitchFamily="34" charset="-122"/>
              </a:rPr>
              <a:t>。针对</a:t>
            </a:r>
            <a:r>
              <a:rPr lang="zh-CN" altLang="en-US" sz="1400" dirty="0">
                <a:latin typeface="微软雅黑" panose="020B0503020204020204" pitchFamily="34" charset="-122"/>
                <a:ea typeface="微软雅黑" panose="020B0503020204020204" pitchFamily="34" charset="-122"/>
              </a:rPr>
              <a:t>变换</a:t>
            </a:r>
            <a:r>
              <a:rPr lang="en-US" altLang="zh-CN" sz="1400" dirty="0">
                <a:latin typeface="微软雅黑" panose="020B0503020204020204" pitchFamily="34" charset="-122"/>
                <a:ea typeface="微软雅黑" panose="020B0503020204020204" pitchFamily="34" charset="-122"/>
              </a:rPr>
              <a:t>query</a:t>
            </a:r>
            <a:r>
              <a:rPr lang="zh-CN" altLang="en-US" sz="1400" dirty="0">
                <a:latin typeface="微软雅黑" panose="020B0503020204020204" pitchFamily="34" charset="-122"/>
                <a:ea typeface="微软雅黑" panose="020B0503020204020204" pitchFamily="34" charset="-122"/>
              </a:rPr>
              <a:t>但</a:t>
            </a:r>
            <a:r>
              <a:rPr lang="en-US" altLang="zh-CN" sz="1400" dirty="0">
                <a:latin typeface="微软雅黑" panose="020B0503020204020204" pitchFamily="34" charset="-122"/>
                <a:ea typeface="微软雅黑" panose="020B0503020204020204" pitchFamily="34" charset="-122"/>
              </a:rPr>
              <a:t>query</a:t>
            </a:r>
            <a:r>
              <a:rPr lang="zh-CN" altLang="en-US" sz="1400" dirty="0">
                <a:latin typeface="微软雅黑" panose="020B0503020204020204" pitchFamily="34" charset="-122"/>
                <a:ea typeface="微软雅黑" panose="020B0503020204020204" pitchFamily="34" charset="-122"/>
              </a:rPr>
              <a:t>中有重复片段的作弊，起到数据聚集的</a:t>
            </a:r>
            <a:r>
              <a:rPr lang="zh-CN" altLang="en-US" sz="1400" dirty="0" smtClean="0">
                <a:latin typeface="微软雅黑" panose="020B0503020204020204" pitchFamily="34" charset="-122"/>
                <a:ea typeface="微软雅黑" panose="020B0503020204020204" pitchFamily="34" charset="-122"/>
              </a:rPr>
              <a:t>作用。</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community</a:t>
            </a:r>
            <a:r>
              <a:rPr lang="zh-CN" altLang="en-US" sz="1600" dirty="0">
                <a:latin typeface="微软雅黑" panose="020B0503020204020204" pitchFamily="34" charset="-122"/>
                <a:ea typeface="微软雅黑" panose="020B0503020204020204" pitchFamily="34" charset="-122"/>
              </a:rPr>
              <a:t>维度：</a:t>
            </a:r>
            <a:endParaRPr lang="zh-CN" altLang="en-US" sz="1600"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用于实时团伙作弊</a:t>
            </a:r>
            <a:r>
              <a:rPr lang="zh-CN" altLang="en-US" sz="1400" dirty="0" smtClean="0">
                <a:latin typeface="微软雅黑" panose="020B0503020204020204" pitchFamily="34" charset="-122"/>
                <a:ea typeface="微软雅黑" panose="020B0503020204020204" pitchFamily="34" charset="-122"/>
              </a:rPr>
              <a:t>。比如同一个</a:t>
            </a:r>
            <a:r>
              <a:rPr lang="en-US" altLang="zh-CN" sz="1400" dirty="0" err="1" smtClean="0">
                <a:latin typeface="微软雅黑" panose="020B0503020204020204" pitchFamily="34" charset="-122"/>
                <a:ea typeface="微软雅黑" panose="020B0503020204020204" pitchFamily="34" charset="-122"/>
              </a:rPr>
              <a:t>baiduid</a:t>
            </a:r>
            <a:r>
              <a:rPr lang="zh-CN" altLang="en-US" sz="1400" dirty="0" smtClean="0">
                <a:latin typeface="微软雅黑" panose="020B0503020204020204" pitchFamily="34" charset="-122"/>
                <a:ea typeface="微软雅黑" panose="020B0503020204020204" pitchFamily="34" charset="-122"/>
              </a:rPr>
              <a:t>点击的一</a:t>
            </a:r>
            <a:r>
              <a:rPr lang="zh-CN" altLang="en-US" sz="1400" dirty="0">
                <a:latin typeface="微软雅黑" panose="020B0503020204020204" pitchFamily="34" charset="-122"/>
                <a:ea typeface="微软雅黑" panose="020B0503020204020204" pitchFamily="34" charset="-122"/>
              </a:rPr>
              <a:t>批计费名，基于同一</a:t>
            </a:r>
            <a:r>
              <a:rPr lang="en-US" altLang="zh-CN" sz="1400" dirty="0" err="1">
                <a:latin typeface="微软雅黑" panose="020B0503020204020204" pitchFamily="34" charset="-122"/>
                <a:ea typeface="微软雅黑" panose="020B0503020204020204" pitchFamily="34" charset="-122"/>
              </a:rPr>
              <a:t>baiduid</a:t>
            </a:r>
            <a:r>
              <a:rPr lang="zh-CN" altLang="en-US" sz="1400" dirty="0">
                <a:latin typeface="微软雅黑" panose="020B0503020204020204" pitchFamily="34" charset="-122"/>
                <a:ea typeface="微软雅黑" panose="020B0503020204020204" pitchFamily="34" charset="-122"/>
              </a:rPr>
              <a:t>，将相关联的计费名维度对象聚合起来</a:t>
            </a:r>
            <a:r>
              <a:rPr lang="zh-CN" altLang="en-US" sz="1400" dirty="0" smtClean="0">
                <a:latin typeface="微软雅黑" panose="020B0503020204020204" pitchFamily="34" charset="-122"/>
                <a:ea typeface="微软雅黑" panose="020B0503020204020204" pitchFamily="34" charset="-122"/>
              </a:rPr>
              <a:t>。</a:t>
            </a:r>
            <a:endParaRPr lang="en-US" altLang="zh-CN" sz="1400" dirty="0" smtClean="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维度对象</a:t>
            </a:r>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某个维度下的具体维度值，如</a:t>
            </a:r>
            <a:r>
              <a:rPr lang="en-US" altLang="zh-CN" sz="1600" dirty="0">
                <a:latin typeface="微软雅黑" panose="020B0503020204020204" pitchFamily="34" charset="-122"/>
                <a:ea typeface="微软雅黑" panose="020B0503020204020204" pitchFamily="34" charset="-122"/>
              </a:rPr>
              <a:t>220.181.38.110</a:t>
            </a:r>
            <a:r>
              <a:rPr lang="zh-CN" altLang="en-US" sz="1600" dirty="0">
                <a:latin typeface="微软雅黑" panose="020B0503020204020204" pitchFamily="34" charset="-122"/>
                <a:ea typeface="微软雅黑" panose="020B0503020204020204" pitchFamily="34" charset="-122"/>
              </a:rPr>
              <a:t>是维度</a:t>
            </a:r>
            <a:r>
              <a:rPr lang="en-US" altLang="zh-CN" sz="1600" dirty="0" err="1" smtClean="0">
                <a:latin typeface="微软雅黑" panose="020B0503020204020204" pitchFamily="34" charset="-122"/>
                <a:ea typeface="微软雅黑" panose="020B0503020204020204" pitchFamily="34" charset="-122"/>
              </a:rPr>
              <a:t>clkip</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点击</a:t>
            </a:r>
            <a:r>
              <a:rPr lang="en-US" altLang="zh-CN" sz="1600" dirty="0" err="1" smtClean="0">
                <a:latin typeface="微软雅黑" panose="020B0503020204020204" pitchFamily="34" charset="-122"/>
                <a:ea typeface="微软雅黑" panose="020B0503020204020204" pitchFamily="34" charset="-122"/>
              </a:rPr>
              <a:t>ip</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下的维度对象。</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处理空间</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8170409" cy="3540218"/>
          </a:xfrm>
        </p:spPr>
        <p:txBody>
          <a:bodyPr>
            <a:norm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处理空间</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进行特征抽取时，往往需要圈定出特定某一范围的流量，比如</a:t>
            </a:r>
            <a:r>
              <a:rPr kumimoji="1" lang="en-US" altLang="zh-CN" sz="1600" dirty="0" smtClean="0">
                <a:latin typeface="微软雅黑" panose="020B0503020204020204" pitchFamily="34" charset="-122"/>
                <a:ea typeface="微软雅黑" panose="020B0503020204020204" pitchFamily="34" charset="-122"/>
                <a:cs typeface="宋体" charset="0"/>
              </a:rPr>
              <a:t>PC</a:t>
            </a:r>
            <a:r>
              <a:rPr kumimoji="1" lang="zh-CN" altLang="en-US" sz="1600" dirty="0" smtClean="0">
                <a:latin typeface="微软雅黑" panose="020B0503020204020204" pitchFamily="34" charset="-122"/>
                <a:ea typeface="微软雅黑" panose="020B0503020204020204" pitchFamily="34" charset="-122"/>
                <a:cs typeface="宋体" charset="0"/>
              </a:rPr>
              <a:t>端的日志或者凤巢的日志等。</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为了解决这一问题，引入了处理空间的概念，通过在配置文件中输入的确定规则的条件表达式组合来圈定范围，比如图</a:t>
            </a:r>
            <a:r>
              <a:rPr kumimoji="1" lang="en-US" altLang="zh-CN" sz="1600" dirty="0" smtClean="0">
                <a:latin typeface="微软雅黑" panose="020B0503020204020204" pitchFamily="34" charset="-122"/>
                <a:ea typeface="微软雅黑" panose="020B0503020204020204" pitchFamily="34" charset="-122"/>
                <a:cs typeface="宋体" charset="0"/>
              </a:rPr>
              <a:t>a</a:t>
            </a:r>
            <a:r>
              <a:rPr kumimoji="1" lang="zh-CN" altLang="en-US" sz="1600" dirty="0" smtClean="0">
                <a:latin typeface="微软雅黑" panose="020B0503020204020204" pitchFamily="34" charset="-122"/>
                <a:ea typeface="微软雅黑" panose="020B0503020204020204" pitchFamily="34" charset="-122"/>
                <a:cs typeface="宋体" charset="0"/>
              </a:rPr>
              <a:t>中的配置文件就表明该特征计算时仅处理来自</a:t>
            </a:r>
            <a:r>
              <a:rPr kumimoji="1" lang="en-US" altLang="zh-CN" sz="1600" dirty="0" smtClean="0">
                <a:latin typeface="微软雅黑" panose="020B0503020204020204" pitchFamily="34" charset="-122"/>
                <a:ea typeface="微软雅黑" panose="020B0503020204020204" pitchFamily="34" charset="-122"/>
                <a:cs typeface="宋体" charset="0"/>
              </a:rPr>
              <a:t>PC</a:t>
            </a:r>
            <a:r>
              <a:rPr kumimoji="1" lang="zh-CN" altLang="en-US" sz="1600" dirty="0" smtClean="0">
                <a:latin typeface="微软雅黑" panose="020B0503020204020204" pitchFamily="34" charset="-122"/>
                <a:ea typeface="微软雅黑" panose="020B0503020204020204" pitchFamily="34" charset="-122"/>
                <a:cs typeface="宋体" charset="0"/>
              </a:rPr>
              <a:t>端的流量。</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endParaRPr kumimoji="1" lang="en-US" altLang="zh-CN" sz="1600" dirty="0" smtClean="0">
              <a:latin typeface="微软雅黑" panose="020B0503020204020204" pitchFamily="34" charset="-122"/>
              <a:ea typeface="微软雅黑" panose="020B0503020204020204" pitchFamily="34" charset="-122"/>
              <a:cs typeface="宋体" charset="0"/>
            </a:endParaRPr>
          </a:p>
        </p:txBody>
      </p:sp>
      <p:pic>
        <p:nvPicPr>
          <p:cNvPr id="2" name="图片 1"/>
          <p:cNvPicPr>
            <a:picLocks noChangeAspect="1"/>
          </p:cNvPicPr>
          <p:nvPr/>
        </p:nvPicPr>
        <p:blipFill>
          <a:blip r:embed="rId2"/>
          <a:stretch>
            <a:fillRect/>
          </a:stretch>
        </p:blipFill>
        <p:spPr>
          <a:xfrm>
            <a:off x="2825689" y="2989781"/>
            <a:ext cx="3479239" cy="1437077"/>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处理空间</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8170409" cy="3540218"/>
          </a:xfrm>
        </p:spPr>
        <p:txBody>
          <a:bodyPr>
            <a:norm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条件表达式</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每</a:t>
            </a:r>
            <a:r>
              <a:rPr kumimoji="1" lang="zh-CN" altLang="en-US" sz="1600" dirty="0">
                <a:latin typeface="微软雅黑" panose="020B0503020204020204" pitchFamily="34" charset="-122"/>
                <a:ea typeface="微软雅黑" panose="020B0503020204020204" pitchFamily="34" charset="-122"/>
                <a:cs typeface="宋体" charset="0"/>
              </a:rPr>
              <a:t>一条表达式都要使用中括号</a:t>
            </a:r>
            <a:r>
              <a:rPr kumimoji="1" lang="zh-CN" altLang="en-US" sz="1600" dirty="0" smtClean="0">
                <a:latin typeface="微软雅黑" panose="020B0503020204020204" pitchFamily="34" charset="-122"/>
                <a:ea typeface="微软雅黑" panose="020B0503020204020204" pitchFamily="34" charset="-122"/>
                <a:cs typeface="宋体" charset="0"/>
              </a:rPr>
              <a:t>包含，比如</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en-US" altLang="zh-CN" sz="1600" dirty="0">
                <a:latin typeface="微软雅黑" panose="020B0503020204020204" pitchFamily="34" charset="-122"/>
                <a:ea typeface="微软雅黑" panose="020B0503020204020204" pitchFamily="34" charset="-122"/>
                <a:cs typeface="宋体" charset="0"/>
              </a:rPr>
              <a:t>'</a:t>
            </a:r>
            <a:r>
              <a:rPr kumimoji="1" lang="en-US" altLang="zh-CN" sz="1600" dirty="0" err="1">
                <a:latin typeface="微软雅黑" panose="020B0503020204020204" pitchFamily="34" charset="-122"/>
                <a:ea typeface="微软雅黑" panose="020B0503020204020204" pitchFamily="34" charset="-122"/>
                <a:cs typeface="宋体" charset="0"/>
              </a:rPr>
              <a:t>cmatch</a:t>
            </a:r>
            <a:r>
              <a:rPr kumimoji="1" lang="en-US" altLang="zh-CN" sz="1600" dirty="0">
                <a:latin typeface="微软雅黑" panose="020B0503020204020204" pitchFamily="34" charset="-122"/>
                <a:ea typeface="微软雅黑" panose="020B0503020204020204" pitchFamily="34" charset="-122"/>
                <a:cs typeface="宋体" charset="0"/>
              </a:rPr>
              <a:t>':='225</a:t>
            </a:r>
            <a:r>
              <a:rPr kumimoji="1" lang="en-US" altLang="zh-CN" sz="1600" dirty="0" smtClean="0">
                <a:latin typeface="微软雅黑" panose="020B0503020204020204" pitchFamily="34" charset="-122"/>
                <a:ea typeface="微软雅黑" panose="020B0503020204020204" pitchFamily="34" charset="-122"/>
                <a:cs typeface="宋体" charset="0"/>
              </a:rPr>
              <a:t>']</a:t>
            </a:r>
            <a:endParaRPr kumimoji="1" lang="zh-CN" altLang="en-US"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表达式分为左值、运算符和右值</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部分无</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这三种对象，左值一般是日志的字段名，右值为常量，通过运算符判断两者之间需要进行什么</a:t>
            </a:r>
            <a:r>
              <a:rPr kumimoji="1" lang="zh-CN" altLang="en-US" sz="1600" dirty="0" smtClean="0">
                <a:latin typeface="微软雅黑" panose="020B0503020204020204" pitchFamily="34" charset="-122"/>
                <a:ea typeface="微软雅黑" panose="020B0503020204020204" pitchFamily="34" charset="-122"/>
                <a:cs typeface="宋体" charset="0"/>
              </a:rPr>
              <a:t>计算</a:t>
            </a:r>
            <a:endParaRPr kumimoji="1" lang="zh-CN" altLang="en-US"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表达式之间可以进行”与”、”或”两种运算，与的时候直接在前一条表达式后面写后一条表达式即可，或的话要在表达式中间加上 </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，或的优先级低于与。</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400" dirty="0" smtClean="0">
                <a:latin typeface="微软雅黑" panose="020B0503020204020204" pitchFamily="34" charset="-122"/>
                <a:ea typeface="微软雅黑" panose="020B0503020204020204" pitchFamily="34" charset="-122"/>
                <a:cs typeface="宋体" charset="0"/>
              </a:rPr>
              <a:t>care : [</a:t>
            </a:r>
            <a:r>
              <a:rPr kumimoji="1" lang="en-US" altLang="zh-CN" sz="1400" dirty="0">
                <a:latin typeface="微软雅黑" panose="020B0503020204020204" pitchFamily="34" charset="-122"/>
                <a:ea typeface="微软雅黑" panose="020B0503020204020204" pitchFamily="34" charset="-122"/>
                <a:cs typeface="宋体" charset="0"/>
              </a:rPr>
              <a:t>'refer':='http://m.baidu.com/']['</a:t>
            </a:r>
            <a:r>
              <a:rPr kumimoji="1" lang="en-US" altLang="zh-CN" sz="1400" dirty="0" err="1">
                <a:latin typeface="微软雅黑" panose="020B0503020204020204" pitchFamily="34" charset="-122"/>
                <a:ea typeface="微软雅黑" panose="020B0503020204020204" pitchFamily="34" charset="-122"/>
                <a:cs typeface="宋体" charset="0"/>
              </a:rPr>
              <a:t>pn</a:t>
            </a:r>
            <a:r>
              <a:rPr kumimoji="1" lang="en-US" altLang="zh-CN" sz="1400" dirty="0">
                <a:latin typeface="微软雅黑" panose="020B0503020204020204" pitchFamily="34" charset="-122"/>
                <a:ea typeface="微软雅黑" panose="020B0503020204020204" pitchFamily="34" charset="-122"/>
                <a:cs typeface="宋体" charset="0"/>
              </a:rPr>
              <a:t>'!='0</a:t>
            </a:r>
            <a:r>
              <a:rPr kumimoji="1" lang="en-US" altLang="zh-CN" sz="1400" dirty="0" smtClean="0">
                <a:latin typeface="微软雅黑" panose="020B0503020204020204" pitchFamily="34" charset="-122"/>
                <a:ea typeface="微软雅黑" panose="020B0503020204020204" pitchFamily="34" charset="-122"/>
                <a:cs typeface="宋体" charset="0"/>
              </a:rPr>
              <a:t>']</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400" dirty="0">
                <a:latin typeface="微软雅黑" panose="020B0503020204020204" pitchFamily="34" charset="-122"/>
                <a:ea typeface="微软雅黑" panose="020B0503020204020204" pitchFamily="34" charset="-122"/>
                <a:cs typeface="宋体" charset="0"/>
              </a:rPr>
              <a:t>c</a:t>
            </a:r>
            <a:r>
              <a:rPr kumimoji="1" lang="en-US" altLang="zh-CN" sz="1400" dirty="0" smtClean="0">
                <a:latin typeface="微软雅黑" panose="020B0503020204020204" pitchFamily="34" charset="-122"/>
                <a:ea typeface="微软雅黑" panose="020B0503020204020204" pitchFamily="34" charset="-122"/>
                <a:cs typeface="宋体" charset="0"/>
              </a:rPr>
              <a:t>are : [</a:t>
            </a:r>
            <a:r>
              <a:rPr kumimoji="1" lang="en-US" altLang="zh-CN" sz="1400" dirty="0">
                <a:latin typeface="微软雅黑" panose="020B0503020204020204" pitchFamily="34" charset="-122"/>
                <a:ea typeface="微软雅黑" panose="020B0503020204020204" pitchFamily="34" charset="-122"/>
                <a:cs typeface="宋体" charset="0"/>
              </a:rPr>
              <a:t>'</a:t>
            </a:r>
            <a:r>
              <a:rPr kumimoji="1" lang="en-US" altLang="zh-CN" sz="1400" dirty="0" err="1">
                <a:latin typeface="微软雅黑" panose="020B0503020204020204" pitchFamily="34" charset="-122"/>
                <a:ea typeface="微软雅黑" panose="020B0503020204020204" pitchFamily="34" charset="-122"/>
                <a:cs typeface="宋体" charset="0"/>
              </a:rPr>
              <a:t>useragent</a:t>
            </a:r>
            <a:r>
              <a:rPr kumimoji="1" lang="en-US" altLang="zh-CN" sz="1400" dirty="0">
                <a:latin typeface="微软雅黑" panose="020B0503020204020204" pitchFamily="34" charset="-122"/>
                <a:ea typeface="微软雅黑" panose="020B0503020204020204" pitchFamily="34" charset="-122"/>
                <a:cs typeface="宋体" charset="0"/>
              </a:rPr>
              <a:t>':~'spider</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en-US" altLang="zh-CN" sz="1400" dirty="0">
                <a:latin typeface="微软雅黑" panose="020B0503020204020204" pitchFamily="34" charset="-122"/>
                <a:ea typeface="微软雅黑" panose="020B0503020204020204" pitchFamily="34" charset="-122"/>
                <a:cs typeface="宋体" charset="0"/>
              </a:rPr>
              <a:t>'</a:t>
            </a:r>
            <a:r>
              <a:rPr kumimoji="1" lang="en-US" altLang="zh-CN" sz="1400" dirty="0" err="1">
                <a:latin typeface="微软雅黑" panose="020B0503020204020204" pitchFamily="34" charset="-122"/>
                <a:ea typeface="微软雅黑" panose="020B0503020204020204" pitchFamily="34" charset="-122"/>
                <a:cs typeface="宋体" charset="0"/>
              </a:rPr>
              <a:t>cookie_time</a:t>
            </a:r>
            <a:r>
              <a:rPr kumimoji="1" lang="en-US" altLang="zh-CN" sz="1400" dirty="0">
                <a:latin typeface="微软雅黑" panose="020B0503020204020204" pitchFamily="34" charset="-122"/>
                <a:ea typeface="微软雅黑" panose="020B0503020204020204" pitchFamily="34" charset="-122"/>
                <a:cs typeface="宋体" charset="0"/>
              </a:rPr>
              <a:t>'&gt;=63000000</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en-US" altLang="zh-CN" sz="1400" dirty="0">
                <a:latin typeface="微软雅黑" panose="020B0503020204020204" pitchFamily="34" charset="-122"/>
                <a:ea typeface="微软雅黑" panose="020B0503020204020204" pitchFamily="34" charset="-122"/>
                <a:cs typeface="宋体" charset="0"/>
              </a:rPr>
              <a:t>'dev'!='pad</a:t>
            </a:r>
            <a:r>
              <a:rPr kumimoji="1" lang="en-US" altLang="zh-CN" sz="1400" dirty="0" smtClean="0">
                <a:latin typeface="微软雅黑" panose="020B0503020204020204" pitchFamily="34" charset="-122"/>
                <a:ea typeface="微软雅黑" panose="020B0503020204020204" pitchFamily="34" charset="-122"/>
                <a:cs typeface="宋体" charset="0"/>
              </a:rPr>
              <a:t>']</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endParaRPr kumimoji="1" lang="en-US" altLang="zh-CN" sz="1600" dirty="0" smtClean="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处理空间</a:t>
            </a:r>
            <a:endParaRPr kumimoji="1" lang="zh-CN" altLang="en-US" sz="1400" b="1" spc="200" dirty="0">
              <a:latin typeface="微软雅黑"/>
              <a:ea typeface="微软雅黑"/>
              <a:cs typeface="微软雅黑"/>
            </a:endParaRPr>
          </a:p>
        </p:txBody>
      </p:sp>
      <p:graphicFrame>
        <p:nvGraphicFramePr>
          <p:cNvPr id="7" name="表格 6"/>
          <p:cNvGraphicFramePr>
            <a:graphicFrameLocks noGrp="1"/>
          </p:cNvGraphicFramePr>
          <p:nvPr>
            <p:custDataLst>
              <p:tags r:id="rId2"/>
            </p:custDataLst>
          </p:nvPr>
        </p:nvGraphicFramePr>
        <p:xfrm>
          <a:off x="752468" y="928915"/>
          <a:ext cx="7705952" cy="3768974"/>
        </p:xfrm>
        <a:graphic>
          <a:graphicData uri="http://schemas.openxmlformats.org/drawingml/2006/table">
            <a:tbl>
              <a:tblPr firstRow="1" bandRow="1">
                <a:tableStyleId>{5C22544A-7EE6-4342-B048-85BDC9FD1C3A}</a:tableStyleId>
              </a:tblPr>
              <a:tblGrid>
                <a:gridCol w="1046541"/>
                <a:gridCol w="2611533"/>
                <a:gridCol w="4047878"/>
              </a:tblGrid>
              <a:tr h="251945">
                <a:tc>
                  <a:txBody>
                    <a:bodyPr/>
                    <a:lstStyle/>
                    <a:p>
                      <a:pPr algn="l">
                        <a:lnSpc>
                          <a:spcPct val="100000"/>
                        </a:lnSpc>
                        <a:spcBef>
                          <a:spcPts val="0"/>
                        </a:spcBef>
                        <a:spcAft>
                          <a:spcPts val="0"/>
                        </a:spcAft>
                      </a:pPr>
                      <a:r>
                        <a:rPr lang="zh-CN" sz="1600" kern="100" dirty="0">
                          <a:effectLst/>
                          <a:latin typeface="+mj-lt"/>
                          <a:ea typeface="宋体" charset="0"/>
                          <a:cs typeface="宋体" charset="0"/>
                        </a:rPr>
                        <a:t>运算符</a:t>
                      </a:r>
                      <a:endParaRPr lang="zh-CN" sz="1600" kern="100" dirty="0">
                        <a:effectLst/>
                        <a:latin typeface="+mj-lt"/>
                        <a:ea typeface="宋体" charset="0"/>
                        <a:cs typeface="宋体" charset="0"/>
                      </a:endParaRPr>
                    </a:p>
                  </a:txBody>
                  <a:tcPr marL="82564" marR="82564" marT="0" marB="0" anchor="ctr">
                    <a:solidFill>
                      <a:srgbClr val="1E10D9"/>
                    </a:solidFill>
                  </a:tcPr>
                </a:tc>
                <a:tc>
                  <a:txBody>
                    <a:bodyPr/>
                    <a:lstStyle/>
                    <a:p>
                      <a:pPr algn="l">
                        <a:lnSpc>
                          <a:spcPct val="100000"/>
                        </a:lnSpc>
                        <a:spcBef>
                          <a:spcPts val="0"/>
                        </a:spcBef>
                        <a:spcAft>
                          <a:spcPts val="0"/>
                        </a:spcAft>
                      </a:pPr>
                      <a:r>
                        <a:rPr lang="zh-CN" sz="1600" kern="100" dirty="0">
                          <a:effectLst/>
                          <a:latin typeface="+mj-lt"/>
                          <a:ea typeface="宋体" charset="0"/>
                          <a:cs typeface="宋体" charset="0"/>
                        </a:rPr>
                        <a:t>示例</a:t>
                      </a:r>
                      <a:endParaRPr lang="zh-CN" sz="1600" kern="100" dirty="0">
                        <a:effectLst/>
                        <a:latin typeface="+mj-lt"/>
                        <a:ea typeface="宋体" charset="0"/>
                        <a:cs typeface="宋体" charset="0"/>
                      </a:endParaRPr>
                    </a:p>
                  </a:txBody>
                  <a:tcPr marL="82564" marR="82564" marT="0" marB="0" anchor="ctr">
                    <a:solidFill>
                      <a:srgbClr val="1E10D9"/>
                    </a:solidFill>
                  </a:tcPr>
                </a:tc>
                <a:tc>
                  <a:txBody>
                    <a:bodyPr/>
                    <a:lstStyle/>
                    <a:p>
                      <a:pPr algn="l">
                        <a:lnSpc>
                          <a:spcPct val="100000"/>
                        </a:lnSpc>
                        <a:spcBef>
                          <a:spcPts val="0"/>
                        </a:spcBef>
                        <a:spcAft>
                          <a:spcPts val="0"/>
                        </a:spcAft>
                      </a:pPr>
                      <a:r>
                        <a:rPr lang="zh-CN" sz="1600" kern="100" dirty="0">
                          <a:effectLst/>
                          <a:latin typeface="+mj-lt"/>
                          <a:ea typeface="宋体" charset="0"/>
                          <a:cs typeface="宋体" charset="0"/>
                        </a:rPr>
                        <a:t>含义</a:t>
                      </a:r>
                      <a:endParaRPr lang="zh-CN" sz="1600" kern="100" dirty="0">
                        <a:effectLst/>
                        <a:latin typeface="+mj-lt"/>
                        <a:ea typeface="宋体" charset="0"/>
                        <a:cs typeface="宋体" charset="0"/>
                      </a:endParaRPr>
                    </a:p>
                  </a:txBody>
                  <a:tcPr marL="82564" marR="82564" marT="0" marB="0" anchor="ctr">
                    <a:solidFill>
                      <a:srgbClr val="1E10D9"/>
                    </a:solidFill>
                  </a:tcPr>
                </a:tc>
              </a:tr>
              <a:tr h="251945">
                <a:tc>
                  <a:txBody>
                    <a:bodyPr/>
                    <a:lstStyle/>
                    <a:p>
                      <a:pPr algn="l">
                        <a:lnSpc>
                          <a:spcPct val="100000"/>
                        </a:lnSpc>
                        <a:spcBef>
                          <a:spcPts val="0"/>
                        </a:spcBef>
                        <a:spcAft>
                          <a:spcPts val="0"/>
                        </a:spcAft>
                      </a:pPr>
                      <a:r>
                        <a:rPr lang="en-US" sz="1600" kern="100" dirty="0">
                          <a:effectLst/>
                          <a:latin typeface="+mj-lt"/>
                          <a:ea typeface="宋体" charset="0"/>
                          <a:cs typeface="宋体" charset="0"/>
                        </a:rPr>
                        <a:t>:= or !=</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r>
                        <a:rPr lang="en-US" sz="1600" kern="100" dirty="0" err="1">
                          <a:effectLst/>
                          <a:latin typeface="+mj-lt"/>
                          <a:ea typeface="宋体" charset="0"/>
                          <a:cs typeface="宋体" charset="0"/>
                        </a:rPr>
                        <a:t>cmatch</a:t>
                      </a:r>
                      <a:r>
                        <a:rPr lang="en-US" sz="1600" kern="100" dirty="0">
                          <a:effectLst/>
                          <a:latin typeface="+mj-lt"/>
                          <a:ea typeface="宋体" charset="0"/>
                          <a:cs typeface="宋体" charset="0"/>
                        </a:rPr>
                        <a:t>’:=’201’,’204’</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smtClean="0">
                          <a:effectLst/>
                          <a:latin typeface="+mj-lt"/>
                          <a:ea typeface="宋体" charset="0"/>
                          <a:cs typeface="宋体" charset="0"/>
                        </a:rPr>
                        <a:t>维度值</a:t>
                      </a:r>
                      <a:r>
                        <a:rPr lang="zh-CN" altLang="en-US" sz="1600" kern="100" dirty="0" smtClean="0">
                          <a:effectLst/>
                          <a:latin typeface="+mj-lt"/>
                          <a:ea typeface="宋体" charset="0"/>
                          <a:cs typeface="宋体" charset="0"/>
                        </a:rPr>
                        <a:t>在</a:t>
                      </a:r>
                      <a:r>
                        <a:rPr lang="zh-CN" sz="1600" kern="100" dirty="0" smtClean="0">
                          <a:effectLst/>
                          <a:latin typeface="+mj-lt"/>
                          <a:ea typeface="宋体" charset="0"/>
                          <a:cs typeface="宋体" charset="0"/>
                        </a:rPr>
                        <a:t> </a:t>
                      </a:r>
                      <a:r>
                        <a:rPr lang="en-US" sz="1600" kern="100" dirty="0">
                          <a:effectLst/>
                          <a:latin typeface="+mj-lt"/>
                          <a:ea typeface="宋体" charset="0"/>
                          <a:cs typeface="宋体" charset="0"/>
                        </a:rPr>
                        <a:t>or </a:t>
                      </a:r>
                      <a:r>
                        <a:rPr lang="zh-CN" sz="1600" kern="100" dirty="0" smtClean="0">
                          <a:effectLst/>
                          <a:latin typeface="+mj-lt"/>
                          <a:ea typeface="宋体" charset="0"/>
                          <a:cs typeface="宋体" charset="0"/>
                        </a:rPr>
                        <a:t>不</a:t>
                      </a:r>
                      <a:r>
                        <a:rPr lang="zh-CN" altLang="en-US" sz="1600" kern="100" dirty="0" smtClean="0">
                          <a:effectLst/>
                          <a:latin typeface="+mj-lt"/>
                          <a:ea typeface="宋体" charset="0"/>
                          <a:cs typeface="宋体" charset="0"/>
                        </a:rPr>
                        <a:t>在</a:t>
                      </a:r>
                      <a:r>
                        <a:rPr lang="zh-CN" sz="1600" kern="100" dirty="0" smtClean="0">
                          <a:effectLst/>
                          <a:latin typeface="+mj-lt"/>
                          <a:ea typeface="宋体" charset="0"/>
                          <a:cs typeface="宋体" charset="0"/>
                        </a:rPr>
                        <a:t>右值</a:t>
                      </a:r>
                      <a:endParaRPr lang="zh-CN" sz="1600" kern="100" dirty="0">
                        <a:effectLst/>
                        <a:latin typeface="+mj-lt"/>
                        <a:ea typeface="宋体" charset="0"/>
                        <a:cs typeface="宋体" charset="0"/>
                      </a:endParaRPr>
                    </a:p>
                  </a:txBody>
                  <a:tcPr marL="82564" marR="82564" marT="0" marB="0" anchor="ctr"/>
                </a:tc>
              </a:tr>
              <a:tr h="429551">
                <a:tc>
                  <a:txBody>
                    <a:bodyPr/>
                    <a:lstStyle/>
                    <a:p>
                      <a:pPr algn="l">
                        <a:lnSpc>
                          <a:spcPct val="100000"/>
                        </a:lnSpc>
                        <a:spcBef>
                          <a:spcPts val="0"/>
                        </a:spcBef>
                        <a:spcAft>
                          <a:spcPts val="0"/>
                        </a:spcAft>
                      </a:pPr>
                      <a:r>
                        <a:rPr lang="en-US" altLang="zh-CN" sz="1600" kern="100" dirty="0" smtClean="0">
                          <a:effectLst/>
                          <a:latin typeface="+mj-lt"/>
                          <a:ea typeface="宋体" charset="0"/>
                          <a:cs typeface="宋体" charset="0"/>
                        </a:rPr>
                        <a:t>:</a:t>
                      </a:r>
                      <a:r>
                        <a:rPr lang="en-US" sz="1600" kern="100" dirty="0" smtClean="0">
                          <a:effectLst/>
                          <a:latin typeface="+mj-lt"/>
                          <a:ea typeface="宋体" charset="0"/>
                          <a:cs typeface="宋体" charset="0"/>
                        </a:rPr>
                        <a:t>&gt; </a:t>
                      </a:r>
                      <a:r>
                        <a:rPr lang="en-US" altLang="zh-CN" sz="1600" kern="100" dirty="0" smtClean="0">
                          <a:effectLst/>
                          <a:latin typeface="+mj-lt"/>
                          <a:ea typeface="宋体" charset="0"/>
                          <a:cs typeface="宋体" charset="0"/>
                        </a:rPr>
                        <a:t>:</a:t>
                      </a:r>
                      <a:r>
                        <a:rPr lang="en-US" sz="1600" kern="100" dirty="0" smtClean="0">
                          <a:effectLst/>
                          <a:latin typeface="+mj-lt"/>
                          <a:ea typeface="宋体" charset="0"/>
                          <a:cs typeface="宋体" charset="0"/>
                        </a:rPr>
                        <a:t>&lt; </a:t>
                      </a:r>
                      <a:r>
                        <a:rPr lang="en-US" sz="1600" kern="100" dirty="0">
                          <a:effectLst/>
                          <a:latin typeface="+mj-lt"/>
                          <a:ea typeface="宋体" charset="0"/>
                          <a:cs typeface="宋体" charset="0"/>
                        </a:rPr>
                        <a:t>&gt;= &lt;=</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‘price</a:t>
                      </a:r>
                      <a:r>
                        <a:rPr lang="en-US" sz="1600" kern="100" dirty="0" smtClean="0">
                          <a:effectLst/>
                          <a:latin typeface="+mj-lt"/>
                          <a:ea typeface="宋体" charset="0"/>
                          <a:cs typeface="宋体" charset="0"/>
                        </a:rPr>
                        <a:t>’</a:t>
                      </a:r>
                      <a:r>
                        <a:rPr lang="en-US" altLang="zh-CN" sz="1600" kern="100" dirty="0" smtClean="0">
                          <a:effectLst/>
                          <a:latin typeface="+mj-lt"/>
                          <a:ea typeface="宋体" charset="0"/>
                          <a:cs typeface="宋体" charset="0"/>
                        </a:rPr>
                        <a:t>:</a:t>
                      </a:r>
                      <a:r>
                        <a:rPr lang="en-US" sz="1600" kern="100" dirty="0" smtClean="0">
                          <a:effectLst/>
                          <a:latin typeface="+mj-lt"/>
                          <a:ea typeface="宋体" charset="0"/>
                          <a:cs typeface="宋体" charset="0"/>
                        </a:rPr>
                        <a:t>&lt;‘</a:t>
                      </a:r>
                      <a:r>
                        <a:rPr lang="en-US" sz="1600" kern="100" dirty="0">
                          <a:effectLst/>
                          <a:latin typeface="+mj-lt"/>
                          <a:ea typeface="宋体" charset="0"/>
                          <a:cs typeface="宋体" charset="0"/>
                        </a:rPr>
                        <a:t>3000’</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维度值大于</a:t>
                      </a:r>
                      <a:r>
                        <a:rPr lang="en-US" sz="1600" kern="100" dirty="0">
                          <a:effectLst/>
                          <a:latin typeface="+mj-lt"/>
                          <a:ea typeface="宋体" charset="0"/>
                          <a:cs typeface="宋体" charset="0"/>
                        </a:rPr>
                        <a:t>(</a:t>
                      </a:r>
                      <a:r>
                        <a:rPr lang="zh-CN" sz="1600" kern="100" dirty="0">
                          <a:effectLst/>
                          <a:latin typeface="+mj-lt"/>
                          <a:ea typeface="宋体" charset="0"/>
                          <a:cs typeface="宋体" charset="0"/>
                        </a:rPr>
                        <a:t>等于</a:t>
                      </a:r>
                      <a:r>
                        <a:rPr lang="en-US" sz="1600" kern="100" dirty="0">
                          <a:effectLst/>
                          <a:latin typeface="+mj-lt"/>
                          <a:ea typeface="宋体" charset="0"/>
                          <a:cs typeface="宋体" charset="0"/>
                        </a:rPr>
                        <a:t>) or </a:t>
                      </a:r>
                      <a:r>
                        <a:rPr lang="zh-CN" sz="1600" kern="100" dirty="0">
                          <a:effectLst/>
                          <a:latin typeface="+mj-lt"/>
                          <a:ea typeface="宋体" charset="0"/>
                          <a:cs typeface="宋体" charset="0"/>
                        </a:rPr>
                        <a:t>小于等于右值</a:t>
                      </a:r>
                      <a:endParaRPr lang="zh-CN" sz="1600" kern="100" dirty="0">
                        <a:effectLst/>
                        <a:latin typeface="+mj-lt"/>
                        <a:ea typeface="宋体" charset="0"/>
                        <a:cs typeface="宋体" charset="0"/>
                      </a:endParaRPr>
                    </a:p>
                  </a:txBody>
                  <a:tcPr marL="82564" marR="82564" marT="0" marB="0" anchor="ctr"/>
                </a:tc>
              </a:tr>
              <a:tr h="1511673">
                <a:tc>
                  <a:txBody>
                    <a:bodyPr/>
                    <a:lstStyle/>
                    <a:p>
                      <a:pPr algn="l">
                        <a:lnSpc>
                          <a:spcPct val="100000"/>
                        </a:lnSpc>
                        <a:spcBef>
                          <a:spcPts val="0"/>
                        </a:spcBef>
                        <a:spcAft>
                          <a:spcPts val="0"/>
                        </a:spcAft>
                      </a:pPr>
                      <a:r>
                        <a:rPr lang="en-US" sz="1600" kern="100" dirty="0">
                          <a:effectLst/>
                          <a:latin typeface="+mj-lt"/>
                          <a:ea typeface="宋体" charset="0"/>
                          <a:cs typeface="宋体" charset="0"/>
                        </a:rPr>
                        <a:t>:&amp; :| !&amp; !|</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r>
                        <a:rPr lang="en-US" sz="1600" kern="100" dirty="0" err="1">
                          <a:effectLst/>
                          <a:latin typeface="+mj-lt"/>
                          <a:ea typeface="宋体" charset="0"/>
                          <a:cs typeface="宋体" charset="0"/>
                        </a:rPr>
                        <a:t>stat_flag</a:t>
                      </a:r>
                      <a:r>
                        <a:rPr lang="en-US" sz="1600" kern="100" dirty="0">
                          <a:effectLst/>
                          <a:latin typeface="+mj-lt"/>
                          <a:ea typeface="宋体" charset="0"/>
                          <a:cs typeface="宋体" charset="0"/>
                        </a:rPr>
                        <a:t>’:&amp;</a:t>
                      </a:r>
                      <a:r>
                        <a:rPr lang="en-US" sz="1600" kern="100" dirty="0" smtClean="0">
                          <a:effectLst/>
                          <a:latin typeface="+mj-lt"/>
                          <a:ea typeface="宋体" charset="0"/>
                          <a:cs typeface="宋体" charset="0"/>
                        </a:rPr>
                        <a:t>3300000000000000</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err="1">
                          <a:effectLst/>
                          <a:latin typeface="+mj-lt"/>
                          <a:ea typeface="宋体" charset="0"/>
                          <a:cs typeface="宋体" charset="0"/>
                        </a:rPr>
                        <a:t>stat_flag</a:t>
                      </a:r>
                      <a:r>
                        <a:rPr lang="zh-CN" sz="1600" kern="100" dirty="0">
                          <a:effectLst/>
                          <a:latin typeface="+mj-lt"/>
                          <a:ea typeface="宋体" charset="0"/>
                          <a:cs typeface="宋体" charset="0"/>
                        </a:rPr>
                        <a:t>专</a:t>
                      </a:r>
                      <a:r>
                        <a:rPr lang="zh-CN" sz="1600" kern="100" dirty="0" smtClean="0">
                          <a:effectLst/>
                          <a:latin typeface="+mj-lt"/>
                          <a:ea typeface="宋体" charset="0"/>
                          <a:cs typeface="宋体" charset="0"/>
                        </a:rPr>
                        <a:t>用</a:t>
                      </a:r>
                      <a:endParaRPr lang="en-US" altLang="zh-CN" sz="1600" kern="100" dirty="0" smtClean="0">
                        <a:effectLst/>
                        <a:latin typeface="+mj-lt"/>
                        <a:ea typeface="宋体" charset="0"/>
                        <a:cs typeface="宋体" charset="0"/>
                      </a:endParaRPr>
                    </a:p>
                    <a:p>
                      <a:pPr algn="l">
                        <a:lnSpc>
                          <a:spcPct val="100000"/>
                        </a:lnSpc>
                        <a:spcBef>
                          <a:spcPts val="0"/>
                        </a:spcBef>
                        <a:spcAft>
                          <a:spcPts val="0"/>
                        </a:spcAft>
                      </a:pPr>
                      <a:r>
                        <a:rPr kumimoji="1" lang="zh-CN" altLang="zh-CN" sz="1600" dirty="0" smtClean="0">
                          <a:latin typeface="+mj-lt"/>
                          <a:ea typeface="宋体" charset="0"/>
                          <a:cs typeface="宋体" charset="0"/>
                        </a:rPr>
                        <a:t>:</a:t>
                      </a:r>
                      <a:r>
                        <a:rPr kumimoji="1" lang="en-US" altLang="zh-CN" sz="1600" dirty="0" smtClean="0">
                          <a:latin typeface="+mj-lt"/>
                          <a:ea typeface="宋体" charset="0"/>
                          <a:cs typeface="宋体" charset="0"/>
                        </a:rPr>
                        <a:t>&amp;---</a:t>
                      </a:r>
                      <a:r>
                        <a:rPr kumimoji="1" lang="zh-CN" altLang="en-US" sz="1600" dirty="0" smtClean="0">
                          <a:latin typeface="+mj-lt"/>
                          <a:ea typeface="宋体" charset="0"/>
                          <a:cs typeface="宋体" charset="0"/>
                        </a:rPr>
                        <a:t>右值不为</a:t>
                      </a:r>
                      <a:r>
                        <a:rPr kumimoji="1" lang="en-US" altLang="zh-CN" sz="1600" dirty="0" smtClean="0">
                          <a:latin typeface="+mj-lt"/>
                          <a:ea typeface="宋体" charset="0"/>
                          <a:cs typeface="宋体" charset="0"/>
                        </a:rPr>
                        <a:t>0</a:t>
                      </a:r>
                      <a:r>
                        <a:rPr kumimoji="1" lang="zh-CN" altLang="en-US" sz="1600" dirty="0" smtClean="0">
                          <a:latin typeface="+mj-lt"/>
                          <a:ea typeface="宋体" charset="0"/>
                          <a:cs typeface="宋体" charset="0"/>
                        </a:rPr>
                        <a:t>的特定位上，左值均为</a:t>
                      </a:r>
                      <a:r>
                        <a:rPr kumimoji="1" lang="en-US" altLang="zh-CN" sz="1600" dirty="0" smtClean="0">
                          <a:latin typeface="+mj-lt"/>
                          <a:ea typeface="宋体" charset="0"/>
                          <a:cs typeface="宋体" charset="0"/>
                        </a:rPr>
                        <a:t>1</a:t>
                      </a:r>
                      <a:endParaRPr kumimoji="1" lang="en-US" altLang="zh-CN" sz="1600" dirty="0" smtClean="0">
                        <a:latin typeface="+mj-lt"/>
                        <a:ea typeface="宋体" charset="0"/>
                        <a:cs typeface="宋体" charset="0"/>
                      </a:endParaRPr>
                    </a:p>
                    <a:p>
                      <a:pPr algn="l">
                        <a:lnSpc>
                          <a:spcPct val="100000"/>
                        </a:lnSpc>
                        <a:spcBef>
                          <a:spcPts val="0"/>
                        </a:spcBef>
                        <a:spcAft>
                          <a:spcPts val="0"/>
                        </a:spcAft>
                      </a:pPr>
                      <a:r>
                        <a:rPr kumimoji="1" lang="zh-CN" altLang="zh-CN" sz="1600" dirty="0" smtClean="0">
                          <a:latin typeface="+mj-lt"/>
                          <a:ea typeface="宋体" charset="0"/>
                          <a:cs typeface="宋体" charset="0"/>
                        </a:rPr>
                        <a:t>:|</a:t>
                      </a:r>
                      <a:r>
                        <a:rPr kumimoji="1" lang="en-US" altLang="zh-CN" sz="1600" dirty="0" smtClean="0">
                          <a:latin typeface="+mj-lt"/>
                          <a:ea typeface="宋体" charset="0"/>
                          <a:cs typeface="宋体" charset="0"/>
                        </a:rPr>
                        <a:t>---</a:t>
                      </a:r>
                      <a:r>
                        <a:rPr kumimoji="1" lang="zh-CN" altLang="en-US" sz="1600" dirty="0" smtClean="0">
                          <a:latin typeface="+mj-lt"/>
                          <a:ea typeface="宋体" charset="0"/>
                          <a:cs typeface="宋体" charset="0"/>
                        </a:rPr>
                        <a:t>右值不为</a:t>
                      </a:r>
                      <a:r>
                        <a:rPr kumimoji="1" lang="en-US" altLang="zh-CN" sz="1600" dirty="0" smtClean="0">
                          <a:latin typeface="+mj-lt"/>
                          <a:ea typeface="宋体" charset="0"/>
                          <a:cs typeface="宋体" charset="0"/>
                        </a:rPr>
                        <a:t>0</a:t>
                      </a:r>
                      <a:r>
                        <a:rPr kumimoji="1" lang="zh-CN" altLang="en-US" sz="1600" dirty="0" smtClean="0">
                          <a:latin typeface="+mj-lt"/>
                          <a:ea typeface="宋体" charset="0"/>
                          <a:cs typeface="宋体" charset="0"/>
                        </a:rPr>
                        <a:t>的特定位上，左值有个</a:t>
                      </a:r>
                      <a:r>
                        <a:rPr kumimoji="1" lang="en-US" altLang="zh-CN" sz="1600" dirty="0" smtClean="0">
                          <a:latin typeface="+mj-lt"/>
                          <a:ea typeface="宋体" charset="0"/>
                          <a:cs typeface="宋体" charset="0"/>
                        </a:rPr>
                        <a:t>1</a:t>
                      </a:r>
                      <a:r>
                        <a:rPr kumimoji="1" lang="zh-CN" altLang="en-US" sz="1600" dirty="0" smtClean="0">
                          <a:latin typeface="+mj-lt"/>
                          <a:ea typeface="宋体" charset="0"/>
                          <a:cs typeface="宋体" charset="0"/>
                        </a:rPr>
                        <a:t>位以上为</a:t>
                      </a:r>
                      <a:r>
                        <a:rPr kumimoji="1" lang="en-US" altLang="zh-CN" sz="1600" dirty="0" smtClean="0">
                          <a:latin typeface="+mj-lt"/>
                          <a:ea typeface="宋体" charset="0"/>
                          <a:cs typeface="宋体" charset="0"/>
                        </a:rPr>
                        <a:t>1</a:t>
                      </a:r>
                      <a:endParaRPr kumimoji="1" lang="zh-CN" altLang="en-US" sz="1600" dirty="0" smtClean="0">
                        <a:latin typeface="+mj-lt"/>
                        <a:ea typeface="宋体" charset="0"/>
                        <a:cs typeface="宋体" charset="0"/>
                      </a:endParaRPr>
                    </a:p>
                    <a:p>
                      <a:pPr algn="l">
                        <a:lnSpc>
                          <a:spcPct val="100000"/>
                        </a:lnSpc>
                        <a:spcBef>
                          <a:spcPts val="0"/>
                        </a:spcBef>
                        <a:spcAft>
                          <a:spcPts val="0"/>
                        </a:spcAft>
                      </a:pPr>
                      <a:r>
                        <a:rPr kumimoji="1" lang="zh-CN" altLang="en-US" sz="1600" dirty="0" smtClean="0">
                          <a:latin typeface="+mj-lt"/>
                          <a:ea typeface="宋体" charset="0"/>
                          <a:cs typeface="宋体" charset="0"/>
                        </a:rPr>
                        <a:t>!</a:t>
                      </a:r>
                      <a:r>
                        <a:rPr kumimoji="1" lang="en-US" altLang="zh-CN" sz="1600" dirty="0" smtClean="0">
                          <a:latin typeface="+mj-lt"/>
                          <a:ea typeface="宋体" charset="0"/>
                          <a:cs typeface="宋体" charset="0"/>
                        </a:rPr>
                        <a:t>&amp;---</a:t>
                      </a:r>
                      <a:r>
                        <a:rPr kumimoji="1" lang="zh-CN" altLang="en-US" sz="1600" dirty="0" smtClean="0">
                          <a:latin typeface="+mj-lt"/>
                          <a:ea typeface="宋体" charset="0"/>
                          <a:cs typeface="宋体" charset="0"/>
                        </a:rPr>
                        <a:t>右值不为</a:t>
                      </a:r>
                      <a:r>
                        <a:rPr kumimoji="1" lang="en-US" altLang="zh-CN" sz="1600" dirty="0" smtClean="0">
                          <a:latin typeface="+mj-lt"/>
                          <a:ea typeface="宋体" charset="0"/>
                          <a:cs typeface="宋体" charset="0"/>
                        </a:rPr>
                        <a:t>0</a:t>
                      </a:r>
                      <a:r>
                        <a:rPr kumimoji="1" lang="zh-CN" altLang="en-US" sz="1600" dirty="0" smtClean="0">
                          <a:latin typeface="+mj-lt"/>
                          <a:ea typeface="宋体" charset="0"/>
                          <a:cs typeface="宋体" charset="0"/>
                        </a:rPr>
                        <a:t>的特定位上，左值均为</a:t>
                      </a:r>
                      <a:r>
                        <a:rPr kumimoji="1" lang="en-US" altLang="zh-CN" sz="1600" dirty="0" smtClean="0">
                          <a:latin typeface="+mj-lt"/>
                          <a:ea typeface="宋体" charset="0"/>
                          <a:cs typeface="宋体" charset="0"/>
                        </a:rPr>
                        <a:t>0</a:t>
                      </a:r>
                      <a:endParaRPr kumimoji="1" lang="en-US" altLang="zh-CN" sz="1600" dirty="0" smtClean="0">
                        <a:latin typeface="+mj-lt"/>
                        <a:ea typeface="宋体" charset="0"/>
                        <a:cs typeface="宋体" charset="0"/>
                      </a:endParaRPr>
                    </a:p>
                    <a:p>
                      <a:pPr algn="l">
                        <a:lnSpc>
                          <a:spcPct val="100000"/>
                        </a:lnSpc>
                        <a:spcBef>
                          <a:spcPts val="0"/>
                        </a:spcBef>
                        <a:spcAft>
                          <a:spcPts val="0"/>
                        </a:spcAft>
                      </a:pPr>
                      <a:r>
                        <a:rPr kumimoji="1" lang="zh-CN" altLang="zh-CN" sz="1600" dirty="0" smtClean="0">
                          <a:latin typeface="+mj-lt"/>
                          <a:ea typeface="宋体" charset="0"/>
                          <a:cs typeface="宋体" charset="0"/>
                        </a:rPr>
                        <a:t>!</a:t>
                      </a:r>
                      <a:r>
                        <a:rPr kumimoji="1" lang="en-US" altLang="zh-CN" sz="1600" dirty="0" smtClean="0">
                          <a:latin typeface="+mj-lt"/>
                          <a:ea typeface="宋体" charset="0"/>
                          <a:cs typeface="宋体" charset="0"/>
                        </a:rPr>
                        <a:t>|</a:t>
                      </a:r>
                      <a:r>
                        <a:rPr kumimoji="1" lang="zh-CN" altLang="en-US" sz="1600" dirty="0" smtClean="0">
                          <a:latin typeface="+mj-lt"/>
                          <a:ea typeface="宋体" charset="0"/>
                          <a:cs typeface="宋体" charset="0"/>
                        </a:rPr>
                        <a:t> </a:t>
                      </a:r>
                      <a:r>
                        <a:rPr kumimoji="1" lang="en-US" altLang="zh-CN" sz="1600" dirty="0" smtClean="0">
                          <a:latin typeface="+mj-lt"/>
                          <a:ea typeface="宋体" charset="0"/>
                          <a:cs typeface="宋体" charset="0"/>
                        </a:rPr>
                        <a:t>---</a:t>
                      </a:r>
                      <a:r>
                        <a:rPr kumimoji="1" lang="zh-CN" altLang="en-US" sz="1600" dirty="0" smtClean="0">
                          <a:latin typeface="+mj-lt"/>
                          <a:ea typeface="宋体" charset="0"/>
                          <a:cs typeface="宋体" charset="0"/>
                        </a:rPr>
                        <a:t>右值不为</a:t>
                      </a:r>
                      <a:r>
                        <a:rPr kumimoji="1" lang="en-US" altLang="zh-CN" sz="1600" dirty="0" smtClean="0">
                          <a:latin typeface="+mj-lt"/>
                          <a:ea typeface="宋体" charset="0"/>
                          <a:cs typeface="宋体" charset="0"/>
                        </a:rPr>
                        <a:t>0</a:t>
                      </a:r>
                      <a:r>
                        <a:rPr kumimoji="1" lang="zh-CN" altLang="en-US" sz="1600" dirty="0" smtClean="0">
                          <a:latin typeface="+mj-lt"/>
                          <a:ea typeface="宋体" charset="0"/>
                          <a:cs typeface="宋体" charset="0"/>
                        </a:rPr>
                        <a:t>的特定位上，左值不全是</a:t>
                      </a:r>
                      <a:r>
                        <a:rPr kumimoji="1" lang="en-US" altLang="zh-CN" sz="1600" dirty="0" smtClean="0">
                          <a:latin typeface="+mj-lt"/>
                          <a:ea typeface="宋体" charset="0"/>
                          <a:cs typeface="宋体" charset="0"/>
                        </a:rPr>
                        <a:t>1</a:t>
                      </a:r>
                      <a:endParaRPr kumimoji="1" lang="en-US" altLang="zh-CN" sz="1600" dirty="0" smtClean="0">
                        <a:latin typeface="+mj-lt"/>
                        <a:ea typeface="宋体" charset="0"/>
                        <a:cs typeface="宋体" charset="0"/>
                      </a:endParaRPr>
                    </a:p>
                  </a:txBody>
                  <a:tcPr marL="82564" marR="82564" marT="0" marB="0" anchor="ctr"/>
                </a:tc>
              </a:tr>
              <a:tr h="264772">
                <a:tc>
                  <a:txBody>
                    <a:bodyPr/>
                    <a:lstStyle/>
                    <a:p>
                      <a:pPr algn="l">
                        <a:lnSpc>
                          <a:spcPct val="100000"/>
                        </a:lnSpc>
                        <a:spcBef>
                          <a:spcPts val="0"/>
                        </a:spcBef>
                        <a:spcAft>
                          <a:spcPts val="0"/>
                        </a:spcAft>
                      </a:pPr>
                      <a:r>
                        <a:rPr lang="en-US" sz="1600" kern="100" dirty="0">
                          <a:effectLst/>
                          <a:latin typeface="+mj-lt"/>
                          <a:ea typeface="宋体" charset="0"/>
                          <a:cs typeface="宋体" charset="0"/>
                        </a:rPr>
                        <a:t>IN or NI</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r>
                        <a:rPr lang="en-US" sz="1600" kern="100" dirty="0" err="1">
                          <a:effectLst/>
                          <a:latin typeface="+mj-lt"/>
                          <a:ea typeface="宋体" charset="0"/>
                          <a:cs typeface="宋体" charset="0"/>
                        </a:rPr>
                        <a:t>cnt’IN‘cnt_file</a:t>
                      </a:r>
                      <a:r>
                        <a:rPr lang="en-US" sz="1600" kern="100" dirty="0">
                          <a:effectLst/>
                          <a:latin typeface="+mj-lt"/>
                          <a:ea typeface="宋体" charset="0"/>
                          <a:cs typeface="宋体" charset="0"/>
                        </a:rPr>
                        <a:t>’</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a:t>
                      </a:r>
                      <a:r>
                        <a:rPr lang="en-US" sz="1600" kern="100" dirty="0">
                          <a:effectLst/>
                          <a:latin typeface="+mj-lt"/>
                          <a:ea typeface="宋体" charset="0"/>
                          <a:cs typeface="宋体" charset="0"/>
                        </a:rPr>
                        <a:t>in or not in</a:t>
                      </a:r>
                      <a:r>
                        <a:rPr lang="zh-CN" sz="1600" kern="100" dirty="0">
                          <a:effectLst/>
                          <a:latin typeface="+mj-lt"/>
                          <a:ea typeface="宋体" charset="0"/>
                          <a:cs typeface="宋体" charset="0"/>
                        </a:rPr>
                        <a:t>文件</a:t>
                      </a:r>
                      <a:endParaRPr lang="zh-CN" sz="1600" kern="100" dirty="0">
                        <a:effectLst/>
                        <a:latin typeface="+mj-lt"/>
                        <a:ea typeface="宋体" charset="0"/>
                        <a:cs typeface="宋体" charset="0"/>
                      </a:endParaRPr>
                    </a:p>
                  </a:txBody>
                  <a:tcPr marL="82564" marR="82564" marT="0" marB="0" anchor="ctr"/>
                </a:tc>
              </a:tr>
              <a:tr h="264772">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全集</a:t>
                      </a:r>
                      <a:endParaRPr lang="zh-CN" sz="1600" kern="100" dirty="0">
                        <a:effectLst/>
                        <a:latin typeface="+mj-lt"/>
                        <a:ea typeface="宋体" charset="0"/>
                        <a:cs typeface="宋体" charset="0"/>
                      </a:endParaRPr>
                    </a:p>
                  </a:txBody>
                  <a:tcPr marL="82564" marR="82564" marT="0" marB="0" anchor="ctr"/>
                </a:tc>
              </a:tr>
              <a:tr h="264772">
                <a:tc>
                  <a:txBody>
                    <a:bodyPr/>
                    <a:lstStyle/>
                    <a:p>
                      <a:pPr algn="l">
                        <a:lnSpc>
                          <a:spcPct val="100000"/>
                        </a:lnSpc>
                        <a:spcBef>
                          <a:spcPts val="0"/>
                        </a:spcBef>
                        <a:spcAft>
                          <a:spcPts val="0"/>
                        </a:spcAft>
                      </a:pPr>
                      <a:r>
                        <a:rPr lang="en-US" sz="1600" kern="100" dirty="0">
                          <a:effectLst/>
                          <a:latin typeface="+mj-lt"/>
                          <a:ea typeface="宋体" charset="0"/>
                          <a:cs typeface="宋体" charset="0"/>
                        </a:rPr>
                        <a:t>HA or NH</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a:effectLst/>
                          <a:latin typeface="+mj-lt"/>
                          <a:ea typeface="宋体" charset="0"/>
                          <a:cs typeface="宋体" charset="0"/>
                        </a:rPr>
                        <a:t>[‘baiduid’NH]</a:t>
                      </a:r>
                      <a:endParaRPr lang="zh-CN" sz="1600" kern="10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维度值存在 </a:t>
                      </a:r>
                      <a:r>
                        <a:rPr lang="en-US" sz="1600" kern="100" dirty="0">
                          <a:effectLst/>
                          <a:latin typeface="+mj-lt"/>
                          <a:ea typeface="宋体" charset="0"/>
                          <a:cs typeface="宋体" charset="0"/>
                        </a:rPr>
                        <a:t>or </a:t>
                      </a:r>
                      <a:r>
                        <a:rPr lang="zh-CN" sz="1600" kern="100" dirty="0">
                          <a:effectLst/>
                          <a:latin typeface="+mj-lt"/>
                          <a:ea typeface="宋体" charset="0"/>
                          <a:cs typeface="宋体" charset="0"/>
                        </a:rPr>
                        <a:t>不存在</a:t>
                      </a:r>
                      <a:endParaRPr lang="zh-CN" sz="1600" kern="100" dirty="0">
                        <a:effectLst/>
                        <a:latin typeface="+mj-lt"/>
                        <a:ea typeface="宋体" charset="0"/>
                        <a:cs typeface="宋体" charset="0"/>
                      </a:endParaRPr>
                    </a:p>
                  </a:txBody>
                  <a:tcPr marL="82564" marR="82564" marT="0" marB="0" anchor="ctr"/>
                </a:tc>
              </a:tr>
              <a:tr h="264772">
                <a:tc>
                  <a:txBody>
                    <a:bodyPr/>
                    <a:lstStyle/>
                    <a:p>
                      <a:pPr algn="l">
                        <a:lnSpc>
                          <a:spcPct val="100000"/>
                        </a:lnSpc>
                        <a:spcBef>
                          <a:spcPts val="0"/>
                        </a:spcBef>
                        <a:spcAft>
                          <a:spcPts val="0"/>
                        </a:spcAft>
                      </a:pPr>
                      <a:r>
                        <a:rPr lang="en-US" sz="1600" kern="100" dirty="0">
                          <a:effectLst/>
                          <a:latin typeface="+mj-lt"/>
                          <a:ea typeface="宋体" charset="0"/>
                          <a:cs typeface="宋体" charset="0"/>
                        </a:rPr>
                        <a:t>VA or IV</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a:effectLst/>
                          <a:latin typeface="+mj-lt"/>
                          <a:ea typeface="宋体" charset="0"/>
                          <a:cs typeface="宋体" charset="0"/>
                        </a:rPr>
                        <a:t>[‘cookie_fresh’VA]</a:t>
                      </a:r>
                      <a:endParaRPr lang="zh-CN" sz="1600" kern="10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维度值合法 </a:t>
                      </a:r>
                      <a:r>
                        <a:rPr lang="en-US" sz="1600" kern="100" dirty="0">
                          <a:effectLst/>
                          <a:latin typeface="+mj-lt"/>
                          <a:ea typeface="宋体" charset="0"/>
                          <a:cs typeface="宋体" charset="0"/>
                        </a:rPr>
                        <a:t>or </a:t>
                      </a:r>
                      <a:r>
                        <a:rPr lang="zh-CN" sz="1600" kern="100" dirty="0">
                          <a:effectLst/>
                          <a:latin typeface="+mj-lt"/>
                          <a:ea typeface="宋体" charset="0"/>
                          <a:cs typeface="宋体" charset="0"/>
                        </a:rPr>
                        <a:t>不合法</a:t>
                      </a:r>
                      <a:endParaRPr lang="zh-CN" sz="1600" kern="100" dirty="0">
                        <a:effectLst/>
                        <a:latin typeface="+mj-lt"/>
                        <a:ea typeface="宋体" charset="0"/>
                        <a:cs typeface="宋体" charset="0"/>
                      </a:endParaRPr>
                    </a:p>
                  </a:txBody>
                  <a:tcPr marL="82564" marR="82564" marT="0" marB="0" anchor="ctr"/>
                </a:tc>
              </a:tr>
              <a:tr h="264772">
                <a:tc>
                  <a:txBody>
                    <a:bodyPr/>
                    <a:lstStyle/>
                    <a:p>
                      <a:pPr algn="l">
                        <a:lnSpc>
                          <a:spcPct val="100000"/>
                        </a:lnSpc>
                        <a:spcBef>
                          <a:spcPts val="0"/>
                        </a:spcBef>
                        <a:spcAft>
                          <a:spcPts val="0"/>
                        </a:spcAft>
                      </a:pPr>
                      <a:r>
                        <a:rPr lang="en-US" sz="1600" kern="100" dirty="0">
                          <a:effectLst/>
                          <a:latin typeface="+mj-lt"/>
                          <a:ea typeface="宋体" charset="0"/>
                          <a:cs typeface="宋体" charset="0"/>
                        </a:rPr>
                        <a:t>:~ or !~</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en-US" sz="1600" kern="100" dirty="0">
                          <a:effectLst/>
                          <a:latin typeface="+mj-lt"/>
                          <a:ea typeface="宋体" charset="0"/>
                          <a:cs typeface="宋体" charset="0"/>
                        </a:rPr>
                        <a:t>[‘</a:t>
                      </a:r>
                      <a:r>
                        <a:rPr lang="en-US" sz="1600" kern="100" dirty="0" err="1">
                          <a:effectLst/>
                          <a:latin typeface="+mj-lt"/>
                          <a:ea typeface="宋体" charset="0"/>
                          <a:cs typeface="宋体" charset="0"/>
                        </a:rPr>
                        <a:t>ua</a:t>
                      </a:r>
                      <a:r>
                        <a:rPr lang="en-US" sz="1600" kern="100" dirty="0">
                          <a:effectLst/>
                          <a:latin typeface="+mj-lt"/>
                          <a:ea typeface="宋体" charset="0"/>
                          <a:cs typeface="宋体" charset="0"/>
                        </a:rPr>
                        <a:t>’:~Windows]</a:t>
                      </a:r>
                      <a:endParaRPr lang="zh-CN" sz="1600" kern="100" dirty="0">
                        <a:effectLst/>
                        <a:latin typeface="+mj-lt"/>
                        <a:ea typeface="宋体" charset="0"/>
                        <a:cs typeface="宋体" charset="0"/>
                      </a:endParaRPr>
                    </a:p>
                  </a:txBody>
                  <a:tcPr marL="82564" marR="82564" marT="0" marB="0" anchor="ctr"/>
                </a:tc>
                <a:tc>
                  <a:txBody>
                    <a:bodyPr/>
                    <a:lstStyle/>
                    <a:p>
                      <a:pPr algn="l">
                        <a:lnSpc>
                          <a:spcPct val="100000"/>
                        </a:lnSpc>
                        <a:spcBef>
                          <a:spcPts val="0"/>
                        </a:spcBef>
                        <a:spcAft>
                          <a:spcPts val="0"/>
                        </a:spcAft>
                      </a:pPr>
                      <a:r>
                        <a:rPr lang="zh-CN" sz="1600" kern="100" dirty="0">
                          <a:effectLst/>
                          <a:latin typeface="+mj-lt"/>
                          <a:ea typeface="宋体" charset="0"/>
                          <a:cs typeface="宋体" charset="0"/>
                        </a:rPr>
                        <a:t>维度值是否匹配子字符串</a:t>
                      </a:r>
                      <a:endParaRPr lang="zh-CN" sz="1600" kern="100" dirty="0">
                        <a:effectLst/>
                        <a:latin typeface="+mj-lt"/>
                        <a:ea typeface="宋体" charset="0"/>
                        <a:cs typeface="宋体" charset="0"/>
                      </a:endParaRPr>
                    </a:p>
                  </a:txBody>
                  <a:tcPr marL="82564" marR="82564" marT="0" marB="0" anchor="ctr"/>
                </a:tc>
              </a:tr>
            </a:tbl>
          </a:graphicData>
        </a:graphic>
      </p:graphicFrame>
      <p:sp>
        <p:nvSpPr>
          <p:cNvPr id="2" name="文本框 1"/>
          <p:cNvSpPr txBox="1"/>
          <p:nvPr/>
        </p:nvSpPr>
        <p:spPr>
          <a:xfrm>
            <a:off x="3291901" y="4674736"/>
            <a:ext cx="2627086" cy="307777"/>
          </a:xfrm>
          <a:prstGeom prst="rect">
            <a:avLst/>
          </a:prstGeom>
          <a:noFill/>
        </p:spPr>
        <p:txBody>
          <a:bodyPr wrap="square" rtlCol="0">
            <a:spAutoFit/>
          </a:bodyPr>
          <a:lstStyle/>
          <a:p>
            <a:pPr algn="ctr"/>
            <a:r>
              <a:rPr lang="zh-CN" altLang="en-US" sz="1400" dirty="0" smtClean="0">
                <a:latin typeface="微软雅黑" panose="020B0503020204020204" pitchFamily="34" charset="-122"/>
                <a:ea typeface="微软雅黑" panose="020B0503020204020204" pitchFamily="34" charset="-122"/>
              </a:rPr>
              <a:t>表</a:t>
            </a:r>
            <a:r>
              <a:rPr lang="en-US" altLang="zh-CN" sz="1400" dirty="0" smtClean="0">
                <a:latin typeface="微软雅黑" panose="020B0503020204020204" pitchFamily="34" charset="-122"/>
                <a:ea typeface="微软雅黑" panose="020B0503020204020204" pitchFamily="34" charset="-122"/>
              </a:rPr>
              <a:t>a</a:t>
            </a:r>
            <a:r>
              <a:rPr lang="zh-CN" altLang="en-US" sz="1400" dirty="0" smtClean="0">
                <a:latin typeface="微软雅黑" panose="020B0503020204020204" pitchFamily="34" charset="-122"/>
                <a:ea typeface="微软雅黑" panose="020B0503020204020204" pitchFamily="34" charset="-122"/>
              </a:rPr>
              <a:t>：处理空间运算符解析</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09321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en-US" altLang="zh-CN" sz="1400" b="1" spc="200" dirty="0" err="1" smtClean="0">
                <a:latin typeface="微软雅黑"/>
                <a:ea typeface="微软雅黑"/>
                <a:cs typeface="微软雅黑"/>
              </a:rPr>
              <a:t>care_tag</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8232095" cy="3874046"/>
          </a:xfrm>
        </p:spPr>
        <p:txBody>
          <a:bodyPr>
            <a:noAutofit/>
          </a:bodyPr>
          <a:lstStyle/>
          <a:p>
            <a:pPr marL="0" indent="0">
              <a:spcAft>
                <a:spcPts val="600"/>
              </a:spcAft>
              <a:buSzPct val="120000"/>
              <a:buNone/>
            </a:pPr>
            <a:r>
              <a:rPr kumimoji="1" lang="en-US" altLang="zh-CN" sz="1800" dirty="0" err="1">
                <a:latin typeface="微软雅黑" panose="020B0503020204020204" pitchFamily="34" charset="-122"/>
                <a:ea typeface="微软雅黑" panose="020B0503020204020204" pitchFamily="34" charset="-122"/>
                <a:cs typeface="宋体" charset="0"/>
              </a:rPr>
              <a:t>c</a:t>
            </a:r>
            <a:r>
              <a:rPr kumimoji="1" lang="en-US" altLang="zh-CN" sz="1800" dirty="0" err="1" smtClean="0">
                <a:latin typeface="微软雅黑" panose="020B0503020204020204" pitchFamily="34" charset="-122"/>
                <a:ea typeface="微软雅黑" panose="020B0503020204020204" pitchFamily="34" charset="-122"/>
                <a:cs typeface="宋体" charset="0"/>
              </a:rPr>
              <a:t>are_tag</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处理空间通过丰富的运算规则实现了圈定制定流量区间的目的，但是过长的表达式组合使用起来极不容易理解，也不容易修改</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想象以下几百个策略需要修改同一个表达式</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因此，</a:t>
            </a:r>
            <a:r>
              <a:rPr kumimoji="1" lang="en-US" altLang="zh-CN" sz="1600" dirty="0" smtClean="0">
                <a:latin typeface="微软雅黑" panose="020B0503020204020204" pitchFamily="34" charset="-122"/>
                <a:ea typeface="微软雅黑" panose="020B0503020204020204" pitchFamily="34" charset="-122"/>
                <a:cs typeface="宋体" charset="0"/>
              </a:rPr>
              <a:t>anti</a:t>
            </a:r>
            <a:r>
              <a:rPr kumimoji="1" lang="zh-CN" altLang="en-US" sz="1600" dirty="0" smtClean="0">
                <a:latin typeface="微软雅黑" panose="020B0503020204020204" pitchFamily="34" charset="-122"/>
                <a:ea typeface="微软雅黑" panose="020B0503020204020204" pitchFamily="34" charset="-122"/>
                <a:cs typeface="宋体" charset="0"/>
              </a:rPr>
              <a:t>使用</a:t>
            </a:r>
            <a:r>
              <a:rPr kumimoji="1" lang="en-US" altLang="zh-CN" sz="1600" dirty="0" err="1" smtClean="0">
                <a:latin typeface="微软雅黑" panose="020B0503020204020204" pitchFamily="34" charset="-122"/>
                <a:ea typeface="微软雅黑" panose="020B0503020204020204" pitchFamily="34" charset="-122"/>
                <a:cs typeface="宋体" charset="0"/>
              </a:rPr>
              <a:t>care_tag</a:t>
            </a:r>
            <a:r>
              <a:rPr kumimoji="1" lang="zh-CN" altLang="en-US" sz="1600" dirty="0" smtClean="0">
                <a:latin typeface="微软雅黑" panose="020B0503020204020204" pitchFamily="34" charset="-122"/>
                <a:ea typeface="微软雅黑" panose="020B0503020204020204" pitchFamily="34" charset="-122"/>
                <a:cs typeface="宋体" charset="0"/>
              </a:rPr>
              <a:t>来代替长的表达式组合。</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比如图</a:t>
            </a:r>
            <a:r>
              <a:rPr kumimoji="1" lang="en-US" altLang="zh-CN" sz="1200" dirty="0" smtClean="0">
                <a:latin typeface="微软雅黑" panose="020B0503020204020204" pitchFamily="34" charset="-122"/>
                <a:ea typeface="微软雅黑" panose="020B0503020204020204" pitchFamily="34" charset="-122"/>
                <a:cs typeface="宋体" charset="0"/>
              </a:rPr>
              <a:t>a</a:t>
            </a:r>
            <a:r>
              <a:rPr kumimoji="1" lang="zh-CN" altLang="en-US" sz="1200" dirty="0" smtClean="0">
                <a:latin typeface="微软雅黑" panose="020B0503020204020204" pitchFamily="34" charset="-122"/>
                <a:ea typeface="微软雅黑" panose="020B0503020204020204" pitchFamily="34" charset="-122"/>
                <a:cs typeface="宋体" charset="0"/>
              </a:rPr>
              <a:t>中的例子，在实际应用中等号左边与右边是等价的</a:t>
            </a:r>
            <a:endParaRPr kumimoji="1" lang="en-US" altLang="zh-CN" sz="1200" dirty="0">
              <a:latin typeface="微软雅黑" panose="020B0503020204020204" pitchFamily="34" charset="-122"/>
              <a:ea typeface="微软雅黑" panose="020B0503020204020204" pitchFamily="34" charset="-122"/>
              <a:cs typeface="宋体" charset="0"/>
            </a:endParaRPr>
          </a:p>
        </p:txBody>
      </p:sp>
      <p:pic>
        <p:nvPicPr>
          <p:cNvPr id="3" name="图片 2"/>
          <p:cNvPicPr>
            <a:picLocks noChangeAspect="1"/>
          </p:cNvPicPr>
          <p:nvPr/>
        </p:nvPicPr>
        <p:blipFill>
          <a:blip r:embed="rId2"/>
          <a:stretch>
            <a:fillRect/>
          </a:stretch>
        </p:blipFill>
        <p:spPr>
          <a:xfrm>
            <a:off x="2086313" y="2731564"/>
            <a:ext cx="5019675" cy="704850"/>
          </a:xfrm>
          <a:prstGeom prst="rect">
            <a:avLst/>
          </a:prstGeom>
        </p:spPr>
      </p:pic>
      <p:sp>
        <p:nvSpPr>
          <p:cNvPr id="5" name="文本框 4"/>
          <p:cNvSpPr txBox="1"/>
          <p:nvPr/>
        </p:nvSpPr>
        <p:spPr>
          <a:xfrm>
            <a:off x="3319801" y="3436414"/>
            <a:ext cx="2552700" cy="276999"/>
          </a:xfrm>
          <a:prstGeom prst="rect">
            <a:avLst/>
          </a:prstGeom>
          <a:noFill/>
        </p:spPr>
        <p:txBody>
          <a:bodyPr wrap="square" rtlCol="0">
            <a:spAutoFit/>
          </a:bodyPr>
          <a:lstStyle/>
          <a:p>
            <a:pPr algn="ctr"/>
            <a:r>
              <a:rPr lang="zh-CN" altLang="en-US" sz="1200" dirty="0" smtClean="0">
                <a:latin typeface="+mn-ea"/>
              </a:rPr>
              <a:t>图</a:t>
            </a:r>
            <a:r>
              <a:rPr lang="en-US" altLang="zh-CN" sz="1200" dirty="0" smtClean="0">
                <a:latin typeface="+mn-ea"/>
              </a:rPr>
              <a:t>a: </a:t>
            </a:r>
            <a:r>
              <a:rPr lang="en-US" altLang="zh-CN" sz="1200" dirty="0" err="1" smtClean="0">
                <a:latin typeface="+mn-ea"/>
              </a:rPr>
              <a:t>care_tag</a:t>
            </a:r>
            <a:r>
              <a:rPr lang="zh-CN" altLang="en-US" sz="1200" dirty="0" smtClean="0">
                <a:latin typeface="+mn-ea"/>
              </a:rPr>
              <a:t>示例</a:t>
            </a:r>
            <a:endParaRPr lang="zh-CN" altLang="en-US" sz="1200" dirty="0">
              <a:latin typeface="+mn-ea"/>
            </a:endParaRPr>
          </a:p>
        </p:txBody>
      </p:sp>
      <p:sp>
        <p:nvSpPr>
          <p:cNvPr id="7" name="文本框 6"/>
          <p:cNvSpPr txBox="1"/>
          <p:nvPr/>
        </p:nvSpPr>
        <p:spPr>
          <a:xfrm>
            <a:off x="5613738" y="3917988"/>
            <a:ext cx="3098462" cy="307777"/>
          </a:xfrm>
          <a:prstGeom prst="rect">
            <a:avLst/>
          </a:prstGeom>
          <a:noFill/>
        </p:spPr>
        <p:txBody>
          <a:bodyPr wrap="square" rtlCol="0">
            <a:spAutoFit/>
          </a:bodyPr>
          <a:lstStyle/>
          <a:p>
            <a:pPr algn="ctr"/>
            <a:r>
              <a:rPr lang="en-US" altLang="zh-CN" sz="1400" dirty="0"/>
              <a:t>[#</a:t>
            </a:r>
            <a:r>
              <a:rPr lang="en-US" altLang="zh-CN" sz="1400" dirty="0" err="1"/>
              <a:t>SearchClick</a:t>
            </a:r>
            <a:r>
              <a:rPr lang="en-US" altLang="zh-CN" sz="1400" dirty="0"/>
              <a:t>][#Wise</a:t>
            </a:r>
            <a:r>
              <a:rPr lang="en-US" altLang="zh-CN" sz="1400" dirty="0" smtClean="0"/>
              <a:t>][#</a:t>
            </a:r>
            <a:r>
              <a:rPr lang="en-US" altLang="zh-CN" sz="1400" dirty="0" err="1" smtClean="0"/>
              <a:t>ValidBaiduid</a:t>
            </a:r>
            <a:r>
              <a:rPr lang="en-US" altLang="zh-CN" sz="1400" dirty="0"/>
              <a:t>]</a:t>
            </a:r>
            <a:endParaRPr lang="zh-CN" altLang="en-US" sz="1400" dirty="0"/>
          </a:p>
        </p:txBody>
      </p:sp>
      <p:sp>
        <p:nvSpPr>
          <p:cNvPr id="9" name="文本框 8"/>
          <p:cNvSpPr txBox="1"/>
          <p:nvPr/>
        </p:nvSpPr>
        <p:spPr>
          <a:xfrm>
            <a:off x="359282" y="3917987"/>
            <a:ext cx="4746118" cy="307777"/>
          </a:xfrm>
          <a:prstGeom prst="rect">
            <a:avLst/>
          </a:prstGeom>
          <a:noFill/>
        </p:spPr>
        <p:txBody>
          <a:bodyPr wrap="square" rtlCol="0">
            <a:spAutoFit/>
          </a:bodyPr>
          <a:lstStyle/>
          <a:p>
            <a:pPr algn="ctr"/>
            <a:r>
              <a:rPr lang="it-IT" altLang="zh-CN" sz="1400" dirty="0"/>
              <a:t>['accessid':='1','29','31','37'] ['is_wireless':='1']</a:t>
            </a:r>
            <a:r>
              <a:rPr lang="en-US" altLang="zh-CN" sz="1400" dirty="0"/>
              <a:t> ['</a:t>
            </a:r>
            <a:r>
              <a:rPr lang="en-US" altLang="zh-CN" sz="1400" dirty="0" err="1"/>
              <a:t>baiduid'VA</a:t>
            </a:r>
            <a:r>
              <a:rPr lang="en-US" altLang="zh-CN" sz="1400" dirty="0"/>
              <a:t>]</a:t>
            </a:r>
            <a:endParaRPr lang="zh-CN" altLang="en-US" sz="1400" dirty="0"/>
          </a:p>
        </p:txBody>
      </p:sp>
      <p:cxnSp>
        <p:nvCxnSpPr>
          <p:cNvPr id="11" name="直接箭头连接符 10"/>
          <p:cNvCxnSpPr>
            <a:stCxn id="9" idx="3"/>
            <a:endCxn id="7" idx="1"/>
          </p:cNvCxnSpPr>
          <p:nvPr/>
        </p:nvCxnSpPr>
        <p:spPr>
          <a:xfrm>
            <a:off x="5105400" y="4071876"/>
            <a:ext cx="508338" cy="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3" name="文本框 12"/>
          <p:cNvSpPr txBox="1"/>
          <p:nvPr/>
        </p:nvSpPr>
        <p:spPr>
          <a:xfrm>
            <a:off x="3319800" y="4274282"/>
            <a:ext cx="2552700" cy="276999"/>
          </a:xfrm>
          <a:prstGeom prst="rect">
            <a:avLst/>
          </a:prstGeom>
          <a:noFill/>
        </p:spPr>
        <p:txBody>
          <a:bodyPr wrap="square" rtlCol="0">
            <a:spAutoFit/>
          </a:bodyPr>
          <a:lstStyle/>
          <a:p>
            <a:pPr algn="ctr"/>
            <a:r>
              <a:rPr lang="zh-CN" altLang="en-US" sz="1200" dirty="0" smtClean="0">
                <a:latin typeface="+mn-ea"/>
              </a:rPr>
              <a:t>图</a:t>
            </a:r>
            <a:r>
              <a:rPr lang="en-US" altLang="zh-CN" sz="1200" dirty="0">
                <a:latin typeface="+mn-ea"/>
              </a:rPr>
              <a:t>b</a:t>
            </a:r>
            <a:r>
              <a:rPr lang="en-US" altLang="zh-CN" sz="1200" dirty="0" smtClean="0">
                <a:latin typeface="+mn-ea"/>
              </a:rPr>
              <a:t>: </a:t>
            </a:r>
            <a:r>
              <a:rPr lang="zh-CN" altLang="en-US" sz="1200" dirty="0" smtClean="0">
                <a:latin typeface="+mn-ea"/>
              </a:rPr>
              <a:t>转换示例</a:t>
            </a:r>
            <a:endParaRPr lang="zh-CN" altLang="en-US" sz="1200" dirty="0">
              <a:latin typeface="+mn-ea"/>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340705"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a:latin typeface="微软雅黑"/>
                <a:ea typeface="微软雅黑"/>
                <a:cs typeface="微软雅黑"/>
              </a:rPr>
              <a:t>段</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8170409" cy="3993316"/>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段</a:t>
            </a:r>
            <a:r>
              <a:rPr kumimoji="1" lang="en-US" altLang="zh-CN" sz="1800" dirty="0" smtClean="0">
                <a:latin typeface="微软雅黑" panose="020B0503020204020204" pitchFamily="34" charset="-122"/>
                <a:ea typeface="微软雅黑" panose="020B0503020204020204" pitchFamily="34" charset="-122"/>
                <a:cs typeface="宋体" charset="0"/>
              </a:rPr>
              <a:t>(Window)</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统计</a:t>
            </a:r>
            <a:r>
              <a:rPr kumimoji="1" lang="zh-CN" altLang="en-US" sz="1600" dirty="0">
                <a:latin typeface="微软雅黑" panose="020B0503020204020204" pitchFamily="34" charset="-122"/>
                <a:ea typeface="微软雅黑" panose="020B0503020204020204" pitchFamily="34" charset="-122"/>
                <a:cs typeface="宋体" charset="0"/>
              </a:rPr>
              <a:t>特征的计算区间</a:t>
            </a:r>
            <a:r>
              <a:rPr kumimoji="1" lang="zh-CN" altLang="en-US" sz="1600" dirty="0" smtClean="0">
                <a:latin typeface="微软雅黑" panose="020B0503020204020204" pitchFamily="34" charset="-122"/>
                <a:ea typeface="微软雅黑" panose="020B0503020204020204" pitchFamily="34" charset="-122"/>
                <a:cs typeface="宋体" charset="0"/>
              </a:rPr>
              <a:t>，分为时间</a:t>
            </a:r>
            <a:r>
              <a:rPr kumimoji="1" lang="zh-CN" altLang="en-US" sz="1600" dirty="0">
                <a:latin typeface="微软雅黑" panose="020B0503020204020204" pitchFamily="34" charset="-122"/>
                <a:ea typeface="微软雅黑" panose="020B0503020204020204" pitchFamily="34" charset="-122"/>
                <a:cs typeface="宋体" charset="0"/>
              </a:rPr>
              <a:t>（</a:t>
            </a:r>
            <a:r>
              <a:rPr kumimoji="1" lang="en-US" altLang="zh-CN" sz="1600" dirty="0">
                <a:latin typeface="微软雅黑" panose="020B0503020204020204" pitchFamily="34" charset="-122"/>
                <a:ea typeface="微软雅黑" panose="020B0503020204020204" pitchFamily="34" charset="-122"/>
                <a:cs typeface="宋体" charset="0"/>
              </a:rPr>
              <a:t>time</a:t>
            </a:r>
            <a:r>
              <a:rPr kumimoji="1" lang="zh-CN" altLang="en-US" sz="1600" dirty="0">
                <a:latin typeface="微软雅黑" panose="020B0503020204020204" pitchFamily="34" charset="-122"/>
                <a:ea typeface="微软雅黑" panose="020B0503020204020204" pitchFamily="34" charset="-122"/>
                <a:cs typeface="宋体" charset="0"/>
              </a:rPr>
              <a:t>）和流量（</a:t>
            </a:r>
            <a:r>
              <a:rPr kumimoji="1" lang="en-US" altLang="zh-CN" sz="1600" dirty="0" err="1">
                <a:latin typeface="微软雅黑" panose="020B0503020204020204" pitchFamily="34" charset="-122"/>
                <a:ea typeface="微软雅黑" panose="020B0503020204020204" pitchFamily="34" charset="-122"/>
                <a:cs typeface="宋体" charset="0"/>
              </a:rPr>
              <a:t>pv</a:t>
            </a:r>
            <a:r>
              <a:rPr kumimoji="1" lang="zh-CN" altLang="en-US" sz="1600" dirty="0" smtClean="0">
                <a:latin typeface="微软雅黑" panose="020B0503020204020204" pitchFamily="34" charset="-122"/>
                <a:ea typeface="微软雅黑" panose="020B0503020204020204" pitchFamily="34" charset="-122"/>
                <a:cs typeface="宋体" charset="0"/>
              </a:rPr>
              <a:t>）这两种类型。举例如下：</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流量：连续</a:t>
            </a:r>
            <a:r>
              <a:rPr kumimoji="1" lang="en-US" altLang="zh-CN" sz="1400" dirty="0" smtClean="0">
                <a:latin typeface="微软雅黑" panose="020B0503020204020204" pitchFamily="34" charset="-122"/>
                <a:ea typeface="微软雅黑" panose="020B0503020204020204" pitchFamily="34" charset="-122"/>
                <a:cs typeface="宋体" charset="0"/>
              </a:rPr>
              <a:t>10000</a:t>
            </a:r>
            <a:r>
              <a:rPr kumimoji="1" lang="zh-CN" altLang="en-US" sz="1400" dirty="0" smtClean="0">
                <a:latin typeface="微软雅黑" panose="020B0503020204020204" pitchFamily="34" charset="-122"/>
                <a:ea typeface="微软雅黑" panose="020B0503020204020204" pitchFamily="34" charset="-122"/>
                <a:cs typeface="宋体" charset="0"/>
              </a:rPr>
              <a:t>条日志</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时间：一天内的日志</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段长：</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统计窗口的长度</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步</a:t>
            </a:r>
            <a:r>
              <a:rPr kumimoji="1" lang="en-US" altLang="zh-CN" sz="1800" dirty="0" smtClean="0">
                <a:latin typeface="微软雅黑" panose="020B0503020204020204" pitchFamily="34" charset="-122"/>
                <a:ea typeface="微软雅黑" panose="020B0503020204020204" pitchFamily="34" charset="-122"/>
                <a:cs typeface="宋体" charset="0"/>
              </a:rPr>
              <a:t>(Step)</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一</a:t>
            </a:r>
            <a:r>
              <a:rPr kumimoji="1" lang="zh-CN" altLang="en-US" sz="1600" dirty="0" smtClean="0">
                <a:latin typeface="微软雅黑" panose="020B0503020204020204" pitchFamily="34" charset="-122"/>
                <a:ea typeface="微软雅黑" panose="020B0503020204020204" pitchFamily="34" charset="-122"/>
                <a:cs typeface="宋体" charset="0"/>
              </a:rPr>
              <a:t>个段可以分成</a:t>
            </a:r>
            <a:r>
              <a:rPr kumimoji="1" lang="en-US" altLang="zh-CN" sz="1600" dirty="0" smtClean="0">
                <a:latin typeface="微软雅黑" panose="020B0503020204020204" pitchFamily="34" charset="-122"/>
                <a:ea typeface="微软雅黑" panose="020B0503020204020204" pitchFamily="34" charset="-122"/>
                <a:cs typeface="宋体" charset="0"/>
              </a:rPr>
              <a:t>N</a:t>
            </a:r>
            <a:r>
              <a:rPr kumimoji="1" lang="zh-CN" altLang="en-US" sz="1600" dirty="0" smtClean="0">
                <a:latin typeface="微软雅黑" panose="020B0503020204020204" pitchFamily="34" charset="-122"/>
                <a:ea typeface="微软雅黑" panose="020B0503020204020204" pitchFamily="34" charset="-122"/>
                <a:cs typeface="宋体" charset="0"/>
              </a:rPr>
              <a:t>个子区间</a:t>
            </a:r>
            <a:r>
              <a:rPr kumimoji="1" lang="en-US" altLang="zh-CN" sz="1600" dirty="0" smtClean="0">
                <a:latin typeface="微软雅黑" panose="020B0503020204020204" pitchFamily="34" charset="-122"/>
                <a:ea typeface="微软雅黑" panose="020B0503020204020204" pitchFamily="34" charset="-122"/>
                <a:cs typeface="宋体" charset="0"/>
              </a:rPr>
              <a:t>(N &gt;= 1)</a:t>
            </a:r>
            <a:r>
              <a:rPr kumimoji="1" lang="zh-CN" altLang="en-US" sz="1600" dirty="0" smtClean="0">
                <a:latin typeface="微软雅黑" panose="020B0503020204020204" pitchFamily="34" charset="-122"/>
                <a:ea typeface="微软雅黑" panose="020B0503020204020204" pitchFamily="34" charset="-122"/>
                <a:cs typeface="宋体" charset="0"/>
              </a:rPr>
              <a:t>，窗口每次向前只移动一个子区间，这个子区间就叫做步</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步的长度叫做步长，默认为段长的四分之一</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zh-CN" altLang="en-US" sz="1600" dirty="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340705"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a:latin typeface="微软雅黑"/>
                <a:ea typeface="微软雅黑"/>
                <a:cs typeface="微软雅黑"/>
              </a:rPr>
              <a:t>段</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8170409" cy="3540218"/>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跳</a:t>
            </a:r>
            <a:r>
              <a:rPr kumimoji="1" lang="zh-CN" altLang="en-US" sz="1800" dirty="0">
                <a:latin typeface="微软雅黑" panose="020B0503020204020204" pitchFamily="34" charset="-122"/>
                <a:ea typeface="微软雅黑" panose="020B0503020204020204" pitchFamily="34" charset="-122"/>
                <a:cs typeface="宋体" charset="0"/>
              </a:rPr>
              <a:t>段与滑段：</a:t>
            </a:r>
            <a:endParaRPr kumimoji="1" lang="zh-CN" altLang="en-US" sz="18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跳</a:t>
            </a:r>
            <a:r>
              <a:rPr kumimoji="1" lang="zh-CN" altLang="en-US" sz="1600" dirty="0" smtClean="0">
                <a:latin typeface="微软雅黑" panose="020B0503020204020204" pitchFamily="34" charset="-122"/>
                <a:ea typeface="微软雅黑" panose="020B0503020204020204" pitchFamily="34" charset="-122"/>
                <a:cs typeface="宋体" charset="0"/>
              </a:rPr>
              <a:t>段：步长等于段长，段</a:t>
            </a:r>
            <a:r>
              <a:rPr kumimoji="1" lang="zh-CN" altLang="en-US" sz="1600" dirty="0">
                <a:latin typeface="微软雅黑" panose="020B0503020204020204" pitchFamily="34" charset="-122"/>
                <a:ea typeface="微软雅黑" panose="020B0503020204020204" pitchFamily="34" charset="-122"/>
                <a:cs typeface="宋体" charset="0"/>
              </a:rPr>
              <a:t>与段之间不重叠，下一段开始即为上一段终点</a:t>
            </a:r>
            <a:r>
              <a:rPr kumimoji="1" lang="zh-CN" altLang="en-US" sz="1600" dirty="0" smtClean="0">
                <a:latin typeface="微软雅黑" panose="020B0503020204020204" pitchFamily="34" charset="-122"/>
                <a:ea typeface="微软雅黑" panose="020B0503020204020204" pitchFamily="34" charset="-122"/>
                <a:cs typeface="宋体" charset="0"/>
              </a:rPr>
              <a:t>。见图</a:t>
            </a:r>
            <a:r>
              <a:rPr kumimoji="1" lang="en-US" altLang="zh-CN" sz="1600" dirty="0" smtClean="0">
                <a:latin typeface="微软雅黑" panose="020B0503020204020204" pitchFamily="34" charset="-122"/>
                <a:ea typeface="微软雅黑" panose="020B0503020204020204" pitchFamily="34" charset="-122"/>
                <a:cs typeface="宋体" charset="0"/>
              </a:rPr>
              <a:t>a</a:t>
            </a:r>
            <a:endParaRPr kumimoji="1" lang="zh-CN" altLang="en-US"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滑</a:t>
            </a:r>
            <a:r>
              <a:rPr kumimoji="1" lang="zh-CN" altLang="en-US" sz="1600" dirty="0" smtClean="0">
                <a:latin typeface="微软雅黑" panose="020B0503020204020204" pitchFamily="34" charset="-122"/>
                <a:ea typeface="微软雅黑" panose="020B0503020204020204" pitchFamily="34" charset="-122"/>
                <a:cs typeface="宋体" charset="0"/>
              </a:rPr>
              <a:t>段：步长小于段长，单个段中包含多个步，下一段与上一段存在一部分交集。见图</a:t>
            </a:r>
            <a:r>
              <a:rPr kumimoji="1" lang="en-US" altLang="zh-CN" sz="1600" dirty="0" smtClean="0">
                <a:latin typeface="微软雅黑" panose="020B0503020204020204" pitchFamily="34" charset="-122"/>
                <a:ea typeface="微软雅黑" panose="020B0503020204020204" pitchFamily="34" charset="-122"/>
                <a:cs typeface="宋体" charset="0"/>
              </a:rPr>
              <a:t>b</a:t>
            </a:r>
            <a:endParaRPr kumimoji="1" lang="zh-CN" altLang="en-US" sz="1600" dirty="0">
              <a:latin typeface="微软雅黑" panose="020B0503020204020204" pitchFamily="34" charset="-122"/>
              <a:ea typeface="微软雅黑" panose="020B0503020204020204" pitchFamily="34" charset="-122"/>
              <a:cs typeface="宋体" charset="0"/>
            </a:endParaRPr>
          </a:p>
        </p:txBody>
      </p:sp>
      <p:sp>
        <p:nvSpPr>
          <p:cNvPr id="2" name="文本框 1"/>
          <p:cNvSpPr txBox="1"/>
          <p:nvPr/>
        </p:nvSpPr>
        <p:spPr>
          <a:xfrm>
            <a:off x="1156946" y="4319271"/>
            <a:ext cx="2557976" cy="276999"/>
          </a:xfrm>
          <a:prstGeom prst="rect">
            <a:avLst/>
          </a:prstGeom>
          <a:noFill/>
        </p:spPr>
        <p:txBody>
          <a:bodyPr wrap="square" rtlCol="0">
            <a:spAutoFit/>
          </a:bodyPr>
          <a:lstStyle/>
          <a:p>
            <a:pPr algn="ctr"/>
            <a:r>
              <a:rPr lang="zh-CN" altLang="en-US" sz="1200" dirty="0" smtClean="0">
                <a:latin typeface="+mn-ea"/>
              </a:rPr>
              <a:t>图</a:t>
            </a:r>
            <a:r>
              <a:rPr lang="en-US" altLang="zh-CN" sz="1200" dirty="0" smtClean="0">
                <a:latin typeface="+mn-ea"/>
              </a:rPr>
              <a:t>a</a:t>
            </a:r>
            <a:r>
              <a:rPr lang="zh-CN" altLang="en-US" sz="1200" dirty="0" smtClean="0">
                <a:latin typeface="+mn-ea"/>
              </a:rPr>
              <a:t>：窗口以跳段方式移动</a:t>
            </a:r>
            <a:endParaRPr lang="zh-CN" altLang="en-US" sz="1200" dirty="0">
              <a:latin typeface="+mn-ea"/>
            </a:endParaRPr>
          </a:p>
        </p:txBody>
      </p:sp>
      <p:sp>
        <p:nvSpPr>
          <p:cNvPr id="12" name="文本框 11"/>
          <p:cNvSpPr txBox="1"/>
          <p:nvPr/>
        </p:nvSpPr>
        <p:spPr>
          <a:xfrm>
            <a:off x="4893327" y="4319271"/>
            <a:ext cx="2696836" cy="276999"/>
          </a:xfrm>
          <a:prstGeom prst="rect">
            <a:avLst/>
          </a:prstGeom>
          <a:noFill/>
        </p:spPr>
        <p:txBody>
          <a:bodyPr wrap="square" rtlCol="0">
            <a:spAutoFit/>
          </a:bodyPr>
          <a:lstStyle/>
          <a:p>
            <a:pPr algn="ctr"/>
            <a:r>
              <a:rPr lang="zh-CN" altLang="en-US" sz="1200" dirty="0" smtClean="0">
                <a:latin typeface="+mn-ea"/>
              </a:rPr>
              <a:t>图</a:t>
            </a:r>
            <a:r>
              <a:rPr lang="en-US" altLang="zh-CN" sz="1200" dirty="0">
                <a:latin typeface="+mn-ea"/>
              </a:rPr>
              <a:t>b</a:t>
            </a:r>
            <a:r>
              <a:rPr lang="zh-CN" altLang="en-US" sz="1200" dirty="0">
                <a:latin typeface="+mn-ea"/>
              </a:rPr>
              <a:t>：窗口</a:t>
            </a:r>
            <a:r>
              <a:rPr lang="zh-CN" altLang="en-US" sz="1200" dirty="0" smtClean="0">
                <a:latin typeface="+mn-ea"/>
              </a:rPr>
              <a:t>以滑段</a:t>
            </a:r>
            <a:r>
              <a:rPr lang="zh-CN" altLang="en-US" sz="1200" dirty="0">
                <a:latin typeface="+mn-ea"/>
              </a:rPr>
              <a:t>方式移动</a:t>
            </a:r>
            <a:endParaRPr lang="zh-CN" altLang="en-US" sz="1200" dirty="0">
              <a:latin typeface="+mn-ea"/>
            </a:endParaRPr>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0130" y="2809168"/>
            <a:ext cx="2883230" cy="1557874"/>
          </a:xfrm>
          <a:prstGeom prst="rect">
            <a:avLst/>
          </a:prstGeom>
        </p:spPr>
      </p:pic>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812" y="2809168"/>
            <a:ext cx="3432244" cy="1594179"/>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340705"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a:latin typeface="微软雅黑"/>
                <a:ea typeface="微软雅黑"/>
                <a:cs typeface="微软雅黑"/>
              </a:rPr>
              <a:t>段</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8170409" cy="3874046"/>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一些问题</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段首</a:t>
            </a:r>
            <a:r>
              <a:rPr kumimoji="1" lang="zh-CN" altLang="en-US" sz="1600" dirty="0">
                <a:latin typeface="微软雅黑" panose="020B0503020204020204" pitchFamily="34" charset="-122"/>
                <a:ea typeface="微软雅黑" panose="020B0503020204020204" pitchFamily="34" charset="-122"/>
                <a:cs typeface="宋体" charset="0"/>
              </a:rPr>
              <a:t>漏</a:t>
            </a:r>
            <a:r>
              <a:rPr kumimoji="1" lang="zh-CN" altLang="en-US" sz="1600" dirty="0" smtClean="0">
                <a:latin typeface="微软雅黑" panose="020B0503020204020204" pitchFamily="34" charset="-122"/>
                <a:ea typeface="微软雅黑" panose="020B0503020204020204" pitchFamily="34" charset="-122"/>
                <a:cs typeface="宋体" charset="0"/>
              </a:rPr>
              <a:t>过：某些</a:t>
            </a:r>
            <a:r>
              <a:rPr kumimoji="1" lang="zh-CN" altLang="en-US" sz="1600" dirty="0">
                <a:latin typeface="微软雅黑" panose="020B0503020204020204" pitchFamily="34" charset="-122"/>
                <a:ea typeface="微软雅黑" panose="020B0503020204020204" pitchFamily="34" charset="-122"/>
                <a:cs typeface="宋体" charset="0"/>
              </a:rPr>
              <a:t>策略会导致在位于段首的日志产生漏过现象。比如必须到达累积阈值特征才生效，那么累积阈值之前的就都不过滤，会产生漏过现象。 </a:t>
            </a:r>
            <a:endParaRPr kumimoji="1" lang="zh-CN" altLang="en-US" sz="1600" dirty="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滑段和段</a:t>
            </a:r>
            <a:r>
              <a:rPr kumimoji="1" lang="zh-CN" altLang="en-US" sz="1400" dirty="0">
                <a:latin typeface="微软雅黑" panose="020B0503020204020204" pitchFamily="34" charset="-122"/>
                <a:ea typeface="微软雅黑" panose="020B0503020204020204" pitchFamily="34" charset="-122"/>
                <a:cs typeface="宋体" charset="0"/>
              </a:rPr>
              <a:t>上限自动</a:t>
            </a:r>
            <a:r>
              <a:rPr kumimoji="1" lang="zh-CN" altLang="en-US" sz="1400" dirty="0" smtClean="0">
                <a:latin typeface="微软雅黑" panose="020B0503020204020204" pitchFamily="34" charset="-122"/>
                <a:ea typeface="微软雅黑" panose="020B0503020204020204" pitchFamily="34" charset="-122"/>
                <a:cs typeface="宋体" charset="0"/>
              </a:rPr>
              <a:t>黑名单策略可以一定程度上缓解该问题</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endParaRPr kumimoji="1" lang="zh-CN" altLang="en-US" sz="14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株连</a:t>
            </a:r>
            <a:r>
              <a:rPr kumimoji="1" lang="zh-CN" altLang="en-US" sz="1600" dirty="0">
                <a:latin typeface="微软雅黑" panose="020B0503020204020204" pitchFamily="34" charset="-122"/>
                <a:ea typeface="微软雅黑" panose="020B0503020204020204" pitchFamily="34" charset="-122"/>
                <a:cs typeface="宋体" charset="0"/>
              </a:rPr>
              <a:t>误</a:t>
            </a:r>
            <a:r>
              <a:rPr kumimoji="1" lang="zh-CN" altLang="en-US" sz="1600" dirty="0" smtClean="0">
                <a:latin typeface="微软雅黑" panose="020B0503020204020204" pitchFamily="34" charset="-122"/>
                <a:ea typeface="微软雅黑" panose="020B0503020204020204" pitchFamily="34" charset="-122"/>
                <a:cs typeface="宋体" charset="0"/>
              </a:rPr>
              <a:t>过：某些</a:t>
            </a:r>
            <a:r>
              <a:rPr kumimoji="1" lang="zh-CN" altLang="en-US" sz="1600" dirty="0">
                <a:latin typeface="微软雅黑" panose="020B0503020204020204" pitchFamily="34" charset="-122"/>
                <a:ea typeface="微软雅黑" panose="020B0503020204020204" pitchFamily="34" charset="-122"/>
                <a:cs typeface="宋体" charset="0"/>
              </a:rPr>
              <a:t>策略会导致在</a:t>
            </a:r>
            <a:r>
              <a:rPr kumimoji="1" lang="zh-CN" altLang="en-US" sz="1600" dirty="0" smtClean="0">
                <a:latin typeface="微软雅黑" panose="020B0503020204020204" pitchFamily="34" charset="-122"/>
                <a:ea typeface="微软雅黑" panose="020B0503020204020204" pitchFamily="34" charset="-122"/>
                <a:cs typeface="宋体" charset="0"/>
              </a:rPr>
              <a:t>位于超出阈值部分的</a:t>
            </a:r>
            <a:r>
              <a:rPr kumimoji="1" lang="zh-CN" altLang="en-US" sz="1600" dirty="0">
                <a:latin typeface="微软雅黑" panose="020B0503020204020204" pitchFamily="34" charset="-122"/>
                <a:ea typeface="微软雅黑" panose="020B0503020204020204" pitchFamily="34" charset="-122"/>
                <a:cs typeface="宋体" charset="0"/>
              </a:rPr>
              <a:t>日志产生误过现象</a:t>
            </a:r>
            <a:r>
              <a:rPr kumimoji="1" lang="zh-CN" altLang="en-US" sz="1600" dirty="0" smtClean="0">
                <a:latin typeface="微软雅黑" panose="020B0503020204020204" pitchFamily="34" charset="-122"/>
                <a:ea typeface="微软雅黑" panose="020B0503020204020204" pitchFamily="34" charset="-122"/>
                <a:cs typeface="宋体" charset="0"/>
              </a:rPr>
              <a:t>。比如段</a:t>
            </a:r>
            <a:r>
              <a:rPr kumimoji="1" lang="zh-CN" altLang="en-US" sz="1600" dirty="0">
                <a:latin typeface="微软雅黑" panose="020B0503020204020204" pitchFamily="34" charset="-122"/>
                <a:ea typeface="微软雅黑" panose="020B0503020204020204" pitchFamily="34" charset="-122"/>
                <a:cs typeface="宋体" charset="0"/>
              </a:rPr>
              <a:t>比例</a:t>
            </a:r>
            <a:r>
              <a:rPr kumimoji="1" lang="zh-CN" altLang="en-US" sz="1600" dirty="0" smtClean="0">
                <a:latin typeface="微软雅黑" panose="020B0503020204020204" pitchFamily="34" charset="-122"/>
                <a:ea typeface="微软雅黑" panose="020B0503020204020204" pitchFamily="34" charset="-122"/>
                <a:cs typeface="宋体" charset="0"/>
              </a:rPr>
              <a:t>策略，在段中某一部分超过阈值之后，</a:t>
            </a:r>
            <a:r>
              <a:rPr kumimoji="1" lang="zh-CN" altLang="en-US" sz="1600" dirty="0">
                <a:latin typeface="微软雅黑" panose="020B0503020204020204" pitchFamily="34" charset="-122"/>
                <a:ea typeface="微软雅黑" panose="020B0503020204020204" pitchFamily="34" charset="-122"/>
                <a:cs typeface="宋体" charset="0"/>
              </a:rPr>
              <a:t>则</a:t>
            </a:r>
            <a:r>
              <a:rPr kumimoji="1" lang="zh-CN" altLang="en-US" sz="1600" dirty="0" smtClean="0">
                <a:latin typeface="微软雅黑" panose="020B0503020204020204" pitchFamily="34" charset="-122"/>
                <a:ea typeface="微软雅黑" panose="020B0503020204020204" pitchFamily="34" charset="-122"/>
                <a:cs typeface="宋体" charset="0"/>
              </a:rPr>
              <a:t>位于该部分的日志会全部过滤</a:t>
            </a:r>
            <a:r>
              <a:rPr kumimoji="1" lang="zh-CN" altLang="en-US" sz="1600" dirty="0">
                <a:latin typeface="微软雅黑" panose="020B0503020204020204" pitchFamily="34" charset="-122"/>
                <a:ea typeface="微软雅黑" panose="020B0503020204020204" pitchFamily="34" charset="-122"/>
                <a:cs typeface="宋体" charset="0"/>
              </a:rPr>
              <a:t>，这就会产生误过现象。</a:t>
            </a:r>
            <a:endParaRPr kumimoji="1" lang="zh-CN" altLang="en-US" sz="16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endParaRPr kumimoji="1" lang="en-US" altLang="zh-CN" sz="1800" dirty="0" smtClean="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545890"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特征</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8170409" cy="3874046"/>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特征定义</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在反作弊的系统中，特征是从日志的某些维度中提取出来，用于</a:t>
            </a:r>
            <a:r>
              <a:rPr kumimoji="1" lang="zh-CN" altLang="en-US" sz="1600" dirty="0">
                <a:latin typeface="微软雅黑" panose="020B0503020204020204" pitchFamily="34" charset="-122"/>
                <a:ea typeface="微软雅黑" panose="020B0503020204020204" pitchFamily="34" charset="-122"/>
                <a:cs typeface="宋体" charset="0"/>
              </a:rPr>
              <a:t>区分一条日志作弊与否的</a:t>
            </a:r>
            <a:r>
              <a:rPr kumimoji="1" lang="zh-CN" altLang="en-US" sz="1600" dirty="0" smtClean="0">
                <a:latin typeface="微软雅黑" panose="020B0503020204020204" pitchFamily="34" charset="-122"/>
                <a:ea typeface="微软雅黑" panose="020B0503020204020204" pitchFamily="34" charset="-122"/>
                <a:cs typeface="宋体" charset="0"/>
              </a:rPr>
              <a:t>信息。</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8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特征分类</a:t>
            </a:r>
            <a:endParaRPr kumimoji="1" lang="en-US" altLang="zh-CN" sz="18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基本特征：基于单条日志采集的</a:t>
            </a:r>
            <a:r>
              <a:rPr kumimoji="1" lang="zh-CN" altLang="en-US" sz="1600" dirty="0" smtClean="0">
                <a:latin typeface="微软雅黑" panose="020B0503020204020204" pitchFamily="34" charset="-122"/>
                <a:ea typeface="微软雅黑" panose="020B0503020204020204" pitchFamily="34" charset="-122"/>
                <a:cs typeface="宋体" charset="0"/>
              </a:rPr>
              <a:t>特征。</a:t>
            </a:r>
            <a:endParaRPr kumimoji="1" lang="zh-CN" altLang="en-US" sz="1600" dirty="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400" dirty="0" err="1">
                <a:latin typeface="微软雅黑" panose="020B0503020204020204" pitchFamily="34" charset="-122"/>
                <a:ea typeface="微软雅黑" panose="020B0503020204020204" pitchFamily="34" charset="-122"/>
                <a:cs typeface="宋体" charset="0"/>
              </a:rPr>
              <a:t>baiduid</a:t>
            </a:r>
            <a:r>
              <a:rPr kumimoji="1" lang="zh-CN" altLang="en-US" sz="1400" dirty="0">
                <a:latin typeface="微软雅黑" panose="020B0503020204020204" pitchFamily="34" charset="-122"/>
                <a:ea typeface="微软雅黑" panose="020B0503020204020204" pitchFamily="34" charset="-122"/>
                <a:cs typeface="宋体" charset="0"/>
              </a:rPr>
              <a:t>新鲜</a:t>
            </a:r>
            <a:r>
              <a:rPr kumimoji="1" lang="zh-CN" altLang="en-US" sz="1400" dirty="0" smtClean="0">
                <a:latin typeface="微软雅黑" panose="020B0503020204020204" pitchFamily="34" charset="-122"/>
                <a:ea typeface="微软雅黑" panose="020B0503020204020204" pitchFamily="34" charset="-122"/>
                <a:cs typeface="宋体" charset="0"/>
              </a:rPr>
              <a:t>度、</a:t>
            </a:r>
            <a:r>
              <a:rPr kumimoji="1" lang="en-US" altLang="zh-CN" sz="1400" dirty="0" err="1" smtClean="0">
                <a:latin typeface="微软雅黑" panose="020B0503020204020204" pitchFamily="34" charset="-122"/>
                <a:ea typeface="微软雅黑" panose="020B0503020204020204" pitchFamily="34" charset="-122"/>
                <a:cs typeface="宋体" charset="0"/>
              </a:rPr>
              <a:t>ck</a:t>
            </a:r>
            <a:r>
              <a:rPr kumimoji="1" lang="zh-CN" altLang="en-US" sz="1400" dirty="0" smtClean="0">
                <a:latin typeface="微软雅黑" panose="020B0503020204020204" pitchFamily="34" charset="-122"/>
                <a:ea typeface="微软雅黑" panose="020B0503020204020204" pitchFamily="34" charset="-122"/>
                <a:cs typeface="宋体" charset="0"/>
              </a:rPr>
              <a:t>特征、点展时间差等</a:t>
            </a:r>
            <a:endParaRPr kumimoji="1" lang="zh-CN" altLang="en-US" sz="14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统计特征：基于多</a:t>
            </a:r>
            <a:r>
              <a:rPr kumimoji="1" lang="zh-CN" altLang="en-US" sz="1600" dirty="0" smtClean="0">
                <a:latin typeface="微软雅黑" panose="020B0503020204020204" pitchFamily="34" charset="-122"/>
                <a:ea typeface="微软雅黑" panose="020B0503020204020204" pitchFamily="34" charset="-122"/>
                <a:cs typeface="宋体" charset="0"/>
              </a:rPr>
              <a:t>条有序日志统计出的</a:t>
            </a:r>
            <a:r>
              <a:rPr kumimoji="1" lang="zh-CN" altLang="en-US" sz="1600" dirty="0">
                <a:latin typeface="微软雅黑" panose="020B0503020204020204" pitchFamily="34" charset="-122"/>
                <a:ea typeface="微软雅黑" panose="020B0503020204020204" pitchFamily="34" charset="-122"/>
                <a:cs typeface="宋体" charset="0"/>
              </a:rPr>
              <a:t>特征</a:t>
            </a:r>
            <a:r>
              <a:rPr kumimoji="1" lang="zh-CN" altLang="en-US" sz="1600" dirty="0" smtClean="0">
                <a:latin typeface="微软雅黑" panose="020B0503020204020204" pitchFamily="34" charset="-122"/>
                <a:ea typeface="微软雅黑" panose="020B0503020204020204" pitchFamily="34" charset="-122"/>
                <a:cs typeface="宋体" charset="0"/>
              </a:rPr>
              <a:t>。</a:t>
            </a:r>
            <a:endParaRPr kumimoji="1" lang="zh-CN" altLang="en-US" sz="1600" dirty="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数目特征、比例特征、去重数目特征、分布特征等</a:t>
            </a:r>
            <a:endParaRPr kumimoji="1" lang="en-US" altLang="zh-CN" sz="1400" dirty="0" smtClean="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特征简介</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8170409" cy="3874046"/>
          </a:xfrm>
        </p:spPr>
        <p:txBody>
          <a:bodyPr>
            <a:noAutofit/>
          </a:bodyPr>
          <a:lstStyle/>
          <a:p>
            <a:pPr marL="0" indent="0">
              <a:spcAft>
                <a:spcPts val="600"/>
              </a:spcAft>
              <a:buSzPct val="120000"/>
              <a:buNone/>
            </a:pPr>
            <a:r>
              <a:rPr kumimoji="1" lang="en-US" altLang="zh-CN" sz="1800" dirty="0" err="1">
                <a:latin typeface="微软雅黑" panose="020B0503020204020204" pitchFamily="34" charset="-122"/>
                <a:ea typeface="微软雅黑" panose="020B0503020204020204" pitchFamily="34" charset="-122"/>
                <a:cs typeface="宋体" charset="0"/>
              </a:rPr>
              <a:t>b</a:t>
            </a:r>
            <a:r>
              <a:rPr kumimoji="1" lang="en-US" altLang="zh-CN" sz="1800" dirty="0" err="1" smtClean="0">
                <a:latin typeface="微软雅黑" panose="020B0503020204020204" pitchFamily="34" charset="-122"/>
                <a:ea typeface="微软雅黑" panose="020B0503020204020204" pitchFamily="34" charset="-122"/>
                <a:cs typeface="宋体" charset="0"/>
              </a:rPr>
              <a:t>aiduid</a:t>
            </a:r>
            <a:r>
              <a:rPr kumimoji="1" lang="zh-CN" altLang="en-US" sz="1800" dirty="0" smtClean="0">
                <a:latin typeface="微软雅黑" panose="020B0503020204020204" pitchFamily="34" charset="-122"/>
                <a:ea typeface="微软雅黑" panose="020B0503020204020204" pitchFamily="34" charset="-122"/>
                <a:cs typeface="宋体" charset="0"/>
              </a:rPr>
              <a:t>新鲜度</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而</a:t>
            </a:r>
            <a:r>
              <a:rPr kumimoji="1" lang="en-US" altLang="zh-CN" sz="1600" dirty="0" err="1">
                <a:latin typeface="微软雅黑" panose="020B0503020204020204" pitchFamily="34" charset="-122"/>
                <a:ea typeface="微软雅黑" panose="020B0503020204020204" pitchFamily="34" charset="-122"/>
                <a:cs typeface="宋体" charset="0"/>
              </a:rPr>
              <a:t>baiduid</a:t>
            </a:r>
            <a:r>
              <a:rPr kumimoji="1" lang="zh-CN" altLang="en-US" sz="1600" dirty="0">
                <a:latin typeface="微软雅黑" panose="020B0503020204020204" pitchFamily="34" charset="-122"/>
                <a:ea typeface="微软雅黑" panose="020B0503020204020204" pitchFamily="34" charset="-122"/>
                <a:cs typeface="宋体" charset="0"/>
              </a:rPr>
              <a:t>新鲜</a:t>
            </a:r>
            <a:r>
              <a:rPr kumimoji="1" lang="zh-CN" altLang="en-US" sz="1600" dirty="0" smtClean="0">
                <a:latin typeface="微软雅黑" panose="020B0503020204020204" pitchFamily="34" charset="-122"/>
                <a:ea typeface="微软雅黑" panose="020B0503020204020204" pitchFamily="34" charset="-122"/>
                <a:cs typeface="宋体" charset="0"/>
              </a:rPr>
              <a:t>度等于</a:t>
            </a:r>
            <a:r>
              <a:rPr kumimoji="1" lang="zh-CN" altLang="en-US" sz="1600" dirty="0">
                <a:latin typeface="微软雅黑" panose="020B0503020204020204" pitchFamily="34" charset="-122"/>
                <a:ea typeface="微软雅黑" panose="020B0503020204020204" pitchFamily="34" charset="-122"/>
                <a:cs typeface="宋体" charset="0"/>
              </a:rPr>
              <a:t>当前的点击或者检索</a:t>
            </a:r>
            <a:r>
              <a:rPr kumimoji="1" lang="zh-CN" altLang="en-US" sz="1600" dirty="0" smtClean="0">
                <a:latin typeface="微软雅黑" panose="020B0503020204020204" pitchFamily="34" charset="-122"/>
                <a:ea typeface="微软雅黑" panose="020B0503020204020204" pitchFamily="34" charset="-122"/>
                <a:cs typeface="宋体" charset="0"/>
              </a:rPr>
              <a:t>时间</a:t>
            </a:r>
            <a:r>
              <a:rPr kumimoji="1" lang="zh-CN" altLang="en-US" sz="1600" dirty="0">
                <a:latin typeface="微软雅黑" panose="020B0503020204020204" pitchFamily="34" charset="-122"/>
                <a:ea typeface="微软雅黑" panose="020B0503020204020204" pitchFamily="34" charset="-122"/>
                <a:cs typeface="宋体" charset="0"/>
              </a:rPr>
              <a:t>减去</a:t>
            </a:r>
            <a:r>
              <a:rPr kumimoji="1" lang="zh-CN" altLang="en-US" sz="1600" dirty="0" smtClean="0">
                <a:latin typeface="微软雅黑" panose="020B0503020204020204" pitchFamily="34" charset="-122"/>
                <a:ea typeface="微软雅黑" panose="020B0503020204020204" pitchFamily="34" charset="-122"/>
                <a:cs typeface="宋体" charset="0"/>
              </a:rPr>
              <a:t>浏览器</a:t>
            </a:r>
            <a:r>
              <a:rPr kumimoji="1" lang="en-US" altLang="zh-CN" sz="1600" dirty="0" err="1">
                <a:latin typeface="微软雅黑" panose="020B0503020204020204" pitchFamily="34" charset="-122"/>
                <a:ea typeface="微软雅黑" panose="020B0503020204020204" pitchFamily="34" charset="-122"/>
                <a:cs typeface="宋体" charset="0"/>
              </a:rPr>
              <a:t>baiduid</a:t>
            </a:r>
            <a:r>
              <a:rPr kumimoji="1" lang="zh-CN" altLang="en-US" sz="1600" dirty="0">
                <a:latin typeface="微软雅黑" panose="020B0503020204020204" pitchFamily="34" charset="-122"/>
                <a:ea typeface="微软雅黑" panose="020B0503020204020204" pitchFamily="34" charset="-122"/>
                <a:cs typeface="宋体" charset="0"/>
              </a:rPr>
              <a:t>生成的</a:t>
            </a:r>
            <a:r>
              <a:rPr kumimoji="1" lang="zh-CN" altLang="en-US" sz="1600" dirty="0" smtClean="0">
                <a:latin typeface="微软雅黑" panose="020B0503020204020204" pitchFamily="34" charset="-122"/>
                <a:ea typeface="微软雅黑" panose="020B0503020204020204" pitchFamily="34" charset="-122"/>
                <a:cs typeface="宋体" charset="0"/>
              </a:rPr>
              <a:t>时间。新</a:t>
            </a:r>
            <a:r>
              <a:rPr kumimoji="1" lang="zh-CN" altLang="en-US" sz="1600" dirty="0">
                <a:latin typeface="微软雅黑" panose="020B0503020204020204" pitchFamily="34" charset="-122"/>
                <a:ea typeface="微软雅黑" panose="020B0503020204020204" pitchFamily="34" charset="-122"/>
                <a:cs typeface="宋体" charset="0"/>
              </a:rPr>
              <a:t>用户访问百度产品后，将根据用户当前</a:t>
            </a:r>
            <a:r>
              <a:rPr kumimoji="1" lang="en-US" altLang="zh-CN" sz="1600" dirty="0" err="1">
                <a:latin typeface="微软雅黑" panose="020B0503020204020204" pitchFamily="34" charset="-122"/>
                <a:ea typeface="微软雅黑" panose="020B0503020204020204" pitchFamily="34" charset="-122"/>
                <a:cs typeface="宋体" charset="0"/>
              </a:rPr>
              <a:t>clientip</a:t>
            </a:r>
            <a:r>
              <a:rPr kumimoji="1" lang="en-US" altLang="zh-CN" sz="1600" dirty="0">
                <a:latin typeface="微软雅黑" panose="020B0503020204020204" pitchFamily="34" charset="-122"/>
                <a:ea typeface="微软雅黑" panose="020B0503020204020204" pitchFamily="34" charset="-122"/>
                <a:cs typeface="宋体" charset="0"/>
              </a:rPr>
              <a:t> + </a:t>
            </a:r>
            <a:r>
              <a:rPr kumimoji="1" lang="en-US" altLang="zh-CN" sz="1600" dirty="0" err="1">
                <a:latin typeface="微软雅黑" panose="020B0503020204020204" pitchFamily="34" charset="-122"/>
                <a:ea typeface="微软雅黑" panose="020B0503020204020204" pitchFamily="34" charset="-122"/>
                <a:cs typeface="宋体" charset="0"/>
              </a:rPr>
              <a:t>reqtime</a:t>
            </a:r>
            <a:r>
              <a:rPr kumimoji="1" lang="en-US" altLang="zh-CN" sz="1600" dirty="0">
                <a:latin typeface="微软雅黑" panose="020B0503020204020204" pitchFamily="34" charset="-122"/>
                <a:ea typeface="微软雅黑" panose="020B0503020204020204" pitchFamily="34" charset="-122"/>
                <a:cs typeface="宋体" charset="0"/>
              </a:rPr>
              <a:t> + rand + checksum</a:t>
            </a:r>
            <a:r>
              <a:rPr kumimoji="1" lang="zh-CN" altLang="en-US" sz="1600" dirty="0">
                <a:latin typeface="微软雅黑" panose="020B0503020204020204" pitchFamily="34" charset="-122"/>
                <a:ea typeface="微软雅黑" panose="020B0503020204020204" pitchFamily="34" charset="-122"/>
                <a:cs typeface="宋体" charset="0"/>
              </a:rPr>
              <a:t>，生成一个</a:t>
            </a:r>
            <a:r>
              <a:rPr kumimoji="1" lang="en-US" altLang="zh-CN" sz="1600" dirty="0">
                <a:latin typeface="微软雅黑" panose="020B0503020204020204" pitchFamily="34" charset="-122"/>
                <a:ea typeface="微软雅黑" panose="020B0503020204020204" pitchFamily="34" charset="-122"/>
                <a:cs typeface="宋体" charset="0"/>
              </a:rPr>
              <a:t>32</a:t>
            </a:r>
            <a:r>
              <a:rPr kumimoji="1" lang="zh-CN" altLang="en-US" sz="1600" dirty="0">
                <a:latin typeface="微软雅黑" panose="020B0503020204020204" pitchFamily="34" charset="-122"/>
                <a:ea typeface="微软雅黑" panose="020B0503020204020204" pitchFamily="34" charset="-122"/>
                <a:cs typeface="宋体" charset="0"/>
              </a:rPr>
              <a:t>位的字符串，存在本地</a:t>
            </a:r>
            <a:r>
              <a:rPr kumimoji="1" lang="en-US" altLang="zh-CN" sz="1600" dirty="0">
                <a:latin typeface="微软雅黑" panose="020B0503020204020204" pitchFamily="34" charset="-122"/>
                <a:ea typeface="微软雅黑" panose="020B0503020204020204" pitchFamily="34" charset="-122"/>
                <a:cs typeface="宋体" charset="0"/>
              </a:rPr>
              <a:t>cookie</a:t>
            </a:r>
            <a:r>
              <a:rPr kumimoji="1" lang="zh-CN" altLang="en-US" sz="1600" dirty="0" smtClean="0">
                <a:latin typeface="微软雅黑" panose="020B0503020204020204" pitchFamily="34" charset="-122"/>
                <a:ea typeface="微软雅黑" panose="020B0503020204020204" pitchFamily="34" charset="-122"/>
                <a:cs typeface="宋体" charset="0"/>
              </a:rPr>
              <a:t>中，也被叫做</a:t>
            </a:r>
            <a:r>
              <a:rPr kumimoji="1" lang="en-US" altLang="zh-CN" sz="1600" dirty="0" err="1" smtClean="0">
                <a:latin typeface="微软雅黑" panose="020B0503020204020204" pitchFamily="34" charset="-122"/>
                <a:ea typeface="微软雅黑" panose="020B0503020204020204" pitchFamily="34" charset="-122"/>
                <a:cs typeface="宋体" charset="0"/>
              </a:rPr>
              <a:t>baiduid</a:t>
            </a:r>
            <a:r>
              <a:rPr kumimoji="1" lang="zh-CN" altLang="en-US" sz="1600" dirty="0" smtClean="0">
                <a:latin typeface="微软雅黑" panose="020B0503020204020204" pitchFamily="34" charset="-122"/>
                <a:ea typeface="微软雅黑" panose="020B0503020204020204" pitchFamily="34" charset="-122"/>
                <a:cs typeface="宋体" charset="0"/>
              </a:rPr>
              <a:t>。用户不</a:t>
            </a:r>
            <a:r>
              <a:rPr kumimoji="1" lang="zh-CN" altLang="en-US" sz="1600" dirty="0">
                <a:latin typeface="微软雅黑" panose="020B0503020204020204" pitchFamily="34" charset="-122"/>
                <a:ea typeface="微软雅黑" panose="020B0503020204020204" pitchFamily="34" charset="-122"/>
                <a:cs typeface="宋体" charset="0"/>
              </a:rPr>
              <a:t>清</a:t>
            </a:r>
            <a:r>
              <a:rPr kumimoji="1" lang="zh-CN" altLang="en-US" sz="1600" dirty="0" smtClean="0">
                <a:latin typeface="微软雅黑" panose="020B0503020204020204" pitchFamily="34" charset="-122"/>
                <a:ea typeface="微软雅黑" panose="020B0503020204020204" pitchFamily="34" charset="-122"/>
                <a:cs typeface="宋体" charset="0"/>
              </a:rPr>
              <a:t>缓存的情况下，</a:t>
            </a:r>
            <a:r>
              <a:rPr kumimoji="1" lang="en-US" altLang="zh-CN" sz="1600" dirty="0" err="1">
                <a:latin typeface="微软雅黑" panose="020B0503020204020204" pitchFamily="34" charset="-122"/>
                <a:ea typeface="微软雅黑" panose="020B0503020204020204" pitchFamily="34" charset="-122"/>
                <a:cs typeface="宋体" charset="0"/>
              </a:rPr>
              <a:t>baiduid</a:t>
            </a:r>
            <a:r>
              <a:rPr kumimoji="1" lang="zh-CN" altLang="en-US" sz="1600" dirty="0">
                <a:latin typeface="微软雅黑" panose="020B0503020204020204" pitchFamily="34" charset="-122"/>
                <a:ea typeface="微软雅黑" panose="020B0503020204020204" pitchFamily="34" charset="-122"/>
                <a:cs typeface="宋体" charset="0"/>
              </a:rPr>
              <a:t>保持不变</a:t>
            </a:r>
            <a:r>
              <a:rPr kumimoji="1" lang="zh-CN" altLang="en-US" sz="1600" dirty="0" smtClean="0">
                <a:latin typeface="微软雅黑" panose="020B0503020204020204" pitchFamily="34" charset="-122"/>
                <a:ea typeface="微软雅黑" panose="020B0503020204020204" pitchFamily="34" charset="-122"/>
                <a:cs typeface="宋体" charset="0"/>
              </a:rPr>
              <a:t>，因此可用</a:t>
            </a:r>
            <a:r>
              <a:rPr kumimoji="1" lang="zh-CN" altLang="en-US" sz="1600" dirty="0">
                <a:latin typeface="微软雅黑" panose="020B0503020204020204" pitchFamily="34" charset="-122"/>
                <a:ea typeface="微软雅黑" panose="020B0503020204020204" pitchFamily="34" charset="-122"/>
                <a:cs typeface="宋体" charset="0"/>
              </a:rPr>
              <a:t>来唯一标识用户</a:t>
            </a:r>
            <a:r>
              <a:rPr kumimoji="1" lang="zh-CN" altLang="en-US" sz="1600" dirty="0" smtClean="0">
                <a:latin typeface="微软雅黑" panose="020B0503020204020204" pitchFamily="34" charset="-122"/>
                <a:ea typeface="微软雅黑" panose="020B0503020204020204" pitchFamily="34" charset="-122"/>
                <a:cs typeface="宋体" charset="0"/>
              </a:rPr>
              <a:t>。</a:t>
            </a:r>
            <a:endParaRPr kumimoji="1" lang="zh-CN" altLang="en-US" sz="16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点展</a:t>
            </a:r>
            <a:r>
              <a:rPr kumimoji="1" lang="zh-CN" altLang="en-US" sz="1800" dirty="0" smtClean="0">
                <a:latin typeface="微软雅黑" panose="020B0503020204020204" pitchFamily="34" charset="-122"/>
                <a:ea typeface="微软雅黑" panose="020B0503020204020204" pitchFamily="34" charset="-122"/>
                <a:cs typeface="宋体" charset="0"/>
              </a:rPr>
              <a:t>时间差</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广告</a:t>
            </a:r>
            <a:r>
              <a:rPr kumimoji="1" lang="zh-CN" altLang="en-US" sz="1600" dirty="0">
                <a:latin typeface="微软雅黑" panose="020B0503020204020204" pitchFamily="34" charset="-122"/>
                <a:ea typeface="微软雅黑" panose="020B0503020204020204" pitchFamily="34" charset="-122"/>
                <a:cs typeface="宋体" charset="0"/>
              </a:rPr>
              <a:t>从搜索展现到最后产生点击的时间差。点展时间差与广告样式，展现位置等因素有关，比如在页面下方的广告，点展时间差较长。在设置阈值的时候也需要考虑这些因素。</a:t>
            </a:r>
            <a:endParaRPr kumimoji="1" lang="zh-CN" altLang="en-US" sz="16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endParaRPr kumimoji="1" lang="en-US" altLang="zh-CN" sz="1800" dirty="0" smtClean="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特征简介</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8170409" cy="3874046"/>
          </a:xfrm>
        </p:spPr>
        <p:txBody>
          <a:bodyPr>
            <a:noAutofit/>
          </a:bodyPr>
          <a:lstStyle/>
          <a:p>
            <a:pPr marL="0" indent="0">
              <a:spcAft>
                <a:spcPts val="600"/>
              </a:spcAft>
              <a:buSzPct val="120000"/>
              <a:buNone/>
            </a:pPr>
            <a:r>
              <a:rPr kumimoji="1" lang="en-US" altLang="zh-CN" sz="1800" dirty="0" err="1" smtClean="0">
                <a:latin typeface="微软雅黑" panose="020B0503020204020204" pitchFamily="34" charset="-122"/>
                <a:ea typeface="微软雅黑" panose="020B0503020204020204" pitchFamily="34" charset="-122"/>
                <a:cs typeface="宋体" charset="0"/>
              </a:rPr>
              <a:t>ck</a:t>
            </a:r>
            <a:r>
              <a:rPr kumimoji="1" lang="zh-CN" altLang="en-US" sz="1800" dirty="0">
                <a:latin typeface="微软雅黑" panose="020B0503020204020204" pitchFamily="34" charset="-122"/>
                <a:ea typeface="微软雅黑" panose="020B0503020204020204" pitchFamily="34" charset="-122"/>
                <a:cs typeface="宋体" charset="0"/>
              </a:rPr>
              <a:t>特征</a:t>
            </a:r>
            <a:endParaRPr kumimoji="1" lang="zh-CN" altLang="en-US" sz="18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网民浏览器前端行为特征集合，搜索引擎利用</a:t>
            </a:r>
            <a:r>
              <a:rPr kumimoji="1" lang="en-US" altLang="zh-CN" sz="1600" dirty="0" err="1">
                <a:latin typeface="微软雅黑" panose="020B0503020204020204" pitchFamily="34" charset="-122"/>
                <a:ea typeface="微软雅黑" panose="020B0503020204020204" pitchFamily="34" charset="-122"/>
                <a:cs typeface="宋体" charset="0"/>
              </a:rPr>
              <a:t>js</a:t>
            </a:r>
            <a:r>
              <a:rPr kumimoji="1" lang="zh-CN" altLang="en-US" sz="1600" dirty="0">
                <a:latin typeface="微软雅黑" panose="020B0503020204020204" pitchFamily="34" charset="-122"/>
                <a:ea typeface="微软雅黑" panose="020B0503020204020204" pitchFamily="34" charset="-122"/>
                <a:cs typeface="宋体" charset="0"/>
              </a:rPr>
              <a:t>记录，将这些信息附加到点击</a:t>
            </a:r>
            <a:r>
              <a:rPr kumimoji="1" lang="en-US" altLang="zh-CN" sz="1600" dirty="0" err="1">
                <a:latin typeface="微软雅黑" panose="020B0503020204020204" pitchFamily="34" charset="-122"/>
                <a:ea typeface="微软雅黑" panose="020B0503020204020204" pitchFamily="34" charset="-122"/>
                <a:cs typeface="宋体" charset="0"/>
              </a:rPr>
              <a:t>url</a:t>
            </a:r>
            <a:r>
              <a:rPr kumimoji="1" lang="zh-CN" altLang="en-US" sz="1600" dirty="0">
                <a:latin typeface="微软雅黑" panose="020B0503020204020204" pitchFamily="34" charset="-122"/>
                <a:ea typeface="微软雅黑" panose="020B0503020204020204" pitchFamily="34" charset="-122"/>
                <a:cs typeface="宋体" charset="0"/>
              </a:rPr>
              <a:t>串传给后端供后续使用。</a:t>
            </a:r>
            <a:endParaRPr kumimoji="1" lang="zh-CN" altLang="en-US" sz="1600" dirty="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400" dirty="0">
                <a:latin typeface="微软雅黑" panose="020B0503020204020204" pitchFamily="34" charset="-122"/>
                <a:ea typeface="微软雅黑" panose="020B0503020204020204" pitchFamily="34" charset="-122"/>
                <a:cs typeface="宋体" charset="0"/>
              </a:rPr>
              <a:t>特征包括</a:t>
            </a:r>
            <a:r>
              <a:rPr kumimoji="1" lang="en-US" altLang="zh-CN" sz="1400" dirty="0">
                <a:latin typeface="微软雅黑" panose="020B0503020204020204" pitchFamily="34" charset="-122"/>
                <a:ea typeface="微软雅黑" panose="020B0503020204020204" pitchFamily="34" charset="-122"/>
                <a:cs typeface="宋体" charset="0"/>
              </a:rPr>
              <a:t>:</a:t>
            </a:r>
            <a:r>
              <a:rPr kumimoji="1" lang="zh-CN" altLang="en-US" sz="1400" dirty="0">
                <a:latin typeface="微软雅黑" panose="020B0503020204020204" pitchFamily="34" charset="-122"/>
                <a:ea typeface="微软雅黑" panose="020B0503020204020204" pitchFamily="34" charset="-122"/>
                <a:cs typeface="宋体" charset="0"/>
              </a:rPr>
              <a:t>屏幕按下弹起时间差</a:t>
            </a:r>
            <a:r>
              <a:rPr kumimoji="1" lang="en-US" altLang="zh-CN" sz="1400" dirty="0">
                <a:latin typeface="微软雅黑" panose="020B0503020204020204" pitchFamily="34" charset="-122"/>
                <a:ea typeface="微软雅黑" panose="020B0503020204020204" pitchFamily="34" charset="-122"/>
                <a:cs typeface="宋体" charset="0"/>
              </a:rPr>
              <a:t>,</a:t>
            </a:r>
            <a:r>
              <a:rPr kumimoji="1" lang="zh-CN" altLang="en-US" sz="1400" dirty="0">
                <a:latin typeface="微软雅黑" panose="020B0503020204020204" pitchFamily="34" charset="-122"/>
                <a:ea typeface="微软雅黑" panose="020B0503020204020204" pitchFamily="34" charset="-122"/>
                <a:cs typeface="宋体" charset="0"/>
              </a:rPr>
              <a:t>发生广告点击的页面坐标</a:t>
            </a:r>
            <a:r>
              <a:rPr kumimoji="1" lang="en-US" altLang="zh-CN" sz="1400" dirty="0">
                <a:latin typeface="微软雅黑" panose="020B0503020204020204" pitchFamily="34" charset="-122"/>
                <a:ea typeface="微软雅黑" panose="020B0503020204020204" pitchFamily="34" charset="-122"/>
                <a:cs typeface="宋体" charset="0"/>
              </a:rPr>
              <a:t>,</a:t>
            </a:r>
            <a:r>
              <a:rPr kumimoji="1" lang="zh-CN" altLang="en-US" sz="1400" dirty="0">
                <a:latin typeface="微软雅黑" panose="020B0503020204020204" pitchFamily="34" charset="-122"/>
                <a:ea typeface="微软雅黑" panose="020B0503020204020204" pitchFamily="34" charset="-122"/>
                <a:cs typeface="宋体" charset="0"/>
              </a:rPr>
              <a:t>鼠标从首次移入广告到点击广告的时间差等</a:t>
            </a:r>
            <a:r>
              <a:rPr kumimoji="1" lang="zh-CN" altLang="en-US" sz="1400" dirty="0" smtClean="0">
                <a:latin typeface="微软雅黑" panose="020B0503020204020204" pitchFamily="34" charset="-122"/>
                <a:ea typeface="微软雅黑" panose="020B0503020204020204" pitchFamily="34" charset="-122"/>
                <a:cs typeface="宋体" charset="0"/>
              </a:rPr>
              <a:t>。</a:t>
            </a:r>
            <a:endParaRPr kumimoji="1" lang="en-US" altLang="zh-CN" sz="18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en-US" altLang="zh-CN" sz="1800" dirty="0" err="1" smtClean="0">
                <a:latin typeface="微软雅黑" panose="020B0503020204020204" pitchFamily="34" charset="-122"/>
                <a:ea typeface="微软雅黑" panose="020B0503020204020204" pitchFamily="34" charset="-122"/>
                <a:cs typeface="宋体" charset="0"/>
              </a:rPr>
              <a:t>url</a:t>
            </a:r>
            <a:r>
              <a:rPr kumimoji="1" lang="zh-CN" altLang="en-US" sz="1800" dirty="0">
                <a:latin typeface="微软雅黑" panose="020B0503020204020204" pitchFamily="34" charset="-122"/>
                <a:ea typeface="微软雅黑" panose="020B0503020204020204" pitchFamily="34" charset="-122"/>
                <a:cs typeface="宋体" charset="0"/>
              </a:rPr>
              <a:t>点击串</a:t>
            </a:r>
            <a:endParaRPr kumimoji="1" lang="zh-CN" altLang="en-US" sz="18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接入</a:t>
            </a:r>
            <a:r>
              <a:rPr kumimoji="1" lang="zh-CN" altLang="en-US" sz="1600" dirty="0">
                <a:latin typeface="微软雅黑" panose="020B0503020204020204" pitchFamily="34" charset="-122"/>
                <a:ea typeface="微软雅黑" panose="020B0503020204020204" pitchFamily="34" charset="-122"/>
                <a:cs typeface="宋体" charset="0"/>
              </a:rPr>
              <a:t>方检索端构造指定格式的点击</a:t>
            </a:r>
            <a:r>
              <a:rPr kumimoji="1" lang="en-US" altLang="zh-CN" sz="1600" dirty="0" err="1">
                <a:latin typeface="微软雅黑" panose="020B0503020204020204" pitchFamily="34" charset="-122"/>
                <a:ea typeface="微软雅黑" panose="020B0503020204020204" pitchFamily="34" charset="-122"/>
                <a:cs typeface="宋体" charset="0"/>
              </a:rPr>
              <a:t>url</a:t>
            </a:r>
            <a:r>
              <a:rPr kumimoji="1" lang="zh-CN" altLang="en-US" sz="1600" dirty="0">
                <a:latin typeface="微软雅黑" panose="020B0503020204020204" pitchFamily="34" charset="-122"/>
                <a:ea typeface="微软雅黑" panose="020B0503020204020204" pitchFamily="34" charset="-122"/>
                <a:cs typeface="宋体" charset="0"/>
              </a:rPr>
              <a:t>提供给用户，用户点击后点击信息经</a:t>
            </a:r>
            <a:r>
              <a:rPr kumimoji="1" lang="en-US" altLang="zh-CN" sz="1600" dirty="0">
                <a:latin typeface="微软雅黑" panose="020B0503020204020204" pitchFamily="34" charset="-122"/>
                <a:ea typeface="微软雅黑" panose="020B0503020204020204" pitchFamily="34" charset="-122"/>
                <a:cs typeface="宋体" charset="0"/>
              </a:rPr>
              <a:t>BFE</a:t>
            </a:r>
            <a:r>
              <a:rPr kumimoji="1" lang="zh-CN" altLang="en-US" sz="1600" dirty="0">
                <a:latin typeface="微软雅黑" panose="020B0503020204020204" pitchFamily="34" charset="-122"/>
                <a:ea typeface="微软雅黑" panose="020B0503020204020204" pitchFamily="34" charset="-122"/>
                <a:cs typeface="宋体" charset="0"/>
              </a:rPr>
              <a:t>，由</a:t>
            </a:r>
            <a:r>
              <a:rPr kumimoji="1" lang="en-US" altLang="zh-CN" sz="1600" dirty="0">
                <a:latin typeface="微软雅黑" panose="020B0503020204020204" pitchFamily="34" charset="-122"/>
                <a:ea typeface="微软雅黑" panose="020B0503020204020204" pitchFamily="34" charset="-122"/>
                <a:cs typeface="宋体" charset="0"/>
              </a:rPr>
              <a:t>anti </a:t>
            </a:r>
            <a:r>
              <a:rPr kumimoji="1" lang="en-US" altLang="zh-CN" sz="1600" dirty="0" err="1">
                <a:latin typeface="微软雅黑" panose="020B0503020204020204" pitchFamily="34" charset="-122"/>
                <a:ea typeface="微软雅黑" panose="020B0503020204020204" pitchFamily="34" charset="-122"/>
                <a:cs typeface="宋体" charset="0"/>
              </a:rPr>
              <a:t>rcv</a:t>
            </a:r>
            <a:r>
              <a:rPr kumimoji="1" lang="zh-CN" altLang="en-US" sz="1600" dirty="0">
                <a:latin typeface="微软雅黑" panose="020B0503020204020204" pitchFamily="34" charset="-122"/>
                <a:ea typeface="微软雅黑" panose="020B0503020204020204" pitchFamily="34" charset="-122"/>
                <a:cs typeface="宋体" charset="0"/>
              </a:rPr>
              <a:t>接受并跳转到广告主页面</a:t>
            </a:r>
            <a:r>
              <a:rPr kumimoji="1" lang="zh-CN" altLang="en-US"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pc: http://www.baidu.com/xxxx.php?url=iii.jjjj.kkk&amp;ck=xxx</a:t>
            </a:r>
            <a:endParaRPr kumimoji="1" lang="en-US" altLang="zh-CN" sz="1200" dirty="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wise: http://m.baidu.com/xxxx.php?url=iii.jjjj.kkk&amp;ck=xxx</a:t>
            </a:r>
            <a:endParaRPr kumimoji="1" lang="en-US" altLang="zh-CN" sz="1200" dirty="0">
              <a:latin typeface="微软雅黑" panose="020B0503020204020204" pitchFamily="34" charset="-122"/>
              <a:ea typeface="微软雅黑" panose="020B0503020204020204" pitchFamily="34" charset="-122"/>
              <a:cs typeface="宋体" charset="0"/>
            </a:endParaRPr>
          </a:p>
          <a:p>
            <a:pPr lvl="1">
              <a:spcAft>
                <a:spcPts val="600"/>
              </a:spcAft>
              <a:buSzPct val="120000"/>
            </a:pPr>
            <a:endParaRPr kumimoji="1" lang="zh-CN" altLang="en-US" sz="1200" dirty="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特征简介</a:t>
            </a:r>
            <a:endParaRPr kumimoji="1" lang="zh-CN" altLang="en-US" sz="1400" b="1" spc="200" dirty="0">
              <a:latin typeface="微软雅黑"/>
              <a:ea typeface="微软雅黑"/>
              <a:cs typeface="微软雅黑"/>
            </a:endParaRPr>
          </a:p>
        </p:txBody>
      </p:sp>
      <p:graphicFrame>
        <p:nvGraphicFramePr>
          <p:cNvPr id="7" name="表格 6"/>
          <p:cNvGraphicFramePr>
            <a:graphicFrameLocks noGrp="1"/>
          </p:cNvGraphicFramePr>
          <p:nvPr/>
        </p:nvGraphicFramePr>
        <p:xfrm>
          <a:off x="0" y="1"/>
          <a:ext cx="9144000" cy="5038996"/>
        </p:xfrm>
        <a:graphic>
          <a:graphicData uri="http://schemas.openxmlformats.org/drawingml/2006/table">
            <a:tbl>
              <a:tblPr firstRow="1" firstCol="1" bandRow="1">
                <a:tableStyleId>{5C22544A-7EE6-4342-B048-85BDC9FD1C3A}</a:tableStyleId>
              </a:tblPr>
              <a:tblGrid>
                <a:gridCol w="800100"/>
                <a:gridCol w="4347964"/>
                <a:gridCol w="3995936"/>
              </a:tblGrid>
              <a:tr h="357244">
                <a:tc>
                  <a:txBody>
                    <a:bodyPr/>
                    <a:lstStyle/>
                    <a:p>
                      <a:pPr algn="ctr">
                        <a:lnSpc>
                          <a:spcPts val="1200"/>
                        </a:lnSpc>
                        <a:spcAft>
                          <a:spcPts val="0"/>
                        </a:spcAft>
                      </a:pPr>
                      <a:r>
                        <a:rPr lang="en-US" sz="1500" kern="100" dirty="0">
                          <a:solidFill>
                            <a:schemeClr val="tx1"/>
                          </a:solidFill>
                          <a:effectLst/>
                        </a:rPr>
                        <a:t>URL</a:t>
                      </a:r>
                      <a:r>
                        <a:rPr lang="zh-CN" sz="1500" kern="100" dirty="0" smtClean="0">
                          <a:solidFill>
                            <a:schemeClr val="tx1"/>
                          </a:solidFill>
                          <a:effectLst/>
                        </a:rPr>
                        <a:t>成员</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zh-CN" sz="1500" kern="100">
                          <a:solidFill>
                            <a:schemeClr val="tx1"/>
                          </a:solidFill>
                          <a:effectLst/>
                        </a:rPr>
                        <a:t>内容</a:t>
                      </a:r>
                      <a:endParaRPr lang="zh-CN" sz="1500" kern="10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zh-CN" sz="1500" kern="100" dirty="0">
                          <a:solidFill>
                            <a:schemeClr val="tx1"/>
                          </a:solidFill>
                          <a:effectLst/>
                        </a:rPr>
                        <a:t>编码方式和包含的信息</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r>
              <a:tr h="414552">
                <a:tc>
                  <a:txBody>
                    <a:bodyPr/>
                    <a:lstStyle/>
                    <a:p>
                      <a:pPr algn="ctr">
                        <a:lnSpc>
                          <a:spcPts val="1200"/>
                        </a:lnSpc>
                        <a:spcAft>
                          <a:spcPts val="0"/>
                        </a:spcAft>
                      </a:pPr>
                      <a:r>
                        <a:rPr lang="zh-CN" sz="1500" kern="100">
                          <a:solidFill>
                            <a:schemeClr val="tx1"/>
                          </a:solidFill>
                          <a:effectLst/>
                        </a:rPr>
                        <a:t>前缀</a:t>
                      </a:r>
                      <a:endParaRPr lang="zh-CN" sz="1500" kern="10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500" kern="100" dirty="0">
                          <a:solidFill>
                            <a:schemeClr val="tx1"/>
                          </a:solidFill>
                          <a:effectLst/>
                        </a:rPr>
                        <a:t>https://www.baidu.com/baidu.php?</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500" kern="100" dirty="0">
                          <a:solidFill>
                            <a:schemeClr val="tx1"/>
                          </a:solidFill>
                          <a:effectLst/>
                        </a:rPr>
                        <a:t> </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r>
              <a:tr h="857387">
                <a:tc>
                  <a:txBody>
                    <a:bodyPr/>
                    <a:lstStyle/>
                    <a:p>
                      <a:pPr algn="ctr">
                        <a:lnSpc>
                          <a:spcPts val="1200"/>
                        </a:lnSpc>
                        <a:spcAft>
                          <a:spcPts val="0"/>
                        </a:spcAft>
                      </a:pPr>
                      <a:r>
                        <a:rPr lang="en-US" sz="1500" kern="100" dirty="0">
                          <a:solidFill>
                            <a:schemeClr val="tx1"/>
                          </a:solidFill>
                          <a:effectLst/>
                        </a:rPr>
                        <a:t>I</a:t>
                      </a:r>
                      <a:r>
                        <a:rPr lang="zh-CN" sz="1500" kern="100" dirty="0">
                          <a:solidFill>
                            <a:schemeClr val="tx1"/>
                          </a:solidFill>
                          <a:effectLst/>
                        </a:rPr>
                        <a:t>域</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500" kern="100" dirty="0" err="1">
                          <a:solidFill>
                            <a:schemeClr val="tx1"/>
                          </a:solidFill>
                          <a:effectLst/>
                        </a:rPr>
                        <a:t>url</a:t>
                      </a:r>
                      <a:r>
                        <a:rPr lang="en-US" sz="1500" kern="100" dirty="0">
                          <a:solidFill>
                            <a:schemeClr val="tx1"/>
                          </a:solidFill>
                          <a:effectLst/>
                        </a:rPr>
                        <a:t>=Jb0K00aqDdbqTBp6O7_jKa9wT0-AUq1EhWXstJYQiLOHxhto2nO5lk7pv6RpU8-naju8yE2b-xlPfkHCjBWjo2tbGnvrw5wgQEkaNTkjX4ihkXEfJOHgz5lYxQ-MMSBuY2IaR4OcNXLxEDlcbrU4FeeHJaJ8yH5qjTpW5OpHBalfX_Uaef.</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zh-CN" sz="1200" kern="100" dirty="0">
                          <a:solidFill>
                            <a:schemeClr val="tx1"/>
                          </a:solidFill>
                          <a:effectLst/>
                        </a:rPr>
                        <a:t>加密、</a:t>
                      </a:r>
                      <a:r>
                        <a:rPr lang="en-US" sz="1200" kern="100" dirty="0">
                          <a:solidFill>
                            <a:schemeClr val="tx1"/>
                          </a:solidFill>
                          <a:effectLst/>
                        </a:rPr>
                        <a:t>base64</a:t>
                      </a:r>
                      <a:r>
                        <a:rPr lang="zh-CN" sz="1200" kern="100" dirty="0">
                          <a:solidFill>
                            <a:schemeClr val="tx1"/>
                          </a:solidFill>
                          <a:effectLst/>
                        </a:rPr>
                        <a:t>编码，计费信息，例如当前时间、出价、竞价、</a:t>
                      </a:r>
                      <a:r>
                        <a:rPr lang="en-US" sz="1200" kern="100" dirty="0">
                          <a:solidFill>
                            <a:schemeClr val="tx1"/>
                          </a:solidFill>
                          <a:effectLst/>
                        </a:rPr>
                        <a:t>userid</a:t>
                      </a:r>
                      <a:r>
                        <a:rPr lang="zh-CN" sz="1200" kern="100" dirty="0">
                          <a:solidFill>
                            <a:schemeClr val="tx1"/>
                          </a:solidFill>
                          <a:effectLst/>
                        </a:rPr>
                        <a:t>、</a:t>
                      </a:r>
                      <a:r>
                        <a:rPr lang="en-US" sz="1200" kern="100" dirty="0" err="1">
                          <a:solidFill>
                            <a:schemeClr val="tx1"/>
                          </a:solidFill>
                          <a:effectLst/>
                        </a:rPr>
                        <a:t>wordid</a:t>
                      </a:r>
                      <a:r>
                        <a:rPr lang="zh-CN" sz="1200" kern="100" dirty="0">
                          <a:solidFill>
                            <a:schemeClr val="tx1"/>
                          </a:solidFill>
                          <a:effectLst/>
                        </a:rPr>
                        <a:t>、</a:t>
                      </a:r>
                      <a:r>
                        <a:rPr lang="en-US" sz="1200" kern="100" dirty="0" err="1">
                          <a:solidFill>
                            <a:schemeClr val="tx1"/>
                          </a:solidFill>
                          <a:effectLst/>
                        </a:rPr>
                        <a:t>planid</a:t>
                      </a:r>
                      <a:r>
                        <a:rPr lang="zh-CN" sz="1200" kern="100" dirty="0">
                          <a:solidFill>
                            <a:schemeClr val="tx1"/>
                          </a:solidFill>
                          <a:effectLst/>
                        </a:rPr>
                        <a:t>、请求</a:t>
                      </a:r>
                      <a:r>
                        <a:rPr lang="en-US" sz="1200" kern="100" dirty="0">
                          <a:solidFill>
                            <a:schemeClr val="tx1"/>
                          </a:solidFill>
                          <a:effectLst/>
                        </a:rPr>
                        <a:t>ip</a:t>
                      </a:r>
                      <a:r>
                        <a:rPr lang="zh-CN" sz="1200" kern="100" dirty="0">
                          <a:solidFill>
                            <a:schemeClr val="tx1"/>
                          </a:solidFill>
                          <a:effectLst/>
                        </a:rPr>
                        <a:t>等等</a:t>
                      </a:r>
                      <a:endParaRPr lang="zh-CN" sz="12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r>
              <a:tr h="286927">
                <a:tc>
                  <a:txBody>
                    <a:bodyPr/>
                    <a:lstStyle/>
                    <a:p>
                      <a:pPr algn="ctr">
                        <a:lnSpc>
                          <a:spcPts val="1200"/>
                        </a:lnSpc>
                        <a:spcAft>
                          <a:spcPts val="0"/>
                        </a:spcAft>
                      </a:pPr>
                      <a:r>
                        <a:rPr lang="en-US" sz="1500" kern="100">
                          <a:solidFill>
                            <a:schemeClr val="tx1"/>
                          </a:solidFill>
                          <a:effectLst/>
                        </a:rPr>
                        <a:t>J</a:t>
                      </a:r>
                      <a:r>
                        <a:rPr lang="zh-CN" sz="1500" kern="100">
                          <a:solidFill>
                            <a:schemeClr val="tx1"/>
                          </a:solidFill>
                          <a:effectLst/>
                        </a:rPr>
                        <a:t>域</a:t>
                      </a:r>
                      <a:endParaRPr lang="zh-CN" sz="1500" kern="10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500" kern="100" dirty="0">
                          <a:solidFill>
                            <a:schemeClr val="tx1"/>
                          </a:solidFill>
                          <a:effectLst/>
                        </a:rPr>
                        <a:t>DR_ao0zBjEZBmE8uzvyuQQQQ2qB-muCyrPXOFYJ0.</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zh-CN" sz="1200" kern="100" dirty="0">
                          <a:solidFill>
                            <a:schemeClr val="tx1"/>
                          </a:solidFill>
                          <a:effectLst/>
                        </a:rPr>
                        <a:t>压缩、</a:t>
                      </a:r>
                      <a:r>
                        <a:rPr lang="en-US" sz="1200" kern="100" dirty="0">
                          <a:solidFill>
                            <a:schemeClr val="tx1"/>
                          </a:solidFill>
                          <a:effectLst/>
                        </a:rPr>
                        <a:t>base64</a:t>
                      </a:r>
                      <a:r>
                        <a:rPr lang="zh-CN" sz="1200" kern="100" dirty="0">
                          <a:solidFill>
                            <a:schemeClr val="tx1"/>
                          </a:solidFill>
                          <a:effectLst/>
                        </a:rPr>
                        <a:t>编码，主要包含跳转</a:t>
                      </a:r>
                      <a:r>
                        <a:rPr lang="en-US" sz="1200" kern="100" dirty="0">
                          <a:solidFill>
                            <a:schemeClr val="tx1"/>
                          </a:solidFill>
                          <a:effectLst/>
                        </a:rPr>
                        <a:t>URL</a:t>
                      </a:r>
                      <a:r>
                        <a:rPr lang="zh-CN" sz="1200" kern="100" dirty="0">
                          <a:solidFill>
                            <a:schemeClr val="tx1"/>
                          </a:solidFill>
                          <a:effectLst/>
                        </a:rPr>
                        <a:t>、计费名，例如</a:t>
                      </a:r>
                      <a:r>
                        <a:rPr lang="en-US" sz="1200" kern="100" dirty="0">
                          <a:solidFill>
                            <a:schemeClr val="tx1"/>
                          </a:solidFill>
                          <a:effectLst/>
                        </a:rPr>
                        <a:t>e=</a:t>
                      </a:r>
                      <a:r>
                        <a:rPr lang="en-US" sz="1200" kern="100" dirty="0" err="1">
                          <a:solidFill>
                            <a:schemeClr val="tx1"/>
                          </a:solidFill>
                          <a:effectLst/>
                        </a:rPr>
                        <a:t>url</a:t>
                      </a:r>
                      <a:r>
                        <a:rPr lang="en-US" sz="1200" kern="100" dirty="0">
                          <a:solidFill>
                            <a:schemeClr val="tx1"/>
                          </a:solidFill>
                          <a:effectLst/>
                        </a:rPr>
                        <a:t>\0n=</a:t>
                      </a:r>
                      <a:r>
                        <a:rPr lang="en-US" sz="1200" kern="100" dirty="0" err="1">
                          <a:solidFill>
                            <a:schemeClr val="tx1"/>
                          </a:solidFill>
                          <a:effectLst/>
                        </a:rPr>
                        <a:t>cntname</a:t>
                      </a:r>
                      <a:r>
                        <a:rPr lang="en-US" sz="1200" kern="100" dirty="0">
                          <a:solidFill>
                            <a:schemeClr val="tx1"/>
                          </a:solidFill>
                          <a:effectLst/>
                        </a:rPr>
                        <a:t>\0crc=2727\0</a:t>
                      </a:r>
                      <a:endParaRPr lang="zh-CN" sz="12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r>
              <a:tr h="429825">
                <a:tc>
                  <a:txBody>
                    <a:bodyPr/>
                    <a:lstStyle/>
                    <a:p>
                      <a:pPr algn="ctr">
                        <a:lnSpc>
                          <a:spcPts val="1200"/>
                        </a:lnSpc>
                        <a:spcAft>
                          <a:spcPts val="0"/>
                        </a:spcAft>
                      </a:pPr>
                      <a:r>
                        <a:rPr lang="en-US" sz="1500" kern="100" dirty="0">
                          <a:solidFill>
                            <a:schemeClr val="tx1"/>
                          </a:solidFill>
                          <a:effectLst/>
                        </a:rPr>
                        <a:t>K</a:t>
                      </a:r>
                      <a:r>
                        <a:rPr lang="zh-CN" sz="1500" kern="100" dirty="0">
                          <a:solidFill>
                            <a:schemeClr val="tx1"/>
                          </a:solidFill>
                          <a:effectLst/>
                        </a:rPr>
                        <a:t>域</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500" kern="100" dirty="0" smtClean="0">
                          <a:solidFill>
                            <a:schemeClr val="tx1"/>
                          </a:solidFill>
                          <a:effectLst/>
                        </a:rPr>
                        <a:t>U1Yk0ZDq1tJeJ0KY5TO28l60pyYqnWcd0ATqTZnz0ZNG5yF9pywd0ZKGujYk0APGujY1rjR0UgfqnH0YP7tknjDLg1</a:t>
                      </a:r>
                      <a:r>
                        <a:rPr lang="zh-CN" altLang="en-US" sz="1500" kern="100" dirty="0" smtClean="0">
                          <a:solidFill>
                            <a:schemeClr val="tx1"/>
                          </a:solidFill>
                          <a:effectLst/>
                        </a:rPr>
                        <a:t>*******</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sz="1200" kern="100" dirty="0">
                          <a:solidFill>
                            <a:schemeClr val="tx1"/>
                          </a:solidFill>
                          <a:effectLst/>
                        </a:rPr>
                        <a:t> </a:t>
                      </a:r>
                      <a:endParaRPr lang="zh-CN" sz="1200" kern="100" dirty="0">
                        <a:solidFill>
                          <a:schemeClr val="tx1"/>
                        </a:solidFill>
                        <a:effectLst/>
                      </a:endParaRPr>
                    </a:p>
                    <a:p>
                      <a:pPr algn="ctr">
                        <a:lnSpc>
                          <a:spcPts val="1200"/>
                        </a:lnSpc>
                        <a:spcAft>
                          <a:spcPts val="0"/>
                        </a:spcAft>
                      </a:pPr>
                      <a:r>
                        <a:rPr lang="en-US" sz="1200" kern="100" dirty="0">
                          <a:solidFill>
                            <a:schemeClr val="tx1"/>
                          </a:solidFill>
                          <a:effectLst/>
                        </a:rPr>
                        <a:t>Base64</a:t>
                      </a:r>
                      <a:r>
                        <a:rPr lang="zh-CN" sz="1200" kern="100" dirty="0">
                          <a:solidFill>
                            <a:schemeClr val="tx1"/>
                          </a:solidFill>
                          <a:effectLst/>
                        </a:rPr>
                        <a:t>编码，主要包含检索词</a:t>
                      </a:r>
                      <a:endParaRPr lang="zh-CN" sz="1200" kern="100" dirty="0">
                        <a:solidFill>
                          <a:schemeClr val="tx1"/>
                        </a:solidFill>
                        <a:effectLst/>
                      </a:endParaRPr>
                    </a:p>
                    <a:p>
                      <a:pPr algn="ctr">
                        <a:lnSpc>
                          <a:spcPts val="1200"/>
                        </a:lnSpc>
                        <a:spcAft>
                          <a:spcPts val="0"/>
                        </a:spcAft>
                      </a:pPr>
                      <a:r>
                        <a:rPr lang="en-US" sz="1200" kern="100" dirty="0">
                          <a:solidFill>
                            <a:schemeClr val="tx1"/>
                          </a:solidFill>
                          <a:effectLst/>
                        </a:rPr>
                        <a:t> </a:t>
                      </a:r>
                      <a:endParaRPr lang="zh-CN" sz="12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r>
              <a:tr h="2429264">
                <a:tc>
                  <a:txBody>
                    <a:bodyPr/>
                    <a:lstStyle/>
                    <a:p>
                      <a:pPr algn="ctr">
                        <a:lnSpc>
                          <a:spcPts val="1200"/>
                        </a:lnSpc>
                        <a:spcAft>
                          <a:spcPts val="0"/>
                        </a:spcAft>
                      </a:pPr>
                      <a:r>
                        <a:rPr lang="en-US" sz="1500" kern="100">
                          <a:solidFill>
                            <a:schemeClr val="tx1"/>
                          </a:solidFill>
                          <a:effectLst/>
                        </a:rPr>
                        <a:t>CK</a:t>
                      </a:r>
                      <a:r>
                        <a:rPr lang="zh-CN" sz="1500" kern="100">
                          <a:solidFill>
                            <a:schemeClr val="tx1"/>
                          </a:solidFill>
                          <a:effectLst/>
                        </a:rPr>
                        <a:t>域</a:t>
                      </a:r>
                      <a:endParaRPr lang="zh-CN" sz="1500" kern="10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en-US" altLang="zh-CN" sz="1500" kern="1200" dirty="0" smtClean="0">
                          <a:solidFill>
                            <a:schemeClr val="dk1"/>
                          </a:solidFill>
                          <a:effectLst/>
                          <a:latin typeface="+mn-lt"/>
                          <a:ea typeface="+mn-ea"/>
                          <a:cs typeface="+mn-cs"/>
                        </a:rPr>
                        <a:t>&amp;ck=6530.3.9999.341.201.282.153.1611&amp;shh=</a:t>
                      </a:r>
                      <a:r>
                        <a:rPr lang="en-US" altLang="zh-CN" sz="1500" kern="1200" dirty="0" err="1" smtClean="0">
                          <a:solidFill>
                            <a:schemeClr val="dk1"/>
                          </a:solidFill>
                          <a:effectLst/>
                          <a:latin typeface="+mn-lt"/>
                          <a:ea typeface="+mn-ea"/>
                          <a:cs typeface="+mn-cs"/>
                        </a:rPr>
                        <a:t>www.baidu.com&amp;sht</a:t>
                      </a:r>
                      <a:r>
                        <a:rPr lang="en-US" altLang="zh-CN" sz="1500" kern="1200" dirty="0" smtClean="0">
                          <a:solidFill>
                            <a:schemeClr val="dk1"/>
                          </a:solidFill>
                          <a:effectLst/>
                          <a:latin typeface="+mn-lt"/>
                          <a:ea typeface="+mn-ea"/>
                          <a:cs typeface="+mn-cs"/>
                        </a:rPr>
                        <a:t>=</a:t>
                      </a:r>
                      <a:r>
                        <a:rPr lang="en-US" altLang="zh-CN" sz="1500" kern="1200" dirty="0" err="1" smtClean="0">
                          <a:solidFill>
                            <a:schemeClr val="dk1"/>
                          </a:solidFill>
                          <a:effectLst/>
                          <a:latin typeface="+mn-lt"/>
                          <a:ea typeface="+mn-ea"/>
                          <a:cs typeface="+mn-cs"/>
                        </a:rPr>
                        <a:t>baiduhome_pg</a:t>
                      </a:r>
                      <a:r>
                        <a:rPr lang="zh-CN" altLang="zh-CN" sz="1500" dirty="0" smtClean="0">
                          <a:effectLst/>
                        </a:rPr>
                        <a:t> </a:t>
                      </a:r>
                      <a:endParaRPr lang="zh-CN" sz="15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c>
                  <a:txBody>
                    <a:bodyPr/>
                    <a:lstStyle/>
                    <a:p>
                      <a:pPr algn="ctr">
                        <a:lnSpc>
                          <a:spcPts val="1200"/>
                        </a:lnSpc>
                        <a:spcAft>
                          <a:spcPts val="0"/>
                        </a:spcAft>
                      </a:pPr>
                      <a:r>
                        <a:rPr lang="zh-CN" sz="1200" kern="100" dirty="0">
                          <a:solidFill>
                            <a:schemeClr val="tx1"/>
                          </a:solidFill>
                          <a:effectLst/>
                        </a:rPr>
                        <a:t>无，鼠标点击和用户行为信</a:t>
                      </a:r>
                      <a:r>
                        <a:rPr lang="zh-CN" sz="1200" kern="100" dirty="0" smtClean="0">
                          <a:solidFill>
                            <a:schemeClr val="tx1"/>
                          </a:solidFill>
                          <a:effectLst/>
                        </a:rPr>
                        <a:t>息</a:t>
                      </a:r>
                      <a:endParaRPr lang="en-US" altLang="zh-CN" sz="1200" kern="100" dirty="0" smtClean="0">
                        <a:solidFill>
                          <a:schemeClr val="tx1"/>
                        </a:solidFill>
                        <a:effectLst/>
                      </a:endParaRPr>
                    </a:p>
                    <a:p>
                      <a:pPr algn="ctr">
                        <a:lnSpc>
                          <a:spcPts val="1200"/>
                        </a:lnSpc>
                        <a:spcAft>
                          <a:spcPts val="0"/>
                        </a:spcAft>
                      </a:pPr>
                      <a:endParaRPr lang="zh-CN" sz="1200" kern="100" dirty="0">
                        <a:solidFill>
                          <a:schemeClr val="tx1"/>
                        </a:solidFill>
                        <a:effectLst/>
                      </a:endParaRPr>
                    </a:p>
                    <a:p>
                      <a:pPr algn="ctr">
                        <a:lnSpc>
                          <a:spcPts val="1200"/>
                        </a:lnSpc>
                        <a:spcAft>
                          <a:spcPts val="0"/>
                        </a:spcAft>
                      </a:pPr>
                      <a:r>
                        <a:rPr lang="en-US" sz="1200" kern="100" dirty="0">
                          <a:solidFill>
                            <a:schemeClr val="tx1"/>
                          </a:solidFill>
                          <a:effectLst/>
                        </a:rPr>
                        <a:t>ck0</a:t>
                      </a:r>
                      <a:r>
                        <a:rPr lang="zh-CN" sz="1200" kern="100" dirty="0">
                          <a:solidFill>
                            <a:schemeClr val="tx1"/>
                          </a:solidFill>
                          <a:effectLst/>
                        </a:rPr>
                        <a:t>校验</a:t>
                      </a:r>
                      <a:r>
                        <a:rPr lang="en-US" sz="1200" kern="100" dirty="0">
                          <a:solidFill>
                            <a:schemeClr val="tx1"/>
                          </a:solidFill>
                          <a:effectLst/>
                        </a:rPr>
                        <a:t>CRC = </a:t>
                      </a:r>
                      <a:r>
                        <a:rPr lang="en-US" altLang="zh-CN" sz="1200" kern="100" dirty="0" smtClean="0">
                          <a:solidFill>
                            <a:schemeClr val="tx1"/>
                          </a:solidFill>
                          <a:effectLst/>
                        </a:rPr>
                        <a:t>6530</a:t>
                      </a:r>
                      <a:endParaRPr lang="zh-CN" sz="1200" kern="100" dirty="0">
                        <a:solidFill>
                          <a:schemeClr val="tx1"/>
                        </a:solidFill>
                        <a:effectLst/>
                      </a:endParaRPr>
                    </a:p>
                    <a:p>
                      <a:pPr algn="ctr">
                        <a:lnSpc>
                          <a:spcPts val="1200"/>
                        </a:lnSpc>
                        <a:spcAft>
                          <a:spcPts val="0"/>
                        </a:spcAft>
                      </a:pPr>
                      <a:endParaRPr lang="en-US" sz="1200" kern="100" dirty="0" smtClean="0">
                        <a:solidFill>
                          <a:schemeClr val="tx1"/>
                        </a:solidFill>
                        <a:effectLst/>
                      </a:endParaRPr>
                    </a:p>
                    <a:p>
                      <a:pPr algn="ctr">
                        <a:lnSpc>
                          <a:spcPts val="1200"/>
                        </a:lnSpc>
                        <a:spcAft>
                          <a:spcPts val="0"/>
                        </a:spcAft>
                      </a:pPr>
                      <a:r>
                        <a:rPr lang="en-US" sz="1200" kern="100" dirty="0" smtClean="0">
                          <a:solidFill>
                            <a:schemeClr val="tx1"/>
                          </a:solidFill>
                          <a:effectLst/>
                        </a:rPr>
                        <a:t>ck1</a:t>
                      </a:r>
                      <a:r>
                        <a:rPr lang="zh-CN" sz="1200" kern="100" dirty="0">
                          <a:solidFill>
                            <a:schemeClr val="tx1"/>
                          </a:solidFill>
                          <a:effectLst/>
                        </a:rPr>
                        <a:t>鼠标在广告区域移动次数</a:t>
                      </a:r>
                      <a:r>
                        <a:rPr lang="en-US" sz="1200" kern="100" dirty="0">
                          <a:solidFill>
                            <a:schemeClr val="tx1"/>
                          </a:solidFill>
                          <a:effectLst/>
                        </a:rPr>
                        <a:t> = </a:t>
                      </a:r>
                      <a:r>
                        <a:rPr lang="en-US" altLang="zh-CN" sz="1200" kern="100" dirty="0" smtClean="0">
                          <a:solidFill>
                            <a:schemeClr val="tx1"/>
                          </a:solidFill>
                          <a:effectLst/>
                        </a:rPr>
                        <a:t>3</a:t>
                      </a:r>
                      <a:endParaRPr lang="en-US" sz="1200" kern="100" dirty="0" smtClean="0">
                        <a:solidFill>
                          <a:schemeClr val="tx1"/>
                        </a:solidFill>
                        <a:effectLst/>
                      </a:endParaRPr>
                    </a:p>
                    <a:p>
                      <a:pPr algn="ctr">
                        <a:lnSpc>
                          <a:spcPts val="1200"/>
                        </a:lnSpc>
                        <a:spcAft>
                          <a:spcPts val="0"/>
                        </a:spcAft>
                      </a:pPr>
                      <a:endParaRPr lang="zh-CN" sz="1200" kern="100" dirty="0">
                        <a:solidFill>
                          <a:schemeClr val="tx1"/>
                        </a:solidFill>
                        <a:effectLst/>
                      </a:endParaRPr>
                    </a:p>
                    <a:p>
                      <a:pPr algn="ctr">
                        <a:lnSpc>
                          <a:spcPts val="1200"/>
                        </a:lnSpc>
                        <a:spcAft>
                          <a:spcPts val="0"/>
                        </a:spcAft>
                      </a:pPr>
                      <a:r>
                        <a:rPr lang="en-US" sz="1200" kern="100" dirty="0">
                          <a:solidFill>
                            <a:schemeClr val="tx1"/>
                          </a:solidFill>
                          <a:effectLst/>
                        </a:rPr>
                        <a:t>ck2</a:t>
                      </a:r>
                      <a:r>
                        <a:rPr lang="zh-CN" sz="1200" kern="100" dirty="0">
                          <a:solidFill>
                            <a:schemeClr val="tx1"/>
                          </a:solidFill>
                          <a:effectLst/>
                        </a:rPr>
                        <a:t>按下弹起时间差</a:t>
                      </a:r>
                      <a:r>
                        <a:rPr lang="en-US" sz="1200" kern="100" dirty="0">
                          <a:solidFill>
                            <a:schemeClr val="tx1"/>
                          </a:solidFill>
                          <a:effectLst/>
                        </a:rPr>
                        <a:t> = 9999</a:t>
                      </a:r>
                      <a:endParaRPr lang="zh-CN" sz="1200" kern="100" dirty="0">
                        <a:solidFill>
                          <a:schemeClr val="tx1"/>
                        </a:solidFill>
                        <a:effectLst/>
                      </a:endParaRPr>
                    </a:p>
                    <a:p>
                      <a:pPr algn="ctr">
                        <a:lnSpc>
                          <a:spcPts val="1200"/>
                        </a:lnSpc>
                        <a:spcAft>
                          <a:spcPts val="0"/>
                        </a:spcAft>
                      </a:pPr>
                      <a:endParaRPr lang="en-US" sz="1200" kern="100" dirty="0" smtClean="0">
                        <a:solidFill>
                          <a:schemeClr val="tx1"/>
                        </a:solidFill>
                        <a:effectLst/>
                      </a:endParaRPr>
                    </a:p>
                    <a:p>
                      <a:pPr algn="ctr">
                        <a:lnSpc>
                          <a:spcPts val="1200"/>
                        </a:lnSpc>
                        <a:spcAft>
                          <a:spcPts val="0"/>
                        </a:spcAft>
                      </a:pPr>
                      <a:r>
                        <a:rPr lang="en-US" sz="1200" kern="100" dirty="0" smtClean="0">
                          <a:solidFill>
                            <a:schemeClr val="tx1"/>
                          </a:solidFill>
                          <a:effectLst/>
                        </a:rPr>
                        <a:t>ck3 </a:t>
                      </a:r>
                      <a:r>
                        <a:rPr lang="en-US" sz="1200" kern="100" dirty="0">
                          <a:solidFill>
                            <a:schemeClr val="tx1"/>
                          </a:solidFill>
                          <a:effectLst/>
                        </a:rPr>
                        <a:t>click</a:t>
                      </a:r>
                      <a:r>
                        <a:rPr lang="zh-CN" sz="1200" kern="100" dirty="0">
                          <a:solidFill>
                            <a:schemeClr val="tx1"/>
                          </a:solidFill>
                          <a:effectLst/>
                        </a:rPr>
                        <a:t>事件点击</a:t>
                      </a:r>
                      <a:r>
                        <a:rPr lang="en-US" sz="1200" kern="100" dirty="0">
                          <a:solidFill>
                            <a:schemeClr val="tx1"/>
                          </a:solidFill>
                          <a:effectLst/>
                        </a:rPr>
                        <a:t>X</a:t>
                      </a:r>
                      <a:r>
                        <a:rPr lang="zh-CN" sz="1200" kern="100" dirty="0">
                          <a:solidFill>
                            <a:schemeClr val="tx1"/>
                          </a:solidFill>
                          <a:effectLst/>
                        </a:rPr>
                        <a:t>坐标</a:t>
                      </a:r>
                      <a:r>
                        <a:rPr lang="en-US" sz="1200" kern="100" dirty="0">
                          <a:solidFill>
                            <a:schemeClr val="tx1"/>
                          </a:solidFill>
                          <a:effectLst/>
                        </a:rPr>
                        <a:t> = </a:t>
                      </a:r>
                      <a:r>
                        <a:rPr lang="en-US" altLang="zh-CN" sz="1200" kern="100" dirty="0" smtClean="0">
                          <a:solidFill>
                            <a:schemeClr val="tx1"/>
                          </a:solidFill>
                          <a:effectLst/>
                        </a:rPr>
                        <a:t>341</a:t>
                      </a:r>
                      <a:endParaRPr lang="zh-CN" sz="1200" kern="100" dirty="0">
                        <a:solidFill>
                          <a:schemeClr val="tx1"/>
                        </a:solidFill>
                        <a:effectLst/>
                      </a:endParaRPr>
                    </a:p>
                    <a:p>
                      <a:pPr algn="ctr">
                        <a:lnSpc>
                          <a:spcPts val="1200"/>
                        </a:lnSpc>
                        <a:spcAft>
                          <a:spcPts val="0"/>
                        </a:spcAft>
                      </a:pPr>
                      <a:endParaRPr lang="en-US" sz="1200" kern="100" dirty="0" smtClean="0">
                        <a:solidFill>
                          <a:schemeClr val="tx1"/>
                        </a:solidFill>
                        <a:effectLst/>
                      </a:endParaRPr>
                    </a:p>
                    <a:p>
                      <a:pPr algn="ctr">
                        <a:lnSpc>
                          <a:spcPts val="1200"/>
                        </a:lnSpc>
                        <a:spcAft>
                          <a:spcPts val="0"/>
                        </a:spcAft>
                      </a:pPr>
                      <a:r>
                        <a:rPr lang="en-US" sz="1200" kern="100" dirty="0" smtClean="0">
                          <a:solidFill>
                            <a:schemeClr val="tx1"/>
                          </a:solidFill>
                          <a:effectLst/>
                        </a:rPr>
                        <a:t>ck4 </a:t>
                      </a:r>
                      <a:r>
                        <a:rPr lang="en-US" sz="1200" kern="100" dirty="0">
                          <a:solidFill>
                            <a:schemeClr val="tx1"/>
                          </a:solidFill>
                          <a:effectLst/>
                        </a:rPr>
                        <a:t>click</a:t>
                      </a:r>
                      <a:r>
                        <a:rPr lang="zh-CN" sz="1200" kern="100" dirty="0">
                          <a:solidFill>
                            <a:schemeClr val="tx1"/>
                          </a:solidFill>
                          <a:effectLst/>
                        </a:rPr>
                        <a:t>事件点击</a:t>
                      </a:r>
                      <a:r>
                        <a:rPr lang="en-US" sz="1200" kern="100" dirty="0">
                          <a:solidFill>
                            <a:schemeClr val="tx1"/>
                          </a:solidFill>
                          <a:effectLst/>
                        </a:rPr>
                        <a:t>Y</a:t>
                      </a:r>
                      <a:r>
                        <a:rPr lang="zh-CN" sz="1200" kern="100" dirty="0">
                          <a:solidFill>
                            <a:schemeClr val="tx1"/>
                          </a:solidFill>
                          <a:effectLst/>
                        </a:rPr>
                        <a:t>坐标</a:t>
                      </a:r>
                      <a:r>
                        <a:rPr lang="en-US" sz="1200" kern="100" dirty="0">
                          <a:solidFill>
                            <a:schemeClr val="tx1"/>
                          </a:solidFill>
                          <a:effectLst/>
                        </a:rPr>
                        <a:t> = </a:t>
                      </a:r>
                      <a:r>
                        <a:rPr lang="en-US" altLang="zh-CN" sz="1200" kern="100" dirty="0" smtClean="0">
                          <a:solidFill>
                            <a:schemeClr val="tx1"/>
                          </a:solidFill>
                          <a:effectLst/>
                        </a:rPr>
                        <a:t>201</a:t>
                      </a:r>
                      <a:endParaRPr lang="zh-CN" sz="1200" kern="100" dirty="0">
                        <a:solidFill>
                          <a:schemeClr val="tx1"/>
                        </a:solidFill>
                        <a:effectLst/>
                      </a:endParaRPr>
                    </a:p>
                    <a:p>
                      <a:pPr algn="ctr">
                        <a:lnSpc>
                          <a:spcPts val="1200"/>
                        </a:lnSpc>
                        <a:spcAft>
                          <a:spcPts val="0"/>
                        </a:spcAft>
                      </a:pPr>
                      <a:endParaRPr lang="en-US" sz="1200" kern="100" dirty="0" smtClean="0">
                        <a:solidFill>
                          <a:schemeClr val="tx1"/>
                        </a:solidFill>
                        <a:effectLst/>
                      </a:endParaRPr>
                    </a:p>
                    <a:p>
                      <a:pPr algn="ctr">
                        <a:lnSpc>
                          <a:spcPts val="1200"/>
                        </a:lnSpc>
                        <a:spcAft>
                          <a:spcPts val="0"/>
                        </a:spcAft>
                      </a:pPr>
                      <a:r>
                        <a:rPr lang="en-US" sz="1200" kern="100" dirty="0" smtClean="0">
                          <a:solidFill>
                            <a:schemeClr val="tx1"/>
                          </a:solidFill>
                          <a:effectLst/>
                        </a:rPr>
                        <a:t>c</a:t>
                      </a:r>
                      <a:r>
                        <a:rPr lang="en-US" altLang="zh-CN" sz="1200" kern="100" dirty="0" smtClean="0">
                          <a:solidFill>
                            <a:schemeClr val="tx1"/>
                          </a:solidFill>
                          <a:effectLst/>
                        </a:rPr>
                        <a:t>k</a:t>
                      </a:r>
                      <a:r>
                        <a:rPr lang="en-US" sz="1200" kern="100" dirty="0" smtClean="0">
                          <a:solidFill>
                            <a:schemeClr val="tx1"/>
                          </a:solidFill>
                          <a:effectLst/>
                        </a:rPr>
                        <a:t>5</a:t>
                      </a:r>
                      <a:r>
                        <a:rPr lang="zh-CN" sz="1200" kern="100" dirty="0">
                          <a:solidFill>
                            <a:schemeClr val="tx1"/>
                          </a:solidFill>
                          <a:effectLst/>
                        </a:rPr>
                        <a:t>鼠标首次移入广告区域的</a:t>
                      </a:r>
                      <a:r>
                        <a:rPr lang="en-US" sz="1200" kern="100" dirty="0">
                          <a:solidFill>
                            <a:schemeClr val="tx1"/>
                          </a:solidFill>
                          <a:effectLst/>
                        </a:rPr>
                        <a:t>x</a:t>
                      </a:r>
                      <a:r>
                        <a:rPr lang="zh-CN" sz="1200" kern="100" dirty="0">
                          <a:solidFill>
                            <a:schemeClr val="tx1"/>
                          </a:solidFill>
                          <a:effectLst/>
                        </a:rPr>
                        <a:t>坐标</a:t>
                      </a:r>
                      <a:r>
                        <a:rPr lang="en-US" sz="1200" kern="100" dirty="0">
                          <a:solidFill>
                            <a:schemeClr val="tx1"/>
                          </a:solidFill>
                          <a:effectLst/>
                        </a:rPr>
                        <a:t> = </a:t>
                      </a:r>
                      <a:r>
                        <a:rPr lang="en-US" altLang="zh-CN" sz="1200" kern="100" dirty="0" smtClean="0">
                          <a:solidFill>
                            <a:schemeClr val="tx1"/>
                          </a:solidFill>
                          <a:effectLst/>
                        </a:rPr>
                        <a:t>282</a:t>
                      </a:r>
                      <a:endParaRPr lang="zh-CN" sz="1200" kern="100" dirty="0">
                        <a:solidFill>
                          <a:schemeClr val="tx1"/>
                        </a:solidFill>
                        <a:effectLst/>
                      </a:endParaRPr>
                    </a:p>
                    <a:p>
                      <a:pPr algn="ctr">
                        <a:lnSpc>
                          <a:spcPts val="1200"/>
                        </a:lnSpc>
                        <a:spcAft>
                          <a:spcPts val="0"/>
                        </a:spcAft>
                      </a:pPr>
                      <a:endParaRPr lang="en-US" sz="1200" kern="100" dirty="0" smtClean="0">
                        <a:solidFill>
                          <a:schemeClr val="tx1"/>
                        </a:solidFill>
                        <a:effectLst/>
                      </a:endParaRPr>
                    </a:p>
                    <a:p>
                      <a:pPr algn="ctr">
                        <a:lnSpc>
                          <a:spcPts val="1200"/>
                        </a:lnSpc>
                        <a:spcAft>
                          <a:spcPts val="0"/>
                        </a:spcAft>
                      </a:pPr>
                      <a:r>
                        <a:rPr lang="en-US" sz="1200" kern="100" dirty="0" smtClean="0">
                          <a:solidFill>
                            <a:schemeClr val="tx1"/>
                          </a:solidFill>
                          <a:effectLst/>
                        </a:rPr>
                        <a:t>ck6</a:t>
                      </a:r>
                      <a:r>
                        <a:rPr lang="zh-CN" sz="1200" kern="100" dirty="0">
                          <a:solidFill>
                            <a:schemeClr val="tx1"/>
                          </a:solidFill>
                          <a:effectLst/>
                        </a:rPr>
                        <a:t>鼠标首次移入广告区域的</a:t>
                      </a:r>
                      <a:r>
                        <a:rPr lang="en-US" sz="1200" kern="100" dirty="0">
                          <a:solidFill>
                            <a:schemeClr val="tx1"/>
                          </a:solidFill>
                          <a:effectLst/>
                        </a:rPr>
                        <a:t>y</a:t>
                      </a:r>
                      <a:r>
                        <a:rPr lang="zh-CN" sz="1200" kern="100" dirty="0">
                          <a:solidFill>
                            <a:schemeClr val="tx1"/>
                          </a:solidFill>
                          <a:effectLst/>
                        </a:rPr>
                        <a:t>坐标</a:t>
                      </a:r>
                      <a:r>
                        <a:rPr lang="en-US" sz="1200" kern="100" dirty="0">
                          <a:solidFill>
                            <a:schemeClr val="tx1"/>
                          </a:solidFill>
                          <a:effectLst/>
                        </a:rPr>
                        <a:t> </a:t>
                      </a:r>
                      <a:r>
                        <a:rPr lang="en-US" sz="1200" kern="100" dirty="0" smtClean="0">
                          <a:solidFill>
                            <a:schemeClr val="tx1"/>
                          </a:solidFill>
                          <a:effectLst/>
                        </a:rPr>
                        <a:t>=</a:t>
                      </a:r>
                      <a:r>
                        <a:rPr lang="en-US" altLang="zh-CN" sz="1200" kern="100" dirty="0" smtClean="0">
                          <a:solidFill>
                            <a:schemeClr val="tx1"/>
                          </a:solidFill>
                          <a:effectLst/>
                        </a:rPr>
                        <a:t>153</a:t>
                      </a:r>
                      <a:endParaRPr lang="zh-CN" sz="1200" kern="100" dirty="0">
                        <a:solidFill>
                          <a:schemeClr val="tx1"/>
                        </a:solidFill>
                        <a:effectLst/>
                      </a:endParaRPr>
                    </a:p>
                    <a:p>
                      <a:pPr algn="ctr">
                        <a:lnSpc>
                          <a:spcPts val="1200"/>
                        </a:lnSpc>
                        <a:spcAft>
                          <a:spcPts val="0"/>
                        </a:spcAft>
                      </a:pPr>
                      <a:endParaRPr lang="en-US" sz="1200" kern="100" dirty="0" smtClean="0">
                        <a:solidFill>
                          <a:schemeClr val="tx1"/>
                        </a:solidFill>
                        <a:effectLst/>
                      </a:endParaRPr>
                    </a:p>
                    <a:p>
                      <a:pPr algn="ctr">
                        <a:lnSpc>
                          <a:spcPts val="1200"/>
                        </a:lnSpc>
                        <a:spcAft>
                          <a:spcPts val="0"/>
                        </a:spcAft>
                      </a:pPr>
                      <a:r>
                        <a:rPr lang="en-US" sz="1200" kern="100" dirty="0" smtClean="0">
                          <a:solidFill>
                            <a:schemeClr val="tx1"/>
                          </a:solidFill>
                          <a:effectLst/>
                        </a:rPr>
                        <a:t>ck7</a:t>
                      </a:r>
                      <a:r>
                        <a:rPr lang="zh-CN" sz="1200" kern="100" dirty="0">
                          <a:solidFill>
                            <a:schemeClr val="tx1"/>
                          </a:solidFill>
                          <a:effectLst/>
                        </a:rPr>
                        <a:t>鼠标移入广告区域到点击的时间间隔</a:t>
                      </a:r>
                      <a:r>
                        <a:rPr lang="en-US" sz="1200" kern="100" dirty="0">
                          <a:solidFill>
                            <a:schemeClr val="tx1"/>
                          </a:solidFill>
                          <a:effectLst/>
                        </a:rPr>
                        <a:t> = </a:t>
                      </a:r>
                      <a:r>
                        <a:rPr lang="en-US" sz="1200" kern="100" dirty="0" smtClean="0">
                          <a:solidFill>
                            <a:schemeClr val="tx1"/>
                          </a:solidFill>
                          <a:effectLst/>
                        </a:rPr>
                        <a:t>1</a:t>
                      </a:r>
                      <a:r>
                        <a:rPr lang="en-US" altLang="zh-CN" sz="1200" kern="100" dirty="0" smtClean="0">
                          <a:solidFill>
                            <a:schemeClr val="tx1"/>
                          </a:solidFill>
                          <a:effectLst/>
                        </a:rPr>
                        <a:t>611</a:t>
                      </a:r>
                      <a:endParaRPr lang="zh-CN" sz="1200" kern="100" dirty="0">
                        <a:solidFill>
                          <a:schemeClr val="tx1"/>
                        </a:solidFill>
                        <a:effectLst/>
                        <a:latin typeface="Times New Roman" panose="02020603050405020304" charset="0"/>
                        <a:ea typeface="宋体" pitchFamily="2" charset="-122"/>
                        <a:cs typeface="Times New Roman" panose="02020603050405020304" charset="0"/>
                      </a:endParaRPr>
                    </a:p>
                  </a:txBody>
                  <a:tcPr marL="29971" marR="29971" marT="0" marB="0" anchor="ctr"/>
                </a:tc>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特征简介</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8170409" cy="3874046"/>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数目特征</a:t>
            </a:r>
            <a:r>
              <a:rPr kumimoji="1" lang="en-US" altLang="zh-CN" sz="1800" dirty="0" smtClean="0">
                <a:latin typeface="微软雅黑" panose="020B0503020204020204" pitchFamily="34" charset="-122"/>
                <a:ea typeface="微软雅黑" panose="020B0503020204020204" pitchFamily="34" charset="-122"/>
                <a:cs typeface="宋体" charset="0"/>
              </a:rPr>
              <a:t>(segment)</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在一定</a:t>
            </a:r>
            <a:r>
              <a:rPr kumimoji="1" lang="zh-CN" altLang="en-US" sz="1600" dirty="0" smtClean="0">
                <a:latin typeface="微软雅黑" panose="020B0503020204020204" pitchFamily="34" charset="-122"/>
                <a:ea typeface="微软雅黑" panose="020B0503020204020204" pitchFamily="34" charset="-122"/>
                <a:cs typeface="宋体" charset="0"/>
              </a:rPr>
              <a:t>段长的满足处理空间的所有日志中，某个或某些维度各种维度对象出现的</a:t>
            </a:r>
            <a:r>
              <a:rPr kumimoji="1" lang="zh-CN" altLang="en-US" sz="1600" dirty="0">
                <a:latin typeface="微软雅黑" panose="020B0503020204020204" pitchFamily="34" charset="-122"/>
                <a:ea typeface="微软雅黑" panose="020B0503020204020204" pitchFamily="34" charset="-122"/>
                <a:cs typeface="宋体" charset="0"/>
              </a:rPr>
              <a:t>频数</a:t>
            </a:r>
            <a:r>
              <a:rPr kumimoji="1" lang="zh-CN" altLang="en-US" sz="1600" dirty="0" smtClean="0">
                <a:latin typeface="微软雅黑" panose="020B0503020204020204" pitchFamily="34" charset="-122"/>
                <a:ea typeface="微软雅黑" panose="020B0503020204020204" pitchFamily="34" charset="-122"/>
                <a:cs typeface="宋体" charset="0"/>
              </a:rPr>
              <a:t>。</a:t>
            </a:r>
            <a:endParaRPr kumimoji="1" lang="zh-CN" altLang="en-US" sz="16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8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endParaRPr kumimoji="1" lang="en-US" altLang="zh-CN" sz="1400" dirty="0" smtClean="0">
              <a:latin typeface="微软雅黑" panose="020B0503020204020204" pitchFamily="34" charset="-122"/>
              <a:ea typeface="微软雅黑" panose="020B0503020204020204" pitchFamily="34" charset="-122"/>
              <a:cs typeface="宋体" charset="0"/>
            </a:endParaRPr>
          </a:p>
        </p:txBody>
      </p:sp>
      <p:sp>
        <p:nvSpPr>
          <p:cNvPr id="2" name="矩形 1"/>
          <p:cNvSpPr/>
          <p:nvPr/>
        </p:nvSpPr>
        <p:spPr>
          <a:xfrm>
            <a:off x="259971" y="4369094"/>
            <a:ext cx="8610671" cy="276999"/>
          </a:xfrm>
          <a:prstGeom prst="rect">
            <a:avLst/>
          </a:prstGeom>
        </p:spPr>
        <p:txBody>
          <a:bodyPr wrap="square">
            <a:spAutoFit/>
          </a:bodyPr>
          <a:lstStyle/>
          <a:p>
            <a:pPr algn="ctr"/>
            <a:r>
              <a:rPr lang="en-US" altLang="zh-CN" sz="1200" dirty="0" smtClean="0">
                <a:latin typeface="宋体" pitchFamily="2" charset="-122"/>
                <a:ea typeface="宋体" pitchFamily="2" charset="-122"/>
              </a:rPr>
              <a:t>3741</a:t>
            </a:r>
            <a:r>
              <a:rPr lang="zh-CN" altLang="en-US" sz="1200" dirty="0" smtClean="0">
                <a:latin typeface="宋体" pitchFamily="2" charset="-122"/>
                <a:ea typeface="宋体" pitchFamily="2" charset="-122"/>
              </a:rPr>
              <a:t>特征：</a:t>
            </a:r>
            <a:r>
              <a:rPr lang="zh-CN" altLang="en-US" sz="1200" dirty="0">
                <a:latin typeface="宋体" pitchFamily="2" charset="-122"/>
                <a:ea typeface="宋体" pitchFamily="2" charset="-122"/>
              </a:rPr>
              <a:t>每</a:t>
            </a:r>
            <a:r>
              <a:rPr lang="en-US" altLang="zh-CN" sz="1200" dirty="0" smtClean="0">
                <a:latin typeface="宋体" pitchFamily="2" charset="-122"/>
                <a:ea typeface="宋体" pitchFamily="2" charset="-122"/>
              </a:rPr>
              <a:t>2000</a:t>
            </a:r>
            <a:r>
              <a:rPr lang="zh-CN" altLang="en-US" sz="1200" dirty="0">
                <a:latin typeface="宋体" pitchFamily="2" charset="-122"/>
                <a:ea typeface="宋体" pitchFamily="2" charset="-122"/>
              </a:rPr>
              <a:t>条</a:t>
            </a:r>
            <a:r>
              <a:rPr lang="zh-CN" altLang="en-US" sz="1200" dirty="0" smtClean="0">
                <a:latin typeface="宋体" pitchFamily="2" charset="-122"/>
                <a:ea typeface="宋体" pitchFamily="2" charset="-122"/>
              </a:rPr>
              <a:t>日志，</a:t>
            </a:r>
            <a:r>
              <a:rPr lang="zh-CN" altLang="en-US" sz="1200" dirty="0">
                <a:latin typeface="宋体" pitchFamily="2" charset="-122"/>
                <a:ea typeface="宋体" pitchFamily="2" charset="-122"/>
              </a:rPr>
              <a:t>每个竞价</a:t>
            </a:r>
            <a:r>
              <a:rPr lang="zh-CN" altLang="en-US" sz="1200" dirty="0" smtClean="0">
                <a:latin typeface="宋体" pitchFamily="2" charset="-122"/>
                <a:ea typeface="宋体" pitchFamily="2" charset="-122"/>
              </a:rPr>
              <a:t>词</a:t>
            </a:r>
            <a:r>
              <a:rPr lang="en-US" altLang="zh-CN" sz="1200" dirty="0" smtClean="0">
                <a:latin typeface="宋体" pitchFamily="2" charset="-122"/>
                <a:ea typeface="宋体" pitchFamily="2" charset="-122"/>
              </a:rPr>
              <a:t>id</a:t>
            </a:r>
            <a:r>
              <a:rPr lang="zh-CN" altLang="en-US" sz="1200" dirty="0" smtClean="0">
                <a:latin typeface="宋体" pitchFamily="2" charset="-122"/>
                <a:ea typeface="宋体" pitchFamily="2" charset="-122"/>
              </a:rPr>
              <a:t>和</a:t>
            </a:r>
            <a:r>
              <a:rPr lang="zh-CN" altLang="en-US" sz="1200" dirty="0">
                <a:latin typeface="宋体" pitchFamily="2" charset="-122"/>
                <a:ea typeface="宋体" pitchFamily="2" charset="-122"/>
              </a:rPr>
              <a:t>点击</a:t>
            </a:r>
            <a:r>
              <a:rPr lang="en-US" altLang="zh-CN" sz="1200" dirty="0" err="1">
                <a:latin typeface="宋体" pitchFamily="2" charset="-122"/>
                <a:ea typeface="宋体" pitchFamily="2" charset="-122"/>
              </a:rPr>
              <a:t>ip</a:t>
            </a:r>
            <a:r>
              <a:rPr lang="zh-CN" altLang="en-US" sz="1200" dirty="0">
                <a:latin typeface="宋体" pitchFamily="2" charset="-122"/>
                <a:ea typeface="宋体" pitchFamily="2" charset="-122"/>
              </a:rPr>
              <a:t>的</a:t>
            </a:r>
            <a:r>
              <a:rPr lang="zh-CN" altLang="en-US" sz="1200" dirty="0" smtClean="0">
                <a:latin typeface="宋体" pitchFamily="2" charset="-122"/>
                <a:ea typeface="宋体" pitchFamily="2" charset="-122"/>
              </a:rPr>
              <a:t>组合</a:t>
            </a:r>
            <a:r>
              <a:rPr lang="en-US" altLang="zh-CN" sz="1200" dirty="0" smtClean="0">
                <a:latin typeface="宋体" pitchFamily="2" charset="-122"/>
                <a:ea typeface="宋体" pitchFamily="2" charset="-122"/>
              </a:rPr>
              <a:t>&lt;</a:t>
            </a:r>
            <a:r>
              <a:rPr lang="en-US" altLang="zh-CN" sz="1200" dirty="0" err="1" smtClean="0">
                <a:latin typeface="宋体" pitchFamily="2" charset="-122"/>
                <a:ea typeface="宋体" pitchFamily="2" charset="-122"/>
              </a:rPr>
              <a:t>wordid</a:t>
            </a:r>
            <a:r>
              <a:rPr lang="en-US" altLang="zh-CN" sz="1200" dirty="0" smtClean="0">
                <a:latin typeface="宋体" pitchFamily="2" charset="-122"/>
                <a:ea typeface="宋体" pitchFamily="2" charset="-122"/>
              </a:rPr>
              <a:t>, </a:t>
            </a:r>
            <a:r>
              <a:rPr lang="en-US" altLang="zh-CN" sz="1200" dirty="0" err="1" smtClean="0">
                <a:latin typeface="宋体" pitchFamily="2" charset="-122"/>
                <a:ea typeface="宋体" pitchFamily="2" charset="-122"/>
              </a:rPr>
              <a:t>clkip</a:t>
            </a:r>
            <a:r>
              <a:rPr lang="en-US" altLang="zh-CN" sz="1200" dirty="0" smtClean="0">
                <a:latin typeface="宋体" pitchFamily="2" charset="-122"/>
                <a:ea typeface="宋体" pitchFamily="2" charset="-122"/>
              </a:rPr>
              <a:t>&gt;</a:t>
            </a:r>
            <a:r>
              <a:rPr lang="zh-CN" altLang="en-US" sz="1200" dirty="0" smtClean="0">
                <a:latin typeface="宋体" pitchFamily="2" charset="-122"/>
                <a:ea typeface="宋体" pitchFamily="2" charset="-122"/>
              </a:rPr>
              <a:t>出现的频次 </a:t>
            </a:r>
            <a:endParaRPr lang="zh-CN" altLang="en-US" sz="1200" dirty="0">
              <a:latin typeface="宋体" pitchFamily="2" charset="-122"/>
              <a:ea typeface="宋体" pitchFamily="2" charset="-122"/>
            </a:endParaRPr>
          </a:p>
        </p:txBody>
      </p:sp>
      <p:sp>
        <p:nvSpPr>
          <p:cNvPr id="3" name="文本框 2"/>
          <p:cNvSpPr txBox="1"/>
          <p:nvPr/>
        </p:nvSpPr>
        <p:spPr>
          <a:xfrm>
            <a:off x="1049201" y="1906881"/>
            <a:ext cx="7032213" cy="2462213"/>
          </a:xfrm>
          <a:prstGeom prst="rect">
            <a:avLst/>
          </a:prstGeom>
          <a:solidFill>
            <a:schemeClr val="tx1"/>
          </a:solidFill>
        </p:spPr>
        <p:txBody>
          <a:bodyPr wrap="square" rtlCol="0">
            <a:spAutoFit/>
          </a:bodyPr>
          <a:lstStyle/>
          <a:p>
            <a:r>
              <a:rPr lang="en-US" altLang="zh-CN" sz="1400" dirty="0">
                <a:solidFill>
                  <a:srgbClr val="33CC33"/>
                </a:solidFill>
                <a:latin typeface="Times New Roman" panose="02020603050405020304" charset="0"/>
                <a:cs typeface="Times New Roman" panose="02020603050405020304" charset="0"/>
              </a:rPr>
              <a:t>[@feature]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 3741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feature_type</a:t>
            </a:r>
            <a:r>
              <a:rPr lang="en-US" altLang="zh-CN" sz="1400" dirty="0">
                <a:solidFill>
                  <a:srgbClr val="33CC33"/>
                </a:solidFill>
                <a:latin typeface="Times New Roman" panose="02020603050405020304" charset="0"/>
                <a:cs typeface="Times New Roman" panose="02020603050405020304" charset="0"/>
              </a:rPr>
              <a:t> : segment</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view_level</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click_level</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care         : ['</a:t>
            </a:r>
            <a:r>
              <a:rPr lang="en-US" altLang="zh-CN" sz="1400" dirty="0" err="1">
                <a:solidFill>
                  <a:srgbClr val="33CC33"/>
                </a:solidFill>
                <a:latin typeface="Times New Roman" panose="02020603050405020304" charset="0"/>
                <a:cs typeface="Times New Roman" panose="02020603050405020304" charset="0"/>
              </a:rPr>
              <a:t>accessid</a:t>
            </a:r>
            <a:r>
              <a:rPr lang="en-US" altLang="zh-CN" sz="1400" dirty="0">
                <a:solidFill>
                  <a:srgbClr val="33CC33"/>
                </a:solidFill>
                <a:latin typeface="Times New Roman" panose="02020603050405020304" charset="0"/>
                <a:cs typeface="Times New Roman" panose="02020603050405020304" charset="0"/>
              </a:rPr>
              <a:t>':='1','31','37','1001','1002','1003','1004']['</a:t>
            </a:r>
            <a:r>
              <a:rPr lang="en-US" altLang="zh-CN" sz="1400" dirty="0" err="1">
                <a:solidFill>
                  <a:srgbClr val="33CC33"/>
                </a:solidFill>
                <a:latin typeface="Times New Roman" panose="02020603050405020304" charset="0"/>
                <a:cs typeface="Times New Roman" panose="02020603050405020304" charset="0"/>
              </a:rPr>
              <a:t>cmatch'NI'q.whitecmatch</a:t>
            </a:r>
            <a:r>
              <a:rPr lang="en-US" altLang="zh-CN" sz="1400" dirty="0">
                <a:solidFill>
                  <a:srgbClr val="33CC33"/>
                </a:solidFill>
                <a:latin typeface="Times New Roman" panose="02020603050405020304" charset="0"/>
                <a:cs typeface="Times New Roman" panose="02020603050405020304" charset="0"/>
              </a:rPr>
              <a:t>']['</a:t>
            </a:r>
            <a:r>
              <a:rPr lang="en-US" altLang="zh-CN" sz="1400" dirty="0" err="1">
                <a:solidFill>
                  <a:srgbClr val="33CC33"/>
                </a:solidFill>
                <a:latin typeface="Times New Roman" panose="02020603050405020304" charset="0"/>
                <a:cs typeface="Times New Roman" panose="02020603050405020304" charset="0"/>
              </a:rPr>
              <a:t>wordid</a:t>
            </a:r>
            <a:r>
              <a:rPr lang="en-US" altLang="zh-CN" sz="1400" dirty="0">
                <a:solidFill>
                  <a:srgbClr val="33CC33"/>
                </a:solidFill>
                <a:latin typeface="Times New Roman" panose="02020603050405020304" charset="0"/>
                <a:cs typeface="Times New Roman" panose="02020603050405020304" charset="0"/>
              </a:rPr>
              <a:t>'!='0']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view         : </a:t>
            </a:r>
            <a:r>
              <a:rPr lang="en-US" altLang="zh-CN" sz="1400" dirty="0" err="1">
                <a:solidFill>
                  <a:srgbClr val="33CC33"/>
                </a:solidFill>
                <a:latin typeface="Times New Roman" panose="02020603050405020304" charset="0"/>
                <a:cs typeface="Times New Roman" panose="02020603050405020304" charset="0"/>
              </a:rPr>
              <a:t>wordid,clkip</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version      : 11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window_type</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pv</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window_length</a:t>
            </a:r>
            <a:r>
              <a:rPr lang="en-US" altLang="zh-CN" sz="1400" dirty="0">
                <a:solidFill>
                  <a:srgbClr val="33CC33"/>
                </a:solidFill>
                <a:latin typeface="Times New Roman" panose="02020603050405020304" charset="0"/>
                <a:cs typeface="Times New Roman" panose="02020603050405020304" charset="0"/>
              </a:rPr>
              <a:t>: 2000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click_mode</a:t>
            </a:r>
            <a:r>
              <a:rPr lang="en-US" altLang="zh-CN" sz="1400" dirty="0">
                <a:solidFill>
                  <a:srgbClr val="33CC33"/>
                </a:solidFill>
                <a:latin typeface="Times New Roman" panose="02020603050405020304" charset="0"/>
                <a:cs typeface="Times New Roman" panose="02020603050405020304" charset="0"/>
              </a:rPr>
              <a:t>   : 1</a:t>
            </a:r>
            <a:endParaRPr lang="zh-CN" altLang="en-US" sz="1400" dirty="0">
              <a:solidFill>
                <a:srgbClr val="33CC33"/>
              </a:solidFill>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特征简介</a:t>
            </a:r>
            <a:endParaRPr kumimoji="1" lang="zh-CN" altLang="en-US" sz="1400" b="1" spc="200" dirty="0">
              <a:latin typeface="微软雅黑"/>
              <a:ea typeface="微软雅黑"/>
              <a:cs typeface="微软雅黑"/>
            </a:endParaRPr>
          </a:p>
        </p:txBody>
      </p:sp>
      <mc:AlternateContent xmlns:mc="http://schemas.openxmlformats.org/markup-compatibility/2006">
        <mc:Choice xmlns:a14="http://schemas.microsoft.com/office/drawing/2010/main" Requires="a14">
          <p:sp>
            <p:nvSpPr>
              <p:cNvPr id="6" name="内容占位符 2"/>
              <p:cNvSpPr>
                <a:spLocks noGrp="1"/>
              </p:cNvSpPr>
              <p:nvPr>
                <p:ph idx="1"/>
              </p:nvPr>
            </p:nvSpPr>
            <p:spPr>
              <a:xfrm>
                <a:off x="480105" y="1002754"/>
                <a:ext cx="3634695" cy="3874046"/>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比例特征</a:t>
                </a:r>
                <a:r>
                  <a:rPr kumimoji="1" lang="en-US" altLang="zh-CN" sz="1800" dirty="0" smtClean="0">
                    <a:latin typeface="微软雅黑" panose="020B0503020204020204" pitchFamily="34" charset="-122"/>
                    <a:ea typeface="微软雅黑" panose="020B0503020204020204" pitchFamily="34" charset="-122"/>
                    <a:cs typeface="宋体" charset="0"/>
                  </a:rPr>
                  <a:t>(ratio)</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在一定</a:t>
                </a:r>
                <a:r>
                  <a:rPr kumimoji="1" lang="zh-CN" altLang="en-US" sz="1600" dirty="0" smtClean="0">
                    <a:latin typeface="微软雅黑" panose="020B0503020204020204" pitchFamily="34" charset="-122"/>
                    <a:ea typeface="微软雅黑" panose="020B0503020204020204" pitchFamily="34" charset="-122"/>
                    <a:cs typeface="宋体" charset="0"/>
                  </a:rPr>
                  <a:t>段长的满足处理空间的日志</a:t>
                </a:r>
                <a:r>
                  <a:rPr kumimoji="1" lang="zh-CN" altLang="en-US" sz="1600" dirty="0">
                    <a:latin typeface="微软雅黑" panose="020B0503020204020204" pitchFamily="34" charset="-122"/>
                    <a:ea typeface="微软雅黑" panose="020B0503020204020204" pitchFamily="34" charset="-122"/>
                    <a:cs typeface="宋体" charset="0"/>
                  </a:rPr>
                  <a:t>中，同一个维度对象下两个不同的数目特征</a:t>
                </a:r>
                <a:r>
                  <a:rPr kumimoji="1" lang="zh-CN" altLang="en-US" sz="1600" dirty="0" smtClean="0">
                    <a:latin typeface="微软雅黑" panose="020B0503020204020204" pitchFamily="34" charset="-122"/>
                    <a:ea typeface="微软雅黑" panose="020B0503020204020204" pitchFamily="34" charset="-122"/>
                    <a:cs typeface="宋体" charset="0"/>
                  </a:rPr>
                  <a:t>（</a:t>
                </a:r>
                <a14:m>
                  <m:oMath xmlns:m="http://schemas.openxmlformats.org/officeDocument/2006/math">
                    <m:f>
                      <m:fPr>
                        <m:type m:val="lin"/>
                        <m:ctrlPr>
                          <a:rPr kumimoji="1" lang="en-US" altLang="zh-CN" sz="1600" i="1" smtClean="0">
                            <a:latin typeface="Cambria Math" panose="02040503050406030204" pitchFamily="18" charset="0"/>
                            <a:ea typeface="微软雅黑" panose="020B0503020204020204" pitchFamily="34" charset="-122"/>
                          </a:rPr>
                        </m:ctrlPr>
                      </m:fPr>
                      <m:num>
                        <m:sSub>
                          <m:sSubPr>
                            <m:ctrlPr>
                              <a:rPr kumimoji="1" lang="en-US" altLang="zh-CN" sz="1600" i="1">
                                <a:latin typeface="Cambria Math" panose="02040503050406030204" pitchFamily="18" charset="0"/>
                                <a:ea typeface="微软雅黑" panose="020B0503020204020204" pitchFamily="34" charset="-122"/>
                              </a:rPr>
                            </m:ctrlPr>
                          </m:sSubPr>
                          <m:e>
                            <m:r>
                              <a:rPr kumimoji="1" lang="en-US" altLang="zh-CN" sz="1600" i="1">
                                <a:latin typeface="Cambria Math" panose="02040503050406030204" pitchFamily="18" charset="0"/>
                                <a:ea typeface="微软雅黑" panose="020B0503020204020204" pitchFamily="34" charset="-122"/>
                              </a:rPr>
                              <m:t>𝑁</m:t>
                            </m:r>
                          </m:e>
                          <m:sub>
                            <m:r>
                              <a:rPr kumimoji="1" lang="en-US" altLang="zh-CN" sz="1600" i="1">
                                <a:latin typeface="Cambria Math" panose="02040503050406030204" pitchFamily="18" charset="0"/>
                                <a:ea typeface="微软雅黑" panose="020B0503020204020204" pitchFamily="34" charset="-122"/>
                              </a:rPr>
                              <m:t>𝑓𝑖𝑙𝑡𝑒𝑟</m:t>
                            </m:r>
                          </m:sub>
                        </m:sSub>
                      </m:num>
                      <m:den>
                        <m:sSub>
                          <m:sSubPr>
                            <m:ctrlPr>
                              <a:rPr kumimoji="1" lang="en-US" altLang="zh-CN" sz="1600" i="1" smtClean="0">
                                <a:latin typeface="Cambria Math" panose="02040503050406030204" pitchFamily="18" charset="0"/>
                                <a:ea typeface="微软雅黑" panose="020B0503020204020204" pitchFamily="34" charset="-122"/>
                              </a:rPr>
                            </m:ctrlPr>
                          </m:sSubPr>
                          <m:e>
                            <m:r>
                              <a:rPr kumimoji="1" lang="en-US" altLang="zh-CN" sz="1600" b="0" i="1" smtClean="0">
                                <a:latin typeface="Cambria Math" panose="02040503050406030204" pitchFamily="18" charset="0"/>
                                <a:ea typeface="微软雅黑" panose="020B0503020204020204" pitchFamily="34" charset="-122"/>
                              </a:rPr>
                              <m:t>𝑁</m:t>
                            </m:r>
                          </m:e>
                          <m:sub>
                            <m:r>
                              <a:rPr kumimoji="1" lang="en-US" altLang="zh-CN" sz="1600" b="0" i="1" smtClean="0">
                                <a:latin typeface="Cambria Math" panose="02040503050406030204" pitchFamily="18" charset="0"/>
                                <a:ea typeface="微软雅黑" panose="020B0503020204020204" pitchFamily="34" charset="-122"/>
                              </a:rPr>
                              <m:t>𝑟𝑒𝑓𝑒𝑟</m:t>
                            </m:r>
                          </m:sub>
                        </m:sSub>
                      </m:den>
                    </m:f>
                  </m:oMath>
                </a14:m>
                <a:r>
                  <a:rPr kumimoji="1" lang="zh-CN" altLang="en-US" sz="1600" dirty="0" smtClean="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相除得到的</a:t>
                </a:r>
                <a:r>
                  <a:rPr kumimoji="1" lang="zh-CN" altLang="en-US" sz="1600" dirty="0" smtClean="0">
                    <a:latin typeface="微软雅黑" panose="020B0503020204020204" pitchFamily="34" charset="-122"/>
                    <a:ea typeface="微软雅黑" panose="020B0503020204020204" pitchFamily="34" charset="-122"/>
                    <a:cs typeface="宋体" charset="0"/>
                  </a:rPr>
                  <a:t>比例，其中</a:t>
                </a:r>
                <a14:m>
                  <m:oMath xmlns:m="http://schemas.openxmlformats.org/officeDocument/2006/math">
                    <m:sSub>
                      <m:sSubPr>
                        <m:ctrlPr>
                          <a:rPr kumimoji="1" lang="en-US" altLang="zh-CN" sz="1600" i="1">
                            <a:latin typeface="Cambria Math" panose="02040503050406030204" pitchFamily="18" charset="0"/>
                            <a:ea typeface="微软雅黑" panose="020B0503020204020204" pitchFamily="34" charset="-122"/>
                          </a:rPr>
                        </m:ctrlPr>
                      </m:sSubPr>
                      <m:e>
                        <m:r>
                          <a:rPr kumimoji="1" lang="en-US" altLang="zh-CN" sz="1600" i="1">
                            <a:latin typeface="Cambria Math" panose="02040503050406030204" pitchFamily="18" charset="0"/>
                            <a:ea typeface="微软雅黑" panose="020B0503020204020204" pitchFamily="34" charset="-122"/>
                          </a:rPr>
                          <m:t>𝑁</m:t>
                        </m:r>
                      </m:e>
                      <m:sub>
                        <m:r>
                          <a:rPr kumimoji="1" lang="en-US" altLang="zh-CN" sz="1600" i="1">
                            <a:latin typeface="Cambria Math" panose="02040503050406030204" pitchFamily="18" charset="0"/>
                            <a:ea typeface="微软雅黑" panose="020B0503020204020204" pitchFamily="34" charset="-122"/>
                          </a:rPr>
                          <m:t>𝑓𝑖𝑙𝑡𝑒𝑟</m:t>
                        </m:r>
                      </m:sub>
                    </m:sSub>
                  </m:oMath>
                </a14:m>
                <a:r>
                  <a:rPr kumimoji="1" lang="zh-CN" altLang="en-US" sz="1600" dirty="0" smtClean="0">
                    <a:latin typeface="微软雅黑" panose="020B0503020204020204" pitchFamily="34" charset="-122"/>
                    <a:ea typeface="微软雅黑" panose="020B0503020204020204" pitchFamily="34" charset="-122"/>
                    <a:cs typeface="宋体" charset="0"/>
                  </a:rPr>
                  <a:t>指的是满足过滤空间的日志数量，而</a:t>
                </a:r>
                <a14:m>
                  <m:oMath xmlns:m="http://schemas.openxmlformats.org/officeDocument/2006/math">
                    <m:sSub>
                      <m:sSubPr>
                        <m:ctrlPr>
                          <a:rPr kumimoji="1" lang="en-US" altLang="zh-CN" sz="1600" i="1">
                            <a:latin typeface="Cambria Math" panose="02040503050406030204" pitchFamily="18" charset="0"/>
                            <a:ea typeface="微软雅黑" panose="020B0503020204020204" pitchFamily="34" charset="-122"/>
                          </a:rPr>
                        </m:ctrlPr>
                      </m:sSubPr>
                      <m:e>
                        <m:r>
                          <a:rPr kumimoji="1" lang="en-US" altLang="zh-CN" sz="1600" i="1">
                            <a:latin typeface="Cambria Math" panose="02040503050406030204" pitchFamily="18" charset="0"/>
                            <a:ea typeface="微软雅黑" panose="020B0503020204020204" pitchFamily="34" charset="-122"/>
                          </a:rPr>
                          <m:t>𝑁</m:t>
                        </m:r>
                      </m:e>
                      <m:sub>
                        <m:r>
                          <a:rPr kumimoji="1" lang="en-US" altLang="zh-CN" sz="1600" b="0" i="1" smtClean="0">
                            <a:latin typeface="Cambria Math" panose="02040503050406030204" pitchFamily="18" charset="0"/>
                            <a:ea typeface="微软雅黑" panose="020B0503020204020204" pitchFamily="34" charset="-122"/>
                          </a:rPr>
                          <m:t>𝑟𝑒𝑓𝑒𝑟</m:t>
                        </m:r>
                      </m:sub>
                    </m:sSub>
                  </m:oMath>
                </a14:m>
                <a:r>
                  <a:rPr kumimoji="1" lang="zh-CN" altLang="en-US" sz="1600" dirty="0" smtClean="0">
                    <a:latin typeface="微软雅黑" panose="020B0503020204020204" pitchFamily="34" charset="-122"/>
                    <a:ea typeface="微软雅黑" panose="020B0503020204020204" pitchFamily="34" charset="-122"/>
                    <a:cs typeface="宋体" charset="0"/>
                  </a:rPr>
                  <a:t>则是满足参考空间的日志数量。</a:t>
                </a:r>
                <a:endParaRPr kumimoji="1" lang="zh-CN" altLang="en-US" sz="16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8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endParaRPr kumimoji="1" lang="en-US" altLang="zh-CN" sz="1400" dirty="0" smtClean="0">
                  <a:latin typeface="微软雅黑" panose="020B0503020204020204" pitchFamily="34" charset="-122"/>
                  <a:ea typeface="微软雅黑" panose="020B0503020204020204" pitchFamily="34" charset="-122"/>
                  <a:cs typeface="宋体" charset="0"/>
                </a:endParaRPr>
              </a:p>
            </p:txBody>
          </p:sp>
        </mc:Choice>
        <mc:Fallback>
          <p:sp>
            <p:nvSpPr>
              <p:cNvPr id="6" name="内容占位符 2"/>
              <p:cNvSpPr>
                <a:spLocks noRot="1" noChangeAspect="1" noMove="1" noResize="1" noEditPoints="1" noAdjustHandles="1" noChangeArrowheads="1" noChangeShapeType="1" noTextEdit="1"/>
              </p:cNvSpPr>
              <p:nvPr>
                <p:ph idx="1"/>
              </p:nvPr>
            </p:nvSpPr>
            <p:spPr>
              <a:xfrm>
                <a:off x="480105" y="1002754"/>
                <a:ext cx="3634695" cy="3874046"/>
              </a:xfrm>
              <a:blipFill rotWithShape="1">
                <a:blip r:embed="rId2"/>
                <a:stretch>
                  <a:fillRect l="-1" t="-2"/>
                </a:stretch>
              </a:blipFill>
            </p:spPr>
            <p:txBody>
              <a:bodyPr/>
              <a:lstStyle/>
              <a:p>
                <a:r>
                  <a:rPr lang="zh-CN" altLang="en-US">
                    <a:noFill/>
                  </a:rPr>
                  <a:t> </a:t>
                </a:r>
              </a:p>
            </p:txBody>
          </p:sp>
        </mc:Fallback>
      </mc:AlternateContent>
      <p:sp>
        <p:nvSpPr>
          <p:cNvPr id="7" name="矩形 6"/>
          <p:cNvSpPr/>
          <p:nvPr/>
        </p:nvSpPr>
        <p:spPr>
          <a:xfrm>
            <a:off x="4088173" y="4325525"/>
            <a:ext cx="4922754" cy="276999"/>
          </a:xfrm>
          <a:prstGeom prst="rect">
            <a:avLst/>
          </a:prstGeom>
        </p:spPr>
        <p:txBody>
          <a:bodyPr wrap="square">
            <a:spAutoFit/>
          </a:bodyPr>
          <a:lstStyle>
            <a:defPPr>
              <a:defRPr lang="zh-CN"/>
            </a:defPPr>
            <a:lvl1pPr algn="l" rtl="0" fontAlgn="base">
              <a:spcBef>
                <a:spcPct val="0"/>
              </a:spcBef>
              <a:spcAft>
                <a:spcPct val="0"/>
              </a:spcAft>
              <a:defRPr sz="1400" kern="1200">
                <a:solidFill>
                  <a:schemeClr val="tx1"/>
                </a:solidFill>
                <a:latin typeface="Verdana" panose="020B0604030504040204" pitchFamily="34" charset="0"/>
                <a:ea typeface="宋体" pitchFamily="2" charset="-122"/>
                <a:cs typeface="+mn-cs"/>
              </a:defRPr>
            </a:lvl1pPr>
            <a:lvl2pPr marL="457200" algn="l" rtl="0" fontAlgn="base">
              <a:spcBef>
                <a:spcPct val="0"/>
              </a:spcBef>
              <a:spcAft>
                <a:spcPct val="0"/>
              </a:spcAft>
              <a:defRPr sz="1400" kern="1200">
                <a:solidFill>
                  <a:schemeClr val="tx1"/>
                </a:solidFill>
                <a:latin typeface="Verdana" panose="020B0604030504040204" pitchFamily="34" charset="0"/>
                <a:ea typeface="宋体" pitchFamily="2" charset="-122"/>
                <a:cs typeface="+mn-cs"/>
              </a:defRPr>
            </a:lvl2pPr>
            <a:lvl3pPr marL="914400" algn="l" rtl="0" fontAlgn="base">
              <a:spcBef>
                <a:spcPct val="0"/>
              </a:spcBef>
              <a:spcAft>
                <a:spcPct val="0"/>
              </a:spcAft>
              <a:defRPr sz="1400" kern="1200">
                <a:solidFill>
                  <a:schemeClr val="tx1"/>
                </a:solidFill>
                <a:latin typeface="Verdana" panose="020B0604030504040204" pitchFamily="34" charset="0"/>
                <a:ea typeface="宋体" pitchFamily="2" charset="-122"/>
                <a:cs typeface="+mn-cs"/>
              </a:defRPr>
            </a:lvl3pPr>
            <a:lvl4pPr marL="1371600" algn="l" rtl="0" fontAlgn="base">
              <a:spcBef>
                <a:spcPct val="0"/>
              </a:spcBef>
              <a:spcAft>
                <a:spcPct val="0"/>
              </a:spcAft>
              <a:defRPr sz="1400" kern="1200">
                <a:solidFill>
                  <a:schemeClr val="tx1"/>
                </a:solidFill>
                <a:latin typeface="Verdana" panose="020B0604030504040204" pitchFamily="34" charset="0"/>
                <a:ea typeface="宋体" pitchFamily="2" charset="-122"/>
                <a:cs typeface="+mn-cs"/>
              </a:defRPr>
            </a:lvl4pPr>
            <a:lvl5pPr marL="1828800" algn="l" rtl="0" fontAlgn="base">
              <a:spcBef>
                <a:spcPct val="0"/>
              </a:spcBef>
              <a:spcAft>
                <a:spcPct val="0"/>
              </a:spcAft>
              <a:defRPr sz="1400" kern="1200">
                <a:solidFill>
                  <a:schemeClr val="tx1"/>
                </a:solidFill>
                <a:latin typeface="Verdana" panose="020B0604030504040204" pitchFamily="34" charset="0"/>
                <a:ea typeface="宋体" pitchFamily="2" charset="-122"/>
                <a:cs typeface="+mn-cs"/>
              </a:defRPr>
            </a:lvl5pPr>
            <a:lvl6pPr marL="2286000" algn="l" defTabSz="914400" rtl="0" eaLnBrk="1" latinLnBrk="0" hangingPunct="1">
              <a:defRPr sz="1400" kern="1200">
                <a:solidFill>
                  <a:schemeClr val="tx1"/>
                </a:solidFill>
                <a:latin typeface="Verdana" panose="020B0604030504040204" pitchFamily="34" charset="0"/>
                <a:ea typeface="宋体" pitchFamily="2" charset="-122"/>
                <a:cs typeface="+mn-cs"/>
              </a:defRPr>
            </a:lvl6pPr>
            <a:lvl7pPr marL="2743200" algn="l" defTabSz="914400" rtl="0" eaLnBrk="1" latinLnBrk="0" hangingPunct="1">
              <a:defRPr sz="1400" kern="1200">
                <a:solidFill>
                  <a:schemeClr val="tx1"/>
                </a:solidFill>
                <a:latin typeface="Verdana" panose="020B0604030504040204" pitchFamily="34" charset="0"/>
                <a:ea typeface="宋体" pitchFamily="2" charset="-122"/>
                <a:cs typeface="+mn-cs"/>
              </a:defRPr>
            </a:lvl7pPr>
            <a:lvl8pPr marL="3200400" algn="l" defTabSz="914400" rtl="0" eaLnBrk="1" latinLnBrk="0" hangingPunct="1">
              <a:defRPr sz="1400" kern="1200">
                <a:solidFill>
                  <a:schemeClr val="tx1"/>
                </a:solidFill>
                <a:latin typeface="Verdana" panose="020B0604030504040204" pitchFamily="34" charset="0"/>
                <a:ea typeface="宋体" pitchFamily="2" charset="-122"/>
                <a:cs typeface="+mn-cs"/>
              </a:defRPr>
            </a:lvl8pPr>
            <a:lvl9pPr marL="3657600" algn="l" defTabSz="914400" rtl="0" eaLnBrk="1" latinLnBrk="0" hangingPunct="1">
              <a:defRPr sz="1400" kern="1200">
                <a:solidFill>
                  <a:schemeClr val="tx1"/>
                </a:solidFill>
                <a:latin typeface="Verdana" panose="020B0604030504040204" pitchFamily="34" charset="0"/>
                <a:ea typeface="宋体" pitchFamily="2" charset="-122"/>
                <a:cs typeface="+mn-cs"/>
              </a:defRPr>
            </a:lvl9pPr>
          </a:lstStyle>
          <a:p>
            <a:pPr algn="ctr"/>
            <a:r>
              <a:rPr lang="en-US" altLang="zh-CN" sz="1200" dirty="0" smtClean="0">
                <a:latin typeface="+mn-ea"/>
                <a:ea typeface="+mn-ea"/>
              </a:rPr>
              <a:t>461</a:t>
            </a:r>
            <a:r>
              <a:rPr lang="zh-CN" altLang="en-US" sz="1200" dirty="0" smtClean="0">
                <a:latin typeface="+mn-ea"/>
                <a:ea typeface="+mn-ea"/>
              </a:rPr>
              <a:t>特征：</a:t>
            </a:r>
            <a:r>
              <a:rPr lang="en-US" altLang="zh-CN" sz="1200" dirty="0" smtClean="0">
                <a:latin typeface="+mn-ea"/>
                <a:ea typeface="+mn-ea"/>
              </a:rPr>
              <a:t>pc</a:t>
            </a:r>
            <a:r>
              <a:rPr lang="zh-CN" altLang="zh-CN" sz="1200" dirty="0">
                <a:latin typeface="+mn-ea"/>
                <a:ea typeface="+mn-ea"/>
              </a:rPr>
              <a:t>端每</a:t>
            </a:r>
            <a:r>
              <a:rPr lang="en-US" altLang="zh-CN" sz="1200" dirty="0">
                <a:latin typeface="+mn-ea"/>
                <a:ea typeface="+mn-ea"/>
              </a:rPr>
              <a:t>100</a:t>
            </a:r>
            <a:r>
              <a:rPr lang="zh-CN" altLang="zh-CN" sz="1200" dirty="0">
                <a:latin typeface="+mn-ea"/>
                <a:ea typeface="+mn-ea"/>
              </a:rPr>
              <a:t>万</a:t>
            </a:r>
            <a:r>
              <a:rPr lang="zh-CN" altLang="zh-CN" sz="1200" dirty="0" smtClean="0">
                <a:latin typeface="+mn-ea"/>
                <a:ea typeface="+mn-ea"/>
              </a:rPr>
              <a:t>点击</a:t>
            </a:r>
            <a:r>
              <a:rPr lang="zh-CN" altLang="en-US" sz="1200" dirty="0">
                <a:latin typeface="+mn-ea"/>
                <a:ea typeface="+mn-ea"/>
              </a:rPr>
              <a:t>日志</a:t>
            </a:r>
            <a:r>
              <a:rPr lang="zh-CN" altLang="zh-CN" sz="1200" dirty="0" smtClean="0">
                <a:latin typeface="+mn-ea"/>
                <a:ea typeface="+mn-ea"/>
              </a:rPr>
              <a:t>，</a:t>
            </a:r>
            <a:r>
              <a:rPr lang="zh-CN" altLang="zh-CN" sz="1200" dirty="0">
                <a:latin typeface="+mn-ea"/>
                <a:ea typeface="+mn-ea"/>
              </a:rPr>
              <a:t>广告主</a:t>
            </a:r>
            <a:r>
              <a:rPr lang="en-US" altLang="zh-CN" sz="1200" dirty="0">
                <a:latin typeface="+mn-ea"/>
                <a:ea typeface="+mn-ea"/>
              </a:rPr>
              <a:t>id</a:t>
            </a:r>
            <a:r>
              <a:rPr lang="zh-CN" altLang="zh-CN" sz="1200" dirty="0">
                <a:latin typeface="+mn-ea"/>
                <a:ea typeface="+mn-ea"/>
              </a:rPr>
              <a:t>为空</a:t>
            </a:r>
            <a:r>
              <a:rPr lang="zh-CN" altLang="zh-CN" sz="1200" dirty="0" smtClean="0">
                <a:latin typeface="+mn-ea"/>
                <a:ea typeface="+mn-ea"/>
              </a:rPr>
              <a:t>的</a:t>
            </a:r>
            <a:r>
              <a:rPr lang="zh-CN" altLang="en-US" sz="1200" dirty="0">
                <a:latin typeface="+mn-ea"/>
                <a:ea typeface="+mn-ea"/>
              </a:rPr>
              <a:t>日志</a:t>
            </a:r>
            <a:r>
              <a:rPr lang="zh-CN" altLang="zh-CN" sz="1200" dirty="0" smtClean="0">
                <a:latin typeface="+mn-ea"/>
                <a:ea typeface="+mn-ea"/>
              </a:rPr>
              <a:t>占</a:t>
            </a:r>
            <a:r>
              <a:rPr lang="zh-CN" altLang="en-US" sz="1200" dirty="0">
                <a:latin typeface="+mn-ea"/>
                <a:ea typeface="+mn-ea"/>
              </a:rPr>
              <a:t>总体</a:t>
            </a:r>
            <a:r>
              <a:rPr lang="zh-CN" altLang="en-US" sz="1200" dirty="0" smtClean="0">
                <a:latin typeface="+mn-ea"/>
                <a:ea typeface="+mn-ea"/>
              </a:rPr>
              <a:t>的比例。</a:t>
            </a:r>
            <a:r>
              <a:rPr lang="zh-CN" altLang="zh-CN" sz="1200" dirty="0" smtClean="0">
                <a:latin typeface="+mn-ea"/>
                <a:ea typeface="+mn-ea"/>
              </a:rPr>
              <a:t> </a:t>
            </a:r>
            <a:endParaRPr lang="zh-CN" altLang="en-US" sz="1200" dirty="0">
              <a:latin typeface="+mn-ea"/>
              <a:ea typeface="+mn-ea"/>
            </a:endParaRPr>
          </a:p>
        </p:txBody>
      </p:sp>
      <p:sp>
        <p:nvSpPr>
          <p:cNvPr id="10" name="文本框 9"/>
          <p:cNvSpPr txBox="1"/>
          <p:nvPr/>
        </p:nvSpPr>
        <p:spPr>
          <a:xfrm>
            <a:off x="4666300" y="976808"/>
            <a:ext cx="3766499" cy="3323987"/>
          </a:xfrm>
          <a:prstGeom prst="rect">
            <a:avLst/>
          </a:prstGeom>
          <a:solidFill>
            <a:schemeClr val="tx1"/>
          </a:solidFill>
        </p:spPr>
        <p:txBody>
          <a:bodyPr wrap="square" rtlCol="0">
            <a:spAutoFit/>
          </a:bodyPr>
          <a:lstStyle/>
          <a:p>
            <a:r>
              <a:rPr lang="en-US" altLang="zh-CN" sz="1400" dirty="0">
                <a:solidFill>
                  <a:srgbClr val="33CC33"/>
                </a:solidFill>
                <a:latin typeface="Times New Roman" panose="02020603050405020304" charset="0"/>
                <a:cs typeface="Times New Roman" panose="02020603050405020304" charset="0"/>
              </a:rPr>
              <a:t>[@feature]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 461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feature_type</a:t>
            </a:r>
            <a:r>
              <a:rPr lang="en-US" altLang="zh-CN" sz="1400" dirty="0">
                <a:solidFill>
                  <a:srgbClr val="33CC33"/>
                </a:solidFill>
                <a:latin typeface="Times New Roman" panose="02020603050405020304" charset="0"/>
                <a:cs typeface="Times New Roman" panose="02020603050405020304" charset="0"/>
              </a:rPr>
              <a:t> : ratio</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remain_numerator</a:t>
            </a:r>
            <a:r>
              <a:rPr lang="en-US" altLang="zh-CN" sz="1400" dirty="0">
                <a:solidFill>
                  <a:srgbClr val="33CC33"/>
                </a:solidFill>
                <a:latin typeface="Times New Roman" panose="02020603050405020304" charset="0"/>
                <a:cs typeface="Times New Roman" panose="02020603050405020304" charset="0"/>
              </a:rPr>
              <a:t> : 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view_level</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click_level</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care         : [#</a:t>
            </a:r>
            <a:r>
              <a:rPr lang="en-US" altLang="zh-CN" sz="1400" dirty="0" err="1">
                <a:solidFill>
                  <a:srgbClr val="33CC33"/>
                </a:solidFill>
                <a:latin typeface="Times New Roman" panose="02020603050405020304" charset="0"/>
                <a:cs typeface="Times New Roman" panose="02020603050405020304" charset="0"/>
              </a:rPr>
              <a:t>SearchClick</a:t>
            </a:r>
            <a:r>
              <a:rPr lang="en-US" altLang="zh-CN" sz="1400" dirty="0">
                <a:solidFill>
                  <a:srgbClr val="33CC33"/>
                </a:solidFill>
                <a:latin typeface="Times New Roman" panose="02020603050405020304" charset="0"/>
                <a:cs typeface="Times New Roman" panose="02020603050405020304" charset="0"/>
              </a:rPr>
              <a:t>][#PC]</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view         : </a:t>
            </a:r>
            <a:r>
              <a:rPr lang="en-US" altLang="zh-CN" sz="1400" dirty="0" err="1">
                <a:solidFill>
                  <a:srgbClr val="33CC33"/>
                </a:solidFill>
                <a:latin typeface="Times New Roman" panose="02020603050405020304" charset="0"/>
                <a:cs typeface="Times New Roman" panose="02020603050405020304" charset="0"/>
              </a:rPr>
              <a:t>userid</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filter       : [#</a:t>
            </a:r>
            <a:r>
              <a:rPr lang="en-US" altLang="zh-CN" sz="1400" dirty="0" err="1">
                <a:solidFill>
                  <a:srgbClr val="33CC33"/>
                </a:solidFill>
                <a:latin typeface="Times New Roman" panose="02020603050405020304" charset="0"/>
                <a:cs typeface="Times New Roman" panose="02020603050405020304" charset="0"/>
              </a:rPr>
              <a:t>NullRefer</a:t>
            </a:r>
            <a:r>
              <a:rPr lang="en-US" altLang="zh-CN" sz="1400" dirty="0">
                <a:solidFill>
                  <a:srgbClr val="33CC33"/>
                </a:solidFill>
                <a:latin typeface="Times New Roman" panose="02020603050405020304" charset="0"/>
                <a:cs typeface="Times New Roman" panose="02020603050405020304" charset="0"/>
              </a:rPr>
              <a:t>]</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refer        : [*]</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remain:6</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version      : 4</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window_type</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pv</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window_length</a:t>
            </a:r>
            <a:r>
              <a:rPr lang="en-US" altLang="zh-CN" sz="1400" dirty="0">
                <a:solidFill>
                  <a:srgbClr val="33CC33"/>
                </a:solidFill>
                <a:latin typeface="Times New Roman" panose="02020603050405020304" charset="0"/>
                <a:cs typeface="Times New Roman" panose="02020603050405020304" charset="0"/>
              </a:rPr>
              <a:t>: 1000000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click_mode</a:t>
            </a:r>
            <a:r>
              <a:rPr lang="en-US" altLang="zh-CN" sz="1400" dirty="0">
                <a:solidFill>
                  <a:srgbClr val="33CC33"/>
                </a:solidFill>
                <a:latin typeface="Times New Roman" panose="02020603050405020304" charset="0"/>
                <a:cs typeface="Times New Roman" panose="02020603050405020304" charset="0"/>
              </a:rPr>
              <a:t>   : 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step_length</a:t>
            </a:r>
            <a:r>
              <a:rPr lang="en-US" altLang="zh-CN" sz="1400" dirty="0">
                <a:solidFill>
                  <a:srgbClr val="33CC33"/>
                </a:solidFill>
                <a:latin typeface="Times New Roman" panose="02020603050405020304" charset="0"/>
                <a:cs typeface="Times New Roman" panose="02020603050405020304" charset="0"/>
              </a:rPr>
              <a:t>  : 1000000</a:t>
            </a:r>
            <a:endParaRPr lang="en-US" altLang="zh-CN" sz="1400" dirty="0">
              <a:solidFill>
                <a:srgbClr val="33CC33"/>
              </a:solidFill>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策略简介</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8170409" cy="3874046"/>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策略</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根据特征值判定日志是否正常</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8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策略分类</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简单策略：针对单条</a:t>
            </a:r>
            <a:r>
              <a:rPr kumimoji="1" lang="zh-CN" altLang="en-US" sz="1600" dirty="0" smtClean="0">
                <a:latin typeface="微软雅黑" panose="020B0503020204020204" pitchFamily="34" charset="-122"/>
                <a:ea typeface="微软雅黑" panose="020B0503020204020204" pitchFamily="34" charset="-122"/>
                <a:cs typeface="宋体" charset="0"/>
              </a:rPr>
              <a:t>日志进行判定，使用简单特征，多出现在</a:t>
            </a:r>
            <a:r>
              <a:rPr kumimoji="1" lang="en-US" altLang="zh-CN" sz="1600" dirty="0" err="1" smtClean="0">
                <a:latin typeface="微软雅黑" panose="020B0503020204020204" pitchFamily="34" charset="-122"/>
                <a:ea typeface="微软雅黑" panose="020B0503020204020204" pitchFamily="34" charset="-122"/>
                <a:cs typeface="宋体" charset="0"/>
              </a:rPr>
              <a:t>dformat</a:t>
            </a:r>
            <a:r>
              <a:rPr kumimoji="1" lang="zh-CN" altLang="en-US" sz="1600" dirty="0" smtClean="0">
                <a:latin typeface="微软雅黑" panose="020B0503020204020204" pitchFamily="34" charset="-122"/>
                <a:ea typeface="微软雅黑" panose="020B0503020204020204" pitchFamily="34" charset="-122"/>
                <a:cs typeface="宋体" charset="0"/>
              </a:rPr>
              <a:t>层</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处理空间类策略</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en-US" altLang="zh-CN" sz="1400" dirty="0" err="1" smtClean="0">
                <a:latin typeface="微软雅黑" panose="020B0503020204020204" pitchFamily="34" charset="-122"/>
                <a:ea typeface="微软雅黑" panose="020B0503020204020204" pitchFamily="34" charset="-122"/>
                <a:cs typeface="宋体" charset="0"/>
              </a:rPr>
              <a:t>carespace</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zh-CN" altLang="en-US" sz="1400" dirty="0" smtClean="0">
                <a:latin typeface="微软雅黑" panose="020B0503020204020204" pitchFamily="34" charset="-122"/>
                <a:ea typeface="微软雅黑" panose="020B0503020204020204" pitchFamily="34" charset="-122"/>
                <a:cs typeface="宋体" charset="0"/>
              </a:rPr>
              <a:t>、名单类策略</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en-US" altLang="zh-CN" sz="1400" dirty="0" err="1" smtClean="0">
                <a:latin typeface="微软雅黑" panose="020B0503020204020204" pitchFamily="34" charset="-122"/>
                <a:ea typeface="微软雅黑" panose="020B0503020204020204" pitchFamily="34" charset="-122"/>
                <a:cs typeface="宋体" charset="0"/>
              </a:rPr>
              <a:t>file_dict</a:t>
            </a:r>
            <a:r>
              <a:rPr kumimoji="1" lang="en-US" altLang="zh-CN" sz="1400" dirty="0" smtClean="0">
                <a:latin typeface="微软雅黑" panose="020B0503020204020204" pitchFamily="34" charset="-122"/>
                <a:ea typeface="微软雅黑" panose="020B0503020204020204" pitchFamily="34" charset="-122"/>
                <a:cs typeface="宋体" charset="0"/>
              </a:rPr>
              <a:t>)</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统计策略：根据多条日志的统计特征值判定是否过滤，多出现在</a:t>
            </a:r>
            <a:r>
              <a:rPr kumimoji="1" lang="en-US" altLang="zh-CN" sz="1600" dirty="0" smtClean="0">
                <a:latin typeface="微软雅黑" panose="020B0503020204020204" pitchFamily="34" charset="-122"/>
                <a:ea typeface="微软雅黑" panose="020B0503020204020204" pitchFamily="34" charset="-122"/>
                <a:cs typeface="宋体" charset="0"/>
              </a:rPr>
              <a:t>Themis</a:t>
            </a:r>
            <a:r>
              <a:rPr kumimoji="1" lang="zh-CN" altLang="en-US" sz="1600" dirty="0" smtClean="0">
                <a:latin typeface="微软雅黑" panose="020B0503020204020204" pitchFamily="34" charset="-122"/>
                <a:ea typeface="微软雅黑" panose="020B0503020204020204" pitchFamily="34" charset="-122"/>
                <a:cs typeface="宋体" charset="0"/>
              </a:rPr>
              <a:t>层</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200" dirty="0">
                <a:latin typeface="微软雅黑" panose="020B0503020204020204" pitchFamily="34" charset="-122"/>
                <a:ea typeface="微软雅黑" panose="020B0503020204020204" pitchFamily="34" charset="-122"/>
                <a:cs typeface="宋体" charset="0"/>
              </a:rPr>
              <a:t>段</a:t>
            </a:r>
            <a:r>
              <a:rPr kumimoji="1" lang="zh-CN" altLang="en-US" sz="1200" dirty="0" smtClean="0">
                <a:latin typeface="微软雅黑" panose="020B0503020204020204" pitchFamily="34" charset="-122"/>
                <a:ea typeface="微软雅黑" panose="020B0503020204020204" pitchFamily="34" charset="-122"/>
                <a:cs typeface="宋体" charset="0"/>
              </a:rPr>
              <a:t>上限策略、段比例策略、分布异常策略、段上限自动黑名单策略等</a:t>
            </a:r>
            <a:endParaRPr kumimoji="1" lang="en-US" altLang="zh-CN" sz="1200" dirty="0" smtClean="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策略简介</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3025095" cy="3874046"/>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点击策略分类</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策略一般通过数字命名，每</a:t>
            </a:r>
            <a:r>
              <a:rPr kumimoji="1" lang="zh-CN" altLang="en-US" sz="1600" dirty="0">
                <a:latin typeface="微软雅黑" panose="020B0503020204020204" pitchFamily="34" charset="-122"/>
                <a:ea typeface="微软雅黑" panose="020B0503020204020204" pitchFamily="34" charset="-122"/>
                <a:cs typeface="宋体" charset="0"/>
              </a:rPr>
              <a:t>一</a:t>
            </a:r>
            <a:r>
              <a:rPr kumimoji="1" lang="zh-CN" altLang="en-US" sz="1600" dirty="0" smtClean="0">
                <a:latin typeface="微软雅黑" panose="020B0503020204020204" pitchFamily="34" charset="-122"/>
                <a:ea typeface="微软雅黑" panose="020B0503020204020204" pitchFamily="34" charset="-122"/>
                <a:cs typeface="宋体" charset="0"/>
              </a:rPr>
              <a:t>个策略都有自己独特的策略名</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en-US" altLang="zh-CN" sz="1600" dirty="0" err="1" smtClean="0">
                <a:latin typeface="微软雅黑" panose="020B0503020204020204" pitchFamily="34" charset="-122"/>
                <a:ea typeface="微软雅黑" panose="020B0503020204020204" pitchFamily="34" charset="-122"/>
                <a:cs typeface="宋体" charset="0"/>
              </a:rPr>
              <a:t>policy_id</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，而策略名的命名具有一定的规则</a:t>
            </a:r>
            <a:endParaRPr kumimoji="1" lang="en-US" altLang="zh-CN" sz="18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命名规则</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最高位</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标识策略类型</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中间位</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策略序号</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最低位</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200" dirty="0" err="1" smtClean="0">
                <a:latin typeface="微软雅黑" panose="020B0503020204020204" pitchFamily="34" charset="-122"/>
                <a:ea typeface="微软雅黑" panose="020B0503020204020204" pitchFamily="34" charset="-122"/>
                <a:cs typeface="宋体" charset="0"/>
              </a:rPr>
              <a:t>accessid</a:t>
            </a:r>
            <a:endParaRPr kumimoji="1" lang="en-US" altLang="zh-CN" sz="1200" dirty="0" smtClean="0">
              <a:latin typeface="微软雅黑" panose="020B0503020204020204" pitchFamily="34" charset="-122"/>
              <a:ea typeface="微软雅黑" panose="020B0503020204020204" pitchFamily="34" charset="-122"/>
              <a:cs typeface="宋体" charset="0"/>
            </a:endParaRPr>
          </a:p>
        </p:txBody>
      </p:sp>
      <p:graphicFrame>
        <p:nvGraphicFramePr>
          <p:cNvPr id="5" name="表格 4"/>
          <p:cNvGraphicFramePr>
            <a:graphicFrameLocks noGrp="1"/>
          </p:cNvGraphicFramePr>
          <p:nvPr/>
        </p:nvGraphicFramePr>
        <p:xfrm>
          <a:off x="3899007" y="911030"/>
          <a:ext cx="4673493" cy="3512963"/>
        </p:xfrm>
        <a:graphic>
          <a:graphicData uri="http://schemas.openxmlformats.org/drawingml/2006/table">
            <a:tbl>
              <a:tblPr firstRow="1" bandRow="1">
                <a:tableStyleId>{5C22544A-7EE6-4342-B048-85BDC9FD1C3A}</a:tableStyleId>
              </a:tblPr>
              <a:tblGrid>
                <a:gridCol w="761955"/>
                <a:gridCol w="532005"/>
                <a:gridCol w="3379533"/>
              </a:tblGrid>
              <a:tr h="414359">
                <a:tc>
                  <a:txBody>
                    <a:bodyPr/>
                    <a:lstStyle/>
                    <a:p>
                      <a:pPr algn="l">
                        <a:spcAft>
                          <a:spcPts val="0"/>
                        </a:spcAft>
                      </a:pPr>
                      <a:r>
                        <a:rPr 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位</a:t>
                      </a:r>
                      <a:r>
                        <a:rPr lang="zh-CN" altLang="en-US" sz="1400" kern="100" dirty="0" smtClean="0">
                          <a:effectLst/>
                          <a:latin typeface="微软雅黑" panose="020B0503020204020204" pitchFamily="34" charset="-122"/>
                          <a:ea typeface="微软雅黑" panose="020B0503020204020204" pitchFamily="34" charset="-122"/>
                          <a:cs typeface="Heiti SC Light" panose="02000000000000000000" charset="-122"/>
                        </a:rPr>
                        <a:t>别</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solidFill>
                      <a:srgbClr val="1E10D9"/>
                    </a:solidFill>
                  </a:tcPr>
                </a:tc>
                <a:tc>
                  <a:txBody>
                    <a:bodyPr/>
                    <a:lstStyle/>
                    <a:p>
                      <a:pPr algn="l">
                        <a:spcAft>
                          <a:spcPts val="0"/>
                        </a:spcAft>
                      </a:pPr>
                      <a:r>
                        <a:rPr 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位</a:t>
                      </a:r>
                      <a:r>
                        <a:rPr lang="zh-CN" altLang="en-US" sz="1400" kern="100" dirty="0" smtClean="0">
                          <a:effectLst/>
                          <a:latin typeface="微软雅黑" panose="020B0503020204020204" pitchFamily="34" charset="-122"/>
                          <a:ea typeface="微软雅黑" panose="020B0503020204020204" pitchFamily="34" charset="-122"/>
                          <a:cs typeface="Heiti SC Light" panose="02000000000000000000" charset="-122"/>
                        </a:rPr>
                        <a:t>次</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solidFill>
                      <a:srgbClr val="1E10D9"/>
                    </a:solidFill>
                  </a:tcPr>
                </a:tc>
                <a:tc>
                  <a:txBody>
                    <a:bodyPr/>
                    <a:lstStyle/>
                    <a:p>
                      <a:pPr algn="l">
                        <a:spcAft>
                          <a:spcPts val="0"/>
                        </a:spcAft>
                      </a:pPr>
                      <a:r>
                        <a:rPr lang="zh-CN" sz="1400" kern="100" dirty="0">
                          <a:effectLst/>
                          <a:latin typeface="微软雅黑" panose="020B0503020204020204" pitchFamily="34" charset="-122"/>
                          <a:ea typeface="微软雅黑" panose="020B0503020204020204" pitchFamily="34" charset="-122"/>
                          <a:cs typeface="Heiti SC Light" panose="02000000000000000000" charset="-122"/>
                        </a:rPr>
                        <a:t>策略类型</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solidFill>
                      <a:srgbClr val="1E10D9"/>
                    </a:solidFill>
                  </a:tcPr>
                </a:tc>
              </a:tr>
              <a:tr h="269265">
                <a:tc rowSpan="8">
                  <a:txBody>
                    <a:bodyPr/>
                    <a:lstStyle/>
                    <a:p>
                      <a:pPr algn="l">
                        <a:spcAft>
                          <a:spcPts val="0"/>
                        </a:spcAft>
                      </a:pPr>
                      <a:r>
                        <a:rPr lang="zh-CN" sz="1400" kern="100" dirty="0">
                          <a:effectLst/>
                          <a:latin typeface="微软雅黑" panose="020B0503020204020204" pitchFamily="34" charset="-122"/>
                          <a:ea typeface="微软雅黑" panose="020B0503020204020204" pitchFamily="34" charset="-122"/>
                          <a:cs typeface="Heiti SC Light" panose="02000000000000000000" charset="-122"/>
                        </a:rPr>
                        <a:t>最高位</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c>
                  <a:txBody>
                    <a:bodyPr/>
                    <a:lstStyle/>
                    <a:p>
                      <a:pPr algn="l">
                        <a:spcAft>
                          <a:spcPts val="0"/>
                        </a:spcAft>
                      </a:pPr>
                      <a:r>
                        <a:rPr lang="en-US" sz="1400" kern="100" dirty="0">
                          <a:effectLst/>
                          <a:latin typeface="微软雅黑" panose="020B0503020204020204" pitchFamily="34" charset="-122"/>
                          <a:ea typeface="微软雅黑" panose="020B0503020204020204" pitchFamily="34" charset="-122"/>
                          <a:cs typeface="Heiti SC Light" panose="02000000000000000000" charset="-122"/>
                        </a:rPr>
                        <a:t>1</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c>
                  <a:txBody>
                    <a:bodyPr/>
                    <a:lstStyle/>
                    <a:p>
                      <a:pPr algn="l">
                        <a:spcAft>
                          <a:spcPts val="0"/>
                        </a:spcAft>
                      </a:pPr>
                      <a:r>
                        <a:rPr lang="zh-CN" sz="1400" kern="100" dirty="0">
                          <a:effectLst/>
                          <a:latin typeface="微软雅黑" panose="020B0503020204020204" pitchFamily="34" charset="-122"/>
                          <a:ea typeface="微软雅黑" panose="020B0503020204020204" pitchFamily="34" charset="-122"/>
                          <a:cs typeface="Heiti SC Light" panose="02000000000000000000" charset="-122"/>
                        </a:rPr>
                        <a:t>简单策略</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r>
              <a:tr h="269265">
                <a:tc vMerge="1">
                  <a:tcPr/>
                </a:tc>
                <a:tc>
                  <a:txBody>
                    <a:bodyPr/>
                    <a:lstStyle/>
                    <a:p>
                      <a:pPr algn="l">
                        <a:spcAft>
                          <a:spcPts val="0"/>
                        </a:spcAft>
                      </a:pPr>
                      <a:r>
                        <a:rPr lang="en-US" altLang="zh-CN" sz="1400" kern="100" dirty="0" smtClean="0">
                          <a:solidFill>
                            <a:schemeClr val="tx1"/>
                          </a:solidFill>
                          <a:effectLst/>
                          <a:latin typeface="微软雅黑" panose="020B0503020204020204" pitchFamily="34" charset="-122"/>
                          <a:ea typeface="微软雅黑" panose="020B0503020204020204" pitchFamily="34" charset="-122"/>
                          <a:cs typeface="Heiti SC Light" panose="02000000000000000000" charset="-122"/>
                        </a:rPr>
                        <a:t>2</a:t>
                      </a:r>
                      <a:endParaRPr lang="zh-CN" sz="1400" kern="100" dirty="0">
                        <a:solidFill>
                          <a:schemeClr val="tx1"/>
                        </a:solidFill>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c>
                  <a:txBody>
                    <a:bodyPr/>
                    <a:lstStyle/>
                    <a:p>
                      <a:pPr algn="l">
                        <a:spcAft>
                          <a:spcPts val="0"/>
                        </a:spcAft>
                      </a:pPr>
                      <a:r>
                        <a:rPr lang="en-US" altLang="zh-CN" sz="1400" kern="100" dirty="0" err="1" smtClean="0">
                          <a:solidFill>
                            <a:schemeClr val="tx1"/>
                          </a:solidFill>
                          <a:effectLst/>
                          <a:latin typeface="微软雅黑" panose="020B0503020204020204" pitchFamily="34" charset="-122"/>
                          <a:ea typeface="微软雅黑" panose="020B0503020204020204" pitchFamily="34" charset="-122"/>
                          <a:cs typeface="Heiti SC Light" panose="02000000000000000000" charset="-122"/>
                        </a:rPr>
                        <a:t>acp</a:t>
                      </a:r>
                      <a:r>
                        <a:rPr lang="zh-CN" altLang="en-US" sz="1400" kern="100" dirty="0" smtClean="0">
                          <a:solidFill>
                            <a:schemeClr val="tx1"/>
                          </a:solidFill>
                          <a:effectLst/>
                          <a:latin typeface="微软雅黑" panose="020B0503020204020204" pitchFamily="34" charset="-122"/>
                          <a:ea typeface="微软雅黑" panose="020B0503020204020204" pitchFamily="34" charset="-122"/>
                          <a:cs typeface="Heiti SC Light" panose="02000000000000000000" charset="-122"/>
                        </a:rPr>
                        <a:t>策略</a:t>
                      </a:r>
                      <a:endParaRPr lang="zh-CN" sz="1400" kern="100" dirty="0">
                        <a:solidFill>
                          <a:schemeClr val="tx1"/>
                        </a:solidFill>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r>
              <a:tr h="269265">
                <a:tc vMerge="1">
                  <a:tcPr/>
                </a:tc>
                <a:tc>
                  <a:txBody>
                    <a:bodyPr/>
                    <a:lstStyle/>
                    <a:p>
                      <a:pPr algn="l">
                        <a:spcAft>
                          <a:spcPts val="0"/>
                        </a:spcAft>
                      </a:pPr>
                      <a:r>
                        <a:rPr lang="en-US" alt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3</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c>
                  <a:txBody>
                    <a:bodyPr/>
                    <a:lstStyle/>
                    <a:p>
                      <a:pPr algn="l">
                        <a:spcAft>
                          <a:spcPts val="0"/>
                        </a:spcAft>
                      </a:pPr>
                      <a:r>
                        <a:rPr lang="zh-CN" altLang="en-US" sz="1400" kern="100" dirty="0" smtClean="0">
                          <a:effectLst/>
                          <a:latin typeface="微软雅黑" panose="020B0503020204020204" pitchFamily="34" charset="-122"/>
                          <a:ea typeface="微软雅黑" panose="020B0503020204020204" pitchFamily="34" charset="-122"/>
                          <a:cs typeface="Heiti SC Light" panose="02000000000000000000" charset="-122"/>
                        </a:rPr>
                        <a:t>段上限策略</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r>
              <a:tr h="269265">
                <a:tc vMerge="1">
                  <a:tcPr/>
                </a:tc>
                <a:tc>
                  <a:txBody>
                    <a:bodyPr/>
                    <a:lstStyle/>
                    <a:p>
                      <a:pPr algn="l">
                        <a:spcAft>
                          <a:spcPts val="0"/>
                        </a:spcAft>
                      </a:pPr>
                      <a:r>
                        <a:rPr lang="en-US" alt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4</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c>
                  <a:txBody>
                    <a:bodyPr/>
                    <a:lstStyle/>
                    <a:p>
                      <a:pPr algn="l">
                        <a:spcAft>
                          <a:spcPts val="0"/>
                        </a:spcAft>
                      </a:pPr>
                      <a:r>
                        <a:rPr lang="zh-CN" altLang="en-US" sz="1400" kern="100" dirty="0" smtClean="0">
                          <a:effectLst/>
                          <a:latin typeface="微软雅黑" panose="020B0503020204020204" pitchFamily="34" charset="-122"/>
                          <a:ea typeface="微软雅黑" panose="020B0503020204020204" pitchFamily="34" charset="-122"/>
                          <a:cs typeface="Heiti SC Light" panose="02000000000000000000" charset="-122"/>
                        </a:rPr>
                        <a:t>段比例策略</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r>
              <a:tr h="269265">
                <a:tc vMerge="1">
                  <a:tcPr/>
                </a:tc>
                <a:tc>
                  <a:txBody>
                    <a:bodyPr/>
                    <a:lstStyle/>
                    <a:p>
                      <a:pPr algn="l">
                        <a:spcAft>
                          <a:spcPts val="0"/>
                        </a:spcAft>
                      </a:pPr>
                      <a:r>
                        <a:rPr lang="en-US" alt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5</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c>
                  <a:txBody>
                    <a:bodyPr/>
                    <a:lstStyle/>
                    <a:p>
                      <a:pPr algn="l">
                        <a:spcAft>
                          <a:spcPts val="0"/>
                        </a:spcAft>
                      </a:pPr>
                      <a:r>
                        <a:rPr lang="zh-CN" altLang="en-US" sz="1400" kern="100" dirty="0" smtClean="0">
                          <a:effectLst/>
                          <a:latin typeface="微软雅黑" panose="020B0503020204020204" pitchFamily="34" charset="-122"/>
                          <a:ea typeface="微软雅黑" panose="020B0503020204020204" pitchFamily="34" charset="-122"/>
                          <a:cs typeface="Heiti SC Light" panose="02000000000000000000" charset="-122"/>
                        </a:rPr>
                        <a:t>分布异常策略</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r>
              <a:tr h="269265">
                <a:tc vMerge="1">
                  <a:tcPr/>
                </a:tc>
                <a:tc>
                  <a:txBody>
                    <a:bodyPr/>
                    <a:lstStyle/>
                    <a:p>
                      <a:pPr algn="l">
                        <a:spcAft>
                          <a:spcPts val="0"/>
                        </a:spcAft>
                      </a:pPr>
                      <a:r>
                        <a:rPr lang="en-US" alt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6</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c>
                  <a:txBody>
                    <a:bodyPr/>
                    <a:lstStyle/>
                    <a:p>
                      <a:pPr algn="l">
                        <a:spcAft>
                          <a:spcPts val="0"/>
                        </a:spcAft>
                      </a:pPr>
                      <a:r>
                        <a:rPr lang="zh-CN" altLang="en-US" sz="1400" kern="100" dirty="0" smtClean="0">
                          <a:effectLst/>
                          <a:latin typeface="微软雅黑" panose="020B0503020204020204" pitchFamily="34" charset="-122"/>
                          <a:ea typeface="微软雅黑" panose="020B0503020204020204" pitchFamily="34" charset="-122"/>
                          <a:cs typeface="Heiti SC Light" panose="02000000000000000000" charset="-122"/>
                        </a:rPr>
                        <a:t>自动黑名单策略</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r>
              <a:tr h="269265">
                <a:tc vMerge="1">
                  <a:tcPr/>
                </a:tc>
                <a:tc>
                  <a:txBody>
                    <a:bodyPr/>
                    <a:lstStyle/>
                    <a:p>
                      <a:pPr algn="l">
                        <a:spcAft>
                          <a:spcPts val="0"/>
                        </a:spcAft>
                      </a:pPr>
                      <a:r>
                        <a:rPr lang="en-US" alt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7</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c>
                  <a:txBody>
                    <a:bodyPr/>
                    <a:lstStyle/>
                    <a:p>
                      <a:pPr algn="l">
                        <a:spcAft>
                          <a:spcPts val="0"/>
                        </a:spcAft>
                      </a:pPr>
                      <a:r>
                        <a:rPr lang="zh-CN" altLang="en-US" sz="1400" kern="100" dirty="0" smtClean="0">
                          <a:effectLst/>
                          <a:latin typeface="微软雅黑" panose="020B0503020204020204" pitchFamily="34" charset="-122"/>
                          <a:ea typeface="微软雅黑" panose="020B0503020204020204" pitchFamily="34" charset="-122"/>
                          <a:cs typeface="Heiti SC Light" panose="02000000000000000000" charset="-122"/>
                        </a:rPr>
                        <a:t>多特征策略</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r>
              <a:tr h="269265">
                <a:tc vMerge="1">
                  <a:tcPr marL="68580" marR="68580" marT="0" marB="0" anchor="ctr"/>
                </a:tc>
                <a:tc>
                  <a:txBody>
                    <a:bodyPr/>
                    <a:lstStyle/>
                    <a:p>
                      <a:pPr algn="l">
                        <a:spcAft>
                          <a:spcPts val="0"/>
                        </a:spcAft>
                      </a:pPr>
                      <a:r>
                        <a:rPr lang="en-US" alt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9</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c>
                  <a:txBody>
                    <a:bodyPr/>
                    <a:lstStyle/>
                    <a:p>
                      <a:pPr algn="l">
                        <a:spcAft>
                          <a:spcPts val="0"/>
                        </a:spcAft>
                      </a:pPr>
                      <a:r>
                        <a:rPr lang="zh-CN" altLang="en-US" sz="1400" kern="100" dirty="0" smtClean="0">
                          <a:effectLst/>
                          <a:latin typeface="微软雅黑" panose="020B0503020204020204" pitchFamily="34" charset="-122"/>
                          <a:ea typeface="微软雅黑" panose="020B0503020204020204" pitchFamily="34" charset="-122"/>
                          <a:cs typeface="Heiti SC Light" panose="02000000000000000000" charset="-122"/>
                        </a:rPr>
                        <a:t>模型策略</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r>
              <a:tr h="304404">
                <a:tc>
                  <a:txBody>
                    <a:bodyPr/>
                    <a:lstStyle/>
                    <a:p>
                      <a:pPr algn="l">
                        <a:spcAft>
                          <a:spcPts val="0"/>
                        </a:spcAft>
                      </a:pPr>
                      <a:r>
                        <a:rPr lang="zh-CN" sz="1400" kern="100" dirty="0">
                          <a:effectLst/>
                          <a:latin typeface="微软雅黑" panose="020B0503020204020204" pitchFamily="34" charset="-122"/>
                          <a:ea typeface="微软雅黑" panose="020B0503020204020204" pitchFamily="34" charset="-122"/>
                          <a:cs typeface="Heiti SC Light" panose="02000000000000000000" charset="-122"/>
                        </a:rPr>
                        <a:t>中间位</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c>
                  <a:txBody>
                    <a:bodyPr/>
                    <a:lstStyle/>
                    <a:p>
                      <a:pPr algn="l">
                        <a:spcAft>
                          <a:spcPts val="0"/>
                        </a:spcAft>
                      </a:pPr>
                      <a:r>
                        <a:rPr lang="en-US" sz="1400" kern="100">
                          <a:effectLst/>
                          <a:latin typeface="微软雅黑" panose="020B0503020204020204" pitchFamily="34" charset="-122"/>
                          <a:ea typeface="微软雅黑" panose="020B0503020204020204" pitchFamily="34" charset="-122"/>
                          <a:cs typeface="Heiti SC Light" panose="02000000000000000000" charset="-122"/>
                        </a:rPr>
                        <a:t>*</a:t>
                      </a:r>
                      <a:endParaRPr lang="zh-CN" sz="1400" kern="10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c>
                  <a:txBody>
                    <a:bodyPr/>
                    <a:lstStyle/>
                    <a:p>
                      <a:pPr algn="l">
                        <a:spcAft>
                          <a:spcPts val="0"/>
                        </a:spcAft>
                      </a:pPr>
                      <a:r>
                        <a:rPr lang="zh-CN" sz="1400" kern="100">
                          <a:effectLst/>
                          <a:latin typeface="微软雅黑" panose="020B0503020204020204" pitchFamily="34" charset="-122"/>
                          <a:ea typeface="微软雅黑" panose="020B0503020204020204" pitchFamily="34" charset="-122"/>
                          <a:cs typeface="Heiti SC Light" panose="02000000000000000000" charset="-122"/>
                        </a:rPr>
                        <a:t>策略序号</a:t>
                      </a:r>
                      <a:endParaRPr lang="zh-CN" sz="1400" kern="10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r>
              <a:tr h="621538">
                <a:tc>
                  <a:txBody>
                    <a:bodyPr/>
                    <a:lstStyle/>
                    <a:p>
                      <a:pPr algn="l">
                        <a:spcAft>
                          <a:spcPts val="0"/>
                        </a:spcAft>
                      </a:pPr>
                      <a:r>
                        <a:rPr lang="zh-CN" sz="1400" kern="100" dirty="0">
                          <a:effectLst/>
                          <a:latin typeface="微软雅黑" panose="020B0503020204020204" pitchFamily="34" charset="-122"/>
                          <a:ea typeface="微软雅黑" panose="020B0503020204020204" pitchFamily="34" charset="-122"/>
                          <a:cs typeface="Heiti SC Light" panose="02000000000000000000" charset="-122"/>
                        </a:rPr>
                        <a:t>最低位</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c>
                  <a:txBody>
                    <a:bodyPr/>
                    <a:lstStyle/>
                    <a:p>
                      <a:pPr algn="l">
                        <a:spcAft>
                          <a:spcPts val="0"/>
                        </a:spcAft>
                      </a:pPr>
                      <a:r>
                        <a:rPr lang="zh-CN" altLang="en-US" sz="1400" kern="100" dirty="0">
                          <a:effectLst/>
                          <a:latin typeface="微软雅黑" panose="020B0503020204020204" pitchFamily="34" charset="-122"/>
                          <a:ea typeface="微软雅黑" panose="020B0503020204020204" pitchFamily="34" charset="-122"/>
                          <a:cs typeface="Heiti SC Light" panose="02000000000000000000" charset="-122"/>
                        </a:rPr>
                        <a:t>*</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c>
                  <a:txBody>
                    <a:bodyPr/>
                    <a:lstStyle/>
                    <a:p>
                      <a:pPr algn="l">
                        <a:spcAft>
                          <a:spcPts val="0"/>
                        </a:spcAft>
                      </a:pPr>
                      <a:r>
                        <a:rPr lang="zh-CN" altLang="en-US" sz="1400" kern="100" dirty="0" smtClean="0">
                          <a:effectLst/>
                          <a:latin typeface="微软雅黑" panose="020B0503020204020204" pitchFamily="34" charset="-122"/>
                          <a:ea typeface="微软雅黑" panose="020B0503020204020204" pitchFamily="34" charset="-122"/>
                          <a:cs typeface="Heiti SC Light" panose="02000000000000000000" charset="-122"/>
                        </a:rPr>
                        <a:t>和</a:t>
                      </a:r>
                      <a:r>
                        <a:rPr lang="en-US" altLang="zh-CN" sz="1400" kern="100" dirty="0" err="1" smtClean="0">
                          <a:effectLst/>
                          <a:latin typeface="微软雅黑" panose="020B0503020204020204" pitchFamily="34" charset="-122"/>
                          <a:ea typeface="微软雅黑" panose="020B0503020204020204" pitchFamily="34" charset="-122"/>
                          <a:cs typeface="Heiti SC Light" panose="02000000000000000000" charset="-122"/>
                        </a:rPr>
                        <a:t>accessid</a:t>
                      </a:r>
                      <a:r>
                        <a:rPr lang="zh-CN" altLang="en-US" sz="1400" kern="100" dirty="0" smtClean="0">
                          <a:effectLst/>
                          <a:latin typeface="微软雅黑" panose="020B0503020204020204" pitchFamily="34" charset="-122"/>
                          <a:ea typeface="微软雅黑" panose="020B0503020204020204" pitchFamily="34" charset="-122"/>
                          <a:cs typeface="Heiti SC Light" panose="02000000000000000000" charset="-122"/>
                        </a:rPr>
                        <a:t>保持一致</a:t>
                      </a:r>
                      <a:endParaRPr lang="en-US" altLang="zh-CN" sz="1400" kern="100" dirty="0" smtClean="0">
                        <a:effectLst/>
                        <a:latin typeface="微软雅黑" panose="020B0503020204020204" pitchFamily="34" charset="-122"/>
                        <a:ea typeface="微软雅黑" panose="020B0503020204020204" pitchFamily="34" charset="-122"/>
                        <a:cs typeface="Heiti SC Light" panose="02000000000000000000" charset="-122"/>
                      </a:endParaRPr>
                    </a:p>
                    <a:p>
                      <a:pPr algn="l">
                        <a:spcAft>
                          <a:spcPts val="0"/>
                        </a:spcAft>
                      </a:pPr>
                      <a:r>
                        <a:rPr lang="en-US" alt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1-&gt;</a:t>
                      </a:r>
                      <a:r>
                        <a:rPr lang="zh-CN" altLang="en-US" sz="1400" kern="100" dirty="0" smtClean="0">
                          <a:effectLst/>
                          <a:latin typeface="微软雅黑" panose="020B0503020204020204" pitchFamily="34" charset="-122"/>
                          <a:ea typeface="微软雅黑" panose="020B0503020204020204" pitchFamily="34" charset="-122"/>
                          <a:cs typeface="Heiti SC Light" panose="02000000000000000000" charset="-122"/>
                        </a:rPr>
                        <a:t>凤巢</a:t>
                      </a:r>
                      <a:r>
                        <a:rPr lang="en-US" alt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 4-&gt;</a:t>
                      </a:r>
                      <a:r>
                        <a:rPr lang="en-US" altLang="zh-CN" sz="1400" kern="100" dirty="0" err="1" smtClean="0">
                          <a:effectLst/>
                          <a:latin typeface="微软雅黑" panose="020B0503020204020204" pitchFamily="34" charset="-122"/>
                          <a:ea typeface="微软雅黑" panose="020B0503020204020204" pitchFamily="34" charset="-122"/>
                          <a:cs typeface="Heiti SC Light" panose="02000000000000000000" charset="-122"/>
                        </a:rPr>
                        <a:t>zhixin</a:t>
                      </a:r>
                      <a:r>
                        <a:rPr lang="en-US" alt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  7-&gt;</a:t>
                      </a:r>
                      <a:r>
                        <a:rPr lang="zh-CN" altLang="en-US" sz="1400" kern="100" dirty="0" smtClean="0">
                          <a:effectLst/>
                          <a:latin typeface="微软雅黑" panose="020B0503020204020204" pitchFamily="34" charset="-122"/>
                          <a:ea typeface="微软雅黑" panose="020B0503020204020204" pitchFamily="34" charset="-122"/>
                          <a:cs typeface="Heiti SC Light" panose="02000000000000000000" charset="-122"/>
                        </a:rPr>
                        <a:t>百意</a:t>
                      </a:r>
                      <a:r>
                        <a:rPr lang="zh-CN" alt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a:t>
                      </a:r>
                      <a:r>
                        <a:rPr lang="en-US" alt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 </a:t>
                      </a:r>
                      <a:r>
                        <a:rPr lang="en-US" altLang="zh-CN" sz="1400" kern="100" dirty="0" err="1" smtClean="0">
                          <a:effectLst/>
                          <a:latin typeface="微软雅黑" panose="020B0503020204020204" pitchFamily="34" charset="-122"/>
                          <a:ea typeface="微软雅黑" panose="020B0503020204020204" pitchFamily="34" charset="-122"/>
                          <a:cs typeface="Heiti SC Light" panose="02000000000000000000" charset="-122"/>
                        </a:rPr>
                        <a:t>cpro</a:t>
                      </a:r>
                      <a:r>
                        <a:rPr lang="en-US" alt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 -2</a:t>
                      </a:r>
                      <a:r>
                        <a:rPr lang="zh-CN" altLang="en-US" sz="1400" kern="100" dirty="0" smtClean="0">
                          <a:effectLst/>
                          <a:latin typeface="微软雅黑" panose="020B0503020204020204" pitchFamily="34" charset="-122"/>
                          <a:ea typeface="微软雅黑" panose="020B0503020204020204" pitchFamily="34" charset="-122"/>
                          <a:cs typeface="Heiti SC Light" panose="02000000000000000000" charset="-122"/>
                        </a:rPr>
                        <a:t>，</a:t>
                      </a:r>
                      <a:r>
                        <a:rPr lang="en-US" alt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 newdsp-6</a:t>
                      </a:r>
                      <a:r>
                        <a:rPr lang="zh-CN" altLang="en-US" sz="1400" kern="100" dirty="0" smtClean="0">
                          <a:effectLst/>
                          <a:latin typeface="微软雅黑" panose="020B0503020204020204" pitchFamily="34" charset="-122"/>
                          <a:ea typeface="微软雅黑" panose="020B0503020204020204" pitchFamily="34" charset="-122"/>
                          <a:cs typeface="Heiti SC Light" panose="02000000000000000000" charset="-122"/>
                        </a:rPr>
                        <a:t>，</a:t>
                      </a:r>
                      <a:r>
                        <a:rPr lang="en-US" alt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 </a:t>
                      </a:r>
                      <a:r>
                        <a:rPr lang="zh-CN" altLang="en-US" sz="1400" kern="100" dirty="0" smtClean="0">
                          <a:effectLst/>
                          <a:latin typeface="微软雅黑" panose="020B0503020204020204" pitchFamily="34" charset="-122"/>
                          <a:ea typeface="微软雅黑" panose="020B0503020204020204" pitchFamily="34" charset="-122"/>
                          <a:cs typeface="Heiti SC Light" panose="02000000000000000000" charset="-122"/>
                        </a:rPr>
                        <a:t>秋实</a:t>
                      </a:r>
                      <a:r>
                        <a:rPr lang="en-US" altLang="zh-CN" sz="1400" kern="100" dirty="0" smtClean="0">
                          <a:effectLst/>
                          <a:latin typeface="微软雅黑" panose="020B0503020204020204" pitchFamily="34" charset="-122"/>
                          <a:ea typeface="微软雅黑" panose="020B0503020204020204" pitchFamily="34" charset="-122"/>
                          <a:cs typeface="Heiti SC Light" panose="02000000000000000000" charset="-122"/>
                        </a:rPr>
                        <a:t>-7</a:t>
                      </a:r>
                      <a:r>
                        <a:rPr lang="zh-CN" altLang="en-US" sz="1400" kern="100" dirty="0" smtClean="0">
                          <a:effectLst/>
                          <a:latin typeface="微软雅黑" panose="020B0503020204020204" pitchFamily="34" charset="-122"/>
                          <a:ea typeface="微软雅黑" panose="020B0503020204020204" pitchFamily="34" charset="-122"/>
                          <a:cs typeface="Heiti SC Light" panose="02000000000000000000" charset="-122"/>
                        </a:rPr>
                        <a:t> ）</a:t>
                      </a:r>
                      <a:endParaRPr lang="zh-CN" sz="1400" kern="100" dirty="0">
                        <a:effectLst/>
                        <a:latin typeface="微软雅黑" panose="020B0503020204020204" pitchFamily="34" charset="-122"/>
                        <a:ea typeface="微软雅黑" panose="020B0503020204020204" pitchFamily="34" charset="-122"/>
                        <a:cs typeface="Heiti SC Light" panose="02000000000000000000" charset="-122"/>
                      </a:endParaRPr>
                    </a:p>
                  </a:txBody>
                  <a:tcPr marL="68580" marR="68580" marT="0" marB="0" anchor="ctr"/>
                </a:tc>
              </a:tr>
            </a:tbl>
          </a:graphicData>
        </a:graphic>
      </p:graphicFrame>
      <p:sp>
        <p:nvSpPr>
          <p:cNvPr id="3" name="文本框 2"/>
          <p:cNvSpPr txBox="1"/>
          <p:nvPr/>
        </p:nvSpPr>
        <p:spPr>
          <a:xfrm>
            <a:off x="4184729" y="4423993"/>
            <a:ext cx="4102047" cy="461665"/>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表</a:t>
            </a:r>
            <a:r>
              <a:rPr lang="en-US" altLang="zh-CN" sz="1200" dirty="0" smtClean="0">
                <a:latin typeface="微软雅黑" panose="020B0503020204020204" pitchFamily="34" charset="-122"/>
                <a:ea typeface="微软雅黑" panose="020B0503020204020204" pitchFamily="34" charset="-122"/>
              </a:rPr>
              <a:t>a:</a:t>
            </a:r>
            <a:r>
              <a:rPr lang="zh-CN" altLang="en-US" sz="1200" dirty="0" smtClean="0">
                <a:latin typeface="微软雅黑" panose="020B0503020204020204" pitchFamily="34" charset="-122"/>
                <a:ea typeface="微软雅黑" panose="020B0503020204020204" pitchFamily="34" charset="-122"/>
              </a:rPr>
              <a:t>策略命名规则表</a:t>
            </a:r>
            <a:endParaRPr lang="en-US" altLang="zh-CN" sz="1200" dirty="0" smtClean="0">
              <a:latin typeface="微软雅黑" panose="020B0503020204020204" pitchFamily="34" charset="-122"/>
              <a:ea typeface="微软雅黑" panose="020B0503020204020204" pitchFamily="34" charset="-122"/>
            </a:endParaRPr>
          </a:p>
          <a:p>
            <a:pPr algn="ctr"/>
            <a:r>
              <a:rPr lang="en-US" altLang="zh-CN" sz="1200" dirty="0" smtClean="0">
                <a:latin typeface="微软雅黑" panose="020B0503020204020204" pitchFamily="34" charset="-122"/>
                <a:ea typeface="微软雅黑" panose="020B0503020204020204" pitchFamily="34" charset="-122"/>
              </a:rPr>
              <a:t>(10001</a:t>
            </a:r>
            <a:r>
              <a:rPr lang="zh-CN" altLang="en-US" sz="1200" dirty="0" smtClean="0">
                <a:latin typeface="微软雅黑" panose="020B0503020204020204" pitchFamily="34" charset="-122"/>
                <a:ea typeface="微软雅黑" panose="020B0503020204020204" pitchFamily="34" charset="-122"/>
              </a:rPr>
              <a:t>就表示该策略为针对凤巢的简单策略，序号</a:t>
            </a:r>
            <a:r>
              <a:rPr lang="en-US" altLang="zh-CN" sz="1200" dirty="0" smtClean="0">
                <a:latin typeface="微软雅黑" panose="020B0503020204020204" pitchFamily="34" charset="-122"/>
                <a:ea typeface="微软雅黑" panose="020B0503020204020204" pitchFamily="34" charset="-122"/>
              </a:rPr>
              <a:t>000)</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76722"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en-US" altLang="zh-CN" sz="1400" b="1" spc="200" dirty="0">
                <a:latin typeface="微软雅黑"/>
                <a:ea typeface="微软雅黑"/>
                <a:cs typeface="微软雅黑"/>
              </a:rPr>
              <a:t>judge</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3880022" cy="3874046"/>
          </a:xfrm>
        </p:spPr>
        <p:txBody>
          <a:bodyPr>
            <a:noAutofit/>
          </a:bodyPr>
          <a:lstStyle/>
          <a:p>
            <a:pPr marL="0" indent="0">
              <a:spcAft>
                <a:spcPts val="600"/>
              </a:spcAft>
              <a:buSzPct val="120000"/>
              <a:buNone/>
            </a:pPr>
            <a:r>
              <a:rPr kumimoji="1" lang="en-US" altLang="zh-CN" sz="1800" dirty="0" smtClean="0">
                <a:latin typeface="微软雅黑" panose="020B0503020204020204" pitchFamily="34" charset="-122"/>
                <a:ea typeface="微软雅黑" panose="020B0503020204020204" pitchFamily="34" charset="-122"/>
                <a:cs typeface="宋体" charset="0"/>
              </a:rPr>
              <a:t>judge</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过滤层级内往往有多个策略，不同的策略对同一条日志的判定结果可能并不相同，目前在</a:t>
            </a:r>
            <a:r>
              <a:rPr kumimoji="1" lang="en-US" altLang="zh-CN" sz="1600" dirty="0" err="1" smtClean="0">
                <a:latin typeface="微软雅黑" panose="020B0503020204020204" pitchFamily="34" charset="-122"/>
                <a:ea typeface="微软雅黑" panose="020B0503020204020204" pitchFamily="34" charset="-122"/>
                <a:cs typeface="宋体" charset="0"/>
              </a:rPr>
              <a:t>LogMerger</a:t>
            </a:r>
            <a:r>
              <a:rPr kumimoji="1" lang="zh-CN" altLang="en-US" sz="1600" dirty="0" smtClean="0">
                <a:latin typeface="微软雅黑" panose="020B0503020204020204" pitchFamily="34" charset="-122"/>
                <a:ea typeface="微软雅黑" panose="020B0503020204020204" pitchFamily="34" charset="-122"/>
                <a:cs typeface="宋体" charset="0"/>
              </a:rPr>
              <a:t>层会将多策略命中的结果进行加权求和，根据结果是否超出阈值判定这条日志是否真正被过滤。</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en-US" altLang="zh-CN" sz="1800" dirty="0" smtClean="0">
                <a:latin typeface="微软雅黑" panose="020B0503020204020204" pitchFamily="34" charset="-122"/>
                <a:ea typeface="微软雅黑" panose="020B0503020204020204" pitchFamily="34" charset="-122"/>
                <a:cs typeface="宋体" charset="0"/>
              </a:rPr>
              <a:t>judge</a:t>
            </a:r>
            <a:r>
              <a:rPr kumimoji="1" lang="zh-CN" altLang="en-US" sz="1800" dirty="0" smtClean="0">
                <a:latin typeface="微软雅黑" panose="020B0503020204020204" pitchFamily="34" charset="-122"/>
                <a:ea typeface="微软雅黑" panose="020B0503020204020204" pitchFamily="34" charset="-122"/>
                <a:cs typeface="宋体" charset="0"/>
              </a:rPr>
              <a:t>配置文件</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在当前是实际</a:t>
            </a:r>
            <a:r>
              <a:rPr kumimoji="1" lang="en-US" altLang="zh-CN" sz="1600" dirty="0" smtClean="0">
                <a:latin typeface="微软雅黑" panose="020B0503020204020204" pitchFamily="34" charset="-122"/>
                <a:ea typeface="微软雅黑" panose="020B0503020204020204" pitchFamily="34" charset="-122"/>
                <a:cs typeface="宋体" charset="0"/>
              </a:rPr>
              <a:t>judge</a:t>
            </a:r>
            <a:r>
              <a:rPr kumimoji="1" lang="zh-CN" altLang="en-US" sz="1600" dirty="0" smtClean="0">
                <a:latin typeface="微软雅黑" panose="020B0503020204020204" pitchFamily="34" charset="-122"/>
                <a:ea typeface="微软雅黑" panose="020B0503020204020204" pitchFamily="34" charset="-122"/>
                <a:cs typeface="宋体" charset="0"/>
              </a:rPr>
              <a:t>配置文件中，由于</a:t>
            </a:r>
            <a:r>
              <a:rPr kumimoji="1" lang="en-US" altLang="zh-CN" sz="1600" dirty="0" smtClean="0">
                <a:latin typeface="微软雅黑" panose="020B0503020204020204" pitchFamily="34" charset="-122"/>
                <a:ea typeface="微软雅黑" panose="020B0503020204020204" pitchFamily="34" charset="-122"/>
                <a:cs typeface="宋体" charset="0"/>
              </a:rPr>
              <a:t>threshold</a:t>
            </a:r>
            <a:r>
              <a:rPr kumimoji="1" lang="zh-CN" altLang="en-US" sz="1600" dirty="0" smtClean="0">
                <a:latin typeface="微软雅黑" panose="020B0503020204020204" pitchFamily="34" charset="-122"/>
                <a:ea typeface="微软雅黑" panose="020B0503020204020204" pitchFamily="34" charset="-122"/>
                <a:cs typeface="宋体" charset="0"/>
              </a:rPr>
              <a:t>皆为</a:t>
            </a:r>
            <a:r>
              <a:rPr kumimoji="1" lang="en-US" altLang="zh-CN" sz="1600" dirty="0">
                <a:latin typeface="微软雅黑" panose="020B0503020204020204" pitchFamily="34" charset="-122"/>
                <a:ea typeface="微软雅黑" panose="020B0503020204020204" pitchFamily="34" charset="-122"/>
                <a:cs typeface="宋体" charset="0"/>
              </a:rPr>
              <a:t>0</a:t>
            </a:r>
            <a:r>
              <a:rPr kumimoji="1" lang="zh-CN" altLang="en-US" sz="1600" dirty="0" smtClean="0">
                <a:latin typeface="微软雅黑" panose="020B0503020204020204" pitchFamily="34" charset="-122"/>
                <a:ea typeface="微软雅黑" panose="020B0503020204020204" pitchFamily="34" charset="-122"/>
                <a:cs typeface="宋体" charset="0"/>
              </a:rPr>
              <a:t>，所以可以认为在</a:t>
            </a:r>
            <a:r>
              <a:rPr kumimoji="1" lang="en-US" altLang="zh-CN" sz="1600" dirty="0" err="1" smtClean="0">
                <a:latin typeface="微软雅黑" panose="020B0503020204020204" pitchFamily="34" charset="-122"/>
                <a:ea typeface="微软雅黑" panose="020B0503020204020204" pitchFamily="34" charset="-122"/>
                <a:cs typeface="宋体" charset="0"/>
              </a:rPr>
              <a:t>dformat</a:t>
            </a:r>
            <a:r>
              <a:rPr kumimoji="1" lang="zh-CN" altLang="en-US" sz="1600" dirty="0" smtClean="0">
                <a:latin typeface="微软雅黑" panose="020B0503020204020204" pitchFamily="34" charset="-122"/>
                <a:ea typeface="微软雅黑" panose="020B0503020204020204" pitchFamily="34" charset="-122"/>
                <a:cs typeface="宋体" charset="0"/>
              </a:rPr>
              <a:t>层和</a:t>
            </a:r>
            <a:r>
              <a:rPr kumimoji="1" lang="en-US" altLang="zh-CN" sz="1600" dirty="0" smtClean="0">
                <a:latin typeface="微软雅黑" panose="020B0503020204020204" pitchFamily="34" charset="-122"/>
                <a:ea typeface="微软雅黑" panose="020B0503020204020204" pitchFamily="34" charset="-122"/>
                <a:cs typeface="宋体" charset="0"/>
              </a:rPr>
              <a:t>Themis</a:t>
            </a:r>
            <a:r>
              <a:rPr kumimoji="1" lang="zh-CN" altLang="en-US" sz="1600" dirty="0" smtClean="0">
                <a:latin typeface="微软雅黑" panose="020B0503020204020204" pitchFamily="34" charset="-122"/>
                <a:ea typeface="微软雅黑" panose="020B0503020204020204" pitchFamily="34" charset="-122"/>
                <a:cs typeface="宋体" charset="0"/>
              </a:rPr>
              <a:t>层，日志只要被一条策略命中，就会被认为是作弊</a:t>
            </a:r>
            <a:endParaRPr kumimoji="1" lang="en-US" altLang="zh-CN" sz="1600" dirty="0">
              <a:latin typeface="微软雅黑" panose="020B0503020204020204" pitchFamily="34" charset="-122"/>
              <a:ea typeface="微软雅黑" panose="020B0503020204020204" pitchFamily="34" charset="-122"/>
              <a:cs typeface="宋体" charset="0"/>
            </a:endParaRPr>
          </a:p>
        </p:txBody>
      </p:sp>
      <p:pic>
        <p:nvPicPr>
          <p:cNvPr id="2" name="图片 1"/>
          <p:cNvPicPr>
            <a:picLocks noChangeAspect="1"/>
          </p:cNvPicPr>
          <p:nvPr/>
        </p:nvPicPr>
        <p:blipFill>
          <a:blip r:embed="rId2"/>
          <a:stretch>
            <a:fillRect/>
          </a:stretch>
        </p:blipFill>
        <p:spPr>
          <a:xfrm>
            <a:off x="5075758" y="1393620"/>
            <a:ext cx="1476375" cy="1724025"/>
          </a:xfrm>
          <a:prstGeom prst="rect">
            <a:avLst/>
          </a:prstGeom>
        </p:spPr>
      </p:pic>
      <p:sp>
        <p:nvSpPr>
          <p:cNvPr id="5" name="文本框 4"/>
          <p:cNvSpPr txBox="1"/>
          <p:nvPr/>
        </p:nvSpPr>
        <p:spPr>
          <a:xfrm>
            <a:off x="5178721" y="4222887"/>
            <a:ext cx="3583142" cy="646331"/>
          </a:xfrm>
          <a:prstGeom prst="rect">
            <a:avLst/>
          </a:prstGeom>
          <a:noFill/>
        </p:spPr>
        <p:txBody>
          <a:bodyPr wrap="square" rtlCol="0">
            <a:spAutoFit/>
          </a:bodyPr>
          <a:lstStyle/>
          <a:p>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1: a)</a:t>
            </a:r>
            <a:r>
              <a:rPr lang="en-US" altLang="zh-CN" sz="1200" dirty="0" err="1" smtClean="0">
                <a:latin typeface="微软雅黑" panose="020B0503020204020204" pitchFamily="34" charset="-122"/>
                <a:ea typeface="微软雅黑" panose="020B0503020204020204" pitchFamily="34" charset="-122"/>
              </a:rPr>
              <a:t>dformat</a:t>
            </a:r>
            <a:r>
              <a:rPr lang="zh-CN" altLang="en-US" sz="1200" dirty="0" smtClean="0">
                <a:latin typeface="微软雅黑" panose="020B0503020204020204" pitchFamily="34" charset="-122"/>
                <a:ea typeface="微软雅黑" panose="020B0503020204020204" pitchFamily="34" charset="-122"/>
              </a:rPr>
              <a:t>层</a:t>
            </a:r>
            <a:r>
              <a:rPr lang="en-US" altLang="zh-CN" sz="1200" dirty="0" smtClean="0">
                <a:latin typeface="微软雅黑" panose="020B0503020204020204" pitchFamily="34" charset="-122"/>
                <a:ea typeface="微软雅黑" panose="020B0503020204020204" pitchFamily="34" charset="-122"/>
              </a:rPr>
              <a:t>judge</a:t>
            </a:r>
            <a:r>
              <a:rPr lang="zh-CN" altLang="en-US" sz="1200" dirty="0" smtClean="0">
                <a:latin typeface="微软雅黑" panose="020B0503020204020204" pitchFamily="34" charset="-122"/>
                <a:ea typeface="微软雅黑" panose="020B0503020204020204" pitchFamily="34" charset="-122"/>
              </a:rPr>
              <a:t>配置文件</a:t>
            </a:r>
            <a:r>
              <a:rPr lang="en-US" altLang="zh-CN" sz="1200" dirty="0" smtClean="0">
                <a:latin typeface="微软雅黑" panose="020B0503020204020204" pitchFamily="34" charset="-122"/>
                <a:ea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rPr>
              <a:t>部分</a:t>
            </a:r>
            <a:r>
              <a:rPr lang="en-US" altLang="zh-CN" sz="1200" dirty="0" smtClean="0">
                <a:latin typeface="微软雅黑" panose="020B0503020204020204" pitchFamily="34" charset="-122"/>
                <a:ea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rPr>
              <a:t>。</a:t>
            </a:r>
            <a:r>
              <a:rPr lang="en-US" altLang="zh-CN" sz="1200" dirty="0" smtClean="0">
                <a:latin typeface="微软雅黑" panose="020B0503020204020204" pitchFamily="34" charset="-122"/>
                <a:ea typeface="微软雅黑" panose="020B0503020204020204" pitchFamily="34" charset="-122"/>
              </a:rPr>
              <a:t>b)Themis</a:t>
            </a:r>
            <a:r>
              <a:rPr lang="zh-CN" altLang="en-US" sz="1200" dirty="0" smtClean="0">
                <a:latin typeface="微软雅黑" panose="020B0503020204020204" pitchFamily="34" charset="-122"/>
                <a:ea typeface="微软雅黑" panose="020B0503020204020204" pitchFamily="34" charset="-122"/>
              </a:rPr>
              <a:t>层检索日志</a:t>
            </a:r>
            <a:r>
              <a:rPr lang="en-US" altLang="zh-CN" sz="1200" dirty="0" smtClean="0">
                <a:latin typeface="微软雅黑" panose="020B0503020204020204" pitchFamily="34" charset="-122"/>
                <a:ea typeface="微软雅黑" panose="020B0503020204020204" pitchFamily="34" charset="-122"/>
              </a:rPr>
              <a:t>judge</a:t>
            </a:r>
            <a:r>
              <a:rPr lang="zh-CN" altLang="en-US" sz="1200" dirty="0" smtClean="0">
                <a:latin typeface="微软雅黑" panose="020B0503020204020204" pitchFamily="34" charset="-122"/>
                <a:ea typeface="微软雅黑" panose="020B0503020204020204" pitchFamily="34" charset="-122"/>
              </a:rPr>
              <a:t>配置文件</a:t>
            </a:r>
            <a:r>
              <a:rPr lang="en-US" altLang="zh-CN" sz="1200" dirty="0" smtClean="0">
                <a:latin typeface="微软雅黑" panose="020B0503020204020204" pitchFamily="34" charset="-122"/>
                <a:ea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rPr>
              <a:t>部分</a:t>
            </a:r>
            <a:r>
              <a:rPr lang="en-US" altLang="zh-CN" sz="1200" dirty="0" smtClean="0">
                <a:latin typeface="微软雅黑" panose="020B0503020204020204" pitchFamily="34" charset="-122"/>
                <a:ea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rPr>
              <a:t>。</a:t>
            </a:r>
            <a:r>
              <a:rPr lang="en-US" altLang="zh-CN" sz="1200" dirty="0" smtClean="0">
                <a:latin typeface="微软雅黑" panose="020B0503020204020204" pitchFamily="34" charset="-122"/>
                <a:ea typeface="微软雅黑" panose="020B0503020204020204" pitchFamily="34" charset="-122"/>
              </a:rPr>
              <a:t>c)Themis</a:t>
            </a:r>
            <a:r>
              <a:rPr lang="zh-CN" altLang="en-US" sz="1200" dirty="0" smtClean="0">
                <a:latin typeface="微软雅黑" panose="020B0503020204020204" pitchFamily="34" charset="-122"/>
                <a:ea typeface="微软雅黑" panose="020B0503020204020204" pitchFamily="34" charset="-122"/>
              </a:rPr>
              <a:t>层点击日志</a:t>
            </a:r>
            <a:r>
              <a:rPr lang="en-US" altLang="zh-CN" sz="1200" dirty="0" smtClean="0">
                <a:latin typeface="微软雅黑" panose="020B0503020204020204" pitchFamily="34" charset="-122"/>
                <a:ea typeface="微软雅黑" panose="020B0503020204020204" pitchFamily="34" charset="-122"/>
              </a:rPr>
              <a:t>judge</a:t>
            </a:r>
            <a:r>
              <a:rPr lang="zh-CN" altLang="en-US" sz="1200" dirty="0" smtClean="0">
                <a:latin typeface="微软雅黑" panose="020B0503020204020204" pitchFamily="34" charset="-122"/>
                <a:ea typeface="微软雅黑" panose="020B0503020204020204" pitchFamily="34" charset="-122"/>
              </a:rPr>
              <a:t>配置文件</a:t>
            </a:r>
            <a:r>
              <a:rPr lang="en-US" altLang="zh-CN" sz="1200" dirty="0" smtClean="0">
                <a:latin typeface="微软雅黑" panose="020B0503020204020204" pitchFamily="34" charset="-122"/>
                <a:ea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rPr>
              <a:t>部分</a:t>
            </a:r>
            <a:r>
              <a:rPr lang="en-US" altLang="zh-CN" sz="1200" dirty="0" smtClean="0">
                <a:latin typeface="微软雅黑" panose="020B0503020204020204" pitchFamily="34" charset="-122"/>
                <a:ea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075758" y="1116621"/>
            <a:ext cx="615358"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a:t>
            </a:r>
            <a:r>
              <a:rPr lang="en-US" altLang="zh-CN" sz="1200" b="1" dirty="0" smtClean="0">
                <a:latin typeface="微软雅黑" panose="020B0503020204020204" pitchFamily="34" charset="-122"/>
                <a:ea typeface="微软雅黑" panose="020B0503020204020204" pitchFamily="34" charset="-122"/>
              </a:rPr>
              <a:t>:</a:t>
            </a:r>
            <a:endParaRPr lang="zh-CN" altLang="en-US" sz="1200" b="1" dirty="0">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3"/>
          <a:stretch>
            <a:fillRect/>
          </a:stretch>
        </p:blipFill>
        <p:spPr>
          <a:xfrm>
            <a:off x="6782085" y="2513218"/>
            <a:ext cx="1543050" cy="1219200"/>
          </a:xfrm>
          <a:prstGeom prst="rect">
            <a:avLst/>
          </a:prstGeom>
        </p:spPr>
      </p:pic>
      <p:pic>
        <p:nvPicPr>
          <p:cNvPr id="12" name="图片 11"/>
          <p:cNvPicPr>
            <a:picLocks noChangeAspect="1"/>
          </p:cNvPicPr>
          <p:nvPr/>
        </p:nvPicPr>
        <p:blipFill>
          <a:blip r:embed="rId4"/>
          <a:stretch>
            <a:fillRect/>
          </a:stretch>
        </p:blipFill>
        <p:spPr>
          <a:xfrm>
            <a:off x="6782085" y="878201"/>
            <a:ext cx="1485900" cy="1390650"/>
          </a:xfrm>
          <a:prstGeom prst="rect">
            <a:avLst/>
          </a:prstGeom>
        </p:spPr>
      </p:pic>
      <p:sp>
        <p:nvSpPr>
          <p:cNvPr id="18" name="文本框 17"/>
          <p:cNvSpPr txBox="1"/>
          <p:nvPr/>
        </p:nvSpPr>
        <p:spPr>
          <a:xfrm>
            <a:off x="6782085" y="601202"/>
            <a:ext cx="615358" cy="276999"/>
          </a:xfrm>
          <a:prstGeom prst="rect">
            <a:avLst/>
          </a:prstGeom>
          <a:noFill/>
        </p:spPr>
        <p:txBody>
          <a:bodyPr wrap="square" rtlCol="0">
            <a:spAutoFit/>
          </a:bodyPr>
          <a:lstStyle/>
          <a:p>
            <a:r>
              <a:rPr lang="en-US" altLang="zh-CN" sz="1200" b="1" dirty="0" smtClean="0">
                <a:latin typeface="微软雅黑" panose="020B0503020204020204" pitchFamily="34" charset="-122"/>
                <a:ea typeface="微软雅黑" panose="020B0503020204020204" pitchFamily="34" charset="-122"/>
              </a:rPr>
              <a:t>b:</a:t>
            </a:r>
            <a:endParaRPr lang="zh-CN" altLang="en-US" sz="1200" b="1" dirty="0">
              <a:latin typeface="微软雅黑" panose="020B0503020204020204" pitchFamily="34" charset="-122"/>
              <a:ea typeface="微软雅黑" panose="020B0503020204020204" pitchFamily="34" charset="-122"/>
            </a:endParaRPr>
          </a:p>
        </p:txBody>
      </p:sp>
      <p:sp>
        <p:nvSpPr>
          <p:cNvPr id="21" name="文本框 20"/>
          <p:cNvSpPr txBox="1"/>
          <p:nvPr/>
        </p:nvSpPr>
        <p:spPr>
          <a:xfrm>
            <a:off x="6782085" y="2268851"/>
            <a:ext cx="615358"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c</a:t>
            </a:r>
            <a:r>
              <a:rPr lang="en-US" altLang="zh-CN" sz="1200" b="1" dirty="0" smtClean="0">
                <a:latin typeface="微软雅黑" panose="020B0503020204020204" pitchFamily="34" charset="-122"/>
                <a:ea typeface="微软雅黑" panose="020B0503020204020204" pitchFamily="34" charset="-122"/>
              </a:rPr>
              <a:t>:</a:t>
            </a:r>
            <a:endParaRPr lang="zh-CN" altLang="en-US" sz="12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配置文件</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8143195" cy="3874046"/>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配置文件</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配置</a:t>
            </a:r>
            <a:r>
              <a:rPr kumimoji="1" lang="zh-CN" altLang="en-US" sz="1600" dirty="0" smtClean="0">
                <a:latin typeface="微软雅黑" panose="020B0503020204020204" pitchFamily="34" charset="-122"/>
                <a:ea typeface="微软雅黑" panose="020B0503020204020204" pitchFamily="34" charset="-122"/>
                <a:cs typeface="宋体" charset="0"/>
              </a:rPr>
              <a:t>文件中包含从特征到策略的全部信息，目前不同策略特征的底层实现已经写好，新建或是修改策略的时候只需要对配置文件进行编辑即可。</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文件类型</a:t>
            </a:r>
            <a:endParaRPr kumimoji="1" lang="en-US" altLang="zh-CN" sz="20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record.conf</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smtClean="0">
                <a:latin typeface="微软雅黑" panose="020B0503020204020204" pitchFamily="34" charset="-122"/>
                <a:ea typeface="微软雅黑" panose="020B0503020204020204" pitchFamily="34" charset="-122"/>
                <a:cs typeface="宋体" charset="0"/>
              </a:rPr>
              <a:t>日志读取相关配置文件 </a:t>
            </a:r>
            <a:r>
              <a:rPr kumimoji="1" lang="en-US" altLang="zh-CN" sz="1600" dirty="0" smtClean="0">
                <a:latin typeface="微软雅黑" panose="020B0503020204020204" pitchFamily="34" charset="-122"/>
                <a:ea typeface="微软雅黑" panose="020B0503020204020204" pitchFamily="34" charset="-122"/>
                <a:cs typeface="宋体" charset="0"/>
              </a:rPr>
              <a:t>log-parse-lib</a:t>
            </a: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dict.conf</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词表</a:t>
            </a:r>
            <a:r>
              <a:rPr kumimoji="1" lang="zh-CN" altLang="en-US" sz="1600" dirty="0" smtClean="0">
                <a:latin typeface="微软雅黑" panose="020B0503020204020204" pitchFamily="34" charset="-122"/>
                <a:ea typeface="微软雅黑" panose="020B0503020204020204" pitchFamily="34" charset="-122"/>
                <a:cs typeface="宋体" charset="0"/>
              </a:rPr>
              <a:t>配置文件 </a:t>
            </a:r>
            <a:r>
              <a:rPr kumimoji="1" lang="en-US" altLang="zh-CN" sz="1600" dirty="0" err="1">
                <a:latin typeface="微软雅黑" panose="020B0503020204020204" pitchFamily="34" charset="-122"/>
                <a:ea typeface="微软雅黑" panose="020B0503020204020204" pitchFamily="34" charset="-122"/>
                <a:cs typeface="宋体" charset="0"/>
              </a:rPr>
              <a:t>extractor+policy</a:t>
            </a: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feature.conf</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特征配置文件 </a:t>
            </a:r>
            <a:r>
              <a:rPr kumimoji="1" lang="en-US" altLang="zh-CN" sz="1600" dirty="0">
                <a:latin typeface="微软雅黑" panose="020B0503020204020204" pitchFamily="34" charset="-122"/>
                <a:ea typeface="微软雅黑" panose="020B0503020204020204" pitchFamily="34" charset="-122"/>
                <a:cs typeface="宋体" charset="0"/>
              </a:rPr>
              <a:t>extractor</a:t>
            </a:r>
            <a:r>
              <a:rPr kumimoji="1" lang="zh-CN" altLang="en-US" sz="1600" dirty="0">
                <a:latin typeface="微软雅黑" panose="020B0503020204020204" pitchFamily="34" charset="-122"/>
                <a:ea typeface="微软雅黑" panose="020B0503020204020204" pitchFamily="34" charset="-122"/>
                <a:cs typeface="宋体" charset="0"/>
              </a:rPr>
              <a:t>＋</a:t>
            </a:r>
            <a:r>
              <a:rPr kumimoji="1" lang="en-US" altLang="zh-CN" sz="1600" dirty="0">
                <a:latin typeface="微软雅黑" panose="020B0503020204020204" pitchFamily="34" charset="-122"/>
                <a:ea typeface="微软雅黑" panose="020B0503020204020204" pitchFamily="34" charset="-122"/>
                <a:cs typeface="宋体" charset="0"/>
              </a:rPr>
              <a:t>accumulator</a:t>
            </a: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policy.conf</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策略配置文件 </a:t>
            </a:r>
            <a:r>
              <a:rPr kumimoji="1" lang="en-US" altLang="zh-CN" sz="1600" dirty="0">
                <a:latin typeface="微软雅黑" panose="020B0503020204020204" pitchFamily="34" charset="-122"/>
                <a:ea typeface="微软雅黑" panose="020B0503020204020204" pitchFamily="34" charset="-122"/>
                <a:cs typeface="宋体" charset="0"/>
              </a:rPr>
              <a:t>policy</a:t>
            </a: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judge.conf</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所有策略权重配置文件 </a:t>
            </a:r>
            <a:r>
              <a:rPr kumimoji="1" lang="en-US" altLang="zh-CN" sz="1600" dirty="0">
                <a:latin typeface="微软雅黑" panose="020B0503020204020204" pitchFamily="34" charset="-122"/>
                <a:ea typeface="微软雅黑" panose="020B0503020204020204" pitchFamily="34" charset="-122"/>
                <a:cs typeface="宋体" charset="0"/>
              </a:rPr>
              <a:t>judge</a:t>
            </a:r>
            <a:endParaRPr kumimoji="1" lang="en-US" altLang="zh-CN" sz="1600" dirty="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系统</a:t>
            </a:r>
            <a:r>
              <a:rPr kumimoji="1" lang="zh-CN" altLang="en-US" sz="1400" b="1" spc="200" dirty="0">
                <a:latin typeface="微软雅黑"/>
                <a:ea typeface="微软雅黑"/>
                <a:cs typeface="微软雅黑"/>
              </a:rPr>
              <a:t>框架和基本</a:t>
            </a:r>
            <a:r>
              <a:rPr kumimoji="1" lang="zh-CN" altLang="en-US" sz="1400" b="1" spc="200" dirty="0" smtClean="0">
                <a:latin typeface="微软雅黑"/>
                <a:ea typeface="微软雅黑"/>
                <a:cs typeface="微软雅黑"/>
              </a:rPr>
              <a:t>概念</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配置文件</a:t>
            </a:r>
            <a:endParaRPr kumimoji="1" lang="zh-CN" altLang="en-US" sz="1400" b="1" spc="200" dirty="0">
              <a:latin typeface="微软雅黑"/>
              <a:ea typeface="微软雅黑"/>
              <a:cs typeface="微软雅黑"/>
            </a:endParaRPr>
          </a:p>
        </p:txBody>
      </p:sp>
      <p:sp>
        <p:nvSpPr>
          <p:cNvPr id="6" name="内容占位符 2"/>
          <p:cNvSpPr>
            <a:spLocks noGrp="1"/>
          </p:cNvSpPr>
          <p:nvPr>
            <p:ph idx="1"/>
          </p:nvPr>
        </p:nvSpPr>
        <p:spPr>
          <a:xfrm>
            <a:off x="480105" y="1002754"/>
            <a:ext cx="4447495" cy="3874046"/>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参数</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p</a:t>
            </a:r>
            <a:r>
              <a:rPr kumimoji="1" lang="en-US" altLang="zh-CN" sz="1200" dirty="0" err="1" smtClean="0">
                <a:latin typeface="微软雅黑" panose="020B0503020204020204" pitchFamily="34" charset="-122"/>
                <a:ea typeface="微软雅黑" panose="020B0503020204020204" pitchFamily="34" charset="-122"/>
                <a:cs typeface="宋体" charset="0"/>
              </a:rPr>
              <a:t>olicy_type</a:t>
            </a:r>
            <a:r>
              <a:rPr kumimoji="1" lang="en-US" altLang="zh-CN" sz="1200" dirty="0" smtClean="0">
                <a:latin typeface="微软雅黑" panose="020B0503020204020204" pitchFamily="34" charset="-122"/>
                <a:ea typeface="微软雅黑" panose="020B0503020204020204" pitchFamily="34" charset="-122"/>
                <a:cs typeface="宋体" charset="0"/>
              </a:rPr>
              <a:t>: </a:t>
            </a:r>
            <a:r>
              <a:rPr kumimoji="1" lang="zh-CN" altLang="en-US" sz="1200" dirty="0" smtClean="0">
                <a:latin typeface="微软雅黑" panose="020B0503020204020204" pitchFamily="34" charset="-122"/>
                <a:ea typeface="微软雅黑" panose="020B0503020204020204" pitchFamily="34" charset="-122"/>
                <a:cs typeface="宋体" charset="0"/>
              </a:rPr>
              <a:t>策略</a:t>
            </a:r>
            <a:r>
              <a:rPr kumimoji="1" lang="zh-CN" altLang="en-US" sz="1200" dirty="0">
                <a:latin typeface="微软雅黑" panose="020B0503020204020204" pitchFamily="34" charset="-122"/>
                <a:ea typeface="微软雅黑" panose="020B0503020204020204" pitchFamily="34" charset="-122"/>
                <a:cs typeface="宋体" charset="0"/>
              </a:rPr>
              <a:t>类型，</a:t>
            </a:r>
            <a:r>
              <a:rPr kumimoji="1" lang="en-US" altLang="zh-CN" sz="1200" dirty="0" smtClean="0">
                <a:latin typeface="微软雅黑" panose="020B0503020204020204" pitchFamily="34" charset="-122"/>
                <a:ea typeface="微软雅黑" panose="020B0503020204020204" pitchFamily="34" charset="-122"/>
                <a:cs typeface="宋体" charset="0"/>
              </a:rPr>
              <a:t>rule/</a:t>
            </a:r>
            <a:r>
              <a:rPr kumimoji="1" lang="en-US" altLang="zh-CN" sz="1200" dirty="0" err="1" smtClean="0">
                <a:latin typeface="微软雅黑" panose="020B0503020204020204" pitchFamily="34" charset="-122"/>
                <a:ea typeface="微软雅黑" panose="020B0503020204020204" pitchFamily="34" charset="-122"/>
                <a:cs typeface="宋体" charset="0"/>
              </a:rPr>
              <a:t>dnn</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en-US" altLang="zh-CN" sz="1200" dirty="0" err="1" smtClean="0">
                <a:latin typeface="微软雅黑" panose="020B0503020204020204" pitchFamily="34" charset="-122"/>
                <a:ea typeface="微软雅黑" panose="020B0503020204020204" pitchFamily="34" charset="-122"/>
                <a:cs typeface="宋体" charset="0"/>
              </a:rPr>
              <a:t>gbdt</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en-US" altLang="zh-CN" sz="1200" dirty="0" err="1" smtClean="0">
                <a:latin typeface="微软雅黑" panose="020B0503020204020204" pitchFamily="34" charset="-122"/>
                <a:ea typeface="微软雅黑" panose="020B0503020204020204" pitchFamily="34" charset="-122"/>
                <a:cs typeface="宋体" charset="0"/>
              </a:rPr>
              <a:t>lr</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r</a:t>
            </a:r>
            <a:r>
              <a:rPr kumimoji="1" lang="en-US" altLang="zh-CN" sz="1200" dirty="0" err="1" smtClean="0">
                <a:latin typeface="微软雅黑" panose="020B0503020204020204" pitchFamily="34" charset="-122"/>
                <a:ea typeface="微软雅黑" panose="020B0503020204020204" pitchFamily="34" charset="-122"/>
                <a:cs typeface="宋体" charset="0"/>
              </a:rPr>
              <a:t>ule_type</a:t>
            </a:r>
            <a:r>
              <a:rPr kumimoji="1" lang="en-US" altLang="zh-CN" sz="1200" dirty="0" smtClean="0">
                <a:latin typeface="微软雅黑" panose="020B0503020204020204" pitchFamily="34" charset="-122"/>
                <a:ea typeface="微软雅黑" panose="020B0503020204020204" pitchFamily="34" charset="-122"/>
                <a:cs typeface="宋体" charset="0"/>
              </a:rPr>
              <a:t>: </a:t>
            </a:r>
            <a:r>
              <a:rPr kumimoji="1" lang="zh-CN" altLang="en-US" sz="1200" dirty="0" smtClean="0">
                <a:latin typeface="微软雅黑" panose="020B0503020204020204" pitchFamily="34" charset="-122"/>
                <a:ea typeface="微软雅黑" panose="020B0503020204020204" pitchFamily="34" charset="-122"/>
                <a:cs typeface="宋体" charset="0"/>
              </a:rPr>
              <a:t>规则</a:t>
            </a:r>
            <a:r>
              <a:rPr kumimoji="1" lang="zh-CN" altLang="en-US" sz="1200" dirty="0">
                <a:latin typeface="微软雅黑" panose="020B0503020204020204" pitchFamily="34" charset="-122"/>
                <a:ea typeface="微软雅黑" panose="020B0503020204020204" pitchFamily="34" charset="-122"/>
                <a:cs typeface="宋体" charset="0"/>
              </a:rPr>
              <a:t>类型</a:t>
            </a:r>
            <a:r>
              <a:rPr kumimoji="1" lang="zh-CN" altLang="en-US" sz="1200" dirty="0" smtClean="0">
                <a:latin typeface="微软雅黑" panose="020B0503020204020204" pitchFamily="34" charset="-122"/>
                <a:ea typeface="微软雅黑" panose="020B0503020204020204" pitchFamily="34" charset="-122"/>
                <a:cs typeface="宋体" charset="0"/>
              </a:rPr>
              <a:t>，包括</a:t>
            </a:r>
            <a:r>
              <a:rPr kumimoji="1" lang="en-US" altLang="zh-CN" sz="1200" dirty="0" err="1">
                <a:latin typeface="微软雅黑" panose="020B0503020204020204" pitchFamily="34" charset="-122"/>
                <a:ea typeface="微软雅黑" panose="020B0503020204020204" pitchFamily="34" charset="-122"/>
                <a:cs typeface="宋体" charset="0"/>
              </a:rPr>
              <a:t>boolean</a:t>
            </a:r>
            <a:r>
              <a:rPr kumimoji="1" lang="zh-CN" altLang="en-US" sz="1200" dirty="0">
                <a:latin typeface="微软雅黑" panose="020B0503020204020204" pitchFamily="34" charset="-122"/>
                <a:ea typeface="微软雅黑" panose="020B0503020204020204" pitchFamily="34" charset="-122"/>
                <a:cs typeface="宋体" charset="0"/>
              </a:rPr>
              <a:t>，</a:t>
            </a:r>
            <a:r>
              <a:rPr kumimoji="1" lang="en-US" altLang="zh-CN" sz="1200" dirty="0">
                <a:latin typeface="微软雅黑" panose="020B0503020204020204" pitchFamily="34" charset="-122"/>
                <a:ea typeface="微软雅黑" panose="020B0503020204020204" pitchFamily="34" charset="-122"/>
                <a:cs typeface="宋体" charset="0"/>
              </a:rPr>
              <a:t>segment</a:t>
            </a:r>
            <a:r>
              <a:rPr kumimoji="1" lang="zh-CN" altLang="en-US" sz="1200" dirty="0">
                <a:latin typeface="微软雅黑" panose="020B0503020204020204" pitchFamily="34" charset="-122"/>
                <a:ea typeface="微软雅黑" panose="020B0503020204020204" pitchFamily="34" charset="-122"/>
                <a:cs typeface="宋体" charset="0"/>
              </a:rPr>
              <a:t>，</a:t>
            </a:r>
            <a:r>
              <a:rPr kumimoji="1" lang="en-US" altLang="zh-CN" sz="1200" dirty="0">
                <a:latin typeface="微软雅黑" panose="020B0503020204020204" pitchFamily="34" charset="-122"/>
                <a:ea typeface="微软雅黑" panose="020B0503020204020204" pitchFamily="34" charset="-122"/>
                <a:cs typeface="宋体" charset="0"/>
              </a:rPr>
              <a:t>ratio</a:t>
            </a:r>
            <a:r>
              <a:rPr kumimoji="1" lang="zh-CN" altLang="en-US" sz="1200" dirty="0" smtClean="0">
                <a:latin typeface="微软雅黑" panose="020B0503020204020204" pitchFamily="34" charset="-122"/>
                <a:ea typeface="微软雅黑" panose="020B0503020204020204" pitchFamily="34" charset="-122"/>
                <a:cs typeface="宋体" charset="0"/>
              </a:rPr>
              <a:t>等，决定特征值比较的规则</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smtClean="0">
                <a:latin typeface="微软雅黑" panose="020B0503020204020204" pitchFamily="34" charset="-122"/>
                <a:ea typeface="微软雅黑" panose="020B0503020204020204" pitchFamily="34" charset="-122"/>
                <a:cs typeface="宋体" charset="0"/>
              </a:rPr>
              <a:t>feature_id</a:t>
            </a:r>
            <a:r>
              <a:rPr kumimoji="1" lang="zh-CN" altLang="en-US" sz="1200" dirty="0" smtClean="0">
                <a:latin typeface="微软雅黑" panose="020B0503020204020204" pitchFamily="34" charset="-122"/>
                <a:ea typeface="微软雅黑" panose="020B0503020204020204" pitchFamily="34" charset="-122"/>
                <a:cs typeface="宋体" charset="0"/>
              </a:rPr>
              <a:t>：特征编号，一般与策略名相同</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f</a:t>
            </a:r>
            <a:r>
              <a:rPr kumimoji="1" lang="en-US" altLang="zh-CN" sz="1200" dirty="0" err="1" smtClean="0">
                <a:latin typeface="微软雅黑" panose="020B0503020204020204" pitchFamily="34" charset="-122"/>
                <a:ea typeface="微软雅黑" panose="020B0503020204020204" pitchFamily="34" charset="-122"/>
                <a:cs typeface="宋体" charset="0"/>
              </a:rPr>
              <a:t>eature_type</a:t>
            </a:r>
            <a:r>
              <a:rPr kumimoji="1" lang="zh-CN" altLang="en-US" sz="1200" dirty="0" smtClean="0">
                <a:latin typeface="微软雅黑" panose="020B0503020204020204" pitchFamily="34" charset="-122"/>
                <a:ea typeface="微软雅黑" panose="020B0503020204020204" pitchFamily="34" charset="-122"/>
                <a:cs typeface="宋体" charset="0"/>
              </a:rPr>
              <a:t>：特征类型</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smtClean="0">
                <a:latin typeface="微软雅黑" panose="020B0503020204020204" pitchFamily="34" charset="-122"/>
                <a:ea typeface="微软雅黑" panose="020B0503020204020204" pitchFamily="34" charset="-122"/>
                <a:cs typeface="宋体" charset="0"/>
              </a:rPr>
              <a:t>view_level</a:t>
            </a:r>
            <a:r>
              <a:rPr kumimoji="1" lang="zh-CN" altLang="en-US" sz="1200" dirty="0" smtClean="0">
                <a:latin typeface="微软雅黑" panose="020B0503020204020204" pitchFamily="34" charset="-122"/>
                <a:ea typeface="微软雅黑" panose="020B0503020204020204" pitchFamily="34" charset="-122"/>
                <a:cs typeface="宋体" charset="0"/>
              </a:rPr>
              <a:t>：维度级别</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v</a:t>
            </a:r>
            <a:r>
              <a:rPr kumimoji="1" lang="en-US" altLang="zh-CN" sz="1200" dirty="0" smtClean="0">
                <a:latin typeface="微软雅黑" panose="020B0503020204020204" pitchFamily="34" charset="-122"/>
                <a:ea typeface="微软雅黑" panose="020B0503020204020204" pitchFamily="34" charset="-122"/>
                <a:cs typeface="宋体" charset="0"/>
              </a:rPr>
              <a:t>iew</a:t>
            </a:r>
            <a:r>
              <a:rPr kumimoji="1" lang="zh-CN" altLang="en-US" sz="1200" dirty="0" smtClean="0">
                <a:latin typeface="微软雅黑" panose="020B0503020204020204" pitchFamily="34" charset="-122"/>
                <a:ea typeface="微软雅黑" panose="020B0503020204020204" pitchFamily="34" charset="-122"/>
                <a:cs typeface="宋体" charset="0"/>
              </a:rPr>
              <a:t>：维度，统计的粒度</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w</a:t>
            </a:r>
            <a:r>
              <a:rPr kumimoji="1" lang="en-US" altLang="zh-CN" sz="1200" dirty="0" err="1" smtClean="0">
                <a:latin typeface="微软雅黑" panose="020B0503020204020204" pitchFamily="34" charset="-122"/>
                <a:ea typeface="微软雅黑" panose="020B0503020204020204" pitchFamily="34" charset="-122"/>
                <a:cs typeface="宋体" charset="0"/>
              </a:rPr>
              <a:t>indow_type</a:t>
            </a:r>
            <a:r>
              <a:rPr kumimoji="1" lang="zh-CN" altLang="en-US" sz="1200" dirty="0" smtClean="0">
                <a:latin typeface="微软雅黑" panose="020B0503020204020204" pitchFamily="34" charset="-122"/>
                <a:ea typeface="微软雅黑" panose="020B0503020204020204" pitchFamily="34" charset="-122"/>
                <a:cs typeface="宋体" charset="0"/>
              </a:rPr>
              <a:t>：窗口类型，流量</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en-US" altLang="zh-CN" sz="1200" dirty="0" err="1" smtClean="0">
                <a:latin typeface="微软雅黑" panose="020B0503020204020204" pitchFamily="34" charset="-122"/>
                <a:ea typeface="微软雅黑" panose="020B0503020204020204" pitchFamily="34" charset="-122"/>
                <a:cs typeface="宋体" charset="0"/>
              </a:rPr>
              <a:t>pv</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zh-CN" altLang="en-US" sz="1200" dirty="0" smtClean="0">
                <a:latin typeface="微软雅黑" panose="020B0503020204020204" pitchFamily="34" charset="-122"/>
                <a:ea typeface="微软雅黑" panose="020B0503020204020204" pitchFamily="34" charset="-122"/>
                <a:cs typeface="宋体" charset="0"/>
              </a:rPr>
              <a:t>或时间</a:t>
            </a:r>
            <a:r>
              <a:rPr kumimoji="1" lang="en-US" altLang="zh-CN" sz="1200" dirty="0" smtClean="0">
                <a:latin typeface="微软雅黑" panose="020B0503020204020204" pitchFamily="34" charset="-122"/>
                <a:ea typeface="微软雅黑" panose="020B0503020204020204" pitchFamily="34" charset="-122"/>
                <a:cs typeface="宋体" charset="0"/>
              </a:rPr>
              <a:t>(time)</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w</a:t>
            </a:r>
            <a:r>
              <a:rPr kumimoji="1" lang="en-US" altLang="zh-CN" sz="1200" dirty="0" err="1" smtClean="0">
                <a:latin typeface="微软雅黑" panose="020B0503020204020204" pitchFamily="34" charset="-122"/>
                <a:ea typeface="微软雅黑" panose="020B0503020204020204" pitchFamily="34" charset="-122"/>
                <a:cs typeface="宋体" charset="0"/>
              </a:rPr>
              <a:t>indow_length</a:t>
            </a:r>
            <a:r>
              <a:rPr kumimoji="1" lang="zh-CN" altLang="en-US" sz="1200" dirty="0" smtClean="0">
                <a:latin typeface="微软雅黑" panose="020B0503020204020204" pitchFamily="34" charset="-122"/>
                <a:ea typeface="微软雅黑" panose="020B0503020204020204" pitchFamily="34" charset="-122"/>
                <a:cs typeface="宋体" charset="0"/>
              </a:rPr>
              <a:t>：段长</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s</a:t>
            </a:r>
            <a:r>
              <a:rPr kumimoji="1" lang="en-US" altLang="zh-CN" sz="1200" dirty="0" err="1" smtClean="0">
                <a:latin typeface="微软雅黑" panose="020B0503020204020204" pitchFamily="34" charset="-122"/>
                <a:ea typeface="微软雅黑" panose="020B0503020204020204" pitchFamily="34" charset="-122"/>
                <a:cs typeface="宋体" charset="0"/>
              </a:rPr>
              <a:t>tep_length</a:t>
            </a:r>
            <a:r>
              <a:rPr kumimoji="1" lang="zh-CN" altLang="en-US" sz="1200" dirty="0" smtClean="0">
                <a:latin typeface="微软雅黑" panose="020B0503020204020204" pitchFamily="34" charset="-122"/>
                <a:ea typeface="微软雅黑" panose="020B0503020204020204" pitchFamily="34" charset="-122"/>
                <a:cs typeface="宋体" charset="0"/>
              </a:rPr>
              <a:t>：步长</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smtClean="0">
                <a:latin typeface="微软雅黑" panose="020B0503020204020204" pitchFamily="34" charset="-122"/>
                <a:ea typeface="微软雅黑" panose="020B0503020204020204" pitchFamily="34" charset="-122"/>
                <a:cs typeface="宋体" charset="0"/>
              </a:rPr>
              <a:t>file_key</a:t>
            </a:r>
            <a:r>
              <a:rPr kumimoji="1" lang="zh-CN" altLang="en-US" sz="1200" dirty="0" smtClean="0">
                <a:latin typeface="微软雅黑" panose="020B0503020204020204" pitchFamily="34" charset="-122"/>
                <a:ea typeface="微软雅黑" panose="020B0503020204020204" pitchFamily="34" charset="-122"/>
                <a:cs typeface="宋体" charset="0"/>
              </a:rPr>
              <a:t>：文件</a:t>
            </a:r>
            <a:r>
              <a:rPr kumimoji="1" lang="en-US" altLang="zh-CN" sz="1200" dirty="0" smtClean="0">
                <a:latin typeface="微软雅黑" panose="020B0503020204020204" pitchFamily="34" charset="-122"/>
                <a:ea typeface="微软雅黑" panose="020B0503020204020204" pitchFamily="34" charset="-122"/>
                <a:cs typeface="宋体" charset="0"/>
              </a:rPr>
              <a:t>key</a:t>
            </a:r>
            <a:r>
              <a:rPr kumimoji="1" lang="zh-CN" altLang="en-US" sz="1200" dirty="0" smtClean="0">
                <a:latin typeface="微软雅黑" panose="020B0503020204020204" pitchFamily="34" charset="-122"/>
                <a:ea typeface="微软雅黑" panose="020B0503020204020204" pitchFamily="34" charset="-122"/>
                <a:cs typeface="宋体" charset="0"/>
              </a:rPr>
              <a:t>，用于取出词表文件实际路径</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f</a:t>
            </a:r>
            <a:r>
              <a:rPr kumimoji="1" lang="en-US" altLang="zh-CN" sz="1200" dirty="0" err="1" smtClean="0">
                <a:latin typeface="微软雅黑" panose="020B0503020204020204" pitchFamily="34" charset="-122"/>
                <a:ea typeface="微软雅黑" panose="020B0503020204020204" pitchFamily="34" charset="-122"/>
                <a:cs typeface="宋体" charset="0"/>
              </a:rPr>
              <a:t>ile_type</a:t>
            </a:r>
            <a:r>
              <a:rPr kumimoji="1" lang="en-US" altLang="zh-CN" sz="1200" dirty="0" smtClean="0">
                <a:latin typeface="微软雅黑" panose="020B0503020204020204" pitchFamily="34" charset="-122"/>
                <a:ea typeface="微软雅黑" panose="020B0503020204020204" pitchFamily="34" charset="-122"/>
                <a:cs typeface="宋体" charset="0"/>
              </a:rPr>
              <a:t>: </a:t>
            </a:r>
            <a:r>
              <a:rPr kumimoji="1" lang="zh-CN" altLang="en-US" sz="1200" dirty="0" smtClean="0">
                <a:latin typeface="微软雅黑" panose="020B0503020204020204" pitchFamily="34" charset="-122"/>
                <a:ea typeface="微软雅黑" panose="020B0503020204020204" pitchFamily="34" charset="-122"/>
                <a:cs typeface="宋体" charset="0"/>
              </a:rPr>
              <a:t>文件类型</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400" dirty="0">
              <a:latin typeface="微软雅黑" panose="020B0503020204020204" pitchFamily="34" charset="-122"/>
              <a:ea typeface="微软雅黑" panose="020B0503020204020204" pitchFamily="34" charset="-122"/>
              <a:cs typeface="宋体" charset="0"/>
            </a:endParaRPr>
          </a:p>
        </p:txBody>
      </p:sp>
      <p:pic>
        <p:nvPicPr>
          <p:cNvPr id="3" name="图片 2"/>
          <p:cNvPicPr>
            <a:picLocks noChangeAspect="1"/>
          </p:cNvPicPr>
          <p:nvPr/>
        </p:nvPicPr>
        <p:blipFill>
          <a:blip r:embed="rId2"/>
          <a:stretch>
            <a:fillRect/>
          </a:stretch>
        </p:blipFill>
        <p:spPr>
          <a:xfrm>
            <a:off x="4927600" y="928978"/>
            <a:ext cx="3667005" cy="4021598"/>
          </a:xfrm>
          <a:prstGeom prst="rect">
            <a:avLst/>
          </a:prstGeom>
        </p:spPr>
      </p:pic>
      <p:sp>
        <p:nvSpPr>
          <p:cNvPr id="7" name="矩形 6"/>
          <p:cNvSpPr/>
          <p:nvPr/>
        </p:nvSpPr>
        <p:spPr>
          <a:xfrm>
            <a:off x="5954711" y="928977"/>
            <a:ext cx="2584449" cy="118431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9" name="矩形 8"/>
          <p:cNvSpPr/>
          <p:nvPr/>
        </p:nvSpPr>
        <p:spPr>
          <a:xfrm>
            <a:off x="5976937" y="2167312"/>
            <a:ext cx="2562225" cy="184271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6" name="矩形 15"/>
          <p:cNvSpPr/>
          <p:nvPr/>
        </p:nvSpPr>
        <p:spPr>
          <a:xfrm>
            <a:off x="5976936" y="4064042"/>
            <a:ext cx="2562225" cy="88653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7345995" y="928978"/>
            <a:ext cx="1347670" cy="307777"/>
          </a:xfrm>
          <a:prstGeom prst="rect">
            <a:avLst/>
          </a:prstGeom>
          <a:noFill/>
        </p:spPr>
        <p:txBody>
          <a:bodyPr wrap="square" rtlCol="0">
            <a:spAutoFit/>
          </a:bodyPr>
          <a:lstStyle/>
          <a:p>
            <a:pPr algn="ctr"/>
            <a:r>
              <a:rPr lang="en-US" altLang="zh-CN" sz="1400" dirty="0" err="1" smtClean="0">
                <a:solidFill>
                  <a:srgbClr val="FF0000"/>
                </a:solidFill>
                <a:latin typeface="微软雅黑" panose="020B0503020204020204" pitchFamily="34" charset="-122"/>
                <a:ea typeface="微软雅黑" panose="020B0503020204020204" pitchFamily="34" charset="-122"/>
              </a:rPr>
              <a:t>policy.conf</a:t>
            </a:r>
            <a:endParaRPr lang="zh-CN" altLang="en-US" sz="1400" dirty="0">
              <a:solidFill>
                <a:srgbClr val="FF0000"/>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7345995" y="2146767"/>
            <a:ext cx="1347670" cy="307777"/>
          </a:xfrm>
          <a:prstGeom prst="rect">
            <a:avLst/>
          </a:prstGeom>
          <a:noFill/>
        </p:spPr>
        <p:txBody>
          <a:bodyPr wrap="square" rtlCol="0">
            <a:spAutoFit/>
          </a:bodyPr>
          <a:lstStyle/>
          <a:p>
            <a:pPr algn="ctr"/>
            <a:r>
              <a:rPr lang="en-US" altLang="zh-CN" sz="1400" dirty="0" err="1" smtClean="0">
                <a:solidFill>
                  <a:srgbClr val="FF0000"/>
                </a:solidFill>
                <a:latin typeface="微软雅黑" panose="020B0503020204020204" pitchFamily="34" charset="-122"/>
                <a:ea typeface="微软雅黑" panose="020B0503020204020204" pitchFamily="34" charset="-122"/>
              </a:rPr>
              <a:t>feature.conf</a:t>
            </a:r>
            <a:endParaRPr lang="zh-CN" altLang="en-US" sz="1400" dirty="0">
              <a:solidFill>
                <a:srgbClr val="FF0000"/>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7467915" y="4057326"/>
            <a:ext cx="1347670" cy="307777"/>
          </a:xfrm>
          <a:prstGeom prst="rect">
            <a:avLst/>
          </a:prstGeom>
          <a:noFill/>
        </p:spPr>
        <p:txBody>
          <a:bodyPr wrap="square" rtlCol="0">
            <a:spAutoFit/>
          </a:bodyPr>
          <a:lstStyle/>
          <a:p>
            <a:pPr algn="ctr"/>
            <a:r>
              <a:rPr lang="en-US" altLang="zh-CN" sz="1400" dirty="0" err="1" smtClean="0">
                <a:solidFill>
                  <a:srgbClr val="FF0000"/>
                </a:solidFill>
                <a:latin typeface="微软雅黑" panose="020B0503020204020204" pitchFamily="34" charset="-122"/>
                <a:ea typeface="微软雅黑" panose="020B0503020204020204" pitchFamily="34" charset="-122"/>
              </a:rPr>
              <a:t>dict.conf</a:t>
            </a:r>
            <a:endParaRPr lang="zh-CN" altLang="en-US" sz="14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3335422" y="1704473"/>
            <a:ext cx="5126790" cy="1009507"/>
          </a:xfrm>
          <a:prstGeom prst="rect">
            <a:avLst/>
          </a:prstGeom>
          <a:noFill/>
        </p:spPr>
        <p:txBody>
          <a:bodyPr wrap="square" rtlCol="0">
            <a:spAutoFit/>
          </a:bodyPr>
          <a:lstStyle/>
          <a:p>
            <a:pPr>
              <a:lnSpc>
                <a:spcPct val="110000"/>
              </a:lnSpc>
            </a:pPr>
            <a:r>
              <a:rPr kumimoji="1" lang="zh-CN" altLang="en-US" sz="2800" spc="540" dirty="0">
                <a:solidFill>
                  <a:schemeClr val="tx1">
                    <a:lumMod val="75000"/>
                    <a:lumOff val="25000"/>
                  </a:schemeClr>
                </a:solidFill>
                <a:latin typeface="微软雅黑"/>
                <a:ea typeface="微软雅黑"/>
                <a:cs typeface="微软雅黑"/>
              </a:rPr>
              <a:t>策略及特征</a:t>
            </a:r>
            <a:r>
              <a:rPr kumimoji="1" lang="zh-CN" altLang="en-US" sz="2800" spc="540" dirty="0" smtClean="0">
                <a:solidFill>
                  <a:schemeClr val="tx1">
                    <a:lumMod val="75000"/>
                    <a:lumOff val="25000"/>
                  </a:schemeClr>
                </a:solidFill>
                <a:latin typeface="微软雅黑"/>
                <a:ea typeface="微软雅黑"/>
                <a:cs typeface="微软雅黑"/>
              </a:rPr>
              <a:t>介绍</a:t>
            </a:r>
            <a:endParaRPr kumimoji="1" lang="en-US" altLang="zh-CN" sz="2800" spc="540" dirty="0" smtClean="0">
              <a:solidFill>
                <a:schemeClr val="tx1">
                  <a:lumMod val="75000"/>
                  <a:lumOff val="25000"/>
                </a:schemeClr>
              </a:solidFill>
              <a:latin typeface="微软雅黑"/>
              <a:ea typeface="微软雅黑"/>
              <a:cs typeface="微软雅黑"/>
            </a:endParaRPr>
          </a:p>
          <a:p>
            <a:pPr>
              <a:lnSpc>
                <a:spcPct val="120000"/>
              </a:lnSpc>
            </a:pPr>
            <a:r>
              <a:rPr kumimoji="1" lang="en-US" altLang="zh-CN" sz="2400" spc="70" dirty="0" smtClean="0">
                <a:solidFill>
                  <a:schemeClr val="tx1">
                    <a:lumMod val="75000"/>
                    <a:lumOff val="25000"/>
                  </a:schemeClr>
                </a:solidFill>
                <a:latin typeface="微软雅黑"/>
                <a:ea typeface="微软雅黑"/>
                <a:cs typeface="微软雅黑"/>
              </a:rPr>
              <a:t>This part of lecture subject</a:t>
            </a:r>
            <a:endParaRPr kumimoji="1" lang="zh-CN" altLang="en-US" sz="2400" spc="70" dirty="0">
              <a:solidFill>
                <a:schemeClr val="tx1">
                  <a:lumMod val="75000"/>
                  <a:lumOff val="25000"/>
                </a:schemeClr>
              </a:solidFill>
              <a:latin typeface="微软雅黑"/>
              <a:ea typeface="微软雅黑"/>
              <a:cs typeface="微软雅黑"/>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545890"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简单策略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8143195" cy="3874046"/>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简单策略分类</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名单类策略</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处理空间类策略</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简单策略所在过滤层级</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主要存在于</a:t>
            </a:r>
            <a:r>
              <a:rPr kumimoji="1" lang="en-US" altLang="zh-CN" sz="1600" dirty="0" err="1" smtClean="0">
                <a:latin typeface="微软雅黑" panose="020B0503020204020204" pitchFamily="34" charset="-122"/>
                <a:ea typeface="微软雅黑" panose="020B0503020204020204" pitchFamily="34" charset="-122"/>
                <a:cs typeface="宋体" charset="0"/>
              </a:rPr>
              <a:t>dformat</a:t>
            </a:r>
            <a:r>
              <a:rPr kumimoji="1" lang="zh-CN" altLang="en-US" sz="1600" dirty="0" smtClean="0">
                <a:latin typeface="微软雅黑" panose="020B0503020204020204" pitchFamily="34" charset="-122"/>
                <a:ea typeface="微软雅黑" panose="020B0503020204020204" pitchFamily="34" charset="-122"/>
                <a:cs typeface="宋体" charset="0"/>
              </a:rPr>
              <a:t>层，</a:t>
            </a:r>
            <a:r>
              <a:rPr kumimoji="1" lang="en-US" altLang="zh-CN" sz="1600" dirty="0" smtClean="0">
                <a:latin typeface="微软雅黑" panose="020B0503020204020204" pitchFamily="34" charset="-122"/>
                <a:ea typeface="微软雅黑" panose="020B0503020204020204" pitchFamily="34" charset="-122"/>
                <a:cs typeface="宋体" charset="0"/>
              </a:rPr>
              <a:t>Themis</a:t>
            </a:r>
            <a:r>
              <a:rPr kumimoji="1" lang="zh-CN" altLang="en-US" sz="1600" dirty="0" smtClean="0">
                <a:latin typeface="微软雅黑" panose="020B0503020204020204" pitchFamily="34" charset="-122"/>
                <a:ea typeface="微软雅黑" panose="020B0503020204020204" pitchFamily="34" charset="-122"/>
                <a:cs typeface="宋体" charset="0"/>
              </a:rPr>
              <a:t>层也存在一些</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8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基于简单策略的日志过滤</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简单策略的特征值一般为布尔型，通过与</a:t>
            </a:r>
            <a:r>
              <a:rPr kumimoji="1" lang="en-US" altLang="zh-CN" sz="1600" dirty="0" smtClean="0">
                <a:latin typeface="微软雅黑" panose="020B0503020204020204" pitchFamily="34" charset="-122"/>
                <a:ea typeface="微软雅黑" panose="020B0503020204020204" pitchFamily="34" charset="-122"/>
                <a:cs typeface="宋体" charset="0"/>
              </a:rPr>
              <a:t>policy</a:t>
            </a:r>
            <a:r>
              <a:rPr kumimoji="1" lang="zh-CN" altLang="en-US" sz="1600" dirty="0" smtClean="0">
                <a:latin typeface="微软雅黑" panose="020B0503020204020204" pitchFamily="34" charset="-122"/>
                <a:ea typeface="微软雅黑" panose="020B0503020204020204" pitchFamily="34" charset="-122"/>
                <a:cs typeface="宋体" charset="0"/>
              </a:rPr>
              <a:t>配置文件中的</a:t>
            </a:r>
            <a:r>
              <a:rPr kumimoji="1" lang="en-US" altLang="zh-CN" sz="1600" dirty="0" smtClean="0">
                <a:latin typeface="微软雅黑" panose="020B0503020204020204" pitchFamily="34" charset="-122"/>
                <a:ea typeface="微软雅黑" panose="020B0503020204020204" pitchFamily="34" charset="-122"/>
                <a:cs typeface="宋体" charset="0"/>
              </a:rPr>
              <a:t>condition</a:t>
            </a:r>
            <a:r>
              <a:rPr kumimoji="1" lang="zh-CN" altLang="en-US" sz="1600" dirty="0" smtClean="0">
                <a:latin typeface="微软雅黑" panose="020B0503020204020204" pitchFamily="34" charset="-122"/>
                <a:ea typeface="微软雅黑" panose="020B0503020204020204" pitchFamily="34" charset="-122"/>
                <a:cs typeface="宋体" charset="0"/>
              </a:rPr>
              <a:t>值进行对比，相同则策略命中</a:t>
            </a:r>
            <a:endParaRPr kumimoji="1" lang="en-US" altLang="zh-CN" sz="1600" dirty="0" smtClean="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名单类策略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8143195" cy="3874046"/>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名单类策略分类</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黑名单</a:t>
            </a:r>
            <a:r>
              <a:rPr kumimoji="1" lang="zh-CN" altLang="en-US" sz="1600" dirty="0">
                <a:latin typeface="微软雅黑" panose="020B0503020204020204" pitchFamily="34" charset="-122"/>
                <a:ea typeface="微软雅黑" panose="020B0503020204020204" pitchFamily="34" charset="-122"/>
                <a:cs typeface="宋体" charset="0"/>
              </a:rPr>
              <a:t>策略：</a:t>
            </a:r>
            <a:r>
              <a:rPr kumimoji="1" lang="zh-CN" altLang="en-US" sz="1600" dirty="0" smtClean="0">
                <a:latin typeface="微软雅黑" panose="020B0503020204020204" pitchFamily="34" charset="-122"/>
                <a:ea typeface="微软雅黑" panose="020B0503020204020204" pitchFamily="34" charset="-122"/>
                <a:cs typeface="宋体" charset="0"/>
              </a:rPr>
              <a:t>在满足</a:t>
            </a:r>
            <a:r>
              <a:rPr kumimoji="1" lang="zh-CN" altLang="en-US" sz="1600" dirty="0">
                <a:latin typeface="微软雅黑" panose="020B0503020204020204" pitchFamily="34" charset="-122"/>
                <a:ea typeface="微软雅黑" panose="020B0503020204020204" pitchFamily="34" charset="-122"/>
                <a:cs typeface="宋体" charset="0"/>
              </a:rPr>
              <a:t>处理空间的日志</a:t>
            </a:r>
            <a:r>
              <a:rPr kumimoji="1" lang="zh-CN" altLang="en-US" sz="1600" dirty="0" smtClean="0">
                <a:latin typeface="微软雅黑" panose="020B0503020204020204" pitchFamily="34" charset="-122"/>
                <a:ea typeface="微软雅黑" panose="020B0503020204020204" pitchFamily="34" charset="-122"/>
                <a:cs typeface="宋体" charset="0"/>
              </a:rPr>
              <a:t>中，维度对象与黑名单文件匹配上的日志会被</a:t>
            </a:r>
            <a:r>
              <a:rPr kumimoji="1" lang="en-US" altLang="zh-CN" sz="1600" dirty="0" smtClean="0">
                <a:latin typeface="微软雅黑" panose="020B0503020204020204" pitchFamily="34" charset="-122"/>
                <a:ea typeface="微软雅黑" panose="020B0503020204020204" pitchFamily="34" charset="-122"/>
                <a:cs typeface="宋体" charset="0"/>
              </a:rPr>
              <a:t>hit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白名单策略：</a:t>
            </a:r>
            <a:r>
              <a:rPr kumimoji="1" lang="zh-CN" altLang="en-US" sz="1600" dirty="0">
                <a:latin typeface="微软雅黑" panose="020B0503020204020204" pitchFamily="34" charset="-122"/>
                <a:ea typeface="微软雅黑" panose="020B0503020204020204" pitchFamily="34" charset="-122"/>
                <a:cs typeface="宋体" charset="0"/>
              </a:rPr>
              <a:t>在满足处理空间的日志中，维度对象</a:t>
            </a:r>
            <a:r>
              <a:rPr kumimoji="1" lang="zh-CN" altLang="en-US" sz="1600" dirty="0" smtClean="0">
                <a:latin typeface="微软雅黑" panose="020B0503020204020204" pitchFamily="34" charset="-122"/>
                <a:ea typeface="微软雅黑" panose="020B0503020204020204" pitchFamily="34" charset="-122"/>
                <a:cs typeface="宋体" charset="0"/>
              </a:rPr>
              <a:t>与白名单文件不匹配的</a:t>
            </a:r>
            <a:r>
              <a:rPr kumimoji="1" lang="zh-CN" altLang="en-US" sz="1600" dirty="0">
                <a:latin typeface="微软雅黑" panose="020B0503020204020204" pitchFamily="34" charset="-122"/>
                <a:ea typeface="微软雅黑" panose="020B0503020204020204" pitchFamily="34" charset="-122"/>
                <a:cs typeface="宋体" charset="0"/>
              </a:rPr>
              <a:t>日志会被</a:t>
            </a:r>
            <a:r>
              <a:rPr kumimoji="1" lang="en-US" altLang="zh-CN" sz="1600" dirty="0" smtClean="0">
                <a:latin typeface="微软雅黑" panose="020B0503020204020204" pitchFamily="34" charset="-122"/>
                <a:ea typeface="微软雅黑" panose="020B0503020204020204" pitchFamily="34" charset="-122"/>
                <a:cs typeface="宋体" charset="0"/>
              </a:rPr>
              <a:t>hit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灰名单</a:t>
            </a:r>
            <a:r>
              <a:rPr kumimoji="1" lang="zh-CN" altLang="en-US" sz="1600" dirty="0">
                <a:latin typeface="微软雅黑" panose="020B0503020204020204" pitchFamily="34" charset="-122"/>
                <a:ea typeface="微软雅黑" panose="020B0503020204020204" pitchFamily="34" charset="-122"/>
                <a:cs typeface="宋体" charset="0"/>
              </a:rPr>
              <a:t>策略：维度对象在灰名单里则自定义</a:t>
            </a:r>
            <a:r>
              <a:rPr kumimoji="1" lang="zh-CN" altLang="en-US" sz="1600" dirty="0" smtClean="0">
                <a:latin typeface="微软雅黑" panose="020B0503020204020204" pitchFamily="34" charset="-122"/>
                <a:ea typeface="微软雅黑" panose="020B0503020204020204" pitchFamily="34" charset="-122"/>
                <a:cs typeface="宋体" charset="0"/>
              </a:rPr>
              <a:t>阈值</a:t>
            </a:r>
            <a:r>
              <a:rPr kumimoji="1" lang="zh-CN" altLang="en-US" sz="1600" dirty="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机制</a:t>
            </a:r>
            <a:r>
              <a:rPr kumimoji="1" lang="zh-CN" altLang="en-US" sz="1600" dirty="0">
                <a:latin typeface="微软雅黑" panose="020B0503020204020204" pitchFamily="34" charset="-122"/>
                <a:ea typeface="微软雅黑" panose="020B0503020204020204" pitchFamily="34" charset="-122"/>
                <a:cs typeface="宋体" charset="0"/>
              </a:rPr>
              <a:t>和黑白名单</a:t>
            </a:r>
            <a:r>
              <a:rPr kumimoji="1" lang="zh-CN" altLang="en-US" sz="1600" dirty="0" smtClean="0">
                <a:latin typeface="微软雅黑" panose="020B0503020204020204" pitchFamily="34" charset="-122"/>
                <a:ea typeface="微软雅黑" panose="020B0503020204020204" pitchFamily="34" charset="-122"/>
                <a:cs typeface="宋体" charset="0"/>
              </a:rPr>
              <a:t>不同</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可用特征</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词表类特征</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en-US" altLang="zh-CN" sz="1600" dirty="0" err="1" smtClean="0">
                <a:latin typeface="微软雅黑" panose="020B0503020204020204" pitchFamily="34" charset="-122"/>
                <a:ea typeface="微软雅黑" panose="020B0503020204020204" pitchFamily="34" charset="-122"/>
                <a:cs typeface="宋体" charset="0"/>
              </a:rPr>
              <a:t>file_dict</a:t>
            </a:r>
            <a:r>
              <a:rPr kumimoji="1" lang="en-US" altLang="zh-CN"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词表文件匹配类型</a:t>
            </a:r>
            <a:r>
              <a:rPr kumimoji="1" lang="en-US" altLang="zh-CN" sz="1800" dirty="0" smtClean="0">
                <a:latin typeface="微软雅黑" panose="020B0503020204020204" pitchFamily="34" charset="-122"/>
                <a:ea typeface="微软雅黑" panose="020B0503020204020204" pitchFamily="34" charset="-122"/>
                <a:cs typeface="宋体" charset="0"/>
              </a:rPr>
              <a:t>(</a:t>
            </a:r>
            <a:r>
              <a:rPr kumimoji="1" lang="en-US" altLang="zh-CN" sz="1800" dirty="0" err="1" smtClean="0">
                <a:latin typeface="微软雅黑" panose="020B0503020204020204" pitchFamily="34" charset="-122"/>
                <a:ea typeface="微软雅黑" panose="020B0503020204020204" pitchFamily="34" charset="-122"/>
                <a:cs typeface="宋体" charset="0"/>
              </a:rPr>
              <a:t>dict_type</a:t>
            </a:r>
            <a:r>
              <a:rPr kumimoji="1" lang="zh-CN" altLang="en-US" sz="1800" dirty="0" smtClean="0">
                <a:latin typeface="微软雅黑" panose="020B0503020204020204" pitchFamily="34" charset="-122"/>
                <a:ea typeface="微软雅黑" panose="020B0503020204020204" pitchFamily="34" charset="-122"/>
                <a:cs typeface="宋体" charset="0"/>
              </a:rPr>
              <a:t>的可能值</a:t>
            </a:r>
            <a:r>
              <a:rPr kumimoji="1" lang="en-US" altLang="zh-CN" sz="1800" dirty="0" smtClean="0">
                <a:latin typeface="微软雅黑" panose="020B0503020204020204" pitchFamily="34" charset="-122"/>
                <a:ea typeface="微软雅黑" panose="020B0503020204020204" pitchFamily="34" charset="-122"/>
                <a:cs typeface="宋体" charset="0"/>
              </a:rPr>
              <a:t>)</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smtClean="0">
                <a:latin typeface="微软雅黑" panose="020B0503020204020204" pitchFamily="34" charset="-122"/>
                <a:ea typeface="微软雅黑" panose="020B0503020204020204" pitchFamily="34" charset="-122"/>
                <a:cs typeface="宋体" charset="0"/>
              </a:rPr>
              <a:t>multicolumn</a:t>
            </a:r>
            <a:r>
              <a:rPr kumimoji="1" lang="zh-CN" altLang="en-US" sz="1600" dirty="0" smtClean="0">
                <a:latin typeface="微软雅黑" panose="020B0503020204020204" pitchFamily="34" charset="-122"/>
                <a:ea typeface="微软雅黑" panose="020B0503020204020204" pitchFamily="34" charset="-122"/>
                <a:cs typeface="宋体" charset="0"/>
              </a:rPr>
              <a:t>：全串匹配，词表</a:t>
            </a:r>
            <a:r>
              <a:rPr kumimoji="1" lang="zh-CN" altLang="en-US" sz="1600" dirty="0">
                <a:latin typeface="微软雅黑" panose="020B0503020204020204" pitchFamily="34" charset="-122"/>
                <a:ea typeface="微软雅黑" panose="020B0503020204020204" pitchFamily="34" charset="-122"/>
                <a:cs typeface="宋体" charset="0"/>
              </a:rPr>
              <a:t>文件可以是多</a:t>
            </a:r>
            <a:r>
              <a:rPr kumimoji="1" lang="zh-CN" altLang="en-US" sz="1600" dirty="0" smtClean="0">
                <a:latin typeface="微软雅黑" panose="020B0503020204020204" pitchFamily="34" charset="-122"/>
                <a:ea typeface="微软雅黑" panose="020B0503020204020204" pitchFamily="34" charset="-122"/>
                <a:cs typeface="宋体" charset="0"/>
              </a:rPr>
              <a:t>列</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i</a:t>
            </a:r>
            <a:r>
              <a:rPr kumimoji="1" lang="en-US" altLang="zh-CN" sz="1600" dirty="0" err="1" smtClean="0">
                <a:latin typeface="微软雅黑" panose="020B0503020204020204" pitchFamily="34" charset="-122"/>
                <a:ea typeface="微软雅黑" panose="020B0503020204020204" pitchFamily="34" charset="-122"/>
                <a:cs typeface="宋体" charset="0"/>
              </a:rPr>
              <a:t>pmap</a:t>
            </a:r>
            <a:r>
              <a:rPr kumimoji="1" lang="zh-CN" altLang="en-US" sz="1600" dirty="0" smtClean="0">
                <a:latin typeface="微软雅黑" panose="020B0503020204020204" pitchFamily="34" charset="-122"/>
                <a:ea typeface="微软雅黑" panose="020B0503020204020204" pitchFamily="34" charset="-122"/>
                <a:cs typeface="宋体" charset="0"/>
              </a:rPr>
              <a:t>：查询</a:t>
            </a:r>
            <a:r>
              <a:rPr kumimoji="1" lang="en-US" altLang="zh-CN" sz="1600" dirty="0" err="1" smtClean="0">
                <a:latin typeface="微软雅黑" panose="020B0503020204020204" pitchFamily="34" charset="-122"/>
                <a:ea typeface="微软雅黑" panose="020B0503020204020204" pitchFamily="34" charset="-122"/>
                <a:cs typeface="宋体" charset="0"/>
              </a:rPr>
              <a:t>ip</a:t>
            </a:r>
            <a:r>
              <a:rPr kumimoji="1" lang="zh-CN" altLang="en-US" sz="1600" dirty="0" smtClean="0">
                <a:latin typeface="微软雅黑" panose="020B0503020204020204" pitchFamily="34" charset="-122"/>
                <a:ea typeface="微软雅黑" panose="020B0503020204020204" pitchFamily="34" charset="-122"/>
                <a:cs typeface="宋体" charset="0"/>
              </a:rPr>
              <a:t>是否位于词表文件的</a:t>
            </a:r>
            <a:r>
              <a:rPr kumimoji="1" lang="en-US" altLang="zh-CN" sz="1600" dirty="0" err="1" smtClean="0">
                <a:latin typeface="微软雅黑" panose="020B0503020204020204" pitchFamily="34" charset="-122"/>
                <a:ea typeface="微软雅黑" panose="020B0503020204020204" pitchFamily="34" charset="-122"/>
                <a:cs typeface="宋体" charset="0"/>
              </a:rPr>
              <a:t>ip</a:t>
            </a:r>
            <a:r>
              <a:rPr kumimoji="1" lang="zh-CN" altLang="en-US" sz="1600" dirty="0">
                <a:latin typeface="微软雅黑" panose="020B0503020204020204" pitchFamily="34" charset="-122"/>
                <a:ea typeface="微软雅黑" panose="020B0503020204020204" pitchFamily="34" charset="-122"/>
                <a:cs typeface="宋体" charset="0"/>
              </a:rPr>
              <a:t>段</a:t>
            </a:r>
            <a:r>
              <a:rPr kumimoji="1" lang="zh-CN" altLang="en-US" sz="1600" dirty="0" smtClean="0">
                <a:latin typeface="微软雅黑" panose="020B0503020204020204" pitchFamily="34" charset="-122"/>
                <a:ea typeface="微软雅黑" panose="020B0503020204020204" pitchFamily="34" charset="-122"/>
                <a:cs typeface="宋体" charset="0"/>
              </a:rPr>
              <a:t>中，要求</a:t>
            </a:r>
            <a:r>
              <a:rPr kumimoji="1" lang="zh-CN" altLang="en-US" sz="1600" dirty="0">
                <a:latin typeface="微软雅黑" panose="020B0503020204020204" pitchFamily="34" charset="-122"/>
                <a:ea typeface="微软雅黑" panose="020B0503020204020204" pitchFamily="34" charset="-122"/>
                <a:cs typeface="宋体" charset="0"/>
              </a:rPr>
              <a:t>文件</a:t>
            </a:r>
            <a:r>
              <a:rPr kumimoji="1" lang="en-US" altLang="zh-CN" sz="1600" dirty="0">
                <a:latin typeface="微软雅黑" panose="020B0503020204020204" pitchFamily="34" charset="-122"/>
                <a:ea typeface="微软雅黑" panose="020B0503020204020204" pitchFamily="34" charset="-122"/>
                <a:cs typeface="宋体" charset="0"/>
              </a:rPr>
              <a:t>4</a:t>
            </a:r>
            <a:r>
              <a:rPr kumimoji="1" lang="zh-CN" altLang="en-US" sz="1600" dirty="0">
                <a:latin typeface="微软雅黑" panose="020B0503020204020204" pitchFamily="34" charset="-122"/>
                <a:ea typeface="微软雅黑" panose="020B0503020204020204" pitchFamily="34" charset="-122"/>
                <a:cs typeface="宋体" charset="0"/>
              </a:rPr>
              <a:t>列，用</a:t>
            </a:r>
            <a:r>
              <a:rPr kumimoji="1" lang="en-US" altLang="zh-CN" sz="1600" dirty="0">
                <a:latin typeface="微软雅黑" panose="020B0503020204020204" pitchFamily="34" charset="-122"/>
                <a:ea typeface="微软雅黑" panose="020B0503020204020204" pitchFamily="34" charset="-122"/>
                <a:cs typeface="宋体" charset="0"/>
              </a:rPr>
              <a:t>\t</a:t>
            </a:r>
            <a:r>
              <a:rPr kumimoji="1" lang="zh-CN" altLang="en-US" sz="1600" dirty="0">
                <a:latin typeface="微软雅黑" panose="020B0503020204020204" pitchFamily="34" charset="-122"/>
                <a:ea typeface="微软雅黑" panose="020B0503020204020204" pitchFamily="34" charset="-122"/>
                <a:cs typeface="宋体" charset="0"/>
              </a:rPr>
              <a:t>分隔，分别是</a:t>
            </a:r>
            <a:r>
              <a:rPr kumimoji="1" lang="en-US" altLang="zh-CN" sz="1600" dirty="0" err="1">
                <a:latin typeface="微软雅黑" panose="020B0503020204020204" pitchFamily="34" charset="-122"/>
                <a:ea typeface="微软雅黑" panose="020B0503020204020204" pitchFamily="34" charset="-122"/>
                <a:cs typeface="宋体" charset="0"/>
              </a:rPr>
              <a:t>ip</a:t>
            </a:r>
            <a:r>
              <a:rPr kumimoji="1" lang="zh-CN" altLang="en-US" sz="1600" dirty="0">
                <a:latin typeface="微软雅黑" panose="020B0503020204020204" pitchFamily="34" charset="-122"/>
                <a:ea typeface="微软雅黑" panose="020B0503020204020204" pitchFamily="34" charset="-122"/>
                <a:cs typeface="宋体" charset="0"/>
              </a:rPr>
              <a:t>段</a:t>
            </a:r>
            <a:r>
              <a:rPr kumimoji="1" lang="zh-CN" altLang="en-US" sz="1600" dirty="0" smtClean="0">
                <a:latin typeface="微软雅黑" panose="020B0503020204020204" pitchFamily="34" charset="-122"/>
                <a:ea typeface="微软雅黑" panose="020B0503020204020204" pitchFamily="34" charset="-122"/>
                <a:cs typeface="宋体" charset="0"/>
              </a:rPr>
              <a:t>起始</a:t>
            </a:r>
            <a:r>
              <a:rPr kumimoji="1" lang="en-US" altLang="zh-CN" sz="1600" dirty="0" smtClean="0">
                <a:latin typeface="微软雅黑" panose="020B0503020204020204" pitchFamily="34" charset="-122"/>
                <a:ea typeface="微软雅黑" panose="020B0503020204020204" pitchFamily="34" charset="-122"/>
                <a:cs typeface="宋体" charset="0"/>
              </a:rPr>
              <a:t>(sip)</a:t>
            </a:r>
            <a:r>
              <a:rPr kumimoji="1" lang="zh-CN" altLang="en-US" sz="1600" dirty="0" smtClean="0">
                <a:latin typeface="微软雅黑" panose="020B0503020204020204" pitchFamily="34" charset="-122"/>
                <a:ea typeface="微软雅黑" panose="020B0503020204020204" pitchFamily="34" charset="-122"/>
                <a:cs typeface="宋体" charset="0"/>
              </a:rPr>
              <a:t>，</a:t>
            </a:r>
            <a:r>
              <a:rPr kumimoji="1" lang="en-US" altLang="zh-CN" sz="1600" dirty="0" err="1">
                <a:latin typeface="微软雅黑" panose="020B0503020204020204" pitchFamily="34" charset="-122"/>
                <a:ea typeface="微软雅黑" panose="020B0503020204020204" pitchFamily="34" charset="-122"/>
                <a:cs typeface="宋体" charset="0"/>
              </a:rPr>
              <a:t>ip</a:t>
            </a:r>
            <a:r>
              <a:rPr kumimoji="1" lang="zh-CN" altLang="en-US" sz="1600" dirty="0">
                <a:latin typeface="微软雅黑" panose="020B0503020204020204" pitchFamily="34" charset="-122"/>
                <a:ea typeface="微软雅黑" panose="020B0503020204020204" pitchFamily="34" charset="-122"/>
                <a:cs typeface="宋体" charset="0"/>
              </a:rPr>
              <a:t>段</a:t>
            </a:r>
            <a:r>
              <a:rPr kumimoji="1" lang="zh-CN" altLang="en-US" sz="1600" dirty="0" smtClean="0">
                <a:latin typeface="微软雅黑" panose="020B0503020204020204" pitchFamily="34" charset="-122"/>
                <a:ea typeface="微软雅黑" panose="020B0503020204020204" pitchFamily="34" charset="-122"/>
                <a:cs typeface="宋体" charset="0"/>
              </a:rPr>
              <a:t>终点</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en-US" altLang="zh-CN" sz="1600" dirty="0" err="1" smtClean="0">
                <a:latin typeface="微软雅黑" panose="020B0503020204020204" pitchFamily="34" charset="-122"/>
                <a:ea typeface="微软雅黑" panose="020B0503020204020204" pitchFamily="34" charset="-122"/>
                <a:cs typeface="宋体" charset="0"/>
              </a:rPr>
              <a:t>eid</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a:t>
            </a:r>
            <a:r>
              <a:rPr kumimoji="1" lang="en-US" altLang="zh-CN" sz="1600" dirty="0" err="1" smtClean="0">
                <a:latin typeface="微软雅黑" panose="020B0503020204020204" pitchFamily="34" charset="-122"/>
                <a:ea typeface="微软雅黑" panose="020B0503020204020204" pitchFamily="34" charset="-122"/>
                <a:cs typeface="宋体" charset="0"/>
              </a:rPr>
              <a:t>pid</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省份</a:t>
            </a:r>
            <a:r>
              <a:rPr kumimoji="1" lang="en-US" altLang="zh-CN" sz="1600" dirty="0" smtClean="0">
                <a:latin typeface="微软雅黑" panose="020B0503020204020204" pitchFamily="34" charset="-122"/>
                <a:ea typeface="微软雅黑" panose="020B0503020204020204" pitchFamily="34" charset="-122"/>
                <a:cs typeface="宋体" charset="0"/>
              </a:rPr>
              <a:t>id),  </a:t>
            </a:r>
            <a:r>
              <a:rPr kumimoji="1" lang="en-US" altLang="zh-CN" sz="1600" dirty="0" err="1" smtClean="0">
                <a:latin typeface="微软雅黑" panose="020B0503020204020204" pitchFamily="34" charset="-122"/>
                <a:ea typeface="微软雅黑" panose="020B0503020204020204" pitchFamily="34" charset="-122"/>
                <a:cs typeface="宋体" charset="0"/>
              </a:rPr>
              <a:t>cid</a:t>
            </a:r>
            <a:r>
              <a:rPr kumimoji="1" lang="en-US" altLang="zh-CN" sz="1600" dirty="0" smtClean="0">
                <a:latin typeface="微软雅黑" panose="020B0503020204020204" pitchFamily="34" charset="-122"/>
                <a:ea typeface="微软雅黑" panose="020B0503020204020204" pitchFamily="34" charset="-122"/>
                <a:cs typeface="宋体" charset="0"/>
              </a:rPr>
              <a:t>(city</a:t>
            </a:r>
            <a:r>
              <a:rPr kumimoji="1" lang="zh-CN" altLang="en-US" sz="1600" dirty="0">
                <a:latin typeface="微软雅黑" panose="020B0503020204020204" pitchFamily="34" charset="-122"/>
                <a:ea typeface="微软雅黑" panose="020B0503020204020204" pitchFamily="34" charset="-122"/>
                <a:cs typeface="宋体" charset="0"/>
              </a:rPr>
              <a:t>的</a:t>
            </a:r>
            <a:r>
              <a:rPr kumimoji="1" lang="en-US" altLang="zh-CN" sz="1600" dirty="0" smtClean="0">
                <a:latin typeface="微软雅黑" panose="020B0503020204020204" pitchFamily="34" charset="-122"/>
                <a:ea typeface="微软雅黑" panose="020B0503020204020204" pitchFamily="34" charset="-122"/>
                <a:cs typeface="宋体" charset="0"/>
              </a:rPr>
              <a:t>id)</a:t>
            </a:r>
            <a:r>
              <a:rPr kumimoji="1" lang="zh-CN" altLang="en-US"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err="1" smtClean="0">
                <a:latin typeface="微软雅黑" panose="020B0503020204020204" pitchFamily="34" charset="-122"/>
                <a:ea typeface="微软雅黑" panose="020B0503020204020204" pitchFamily="34" charset="-122"/>
                <a:cs typeface="宋体" charset="0"/>
              </a:rPr>
              <a:t>str_match</a:t>
            </a:r>
            <a:r>
              <a:rPr kumimoji="1" lang="zh-CN" altLang="en-US" sz="1600" dirty="0" smtClean="0">
                <a:latin typeface="微软雅黑" panose="020B0503020204020204" pitchFamily="34" charset="-122"/>
                <a:ea typeface="微软雅黑" panose="020B0503020204020204" pitchFamily="34" charset="-122"/>
                <a:cs typeface="宋体" charset="0"/>
              </a:rPr>
              <a:t>：多模匹配或者叫子串匹配，对列数无要求</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endParaRPr kumimoji="1" lang="en-US" altLang="zh-CN" sz="1600" dirty="0" smtClean="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黑名单类策略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4155395" cy="3874046"/>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点击</a:t>
            </a:r>
            <a:r>
              <a:rPr kumimoji="1" lang="en-US" altLang="zh-CN" sz="1800" dirty="0" err="1" smtClean="0">
                <a:latin typeface="微软雅黑" panose="020B0503020204020204" pitchFamily="34" charset="-122"/>
                <a:ea typeface="微软雅黑" panose="020B0503020204020204" pitchFamily="34" charset="-122"/>
                <a:cs typeface="宋体" charset="0"/>
              </a:rPr>
              <a:t>ip</a:t>
            </a:r>
            <a:r>
              <a:rPr kumimoji="1" lang="zh-CN" altLang="en-US" sz="1800" dirty="0" smtClean="0">
                <a:latin typeface="微软雅黑" panose="020B0503020204020204" pitchFamily="34" charset="-122"/>
                <a:ea typeface="微软雅黑" panose="020B0503020204020204" pitchFamily="34" charset="-122"/>
                <a:cs typeface="宋体" charset="0"/>
              </a:rPr>
              <a:t>黑名单类策略</a:t>
            </a:r>
            <a:r>
              <a:rPr kumimoji="1" lang="en-US" altLang="zh-CN" sz="1800" dirty="0" smtClean="0">
                <a:latin typeface="微软雅黑" panose="020B0503020204020204" pitchFamily="34" charset="-122"/>
                <a:ea typeface="微软雅黑" panose="020B0503020204020204" pitchFamily="34" charset="-122"/>
                <a:cs typeface="宋体" charset="0"/>
              </a:rPr>
              <a:t>(14001)</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策略背景：</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来自于公司内网的流量以及一些已知作弊来源的流量都属于非正常流量，可以通过</a:t>
            </a:r>
            <a:r>
              <a:rPr kumimoji="1" lang="en-US" altLang="zh-CN" sz="1200" dirty="0" err="1" smtClean="0">
                <a:latin typeface="微软雅黑" panose="020B0503020204020204" pitchFamily="34" charset="-122"/>
                <a:ea typeface="微软雅黑" panose="020B0503020204020204" pitchFamily="34" charset="-122"/>
                <a:cs typeface="宋体" charset="0"/>
              </a:rPr>
              <a:t>clkip</a:t>
            </a:r>
            <a:r>
              <a:rPr kumimoji="1" lang="zh-CN" altLang="en-US" sz="1200" dirty="0" smtClean="0">
                <a:latin typeface="微软雅黑" panose="020B0503020204020204" pitchFamily="34" charset="-122"/>
                <a:ea typeface="微软雅黑" panose="020B0503020204020204" pitchFamily="34" charset="-122"/>
                <a:cs typeface="宋体" charset="0"/>
              </a:rPr>
              <a:t>进行过滤。</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参数说明：</a:t>
            </a:r>
            <a:endParaRPr kumimoji="1" lang="zh-CN" altLang="en-US" sz="1600" dirty="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dict_type:ipmap</a:t>
            </a:r>
            <a:r>
              <a:rPr kumimoji="1" lang="zh-CN" altLang="en-US" sz="1200" dirty="0">
                <a:latin typeface="微软雅黑" panose="020B0503020204020204" pitchFamily="34" charset="-122"/>
                <a:ea typeface="微软雅黑" panose="020B0503020204020204" pitchFamily="34" charset="-122"/>
                <a:cs typeface="宋体" charset="0"/>
              </a:rPr>
              <a:t>，</a:t>
            </a:r>
            <a:r>
              <a:rPr kumimoji="1" lang="en-US" altLang="zh-CN" sz="1200" dirty="0" err="1">
                <a:latin typeface="微软雅黑" panose="020B0503020204020204" pitchFamily="34" charset="-122"/>
                <a:ea typeface="微软雅黑" panose="020B0503020204020204" pitchFamily="34" charset="-122"/>
                <a:cs typeface="宋体" charset="0"/>
              </a:rPr>
              <a:t>ipmap</a:t>
            </a:r>
            <a:r>
              <a:rPr kumimoji="1" lang="zh-CN" altLang="en-US" sz="1200" dirty="0">
                <a:latin typeface="微软雅黑" panose="020B0503020204020204" pitchFamily="34" charset="-122"/>
                <a:ea typeface="微软雅黑" panose="020B0503020204020204" pitchFamily="34" charset="-122"/>
                <a:cs typeface="宋体" charset="0"/>
              </a:rPr>
              <a:t>类型的词表类型往往对应的文件类型也是</a:t>
            </a:r>
            <a:r>
              <a:rPr kumimoji="1" lang="en-US" altLang="zh-CN" sz="1200" dirty="0" err="1">
                <a:latin typeface="微软雅黑" panose="020B0503020204020204" pitchFamily="34" charset="-122"/>
                <a:ea typeface="微软雅黑" panose="020B0503020204020204" pitchFamily="34" charset="-122"/>
                <a:cs typeface="宋体" charset="0"/>
              </a:rPr>
              <a:t>ipmap</a:t>
            </a:r>
            <a:r>
              <a:rPr kumimoji="1" lang="zh-CN" altLang="en-US" sz="1200" dirty="0">
                <a:latin typeface="微软雅黑" panose="020B0503020204020204" pitchFamily="34" charset="-122"/>
                <a:ea typeface="微软雅黑" panose="020B0503020204020204" pitchFamily="34" charset="-122"/>
                <a:cs typeface="宋体" charset="0"/>
              </a:rPr>
              <a:t>，其中每一行就是一个</a:t>
            </a:r>
            <a:r>
              <a:rPr kumimoji="1" lang="en-US" altLang="zh-CN" sz="1200" dirty="0" err="1">
                <a:latin typeface="微软雅黑" panose="020B0503020204020204" pitchFamily="34" charset="-122"/>
                <a:ea typeface="微软雅黑" panose="020B0503020204020204" pitchFamily="34" charset="-122"/>
                <a:cs typeface="宋体" charset="0"/>
              </a:rPr>
              <a:t>ip</a:t>
            </a:r>
            <a:r>
              <a:rPr kumimoji="1" lang="zh-CN" altLang="en-US" sz="1200" dirty="0">
                <a:latin typeface="微软雅黑" panose="020B0503020204020204" pitchFamily="34" charset="-122"/>
                <a:ea typeface="微软雅黑" panose="020B0503020204020204" pitchFamily="34" charset="-122"/>
                <a:cs typeface="宋体" charset="0"/>
              </a:rPr>
              <a:t>段，查找时主要看日志的</a:t>
            </a:r>
            <a:r>
              <a:rPr kumimoji="1" lang="en-US" altLang="zh-CN" sz="1200" dirty="0" err="1">
                <a:latin typeface="微软雅黑" panose="020B0503020204020204" pitchFamily="34" charset="-122"/>
                <a:ea typeface="微软雅黑" panose="020B0503020204020204" pitchFamily="34" charset="-122"/>
                <a:cs typeface="宋体" charset="0"/>
              </a:rPr>
              <a:t>ip</a:t>
            </a:r>
            <a:r>
              <a:rPr kumimoji="1" lang="zh-CN" altLang="en-US" sz="1200" dirty="0">
                <a:latin typeface="微软雅黑" panose="020B0503020204020204" pitchFamily="34" charset="-122"/>
                <a:ea typeface="微软雅黑" panose="020B0503020204020204" pitchFamily="34" charset="-122"/>
                <a:cs typeface="宋体" charset="0"/>
              </a:rPr>
              <a:t>是否位于任意一行的</a:t>
            </a:r>
            <a:r>
              <a:rPr kumimoji="1" lang="en-US" altLang="zh-CN" sz="1200" dirty="0" err="1">
                <a:latin typeface="微软雅黑" panose="020B0503020204020204" pitchFamily="34" charset="-122"/>
                <a:ea typeface="微软雅黑" panose="020B0503020204020204" pitchFamily="34" charset="-122"/>
                <a:cs typeface="宋体" charset="0"/>
              </a:rPr>
              <a:t>ip</a:t>
            </a:r>
            <a:r>
              <a:rPr kumimoji="1" lang="zh-CN" altLang="en-US" sz="1200" dirty="0">
                <a:latin typeface="微软雅黑" panose="020B0503020204020204" pitchFamily="34" charset="-122"/>
                <a:ea typeface="微软雅黑" panose="020B0503020204020204" pitchFamily="34" charset="-122"/>
                <a:cs typeface="宋体" charset="0"/>
              </a:rPr>
              <a:t>段中</a:t>
            </a:r>
            <a:r>
              <a:rPr kumimoji="1" lang="en-US" altLang="zh-CN" sz="1200" dirty="0">
                <a:latin typeface="微软雅黑" panose="020B0503020204020204" pitchFamily="34" charset="-122"/>
                <a:ea typeface="微软雅黑" panose="020B0503020204020204" pitchFamily="34" charset="-122"/>
                <a:cs typeface="宋体" charset="0"/>
              </a:rPr>
              <a:t>(sip – </a:t>
            </a:r>
            <a:r>
              <a:rPr kumimoji="1" lang="en-US" altLang="zh-CN" sz="1200" dirty="0" err="1">
                <a:latin typeface="微软雅黑" panose="020B0503020204020204" pitchFamily="34" charset="-122"/>
                <a:ea typeface="微软雅黑" panose="020B0503020204020204" pitchFamily="34" charset="-122"/>
                <a:cs typeface="宋体" charset="0"/>
              </a:rPr>
              <a:t>eip</a:t>
            </a:r>
            <a:r>
              <a:rPr kumimoji="1" lang="zh-CN" altLang="en-US" sz="1200" dirty="0">
                <a:latin typeface="微软雅黑" panose="020B0503020204020204" pitchFamily="34" charset="-122"/>
                <a:ea typeface="微软雅黑" panose="020B0503020204020204" pitchFamily="34" charset="-122"/>
                <a:cs typeface="宋体" charset="0"/>
              </a:rPr>
              <a:t>组成的</a:t>
            </a:r>
            <a:r>
              <a:rPr kumimoji="1" lang="en-US" altLang="zh-CN" sz="1200" dirty="0" err="1">
                <a:latin typeface="微软雅黑" panose="020B0503020204020204" pitchFamily="34" charset="-122"/>
                <a:ea typeface="微软雅黑" panose="020B0503020204020204" pitchFamily="34" charset="-122"/>
                <a:cs typeface="宋体" charset="0"/>
              </a:rPr>
              <a:t>ip</a:t>
            </a:r>
            <a:r>
              <a:rPr kumimoji="1" lang="zh-CN" altLang="en-US" sz="1200" dirty="0">
                <a:latin typeface="微软雅黑" panose="020B0503020204020204" pitchFamily="34" charset="-122"/>
                <a:ea typeface="微软雅黑" panose="020B0503020204020204" pitchFamily="34" charset="-122"/>
                <a:cs typeface="宋体" charset="0"/>
              </a:rPr>
              <a:t>段</a:t>
            </a:r>
            <a:r>
              <a:rPr kumimoji="1" lang="en-US" altLang="zh-CN" sz="12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对于所有的日志，一旦日志的点击</a:t>
            </a:r>
            <a:r>
              <a:rPr kumimoji="1" lang="en-US" altLang="zh-CN" sz="1200" dirty="0" err="1" smtClean="0">
                <a:latin typeface="微软雅黑" panose="020B0503020204020204" pitchFamily="34" charset="-122"/>
                <a:ea typeface="微软雅黑" panose="020B0503020204020204" pitchFamily="34" charset="-122"/>
                <a:cs typeface="宋体" charset="0"/>
              </a:rPr>
              <a:t>ip</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en-US" altLang="zh-CN" sz="1200" dirty="0" err="1" smtClean="0">
                <a:latin typeface="微软雅黑" panose="020B0503020204020204" pitchFamily="34" charset="-122"/>
                <a:ea typeface="微软雅黑" panose="020B0503020204020204" pitchFamily="34" charset="-122"/>
                <a:cs typeface="宋体" charset="0"/>
              </a:rPr>
              <a:t>clkip</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zh-CN" altLang="en-US" sz="1200" dirty="0">
                <a:latin typeface="微软雅黑" panose="020B0503020204020204" pitchFamily="34" charset="-122"/>
                <a:ea typeface="微软雅黑" panose="020B0503020204020204" pitchFamily="34" charset="-122"/>
                <a:cs typeface="宋体" charset="0"/>
              </a:rPr>
              <a:t>位于</a:t>
            </a:r>
            <a:r>
              <a:rPr kumimoji="1" lang="en-US" altLang="zh-CN" sz="1200" dirty="0" smtClean="0">
                <a:latin typeface="微软雅黑" panose="020B0503020204020204" pitchFamily="34" charset="-122"/>
                <a:ea typeface="微软雅黑" panose="020B0503020204020204" pitchFamily="34" charset="-122"/>
                <a:cs typeface="宋体" charset="0"/>
              </a:rPr>
              <a:t>./data/ipblack_seg.dat</a:t>
            </a:r>
            <a:r>
              <a:rPr kumimoji="1" lang="zh-CN" altLang="en-US" sz="1200" dirty="0" smtClean="0">
                <a:latin typeface="微软雅黑" panose="020B0503020204020204" pitchFamily="34" charset="-122"/>
                <a:ea typeface="微软雅黑" panose="020B0503020204020204" pitchFamily="34" charset="-122"/>
                <a:cs typeface="宋体" charset="0"/>
              </a:rPr>
              <a:t>文件的任意一个</a:t>
            </a:r>
            <a:r>
              <a:rPr kumimoji="1" lang="en-US" altLang="zh-CN" sz="1200" dirty="0" err="1" smtClean="0">
                <a:latin typeface="微软雅黑" panose="020B0503020204020204" pitchFamily="34" charset="-122"/>
                <a:ea typeface="微软雅黑" panose="020B0503020204020204" pitchFamily="34" charset="-122"/>
                <a:cs typeface="宋体" charset="0"/>
              </a:rPr>
              <a:t>ip</a:t>
            </a:r>
            <a:r>
              <a:rPr kumimoji="1" lang="zh-CN" altLang="en-US" sz="1200" dirty="0" smtClean="0">
                <a:latin typeface="微软雅黑" panose="020B0503020204020204" pitchFamily="34" charset="-122"/>
                <a:ea typeface="微软雅黑" panose="020B0503020204020204" pitchFamily="34" charset="-122"/>
                <a:cs typeface="宋体" charset="0"/>
              </a:rPr>
              <a:t>段中，就认为这条点击日志被</a:t>
            </a:r>
            <a:r>
              <a:rPr kumimoji="1" lang="en-US" altLang="zh-CN" sz="1200" dirty="0" smtClean="0">
                <a:latin typeface="微软雅黑" panose="020B0503020204020204" pitchFamily="34" charset="-122"/>
                <a:ea typeface="微软雅黑" panose="020B0503020204020204" pitchFamily="34" charset="-122"/>
                <a:cs typeface="宋体" charset="0"/>
              </a:rPr>
              <a:t>14001</a:t>
            </a:r>
            <a:r>
              <a:rPr kumimoji="1" lang="zh-CN" altLang="en-US" sz="1200" dirty="0" smtClean="0">
                <a:latin typeface="微软雅黑" panose="020B0503020204020204" pitchFamily="34" charset="-122"/>
                <a:ea typeface="微软雅黑" panose="020B0503020204020204" pitchFamily="34" charset="-122"/>
                <a:cs typeface="宋体" charset="0"/>
              </a:rPr>
              <a:t>策略命中。</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600" dirty="0" smtClean="0">
              <a:latin typeface="微软雅黑" panose="020B0503020204020204" pitchFamily="34" charset="-122"/>
              <a:ea typeface="微软雅黑" panose="020B0503020204020204" pitchFamily="34" charset="-122"/>
              <a:cs typeface="宋体" charset="0"/>
            </a:endParaRPr>
          </a:p>
        </p:txBody>
      </p:sp>
      <p:sp>
        <p:nvSpPr>
          <p:cNvPr id="2" name="矩形 1"/>
          <p:cNvSpPr/>
          <p:nvPr/>
        </p:nvSpPr>
        <p:spPr>
          <a:xfrm>
            <a:off x="5194300" y="819044"/>
            <a:ext cx="2730500" cy="1569660"/>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  14001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14001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boolean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condition   : true</a:t>
            </a:r>
            <a:endParaRPr lang="en-US" altLang="zh-CN" sz="1200" dirty="0">
              <a:solidFill>
                <a:srgbClr val="33CC33"/>
              </a:solidFill>
              <a:latin typeface="Times New Roman" panose="02020603050405020304" charset="0"/>
              <a:cs typeface="Times New Roman" panose="02020603050405020304" charset="0"/>
            </a:endParaRPr>
          </a:p>
        </p:txBody>
      </p:sp>
      <p:sp>
        <p:nvSpPr>
          <p:cNvPr id="5" name="矩形 4"/>
          <p:cNvSpPr/>
          <p:nvPr/>
        </p:nvSpPr>
        <p:spPr>
          <a:xfrm>
            <a:off x="6699250" y="819044"/>
            <a:ext cx="2254250" cy="2492990"/>
          </a:xfrm>
          <a:prstGeom prst="rect">
            <a:avLst/>
          </a:prstGeom>
          <a:solidFill>
            <a:schemeClr val="tx1"/>
          </a:solidFill>
        </p:spPr>
        <p:txBody>
          <a:bodyPr wrap="square">
            <a:spAutoFit/>
          </a:bodyPr>
          <a:ls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200" dirty="0" smtClean="0">
                <a:solidFill>
                  <a:srgbClr val="33CC33"/>
                </a:solidFill>
                <a:latin typeface="Times New Roman" panose="02020603050405020304" charset="0"/>
                <a:cs typeface="Times New Roman" panose="02020603050405020304" charset="0"/>
              </a:rPr>
              <a:t>[@</a:t>
            </a:r>
            <a:r>
              <a:rPr lang="en-US" altLang="zh-CN" sz="1200" b="1" dirty="0">
                <a:solidFill>
                  <a:srgbClr val="33CC33"/>
                </a:solidFill>
                <a:latin typeface="Times New Roman" panose="02020603050405020304" charset="0"/>
                <a:cs typeface="Times New Roman" panose="02020603050405020304" charset="0"/>
              </a:rPr>
              <a:t>feature</a:t>
            </a:r>
            <a:r>
              <a:rPr lang="en-US" altLang="zh-CN" sz="1200" dirty="0">
                <a:solidFill>
                  <a:srgbClr val="33CC33"/>
                </a:solidFill>
                <a:latin typeface="Times New Roman" panose="02020603050405020304" charset="0"/>
                <a:cs typeface="Times New Roman" panose="02020603050405020304" charset="0"/>
              </a:rPr>
              <a:t>]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14001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file_dict</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click_level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a:t>
            </a:r>
            <a:r>
              <a:rPr lang="en-US" altLang="zh-CN" sz="1200" dirty="0" err="1">
                <a:solidFill>
                  <a:srgbClr val="33CC33"/>
                </a:solidFill>
                <a:latin typeface="Times New Roman" panose="02020603050405020304" charset="0"/>
                <a:cs typeface="Times New Roman" panose="02020603050405020304" charset="0"/>
              </a:rPr>
              <a:t>clkip</a:t>
            </a:r>
            <a:r>
              <a:rPr lang="en-US" altLang="zh-CN" sz="1200" dirty="0">
                <a:solidFill>
                  <a:srgbClr val="33CC33"/>
                </a:solidFill>
                <a:latin typeface="Times New Roman" panose="02020603050405020304" charset="0"/>
                <a:cs typeface="Times New Roman" panose="02020603050405020304" charset="0"/>
              </a:rPr>
              <a:t>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file_key</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ip.black</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dict_type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ipmap</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a:t>
            </a:r>
            <a:r>
              <a:rPr lang="en-US" altLang="zh-CN" sz="1200" dirty="0" smtClean="0">
                <a:solidFill>
                  <a:srgbClr val="33CC33"/>
                </a:solidFill>
                <a:latin typeface="Times New Roman" panose="02020603050405020304" charset="0"/>
                <a:cs typeface="Times New Roman" panose="02020603050405020304" charset="0"/>
              </a:rPr>
              <a:t>:[*]</a:t>
            </a:r>
            <a:endParaRPr lang="en-US" altLang="zh-CN" sz="1200" dirty="0" smtClean="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a:t>
            </a:r>
            <a:r>
              <a:rPr lang="en-US" altLang="zh-CN" sz="1200" b="1" dirty="0">
                <a:solidFill>
                  <a:srgbClr val="33CC33"/>
                </a:solidFill>
                <a:latin typeface="Times New Roman" panose="02020603050405020304" charset="0"/>
                <a:cs typeface="Times New Roman" panose="02020603050405020304" charset="0"/>
              </a:rPr>
              <a:t>file</a:t>
            </a:r>
            <a:r>
              <a:rPr lang="en-US" altLang="zh-CN" sz="1200" dirty="0">
                <a:solidFill>
                  <a:srgbClr val="33CC33"/>
                </a:solidFill>
                <a:latin typeface="Times New Roman" panose="02020603050405020304" charset="0"/>
                <a:cs typeface="Times New Roman" panose="02020603050405020304" charset="0"/>
              </a:rPr>
              <a:t>]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ipmap</a:t>
            </a:r>
            <a:r>
              <a:rPr lang="en-US" altLang="zh-CN" sz="1200" dirty="0">
                <a:solidFill>
                  <a:srgbClr val="33CC33"/>
                </a:solidFill>
                <a:latin typeface="Times New Roman" panose="02020603050405020304" charset="0"/>
                <a:cs typeface="Times New Roman" panose="02020603050405020304" charset="0"/>
              </a:rPr>
              <a:t>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file_key</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ip.black</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file_path</a:t>
            </a:r>
            <a:r>
              <a:rPr lang="en-US" altLang="zh-CN" sz="1200" dirty="0">
                <a:solidFill>
                  <a:srgbClr val="33CC33"/>
                </a:solidFill>
                <a:latin typeface="Times New Roman" panose="02020603050405020304" charset="0"/>
                <a:cs typeface="Times New Roman" panose="02020603050405020304" charset="0"/>
              </a:rPr>
              <a:t> : ./data/ipblack_seg.dat</a:t>
            </a:r>
            <a:endParaRPr lang="en-US" altLang="zh-CN" sz="1200" dirty="0">
              <a:solidFill>
                <a:srgbClr val="33CC33"/>
              </a:solidFill>
              <a:latin typeface="Times New Roman" panose="02020603050405020304" charset="0"/>
              <a:cs typeface="Times New Roman" panose="02020603050405020304" charset="0"/>
            </a:endParaRPr>
          </a:p>
        </p:txBody>
      </p:sp>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5410200" y="3643630"/>
            <a:ext cx="2895600" cy="1233170"/>
          </a:xfrm>
          <a:prstGeom prst="rect">
            <a:avLst/>
          </a:prstGeom>
          <a:noFill/>
          <a:ln>
            <a:noFill/>
          </a:ln>
        </p:spPr>
      </p:pic>
      <p:sp>
        <p:nvSpPr>
          <p:cNvPr id="7" name="文本框 6"/>
          <p:cNvSpPr txBox="1"/>
          <p:nvPr/>
        </p:nvSpPr>
        <p:spPr>
          <a:xfrm>
            <a:off x="5321300" y="584993"/>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14001</a:t>
            </a:r>
            <a:r>
              <a:rPr lang="zh-CN" altLang="en-US" sz="1200" dirty="0" smtClean="0">
                <a:latin typeface="微软雅黑" panose="020B0503020204020204" pitchFamily="34" charset="-122"/>
                <a:ea typeface="微软雅黑" panose="020B0503020204020204" pitchFamily="34" charset="-122"/>
              </a:rPr>
              <a:t>策略相关配置文件</a:t>
            </a:r>
            <a:endParaRPr lang="zh-CN" altLang="en-US" sz="1200"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321300" y="3315681"/>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a:latin typeface="微软雅黑" panose="020B0503020204020204" pitchFamily="34" charset="-122"/>
                <a:ea typeface="微软雅黑" panose="020B0503020204020204" pitchFamily="34" charset="-122"/>
              </a:rPr>
              <a:t>b</a:t>
            </a:r>
            <a:r>
              <a:rPr lang="en-US" altLang="zh-CN" sz="1200" dirty="0" smtClean="0">
                <a:latin typeface="微软雅黑" panose="020B0503020204020204" pitchFamily="34" charset="-122"/>
                <a:ea typeface="微软雅黑" panose="020B0503020204020204" pitchFamily="34" charset="-122"/>
              </a:rPr>
              <a:t>: </a:t>
            </a:r>
            <a:r>
              <a:rPr lang="zh-CN" altLang="en-US" sz="1200" dirty="0" smtClean="0">
                <a:latin typeface="微软雅黑" panose="020B0503020204020204" pitchFamily="34" charset="-122"/>
                <a:ea typeface="微软雅黑" panose="020B0503020204020204" pitchFamily="34" charset="-122"/>
              </a:rPr>
              <a:t>词表文件</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黑名单类策略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3"/>
            <a:ext cx="4307741" cy="4140667"/>
          </a:xfrm>
        </p:spPr>
        <p:txBody>
          <a:bodyPr>
            <a:noAutofit/>
          </a:bodyPr>
          <a:lstStyle/>
          <a:p>
            <a:pPr marL="0" indent="0">
              <a:spcAft>
                <a:spcPts val="600"/>
              </a:spcAft>
              <a:buSzPct val="120000"/>
              <a:buNone/>
            </a:pPr>
            <a:r>
              <a:rPr kumimoji="1" lang="en-US" altLang="zh-CN" sz="1800" dirty="0" smtClean="0">
                <a:latin typeface="微软雅黑" panose="020B0503020204020204" pitchFamily="34" charset="-122"/>
                <a:ea typeface="微软雅黑" panose="020B0503020204020204" pitchFamily="34" charset="-122"/>
                <a:cs typeface="宋体" charset="0"/>
              </a:rPr>
              <a:t>UA</a:t>
            </a:r>
            <a:r>
              <a:rPr kumimoji="1" lang="zh-CN" altLang="en-US" sz="1800" dirty="0" smtClean="0">
                <a:latin typeface="微软雅黑" panose="020B0503020204020204" pitchFamily="34" charset="-122"/>
                <a:ea typeface="微软雅黑" panose="020B0503020204020204" pitchFamily="34" charset="-122"/>
                <a:cs typeface="宋体" charset="0"/>
              </a:rPr>
              <a:t>黑名单类策略</a:t>
            </a:r>
            <a:r>
              <a:rPr kumimoji="1" lang="en-US" altLang="zh-CN" sz="1800" dirty="0" smtClean="0">
                <a:latin typeface="微软雅黑" panose="020B0503020204020204" pitchFamily="34" charset="-122"/>
                <a:ea typeface="微软雅黑" panose="020B0503020204020204" pitchFamily="34" charset="-122"/>
                <a:cs typeface="宋体" charset="0"/>
              </a:rPr>
              <a:t>(10009)</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策略背景：</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200" dirty="0" smtClean="0">
                <a:latin typeface="微软雅黑" panose="020B0503020204020204" pitchFamily="34" charset="-122"/>
                <a:ea typeface="微软雅黑" panose="020B0503020204020204" pitchFamily="34" charset="-122"/>
                <a:cs typeface="宋体" charset="0"/>
              </a:rPr>
              <a:t>UA(</a:t>
            </a:r>
            <a:r>
              <a:rPr kumimoji="1" lang="en-US" altLang="zh-CN" sz="1200" dirty="0" err="1" smtClean="0">
                <a:latin typeface="微软雅黑" panose="020B0503020204020204" pitchFamily="34" charset="-122"/>
                <a:ea typeface="微软雅黑" panose="020B0503020204020204" pitchFamily="34" charset="-122"/>
                <a:cs typeface="宋体" charset="0"/>
              </a:rPr>
              <a:t>UserAgent</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zh-CN" altLang="en-US" sz="1200" dirty="0" smtClean="0">
                <a:latin typeface="微软雅黑" panose="020B0503020204020204" pitchFamily="34" charset="-122"/>
                <a:ea typeface="微软雅黑" panose="020B0503020204020204" pitchFamily="34" charset="-122"/>
                <a:cs typeface="宋体" charset="0"/>
              </a:rPr>
              <a:t>中往往包含很多有关客户端的信息，包括用户使用的操作系统及版本、</a:t>
            </a:r>
            <a:r>
              <a:rPr kumimoji="1" lang="en-US" altLang="zh-CN" sz="1200" dirty="0" smtClean="0">
                <a:latin typeface="微软雅黑" panose="020B0503020204020204" pitchFamily="34" charset="-122"/>
                <a:ea typeface="微软雅黑" panose="020B0503020204020204" pitchFamily="34" charset="-122"/>
                <a:cs typeface="宋体" charset="0"/>
              </a:rPr>
              <a:t>CPU</a:t>
            </a:r>
            <a:r>
              <a:rPr kumimoji="1" lang="zh-CN" altLang="en-US" sz="1200" dirty="0" smtClean="0">
                <a:latin typeface="微软雅黑" panose="020B0503020204020204" pitchFamily="34" charset="-122"/>
                <a:ea typeface="微软雅黑" panose="020B0503020204020204" pitchFamily="34" charset="-122"/>
                <a:cs typeface="宋体" charset="0"/>
              </a:rPr>
              <a:t>类型、浏览器版本等，而作弊爬虫中往往包含</a:t>
            </a:r>
            <a:r>
              <a:rPr kumimoji="1" lang="en-US" altLang="zh-CN" sz="1200" dirty="0" smtClean="0">
                <a:latin typeface="微软雅黑" panose="020B0503020204020204" pitchFamily="34" charset="-122"/>
                <a:ea typeface="微软雅黑" panose="020B0503020204020204" pitchFamily="34" charset="-122"/>
                <a:cs typeface="宋体" charset="0"/>
              </a:rPr>
              <a:t>python</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smtClean="0">
                <a:latin typeface="微软雅黑" panose="020B0503020204020204" pitchFamily="34" charset="-122"/>
                <a:ea typeface="微软雅黑" panose="020B0503020204020204" pitchFamily="34" charset="-122"/>
                <a:cs typeface="宋体" charset="0"/>
              </a:rPr>
              <a:t>Java</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smtClean="0">
                <a:latin typeface="微软雅黑" panose="020B0503020204020204" pitchFamily="34" charset="-122"/>
                <a:ea typeface="微软雅黑" panose="020B0503020204020204" pitchFamily="34" charset="-122"/>
                <a:cs typeface="宋体" charset="0"/>
              </a:rPr>
              <a:t>spider</a:t>
            </a:r>
            <a:r>
              <a:rPr kumimoji="1" lang="zh-CN" altLang="en-US" sz="1200" dirty="0" smtClean="0">
                <a:latin typeface="微软雅黑" panose="020B0503020204020204" pitchFamily="34" charset="-122"/>
                <a:ea typeface="微软雅黑" panose="020B0503020204020204" pitchFamily="34" charset="-122"/>
                <a:cs typeface="宋体" charset="0"/>
              </a:rPr>
              <a:t>等字段，可以根据</a:t>
            </a:r>
            <a:r>
              <a:rPr kumimoji="1" lang="en-US" altLang="zh-CN" sz="1200" dirty="0" err="1" smtClean="0">
                <a:latin typeface="微软雅黑" panose="020B0503020204020204" pitchFamily="34" charset="-122"/>
                <a:ea typeface="微软雅黑" panose="020B0503020204020204" pitchFamily="34" charset="-122"/>
                <a:cs typeface="宋体" charset="0"/>
              </a:rPr>
              <a:t>ua</a:t>
            </a:r>
            <a:r>
              <a:rPr kumimoji="1" lang="zh-CN" altLang="en-US" sz="1200" dirty="0" smtClean="0">
                <a:latin typeface="微软雅黑" panose="020B0503020204020204" pitchFamily="34" charset="-122"/>
                <a:ea typeface="微软雅黑" panose="020B0503020204020204" pitchFamily="34" charset="-122"/>
                <a:cs typeface="宋体" charset="0"/>
              </a:rPr>
              <a:t>进行过滤。</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参数说明：</a:t>
            </a:r>
            <a:endParaRPr kumimoji="1" lang="zh-CN" altLang="en-US" sz="1600" dirty="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dict_type</a:t>
            </a:r>
            <a:r>
              <a:rPr kumimoji="1" lang="zh-CN" altLang="en-US" sz="1200" dirty="0">
                <a:latin typeface="微软雅黑" panose="020B0503020204020204" pitchFamily="34" charset="-122"/>
                <a:ea typeface="微软雅黑" panose="020B0503020204020204" pitchFamily="34" charset="-122"/>
                <a:cs typeface="宋体" charset="0"/>
              </a:rPr>
              <a:t>：</a:t>
            </a:r>
            <a:r>
              <a:rPr kumimoji="1" lang="en-US" altLang="zh-CN" sz="1200" dirty="0" err="1">
                <a:latin typeface="微软雅黑" panose="020B0503020204020204" pitchFamily="34" charset="-122"/>
                <a:ea typeface="微软雅黑" panose="020B0503020204020204" pitchFamily="34" charset="-122"/>
                <a:cs typeface="宋体" charset="0"/>
              </a:rPr>
              <a:t>str_match</a:t>
            </a:r>
            <a:r>
              <a:rPr kumimoji="1" lang="zh-CN" altLang="en-US" sz="1200" dirty="0">
                <a:latin typeface="微软雅黑" panose="020B0503020204020204" pitchFamily="34" charset="-122"/>
                <a:ea typeface="微软雅黑" panose="020B0503020204020204" pitchFamily="34" charset="-122"/>
                <a:cs typeface="宋体" charset="0"/>
              </a:rPr>
              <a:t>，</a:t>
            </a:r>
            <a:r>
              <a:rPr kumimoji="1" lang="en-US" altLang="zh-CN" sz="1200" dirty="0" err="1">
                <a:latin typeface="微软雅黑" panose="020B0503020204020204" pitchFamily="34" charset="-122"/>
                <a:ea typeface="微软雅黑" panose="020B0503020204020204" pitchFamily="34" charset="-122"/>
                <a:cs typeface="宋体" charset="0"/>
              </a:rPr>
              <a:t>str_match</a:t>
            </a:r>
            <a:r>
              <a:rPr kumimoji="1" lang="zh-CN" altLang="en-US" sz="1200" dirty="0">
                <a:latin typeface="微软雅黑" panose="020B0503020204020204" pitchFamily="34" charset="-122"/>
                <a:ea typeface="微软雅黑" panose="020B0503020204020204" pitchFamily="34" charset="-122"/>
                <a:cs typeface="宋体" charset="0"/>
              </a:rPr>
              <a:t>词表类型往往对应的文件类型也是</a:t>
            </a:r>
            <a:r>
              <a:rPr kumimoji="1" lang="en-US" altLang="zh-CN" sz="1200" dirty="0" err="1">
                <a:latin typeface="微软雅黑" panose="020B0503020204020204" pitchFamily="34" charset="-122"/>
                <a:ea typeface="微软雅黑" panose="020B0503020204020204" pitchFamily="34" charset="-122"/>
                <a:cs typeface="宋体" charset="0"/>
              </a:rPr>
              <a:t>str_match</a:t>
            </a:r>
            <a:r>
              <a:rPr kumimoji="1" lang="zh-CN" altLang="en-US" sz="1200" dirty="0">
                <a:latin typeface="微软雅黑" panose="020B0503020204020204" pitchFamily="34" charset="-122"/>
                <a:ea typeface="微软雅黑" panose="020B0503020204020204" pitchFamily="34" charset="-122"/>
                <a:cs typeface="宋体" charset="0"/>
              </a:rPr>
              <a:t>，文件有两列或一列，用</a:t>
            </a:r>
            <a:r>
              <a:rPr kumimoji="1" lang="en-US" altLang="zh-CN" sz="1200" dirty="0">
                <a:latin typeface="微软雅黑" panose="020B0503020204020204" pitchFamily="34" charset="-122"/>
                <a:ea typeface="微软雅黑" panose="020B0503020204020204" pitchFamily="34" charset="-122"/>
                <a:cs typeface="宋体" charset="0"/>
              </a:rPr>
              <a:t>\t</a:t>
            </a:r>
            <a:r>
              <a:rPr kumimoji="1" lang="zh-CN" altLang="en-US" sz="1200" dirty="0">
                <a:latin typeface="微软雅黑" panose="020B0503020204020204" pitchFamily="34" charset="-122"/>
                <a:ea typeface="微软雅黑" panose="020B0503020204020204" pitchFamily="34" charset="-122"/>
                <a:cs typeface="宋体" charset="0"/>
              </a:rPr>
              <a:t>分开，第一列是子字符串，第二列是属性，匹配时只要日志</a:t>
            </a:r>
            <a:r>
              <a:rPr kumimoji="1" lang="en-US" altLang="zh-CN" sz="1200" dirty="0" err="1">
                <a:latin typeface="微软雅黑" panose="020B0503020204020204" pitchFamily="34" charset="-122"/>
                <a:ea typeface="微软雅黑" panose="020B0503020204020204" pitchFamily="34" charset="-122"/>
                <a:cs typeface="宋体" charset="0"/>
              </a:rPr>
              <a:t>ua</a:t>
            </a:r>
            <a:r>
              <a:rPr kumimoji="1" lang="zh-CN" altLang="en-US" sz="1200" dirty="0">
                <a:latin typeface="微软雅黑" panose="020B0503020204020204" pitchFamily="34" charset="-122"/>
                <a:ea typeface="微软雅黑" panose="020B0503020204020204" pitchFamily="34" charset="-122"/>
                <a:cs typeface="宋体" charset="0"/>
              </a:rPr>
              <a:t>字段中包含文件中任意一个子字符串，就认为日志被命中</a:t>
            </a:r>
            <a:r>
              <a:rPr kumimoji="1" lang="zh-CN" altLang="en-US" sz="12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针对所有检索日志，一旦日志的</a:t>
            </a:r>
            <a:r>
              <a:rPr kumimoji="1" lang="en-US" altLang="zh-CN" sz="1200" dirty="0" err="1" smtClean="0">
                <a:latin typeface="微软雅黑" panose="020B0503020204020204" pitchFamily="34" charset="-122"/>
                <a:ea typeface="微软雅黑" panose="020B0503020204020204" pitchFamily="34" charset="-122"/>
                <a:cs typeface="宋体" charset="0"/>
              </a:rPr>
              <a:t>ua</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en-US" altLang="zh-CN" sz="1200" dirty="0" err="1" smtClean="0">
                <a:latin typeface="微软雅黑" panose="020B0503020204020204" pitchFamily="34" charset="-122"/>
                <a:ea typeface="微软雅黑" panose="020B0503020204020204" pitchFamily="34" charset="-122"/>
                <a:cs typeface="宋体" charset="0"/>
              </a:rPr>
              <a:t>useragent_native</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zh-CN" altLang="en-US" sz="1200" dirty="0" smtClean="0">
                <a:latin typeface="微软雅黑" panose="020B0503020204020204" pitchFamily="34" charset="-122"/>
                <a:ea typeface="微软雅黑" panose="020B0503020204020204" pitchFamily="34" charset="-122"/>
                <a:cs typeface="宋体" charset="0"/>
              </a:rPr>
              <a:t>字段中包含词表文件的任意一行第一列的字符串，就认为这条点击日志被</a:t>
            </a:r>
            <a:r>
              <a:rPr kumimoji="1" lang="en-US" altLang="zh-CN" sz="1200" dirty="0" smtClean="0">
                <a:latin typeface="微软雅黑" panose="020B0503020204020204" pitchFamily="34" charset="-122"/>
                <a:ea typeface="微软雅黑" panose="020B0503020204020204" pitchFamily="34" charset="-122"/>
                <a:cs typeface="宋体" charset="0"/>
              </a:rPr>
              <a:t>14001</a:t>
            </a:r>
            <a:r>
              <a:rPr kumimoji="1" lang="zh-CN" altLang="en-US" sz="1200" dirty="0" smtClean="0">
                <a:latin typeface="微软雅黑" panose="020B0503020204020204" pitchFamily="34" charset="-122"/>
                <a:ea typeface="微软雅黑" panose="020B0503020204020204" pitchFamily="34" charset="-122"/>
                <a:cs typeface="宋体" charset="0"/>
              </a:rPr>
              <a:t>策略命中。</a:t>
            </a:r>
            <a:endParaRPr kumimoji="1" lang="en-US" altLang="zh-CN" sz="1200" dirty="0" smtClean="0">
              <a:latin typeface="微软雅黑" panose="020B0503020204020204" pitchFamily="34" charset="-122"/>
              <a:ea typeface="微软雅黑" panose="020B0503020204020204" pitchFamily="34" charset="-122"/>
              <a:cs typeface="宋体" charset="0"/>
            </a:endParaRPr>
          </a:p>
        </p:txBody>
      </p:sp>
      <p:sp>
        <p:nvSpPr>
          <p:cNvPr id="2" name="矩形 1"/>
          <p:cNvSpPr/>
          <p:nvPr/>
        </p:nvSpPr>
        <p:spPr>
          <a:xfrm>
            <a:off x="4787846" y="722496"/>
            <a:ext cx="1589432" cy="1754326"/>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10009</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10009</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a:t>
            </a:r>
            <a:r>
              <a:rPr lang="en-US" altLang="zh-CN" sz="1200" dirty="0" err="1">
                <a:solidFill>
                  <a:srgbClr val="33CC33"/>
                </a:solidFill>
                <a:latin typeface="Times New Roman" panose="02020603050405020304" charset="0"/>
                <a:cs typeface="Times New Roman" panose="02020603050405020304" charset="0"/>
              </a:rPr>
              <a:t>boolean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gray_file</a:t>
            </a:r>
            <a:r>
              <a:rPr lang="en-US" altLang="zh-CN" sz="1200" dirty="0">
                <a:solidFill>
                  <a:srgbClr val="33CC33"/>
                </a:solidFill>
                <a:latin typeface="Times New Roman" panose="02020603050405020304" charset="0"/>
                <a:cs typeface="Times New Roman" panose="02020603050405020304" charset="0"/>
              </a:rPr>
              <a:t>: </a:t>
            </a:r>
            <a:r>
              <a:rPr lang="en-US" altLang="zh-CN" sz="1200" dirty="0" err="1">
                <a:solidFill>
                  <a:srgbClr val="33CC33"/>
                </a:solidFill>
                <a:latin typeface="Times New Roman" panose="02020603050405020304" charset="0"/>
                <a:cs typeface="Times New Roman" panose="02020603050405020304" charset="0"/>
              </a:rPr>
              <a:t>empty_file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condition: true</a:t>
            </a:r>
            <a:endParaRPr lang="en-US" altLang="zh-CN" sz="1200" dirty="0">
              <a:solidFill>
                <a:srgbClr val="33CC33"/>
              </a:solidFill>
              <a:latin typeface="Times New Roman" panose="02020603050405020304" charset="0"/>
              <a:cs typeface="Times New Roman" panose="02020603050405020304" charset="0"/>
            </a:endParaRPr>
          </a:p>
        </p:txBody>
      </p:sp>
      <p:sp>
        <p:nvSpPr>
          <p:cNvPr id="5" name="矩形 4"/>
          <p:cNvSpPr/>
          <p:nvPr/>
        </p:nvSpPr>
        <p:spPr>
          <a:xfrm>
            <a:off x="6202241" y="717910"/>
            <a:ext cx="2766722" cy="3046988"/>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[@feature]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10009</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file_dict</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pv_level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a:t>
            </a:r>
            <a:r>
              <a:rPr lang="en-US" altLang="zh-CN" sz="1200" dirty="0" err="1">
                <a:solidFill>
                  <a:srgbClr val="33CC33"/>
                </a:solidFill>
                <a:latin typeface="Times New Roman" panose="02020603050405020304" charset="0"/>
                <a:cs typeface="Times New Roman" panose="02020603050405020304" charset="0"/>
              </a:rPr>
              <a:t>useragent_native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version : 2</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file_key</a:t>
            </a:r>
            <a:r>
              <a:rPr lang="en-US" altLang="zh-CN" sz="1200" dirty="0">
                <a:solidFill>
                  <a:srgbClr val="33CC33"/>
                </a:solidFill>
                <a:latin typeface="Times New Roman" panose="02020603050405020304" charset="0"/>
                <a:cs typeface="Times New Roman" panose="02020603050405020304" charset="0"/>
              </a:rPr>
              <a:t> : ./data/black_crawler_ua_10009</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dict_type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str_match</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[@file]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file_key</a:t>
            </a:r>
            <a:r>
              <a:rPr lang="en-US" altLang="zh-CN" sz="1200" dirty="0">
                <a:solidFill>
                  <a:srgbClr val="33CC33"/>
                </a:solidFill>
                <a:latin typeface="Times New Roman" panose="02020603050405020304" charset="0"/>
                <a:cs typeface="Times New Roman" panose="02020603050405020304" charset="0"/>
              </a:rPr>
              <a:t>  : ./data/black_crawler_ua_10009</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str_match</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file_path</a:t>
            </a:r>
            <a:r>
              <a:rPr lang="en-US" altLang="zh-CN" sz="1200" dirty="0">
                <a:solidFill>
                  <a:srgbClr val="33CC33"/>
                </a:solidFill>
                <a:latin typeface="Times New Roman" panose="02020603050405020304" charset="0"/>
                <a:cs typeface="Times New Roman" panose="02020603050405020304" charset="0"/>
              </a:rPr>
              <a:t> : /home/volume/</a:t>
            </a:r>
            <a:r>
              <a:rPr lang="en-US" altLang="zh-CN" sz="1200" dirty="0" err="1">
                <a:solidFill>
                  <a:srgbClr val="33CC33"/>
                </a:solidFill>
                <a:latin typeface="Times New Roman" panose="02020603050405020304" charset="0"/>
                <a:cs typeface="Times New Roman" panose="02020603050405020304" charset="0"/>
              </a:rPr>
              <a:t>anti_nfs</a:t>
            </a:r>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dict</a:t>
            </a:r>
            <a:r>
              <a:rPr lang="en-US" altLang="zh-CN" sz="1200" dirty="0">
                <a:solidFill>
                  <a:srgbClr val="33CC33"/>
                </a:solidFill>
                <a:latin typeface="Times New Roman" panose="02020603050405020304" charset="0"/>
                <a:cs typeface="Times New Roman" panose="02020603050405020304" charset="0"/>
              </a:rPr>
              <a:t>/asp/asp-extractor/data/black_crawler_ua_10009</a:t>
            </a:r>
            <a:endParaRPr lang="en-US" altLang="zh-CN" sz="1200" dirty="0">
              <a:solidFill>
                <a:srgbClr val="33CC33"/>
              </a:solidFill>
              <a:latin typeface="Times New Roman" panose="02020603050405020304" charset="0"/>
              <a:cs typeface="Times New Roman" panose="02020603050405020304" charset="0"/>
            </a:endParaRPr>
          </a:p>
        </p:txBody>
      </p:sp>
      <p:sp>
        <p:nvSpPr>
          <p:cNvPr id="7" name="文本框 6"/>
          <p:cNvSpPr txBox="1"/>
          <p:nvPr/>
        </p:nvSpPr>
        <p:spPr>
          <a:xfrm>
            <a:off x="4840578" y="440911"/>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10009</a:t>
            </a:r>
            <a:r>
              <a:rPr lang="zh-CN" altLang="en-US" sz="1200" dirty="0" smtClean="0">
                <a:latin typeface="微软雅黑" panose="020B0503020204020204" pitchFamily="34" charset="-122"/>
                <a:ea typeface="微软雅黑" panose="020B0503020204020204" pitchFamily="34" charset="-122"/>
              </a:rPr>
              <a:t>策略相关配置文件</a:t>
            </a:r>
            <a:endParaRPr lang="zh-CN" altLang="en-US" sz="1200" dirty="0">
              <a:latin typeface="微软雅黑" panose="020B0503020204020204" pitchFamily="34" charset="-122"/>
              <a:ea typeface="微软雅黑" panose="020B0503020204020204" pitchFamily="34" charset="-122"/>
            </a:endParaRPr>
          </a:p>
        </p:txBody>
      </p:sp>
      <p:sp>
        <p:nvSpPr>
          <p:cNvPr id="8" name="文本框 7"/>
          <p:cNvSpPr txBox="1"/>
          <p:nvPr/>
        </p:nvSpPr>
        <p:spPr>
          <a:xfrm>
            <a:off x="6026662" y="3716438"/>
            <a:ext cx="1141730" cy="461665"/>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a:latin typeface="微软雅黑" panose="020B0503020204020204" pitchFamily="34" charset="-122"/>
                <a:ea typeface="微软雅黑" panose="020B0503020204020204" pitchFamily="34" charset="-122"/>
              </a:rPr>
              <a:t>b</a:t>
            </a:r>
            <a:r>
              <a:rPr lang="en-US" altLang="zh-CN" sz="1200" dirty="0" smtClean="0">
                <a:latin typeface="微软雅黑" panose="020B0503020204020204" pitchFamily="34" charset="-122"/>
                <a:ea typeface="微软雅黑" panose="020B0503020204020204" pitchFamily="34" charset="-122"/>
              </a:rPr>
              <a:t>: </a:t>
            </a:r>
            <a:r>
              <a:rPr lang="zh-CN" altLang="en-US" sz="1200" dirty="0" smtClean="0">
                <a:latin typeface="微软雅黑" panose="020B0503020204020204" pitchFamily="34" charset="-122"/>
                <a:ea typeface="微软雅黑" panose="020B0503020204020204" pitchFamily="34" charset="-122"/>
              </a:rPr>
              <a:t>词表文件</a:t>
            </a:r>
            <a:endParaRPr lang="en-US" altLang="zh-CN" sz="1200" dirty="0" smtClean="0">
              <a:latin typeface="微软雅黑" panose="020B0503020204020204" pitchFamily="34" charset="-122"/>
              <a:ea typeface="微软雅黑" panose="020B0503020204020204" pitchFamily="34" charset="-122"/>
            </a:endParaRPr>
          </a:p>
          <a:p>
            <a:pPr algn="ctr"/>
            <a:r>
              <a:rPr lang="en-US" altLang="zh-CN" sz="1200" dirty="0" smtClean="0">
                <a:latin typeface="微软雅黑" panose="020B0503020204020204" pitchFamily="34" charset="-122"/>
                <a:ea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rPr>
              <a:t>部分</a:t>
            </a:r>
            <a:r>
              <a:rPr lang="en-US" altLang="zh-CN" sz="1200" dirty="0" smtClean="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2"/>
          <a:stretch>
            <a:fillRect/>
          </a:stretch>
        </p:blipFill>
        <p:spPr>
          <a:xfrm>
            <a:off x="6202239" y="4178103"/>
            <a:ext cx="790575" cy="904875"/>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黑名单类策略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161249"/>
            <a:ext cx="5006295" cy="3982251"/>
          </a:xfrm>
        </p:spPr>
        <p:txBody>
          <a:bodyPr>
            <a:noAutofit/>
          </a:bodyPr>
          <a:lstStyle/>
          <a:p>
            <a:pPr marL="0" indent="0">
              <a:spcAft>
                <a:spcPts val="600"/>
              </a:spcAft>
              <a:buSzPct val="120000"/>
              <a:buNone/>
            </a:pPr>
            <a:r>
              <a:rPr kumimoji="1" lang="en-US" altLang="zh-CN" sz="1800" dirty="0" err="1">
                <a:latin typeface="微软雅黑" panose="020B0503020204020204" pitchFamily="34" charset="-122"/>
                <a:ea typeface="微软雅黑" panose="020B0503020204020204" pitchFamily="34" charset="-122"/>
                <a:cs typeface="宋体" charset="0"/>
              </a:rPr>
              <a:t>u</a:t>
            </a:r>
            <a:r>
              <a:rPr kumimoji="1" lang="en-US" altLang="zh-CN" sz="1800" dirty="0" err="1" smtClean="0">
                <a:latin typeface="微软雅黑" panose="020B0503020204020204" pitchFamily="34" charset="-122"/>
                <a:ea typeface="微软雅黑" panose="020B0503020204020204" pitchFamily="34" charset="-122"/>
                <a:cs typeface="宋体" charset="0"/>
              </a:rPr>
              <a:t>serid</a:t>
            </a:r>
            <a:r>
              <a:rPr kumimoji="1" lang="en-US" altLang="zh-CN" sz="1800" dirty="0" smtClean="0">
                <a:latin typeface="微软雅黑" panose="020B0503020204020204" pitchFamily="34" charset="-122"/>
                <a:ea typeface="微软雅黑" panose="020B0503020204020204" pitchFamily="34" charset="-122"/>
                <a:cs typeface="宋体" charset="0"/>
              </a:rPr>
              <a:t>, </a:t>
            </a:r>
            <a:r>
              <a:rPr kumimoji="1" lang="en-US" altLang="zh-CN" sz="1800" dirty="0" err="1" smtClean="0">
                <a:latin typeface="微软雅黑" panose="020B0503020204020204" pitchFamily="34" charset="-122"/>
                <a:ea typeface="微软雅黑" panose="020B0503020204020204" pitchFamily="34" charset="-122"/>
                <a:cs typeface="宋体" charset="0"/>
              </a:rPr>
              <a:t>baiduid</a:t>
            </a:r>
            <a:r>
              <a:rPr kumimoji="1" lang="zh-CN" altLang="en-US" sz="1800" dirty="0" smtClean="0">
                <a:latin typeface="微软雅黑" panose="020B0503020204020204" pitchFamily="34" charset="-122"/>
                <a:ea typeface="微软雅黑" panose="020B0503020204020204" pitchFamily="34" charset="-122"/>
                <a:cs typeface="宋体" charset="0"/>
              </a:rPr>
              <a:t>组合黑名单类策略</a:t>
            </a:r>
            <a:r>
              <a:rPr kumimoji="1" lang="en-US" altLang="zh-CN" sz="1800" dirty="0" smtClean="0">
                <a:latin typeface="微软雅黑" panose="020B0503020204020204" pitchFamily="34" charset="-122"/>
                <a:ea typeface="微软雅黑" panose="020B0503020204020204" pitchFamily="34" charset="-122"/>
                <a:cs typeface="宋体" charset="0"/>
              </a:rPr>
              <a:t>(37991)</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策略背景：</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实际情况中存在某些用户</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en-US" altLang="zh-CN" sz="1200" dirty="0" err="1" smtClean="0">
                <a:latin typeface="微软雅黑" panose="020B0503020204020204" pitchFamily="34" charset="-122"/>
                <a:ea typeface="微软雅黑" panose="020B0503020204020204" pitchFamily="34" charset="-122"/>
                <a:cs typeface="宋体" charset="0"/>
              </a:rPr>
              <a:t>baiduid</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zh-CN" altLang="en-US" sz="1200" dirty="0" smtClean="0">
                <a:latin typeface="微软雅黑" panose="020B0503020204020204" pitchFamily="34" charset="-122"/>
                <a:ea typeface="微软雅黑" panose="020B0503020204020204" pitchFamily="34" charset="-122"/>
                <a:cs typeface="宋体" charset="0"/>
              </a:rPr>
              <a:t>疯狂点击”</a:t>
            </a:r>
            <a:r>
              <a:rPr kumimoji="1" lang="zh-CN" altLang="en-US" sz="1200" dirty="0">
                <a:latin typeface="微软雅黑" panose="020B0503020204020204" pitchFamily="34" charset="-122"/>
                <a:ea typeface="微软雅黑" panose="020B0503020204020204" pitchFamily="34" charset="-122"/>
                <a:cs typeface="宋体" charset="0"/>
              </a:rPr>
              <a:t>某广告</a:t>
            </a:r>
            <a:r>
              <a:rPr kumimoji="1" lang="zh-CN" altLang="en-US" sz="1200" dirty="0" smtClean="0">
                <a:latin typeface="微软雅黑" panose="020B0503020204020204" pitchFamily="34" charset="-122"/>
                <a:ea typeface="微软雅黑" panose="020B0503020204020204" pitchFamily="34" charset="-122"/>
                <a:cs typeface="宋体" charset="0"/>
              </a:rPr>
              <a:t>主</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en-US" altLang="zh-CN" sz="1200" dirty="0" err="1" smtClean="0">
                <a:latin typeface="微软雅黑" panose="020B0503020204020204" pitchFamily="34" charset="-122"/>
                <a:ea typeface="微软雅黑" panose="020B0503020204020204" pitchFamily="34" charset="-122"/>
                <a:cs typeface="宋体" charset="0"/>
              </a:rPr>
              <a:t>userid</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zh-CN" altLang="en-US" sz="1200" dirty="0" smtClean="0">
                <a:latin typeface="微软雅黑" panose="020B0503020204020204" pitchFamily="34" charset="-122"/>
                <a:ea typeface="微软雅黑" panose="020B0503020204020204" pitchFamily="34" charset="-122"/>
                <a:cs typeface="宋体" charset="0"/>
              </a:rPr>
              <a:t>的现象，这时候需要根据组合黑名单过滤这些流量</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参数说明：</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200" dirty="0" err="1" smtClean="0">
                <a:latin typeface="微软雅黑" panose="020B0503020204020204" pitchFamily="34" charset="-122"/>
                <a:ea typeface="微软雅黑" panose="020B0503020204020204" pitchFamily="34" charset="-122"/>
                <a:cs typeface="宋体" charset="0"/>
              </a:rPr>
              <a:t>dict_type</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smtClean="0">
                <a:latin typeface="微软雅黑" panose="020B0503020204020204" pitchFamily="34" charset="-122"/>
                <a:ea typeface="微软雅黑" panose="020B0503020204020204" pitchFamily="34" charset="-122"/>
                <a:cs typeface="宋体" charset="0"/>
              </a:rPr>
              <a:t>multicolumn, multicolumn</a:t>
            </a:r>
            <a:r>
              <a:rPr kumimoji="1" lang="zh-CN" altLang="en-US" sz="1200" dirty="0" smtClean="0">
                <a:latin typeface="微软雅黑" panose="020B0503020204020204" pitchFamily="34" charset="-122"/>
                <a:ea typeface="微软雅黑" panose="020B0503020204020204" pitchFamily="34" charset="-122"/>
                <a:cs typeface="宋体" charset="0"/>
              </a:rPr>
              <a:t>是默认的词表类型，也就是说如果没有</a:t>
            </a:r>
            <a:r>
              <a:rPr kumimoji="1" lang="en-US" altLang="zh-CN" sz="1200" dirty="0" err="1" smtClean="0">
                <a:latin typeface="微软雅黑" panose="020B0503020204020204" pitchFamily="34" charset="-122"/>
                <a:ea typeface="微软雅黑" panose="020B0503020204020204" pitchFamily="34" charset="-122"/>
                <a:cs typeface="宋体" charset="0"/>
              </a:rPr>
              <a:t>dict_type</a:t>
            </a:r>
            <a:r>
              <a:rPr kumimoji="1" lang="zh-CN" altLang="en-US" sz="1200" dirty="0" smtClean="0">
                <a:latin typeface="微软雅黑" panose="020B0503020204020204" pitchFamily="34" charset="-122"/>
                <a:ea typeface="微软雅黑" panose="020B0503020204020204" pitchFamily="34" charset="-122"/>
                <a:cs typeface="宋体" charset="0"/>
              </a:rPr>
              <a:t>字段的话，程序会自动使用</a:t>
            </a:r>
            <a:r>
              <a:rPr kumimoji="1" lang="en-US" altLang="zh-CN" sz="1200" dirty="0" smtClean="0">
                <a:latin typeface="微软雅黑" panose="020B0503020204020204" pitchFamily="34" charset="-122"/>
                <a:ea typeface="微软雅黑" panose="020B0503020204020204" pitchFamily="34" charset="-122"/>
                <a:cs typeface="宋体" charset="0"/>
              </a:rPr>
              <a:t>multicolumn</a:t>
            </a:r>
            <a:r>
              <a:rPr kumimoji="1" lang="zh-CN" altLang="en-US" sz="1200" dirty="0" smtClean="0">
                <a:latin typeface="微软雅黑" panose="020B0503020204020204" pitchFamily="34" charset="-122"/>
                <a:ea typeface="微软雅黑" panose="020B0503020204020204" pitchFamily="34" charset="-122"/>
                <a:cs typeface="宋体" charset="0"/>
              </a:rPr>
              <a:t>作为</a:t>
            </a:r>
            <a:r>
              <a:rPr kumimoji="1" lang="en-US" altLang="zh-CN" sz="1200" dirty="0" err="1" smtClean="0">
                <a:latin typeface="微软雅黑" panose="020B0503020204020204" pitchFamily="34" charset="-122"/>
                <a:ea typeface="微软雅黑" panose="020B0503020204020204" pitchFamily="34" charset="-122"/>
                <a:cs typeface="宋体" charset="0"/>
              </a:rPr>
              <a:t>dict_type</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smtClean="0">
                <a:latin typeface="微软雅黑" panose="020B0503020204020204" pitchFamily="34" charset="-122"/>
                <a:ea typeface="微软雅黑" panose="020B0503020204020204" pitchFamily="34" charset="-122"/>
                <a:cs typeface="宋体" charset="0"/>
              </a:rPr>
              <a:t>multicolumn</a:t>
            </a:r>
            <a:r>
              <a:rPr kumimoji="1" lang="zh-CN" altLang="en-US" sz="1200" dirty="0" smtClean="0">
                <a:latin typeface="微软雅黑" panose="020B0503020204020204" pitchFamily="34" charset="-122"/>
                <a:ea typeface="微软雅黑" panose="020B0503020204020204" pitchFamily="34" charset="-122"/>
                <a:cs typeface="宋体" charset="0"/>
              </a:rPr>
              <a:t>对应的文件类型</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en-US" altLang="zh-CN" sz="1200" dirty="0" err="1" smtClean="0">
                <a:latin typeface="微软雅黑" panose="020B0503020204020204" pitchFamily="34" charset="-122"/>
                <a:ea typeface="微软雅黑" panose="020B0503020204020204" pitchFamily="34" charset="-122"/>
                <a:cs typeface="宋体" charset="0"/>
              </a:rPr>
              <a:t>file_type</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zh-CN" altLang="en-US" sz="1200" dirty="0" smtClean="0">
                <a:latin typeface="微软雅黑" panose="020B0503020204020204" pitchFamily="34" charset="-122"/>
                <a:ea typeface="微软雅黑" panose="020B0503020204020204" pitchFamily="34" charset="-122"/>
                <a:cs typeface="宋体" charset="0"/>
              </a:rPr>
              <a:t>是</a:t>
            </a:r>
            <a:r>
              <a:rPr kumimoji="1" lang="en-US" altLang="zh-CN" sz="1200" dirty="0" err="1" smtClean="0">
                <a:latin typeface="微软雅黑" panose="020B0503020204020204" pitchFamily="34" charset="-122"/>
                <a:ea typeface="微软雅黑" panose="020B0503020204020204" pitchFamily="34" charset="-122"/>
                <a:cs typeface="宋体" charset="0"/>
              </a:rPr>
              <a:t>mcf</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err="1" smtClean="0">
                <a:latin typeface="微软雅黑" panose="020B0503020204020204" pitchFamily="34" charset="-122"/>
                <a:ea typeface="微软雅黑" panose="020B0503020204020204" pitchFamily="34" charset="-122"/>
                <a:cs typeface="宋体" charset="0"/>
              </a:rPr>
              <a:t>mcf</a:t>
            </a:r>
            <a:r>
              <a:rPr kumimoji="1" lang="zh-CN" altLang="en-US" sz="1200" dirty="0" smtClean="0">
                <a:latin typeface="微软雅黑" panose="020B0503020204020204" pitchFamily="34" charset="-122"/>
                <a:ea typeface="微软雅黑" panose="020B0503020204020204" pitchFamily="34" charset="-122"/>
                <a:cs typeface="宋体" charset="0"/>
              </a:rPr>
              <a:t>文件可以是单列或多列，以</a:t>
            </a:r>
            <a:r>
              <a:rPr kumimoji="1" lang="en-US" altLang="zh-CN" sz="1200" dirty="0" smtClean="0">
                <a:latin typeface="微软雅黑" panose="020B0503020204020204" pitchFamily="34" charset="-122"/>
                <a:ea typeface="微软雅黑" panose="020B0503020204020204" pitchFamily="34" charset="-122"/>
                <a:cs typeface="宋体" charset="0"/>
              </a:rPr>
              <a:t>\t</a:t>
            </a:r>
            <a:r>
              <a:rPr kumimoji="1" lang="zh-CN" altLang="en-US" sz="1200" dirty="0" smtClean="0">
                <a:latin typeface="微软雅黑" panose="020B0503020204020204" pitchFamily="34" charset="-122"/>
                <a:ea typeface="微软雅黑" panose="020B0503020204020204" pitchFamily="34" charset="-122"/>
                <a:cs typeface="宋体" charset="0"/>
              </a:rPr>
              <a:t>分割，多列的情况下会将使用</a:t>
            </a:r>
            <a:r>
              <a:rPr kumimoji="1" lang="en-US" altLang="zh-CN" sz="1200" dirty="0" smtClean="0">
                <a:latin typeface="微软雅黑" panose="020B0503020204020204" pitchFamily="34" charset="-122"/>
                <a:ea typeface="微软雅黑" panose="020B0503020204020204" pitchFamily="34" charset="-122"/>
                <a:cs typeface="宋体" charset="0"/>
              </a:rPr>
              <a:t>“_“</a:t>
            </a:r>
            <a:r>
              <a:rPr kumimoji="1" lang="zh-CN" altLang="en-US" sz="1200" dirty="0" smtClean="0">
                <a:latin typeface="微软雅黑" panose="020B0503020204020204" pitchFamily="34" charset="-122"/>
                <a:ea typeface="微软雅黑" panose="020B0503020204020204" pitchFamily="34" charset="-122"/>
                <a:cs typeface="宋体" charset="0"/>
              </a:rPr>
              <a:t>将各列字符串连接形成一个新的字符串，但如果配置文件中存在</a:t>
            </a:r>
            <a:r>
              <a:rPr kumimoji="1" lang="en-US" altLang="zh-CN" sz="1200" dirty="0" smtClean="0">
                <a:latin typeface="微软雅黑" panose="020B0503020204020204" pitchFamily="34" charset="-122"/>
                <a:ea typeface="微软雅黑" panose="020B0503020204020204" pitchFamily="34" charset="-122"/>
                <a:cs typeface="宋体" charset="0"/>
              </a:rPr>
              <a:t>column</a:t>
            </a:r>
            <a:r>
              <a:rPr kumimoji="1" lang="zh-CN" altLang="en-US" sz="1200" dirty="0" smtClean="0">
                <a:latin typeface="微软雅黑" panose="020B0503020204020204" pitchFamily="34" charset="-122"/>
                <a:ea typeface="微软雅黑" panose="020B0503020204020204" pitchFamily="34" charset="-122"/>
                <a:cs typeface="宋体" charset="0"/>
              </a:rPr>
              <a:t>字段，程序仅根据</a:t>
            </a:r>
            <a:r>
              <a:rPr kumimoji="1" lang="en-US" altLang="zh-CN" sz="1200" dirty="0" smtClean="0">
                <a:latin typeface="微软雅黑" panose="020B0503020204020204" pitchFamily="34" charset="-122"/>
                <a:ea typeface="微软雅黑" panose="020B0503020204020204" pitchFamily="34" charset="-122"/>
                <a:cs typeface="宋体" charset="0"/>
              </a:rPr>
              <a:t>column</a:t>
            </a:r>
            <a:r>
              <a:rPr kumimoji="1" lang="zh-CN" altLang="en-US" sz="1200" dirty="0" smtClean="0">
                <a:latin typeface="微软雅黑" panose="020B0503020204020204" pitchFamily="34" charset="-122"/>
                <a:ea typeface="微软雅黑" panose="020B0503020204020204" pitchFamily="34" charset="-122"/>
                <a:cs typeface="宋体" charset="0"/>
              </a:rPr>
              <a:t>值取出特定的列作为比较对象，单列则直接使用该列字符串，匹配方式是全串匹配</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zh-CN" altLang="en-US" sz="1200" dirty="0" smtClean="0">
                <a:latin typeface="微软雅黑" panose="020B0503020204020204" pitchFamily="34" charset="-122"/>
                <a:ea typeface="微软雅黑" panose="020B0503020204020204" pitchFamily="34" charset="-122"/>
                <a:cs typeface="宋体" charset="0"/>
              </a:rPr>
              <a:t>两字符串相等则匹配成功。</a:t>
            </a:r>
            <a:r>
              <a:rPr kumimoji="1" lang="en-US" altLang="zh-CN" sz="1200" dirty="0" smtClean="0">
                <a:latin typeface="微软雅黑" panose="020B0503020204020204" pitchFamily="34" charset="-122"/>
                <a:ea typeface="微软雅黑" panose="020B0503020204020204" pitchFamily="34" charset="-122"/>
                <a:cs typeface="宋体" charset="0"/>
              </a:rPr>
              <a:t>)</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200" dirty="0" smtClean="0">
                <a:latin typeface="微软雅黑" panose="020B0503020204020204" pitchFamily="34" charset="-122"/>
                <a:ea typeface="微软雅黑" panose="020B0503020204020204" pitchFamily="34" charset="-122"/>
                <a:cs typeface="宋体" charset="0"/>
              </a:rPr>
              <a:t>care</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a:latin typeface="微软雅黑" panose="020B0503020204020204" pitchFamily="34" charset="-122"/>
                <a:ea typeface="微软雅黑" panose="020B0503020204020204" pitchFamily="34" charset="-122"/>
                <a:cs typeface="宋体" charset="0"/>
              </a:rPr>
              <a:t>['</a:t>
            </a:r>
            <a:r>
              <a:rPr kumimoji="1" lang="en-US" altLang="zh-CN" sz="1200" dirty="0" err="1">
                <a:latin typeface="微软雅黑" panose="020B0503020204020204" pitchFamily="34" charset="-122"/>
                <a:ea typeface="微软雅黑" panose="020B0503020204020204" pitchFamily="34" charset="-122"/>
                <a:cs typeface="宋体" charset="0"/>
              </a:rPr>
              <a:t>accessid</a:t>
            </a:r>
            <a:r>
              <a:rPr kumimoji="1" lang="en-US" altLang="zh-CN" sz="1200" dirty="0">
                <a:latin typeface="微软雅黑" panose="020B0503020204020204" pitchFamily="34" charset="-122"/>
                <a:ea typeface="微软雅黑" panose="020B0503020204020204" pitchFamily="34" charset="-122"/>
                <a:cs typeface="宋体" charset="0"/>
              </a:rPr>
              <a:t>':='1','31','37','1001','1002','1003','1004']['</a:t>
            </a:r>
            <a:r>
              <a:rPr kumimoji="1" lang="en-US" altLang="zh-CN" sz="1200" dirty="0" err="1">
                <a:latin typeface="微软雅黑" panose="020B0503020204020204" pitchFamily="34" charset="-122"/>
                <a:ea typeface="微软雅黑" panose="020B0503020204020204" pitchFamily="34" charset="-122"/>
                <a:cs typeface="宋体" charset="0"/>
              </a:rPr>
              <a:t>is_wireless</a:t>
            </a:r>
            <a:r>
              <a:rPr kumimoji="1" lang="en-US" altLang="zh-CN" sz="1200" dirty="0">
                <a:latin typeface="微软雅黑" panose="020B0503020204020204" pitchFamily="34" charset="-122"/>
                <a:ea typeface="微软雅黑" panose="020B0503020204020204" pitchFamily="34" charset="-122"/>
                <a:cs typeface="宋体" charset="0"/>
              </a:rPr>
              <a:t>':='0']</a:t>
            </a:r>
            <a:r>
              <a:rPr kumimoji="1" lang="zh-CN" altLang="en-US" sz="1200" dirty="0">
                <a:latin typeface="微软雅黑" panose="020B0503020204020204" pitchFamily="34" charset="-122"/>
                <a:ea typeface="微软雅黑" panose="020B0503020204020204" pitchFamily="34" charset="-122"/>
                <a:cs typeface="宋体" charset="0"/>
              </a:rPr>
              <a:t>这一表达式的含义是</a:t>
            </a:r>
            <a:r>
              <a:rPr kumimoji="1" lang="en-US" altLang="zh-CN" sz="1200" dirty="0">
                <a:latin typeface="微软雅黑" panose="020B0503020204020204" pitchFamily="34" charset="-122"/>
                <a:ea typeface="微软雅黑" panose="020B0503020204020204" pitchFamily="34" charset="-122"/>
                <a:cs typeface="宋体" charset="0"/>
              </a:rPr>
              <a:t>pc</a:t>
            </a:r>
            <a:r>
              <a:rPr kumimoji="1" lang="zh-CN" altLang="en-US" sz="1200" dirty="0">
                <a:latin typeface="微软雅黑" panose="020B0503020204020204" pitchFamily="34" charset="-122"/>
                <a:ea typeface="微软雅黑" panose="020B0503020204020204" pitchFamily="34" charset="-122"/>
                <a:cs typeface="宋体" charset="0"/>
              </a:rPr>
              <a:t>端的凤</a:t>
            </a:r>
            <a:r>
              <a:rPr kumimoji="1" lang="zh-CN" altLang="en-US" sz="1200" dirty="0" smtClean="0">
                <a:latin typeface="微软雅黑" panose="020B0503020204020204" pitchFamily="34" charset="-122"/>
                <a:ea typeface="微软雅黑" panose="020B0503020204020204" pitchFamily="34" charset="-122"/>
                <a:cs typeface="宋体" charset="0"/>
              </a:rPr>
              <a:t>巢广告</a:t>
            </a:r>
            <a:r>
              <a:rPr kumimoji="1" lang="zh-CN" altLang="en-US" sz="1200" dirty="0">
                <a:latin typeface="微软雅黑" panose="020B0503020204020204" pitchFamily="34" charset="-122"/>
                <a:ea typeface="微软雅黑" panose="020B0503020204020204" pitchFamily="34" charset="-122"/>
                <a:cs typeface="宋体" charset="0"/>
              </a:rPr>
              <a:t>相关点击日志</a:t>
            </a:r>
            <a:endParaRPr kumimoji="1" lang="en-US" altLang="zh-CN" sz="1600" dirty="0" smtClean="0">
              <a:latin typeface="微软雅黑" panose="020B0503020204020204" pitchFamily="34" charset="-122"/>
              <a:ea typeface="微软雅黑" panose="020B0503020204020204" pitchFamily="34" charset="-122"/>
              <a:cs typeface="宋体" charset="0"/>
            </a:endParaRPr>
          </a:p>
        </p:txBody>
      </p:sp>
      <p:sp>
        <p:nvSpPr>
          <p:cNvPr id="5" name="矩形 4"/>
          <p:cNvSpPr/>
          <p:nvPr/>
        </p:nvSpPr>
        <p:spPr>
          <a:xfrm>
            <a:off x="5648614" y="717910"/>
            <a:ext cx="3482563" cy="2862322"/>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[@feature]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37991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file_dict</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click_level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 ['</a:t>
            </a:r>
            <a:r>
              <a:rPr lang="en-US" altLang="zh-CN" sz="1200" dirty="0" err="1">
                <a:solidFill>
                  <a:srgbClr val="33CC33"/>
                </a:solidFill>
                <a:latin typeface="Times New Roman" panose="02020603050405020304" charset="0"/>
                <a:cs typeface="Times New Roman" panose="02020603050405020304" charset="0"/>
              </a:rPr>
              <a:t>accessid</a:t>
            </a:r>
            <a:r>
              <a:rPr lang="en-US" altLang="zh-CN" sz="1200" dirty="0">
                <a:solidFill>
                  <a:srgbClr val="33CC33"/>
                </a:solidFill>
                <a:latin typeface="Times New Roman" panose="02020603050405020304" charset="0"/>
                <a:cs typeface="Times New Roman" panose="02020603050405020304" charset="0"/>
              </a:rPr>
              <a:t>':='1','31','37','1001','1002','1003','1004']['</a:t>
            </a:r>
            <a:r>
              <a:rPr lang="en-US" altLang="zh-CN" sz="1200" dirty="0" err="1">
                <a:solidFill>
                  <a:srgbClr val="33CC33"/>
                </a:solidFill>
                <a:latin typeface="Times New Roman" panose="02020603050405020304" charset="0"/>
                <a:cs typeface="Times New Roman" panose="02020603050405020304" charset="0"/>
              </a:rPr>
              <a:t>is_wireless</a:t>
            </a:r>
            <a:r>
              <a:rPr lang="en-US" altLang="zh-CN" sz="1200" dirty="0">
                <a:solidFill>
                  <a:srgbClr val="33CC33"/>
                </a:solidFill>
                <a:latin typeface="Times New Roman" panose="02020603050405020304" charset="0"/>
                <a:cs typeface="Times New Roman" panose="02020603050405020304" charset="0"/>
              </a:rPr>
              <a:t>':='0']</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a:t>
            </a:r>
            <a:r>
              <a:rPr lang="en-US" altLang="zh-CN" sz="1200" dirty="0" err="1">
                <a:solidFill>
                  <a:srgbClr val="33CC33"/>
                </a:solidFill>
                <a:latin typeface="Times New Roman" panose="02020603050405020304" charset="0"/>
                <a:cs typeface="Times New Roman" panose="02020603050405020304" charset="0"/>
              </a:rPr>
              <a:t>userid,baiduid</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file_key</a:t>
            </a:r>
            <a:r>
              <a:rPr lang="en-US" altLang="zh-CN" sz="1200" dirty="0">
                <a:solidFill>
                  <a:srgbClr val="33CC33"/>
                </a:solidFill>
                <a:latin typeface="Times New Roman" panose="02020603050405020304" charset="0"/>
                <a:cs typeface="Times New Roman" panose="02020603050405020304" charset="0"/>
              </a:rPr>
              <a:t>     : 3991.black_userid_baiduid</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[@file]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file_key</a:t>
            </a:r>
            <a:r>
              <a:rPr lang="en-US" altLang="zh-CN" sz="1200" dirty="0">
                <a:solidFill>
                  <a:srgbClr val="33CC33"/>
                </a:solidFill>
                <a:latin typeface="Times New Roman" panose="02020603050405020304" charset="0"/>
                <a:cs typeface="Times New Roman" panose="02020603050405020304" charset="0"/>
              </a:rPr>
              <a:t>  : 3991.black_userid_baiduid</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mcf</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file_path</a:t>
            </a:r>
            <a:r>
              <a:rPr lang="en-US" altLang="zh-CN" sz="1200" dirty="0">
                <a:solidFill>
                  <a:srgbClr val="33CC33"/>
                </a:solidFill>
                <a:latin typeface="Times New Roman" panose="02020603050405020304" charset="0"/>
                <a:cs typeface="Times New Roman" panose="02020603050405020304" charset="0"/>
              </a:rPr>
              <a:t> : /home/work/</a:t>
            </a:r>
            <a:r>
              <a:rPr lang="en-US" altLang="zh-CN" sz="1200" dirty="0" err="1">
                <a:solidFill>
                  <a:srgbClr val="33CC33"/>
                </a:solidFill>
                <a:latin typeface="Times New Roman" panose="02020603050405020304" charset="0"/>
                <a:cs typeface="Times New Roman" panose="02020603050405020304" charset="0"/>
              </a:rPr>
              <a:t>darwin</a:t>
            </a:r>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dr</a:t>
            </a:r>
            <a:r>
              <a:rPr lang="en-US" altLang="zh-CN" sz="1200" dirty="0">
                <a:solidFill>
                  <a:srgbClr val="33CC33"/>
                </a:solidFill>
                <a:latin typeface="Times New Roman" panose="02020603050405020304" charset="0"/>
                <a:cs typeface="Times New Roman" panose="02020603050405020304" charset="0"/>
              </a:rPr>
              <a:t>-dorado/</a:t>
            </a:r>
            <a:r>
              <a:rPr lang="en-US" altLang="zh-CN" sz="1200" dirty="0" err="1">
                <a:solidFill>
                  <a:srgbClr val="33CC33"/>
                </a:solidFill>
                <a:latin typeface="Times New Roman" panose="02020603050405020304" charset="0"/>
                <a:cs typeface="Times New Roman" panose="02020603050405020304" charset="0"/>
              </a:rPr>
              <a:t>dformat</a:t>
            </a:r>
            <a:r>
              <a:rPr lang="en-US" altLang="zh-CN" sz="1200" dirty="0">
                <a:solidFill>
                  <a:srgbClr val="33CC33"/>
                </a:solidFill>
                <a:latin typeface="Times New Roman" panose="02020603050405020304" charset="0"/>
                <a:cs typeface="Times New Roman" panose="02020603050405020304" charset="0"/>
              </a:rPr>
              <a:t>/data/3991.black_userid_baiduid</a:t>
            </a:r>
            <a:endParaRPr lang="en-US" altLang="zh-CN" sz="1200" dirty="0">
              <a:solidFill>
                <a:srgbClr val="33CC33"/>
              </a:solidFill>
              <a:latin typeface="Times New Roman" panose="02020603050405020304" charset="0"/>
              <a:cs typeface="Times New Roman" panose="02020603050405020304" charset="0"/>
            </a:endParaRPr>
          </a:p>
        </p:txBody>
      </p:sp>
      <p:sp>
        <p:nvSpPr>
          <p:cNvPr id="7" name="文本框 6"/>
          <p:cNvSpPr txBox="1"/>
          <p:nvPr/>
        </p:nvSpPr>
        <p:spPr>
          <a:xfrm>
            <a:off x="4857404" y="462702"/>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37991</a:t>
            </a:r>
            <a:r>
              <a:rPr lang="zh-CN" altLang="en-US" sz="1200" dirty="0">
                <a:latin typeface="微软雅黑" panose="020B0503020204020204" pitchFamily="34" charset="-122"/>
                <a:ea typeface="微软雅黑" panose="020B0503020204020204" pitchFamily="34" charset="-122"/>
              </a:rPr>
              <a:t>特征</a:t>
            </a:r>
            <a:r>
              <a:rPr lang="zh-CN" altLang="en-US" sz="1200" dirty="0" smtClean="0">
                <a:latin typeface="微软雅黑" panose="020B0503020204020204" pitchFamily="34" charset="-122"/>
                <a:ea typeface="微软雅黑" panose="020B0503020204020204" pitchFamily="34" charset="-122"/>
              </a:rPr>
              <a:t>相关配置文件</a:t>
            </a:r>
            <a:endParaRPr lang="zh-CN" altLang="en-US" sz="1200" dirty="0">
              <a:latin typeface="微软雅黑" panose="020B0503020204020204" pitchFamily="34" charset="-122"/>
              <a:ea typeface="微软雅黑" panose="020B0503020204020204" pitchFamily="34" charset="-122"/>
            </a:endParaRPr>
          </a:p>
        </p:txBody>
      </p:sp>
      <p:sp>
        <p:nvSpPr>
          <p:cNvPr id="8" name="文本框 7"/>
          <p:cNvSpPr txBox="1"/>
          <p:nvPr/>
        </p:nvSpPr>
        <p:spPr>
          <a:xfrm>
            <a:off x="6789074" y="3576132"/>
            <a:ext cx="1141730" cy="461665"/>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a:latin typeface="微软雅黑" panose="020B0503020204020204" pitchFamily="34" charset="-122"/>
                <a:ea typeface="微软雅黑" panose="020B0503020204020204" pitchFamily="34" charset="-122"/>
              </a:rPr>
              <a:t>b</a:t>
            </a:r>
            <a:r>
              <a:rPr lang="en-US" altLang="zh-CN" sz="1200" dirty="0" smtClean="0">
                <a:latin typeface="微软雅黑" panose="020B0503020204020204" pitchFamily="34" charset="-122"/>
                <a:ea typeface="微软雅黑" panose="020B0503020204020204" pitchFamily="34" charset="-122"/>
              </a:rPr>
              <a:t>: </a:t>
            </a:r>
            <a:r>
              <a:rPr lang="zh-CN" altLang="en-US" sz="1200" dirty="0" smtClean="0">
                <a:latin typeface="微软雅黑" panose="020B0503020204020204" pitchFamily="34" charset="-122"/>
                <a:ea typeface="微软雅黑" panose="020B0503020204020204" pitchFamily="34" charset="-122"/>
              </a:rPr>
              <a:t>词表文件</a:t>
            </a:r>
            <a:endParaRPr lang="en-US" altLang="zh-CN" sz="1200" dirty="0" smtClean="0">
              <a:latin typeface="微软雅黑" panose="020B0503020204020204" pitchFamily="34" charset="-122"/>
              <a:ea typeface="微软雅黑" panose="020B0503020204020204" pitchFamily="34" charset="-122"/>
            </a:endParaRPr>
          </a:p>
          <a:p>
            <a:pPr algn="ctr"/>
            <a:r>
              <a:rPr lang="en-US" altLang="zh-CN" sz="1200" dirty="0" smtClean="0">
                <a:latin typeface="微软雅黑" panose="020B0503020204020204" pitchFamily="34" charset="-122"/>
                <a:ea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rPr>
              <a:t>部分</a:t>
            </a:r>
            <a:r>
              <a:rPr lang="en-US" altLang="zh-CN" sz="1200" dirty="0" smtClean="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a:stretch>
            <a:fillRect/>
          </a:stretch>
        </p:blipFill>
        <p:spPr>
          <a:xfrm>
            <a:off x="5997864" y="4037797"/>
            <a:ext cx="2724150" cy="1019175"/>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黑名单类策略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563651" y="1148983"/>
            <a:ext cx="4118314" cy="3080874"/>
          </a:xfrm>
        </p:spPr>
        <p:txBody>
          <a:bodyPr>
            <a:noAutofit/>
          </a:bodyPr>
          <a:lstStyle/>
          <a:p>
            <a:pPr marL="0" indent="0">
              <a:spcAft>
                <a:spcPts val="600"/>
              </a:spcAft>
              <a:buSzPct val="120000"/>
              <a:buNone/>
            </a:pPr>
            <a:r>
              <a:rPr kumimoji="1" lang="en-US" altLang="zh-CN" sz="1800" dirty="0" err="1">
                <a:latin typeface="微软雅黑" panose="020B0503020204020204" pitchFamily="34" charset="-122"/>
                <a:ea typeface="微软雅黑" panose="020B0503020204020204" pitchFamily="34" charset="-122"/>
                <a:cs typeface="宋体" charset="0"/>
              </a:rPr>
              <a:t>userid</a:t>
            </a:r>
            <a:r>
              <a:rPr kumimoji="1" lang="en-US" altLang="zh-CN" sz="1800" dirty="0">
                <a:latin typeface="微软雅黑" panose="020B0503020204020204" pitchFamily="34" charset="-122"/>
                <a:ea typeface="微软雅黑" panose="020B0503020204020204" pitchFamily="34" charset="-122"/>
                <a:cs typeface="宋体" charset="0"/>
              </a:rPr>
              <a:t>, </a:t>
            </a:r>
            <a:r>
              <a:rPr kumimoji="1" lang="en-US" altLang="zh-CN" sz="1800" dirty="0" err="1">
                <a:latin typeface="微软雅黑" panose="020B0503020204020204" pitchFamily="34" charset="-122"/>
                <a:ea typeface="微软雅黑" panose="020B0503020204020204" pitchFamily="34" charset="-122"/>
                <a:cs typeface="宋体" charset="0"/>
              </a:rPr>
              <a:t>baiduid</a:t>
            </a:r>
            <a:r>
              <a:rPr kumimoji="1" lang="zh-CN" altLang="en-US" sz="1800" dirty="0">
                <a:latin typeface="微软雅黑" panose="020B0503020204020204" pitchFamily="34" charset="-122"/>
                <a:ea typeface="微软雅黑" panose="020B0503020204020204" pitchFamily="34" charset="-122"/>
                <a:cs typeface="宋体" charset="0"/>
              </a:rPr>
              <a:t>组合黑名单</a:t>
            </a:r>
            <a:r>
              <a:rPr kumimoji="1" lang="zh-CN" altLang="en-US" sz="1800" dirty="0" smtClean="0">
                <a:latin typeface="微软雅黑" panose="020B0503020204020204" pitchFamily="34" charset="-122"/>
                <a:ea typeface="微软雅黑" panose="020B0503020204020204" pitchFamily="34" charset="-122"/>
                <a:cs typeface="宋体" charset="0"/>
              </a:rPr>
              <a:t>类策略</a:t>
            </a:r>
            <a:r>
              <a:rPr kumimoji="1" lang="en-US" altLang="zh-CN" sz="1800" dirty="0" smtClean="0">
                <a:latin typeface="微软雅黑" panose="020B0503020204020204" pitchFamily="34" charset="-122"/>
                <a:ea typeface="微软雅黑" panose="020B0503020204020204" pitchFamily="34" charset="-122"/>
                <a:cs typeface="宋体" charset="0"/>
              </a:rPr>
              <a:t>(37991)</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针对</a:t>
            </a:r>
            <a:r>
              <a:rPr kumimoji="1" lang="en-US" altLang="zh-CN" sz="1200" dirty="0" smtClean="0">
                <a:latin typeface="微软雅黑" panose="020B0503020204020204" pitchFamily="34" charset="-122"/>
                <a:ea typeface="微软雅黑" panose="020B0503020204020204" pitchFamily="34" charset="-122"/>
                <a:cs typeface="宋体" charset="0"/>
              </a:rPr>
              <a:t>pc</a:t>
            </a:r>
            <a:r>
              <a:rPr kumimoji="1" lang="zh-CN" altLang="en-US" sz="1200" dirty="0" smtClean="0">
                <a:latin typeface="微软雅黑" panose="020B0503020204020204" pitchFamily="34" charset="-122"/>
                <a:ea typeface="微软雅黑" panose="020B0503020204020204" pitchFamily="34" charset="-122"/>
                <a:cs typeface="宋体" charset="0"/>
              </a:rPr>
              <a:t>凤巢点击日志，一旦日志中</a:t>
            </a:r>
            <a:r>
              <a:rPr kumimoji="1" lang="en-US" altLang="zh-CN" sz="1200" dirty="0" smtClean="0">
                <a:latin typeface="微软雅黑" panose="020B0503020204020204" pitchFamily="34" charset="-122"/>
                <a:ea typeface="微软雅黑" panose="020B0503020204020204" pitchFamily="34" charset="-122"/>
                <a:cs typeface="宋体" charset="0"/>
              </a:rPr>
              <a:t>&lt;</a:t>
            </a:r>
            <a:r>
              <a:rPr kumimoji="1" lang="en-US" altLang="zh-CN" sz="1200" dirty="0" err="1" smtClean="0">
                <a:latin typeface="微软雅黑" panose="020B0503020204020204" pitchFamily="34" charset="-122"/>
                <a:ea typeface="微软雅黑" panose="020B0503020204020204" pitchFamily="34" charset="-122"/>
                <a:cs typeface="宋体" charset="0"/>
              </a:rPr>
              <a:t>userid</a:t>
            </a:r>
            <a:r>
              <a:rPr kumimoji="1" lang="en-US" altLang="zh-CN" sz="1200" dirty="0" smtClean="0">
                <a:latin typeface="微软雅黑" panose="020B0503020204020204" pitchFamily="34" charset="-122"/>
                <a:ea typeface="微软雅黑" panose="020B0503020204020204" pitchFamily="34" charset="-122"/>
                <a:cs typeface="宋体" charset="0"/>
              </a:rPr>
              <a:t>, </a:t>
            </a:r>
            <a:r>
              <a:rPr kumimoji="1" lang="en-US" altLang="zh-CN" sz="1200" dirty="0" err="1" smtClean="0">
                <a:latin typeface="微软雅黑" panose="020B0503020204020204" pitchFamily="34" charset="-122"/>
                <a:ea typeface="微软雅黑" panose="020B0503020204020204" pitchFamily="34" charset="-122"/>
                <a:cs typeface="宋体" charset="0"/>
              </a:rPr>
              <a:t>baiduid</a:t>
            </a:r>
            <a:r>
              <a:rPr kumimoji="1" lang="en-US" altLang="zh-CN" sz="1200" dirty="0" smtClean="0">
                <a:latin typeface="微软雅黑" panose="020B0503020204020204" pitchFamily="34" charset="-122"/>
                <a:ea typeface="微软雅黑" panose="020B0503020204020204" pitchFamily="34" charset="-122"/>
                <a:cs typeface="宋体" charset="0"/>
              </a:rPr>
              <a:t>&gt;</a:t>
            </a:r>
            <a:r>
              <a:rPr kumimoji="1" lang="zh-CN" altLang="en-US" sz="1200" dirty="0" smtClean="0">
                <a:latin typeface="微软雅黑" panose="020B0503020204020204" pitchFamily="34" charset="-122"/>
                <a:ea typeface="微软雅黑" panose="020B0503020204020204" pitchFamily="34" charset="-122"/>
                <a:cs typeface="宋体" charset="0"/>
              </a:rPr>
              <a:t>组合与黑名单词表文件匹配成功，就认为该日志被</a:t>
            </a:r>
            <a:r>
              <a:rPr kumimoji="1" lang="en-US" altLang="zh-CN" sz="1200" dirty="0" smtClean="0">
                <a:latin typeface="微软雅黑" panose="020B0503020204020204" pitchFamily="34" charset="-122"/>
                <a:ea typeface="微软雅黑" panose="020B0503020204020204" pitchFamily="34" charset="-122"/>
                <a:cs typeface="宋体" charset="0"/>
              </a:rPr>
              <a:t>37991</a:t>
            </a:r>
            <a:r>
              <a:rPr kumimoji="1" lang="zh-CN" altLang="en-US" sz="1200" dirty="0" smtClean="0">
                <a:latin typeface="微软雅黑" panose="020B0503020204020204" pitchFamily="34" charset="-122"/>
                <a:ea typeface="微软雅黑" panose="020B0503020204020204" pitchFamily="34" charset="-122"/>
                <a:cs typeface="宋体" charset="0"/>
              </a:rPr>
              <a:t>策略命中。</a:t>
            </a:r>
            <a:endParaRPr kumimoji="1" lang="en-US" altLang="zh-CN" sz="1200" dirty="0" smtClean="0">
              <a:latin typeface="微软雅黑" panose="020B0503020204020204" pitchFamily="34" charset="-122"/>
              <a:ea typeface="微软雅黑" panose="020B0503020204020204" pitchFamily="34" charset="-122"/>
              <a:cs typeface="宋体" charset="0"/>
            </a:endParaRPr>
          </a:p>
        </p:txBody>
      </p:sp>
      <p:sp>
        <p:nvSpPr>
          <p:cNvPr id="2" name="矩形 1"/>
          <p:cNvSpPr/>
          <p:nvPr/>
        </p:nvSpPr>
        <p:spPr>
          <a:xfrm>
            <a:off x="4864558" y="722496"/>
            <a:ext cx="1589432" cy="1569660"/>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 37991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37991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boolean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condition   : true</a:t>
            </a:r>
            <a:endParaRPr lang="en-US" altLang="zh-CN" sz="1200" dirty="0">
              <a:solidFill>
                <a:srgbClr val="33CC33"/>
              </a:solidFill>
              <a:latin typeface="Times New Roman" panose="02020603050405020304" charset="0"/>
              <a:cs typeface="Times New Roman" panose="02020603050405020304" charset="0"/>
            </a:endParaRPr>
          </a:p>
        </p:txBody>
      </p:sp>
      <p:sp>
        <p:nvSpPr>
          <p:cNvPr id="5" name="矩形 4"/>
          <p:cNvSpPr/>
          <p:nvPr/>
        </p:nvSpPr>
        <p:spPr>
          <a:xfrm>
            <a:off x="6202241" y="717910"/>
            <a:ext cx="2766722" cy="3046988"/>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[@feature]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37991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file_dict</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click_level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 ['</a:t>
            </a:r>
            <a:r>
              <a:rPr lang="en-US" altLang="zh-CN" sz="1200" dirty="0" err="1">
                <a:solidFill>
                  <a:srgbClr val="33CC33"/>
                </a:solidFill>
                <a:latin typeface="Times New Roman" panose="02020603050405020304" charset="0"/>
                <a:cs typeface="Times New Roman" panose="02020603050405020304" charset="0"/>
              </a:rPr>
              <a:t>accessid</a:t>
            </a:r>
            <a:r>
              <a:rPr lang="en-US" altLang="zh-CN" sz="1200" dirty="0">
                <a:solidFill>
                  <a:srgbClr val="33CC33"/>
                </a:solidFill>
                <a:latin typeface="Times New Roman" panose="02020603050405020304" charset="0"/>
                <a:cs typeface="Times New Roman" panose="02020603050405020304" charset="0"/>
              </a:rPr>
              <a:t>':='1','31','37','1001','1002','1003','1004']['</a:t>
            </a:r>
            <a:r>
              <a:rPr lang="en-US" altLang="zh-CN" sz="1200" dirty="0" err="1">
                <a:solidFill>
                  <a:srgbClr val="33CC33"/>
                </a:solidFill>
                <a:latin typeface="Times New Roman" panose="02020603050405020304" charset="0"/>
                <a:cs typeface="Times New Roman" panose="02020603050405020304" charset="0"/>
              </a:rPr>
              <a:t>is_wireless</a:t>
            </a:r>
            <a:r>
              <a:rPr lang="en-US" altLang="zh-CN" sz="1200" dirty="0">
                <a:solidFill>
                  <a:srgbClr val="33CC33"/>
                </a:solidFill>
                <a:latin typeface="Times New Roman" panose="02020603050405020304" charset="0"/>
                <a:cs typeface="Times New Roman" panose="02020603050405020304" charset="0"/>
              </a:rPr>
              <a:t>':='0']</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a:t>
            </a:r>
            <a:r>
              <a:rPr lang="en-US" altLang="zh-CN" sz="1200" dirty="0" err="1">
                <a:solidFill>
                  <a:srgbClr val="33CC33"/>
                </a:solidFill>
                <a:latin typeface="Times New Roman" panose="02020603050405020304" charset="0"/>
                <a:cs typeface="Times New Roman" panose="02020603050405020304" charset="0"/>
              </a:rPr>
              <a:t>userid,baiduid</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file_key</a:t>
            </a:r>
            <a:r>
              <a:rPr lang="en-US" altLang="zh-CN" sz="1200" dirty="0">
                <a:solidFill>
                  <a:srgbClr val="33CC33"/>
                </a:solidFill>
                <a:latin typeface="Times New Roman" panose="02020603050405020304" charset="0"/>
                <a:cs typeface="Times New Roman" panose="02020603050405020304" charset="0"/>
              </a:rPr>
              <a:t>     : 3991.black_userid_baiduid</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[@file]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file_key</a:t>
            </a:r>
            <a:r>
              <a:rPr lang="en-US" altLang="zh-CN" sz="1200" dirty="0">
                <a:solidFill>
                  <a:srgbClr val="33CC33"/>
                </a:solidFill>
                <a:latin typeface="Times New Roman" panose="02020603050405020304" charset="0"/>
                <a:cs typeface="Times New Roman" panose="02020603050405020304" charset="0"/>
              </a:rPr>
              <a:t>  : 3991.black_userid_baiduid</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mcf</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file_path</a:t>
            </a:r>
            <a:r>
              <a:rPr lang="en-US" altLang="zh-CN" sz="1200" dirty="0">
                <a:solidFill>
                  <a:srgbClr val="33CC33"/>
                </a:solidFill>
                <a:latin typeface="Times New Roman" panose="02020603050405020304" charset="0"/>
                <a:cs typeface="Times New Roman" panose="02020603050405020304" charset="0"/>
              </a:rPr>
              <a:t> : /home/work/</a:t>
            </a:r>
            <a:r>
              <a:rPr lang="en-US" altLang="zh-CN" sz="1200" dirty="0" err="1">
                <a:solidFill>
                  <a:srgbClr val="33CC33"/>
                </a:solidFill>
                <a:latin typeface="Times New Roman" panose="02020603050405020304" charset="0"/>
                <a:cs typeface="Times New Roman" panose="02020603050405020304" charset="0"/>
              </a:rPr>
              <a:t>darwin</a:t>
            </a:r>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dr</a:t>
            </a:r>
            <a:r>
              <a:rPr lang="en-US" altLang="zh-CN" sz="1200" dirty="0">
                <a:solidFill>
                  <a:srgbClr val="33CC33"/>
                </a:solidFill>
                <a:latin typeface="Times New Roman" panose="02020603050405020304" charset="0"/>
                <a:cs typeface="Times New Roman" panose="02020603050405020304" charset="0"/>
              </a:rPr>
              <a:t>-dorado/</a:t>
            </a:r>
            <a:r>
              <a:rPr lang="en-US" altLang="zh-CN" sz="1200" dirty="0" err="1">
                <a:solidFill>
                  <a:srgbClr val="33CC33"/>
                </a:solidFill>
                <a:latin typeface="Times New Roman" panose="02020603050405020304" charset="0"/>
                <a:cs typeface="Times New Roman" panose="02020603050405020304" charset="0"/>
              </a:rPr>
              <a:t>dformat</a:t>
            </a:r>
            <a:r>
              <a:rPr lang="en-US" altLang="zh-CN" sz="1200" dirty="0">
                <a:solidFill>
                  <a:srgbClr val="33CC33"/>
                </a:solidFill>
                <a:latin typeface="Times New Roman" panose="02020603050405020304" charset="0"/>
                <a:cs typeface="Times New Roman" panose="02020603050405020304" charset="0"/>
              </a:rPr>
              <a:t>/data/3991.black_userid_baiduid</a:t>
            </a:r>
            <a:endParaRPr lang="en-US" altLang="zh-CN" sz="1200" dirty="0">
              <a:solidFill>
                <a:srgbClr val="33CC33"/>
              </a:solidFill>
              <a:latin typeface="Times New Roman" panose="02020603050405020304" charset="0"/>
              <a:cs typeface="Times New Roman" panose="02020603050405020304" charset="0"/>
            </a:endParaRPr>
          </a:p>
        </p:txBody>
      </p:sp>
      <p:sp>
        <p:nvSpPr>
          <p:cNvPr id="7" name="文本框 6"/>
          <p:cNvSpPr txBox="1"/>
          <p:nvPr/>
        </p:nvSpPr>
        <p:spPr>
          <a:xfrm>
            <a:off x="5321300" y="466842"/>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37991</a:t>
            </a:r>
            <a:r>
              <a:rPr lang="zh-CN" altLang="en-US" sz="1200" dirty="0" smtClean="0">
                <a:latin typeface="微软雅黑" panose="020B0503020204020204" pitchFamily="34" charset="-122"/>
                <a:ea typeface="微软雅黑" panose="020B0503020204020204" pitchFamily="34" charset="-122"/>
              </a:rPr>
              <a:t>策略相关配置文件</a:t>
            </a:r>
            <a:endParaRPr lang="zh-CN" altLang="en-US" sz="12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6287135" y="3695261"/>
            <a:ext cx="1141730" cy="461665"/>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a:latin typeface="微软雅黑" panose="020B0503020204020204" pitchFamily="34" charset="-122"/>
                <a:ea typeface="微软雅黑" panose="020B0503020204020204" pitchFamily="34" charset="-122"/>
              </a:rPr>
              <a:t>b</a:t>
            </a:r>
            <a:r>
              <a:rPr lang="en-US" altLang="zh-CN" sz="1200" dirty="0" smtClean="0">
                <a:latin typeface="微软雅黑" panose="020B0503020204020204" pitchFamily="34" charset="-122"/>
                <a:ea typeface="微软雅黑" panose="020B0503020204020204" pitchFamily="34" charset="-122"/>
              </a:rPr>
              <a:t>: </a:t>
            </a:r>
            <a:r>
              <a:rPr lang="zh-CN" altLang="en-US" sz="1200" dirty="0" smtClean="0">
                <a:latin typeface="微软雅黑" panose="020B0503020204020204" pitchFamily="34" charset="-122"/>
                <a:ea typeface="微软雅黑" panose="020B0503020204020204" pitchFamily="34" charset="-122"/>
              </a:rPr>
              <a:t>词表文件</a:t>
            </a:r>
            <a:endParaRPr lang="en-US" altLang="zh-CN" sz="1200" dirty="0" smtClean="0">
              <a:latin typeface="微软雅黑" panose="020B0503020204020204" pitchFamily="34" charset="-122"/>
              <a:ea typeface="微软雅黑" panose="020B0503020204020204" pitchFamily="34" charset="-122"/>
            </a:endParaRPr>
          </a:p>
          <a:p>
            <a:pPr algn="ctr"/>
            <a:r>
              <a:rPr lang="en-US" altLang="zh-CN" sz="1200" dirty="0" smtClean="0">
                <a:latin typeface="微软雅黑" panose="020B0503020204020204" pitchFamily="34" charset="-122"/>
                <a:ea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rPr>
              <a:t>部分</a:t>
            </a:r>
            <a:r>
              <a:rPr lang="en-US" altLang="zh-CN" sz="1200" dirty="0" smtClean="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2"/>
          <a:stretch>
            <a:fillRect/>
          </a:stretch>
        </p:blipFill>
        <p:spPr>
          <a:xfrm>
            <a:off x="5670550" y="4124325"/>
            <a:ext cx="2724150" cy="1019175"/>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a:latin typeface="微软雅黑"/>
                <a:ea typeface="微软雅黑"/>
                <a:cs typeface="微软雅黑"/>
              </a:rPr>
              <a:t>白</a:t>
            </a:r>
            <a:r>
              <a:rPr kumimoji="1" lang="zh-CN" altLang="en-US" sz="1400" b="1" spc="200" dirty="0" smtClean="0">
                <a:latin typeface="微软雅黑"/>
                <a:ea typeface="微软雅黑"/>
                <a:cs typeface="微软雅黑"/>
              </a:rPr>
              <a:t>名单类策略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563651" y="1148982"/>
            <a:ext cx="3839907" cy="3968057"/>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凤巢来源白名单类策略</a:t>
            </a:r>
            <a:r>
              <a:rPr kumimoji="1" lang="en-US" altLang="zh-CN" sz="1800" dirty="0" smtClean="0">
                <a:latin typeface="微软雅黑" panose="020B0503020204020204" pitchFamily="34" charset="-122"/>
                <a:ea typeface="微软雅黑" panose="020B0503020204020204" pitchFamily="34" charset="-122"/>
                <a:cs typeface="宋体" charset="0"/>
              </a:rPr>
              <a:t>(151)</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策略背景：</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refer</a:t>
            </a:r>
            <a:r>
              <a:rPr kumimoji="1" lang="zh-CN" altLang="en-US" sz="1200" dirty="0">
                <a:latin typeface="微软雅黑" panose="020B0503020204020204" pitchFamily="34" charset="-122"/>
                <a:ea typeface="微软雅黑" panose="020B0503020204020204" pitchFamily="34" charset="-122"/>
                <a:cs typeface="宋体" charset="0"/>
              </a:rPr>
              <a:t>字段表示检索来源主域，可以理解为检索时所在网站的网址，例如</a:t>
            </a:r>
            <a:r>
              <a:rPr kumimoji="1" lang="en-US" altLang="zh-CN" sz="1200" dirty="0">
                <a:latin typeface="微软雅黑" panose="020B0503020204020204" pitchFamily="34" charset="-122"/>
                <a:ea typeface="微软雅黑" panose="020B0503020204020204" pitchFamily="34" charset="-122"/>
                <a:cs typeface="宋体" charset="0"/>
              </a:rPr>
              <a:t>www.baidu.com,  </a:t>
            </a:r>
            <a:r>
              <a:rPr kumimoji="1" lang="en-US" altLang="zh-CN" sz="1200" dirty="0" smtClean="0">
                <a:latin typeface="微软雅黑" panose="020B0503020204020204" pitchFamily="34" charset="-122"/>
                <a:ea typeface="微软雅黑" panose="020B0503020204020204" pitchFamily="34" charset="-122"/>
                <a:cs typeface="宋体" charset="0"/>
                <a:hlinkClick r:id="rId2"/>
              </a:rPr>
              <a:t>www.hao123.com</a:t>
            </a:r>
            <a:r>
              <a:rPr kumimoji="1" lang="zh-CN" altLang="en-US" sz="1200" dirty="0" smtClean="0">
                <a:latin typeface="微软雅黑" panose="020B0503020204020204" pitchFamily="34" charset="-122"/>
                <a:ea typeface="微软雅黑" panose="020B0503020204020204" pitchFamily="34" charset="-122"/>
                <a:cs typeface="宋体" charset="0"/>
              </a:rPr>
              <a:t>等，如果日志的</a:t>
            </a:r>
            <a:r>
              <a:rPr kumimoji="1" lang="en-US" altLang="zh-CN" sz="1200" dirty="0" smtClean="0">
                <a:latin typeface="微软雅黑" panose="020B0503020204020204" pitchFamily="34" charset="-122"/>
                <a:ea typeface="微软雅黑" panose="020B0503020204020204" pitchFamily="34" charset="-122"/>
                <a:cs typeface="宋体" charset="0"/>
              </a:rPr>
              <a:t>refer</a:t>
            </a:r>
            <a:r>
              <a:rPr kumimoji="1" lang="zh-CN" altLang="en-US" sz="1200" dirty="0" smtClean="0">
                <a:latin typeface="微软雅黑" panose="020B0503020204020204" pitchFamily="34" charset="-122"/>
                <a:ea typeface="微软雅黑" panose="020B0503020204020204" pitchFamily="34" charset="-122"/>
                <a:cs typeface="宋体" charset="0"/>
              </a:rPr>
              <a:t>值不在白名单中，说明该主域与百度没有合作，不应计费，这些未知的主域无法一一列出，因此使用白名单策略，仅列出合法的主域。</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参数说明：</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c</a:t>
            </a:r>
            <a:r>
              <a:rPr kumimoji="1" lang="en-US" altLang="zh-CN" sz="1200" dirty="0" smtClean="0">
                <a:latin typeface="微软雅黑" panose="020B0503020204020204" pitchFamily="34" charset="-122"/>
                <a:ea typeface="微软雅黑" panose="020B0503020204020204" pitchFamily="34" charset="-122"/>
                <a:cs typeface="宋体" charset="0"/>
              </a:rPr>
              <a:t>are: 151</a:t>
            </a:r>
            <a:r>
              <a:rPr kumimoji="1" lang="zh-CN" altLang="en-US" sz="1200" dirty="0" smtClean="0">
                <a:latin typeface="微软雅黑" panose="020B0503020204020204" pitchFamily="34" charset="-122"/>
                <a:ea typeface="微软雅黑" panose="020B0503020204020204" pitchFamily="34" charset="-122"/>
                <a:cs typeface="宋体" charset="0"/>
              </a:rPr>
              <a:t>特征</a:t>
            </a:r>
            <a:r>
              <a:rPr kumimoji="1" lang="en-US" altLang="zh-CN" sz="1200" dirty="0" smtClean="0">
                <a:latin typeface="微软雅黑" panose="020B0503020204020204" pitchFamily="34" charset="-122"/>
                <a:ea typeface="微软雅黑" panose="020B0503020204020204" pitchFamily="34" charset="-122"/>
                <a:cs typeface="宋体" charset="0"/>
              </a:rPr>
              <a:t>care</a:t>
            </a:r>
            <a:r>
              <a:rPr kumimoji="1" lang="zh-CN" altLang="en-US" sz="1200" dirty="0" smtClean="0">
                <a:latin typeface="微软雅黑" panose="020B0503020204020204" pitchFamily="34" charset="-122"/>
                <a:ea typeface="微软雅黑" panose="020B0503020204020204" pitchFamily="34" charset="-122"/>
                <a:cs typeface="宋体" charset="0"/>
              </a:rPr>
              <a:t>右值表达式的含义是凤巢、知心、阿拉丁广告，</a:t>
            </a:r>
            <a:r>
              <a:rPr kumimoji="1" lang="en-US" altLang="zh-CN" sz="1200" dirty="0" smtClean="0">
                <a:latin typeface="微软雅黑" panose="020B0503020204020204" pitchFamily="34" charset="-122"/>
                <a:ea typeface="微软雅黑" panose="020B0503020204020204" pitchFamily="34" charset="-122"/>
                <a:cs typeface="宋体" charset="0"/>
              </a:rPr>
              <a:t>refer</a:t>
            </a:r>
            <a:r>
              <a:rPr kumimoji="1" lang="zh-CN" altLang="en-US" sz="1200" dirty="0" smtClean="0">
                <a:latin typeface="微软雅黑" panose="020B0503020204020204" pitchFamily="34" charset="-122"/>
                <a:ea typeface="微软雅黑" panose="020B0503020204020204" pitchFamily="34" charset="-122"/>
                <a:cs typeface="宋体" charset="0"/>
              </a:rPr>
              <a:t>域不为空，</a:t>
            </a:r>
            <a:r>
              <a:rPr kumimoji="1" lang="en-US" altLang="zh-CN" sz="1200" dirty="0" err="1" smtClean="0">
                <a:latin typeface="微软雅黑" panose="020B0503020204020204" pitchFamily="34" charset="-122"/>
                <a:ea typeface="微软雅黑" panose="020B0503020204020204" pitchFamily="34" charset="-122"/>
                <a:cs typeface="宋体" charset="0"/>
              </a:rPr>
              <a:t>cmatch</a:t>
            </a:r>
            <a:r>
              <a:rPr kumimoji="1" lang="zh-CN" altLang="en-US" sz="1200" dirty="0" smtClean="0">
                <a:latin typeface="微软雅黑" panose="020B0503020204020204" pitchFamily="34" charset="-122"/>
                <a:ea typeface="微软雅黑" panose="020B0503020204020204" pitchFamily="34" charset="-122"/>
                <a:cs typeface="宋体" charset="0"/>
              </a:rPr>
              <a:t>不在</a:t>
            </a:r>
            <a:r>
              <a:rPr lang="en-US" altLang="zh-CN" sz="1200" dirty="0" err="1" smtClean="0">
                <a:latin typeface="微软雅黑" panose="020B0503020204020204" pitchFamily="34" charset="-122"/>
                <a:ea typeface="微软雅黑" panose="020B0503020204020204" pitchFamily="34" charset="-122"/>
                <a:cs typeface="Times New Roman" panose="02020603050405020304" charset="0"/>
              </a:rPr>
              <a:t>refer.whitecmatch</a:t>
            </a:r>
            <a:r>
              <a:rPr lang="zh-CN" altLang="en-US" sz="1200" dirty="0" smtClean="0">
                <a:latin typeface="微软雅黑" panose="020B0503020204020204" pitchFamily="34" charset="-122"/>
                <a:ea typeface="微软雅黑" panose="020B0503020204020204" pitchFamily="34" charset="-122"/>
                <a:cs typeface="Times New Roman" panose="02020603050405020304" charset="0"/>
              </a:rPr>
              <a:t>词表文件中或者</a:t>
            </a:r>
            <a:r>
              <a:rPr lang="en-US" altLang="zh-CN" sz="1200" dirty="0" err="1" smtClean="0">
                <a:latin typeface="微软雅黑" panose="020B0503020204020204" pitchFamily="34" charset="-122"/>
                <a:ea typeface="微软雅黑" panose="020B0503020204020204" pitchFamily="34" charset="-122"/>
                <a:cs typeface="Times New Roman" panose="02020603050405020304" charset="0"/>
              </a:rPr>
              <a:t>cmatch</a:t>
            </a:r>
            <a:r>
              <a:rPr lang="zh-CN" altLang="en-US" sz="1200" dirty="0" smtClean="0">
                <a:latin typeface="微软雅黑" panose="020B0503020204020204" pitchFamily="34" charset="-122"/>
                <a:ea typeface="微软雅黑" panose="020B0503020204020204" pitchFamily="34" charset="-122"/>
                <a:cs typeface="Times New Roman" panose="02020603050405020304" charset="0"/>
              </a:rPr>
              <a:t>在</a:t>
            </a:r>
            <a:r>
              <a:rPr lang="en-US" altLang="zh-CN" sz="1200" dirty="0" err="1" smtClean="0">
                <a:latin typeface="微软雅黑" panose="020B0503020204020204" pitchFamily="34" charset="-122"/>
                <a:ea typeface="微软雅黑" panose="020B0503020204020204" pitchFamily="34" charset="-122"/>
                <a:cs typeface="Times New Roman" panose="02020603050405020304" charset="0"/>
              </a:rPr>
              <a:t>refer.whitecmatch</a:t>
            </a:r>
            <a:r>
              <a:rPr lang="zh-CN" altLang="en-US" sz="1200" dirty="0" smtClean="0">
                <a:latin typeface="微软雅黑" panose="020B0503020204020204" pitchFamily="34" charset="-122"/>
                <a:ea typeface="微软雅黑" panose="020B0503020204020204" pitchFamily="34" charset="-122"/>
                <a:cs typeface="Times New Roman" panose="02020603050405020304" charset="0"/>
              </a:rPr>
              <a:t>词表文件中，</a:t>
            </a:r>
            <a:r>
              <a:rPr lang="en-US" altLang="zh-CN" sz="1200" dirty="0" smtClean="0">
                <a:latin typeface="微软雅黑" panose="020B0503020204020204" pitchFamily="34" charset="-122"/>
                <a:ea typeface="微软雅黑" panose="020B0503020204020204" pitchFamily="34" charset="-122"/>
                <a:cs typeface="Times New Roman" panose="02020603050405020304" charset="0"/>
              </a:rPr>
              <a:t>refer</a:t>
            </a:r>
            <a:r>
              <a:rPr lang="zh-CN" altLang="en-US" sz="1200" dirty="0" smtClean="0">
                <a:latin typeface="微软雅黑" panose="020B0503020204020204" pitchFamily="34" charset="-122"/>
                <a:ea typeface="微软雅黑" panose="020B0503020204020204" pitchFamily="34" charset="-122"/>
                <a:cs typeface="Times New Roman" panose="02020603050405020304" charset="0"/>
              </a:rPr>
              <a:t>域不为空，</a:t>
            </a:r>
            <a:r>
              <a:rPr lang="en-US" altLang="zh-CN" sz="1200" dirty="0" err="1" smtClean="0">
                <a:latin typeface="微软雅黑" panose="020B0503020204020204" pitchFamily="34" charset="-122"/>
                <a:ea typeface="微软雅黑" panose="020B0503020204020204" pitchFamily="34" charset="-122"/>
                <a:cs typeface="Times New Roman" panose="02020603050405020304" charset="0"/>
              </a:rPr>
              <a:t>adb</a:t>
            </a:r>
            <a:r>
              <a:rPr lang="zh-CN" altLang="en-US" sz="1200" dirty="0" smtClean="0">
                <a:latin typeface="微软雅黑" panose="020B0503020204020204" pitchFamily="34" charset="-122"/>
                <a:ea typeface="微软雅黑" panose="020B0503020204020204" pitchFamily="34" charset="-122"/>
                <a:cs typeface="Times New Roman" panose="02020603050405020304" charset="0"/>
              </a:rPr>
              <a:t>域值不为</a:t>
            </a:r>
            <a:r>
              <a:rPr lang="en-US" altLang="zh-CN" sz="1200" dirty="0" smtClean="0">
                <a:latin typeface="微软雅黑" panose="020B0503020204020204" pitchFamily="34" charset="-122"/>
                <a:ea typeface="微软雅黑" panose="020B0503020204020204" pitchFamily="34" charset="-122"/>
                <a:cs typeface="Times New Roman" panose="02020603050405020304" charset="0"/>
              </a:rPr>
              <a:t>1</a:t>
            </a:r>
            <a:endParaRPr kumimoji="1" lang="en-US" altLang="zh-CN" sz="1200" dirty="0" smtClean="0">
              <a:latin typeface="微软雅黑" panose="020B0503020204020204" pitchFamily="34" charset="-122"/>
              <a:ea typeface="微软雅黑" panose="020B0503020204020204" pitchFamily="34" charset="-122"/>
              <a:cs typeface="宋体" charset="0"/>
            </a:endParaRPr>
          </a:p>
        </p:txBody>
      </p:sp>
      <p:sp>
        <p:nvSpPr>
          <p:cNvPr id="5" name="矩形 4"/>
          <p:cNvSpPr/>
          <p:nvPr/>
        </p:nvSpPr>
        <p:spPr>
          <a:xfrm>
            <a:off x="4514831" y="703092"/>
            <a:ext cx="4686338" cy="3046988"/>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[@feature]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151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file_dict</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click_level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refer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file_key</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fc_refer.white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dict_type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str_match</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 [‘</a:t>
            </a:r>
            <a:r>
              <a:rPr lang="en-US" altLang="zh-CN" sz="1200" dirty="0" err="1">
                <a:solidFill>
                  <a:srgbClr val="33CC33"/>
                </a:solidFill>
                <a:latin typeface="Times New Roman" panose="02020603050405020304" charset="0"/>
                <a:cs typeface="Times New Roman" panose="02020603050405020304" charset="0"/>
              </a:rPr>
              <a:t>accessid</a:t>
            </a:r>
            <a:r>
              <a:rPr lang="en-US" altLang="zh-CN" sz="1200" dirty="0">
                <a:solidFill>
                  <a:srgbClr val="33CC33"/>
                </a:solidFill>
                <a:latin typeface="Times New Roman" panose="02020603050405020304" charset="0"/>
                <a:cs typeface="Times New Roman" panose="02020603050405020304" charset="0"/>
              </a:rPr>
              <a:t>’:=‘1’,‘3’,‘4’,‘8’,‘21’,‘22’,‘24’,‘25’,‘27’,‘29’,‘31’,‘36’,‘37’,‘1001’,‘1002’,‘1003’,‘1004’][‘refer’!=‘’][‘</a:t>
            </a:r>
            <a:r>
              <a:rPr lang="en-US" altLang="zh-CN" sz="1200" dirty="0" err="1">
                <a:solidFill>
                  <a:srgbClr val="33CC33"/>
                </a:solidFill>
                <a:latin typeface="Times New Roman" panose="02020603050405020304" charset="0"/>
                <a:cs typeface="Times New Roman" panose="02020603050405020304" charset="0"/>
              </a:rPr>
              <a:t>cmatch’NI‘refer.whitecmatch</a:t>
            </a:r>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cmatch’IN‘refer.whitecmatch</a:t>
            </a:r>
            <a:r>
              <a:rPr lang="en-US" altLang="zh-CN" sz="1200" dirty="0">
                <a:solidFill>
                  <a:srgbClr val="33CC33"/>
                </a:solidFill>
                <a:latin typeface="Times New Roman" panose="02020603050405020304" charset="0"/>
                <a:cs typeface="Times New Roman" panose="02020603050405020304" charset="0"/>
              </a:rPr>
              <a:t>’][‘refer’!=‘’][‘</a:t>
            </a:r>
            <a:r>
              <a:rPr lang="en-US" altLang="zh-CN" sz="1200" dirty="0" err="1">
                <a:solidFill>
                  <a:srgbClr val="33CC33"/>
                </a:solidFill>
                <a:latin typeface="Times New Roman" panose="02020603050405020304" charset="0"/>
                <a:cs typeface="Times New Roman" panose="02020603050405020304" charset="0"/>
              </a:rPr>
              <a:t>adb</a:t>
            </a:r>
            <a:r>
              <a:rPr lang="en-US" altLang="zh-CN" sz="1200" dirty="0">
                <a:solidFill>
                  <a:srgbClr val="33CC33"/>
                </a:solidFill>
                <a:latin typeface="Times New Roman" panose="02020603050405020304" charset="0"/>
                <a:cs typeface="Times New Roman" panose="02020603050405020304" charset="0"/>
              </a:rPr>
              <a:t>’!=‘1’]</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[@file]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file_key</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fc_refer.white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str_match</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file_path</a:t>
            </a:r>
            <a:r>
              <a:rPr lang="en-US" altLang="zh-CN" sz="1200" dirty="0">
                <a:solidFill>
                  <a:srgbClr val="33CC33"/>
                </a:solidFill>
                <a:latin typeface="Times New Roman" panose="02020603050405020304" charset="0"/>
                <a:cs typeface="Times New Roman" panose="02020603050405020304" charset="0"/>
              </a:rPr>
              <a:t> : ./data/fc_white_refer.dat</a:t>
            </a:r>
            <a:endParaRPr lang="en-US" altLang="zh-CN" sz="1200" dirty="0">
              <a:solidFill>
                <a:srgbClr val="33CC33"/>
              </a:solidFill>
              <a:latin typeface="Times New Roman" panose="02020603050405020304" charset="0"/>
              <a:cs typeface="Times New Roman" panose="02020603050405020304" charset="0"/>
            </a:endParaRPr>
          </a:p>
        </p:txBody>
      </p:sp>
      <p:sp>
        <p:nvSpPr>
          <p:cNvPr id="7" name="文本框 6"/>
          <p:cNvSpPr txBox="1"/>
          <p:nvPr/>
        </p:nvSpPr>
        <p:spPr>
          <a:xfrm>
            <a:off x="4908641" y="478005"/>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37991</a:t>
            </a:r>
            <a:r>
              <a:rPr lang="zh-CN" altLang="en-US" sz="1200" dirty="0">
                <a:latin typeface="微软雅黑" panose="020B0503020204020204" pitchFamily="34" charset="-122"/>
                <a:ea typeface="微软雅黑" panose="020B0503020204020204" pitchFamily="34" charset="-122"/>
              </a:rPr>
              <a:t>特征</a:t>
            </a:r>
            <a:r>
              <a:rPr lang="zh-CN" altLang="en-US" sz="1200" dirty="0" smtClean="0">
                <a:latin typeface="微软雅黑" panose="020B0503020204020204" pitchFamily="34" charset="-122"/>
                <a:ea typeface="微软雅黑" panose="020B0503020204020204" pitchFamily="34" charset="-122"/>
              </a:rPr>
              <a:t>相关配置文件</a:t>
            </a:r>
            <a:endParaRPr lang="zh-CN" altLang="en-US" sz="12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4683070" y="3712161"/>
            <a:ext cx="2258943" cy="461665"/>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a:latin typeface="微软雅黑" panose="020B0503020204020204" pitchFamily="34" charset="-122"/>
                <a:ea typeface="微软雅黑" panose="020B0503020204020204" pitchFamily="34" charset="-122"/>
              </a:rPr>
              <a:t>b</a:t>
            </a:r>
            <a:r>
              <a:rPr lang="en-US" altLang="zh-CN" sz="1200" dirty="0" smtClean="0">
                <a:latin typeface="微软雅黑" panose="020B0503020204020204" pitchFamily="34" charset="-122"/>
                <a:ea typeface="微软雅黑" panose="020B0503020204020204" pitchFamily="34" charset="-122"/>
              </a:rPr>
              <a:t>: </a:t>
            </a:r>
            <a:r>
              <a:rPr lang="en-US" altLang="zh-CN" sz="1200" dirty="0" err="1" smtClean="0">
                <a:latin typeface="微软雅黑" panose="020B0503020204020204" pitchFamily="34" charset="-122"/>
                <a:ea typeface="微软雅黑" panose="020B0503020204020204" pitchFamily="34" charset="-122"/>
              </a:rPr>
              <a:t>fc_refer.white</a:t>
            </a:r>
            <a:r>
              <a:rPr lang="zh-CN" altLang="en-US" sz="1200" dirty="0" smtClean="0">
                <a:latin typeface="微软雅黑" panose="020B0503020204020204" pitchFamily="34" charset="-122"/>
                <a:ea typeface="微软雅黑" panose="020B0503020204020204" pitchFamily="34" charset="-122"/>
              </a:rPr>
              <a:t>词表文件</a:t>
            </a:r>
            <a:endParaRPr lang="en-US" altLang="zh-CN" sz="1200" dirty="0" smtClean="0">
              <a:latin typeface="微软雅黑" panose="020B0503020204020204" pitchFamily="34" charset="-122"/>
              <a:ea typeface="微软雅黑" panose="020B0503020204020204" pitchFamily="34" charset="-122"/>
            </a:endParaRPr>
          </a:p>
          <a:p>
            <a:pPr algn="ctr"/>
            <a:r>
              <a:rPr lang="en-US" altLang="zh-CN" sz="1200" dirty="0" smtClean="0">
                <a:latin typeface="微软雅黑" panose="020B0503020204020204" pitchFamily="34" charset="-122"/>
                <a:ea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rPr>
              <a:t>部分</a:t>
            </a:r>
            <a:r>
              <a:rPr lang="en-US" altLang="zh-CN" sz="1200" dirty="0" smtClean="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p:txBody>
      </p:sp>
      <p:pic>
        <p:nvPicPr>
          <p:cNvPr id="9" name="图片 8"/>
          <p:cNvPicPr/>
          <p:nvPr/>
        </p:nvPicPr>
        <p:blipFill>
          <a:blip r:embed="rId3">
            <a:extLst>
              <a:ext uri="{28A0092B-C50C-407E-A947-70E740481C1C}">
                <a14:useLocalDpi xmlns:a14="http://schemas.microsoft.com/office/drawing/2010/main" val="0"/>
              </a:ext>
            </a:extLst>
          </a:blip>
          <a:srcRect/>
          <a:stretch>
            <a:fillRect/>
          </a:stretch>
        </p:blipFill>
        <p:spPr bwMode="auto">
          <a:xfrm>
            <a:off x="4854588" y="4127556"/>
            <a:ext cx="1915909" cy="989483"/>
          </a:xfrm>
          <a:prstGeom prst="rect">
            <a:avLst/>
          </a:prstGeom>
          <a:noFill/>
          <a:ln>
            <a:noFill/>
          </a:ln>
        </p:spPr>
      </p:pic>
      <p:sp>
        <p:nvSpPr>
          <p:cNvPr id="12" name="文本框 11"/>
          <p:cNvSpPr txBox="1"/>
          <p:nvPr/>
        </p:nvSpPr>
        <p:spPr>
          <a:xfrm>
            <a:off x="6726337" y="3712160"/>
            <a:ext cx="2511408" cy="461665"/>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a:latin typeface="微软雅黑" panose="020B0503020204020204" pitchFamily="34" charset="-122"/>
                <a:ea typeface="微软雅黑" panose="020B0503020204020204" pitchFamily="34" charset="-122"/>
              </a:rPr>
              <a:t>c</a:t>
            </a:r>
            <a:r>
              <a:rPr lang="en-US" altLang="zh-CN" sz="1200" dirty="0" smtClean="0">
                <a:latin typeface="微软雅黑" panose="020B0503020204020204" pitchFamily="34" charset="-122"/>
                <a:ea typeface="微软雅黑" panose="020B0503020204020204" pitchFamily="34" charset="-122"/>
              </a:rPr>
              <a:t>: </a:t>
            </a:r>
            <a:r>
              <a:rPr lang="en-US" altLang="zh-CN" sz="1200" dirty="0" err="1">
                <a:latin typeface="微软雅黑" panose="020B0503020204020204" pitchFamily="34" charset="-122"/>
                <a:ea typeface="微软雅黑" panose="020B0503020204020204" pitchFamily="34" charset="-122"/>
                <a:cs typeface="Times New Roman" panose="02020603050405020304" charset="0"/>
              </a:rPr>
              <a:t>refer.whitecmatch</a:t>
            </a:r>
            <a:r>
              <a:rPr lang="zh-CN" altLang="en-US" sz="1200" dirty="0" smtClean="0">
                <a:latin typeface="微软雅黑" panose="020B0503020204020204" pitchFamily="34" charset="-122"/>
                <a:ea typeface="微软雅黑" panose="020B0503020204020204" pitchFamily="34" charset="-122"/>
              </a:rPr>
              <a:t>词表文件</a:t>
            </a:r>
            <a:endParaRPr lang="en-US" altLang="zh-CN" sz="1200" dirty="0" smtClean="0">
              <a:latin typeface="微软雅黑" panose="020B0503020204020204" pitchFamily="34" charset="-122"/>
              <a:ea typeface="微软雅黑" panose="020B0503020204020204" pitchFamily="34" charset="-122"/>
            </a:endParaRPr>
          </a:p>
          <a:p>
            <a:pPr algn="ctr"/>
            <a:r>
              <a:rPr lang="en-US" altLang="zh-CN" sz="1200" dirty="0" smtClean="0">
                <a:latin typeface="微软雅黑" panose="020B0503020204020204" pitchFamily="34" charset="-122"/>
                <a:ea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rPr>
              <a:t>部分</a:t>
            </a:r>
            <a:r>
              <a:rPr lang="en-US" altLang="zh-CN" sz="1200" dirty="0" smtClean="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a:latin typeface="微软雅黑"/>
                <a:ea typeface="微软雅黑"/>
                <a:cs typeface="微软雅黑"/>
              </a:rPr>
              <a:t>白</a:t>
            </a:r>
            <a:r>
              <a:rPr kumimoji="1" lang="zh-CN" altLang="en-US" sz="1400" b="1" spc="200" dirty="0" smtClean="0">
                <a:latin typeface="微软雅黑"/>
                <a:ea typeface="微软雅黑"/>
                <a:cs typeface="微软雅黑"/>
              </a:rPr>
              <a:t>名单类策略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563651" y="1148982"/>
            <a:ext cx="3839907" cy="3968057"/>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凤巢来源白名单类策略</a:t>
            </a:r>
            <a:r>
              <a:rPr kumimoji="1" lang="en-US" altLang="zh-CN" sz="1800" dirty="0" smtClean="0">
                <a:latin typeface="微软雅黑" panose="020B0503020204020204" pitchFamily="34" charset="-122"/>
                <a:ea typeface="微软雅黑" panose="020B0503020204020204" pitchFamily="34" charset="-122"/>
                <a:cs typeface="宋体" charset="0"/>
              </a:rPr>
              <a:t>(151)</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在满足</a:t>
            </a:r>
            <a:r>
              <a:rPr kumimoji="1" lang="en-US" altLang="zh-CN" sz="1200" dirty="0" err="1" smtClean="0">
                <a:latin typeface="微软雅黑" panose="020B0503020204020204" pitchFamily="34" charset="-122"/>
                <a:ea typeface="微软雅黑" panose="020B0503020204020204" pitchFamily="34" charset="-122"/>
                <a:cs typeface="宋体" charset="0"/>
              </a:rPr>
              <a:t>carespace</a:t>
            </a:r>
            <a:r>
              <a:rPr kumimoji="1" lang="zh-CN" altLang="en-US" sz="1200" dirty="0" smtClean="0">
                <a:latin typeface="微软雅黑" panose="020B0503020204020204" pitchFamily="34" charset="-122"/>
                <a:ea typeface="微软雅黑" panose="020B0503020204020204" pitchFamily="34" charset="-122"/>
                <a:cs typeface="宋体" charset="0"/>
              </a:rPr>
              <a:t>的日志中，一旦日志中的</a:t>
            </a:r>
            <a:r>
              <a:rPr kumimoji="1" lang="en-US" altLang="zh-CN" sz="1200" dirty="0" smtClean="0">
                <a:latin typeface="微软雅黑" panose="020B0503020204020204" pitchFamily="34" charset="-122"/>
                <a:ea typeface="微软雅黑" panose="020B0503020204020204" pitchFamily="34" charset="-122"/>
                <a:cs typeface="宋体" charset="0"/>
              </a:rPr>
              <a:t>refer</a:t>
            </a:r>
            <a:r>
              <a:rPr kumimoji="1" lang="zh-CN" altLang="en-US" sz="1200" dirty="0" smtClean="0">
                <a:latin typeface="微软雅黑" panose="020B0503020204020204" pitchFamily="34" charset="-122"/>
                <a:ea typeface="微软雅黑" panose="020B0503020204020204" pitchFamily="34" charset="-122"/>
                <a:cs typeface="宋体" charset="0"/>
              </a:rPr>
              <a:t>字段无法通过</a:t>
            </a:r>
            <a:r>
              <a:rPr kumimoji="1" lang="zh-CN" altLang="en-US" sz="1200" dirty="0">
                <a:latin typeface="微软雅黑" panose="020B0503020204020204" pitchFamily="34" charset="-122"/>
                <a:ea typeface="微软雅黑" panose="020B0503020204020204" pitchFamily="34" charset="-122"/>
                <a:cs typeface="宋体" charset="0"/>
              </a:rPr>
              <a:t>多</a:t>
            </a:r>
            <a:r>
              <a:rPr kumimoji="1" lang="zh-CN" altLang="en-US" sz="1200" dirty="0" smtClean="0">
                <a:latin typeface="微软雅黑" panose="020B0503020204020204" pitchFamily="34" charset="-122"/>
                <a:ea typeface="微软雅黑" panose="020B0503020204020204" pitchFamily="34" charset="-122"/>
                <a:cs typeface="宋体" charset="0"/>
              </a:rPr>
              <a:t>列匹配的方式与白名单词表文件匹配，这条日志将被这条策略命中。</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200" dirty="0">
                <a:latin typeface="微软雅黑" panose="020B0503020204020204" pitchFamily="34" charset="-122"/>
                <a:ea typeface="微软雅黑" panose="020B0503020204020204" pitchFamily="34" charset="-122"/>
                <a:cs typeface="宋体" charset="0"/>
              </a:rPr>
              <a:t>不</a:t>
            </a:r>
            <a:r>
              <a:rPr kumimoji="1" lang="zh-CN" altLang="en-US" sz="1200" dirty="0" smtClean="0">
                <a:latin typeface="微软雅黑" panose="020B0503020204020204" pitchFamily="34" charset="-122"/>
                <a:ea typeface="微软雅黑" panose="020B0503020204020204" pitchFamily="34" charset="-122"/>
                <a:cs typeface="宋体" charset="0"/>
              </a:rPr>
              <a:t>满足</a:t>
            </a:r>
            <a:r>
              <a:rPr kumimoji="1" lang="en-US" altLang="zh-CN" sz="1200" dirty="0" err="1" smtClean="0">
                <a:latin typeface="微软雅黑" panose="020B0503020204020204" pitchFamily="34" charset="-122"/>
                <a:ea typeface="微软雅黑" panose="020B0503020204020204" pitchFamily="34" charset="-122"/>
                <a:cs typeface="宋体" charset="0"/>
              </a:rPr>
              <a:t>carespace</a:t>
            </a:r>
            <a:r>
              <a:rPr kumimoji="1" lang="zh-CN" altLang="en-US" sz="1200" dirty="0" smtClean="0">
                <a:latin typeface="微软雅黑" panose="020B0503020204020204" pitchFamily="34" charset="-122"/>
                <a:ea typeface="微软雅黑" panose="020B0503020204020204" pitchFamily="34" charset="-122"/>
                <a:cs typeface="宋体" charset="0"/>
              </a:rPr>
              <a:t>的日志不会被这条策略命中</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200" dirty="0">
              <a:latin typeface="微软雅黑" panose="020B0503020204020204" pitchFamily="34" charset="-122"/>
              <a:ea typeface="微软雅黑" panose="020B0503020204020204" pitchFamily="34" charset="-122"/>
              <a:cs typeface="宋体" charset="0"/>
            </a:endParaRPr>
          </a:p>
        </p:txBody>
      </p:sp>
      <p:sp>
        <p:nvSpPr>
          <p:cNvPr id="5" name="矩形 4"/>
          <p:cNvSpPr/>
          <p:nvPr/>
        </p:nvSpPr>
        <p:spPr>
          <a:xfrm>
            <a:off x="5858231" y="1254343"/>
            <a:ext cx="3052425" cy="3416320"/>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[@feature]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151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file_dict</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click_level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refer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file_key</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fc_refer.white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dict_type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str_match</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 [‘</a:t>
            </a:r>
            <a:r>
              <a:rPr lang="en-US" altLang="zh-CN" sz="1200" dirty="0" err="1">
                <a:solidFill>
                  <a:srgbClr val="33CC33"/>
                </a:solidFill>
                <a:latin typeface="Times New Roman" panose="02020603050405020304" charset="0"/>
                <a:cs typeface="Times New Roman" panose="02020603050405020304" charset="0"/>
              </a:rPr>
              <a:t>accessid</a:t>
            </a:r>
            <a:r>
              <a:rPr lang="en-US" altLang="zh-CN" sz="1200" dirty="0">
                <a:solidFill>
                  <a:srgbClr val="33CC33"/>
                </a:solidFill>
                <a:latin typeface="Times New Roman" panose="02020603050405020304" charset="0"/>
                <a:cs typeface="Times New Roman" panose="02020603050405020304" charset="0"/>
              </a:rPr>
              <a:t>’:=‘1’,‘3’,‘4’,‘8’,‘21’,‘22’,‘24’,‘25’,‘27’,‘29’,‘31’,‘36’,‘37’,‘1001’,‘1002’,‘1003’,‘1004’][‘refer’!=‘’][‘</a:t>
            </a:r>
            <a:r>
              <a:rPr lang="en-US" altLang="zh-CN" sz="1200" dirty="0" err="1">
                <a:solidFill>
                  <a:srgbClr val="33CC33"/>
                </a:solidFill>
                <a:latin typeface="Times New Roman" panose="02020603050405020304" charset="0"/>
                <a:cs typeface="Times New Roman" panose="02020603050405020304" charset="0"/>
              </a:rPr>
              <a:t>cmatch’NI‘refer.whitecmatch</a:t>
            </a:r>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cmatch’IN‘refer.whitecmatch</a:t>
            </a:r>
            <a:r>
              <a:rPr lang="en-US" altLang="zh-CN" sz="1200" dirty="0">
                <a:solidFill>
                  <a:srgbClr val="33CC33"/>
                </a:solidFill>
                <a:latin typeface="Times New Roman" panose="02020603050405020304" charset="0"/>
                <a:cs typeface="Times New Roman" panose="02020603050405020304" charset="0"/>
              </a:rPr>
              <a:t>’][‘refer’!=‘’][‘</a:t>
            </a:r>
            <a:r>
              <a:rPr lang="en-US" altLang="zh-CN" sz="1200" dirty="0" err="1">
                <a:solidFill>
                  <a:srgbClr val="33CC33"/>
                </a:solidFill>
                <a:latin typeface="Times New Roman" panose="02020603050405020304" charset="0"/>
                <a:cs typeface="Times New Roman" panose="02020603050405020304" charset="0"/>
              </a:rPr>
              <a:t>adb</a:t>
            </a:r>
            <a:r>
              <a:rPr lang="en-US" altLang="zh-CN" sz="1200" dirty="0">
                <a:solidFill>
                  <a:srgbClr val="33CC33"/>
                </a:solidFill>
                <a:latin typeface="Times New Roman" panose="02020603050405020304" charset="0"/>
                <a:cs typeface="Times New Roman" panose="02020603050405020304" charset="0"/>
              </a:rPr>
              <a:t>’!=‘1’]</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[@file]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file_key</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fc_refer.white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str_match</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file_path</a:t>
            </a:r>
            <a:r>
              <a:rPr lang="en-US" altLang="zh-CN" sz="1200" dirty="0">
                <a:solidFill>
                  <a:srgbClr val="33CC33"/>
                </a:solidFill>
                <a:latin typeface="Times New Roman" panose="02020603050405020304" charset="0"/>
                <a:cs typeface="Times New Roman" panose="02020603050405020304" charset="0"/>
              </a:rPr>
              <a:t> : ./data/fc_white_refer.dat</a:t>
            </a:r>
            <a:endParaRPr lang="en-US" altLang="zh-CN" sz="1200" dirty="0">
              <a:solidFill>
                <a:srgbClr val="33CC33"/>
              </a:solidFill>
              <a:latin typeface="Times New Roman" panose="02020603050405020304" charset="0"/>
              <a:cs typeface="Times New Roman" panose="02020603050405020304" charset="0"/>
            </a:endParaRPr>
          </a:p>
        </p:txBody>
      </p:sp>
      <p:sp>
        <p:nvSpPr>
          <p:cNvPr id="7" name="文本框 6"/>
          <p:cNvSpPr txBox="1"/>
          <p:nvPr/>
        </p:nvSpPr>
        <p:spPr>
          <a:xfrm>
            <a:off x="4556465" y="945962"/>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151</a:t>
            </a:r>
            <a:r>
              <a:rPr lang="zh-CN" altLang="en-US" sz="1200" dirty="0" smtClean="0">
                <a:latin typeface="微软雅黑" panose="020B0503020204020204" pitchFamily="34" charset="-122"/>
                <a:ea typeface="微软雅黑" panose="020B0503020204020204" pitchFamily="34" charset="-122"/>
              </a:rPr>
              <a:t>策略相关配置文件</a:t>
            </a:r>
            <a:endParaRPr lang="zh-CN" altLang="en-US" sz="1200" dirty="0">
              <a:latin typeface="微软雅黑" panose="020B0503020204020204" pitchFamily="34" charset="-122"/>
              <a:ea typeface="微软雅黑" panose="020B0503020204020204" pitchFamily="34" charset="-122"/>
            </a:endParaRPr>
          </a:p>
        </p:txBody>
      </p:sp>
      <p:sp>
        <p:nvSpPr>
          <p:cNvPr id="13" name="矩形 12"/>
          <p:cNvSpPr/>
          <p:nvPr/>
        </p:nvSpPr>
        <p:spPr>
          <a:xfrm>
            <a:off x="4556465" y="1254343"/>
            <a:ext cx="1301766" cy="1754326"/>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  151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151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boolean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condition   : false</a:t>
            </a:r>
            <a:endParaRPr lang="en-US" altLang="zh-CN" sz="1200" dirty="0">
              <a:solidFill>
                <a:srgbClr val="33CC33"/>
              </a:solidFill>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a:latin typeface="微软雅黑"/>
                <a:ea typeface="微软雅黑"/>
                <a:cs typeface="微软雅黑"/>
              </a:rPr>
              <a:t>白</a:t>
            </a:r>
            <a:r>
              <a:rPr kumimoji="1" lang="zh-CN" altLang="en-US" sz="1400" b="1" spc="200" dirty="0" smtClean="0">
                <a:latin typeface="微软雅黑"/>
                <a:ea typeface="微软雅黑"/>
                <a:cs typeface="微软雅黑"/>
              </a:rPr>
              <a:t>名单类策略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563651" y="1148982"/>
            <a:ext cx="3839907" cy="3968057"/>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黑名单策略与白名单策略的区别</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白</a:t>
            </a:r>
            <a:r>
              <a:rPr kumimoji="1" lang="zh-CN" altLang="en-US" sz="1600" dirty="0">
                <a:latin typeface="微软雅黑" panose="020B0503020204020204" pitchFamily="34" charset="-122"/>
                <a:ea typeface="微软雅黑" panose="020B0503020204020204" pitchFamily="34" charset="-122"/>
                <a:cs typeface="宋体" charset="0"/>
              </a:rPr>
              <a:t>名单类策略和黑名单类策略的区别并不在文件的起名上，而是通过</a:t>
            </a:r>
            <a:r>
              <a:rPr kumimoji="1" lang="en-US" altLang="zh-CN" sz="1600" dirty="0">
                <a:latin typeface="微软雅黑" panose="020B0503020204020204" pitchFamily="34" charset="-122"/>
                <a:ea typeface="微软雅黑" panose="020B0503020204020204" pitchFamily="34" charset="-122"/>
                <a:cs typeface="宋体" charset="0"/>
              </a:rPr>
              <a:t>policy</a:t>
            </a:r>
            <a:r>
              <a:rPr kumimoji="1" lang="zh-CN" altLang="en-US" sz="1600" dirty="0">
                <a:latin typeface="微软雅黑" panose="020B0503020204020204" pitchFamily="34" charset="-122"/>
                <a:ea typeface="微软雅黑" panose="020B0503020204020204" pitchFamily="34" charset="-122"/>
                <a:cs typeface="宋体" charset="0"/>
              </a:rPr>
              <a:t>配置文件中</a:t>
            </a:r>
            <a:r>
              <a:rPr kumimoji="1" lang="en-US" altLang="zh-CN" sz="1600" dirty="0">
                <a:latin typeface="微软雅黑" panose="020B0503020204020204" pitchFamily="34" charset="-122"/>
                <a:ea typeface="微软雅黑" panose="020B0503020204020204" pitchFamily="34" charset="-122"/>
                <a:cs typeface="宋体" charset="0"/>
              </a:rPr>
              <a:t>condition</a:t>
            </a:r>
            <a:r>
              <a:rPr kumimoji="1" lang="zh-CN" altLang="en-US" sz="1600" dirty="0">
                <a:latin typeface="微软雅黑" panose="020B0503020204020204" pitchFamily="34" charset="-122"/>
                <a:ea typeface="微软雅黑" panose="020B0503020204020204" pitchFamily="34" charset="-122"/>
                <a:cs typeface="宋体" charset="0"/>
              </a:rPr>
              <a:t>这一参数的值来决定。</a:t>
            </a:r>
            <a:endParaRPr kumimoji="1" lang="zh-CN" altLang="en-US" sz="1600" dirty="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en-US" altLang="zh-CN" sz="1600" dirty="0">
                <a:latin typeface="微软雅黑" panose="020B0503020204020204" pitchFamily="34" charset="-122"/>
                <a:ea typeface="微软雅黑" panose="020B0503020204020204" pitchFamily="34" charset="-122"/>
                <a:cs typeface="宋体" charset="0"/>
              </a:rPr>
              <a:t>feature</a:t>
            </a:r>
            <a:r>
              <a:rPr kumimoji="1" lang="zh-CN" altLang="en-US" sz="1600" dirty="0">
                <a:latin typeface="微软雅黑" panose="020B0503020204020204" pitchFamily="34" charset="-122"/>
                <a:ea typeface="微软雅黑" panose="020B0503020204020204" pitchFamily="34" charset="-122"/>
                <a:cs typeface="宋体" charset="0"/>
              </a:rPr>
              <a:t>抽取返回的结果总是值匹配词表文件的结果，匹配成功则返回</a:t>
            </a:r>
            <a:r>
              <a:rPr kumimoji="1" lang="en-US" altLang="zh-CN" sz="1600" dirty="0">
                <a:latin typeface="微软雅黑" panose="020B0503020204020204" pitchFamily="34" charset="-122"/>
                <a:ea typeface="微软雅黑" panose="020B0503020204020204" pitchFamily="34" charset="-122"/>
                <a:cs typeface="宋体" charset="0"/>
              </a:rPr>
              <a:t>true</a:t>
            </a:r>
            <a:r>
              <a:rPr kumimoji="1" lang="zh-CN" altLang="en-US" sz="1600" dirty="0">
                <a:latin typeface="微软雅黑" panose="020B0503020204020204" pitchFamily="34" charset="-122"/>
                <a:ea typeface="微软雅黑" panose="020B0503020204020204" pitchFamily="34" charset="-122"/>
                <a:cs typeface="宋体" charset="0"/>
              </a:rPr>
              <a:t>，失败则为</a:t>
            </a:r>
            <a:r>
              <a:rPr kumimoji="1" lang="en-US" altLang="zh-CN" sz="1600" dirty="0">
                <a:latin typeface="微软雅黑" panose="020B0503020204020204" pitchFamily="34" charset="-122"/>
                <a:ea typeface="微软雅黑" panose="020B0503020204020204" pitchFamily="34" charset="-122"/>
                <a:cs typeface="宋体" charset="0"/>
              </a:rPr>
              <a:t>false</a:t>
            </a:r>
            <a:r>
              <a:rPr kumimoji="1" lang="zh-CN" altLang="en-US" sz="1600" dirty="0">
                <a:latin typeface="微软雅黑" panose="020B0503020204020204" pitchFamily="34" charset="-122"/>
                <a:ea typeface="微软雅黑" panose="020B0503020204020204" pitchFamily="34" charset="-122"/>
                <a:cs typeface="宋体" charset="0"/>
              </a:rPr>
              <a:t>，然后与</a:t>
            </a:r>
            <a:r>
              <a:rPr kumimoji="1" lang="en-US" altLang="zh-CN" sz="1600" dirty="0">
                <a:latin typeface="微软雅黑" panose="020B0503020204020204" pitchFamily="34" charset="-122"/>
                <a:ea typeface="微软雅黑" panose="020B0503020204020204" pitchFamily="34" charset="-122"/>
                <a:cs typeface="宋体" charset="0"/>
              </a:rPr>
              <a:t>policy</a:t>
            </a:r>
            <a:r>
              <a:rPr kumimoji="1" lang="zh-CN" altLang="en-US" sz="1600" dirty="0">
                <a:latin typeface="微软雅黑" panose="020B0503020204020204" pitchFamily="34" charset="-122"/>
                <a:ea typeface="微软雅黑" panose="020B0503020204020204" pitchFamily="34" charset="-122"/>
                <a:cs typeface="宋体" charset="0"/>
              </a:rPr>
              <a:t>中的</a:t>
            </a:r>
            <a:r>
              <a:rPr kumimoji="1" lang="en-US" altLang="zh-CN" sz="1600" dirty="0">
                <a:latin typeface="微软雅黑" panose="020B0503020204020204" pitchFamily="34" charset="-122"/>
                <a:ea typeface="微软雅黑" panose="020B0503020204020204" pitchFamily="34" charset="-122"/>
                <a:cs typeface="宋体" charset="0"/>
              </a:rPr>
              <a:t>condition</a:t>
            </a:r>
            <a:r>
              <a:rPr kumimoji="1" lang="zh-CN" altLang="en-US" sz="1600" dirty="0">
                <a:latin typeface="微软雅黑" panose="020B0503020204020204" pitchFamily="34" charset="-122"/>
                <a:ea typeface="微软雅黑" panose="020B0503020204020204" pitchFamily="34" charset="-122"/>
                <a:cs typeface="宋体" charset="0"/>
              </a:rPr>
              <a:t>参数进行</a:t>
            </a:r>
            <a:r>
              <a:rPr kumimoji="1" lang="zh-CN" altLang="en-US" sz="1600" dirty="0" smtClean="0">
                <a:latin typeface="微软雅黑" panose="020B0503020204020204" pitchFamily="34" charset="-122"/>
                <a:ea typeface="微软雅黑" panose="020B0503020204020204" pitchFamily="34" charset="-122"/>
                <a:cs typeface="宋体" charset="0"/>
              </a:rPr>
              <a:t>比较</a:t>
            </a:r>
            <a:r>
              <a:rPr kumimoji="1" lang="zh-CN" altLang="en-US" sz="1600" dirty="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一致</a:t>
            </a:r>
            <a:r>
              <a:rPr kumimoji="1" lang="zh-CN" altLang="en-US" sz="1600" dirty="0">
                <a:latin typeface="微软雅黑" panose="020B0503020204020204" pitchFamily="34" charset="-122"/>
                <a:ea typeface="微软雅黑" panose="020B0503020204020204" pitchFamily="34" charset="-122"/>
                <a:cs typeface="宋体" charset="0"/>
              </a:rPr>
              <a:t>则命中，不一致则不命中</a:t>
            </a:r>
            <a:r>
              <a:rPr kumimoji="1" lang="zh-CN" altLang="en-US"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白</a:t>
            </a:r>
            <a:r>
              <a:rPr kumimoji="1" lang="zh-CN" altLang="en-US" sz="1600" dirty="0" smtClean="0">
                <a:latin typeface="微软雅黑" panose="020B0503020204020204" pitchFamily="34" charset="-122"/>
                <a:ea typeface="微软雅黑" panose="020B0503020204020204" pitchFamily="34" charset="-122"/>
                <a:cs typeface="宋体" charset="0"/>
              </a:rPr>
              <a:t>名单策略的</a:t>
            </a:r>
            <a:r>
              <a:rPr kumimoji="1" lang="en-US" altLang="zh-CN" sz="1600" dirty="0" smtClean="0">
                <a:latin typeface="微软雅黑" panose="020B0503020204020204" pitchFamily="34" charset="-122"/>
                <a:ea typeface="微软雅黑" panose="020B0503020204020204" pitchFamily="34" charset="-122"/>
                <a:cs typeface="宋体" charset="0"/>
              </a:rPr>
              <a:t>policy</a:t>
            </a:r>
            <a:r>
              <a:rPr kumimoji="1" lang="zh-CN" altLang="en-US" sz="1600" dirty="0" smtClean="0">
                <a:latin typeface="微软雅黑" panose="020B0503020204020204" pitchFamily="34" charset="-122"/>
                <a:ea typeface="微软雅黑" panose="020B0503020204020204" pitchFamily="34" charset="-122"/>
                <a:cs typeface="宋体" charset="0"/>
              </a:rPr>
              <a:t>文件</a:t>
            </a:r>
            <a:r>
              <a:rPr kumimoji="1" lang="en-US" altLang="zh-CN" sz="1600" dirty="0" smtClean="0">
                <a:latin typeface="微软雅黑" panose="020B0503020204020204" pitchFamily="34" charset="-122"/>
                <a:ea typeface="微软雅黑" panose="020B0503020204020204" pitchFamily="34" charset="-122"/>
                <a:cs typeface="宋体" charset="0"/>
              </a:rPr>
              <a:t>condition</a:t>
            </a:r>
            <a:r>
              <a:rPr kumimoji="1" lang="zh-CN" altLang="en-US" sz="1600" dirty="0" smtClean="0">
                <a:latin typeface="微软雅黑" panose="020B0503020204020204" pitchFamily="34" charset="-122"/>
                <a:ea typeface="微软雅黑" panose="020B0503020204020204" pitchFamily="34" charset="-122"/>
                <a:cs typeface="宋体" charset="0"/>
              </a:rPr>
              <a:t>参数一般为</a:t>
            </a:r>
            <a:r>
              <a:rPr kumimoji="1" lang="en-US" altLang="zh-CN" sz="1600" dirty="0" smtClean="0">
                <a:latin typeface="微软雅黑" panose="020B0503020204020204" pitchFamily="34" charset="-122"/>
                <a:ea typeface="微软雅黑" panose="020B0503020204020204" pitchFamily="34" charset="-122"/>
                <a:cs typeface="宋体" charset="0"/>
              </a:rPr>
              <a:t>false</a:t>
            </a:r>
            <a:r>
              <a:rPr kumimoji="1" lang="zh-CN" altLang="en-US" sz="1600" dirty="0" smtClean="0">
                <a:latin typeface="微软雅黑" panose="020B0503020204020204" pitchFamily="34" charset="-122"/>
                <a:ea typeface="微软雅黑" panose="020B0503020204020204" pitchFamily="34" charset="-122"/>
                <a:cs typeface="宋体" charset="0"/>
              </a:rPr>
              <a:t>，黑名单则为</a:t>
            </a:r>
            <a:r>
              <a:rPr kumimoji="1" lang="en-US" altLang="zh-CN" sz="1600" dirty="0" smtClean="0">
                <a:latin typeface="微软雅黑" panose="020B0503020204020204" pitchFamily="34" charset="-122"/>
                <a:ea typeface="微软雅黑" panose="020B0503020204020204" pitchFamily="34" charset="-122"/>
                <a:cs typeface="宋体" charset="0"/>
              </a:rPr>
              <a:t>true</a:t>
            </a:r>
            <a:endParaRPr kumimoji="1" lang="en-US" altLang="zh-CN" sz="1600" dirty="0">
              <a:latin typeface="微软雅黑" panose="020B0503020204020204" pitchFamily="34" charset="-122"/>
              <a:ea typeface="微软雅黑" panose="020B0503020204020204" pitchFamily="34" charset="-122"/>
              <a:cs typeface="宋体" charset="0"/>
            </a:endParaRPr>
          </a:p>
        </p:txBody>
      </p:sp>
      <p:sp>
        <p:nvSpPr>
          <p:cNvPr id="7" name="文本框 6"/>
          <p:cNvSpPr txBox="1"/>
          <p:nvPr/>
        </p:nvSpPr>
        <p:spPr>
          <a:xfrm>
            <a:off x="5351181" y="1058438"/>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151</a:t>
            </a:r>
            <a:r>
              <a:rPr lang="zh-CN" altLang="en-US" sz="1200" dirty="0" smtClean="0">
                <a:latin typeface="微软雅黑" panose="020B0503020204020204" pitchFamily="34" charset="-122"/>
                <a:ea typeface="微软雅黑" panose="020B0503020204020204" pitchFamily="34" charset="-122"/>
              </a:rPr>
              <a:t>白名单策略配置文件</a:t>
            </a:r>
            <a:endParaRPr lang="zh-CN" altLang="en-US" sz="1200" dirty="0">
              <a:latin typeface="微软雅黑" panose="020B0503020204020204" pitchFamily="34" charset="-122"/>
              <a:ea typeface="微软雅黑" panose="020B0503020204020204" pitchFamily="34" charset="-122"/>
            </a:endParaRPr>
          </a:p>
        </p:txBody>
      </p:sp>
      <p:sp>
        <p:nvSpPr>
          <p:cNvPr id="13" name="矩形 12"/>
          <p:cNvSpPr/>
          <p:nvPr/>
        </p:nvSpPr>
        <p:spPr>
          <a:xfrm>
            <a:off x="6093165" y="1342739"/>
            <a:ext cx="1589432" cy="1569660"/>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  151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151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boolean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condition   : false</a:t>
            </a:r>
            <a:endParaRPr lang="en-US" altLang="zh-CN" sz="1200" dirty="0">
              <a:solidFill>
                <a:srgbClr val="33CC33"/>
              </a:solidFill>
              <a:latin typeface="Times New Roman" panose="02020603050405020304" charset="0"/>
              <a:cs typeface="Times New Roman" panose="02020603050405020304" charset="0"/>
            </a:endParaRPr>
          </a:p>
        </p:txBody>
      </p:sp>
      <p:sp>
        <p:nvSpPr>
          <p:cNvPr id="8" name="矩形 7"/>
          <p:cNvSpPr/>
          <p:nvPr/>
        </p:nvSpPr>
        <p:spPr>
          <a:xfrm>
            <a:off x="6093165" y="3313672"/>
            <a:ext cx="1589432" cy="1569660"/>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 37991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37991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boolean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condition   : true</a:t>
            </a:r>
            <a:endParaRPr lang="en-US" altLang="zh-CN" sz="1200" dirty="0">
              <a:solidFill>
                <a:srgbClr val="33CC33"/>
              </a:solidFill>
              <a:latin typeface="Times New Roman" panose="02020603050405020304" charset="0"/>
              <a:cs typeface="Times New Roman" panose="02020603050405020304" charset="0"/>
            </a:endParaRPr>
          </a:p>
        </p:txBody>
      </p:sp>
      <p:sp>
        <p:nvSpPr>
          <p:cNvPr id="9" name="文本框 8"/>
          <p:cNvSpPr txBox="1"/>
          <p:nvPr/>
        </p:nvSpPr>
        <p:spPr>
          <a:xfrm>
            <a:off x="5351181" y="3036673"/>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37991</a:t>
            </a:r>
            <a:r>
              <a:rPr lang="zh-CN" altLang="en-US" sz="1200" dirty="0" smtClean="0">
                <a:latin typeface="微软雅黑" panose="020B0503020204020204" pitchFamily="34" charset="-122"/>
                <a:ea typeface="微软雅黑" panose="020B0503020204020204" pitchFamily="34" charset="-122"/>
              </a:rPr>
              <a:t>黑名单策略配置文件</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161443"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处理空间类策略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8143195" cy="3874046"/>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处理空间类策略</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通过表现为表达式组合的业务规则进行单个日志的策略命中判定，与别的特征同样使用处理空间圈定流量后通过</a:t>
            </a:r>
            <a:r>
              <a:rPr kumimoji="1" lang="en-US" altLang="zh-CN" sz="1600" dirty="0" smtClean="0">
                <a:latin typeface="微软雅黑" panose="020B0503020204020204" pitchFamily="34" charset="-122"/>
                <a:ea typeface="微软雅黑" panose="020B0503020204020204" pitchFamily="34" charset="-122"/>
                <a:cs typeface="宋体" charset="0"/>
              </a:rPr>
              <a:t>condition</a:t>
            </a:r>
            <a:r>
              <a:rPr kumimoji="1" lang="zh-CN" altLang="en-US" sz="1600" dirty="0" smtClean="0">
                <a:latin typeface="微软雅黑" panose="020B0503020204020204" pitchFamily="34" charset="-122"/>
                <a:ea typeface="微软雅黑" panose="020B0503020204020204" pitchFamily="34" charset="-122"/>
                <a:cs typeface="宋体" charset="0"/>
              </a:rPr>
              <a:t>表达式决定特征的输出值，最后将特征的输出值与</a:t>
            </a:r>
            <a:r>
              <a:rPr kumimoji="1" lang="en-US" altLang="zh-CN" sz="1600" dirty="0" smtClean="0">
                <a:latin typeface="微软雅黑" panose="020B0503020204020204" pitchFamily="34" charset="-122"/>
                <a:ea typeface="微软雅黑" panose="020B0503020204020204" pitchFamily="34" charset="-122"/>
                <a:cs typeface="宋体" charset="0"/>
              </a:rPr>
              <a:t>policy</a:t>
            </a:r>
            <a:r>
              <a:rPr kumimoji="1" lang="zh-CN" altLang="en-US" sz="1600" dirty="0" smtClean="0">
                <a:latin typeface="微软雅黑" panose="020B0503020204020204" pitchFamily="34" charset="-122"/>
                <a:ea typeface="微软雅黑" panose="020B0503020204020204" pitchFamily="34" charset="-122"/>
                <a:cs typeface="宋体" charset="0"/>
              </a:rPr>
              <a:t>文件</a:t>
            </a:r>
            <a:r>
              <a:rPr kumimoji="1" lang="en-US" altLang="zh-CN" sz="1600" dirty="0" smtClean="0">
                <a:latin typeface="微软雅黑" panose="020B0503020204020204" pitchFamily="34" charset="-122"/>
                <a:ea typeface="微软雅黑" panose="020B0503020204020204" pitchFamily="34" charset="-122"/>
                <a:cs typeface="宋体" charset="0"/>
              </a:rPr>
              <a:t>condition</a:t>
            </a:r>
            <a:r>
              <a:rPr kumimoji="1" lang="zh-CN" altLang="en-US" sz="1600" dirty="0" smtClean="0">
                <a:latin typeface="微软雅黑" panose="020B0503020204020204" pitchFamily="34" charset="-122"/>
                <a:ea typeface="微软雅黑" panose="020B0503020204020204" pitchFamily="34" charset="-122"/>
                <a:cs typeface="宋体" charset="0"/>
              </a:rPr>
              <a:t>字段进行比较决定策略是否命中。</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可用特征</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处理空间类特征</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en-US" altLang="zh-CN" sz="1600" dirty="0" err="1" smtClean="0">
                <a:latin typeface="微软雅黑" panose="020B0503020204020204" pitchFamily="34" charset="-122"/>
                <a:ea typeface="微软雅黑" panose="020B0503020204020204" pitchFamily="34" charset="-122"/>
                <a:cs typeface="宋体" charset="0"/>
              </a:rPr>
              <a:t>carespace</a:t>
            </a:r>
            <a:r>
              <a:rPr kumimoji="1" lang="en-US" altLang="zh-CN"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相关参数</a:t>
            </a:r>
            <a:endParaRPr kumimoji="1" lang="en-US" altLang="zh-CN" sz="18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smtClean="0">
                <a:latin typeface="微软雅黑" panose="020B0503020204020204" pitchFamily="34" charset="-122"/>
                <a:ea typeface="微软雅黑" panose="020B0503020204020204" pitchFamily="34" charset="-122"/>
                <a:cs typeface="宋体" charset="0"/>
              </a:rPr>
              <a:t>Condition</a:t>
            </a:r>
            <a:r>
              <a:rPr kumimoji="1" lang="zh-CN" altLang="en-US" sz="1600" dirty="0" smtClean="0">
                <a:latin typeface="微软雅黑" panose="020B0503020204020204" pitchFamily="34" charset="-122"/>
                <a:ea typeface="微软雅黑" panose="020B0503020204020204" pitchFamily="34" charset="-122"/>
                <a:cs typeface="宋体" charset="0"/>
              </a:rPr>
              <a:t>：</a:t>
            </a:r>
            <a:r>
              <a:rPr kumimoji="1" lang="en-US" altLang="zh-CN" sz="1600" dirty="0" smtClean="0">
                <a:latin typeface="微软雅黑" panose="020B0503020204020204" pitchFamily="34" charset="-122"/>
                <a:ea typeface="微软雅黑" panose="020B0503020204020204" pitchFamily="34" charset="-122"/>
                <a:cs typeface="宋体" charset="0"/>
              </a:rPr>
              <a:t>condition</a:t>
            </a:r>
            <a:r>
              <a:rPr kumimoji="1" lang="zh-CN" altLang="en-US" sz="1600" dirty="0" smtClean="0">
                <a:latin typeface="微软雅黑" panose="020B0503020204020204" pitchFamily="34" charset="-122"/>
                <a:ea typeface="微软雅黑" panose="020B0503020204020204" pitchFamily="34" charset="-122"/>
                <a:cs typeface="宋体" charset="0"/>
              </a:rPr>
              <a:t>的值也是条件表达式的组合，规则与</a:t>
            </a:r>
            <a:r>
              <a:rPr kumimoji="1" lang="en-US" altLang="zh-CN" sz="1600" dirty="0" smtClean="0">
                <a:latin typeface="微软雅黑" panose="020B0503020204020204" pitchFamily="34" charset="-122"/>
                <a:ea typeface="微软雅黑" panose="020B0503020204020204" pitchFamily="34" charset="-122"/>
                <a:cs typeface="宋体" charset="0"/>
              </a:rPr>
              <a:t>care</a:t>
            </a:r>
            <a:r>
              <a:rPr kumimoji="1" lang="zh-CN" altLang="en-US" sz="1600" dirty="0" smtClean="0">
                <a:latin typeface="微软雅黑" panose="020B0503020204020204" pitchFamily="34" charset="-122"/>
                <a:ea typeface="微软雅黑" panose="020B0503020204020204" pitchFamily="34" charset="-122"/>
                <a:cs typeface="宋体" charset="0"/>
              </a:rPr>
              <a:t>表达式</a:t>
            </a:r>
            <a:r>
              <a:rPr kumimoji="1" lang="zh-CN" altLang="en-US" sz="1600" dirty="0">
                <a:latin typeface="微软雅黑" panose="020B0503020204020204" pitchFamily="34" charset="-122"/>
                <a:ea typeface="微软雅黑" panose="020B0503020204020204" pitchFamily="34" charset="-122"/>
                <a:cs typeface="宋体" charset="0"/>
              </a:rPr>
              <a:t>相同</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endParaRPr kumimoji="1" lang="en-US" altLang="zh-CN" sz="1600" dirty="0" smtClean="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161443"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处理空间类策略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3"/>
            <a:ext cx="4307741" cy="4140667"/>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点</a:t>
            </a:r>
            <a:r>
              <a:rPr kumimoji="1" lang="zh-CN" altLang="en-US" sz="1800" dirty="0" smtClean="0">
                <a:latin typeface="微软雅黑" panose="020B0503020204020204" pitchFamily="34" charset="-122"/>
                <a:ea typeface="微软雅黑" panose="020B0503020204020204" pitchFamily="34" charset="-122"/>
                <a:cs typeface="宋体" charset="0"/>
              </a:rPr>
              <a:t>展时间差策略</a:t>
            </a:r>
            <a:r>
              <a:rPr kumimoji="1" lang="en-US" altLang="zh-CN" sz="1800" dirty="0" smtClean="0">
                <a:latin typeface="微软雅黑" panose="020B0503020204020204" pitchFamily="34" charset="-122"/>
                <a:ea typeface="微软雅黑" panose="020B0503020204020204" pitchFamily="34" charset="-122"/>
                <a:cs typeface="宋体" charset="0"/>
              </a:rPr>
              <a:t>(113)</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策略背景：</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一条广告从检索展现到网民点击的时间超过一定时间后就不会再计费，为了实现这种规则就有了点展时间差策略。</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800" dirty="0" smtClean="0">
                <a:latin typeface="微软雅黑" panose="020B0503020204020204" pitchFamily="34" charset="-122"/>
                <a:ea typeface="微软雅黑" panose="020B0503020204020204" pitchFamily="34" charset="-122"/>
                <a:cs typeface="宋体" charset="0"/>
              </a:rPr>
              <a:t>参数说明：</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在</a:t>
            </a:r>
            <a:r>
              <a:rPr kumimoji="1" lang="en-US" altLang="zh-CN" sz="1200" dirty="0" smtClean="0">
                <a:latin typeface="微软雅黑" panose="020B0503020204020204" pitchFamily="34" charset="-122"/>
                <a:ea typeface="微软雅黑" panose="020B0503020204020204" pitchFamily="34" charset="-122"/>
                <a:cs typeface="宋体" charset="0"/>
              </a:rPr>
              <a:t>feature</a:t>
            </a:r>
            <a:r>
              <a:rPr kumimoji="1" lang="zh-CN" altLang="en-US" sz="1200" dirty="0" smtClean="0">
                <a:latin typeface="微软雅黑" panose="020B0503020204020204" pitchFamily="34" charset="-122"/>
                <a:ea typeface="微软雅黑" panose="020B0503020204020204" pitchFamily="34" charset="-122"/>
                <a:cs typeface="宋体" charset="0"/>
              </a:rPr>
              <a:t>配置文件没有</a:t>
            </a:r>
            <a:r>
              <a:rPr kumimoji="1" lang="en-US" altLang="zh-CN" sz="1200" dirty="0" smtClean="0">
                <a:latin typeface="微软雅黑" panose="020B0503020204020204" pitchFamily="34" charset="-122"/>
                <a:ea typeface="微软雅黑" panose="020B0503020204020204" pitchFamily="34" charset="-122"/>
                <a:cs typeface="宋体" charset="0"/>
              </a:rPr>
              <a:t>condition</a:t>
            </a:r>
            <a:r>
              <a:rPr kumimoji="1" lang="zh-CN" altLang="en-US" sz="1200" dirty="0">
                <a:latin typeface="微软雅黑" panose="020B0503020204020204" pitchFamily="34" charset="-122"/>
                <a:ea typeface="微软雅黑" panose="020B0503020204020204" pitchFamily="34" charset="-122"/>
                <a:cs typeface="宋体" charset="0"/>
              </a:rPr>
              <a:t>参数</a:t>
            </a:r>
            <a:r>
              <a:rPr kumimoji="1" lang="zh-CN" altLang="en-US" sz="1200" dirty="0" smtClean="0">
                <a:latin typeface="微软雅黑" panose="020B0503020204020204" pitchFamily="34" charset="-122"/>
                <a:ea typeface="微软雅黑" panose="020B0503020204020204" pitchFamily="34" charset="-122"/>
                <a:cs typeface="宋体" charset="0"/>
              </a:rPr>
              <a:t>的情况下，默认使用</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zh-CN" altLang="en-US" sz="1200" dirty="0" smtClean="0">
                <a:latin typeface="微软雅黑" panose="020B0503020204020204" pitchFamily="34" charset="-122"/>
                <a:ea typeface="微软雅黑" panose="020B0503020204020204" pitchFamily="34" charset="-122"/>
                <a:cs typeface="宋体" charset="0"/>
              </a:rPr>
              <a:t>作为</a:t>
            </a:r>
            <a:r>
              <a:rPr kumimoji="1" lang="en-US" altLang="zh-CN" sz="1200" dirty="0" smtClean="0">
                <a:latin typeface="微软雅黑" panose="020B0503020204020204" pitchFamily="34" charset="-122"/>
                <a:ea typeface="微软雅黑" panose="020B0503020204020204" pitchFamily="34" charset="-122"/>
                <a:cs typeface="宋体" charset="0"/>
              </a:rPr>
              <a:t>condition</a:t>
            </a:r>
            <a:r>
              <a:rPr kumimoji="1" lang="zh-CN" altLang="en-US" sz="1200" dirty="0" smtClean="0">
                <a:latin typeface="微软雅黑" panose="020B0503020204020204" pitchFamily="34" charset="-122"/>
                <a:ea typeface="微软雅黑" panose="020B0503020204020204" pitchFamily="34" charset="-122"/>
                <a:cs typeface="宋体" charset="0"/>
              </a:rPr>
              <a:t>值，即日志全过</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针对凤巢广告，点展时间差超出</a:t>
            </a:r>
            <a:r>
              <a:rPr kumimoji="1" lang="en-US" altLang="zh-CN" sz="1200" dirty="0" smtClean="0">
                <a:latin typeface="微软雅黑" panose="020B0503020204020204" pitchFamily="34" charset="-122"/>
                <a:ea typeface="微软雅黑" panose="020B0503020204020204" pitchFamily="34" charset="-122"/>
                <a:cs typeface="宋体" charset="0"/>
              </a:rPr>
              <a:t>6</a:t>
            </a:r>
            <a:r>
              <a:rPr kumimoji="1" lang="zh-CN" altLang="en-US" sz="1200" dirty="0" smtClean="0">
                <a:latin typeface="微软雅黑" panose="020B0503020204020204" pitchFamily="34" charset="-122"/>
                <a:ea typeface="微软雅黑" panose="020B0503020204020204" pitchFamily="34" charset="-122"/>
                <a:cs typeface="宋体" charset="0"/>
              </a:rPr>
              <a:t>小时的日志将被策略命中；针对百意广告，点展时间差超过</a:t>
            </a:r>
            <a:r>
              <a:rPr kumimoji="1" lang="en-US" altLang="zh-CN" sz="1200" dirty="0" smtClean="0">
                <a:latin typeface="微软雅黑" panose="020B0503020204020204" pitchFamily="34" charset="-122"/>
                <a:ea typeface="微软雅黑" panose="020B0503020204020204" pitchFamily="34" charset="-122"/>
                <a:cs typeface="宋体" charset="0"/>
              </a:rPr>
              <a:t>3</a:t>
            </a:r>
            <a:r>
              <a:rPr kumimoji="1" lang="zh-CN" altLang="en-US" sz="1200" dirty="0" smtClean="0">
                <a:latin typeface="微软雅黑" panose="020B0503020204020204" pitchFamily="34" charset="-122"/>
                <a:ea typeface="微软雅黑" panose="020B0503020204020204" pitchFamily="34" charset="-122"/>
                <a:cs typeface="宋体" charset="0"/>
              </a:rPr>
              <a:t>小时的日志将被策略命中；针对原生广告，点展时间差超过</a:t>
            </a:r>
            <a:r>
              <a:rPr kumimoji="1" lang="en-US" altLang="zh-CN" sz="1200" dirty="0" smtClean="0">
                <a:latin typeface="微软雅黑" panose="020B0503020204020204" pitchFamily="34" charset="-122"/>
                <a:ea typeface="微软雅黑" panose="020B0503020204020204" pitchFamily="34" charset="-122"/>
                <a:cs typeface="宋体" charset="0"/>
              </a:rPr>
              <a:t>2</a:t>
            </a:r>
            <a:r>
              <a:rPr kumimoji="1" lang="zh-CN" altLang="en-US" sz="1200" dirty="0" smtClean="0">
                <a:latin typeface="微软雅黑" panose="020B0503020204020204" pitchFamily="34" charset="-122"/>
                <a:ea typeface="微软雅黑" panose="020B0503020204020204" pitchFamily="34" charset="-122"/>
                <a:cs typeface="宋体" charset="0"/>
              </a:rPr>
              <a:t>小时的日志将被策略命中。</a:t>
            </a:r>
            <a:endParaRPr kumimoji="1" lang="en-US" altLang="zh-CN" sz="1200" dirty="0" smtClean="0">
              <a:latin typeface="微软雅黑" panose="020B0503020204020204" pitchFamily="34" charset="-122"/>
              <a:ea typeface="微软雅黑" panose="020B0503020204020204" pitchFamily="34" charset="-122"/>
              <a:cs typeface="宋体" charset="0"/>
            </a:endParaRPr>
          </a:p>
        </p:txBody>
      </p:sp>
      <p:sp>
        <p:nvSpPr>
          <p:cNvPr id="2" name="矩形 1"/>
          <p:cNvSpPr/>
          <p:nvPr/>
        </p:nvSpPr>
        <p:spPr>
          <a:xfrm>
            <a:off x="5108171" y="958956"/>
            <a:ext cx="3932798" cy="3970318"/>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10009</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10009</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a:t>
            </a:r>
            <a:r>
              <a:rPr lang="en-US" altLang="zh-CN" sz="1200" dirty="0" err="1">
                <a:solidFill>
                  <a:srgbClr val="33CC33"/>
                </a:solidFill>
                <a:latin typeface="Times New Roman" panose="02020603050405020304" charset="0"/>
                <a:cs typeface="Times New Roman" panose="02020603050405020304" charset="0"/>
              </a:rPr>
              <a:t>boolean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gray_file</a:t>
            </a:r>
            <a:r>
              <a:rPr lang="en-US" altLang="zh-CN" sz="1200" dirty="0">
                <a:solidFill>
                  <a:srgbClr val="33CC33"/>
                </a:solidFill>
                <a:latin typeface="Times New Roman" panose="02020603050405020304" charset="0"/>
                <a:cs typeface="Times New Roman" panose="02020603050405020304" charset="0"/>
              </a:rPr>
              <a:t>: </a:t>
            </a:r>
            <a:r>
              <a:rPr lang="en-US" altLang="zh-CN" sz="1200" dirty="0" err="1">
                <a:solidFill>
                  <a:srgbClr val="33CC33"/>
                </a:solidFill>
                <a:latin typeface="Times New Roman" panose="02020603050405020304" charset="0"/>
                <a:cs typeface="Times New Roman" panose="02020603050405020304" charset="0"/>
              </a:rPr>
              <a:t>empty_file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condition: true</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[@feature]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113</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carespace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click_level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a:t>
            </a:r>
            <a:r>
              <a:rPr lang="en-US" altLang="zh-CN" sz="1200" dirty="0" err="1">
                <a:solidFill>
                  <a:srgbClr val="33CC33"/>
                </a:solidFill>
                <a:latin typeface="Times New Roman" panose="02020603050405020304" charset="0"/>
                <a:cs typeface="Times New Roman" panose="02020603050405020304" charset="0"/>
              </a:rPr>
              <a:t>accessid</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 ['</a:t>
            </a:r>
            <a:r>
              <a:rPr lang="en-US" altLang="zh-CN" sz="1200" dirty="0" err="1">
                <a:solidFill>
                  <a:srgbClr val="33CC33"/>
                </a:solidFill>
                <a:latin typeface="Times New Roman" panose="02020603050405020304" charset="0"/>
                <a:cs typeface="Times New Roman" panose="02020603050405020304" charset="0"/>
              </a:rPr>
              <a:t>accessid</a:t>
            </a:r>
            <a:r>
              <a:rPr lang="en-US" altLang="zh-CN" sz="1200" dirty="0">
                <a:solidFill>
                  <a:srgbClr val="33CC33"/>
                </a:solidFill>
                <a:latin typeface="Times New Roman" panose="02020603050405020304" charset="0"/>
                <a:cs typeface="Times New Roman" panose="02020603050405020304" charset="0"/>
              </a:rPr>
              <a:t>':='1','3','4','8','21','23','24','25','27','29','30','31','36','37','1001','1002','1003','1004']['</a:t>
            </a:r>
            <a:r>
              <a:rPr lang="en-US" altLang="zh-CN" sz="1200" dirty="0" err="1">
                <a:solidFill>
                  <a:srgbClr val="33CC33"/>
                </a:solidFill>
                <a:latin typeface="Times New Roman" panose="02020603050405020304" charset="0"/>
                <a:cs typeface="Times New Roman" panose="02020603050405020304" charset="0"/>
              </a:rPr>
              <a:t>cdtime_diff</a:t>
            </a:r>
            <a:r>
              <a:rPr lang="en-US" altLang="zh-CN" sz="1200" dirty="0">
                <a:solidFill>
                  <a:srgbClr val="33CC33"/>
                </a:solidFill>
                <a:latin typeface="Times New Roman" panose="02020603050405020304" charset="0"/>
                <a:cs typeface="Times New Roman" panose="02020603050405020304" charset="0"/>
              </a:rPr>
              <a:t>':&gt;21600]||</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accessid</a:t>
            </a:r>
            <a:r>
              <a:rPr lang="en-US" altLang="zh-CN" sz="1200" dirty="0">
                <a:solidFill>
                  <a:srgbClr val="33CC33"/>
                </a:solidFill>
                <a:latin typeface="Times New Roman" panose="02020603050405020304" charset="0"/>
                <a:cs typeface="Times New Roman" panose="02020603050405020304" charset="0"/>
              </a:rPr>
              <a:t>':='7']['</a:t>
            </a:r>
            <a:r>
              <a:rPr lang="en-US" altLang="zh-CN" sz="1200" dirty="0" err="1">
                <a:solidFill>
                  <a:srgbClr val="33CC33"/>
                </a:solidFill>
                <a:latin typeface="Times New Roman" panose="02020603050405020304" charset="0"/>
                <a:cs typeface="Times New Roman" panose="02020603050405020304" charset="0"/>
              </a:rPr>
              <a:t>cdtime_diff</a:t>
            </a:r>
            <a:r>
              <a:rPr lang="en-US" altLang="zh-CN" sz="1200" dirty="0">
                <a:solidFill>
                  <a:srgbClr val="33CC33"/>
                </a:solidFill>
                <a:latin typeface="Times New Roman" panose="02020603050405020304" charset="0"/>
                <a:cs typeface="Times New Roman" panose="02020603050405020304" charset="0"/>
              </a:rPr>
              <a:t>':&gt;10800]||</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accessid</a:t>
            </a:r>
            <a:r>
              <a:rPr lang="en-US" altLang="zh-CN" sz="1200" dirty="0">
                <a:solidFill>
                  <a:srgbClr val="33CC33"/>
                </a:solidFill>
                <a:latin typeface="Times New Roman" panose="02020603050405020304" charset="0"/>
                <a:cs typeface="Times New Roman" panose="02020603050405020304" charset="0"/>
              </a:rPr>
              <a:t>':='30']['</a:t>
            </a:r>
            <a:r>
              <a:rPr lang="en-US" altLang="zh-CN" sz="1200" dirty="0" err="1">
                <a:solidFill>
                  <a:srgbClr val="33CC33"/>
                </a:solidFill>
                <a:latin typeface="Times New Roman" panose="02020603050405020304" charset="0"/>
                <a:cs typeface="Times New Roman" panose="02020603050405020304" charset="0"/>
              </a:rPr>
              <a:t>cdtime_diff</a:t>
            </a:r>
            <a:r>
              <a:rPr lang="en-US" altLang="zh-CN" sz="1200" dirty="0">
                <a:solidFill>
                  <a:srgbClr val="33CC33"/>
                </a:solidFill>
                <a:latin typeface="Times New Roman" panose="02020603050405020304" charset="0"/>
                <a:cs typeface="Times New Roman" panose="02020603050405020304" charset="0"/>
              </a:rPr>
              <a:t>':&gt;7200]['</a:t>
            </a:r>
            <a:r>
              <a:rPr lang="en-US" altLang="zh-CN" sz="1200" dirty="0" err="1">
                <a:solidFill>
                  <a:srgbClr val="33CC33"/>
                </a:solidFill>
                <a:latin typeface="Times New Roman" panose="02020603050405020304" charset="0"/>
                <a:cs typeface="Times New Roman" panose="02020603050405020304" charset="0"/>
              </a:rPr>
              <a:t>userid</a:t>
            </a:r>
            <a:r>
              <a:rPr lang="en-US" altLang="zh-CN" sz="1200" dirty="0">
                <a:solidFill>
                  <a:srgbClr val="33CC33"/>
                </a:solidFill>
                <a:latin typeface="Times New Roman" panose="02020603050405020304" charset="0"/>
                <a:cs typeface="Times New Roman" panose="02020603050405020304" charset="0"/>
              </a:rPr>
              <a:t>':='23068108']</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p:txBody>
      </p:sp>
      <p:sp>
        <p:nvSpPr>
          <p:cNvPr id="7" name="文本框 6"/>
          <p:cNvSpPr txBox="1"/>
          <p:nvPr/>
        </p:nvSpPr>
        <p:spPr>
          <a:xfrm>
            <a:off x="5321300" y="659679"/>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113</a:t>
            </a:r>
            <a:r>
              <a:rPr lang="zh-CN" altLang="en-US" sz="1200" dirty="0" smtClean="0">
                <a:latin typeface="微软雅黑" panose="020B0503020204020204" pitchFamily="34" charset="-122"/>
                <a:ea typeface="微软雅黑" panose="020B0503020204020204" pitchFamily="34" charset="-122"/>
              </a:rPr>
              <a:t>策略相关配置文件</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161443"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处理空间类策略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3"/>
            <a:ext cx="4307741" cy="4140667"/>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重复点击过滤策略</a:t>
            </a:r>
            <a:r>
              <a:rPr kumimoji="1" lang="en-US" altLang="zh-CN" sz="1800" dirty="0" smtClean="0">
                <a:latin typeface="微软雅黑" panose="020B0503020204020204" pitchFamily="34" charset="-122"/>
                <a:ea typeface="微软雅黑" panose="020B0503020204020204" pitchFamily="34" charset="-122"/>
                <a:cs typeface="宋体" charset="0"/>
              </a:rPr>
              <a:t>(1101)</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策略背景：</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为了保护广告主的广告投放效果，同一个用户在</a:t>
            </a:r>
            <a:r>
              <a:rPr kumimoji="1" lang="en-US" altLang="zh-CN" sz="1200" dirty="0" smtClean="0">
                <a:latin typeface="微软雅黑" panose="020B0503020204020204" pitchFamily="34" charset="-122"/>
                <a:ea typeface="微软雅黑" panose="020B0503020204020204" pitchFamily="34" charset="-122"/>
                <a:cs typeface="宋体" charset="0"/>
              </a:rPr>
              <a:t>15</a:t>
            </a:r>
            <a:r>
              <a:rPr kumimoji="1" lang="zh-CN" altLang="en-US" sz="1200" dirty="0" smtClean="0">
                <a:latin typeface="微软雅黑" panose="020B0503020204020204" pitchFamily="34" charset="-122"/>
                <a:ea typeface="微软雅黑" panose="020B0503020204020204" pitchFamily="34" charset="-122"/>
                <a:cs typeface="宋体" charset="0"/>
              </a:rPr>
              <a:t>分钟内只能对同一个广告点击一次。这种规则通过</a:t>
            </a:r>
            <a:r>
              <a:rPr kumimoji="1" lang="en-US" altLang="zh-CN" sz="1200" dirty="0" smtClean="0">
                <a:latin typeface="微软雅黑" panose="020B0503020204020204" pitchFamily="34" charset="-122"/>
                <a:ea typeface="微软雅黑" panose="020B0503020204020204" pitchFamily="34" charset="-122"/>
                <a:cs typeface="宋体" charset="0"/>
              </a:rPr>
              <a:t>1101</a:t>
            </a:r>
            <a:r>
              <a:rPr kumimoji="1" lang="zh-CN" altLang="en-US" sz="1200" dirty="0" smtClean="0">
                <a:latin typeface="微软雅黑" panose="020B0503020204020204" pitchFamily="34" charset="-122"/>
                <a:ea typeface="微软雅黑" panose="020B0503020204020204" pitchFamily="34" charset="-122"/>
                <a:cs typeface="宋体" charset="0"/>
              </a:rPr>
              <a:t>策略实现。</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800" dirty="0" smtClean="0">
                <a:latin typeface="微软雅黑" panose="020B0503020204020204" pitchFamily="34" charset="-122"/>
                <a:ea typeface="微软雅黑" panose="020B0503020204020204" pitchFamily="34" charset="-122"/>
                <a:cs typeface="宋体" charset="0"/>
              </a:rPr>
              <a:t>参数说明：</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200" dirty="0" smtClean="0">
                <a:latin typeface="微软雅黑" panose="020B0503020204020204" pitchFamily="34" charset="-122"/>
                <a:ea typeface="微软雅黑" panose="020B0503020204020204" pitchFamily="34" charset="-122"/>
                <a:cs typeface="宋体" charset="0"/>
              </a:rPr>
              <a:t>1101</a:t>
            </a:r>
            <a:r>
              <a:rPr kumimoji="1" lang="zh-CN" altLang="en-US" sz="1200" dirty="0" smtClean="0">
                <a:latin typeface="微软雅黑" panose="020B0503020204020204" pitchFamily="34" charset="-122"/>
                <a:ea typeface="微软雅黑" panose="020B0503020204020204" pitchFamily="34" charset="-122"/>
                <a:cs typeface="宋体" charset="0"/>
              </a:rPr>
              <a:t>策略是一种多特征策略，与</a:t>
            </a:r>
            <a:r>
              <a:rPr kumimoji="1" lang="en-US" altLang="zh-CN" sz="1200" dirty="0" err="1" smtClean="0">
                <a:latin typeface="微软雅黑" panose="020B0503020204020204" pitchFamily="34" charset="-122"/>
                <a:ea typeface="微软雅黑" panose="020B0503020204020204" pitchFamily="34" charset="-122"/>
                <a:cs typeface="宋体" charset="0"/>
              </a:rPr>
              <a:t>policy.condition</a:t>
            </a:r>
            <a:r>
              <a:rPr kumimoji="1" lang="zh-CN" altLang="en-US" sz="1200" dirty="0" smtClean="0">
                <a:latin typeface="微软雅黑" panose="020B0503020204020204" pitchFamily="34" charset="-122"/>
                <a:ea typeface="微软雅黑" panose="020B0503020204020204" pitchFamily="34" charset="-122"/>
                <a:cs typeface="宋体" charset="0"/>
              </a:rPr>
              <a:t>进行比较的是多个特征值的与运算结果</a:t>
            </a:r>
            <a:endParaRPr kumimoji="1" lang="en-US" altLang="zh-CN" sz="1200" dirty="0" smtClean="0">
              <a:latin typeface="微软雅黑" panose="020B0503020204020204" pitchFamily="34" charset="-122"/>
              <a:ea typeface="微软雅黑" panose="020B0503020204020204" pitchFamily="34" charset="-122"/>
              <a:cs typeface="宋体" charset="0"/>
            </a:endParaRPr>
          </a:p>
        </p:txBody>
      </p:sp>
      <p:sp>
        <p:nvSpPr>
          <p:cNvPr id="2" name="矩形 1"/>
          <p:cNvSpPr/>
          <p:nvPr/>
        </p:nvSpPr>
        <p:spPr>
          <a:xfrm>
            <a:off x="6164238" y="1008672"/>
            <a:ext cx="1910815" cy="3416320"/>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 1101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11011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combine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expression  : 1102 - 1101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threshold   : &lt; 600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11012</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combine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expression  : 1102 - 1101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threshold   : &gt; 5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1106</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boolean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condition   : true</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p:txBody>
      </p:sp>
      <p:sp>
        <p:nvSpPr>
          <p:cNvPr id="7" name="文本框 6"/>
          <p:cNvSpPr txBox="1"/>
          <p:nvPr/>
        </p:nvSpPr>
        <p:spPr>
          <a:xfrm>
            <a:off x="5321300" y="659679"/>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1101</a:t>
            </a:r>
            <a:r>
              <a:rPr lang="zh-CN" altLang="en-US" sz="1200" dirty="0" smtClean="0">
                <a:latin typeface="微软雅黑" panose="020B0503020204020204" pitchFamily="34" charset="-122"/>
                <a:ea typeface="微软雅黑" panose="020B0503020204020204" pitchFamily="34" charset="-122"/>
              </a:rPr>
              <a:t>策略配置文件</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161443"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处理空间类策略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6" y="1002753"/>
            <a:ext cx="2862746" cy="4140667"/>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重复点击过滤策略</a:t>
            </a:r>
            <a:r>
              <a:rPr kumimoji="1" lang="en-US" altLang="zh-CN" sz="1800" dirty="0" smtClean="0">
                <a:latin typeface="微软雅黑" panose="020B0503020204020204" pitchFamily="34" charset="-122"/>
                <a:ea typeface="微软雅黑" panose="020B0503020204020204" pitchFamily="34" charset="-122"/>
                <a:cs typeface="宋体" charset="0"/>
              </a:rPr>
              <a:t>(1101)</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针对凤巢或者百意的点击日志，和上一条</a:t>
            </a:r>
            <a:r>
              <a:rPr kumimoji="1" lang="zh-CN" altLang="en-US" sz="1200" dirty="0">
                <a:latin typeface="微软雅黑" panose="020B0503020204020204" pitchFamily="34" charset="-122"/>
                <a:ea typeface="微软雅黑" panose="020B0503020204020204" pitchFamily="34" charset="-122"/>
                <a:cs typeface="宋体" charset="0"/>
              </a:rPr>
              <a:t>日志</a:t>
            </a:r>
            <a:r>
              <a:rPr kumimoji="1" lang="zh-CN" altLang="en-US" sz="1200" dirty="0" smtClean="0">
                <a:latin typeface="微软雅黑" panose="020B0503020204020204" pitchFamily="34" charset="-122"/>
                <a:ea typeface="微软雅黑" panose="020B0503020204020204" pitchFamily="34" charset="-122"/>
                <a:cs typeface="宋体" charset="0"/>
              </a:rPr>
              <a:t>的点击时间差在</a:t>
            </a:r>
            <a:r>
              <a:rPr kumimoji="1" lang="en-US" altLang="zh-CN" sz="1200" dirty="0" smtClean="0">
                <a:latin typeface="微软雅黑" panose="020B0503020204020204" pitchFamily="34" charset="-122"/>
                <a:ea typeface="微软雅黑" panose="020B0503020204020204" pitchFamily="34" charset="-122"/>
                <a:cs typeface="宋体" charset="0"/>
              </a:rPr>
              <a:t>5s-600s</a:t>
            </a:r>
            <a:r>
              <a:rPr kumimoji="1" lang="zh-CN" altLang="en-US" sz="1200" dirty="0" smtClean="0">
                <a:latin typeface="微软雅黑" panose="020B0503020204020204" pitchFamily="34" charset="-122"/>
                <a:ea typeface="微软雅黑" panose="020B0503020204020204" pitchFamily="34" charset="-122"/>
                <a:cs typeface="宋体" charset="0"/>
              </a:rPr>
              <a:t>之间的日志将被策略命中。</a:t>
            </a:r>
            <a:endParaRPr kumimoji="1" lang="en-US" altLang="zh-CN" sz="1200" dirty="0" smtClean="0">
              <a:latin typeface="微软雅黑" panose="020B0503020204020204" pitchFamily="34" charset="-122"/>
              <a:ea typeface="微软雅黑" panose="020B0503020204020204" pitchFamily="34" charset="-122"/>
              <a:cs typeface="宋体" charset="0"/>
            </a:endParaRPr>
          </a:p>
        </p:txBody>
      </p:sp>
      <p:sp>
        <p:nvSpPr>
          <p:cNvPr id="2" name="矩形 1"/>
          <p:cNvSpPr/>
          <p:nvPr/>
        </p:nvSpPr>
        <p:spPr>
          <a:xfrm>
            <a:off x="3342852" y="1002753"/>
            <a:ext cx="1742206" cy="3416320"/>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 1101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11011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combine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expression  : 1102 - 1101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threshold   : &lt; 600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11012</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combine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expression  : 1102 - 1101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threshold   : &gt; 5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1106</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boolean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condition   : true</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p:txBody>
      </p:sp>
      <p:sp>
        <p:nvSpPr>
          <p:cNvPr id="7" name="文本框 6"/>
          <p:cNvSpPr txBox="1"/>
          <p:nvPr/>
        </p:nvSpPr>
        <p:spPr>
          <a:xfrm>
            <a:off x="4084929" y="734528"/>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1101</a:t>
            </a:r>
            <a:r>
              <a:rPr lang="zh-CN" altLang="en-US" sz="1200" dirty="0" smtClean="0">
                <a:latin typeface="微软雅黑" panose="020B0503020204020204" pitchFamily="34" charset="-122"/>
                <a:ea typeface="微软雅黑" panose="020B0503020204020204" pitchFamily="34" charset="-122"/>
              </a:rPr>
              <a:t>策略相关配置文件</a:t>
            </a:r>
            <a:endParaRPr lang="zh-CN" altLang="en-US" sz="1200" dirty="0">
              <a:latin typeface="微软雅黑" panose="020B0503020204020204" pitchFamily="34" charset="-122"/>
              <a:ea typeface="微软雅黑" panose="020B0503020204020204" pitchFamily="34" charset="-122"/>
            </a:endParaRPr>
          </a:p>
        </p:txBody>
      </p:sp>
      <p:sp>
        <p:nvSpPr>
          <p:cNvPr id="6" name="矩形 5"/>
          <p:cNvSpPr/>
          <p:nvPr/>
        </p:nvSpPr>
        <p:spPr>
          <a:xfrm>
            <a:off x="5085057" y="1002753"/>
            <a:ext cx="2932411" cy="2862322"/>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[@feature]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1101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original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click_level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 ['</a:t>
            </a:r>
            <a:r>
              <a:rPr lang="en-US" altLang="zh-CN" sz="1200" dirty="0" err="1">
                <a:solidFill>
                  <a:srgbClr val="33CC33"/>
                </a:solidFill>
                <a:latin typeface="Times New Roman" panose="02020603050405020304" charset="0"/>
                <a:cs typeface="Times New Roman" panose="02020603050405020304" charset="0"/>
              </a:rPr>
              <a:t>is_wireless</a:t>
            </a:r>
            <a:r>
              <a:rPr lang="en-US" altLang="zh-CN" sz="1200" dirty="0">
                <a:solidFill>
                  <a:srgbClr val="33CC33"/>
                </a:solidFill>
                <a:latin typeface="Times New Roman" panose="02020603050405020304" charset="0"/>
                <a:cs typeface="Times New Roman" panose="02020603050405020304" charset="0"/>
              </a:rPr>
              <a:t>'!='1']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a:t>
            </a:r>
            <a:r>
              <a:rPr lang="en-US" altLang="zh-CN" sz="1200" dirty="0" err="1">
                <a:solidFill>
                  <a:srgbClr val="33CC33"/>
                </a:solidFill>
                <a:latin typeface="Times New Roman" panose="02020603050405020304" charset="0"/>
                <a:cs typeface="Times New Roman" panose="02020603050405020304" charset="0"/>
              </a:rPr>
              <a:t>preclktime</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[@feature]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1102</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original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click_level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 ['</a:t>
            </a:r>
            <a:r>
              <a:rPr lang="en-US" altLang="zh-CN" sz="1200" dirty="0" err="1">
                <a:solidFill>
                  <a:srgbClr val="33CC33"/>
                </a:solidFill>
                <a:latin typeface="Times New Roman" panose="02020603050405020304" charset="0"/>
                <a:cs typeface="Times New Roman" panose="02020603050405020304" charset="0"/>
              </a:rPr>
              <a:t>is_wireless</a:t>
            </a:r>
            <a:r>
              <a:rPr lang="en-US" altLang="zh-CN" sz="1200" dirty="0">
                <a:solidFill>
                  <a:srgbClr val="33CC33"/>
                </a:solidFill>
                <a:latin typeface="Times New Roman" panose="02020603050405020304" charset="0"/>
                <a:cs typeface="Times New Roman" panose="02020603050405020304" charset="0"/>
              </a:rPr>
              <a:t>'!='1']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a:t>
            </a:r>
            <a:r>
              <a:rPr lang="en-US" altLang="zh-CN" sz="1200" dirty="0" err="1">
                <a:solidFill>
                  <a:srgbClr val="33CC33"/>
                </a:solidFill>
                <a:latin typeface="Times New Roman" panose="02020603050405020304" charset="0"/>
                <a:cs typeface="Times New Roman" panose="02020603050405020304" charset="0"/>
              </a:rPr>
              <a:t>clktime</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p:txBody>
      </p:sp>
      <p:sp>
        <p:nvSpPr>
          <p:cNvPr id="5" name="矩形 4"/>
          <p:cNvSpPr/>
          <p:nvPr/>
        </p:nvSpPr>
        <p:spPr>
          <a:xfrm>
            <a:off x="7158329" y="1011527"/>
            <a:ext cx="1772407" cy="3231654"/>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[@feature]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1106</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carespace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click_level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a:t>
            </a:r>
            <a:r>
              <a:rPr lang="en-US" altLang="zh-CN" sz="1200" dirty="0" err="1">
                <a:solidFill>
                  <a:srgbClr val="33CC33"/>
                </a:solidFill>
                <a:latin typeface="Times New Roman" panose="02020603050405020304" charset="0"/>
                <a:cs typeface="Times New Roman" panose="02020603050405020304" charset="0"/>
              </a:rPr>
              <a:t>accessid</a:t>
            </a:r>
            <a:r>
              <a:rPr lang="en-US" altLang="zh-CN" sz="1200" dirty="0">
                <a:solidFill>
                  <a:srgbClr val="33CC33"/>
                </a:solidFill>
                <a:latin typeface="Times New Roman" panose="02020603050405020304" charset="0"/>
                <a:cs typeface="Times New Roman" panose="02020603050405020304" charset="0"/>
              </a:rPr>
              <a:t>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 ['</a:t>
            </a:r>
            <a:r>
              <a:rPr lang="en-US" altLang="zh-CN" sz="1200" dirty="0" err="1">
                <a:solidFill>
                  <a:srgbClr val="33CC33"/>
                </a:solidFill>
                <a:latin typeface="Times New Roman" panose="02020603050405020304" charset="0"/>
                <a:cs typeface="Times New Roman" panose="02020603050405020304" charset="0"/>
              </a:rPr>
              <a:t>accessid</a:t>
            </a:r>
            <a:r>
              <a:rPr lang="en-US" altLang="zh-CN" sz="1200" dirty="0">
                <a:solidFill>
                  <a:srgbClr val="33CC33"/>
                </a:solidFill>
                <a:latin typeface="Times New Roman" panose="02020603050405020304" charset="0"/>
                <a:cs typeface="Times New Roman" panose="02020603050405020304" charset="0"/>
              </a:rPr>
              <a:t>':='1','4','7','23','29','30','31','36','37','1001','1002','1003','1004']||</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accessid</a:t>
            </a:r>
            <a:r>
              <a:rPr lang="en-US" altLang="zh-CN" sz="1200" dirty="0">
                <a:solidFill>
                  <a:srgbClr val="33CC33"/>
                </a:solidFill>
                <a:latin typeface="Times New Roman" panose="02020603050405020304" charset="0"/>
                <a:cs typeface="Times New Roman" panose="02020603050405020304" charset="0"/>
              </a:rPr>
              <a:t>':='38']['</a:t>
            </a:r>
            <a:r>
              <a:rPr lang="en-US" altLang="zh-CN" sz="1200" dirty="0" err="1">
                <a:solidFill>
                  <a:srgbClr val="33CC33"/>
                </a:solidFill>
                <a:latin typeface="Times New Roman" panose="02020603050405020304" charset="0"/>
                <a:cs typeface="Times New Roman" panose="02020603050405020304" charset="0"/>
              </a:rPr>
              <a:t>post'HA</a:t>
            </a:r>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cpv_dur'HA</a:t>
            </a:r>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cpv_end'HA</a:t>
            </a:r>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cpv_dur</a:t>
            </a:r>
            <a:r>
              <a:rPr lang="en-US" altLang="zh-CN" sz="1200" dirty="0">
                <a:solidFill>
                  <a:srgbClr val="33CC33"/>
                </a:solidFill>
                <a:latin typeface="Times New Roman" panose="02020603050405020304" charset="0"/>
                <a:cs typeface="Times New Roman" panose="02020603050405020304" charset="0"/>
              </a:rPr>
              <a:t>'&gt;=10000]['</a:t>
            </a:r>
            <a:r>
              <a:rPr lang="en-US" altLang="zh-CN" sz="1200" dirty="0" err="1">
                <a:solidFill>
                  <a:srgbClr val="33CC33"/>
                </a:solidFill>
                <a:latin typeface="Times New Roman" panose="02020603050405020304" charset="0"/>
                <a:cs typeface="Times New Roman" panose="02020603050405020304" charset="0"/>
              </a:rPr>
              <a:t>cpv_end</a:t>
            </a:r>
            <a:r>
              <a:rPr lang="en-US" altLang="zh-CN" sz="1200" dirty="0">
                <a:solidFill>
                  <a:srgbClr val="33CC33"/>
                </a:solidFill>
                <a:latin typeface="Times New Roman" panose="02020603050405020304" charset="0"/>
                <a:cs typeface="Times New Roman" panose="02020603050405020304" charset="0"/>
              </a:rPr>
              <a:t>'&gt;=10000]||</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accessid</a:t>
            </a:r>
            <a:r>
              <a:rPr lang="en-US" altLang="zh-CN" sz="1200" dirty="0">
                <a:solidFill>
                  <a:srgbClr val="33CC33"/>
                </a:solidFill>
                <a:latin typeface="Times New Roman" panose="02020603050405020304" charset="0"/>
                <a:cs typeface="Times New Roman" panose="02020603050405020304" charset="0"/>
              </a:rPr>
              <a:t>':='38']['</a:t>
            </a:r>
            <a:r>
              <a:rPr lang="en-US" altLang="zh-CN" sz="1200" dirty="0" err="1">
                <a:solidFill>
                  <a:srgbClr val="33CC33"/>
                </a:solidFill>
                <a:latin typeface="Times New Roman" panose="02020603050405020304" charset="0"/>
                <a:cs typeface="Times New Roman" panose="02020603050405020304" charset="0"/>
              </a:rPr>
              <a:t>post'HA</a:t>
            </a:r>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cpv_dur'HA</a:t>
            </a:r>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cpv_end'HA</a:t>
            </a:r>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cpv_dur</a:t>
            </a:r>
            <a:r>
              <a:rPr lang="en-US" altLang="zh-CN" sz="1200" dirty="0">
                <a:solidFill>
                  <a:srgbClr val="33CC33"/>
                </a:solidFill>
                <a:latin typeface="Times New Roman" panose="02020603050405020304" charset="0"/>
                <a:cs typeface="Times New Roman" panose="02020603050405020304" charset="0"/>
              </a:rPr>
              <a:t>':&lt;10000]['</a:t>
            </a:r>
            <a:r>
              <a:rPr lang="en-US" altLang="zh-CN" sz="1200" dirty="0" err="1">
                <a:solidFill>
                  <a:srgbClr val="33CC33"/>
                </a:solidFill>
                <a:latin typeface="Times New Roman" panose="02020603050405020304" charset="0"/>
                <a:cs typeface="Times New Roman" panose="02020603050405020304" charset="0"/>
              </a:rPr>
              <a:t>cpv_end'EQ'cpv_dur</a:t>
            </a:r>
            <a:r>
              <a:rPr lang="en-US" altLang="zh-CN" sz="1200" dirty="0">
                <a:solidFill>
                  <a:srgbClr val="33CC33"/>
                </a:solidFill>
                <a:latin typeface="Times New Roman" panose="02020603050405020304" charset="0"/>
                <a:cs typeface="Times New Roman" panose="02020603050405020304" charset="0"/>
              </a:rPr>
              <a:t>']</a:t>
            </a:r>
            <a:endParaRPr lang="en-US" altLang="zh-CN" sz="1200" dirty="0">
              <a:solidFill>
                <a:srgbClr val="33CC33"/>
              </a:solidFill>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161443"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处理空间类策略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3"/>
            <a:ext cx="4307741" cy="4140667"/>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点</a:t>
            </a:r>
            <a:r>
              <a:rPr kumimoji="1" lang="zh-CN" altLang="en-US" sz="1800" dirty="0" smtClean="0">
                <a:latin typeface="微软雅黑" panose="020B0503020204020204" pitchFamily="34" charset="-122"/>
                <a:ea typeface="微软雅黑" panose="020B0503020204020204" pitchFamily="34" charset="-122"/>
                <a:cs typeface="宋体" charset="0"/>
              </a:rPr>
              <a:t>展</a:t>
            </a:r>
            <a:r>
              <a:rPr kumimoji="1" lang="en-US" altLang="zh-CN" sz="1800" dirty="0" err="1" smtClean="0">
                <a:latin typeface="微软雅黑" panose="020B0503020204020204" pitchFamily="34" charset="-122"/>
                <a:ea typeface="微软雅黑" panose="020B0503020204020204" pitchFamily="34" charset="-122"/>
                <a:cs typeface="宋体" charset="0"/>
              </a:rPr>
              <a:t>ip</a:t>
            </a:r>
            <a:r>
              <a:rPr kumimoji="1" lang="zh-CN" altLang="en-US" sz="1800" dirty="0" smtClean="0">
                <a:latin typeface="微软雅黑" panose="020B0503020204020204" pitchFamily="34" charset="-122"/>
                <a:ea typeface="微软雅黑" panose="020B0503020204020204" pitchFamily="34" charset="-122"/>
                <a:cs typeface="宋体" charset="0"/>
              </a:rPr>
              <a:t>地域不一致策略</a:t>
            </a:r>
            <a:r>
              <a:rPr kumimoji="1" lang="en-US" altLang="zh-CN" sz="1800" dirty="0" smtClean="0">
                <a:latin typeface="微软雅黑" panose="020B0503020204020204" pitchFamily="34" charset="-122"/>
                <a:ea typeface="微软雅黑" panose="020B0503020204020204" pitchFamily="34" charset="-122"/>
                <a:cs typeface="宋体" charset="0"/>
              </a:rPr>
              <a:t>(10001)</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策略背景：</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200" dirty="0">
                <a:latin typeface="微软雅黑" panose="020B0503020204020204" pitchFamily="34" charset="-122"/>
                <a:ea typeface="微软雅黑" panose="020B0503020204020204" pitchFamily="34" charset="-122"/>
                <a:cs typeface="宋体" charset="0"/>
              </a:rPr>
              <a:t>为了保证广告主的地域</a:t>
            </a:r>
            <a:r>
              <a:rPr kumimoji="1" lang="zh-CN" altLang="en-US" sz="1200" dirty="0" smtClean="0">
                <a:latin typeface="微软雅黑" panose="020B0503020204020204" pitchFamily="34" charset="-122"/>
                <a:ea typeface="微软雅黑" panose="020B0503020204020204" pitchFamily="34" charset="-122"/>
                <a:cs typeface="宋体" charset="0"/>
              </a:rPr>
              <a:t>投放效果，</a:t>
            </a:r>
            <a:r>
              <a:rPr kumimoji="1" lang="zh-CN" altLang="en-US" sz="1200" dirty="0">
                <a:latin typeface="微软雅黑" panose="020B0503020204020204" pitchFamily="34" charset="-122"/>
                <a:ea typeface="微软雅黑" panose="020B0503020204020204" pitchFamily="34" charset="-122"/>
                <a:cs typeface="宋体" charset="0"/>
              </a:rPr>
              <a:t>对广告展现</a:t>
            </a:r>
            <a:r>
              <a:rPr kumimoji="1" lang="en-US" altLang="zh-CN" sz="1200" dirty="0" err="1">
                <a:latin typeface="微软雅黑" panose="020B0503020204020204" pitchFamily="34" charset="-122"/>
                <a:ea typeface="微软雅黑" panose="020B0503020204020204" pitchFamily="34" charset="-122"/>
                <a:cs typeface="宋体" charset="0"/>
              </a:rPr>
              <a:t>ip</a:t>
            </a:r>
            <a:r>
              <a:rPr kumimoji="1" lang="zh-CN" altLang="en-US" sz="1200" dirty="0">
                <a:latin typeface="微软雅黑" panose="020B0503020204020204" pitchFamily="34" charset="-122"/>
                <a:ea typeface="微软雅黑" panose="020B0503020204020204" pitchFamily="34" charset="-122"/>
                <a:cs typeface="宋体" charset="0"/>
              </a:rPr>
              <a:t>和点击</a:t>
            </a:r>
            <a:r>
              <a:rPr kumimoji="1" lang="en-US" altLang="zh-CN" sz="1200" dirty="0" err="1">
                <a:latin typeface="微软雅黑" panose="020B0503020204020204" pitchFamily="34" charset="-122"/>
                <a:ea typeface="微软雅黑" panose="020B0503020204020204" pitchFamily="34" charset="-122"/>
                <a:cs typeface="宋体" charset="0"/>
              </a:rPr>
              <a:t>ip</a:t>
            </a:r>
            <a:r>
              <a:rPr kumimoji="1" lang="zh-CN" altLang="en-US" sz="1200" dirty="0">
                <a:latin typeface="微软雅黑" panose="020B0503020204020204" pitchFamily="34" charset="-122"/>
                <a:ea typeface="微软雅黑" panose="020B0503020204020204" pitchFamily="34" charset="-122"/>
                <a:cs typeface="宋体" charset="0"/>
              </a:rPr>
              <a:t>所在省级地域不一致的</a:t>
            </a:r>
            <a:r>
              <a:rPr kumimoji="1" lang="zh-CN" altLang="en-US" sz="1200" dirty="0" smtClean="0">
                <a:latin typeface="微软雅黑" panose="020B0503020204020204" pitchFamily="34" charset="-122"/>
                <a:ea typeface="微软雅黑" panose="020B0503020204020204" pitchFamily="34" charset="-122"/>
                <a:cs typeface="宋体" charset="0"/>
              </a:rPr>
              <a:t>点击不计费，</a:t>
            </a:r>
            <a:r>
              <a:rPr kumimoji="1" lang="en-US" altLang="zh-CN" sz="1200" dirty="0" smtClean="0">
                <a:latin typeface="微软雅黑" panose="020B0503020204020204" pitchFamily="34" charset="-122"/>
                <a:ea typeface="微软雅黑" panose="020B0503020204020204" pitchFamily="34" charset="-122"/>
                <a:cs typeface="宋体" charset="0"/>
              </a:rPr>
              <a:t>10001</a:t>
            </a:r>
            <a:r>
              <a:rPr kumimoji="1" lang="zh-CN" altLang="en-US" sz="1200" dirty="0" smtClean="0">
                <a:latin typeface="微软雅黑" panose="020B0503020204020204" pitchFamily="34" charset="-122"/>
                <a:ea typeface="微软雅黑" panose="020B0503020204020204" pitchFamily="34" charset="-122"/>
                <a:cs typeface="宋体" charset="0"/>
              </a:rPr>
              <a:t>策略就是为了解决这一问题而上线。</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800" dirty="0" smtClean="0">
                <a:latin typeface="微软雅黑" panose="020B0503020204020204" pitchFamily="34" charset="-122"/>
                <a:ea typeface="微软雅黑" panose="020B0503020204020204" pitchFamily="34" charset="-122"/>
                <a:cs typeface="宋体" charset="0"/>
              </a:rPr>
              <a:t>参数说明：</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200" dirty="0" smtClean="0">
                <a:latin typeface="微软雅黑" panose="020B0503020204020204" pitchFamily="34" charset="-122"/>
                <a:ea typeface="微软雅黑" panose="020B0503020204020204" pitchFamily="34" charset="-122"/>
                <a:cs typeface="宋体" charset="0"/>
              </a:rPr>
              <a:t>condition</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err="1" smtClean="0">
                <a:latin typeface="微软雅黑" panose="020B0503020204020204" pitchFamily="34" charset="-122"/>
                <a:ea typeface="微软雅黑" panose="020B0503020204020204" pitchFamily="34" charset="-122"/>
                <a:cs typeface="宋体" charset="0"/>
              </a:rPr>
              <a:t>ip_loc</a:t>
            </a:r>
            <a:r>
              <a:rPr kumimoji="1" lang="zh-CN" altLang="en-US" sz="1200" dirty="0" smtClean="0">
                <a:latin typeface="微软雅黑" panose="020B0503020204020204" pitchFamily="34" charset="-122"/>
                <a:ea typeface="微软雅黑" panose="020B0503020204020204" pitchFamily="34" charset="-122"/>
                <a:cs typeface="宋体" charset="0"/>
              </a:rPr>
              <a:t>的值为</a:t>
            </a:r>
            <a:r>
              <a:rPr kumimoji="1" lang="en-US" altLang="zh-CN" sz="1200" dirty="0" smtClean="0">
                <a:latin typeface="微软雅黑" panose="020B0503020204020204" pitchFamily="34" charset="-122"/>
                <a:ea typeface="微软雅黑" panose="020B0503020204020204" pitchFamily="34" charset="-122"/>
                <a:cs typeface="宋体" charset="0"/>
              </a:rPr>
              <a:t>1</a:t>
            </a:r>
            <a:r>
              <a:rPr kumimoji="1" lang="zh-CN" altLang="en-US" sz="1200" dirty="0" smtClean="0">
                <a:latin typeface="微软雅黑" panose="020B0503020204020204" pitchFamily="34" charset="-122"/>
                <a:ea typeface="微软雅黑" panose="020B0503020204020204" pitchFamily="34" charset="-122"/>
                <a:cs typeface="宋体" charset="0"/>
              </a:rPr>
              <a:t>表示</a:t>
            </a:r>
            <a:r>
              <a:rPr kumimoji="1" lang="en-US" altLang="zh-CN" sz="1200" dirty="0" err="1" smtClean="0">
                <a:latin typeface="微软雅黑" panose="020B0503020204020204" pitchFamily="34" charset="-122"/>
                <a:ea typeface="微软雅黑" panose="020B0503020204020204" pitchFamily="34" charset="-122"/>
                <a:cs typeface="宋体" charset="0"/>
              </a:rPr>
              <a:t>dispip</a:t>
            </a:r>
            <a:r>
              <a:rPr kumimoji="1" lang="zh-CN" altLang="en-US" sz="1200" dirty="0" smtClean="0">
                <a:latin typeface="微软雅黑" panose="020B0503020204020204" pitchFamily="34" charset="-122"/>
                <a:ea typeface="微软雅黑" panose="020B0503020204020204" pitchFamily="34" charset="-122"/>
                <a:cs typeface="宋体" charset="0"/>
              </a:rPr>
              <a:t>与</a:t>
            </a:r>
            <a:r>
              <a:rPr kumimoji="1" lang="en-US" altLang="zh-CN" sz="1200" dirty="0" err="1" smtClean="0">
                <a:latin typeface="微软雅黑" panose="020B0503020204020204" pitchFamily="34" charset="-122"/>
                <a:ea typeface="微软雅黑" panose="020B0503020204020204" pitchFamily="34" charset="-122"/>
                <a:cs typeface="宋体" charset="0"/>
              </a:rPr>
              <a:t>clkip</a:t>
            </a:r>
            <a:r>
              <a:rPr kumimoji="1" lang="zh-CN" altLang="en-US" sz="1200" dirty="0" smtClean="0">
                <a:latin typeface="微软雅黑" panose="020B0503020204020204" pitchFamily="34" charset="-122"/>
                <a:ea typeface="微软雅黑" panose="020B0503020204020204" pitchFamily="34" charset="-122"/>
                <a:cs typeface="宋体" charset="0"/>
              </a:rPr>
              <a:t>所在省级地域一致，</a:t>
            </a:r>
            <a:r>
              <a:rPr kumimoji="1" lang="en-US" altLang="zh-CN" sz="1200" dirty="0" err="1" smtClean="0">
                <a:latin typeface="微软雅黑" panose="020B0503020204020204" pitchFamily="34" charset="-122"/>
                <a:ea typeface="微软雅黑" panose="020B0503020204020204" pitchFamily="34" charset="-122"/>
                <a:cs typeface="宋体" charset="0"/>
              </a:rPr>
              <a:t>gps_loc</a:t>
            </a:r>
            <a:r>
              <a:rPr kumimoji="1" lang="zh-CN" altLang="en-US" sz="1200" dirty="0">
                <a:latin typeface="微软雅黑" panose="020B0503020204020204" pitchFamily="34" charset="-122"/>
                <a:ea typeface="微软雅黑" panose="020B0503020204020204" pitchFamily="34" charset="-122"/>
                <a:cs typeface="宋体" charset="0"/>
              </a:rPr>
              <a:t>的值为</a:t>
            </a:r>
            <a:r>
              <a:rPr kumimoji="1" lang="en-US" altLang="zh-CN" sz="1200" dirty="0">
                <a:latin typeface="微软雅黑" panose="020B0503020204020204" pitchFamily="34" charset="-122"/>
                <a:ea typeface="微软雅黑" panose="020B0503020204020204" pitchFamily="34" charset="-122"/>
                <a:cs typeface="宋体" charset="0"/>
              </a:rPr>
              <a:t>1</a:t>
            </a:r>
            <a:r>
              <a:rPr kumimoji="1" lang="zh-CN" altLang="en-US" sz="1200" dirty="0" smtClean="0">
                <a:latin typeface="微软雅黑" panose="020B0503020204020204" pitchFamily="34" charset="-122"/>
                <a:ea typeface="微软雅黑" panose="020B0503020204020204" pitchFamily="34" charset="-122"/>
                <a:cs typeface="宋体" charset="0"/>
              </a:rPr>
              <a:t>表示一致</a:t>
            </a:r>
            <a:r>
              <a:rPr kumimoji="1" lang="zh-CN" altLang="en-US" sz="1200" dirty="0">
                <a:latin typeface="微软雅黑" panose="020B0503020204020204" pitchFamily="34" charset="-122"/>
                <a:ea typeface="微软雅黑" panose="020B0503020204020204" pitchFamily="34" charset="-122"/>
                <a:cs typeface="宋体" charset="0"/>
              </a:rPr>
              <a:t>或是</a:t>
            </a:r>
            <a:r>
              <a:rPr kumimoji="1" lang="en-US" altLang="zh-CN" sz="1200" dirty="0" err="1">
                <a:latin typeface="微软雅黑" panose="020B0503020204020204" pitchFamily="34" charset="-122"/>
                <a:ea typeface="微软雅黑" panose="020B0503020204020204" pitchFamily="34" charset="-122"/>
                <a:cs typeface="宋体" charset="0"/>
              </a:rPr>
              <a:t>gps</a:t>
            </a:r>
            <a:r>
              <a:rPr kumimoji="1" lang="zh-CN" altLang="en-US" sz="1200" dirty="0" smtClean="0">
                <a:latin typeface="微软雅黑" panose="020B0503020204020204" pitchFamily="34" charset="-122"/>
                <a:ea typeface="微软雅黑" panose="020B0503020204020204" pitchFamily="34" charset="-122"/>
                <a:cs typeface="宋体" charset="0"/>
              </a:rPr>
              <a:t>位置</a:t>
            </a:r>
            <a:r>
              <a:rPr kumimoji="1" lang="zh-CN" altLang="en-US" sz="1200" dirty="0">
                <a:latin typeface="微软雅黑" panose="020B0503020204020204" pitchFamily="34" charset="-122"/>
                <a:ea typeface="微软雅黑" panose="020B0503020204020204" pitchFamily="34" charset="-122"/>
                <a:cs typeface="宋体" charset="0"/>
              </a:rPr>
              <a:t>所在省级地域</a:t>
            </a:r>
            <a:r>
              <a:rPr kumimoji="1" lang="zh-CN" altLang="en-US" sz="1200" dirty="0" smtClean="0">
                <a:latin typeface="微软雅黑" panose="020B0503020204020204" pitchFamily="34" charset="-122"/>
                <a:ea typeface="微软雅黑" panose="020B0503020204020204" pitchFamily="34" charset="-122"/>
                <a:cs typeface="宋体" charset="0"/>
              </a:rPr>
              <a:t>一致</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针对凤巢广告且计费名不在</a:t>
            </a:r>
            <a:r>
              <a:rPr kumimoji="1" lang="en-US" altLang="zh-CN" sz="1200" dirty="0" err="1" smtClean="0">
                <a:latin typeface="微软雅黑" panose="020B0503020204020204" pitchFamily="34" charset="-122"/>
                <a:ea typeface="微软雅黑" panose="020B0503020204020204" pitchFamily="34" charset="-122"/>
                <a:cs typeface="宋体" charset="0"/>
              </a:rPr>
              <a:t>cnt.white</a:t>
            </a:r>
            <a:r>
              <a:rPr kumimoji="1" lang="zh-CN" altLang="en-US" sz="1200" dirty="0" smtClean="0">
                <a:latin typeface="微软雅黑" panose="020B0503020204020204" pitchFamily="34" charset="-122"/>
                <a:ea typeface="微软雅黑" panose="020B0503020204020204" pitchFamily="34" charset="-122"/>
                <a:cs typeface="宋体" charset="0"/>
              </a:rPr>
              <a:t>白名单、点击</a:t>
            </a:r>
            <a:r>
              <a:rPr kumimoji="1" lang="en-US" altLang="zh-CN" sz="1200" dirty="0" err="1" smtClean="0">
                <a:latin typeface="微软雅黑" panose="020B0503020204020204" pitchFamily="34" charset="-122"/>
                <a:ea typeface="微软雅黑" panose="020B0503020204020204" pitchFamily="34" charset="-122"/>
                <a:cs typeface="宋体" charset="0"/>
              </a:rPr>
              <a:t>ip</a:t>
            </a:r>
            <a:r>
              <a:rPr kumimoji="1" lang="zh-CN" altLang="en-US" sz="1200" dirty="0" smtClean="0">
                <a:latin typeface="微软雅黑" panose="020B0503020204020204" pitchFamily="34" charset="-122"/>
                <a:ea typeface="微软雅黑" panose="020B0503020204020204" pitchFamily="34" charset="-122"/>
                <a:cs typeface="宋体" charset="0"/>
              </a:rPr>
              <a:t>不在</a:t>
            </a:r>
            <a:r>
              <a:rPr kumimoji="1" lang="en-US" altLang="zh-CN" sz="1200" dirty="0" err="1" smtClean="0">
                <a:latin typeface="微软雅黑" panose="020B0503020204020204" pitchFamily="34" charset="-122"/>
                <a:ea typeface="微软雅黑" panose="020B0503020204020204" pitchFamily="34" charset="-122"/>
                <a:cs typeface="宋体" charset="0"/>
              </a:rPr>
              <a:t>proxy_ip_white</a:t>
            </a:r>
            <a:r>
              <a:rPr kumimoji="1" lang="zh-CN" altLang="en-US" sz="1200" dirty="0">
                <a:latin typeface="微软雅黑" panose="020B0503020204020204" pitchFamily="34" charset="-122"/>
                <a:ea typeface="微软雅黑" panose="020B0503020204020204" pitchFamily="34" charset="-122"/>
                <a:cs typeface="宋体" charset="0"/>
              </a:rPr>
              <a:t>白</a:t>
            </a:r>
            <a:r>
              <a:rPr kumimoji="1" lang="zh-CN" altLang="en-US" sz="1200" dirty="0" smtClean="0">
                <a:latin typeface="微软雅黑" panose="020B0503020204020204" pitchFamily="34" charset="-122"/>
                <a:ea typeface="微软雅黑" panose="020B0503020204020204" pitchFamily="34" charset="-122"/>
                <a:cs typeface="宋体" charset="0"/>
              </a:rPr>
              <a:t>名单中的日志，如果</a:t>
            </a:r>
            <a:r>
              <a:rPr kumimoji="1" lang="en-US" altLang="zh-CN" sz="1200" dirty="0" err="1" smtClean="0">
                <a:latin typeface="微软雅黑" panose="020B0503020204020204" pitchFamily="34" charset="-122"/>
                <a:ea typeface="微软雅黑" panose="020B0503020204020204" pitchFamily="34" charset="-122"/>
                <a:cs typeface="宋体" charset="0"/>
              </a:rPr>
              <a:t>gps_loc</a:t>
            </a:r>
            <a:r>
              <a:rPr kumimoji="1" lang="zh-CN" altLang="en-US" sz="1200" dirty="0" smtClean="0">
                <a:latin typeface="微软雅黑" panose="020B0503020204020204" pitchFamily="34" charset="-122"/>
                <a:ea typeface="微软雅黑" panose="020B0503020204020204" pitchFamily="34" charset="-122"/>
                <a:cs typeface="宋体" charset="0"/>
              </a:rPr>
              <a:t>为</a:t>
            </a:r>
            <a:r>
              <a:rPr kumimoji="1" lang="en-US" altLang="zh-CN" sz="1200" dirty="0" smtClean="0">
                <a:latin typeface="微软雅黑" panose="020B0503020204020204" pitchFamily="34" charset="-122"/>
                <a:ea typeface="微软雅黑" panose="020B0503020204020204" pitchFamily="34" charset="-122"/>
                <a:cs typeface="宋体" charset="0"/>
              </a:rPr>
              <a:t>0</a:t>
            </a:r>
            <a:r>
              <a:rPr kumimoji="1" lang="zh-CN" altLang="en-US" sz="1200" dirty="0" smtClean="0">
                <a:latin typeface="微软雅黑" panose="020B0503020204020204" pitchFamily="34" charset="-122"/>
                <a:ea typeface="微软雅黑" panose="020B0503020204020204" pitchFamily="34" charset="-122"/>
                <a:cs typeface="宋体" charset="0"/>
              </a:rPr>
              <a:t>并且</a:t>
            </a:r>
            <a:r>
              <a:rPr kumimoji="1" lang="en-US" altLang="zh-CN" sz="1200" dirty="0" err="1" smtClean="0">
                <a:latin typeface="微软雅黑" panose="020B0503020204020204" pitchFamily="34" charset="-122"/>
                <a:ea typeface="微软雅黑" panose="020B0503020204020204" pitchFamily="34" charset="-122"/>
                <a:cs typeface="宋体" charset="0"/>
              </a:rPr>
              <a:t>ip_loc</a:t>
            </a:r>
            <a:r>
              <a:rPr kumimoji="1" lang="zh-CN" altLang="en-US" sz="1200" dirty="0" smtClean="0">
                <a:latin typeface="微软雅黑" panose="020B0503020204020204" pitchFamily="34" charset="-122"/>
                <a:ea typeface="微软雅黑" panose="020B0503020204020204" pitchFamily="34" charset="-122"/>
                <a:cs typeface="宋体" charset="0"/>
              </a:rPr>
              <a:t>不为</a:t>
            </a:r>
            <a:r>
              <a:rPr kumimoji="1" lang="en-US" altLang="zh-CN" sz="1200" dirty="0" smtClean="0">
                <a:latin typeface="微软雅黑" panose="020B0503020204020204" pitchFamily="34" charset="-122"/>
                <a:ea typeface="微软雅黑" panose="020B0503020204020204" pitchFamily="34" charset="-122"/>
                <a:cs typeface="宋体" charset="0"/>
              </a:rPr>
              <a:t>1</a:t>
            </a:r>
            <a:r>
              <a:rPr kumimoji="1" lang="zh-CN" altLang="en-US" sz="1200" dirty="0" smtClean="0">
                <a:latin typeface="微软雅黑" panose="020B0503020204020204" pitchFamily="34" charset="-122"/>
                <a:ea typeface="微软雅黑" panose="020B0503020204020204" pitchFamily="34" charset="-122"/>
                <a:cs typeface="宋体" charset="0"/>
              </a:rPr>
              <a:t>，或者</a:t>
            </a:r>
            <a:r>
              <a:rPr kumimoji="1" lang="en-US" altLang="zh-CN" sz="1200" dirty="0" err="1" smtClean="0">
                <a:latin typeface="微软雅黑" panose="020B0503020204020204" pitchFamily="34" charset="-122"/>
                <a:ea typeface="微软雅黑" panose="020B0503020204020204" pitchFamily="34" charset="-122"/>
                <a:cs typeface="宋体" charset="0"/>
              </a:rPr>
              <a:t>gps_loc</a:t>
            </a:r>
            <a:r>
              <a:rPr kumimoji="1" lang="zh-CN" altLang="en-US" sz="1200" dirty="0" smtClean="0">
                <a:latin typeface="微软雅黑" panose="020B0503020204020204" pitchFamily="34" charset="-122"/>
                <a:ea typeface="微软雅黑" panose="020B0503020204020204" pitchFamily="34" charset="-122"/>
                <a:cs typeface="宋体" charset="0"/>
              </a:rPr>
              <a:t>值无效并且</a:t>
            </a:r>
            <a:r>
              <a:rPr kumimoji="1" lang="en-US" altLang="zh-CN" sz="1200" dirty="0" err="1" smtClean="0">
                <a:latin typeface="微软雅黑" panose="020B0503020204020204" pitchFamily="34" charset="-122"/>
                <a:ea typeface="微软雅黑" panose="020B0503020204020204" pitchFamily="34" charset="-122"/>
                <a:cs typeface="宋体" charset="0"/>
              </a:rPr>
              <a:t>ip_loc</a:t>
            </a:r>
            <a:r>
              <a:rPr kumimoji="1" lang="zh-CN" altLang="en-US" sz="1200" dirty="0" smtClean="0">
                <a:latin typeface="微软雅黑" panose="020B0503020204020204" pitchFamily="34" charset="-122"/>
                <a:ea typeface="微软雅黑" panose="020B0503020204020204" pitchFamily="34" charset="-122"/>
                <a:cs typeface="宋体" charset="0"/>
              </a:rPr>
              <a:t>为</a:t>
            </a:r>
            <a:r>
              <a:rPr kumimoji="1" lang="en-US" altLang="zh-CN" sz="1200" dirty="0" smtClean="0">
                <a:latin typeface="微软雅黑" panose="020B0503020204020204" pitchFamily="34" charset="-122"/>
                <a:ea typeface="微软雅黑" panose="020B0503020204020204" pitchFamily="34" charset="-122"/>
                <a:cs typeface="宋体" charset="0"/>
              </a:rPr>
              <a:t>0</a:t>
            </a:r>
            <a:r>
              <a:rPr kumimoji="1" lang="zh-CN" altLang="en-US" sz="1200" dirty="0" smtClean="0">
                <a:latin typeface="微软雅黑" panose="020B0503020204020204" pitchFamily="34" charset="-122"/>
                <a:ea typeface="微软雅黑" panose="020B0503020204020204" pitchFamily="34" charset="-122"/>
                <a:cs typeface="宋体" charset="0"/>
              </a:rPr>
              <a:t>，则该日志被</a:t>
            </a:r>
            <a:r>
              <a:rPr kumimoji="1" lang="en-US" altLang="zh-CN" sz="1200" dirty="0" smtClean="0">
                <a:latin typeface="微软雅黑" panose="020B0503020204020204" pitchFamily="34" charset="-122"/>
                <a:ea typeface="微软雅黑" panose="020B0503020204020204" pitchFamily="34" charset="-122"/>
                <a:cs typeface="宋体" charset="0"/>
              </a:rPr>
              <a:t>10001</a:t>
            </a:r>
            <a:r>
              <a:rPr kumimoji="1" lang="zh-CN" altLang="en-US" sz="1200" dirty="0" smtClean="0">
                <a:latin typeface="微软雅黑" panose="020B0503020204020204" pitchFamily="34" charset="-122"/>
                <a:ea typeface="微软雅黑" panose="020B0503020204020204" pitchFamily="34" charset="-122"/>
                <a:cs typeface="宋体" charset="0"/>
              </a:rPr>
              <a:t>策略命中。</a:t>
            </a:r>
            <a:endParaRPr kumimoji="1" lang="en-US" altLang="zh-CN" sz="1200" dirty="0" smtClean="0">
              <a:latin typeface="微软雅黑" panose="020B0503020204020204" pitchFamily="34" charset="-122"/>
              <a:ea typeface="微软雅黑" panose="020B0503020204020204" pitchFamily="34" charset="-122"/>
              <a:cs typeface="宋体" charset="0"/>
            </a:endParaRPr>
          </a:p>
        </p:txBody>
      </p:sp>
      <p:sp>
        <p:nvSpPr>
          <p:cNvPr id="2" name="矩形 1"/>
          <p:cNvSpPr/>
          <p:nvPr/>
        </p:nvSpPr>
        <p:spPr>
          <a:xfrm>
            <a:off x="5108171" y="1258233"/>
            <a:ext cx="3932798" cy="3416320"/>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  10001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10001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boolean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condition   : true</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[@feature]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10001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carespace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click_level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a:t>
            </a:r>
            <a:r>
              <a:rPr lang="en-US" altLang="zh-CN" sz="1200" dirty="0" err="1">
                <a:solidFill>
                  <a:srgbClr val="33CC33"/>
                </a:solidFill>
                <a:latin typeface="Times New Roman" panose="02020603050405020304" charset="0"/>
                <a:cs typeface="Times New Roman" panose="02020603050405020304" charset="0"/>
              </a:rPr>
              <a:t>accessid</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 ['</a:t>
            </a:r>
            <a:r>
              <a:rPr lang="en-US" altLang="zh-CN" sz="1200" dirty="0" err="1">
                <a:solidFill>
                  <a:srgbClr val="33CC33"/>
                </a:solidFill>
                <a:latin typeface="Times New Roman" panose="02020603050405020304" charset="0"/>
                <a:cs typeface="Times New Roman" panose="02020603050405020304" charset="0"/>
              </a:rPr>
              <a:t>accessid</a:t>
            </a:r>
            <a:r>
              <a:rPr lang="en-US" altLang="zh-CN" sz="1200" dirty="0">
                <a:solidFill>
                  <a:srgbClr val="33CC33"/>
                </a:solidFill>
                <a:latin typeface="Times New Roman" panose="02020603050405020304" charset="0"/>
                <a:cs typeface="Times New Roman" panose="02020603050405020304" charset="0"/>
              </a:rPr>
              <a:t>':='1','29','30','31','36','37','1001','1002','1003','1004']['</a:t>
            </a:r>
            <a:r>
              <a:rPr lang="en-US" altLang="zh-CN" sz="1200" dirty="0" err="1">
                <a:solidFill>
                  <a:srgbClr val="33CC33"/>
                </a:solidFill>
                <a:latin typeface="Times New Roman" panose="02020603050405020304" charset="0"/>
                <a:cs typeface="Times New Roman" panose="02020603050405020304" charset="0"/>
              </a:rPr>
              <a:t>cntname'NI'cnt.white</a:t>
            </a:r>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clkip'NI'proxy_ip_white</a:t>
            </a:r>
            <a:r>
              <a:rPr lang="en-US" altLang="zh-CN" sz="1200" dirty="0">
                <a:solidFill>
                  <a:srgbClr val="33CC33"/>
                </a:solidFill>
                <a:latin typeface="Times New Roman" panose="02020603050405020304" charset="0"/>
                <a:cs typeface="Times New Roman" panose="02020603050405020304" charset="0"/>
              </a:rPr>
              <a:t>']</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condition    : ['</a:t>
            </a:r>
            <a:r>
              <a:rPr lang="en-US" altLang="zh-CN" sz="1200" dirty="0" err="1">
                <a:solidFill>
                  <a:srgbClr val="33CC33"/>
                </a:solidFill>
                <a:latin typeface="Times New Roman" panose="02020603050405020304" charset="0"/>
                <a:cs typeface="Times New Roman" panose="02020603050405020304" charset="0"/>
              </a:rPr>
              <a:t>ip_loc</a:t>
            </a:r>
            <a:r>
              <a:rPr lang="en-US" altLang="zh-CN" sz="1200" dirty="0">
                <a:solidFill>
                  <a:srgbClr val="33CC33"/>
                </a:solidFill>
                <a:latin typeface="Times New Roman" panose="02020603050405020304" charset="0"/>
                <a:cs typeface="Times New Roman" panose="02020603050405020304" charset="0"/>
              </a:rPr>
              <a:t>'!='1']['</a:t>
            </a:r>
            <a:r>
              <a:rPr lang="en-US" altLang="zh-CN" sz="1200" dirty="0" err="1">
                <a:solidFill>
                  <a:srgbClr val="33CC33"/>
                </a:solidFill>
                <a:latin typeface="Times New Roman" panose="02020603050405020304" charset="0"/>
                <a:cs typeface="Times New Roman" panose="02020603050405020304" charset="0"/>
              </a:rPr>
              <a:t>gps_loc</a:t>
            </a:r>
            <a:r>
              <a:rPr lang="en-US" altLang="zh-CN" sz="1200" dirty="0">
                <a:solidFill>
                  <a:srgbClr val="33CC33"/>
                </a:solidFill>
                <a:latin typeface="Times New Roman" panose="02020603050405020304" charset="0"/>
                <a:cs typeface="Times New Roman" panose="02020603050405020304" charset="0"/>
              </a:rPr>
              <a:t>':='0']||['</a:t>
            </a:r>
            <a:r>
              <a:rPr lang="en-US" altLang="zh-CN" sz="1200" dirty="0" err="1">
                <a:solidFill>
                  <a:srgbClr val="33CC33"/>
                </a:solidFill>
                <a:latin typeface="Times New Roman" panose="02020603050405020304" charset="0"/>
                <a:cs typeface="Times New Roman" panose="02020603050405020304" charset="0"/>
              </a:rPr>
              <a:t>ip_loc</a:t>
            </a:r>
            <a:r>
              <a:rPr lang="en-US" altLang="zh-CN" sz="1200" dirty="0">
                <a:solidFill>
                  <a:srgbClr val="33CC33"/>
                </a:solidFill>
                <a:latin typeface="Times New Roman" panose="02020603050405020304" charset="0"/>
                <a:cs typeface="Times New Roman" panose="02020603050405020304" charset="0"/>
              </a:rPr>
              <a:t>':='0']['</a:t>
            </a:r>
            <a:r>
              <a:rPr lang="en-US" altLang="zh-CN" sz="1200" dirty="0" err="1">
                <a:solidFill>
                  <a:srgbClr val="33CC33"/>
                </a:solidFill>
                <a:latin typeface="Times New Roman" panose="02020603050405020304" charset="0"/>
                <a:cs typeface="Times New Roman" panose="02020603050405020304" charset="0"/>
              </a:rPr>
              <a:t>gps_loc'IV</a:t>
            </a:r>
            <a:r>
              <a:rPr lang="en-US" altLang="zh-CN" sz="1200" dirty="0">
                <a:solidFill>
                  <a:srgbClr val="33CC33"/>
                </a:solidFill>
                <a:latin typeface="Times New Roman" panose="02020603050405020304" charset="0"/>
                <a:cs typeface="Times New Roman" panose="02020603050405020304" charset="0"/>
              </a:rPr>
              <a:t>]</a:t>
            </a:r>
            <a:endParaRPr lang="en-US" altLang="zh-CN" sz="1200" dirty="0">
              <a:solidFill>
                <a:srgbClr val="33CC33"/>
              </a:solidFill>
              <a:latin typeface="Times New Roman" panose="02020603050405020304" charset="0"/>
              <a:cs typeface="Times New Roman" panose="02020603050405020304" charset="0"/>
            </a:endParaRPr>
          </a:p>
        </p:txBody>
      </p:sp>
      <p:sp>
        <p:nvSpPr>
          <p:cNvPr id="7" name="文本框 6"/>
          <p:cNvSpPr txBox="1"/>
          <p:nvPr/>
        </p:nvSpPr>
        <p:spPr>
          <a:xfrm>
            <a:off x="5537870" y="981234"/>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10001</a:t>
            </a:r>
            <a:r>
              <a:rPr lang="zh-CN" altLang="en-US" sz="1200" dirty="0" smtClean="0">
                <a:latin typeface="微软雅黑" panose="020B0503020204020204" pitchFamily="34" charset="-122"/>
                <a:ea typeface="微软雅黑" panose="020B0503020204020204" pitchFamily="34" charset="-122"/>
              </a:rPr>
              <a:t>策略相关配置文件</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161443"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处理空间类策略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3"/>
            <a:ext cx="4307741" cy="4140667"/>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爬虫</a:t>
            </a:r>
            <a:r>
              <a:rPr kumimoji="1" lang="en-US" altLang="zh-CN" sz="1800" dirty="0" err="1" smtClean="0">
                <a:latin typeface="微软雅黑" panose="020B0503020204020204" pitchFamily="34" charset="-122"/>
                <a:ea typeface="微软雅黑" panose="020B0503020204020204" pitchFamily="34" charset="-122"/>
                <a:cs typeface="宋体" charset="0"/>
              </a:rPr>
              <a:t>ua</a:t>
            </a:r>
            <a:r>
              <a:rPr kumimoji="1" lang="zh-CN" altLang="en-US" sz="1800" dirty="0" smtClean="0">
                <a:latin typeface="微软雅黑" panose="020B0503020204020204" pitchFamily="34" charset="-122"/>
                <a:ea typeface="微软雅黑" panose="020B0503020204020204" pitchFamily="34" charset="-122"/>
                <a:cs typeface="宋体" charset="0"/>
              </a:rPr>
              <a:t>过滤策略</a:t>
            </a:r>
            <a:r>
              <a:rPr kumimoji="1" lang="en-US" altLang="zh-CN" sz="1800" dirty="0" smtClean="0">
                <a:latin typeface="微软雅黑" panose="020B0503020204020204" pitchFamily="34" charset="-122"/>
                <a:ea typeface="微软雅黑" panose="020B0503020204020204" pitchFamily="34" charset="-122"/>
                <a:cs typeface="宋体" charset="0"/>
              </a:rPr>
              <a:t>(1601)</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策略背景：</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如</a:t>
            </a:r>
            <a:r>
              <a:rPr kumimoji="1" lang="en-US" altLang="zh-CN" sz="1200" dirty="0" err="1" smtClean="0">
                <a:latin typeface="微软雅黑" panose="020B0503020204020204" pitchFamily="34" charset="-122"/>
                <a:ea typeface="微软雅黑" panose="020B0503020204020204" pitchFamily="34" charset="-122"/>
                <a:cs typeface="宋体" charset="0"/>
              </a:rPr>
              <a:t>ua</a:t>
            </a:r>
            <a:r>
              <a:rPr kumimoji="1" lang="zh-CN" altLang="en-US" sz="1200" dirty="0" smtClean="0">
                <a:latin typeface="微软雅黑" panose="020B0503020204020204" pitchFamily="34" charset="-122"/>
                <a:ea typeface="微软雅黑" panose="020B0503020204020204" pitchFamily="34" charset="-122"/>
                <a:cs typeface="宋体" charset="0"/>
              </a:rPr>
              <a:t>黑名单策略一样，处理空间类策略一样能实现过滤特定的</a:t>
            </a:r>
            <a:r>
              <a:rPr kumimoji="1" lang="en-US" altLang="zh-CN" sz="1200" dirty="0" err="1" smtClean="0">
                <a:latin typeface="微软雅黑" panose="020B0503020204020204" pitchFamily="34" charset="-122"/>
                <a:ea typeface="微软雅黑" panose="020B0503020204020204" pitchFamily="34" charset="-122"/>
                <a:cs typeface="宋体" charset="0"/>
              </a:rPr>
              <a:t>ua</a:t>
            </a:r>
            <a:r>
              <a:rPr kumimoji="1" lang="zh-CN" altLang="en-US" sz="1200" dirty="0" smtClean="0">
                <a:latin typeface="微软雅黑" panose="020B0503020204020204" pitchFamily="34" charset="-122"/>
                <a:ea typeface="微软雅黑" panose="020B0503020204020204" pitchFamily="34" charset="-122"/>
                <a:cs typeface="宋体" charset="0"/>
              </a:rPr>
              <a:t>。</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800" dirty="0" smtClean="0">
                <a:latin typeface="微软雅黑" panose="020B0503020204020204" pitchFamily="34" charset="-122"/>
                <a:ea typeface="微软雅黑" panose="020B0503020204020204" pitchFamily="34" charset="-122"/>
                <a:cs typeface="宋体" charset="0"/>
              </a:rPr>
              <a:t>参数说明：</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200" dirty="0" smtClean="0">
                <a:latin typeface="微软雅黑" panose="020B0503020204020204" pitchFamily="34" charset="-122"/>
                <a:ea typeface="微软雅黑" panose="020B0503020204020204" pitchFamily="34" charset="-122"/>
                <a:cs typeface="宋体" charset="0"/>
              </a:rPr>
              <a:t>condition</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err="1" smtClean="0">
                <a:latin typeface="微软雅黑" panose="020B0503020204020204" pitchFamily="34" charset="-122"/>
                <a:ea typeface="微软雅黑" panose="020B0503020204020204" pitchFamily="34" charset="-122"/>
                <a:cs typeface="宋体" charset="0"/>
              </a:rPr>
              <a:t>useragent</a:t>
            </a:r>
            <a:r>
              <a:rPr kumimoji="1" lang="zh-CN" altLang="en-US" sz="1200" dirty="0" smtClean="0">
                <a:latin typeface="微软雅黑" panose="020B0503020204020204" pitchFamily="34" charset="-122"/>
                <a:ea typeface="微软雅黑" panose="020B0503020204020204" pitchFamily="34" charset="-122"/>
                <a:cs typeface="宋体" charset="0"/>
              </a:rPr>
              <a:t>在</a:t>
            </a:r>
            <a:r>
              <a:rPr kumimoji="1" lang="en-US" altLang="zh-CN" sz="1200" dirty="0" smtClean="0">
                <a:latin typeface="微软雅黑" panose="020B0503020204020204" pitchFamily="34" charset="-122"/>
                <a:ea typeface="微软雅黑" panose="020B0503020204020204" pitchFamily="34" charset="-122"/>
                <a:cs typeface="宋体" charset="0"/>
              </a:rPr>
              <a:t>[</a:t>
            </a:r>
            <a:r>
              <a:rPr lang="en-US" altLang="zh-CN" sz="1200" dirty="0" smtClean="0">
                <a:latin typeface="Times New Roman" panose="02020603050405020304" charset="0"/>
                <a:cs typeface="Times New Roman" panose="02020603050405020304" charset="0"/>
              </a:rPr>
              <a:t>‘RAL/2.0.17 </a:t>
            </a:r>
            <a:r>
              <a:rPr lang="en-US" altLang="zh-CN" sz="1200" dirty="0">
                <a:latin typeface="Times New Roman" panose="02020603050405020304" charset="0"/>
                <a:cs typeface="Times New Roman" panose="02020603050405020304" charset="0"/>
              </a:rPr>
              <a:t>(internal request</a:t>
            </a:r>
            <a:r>
              <a:rPr lang="en-US" altLang="zh-CN" sz="1200" dirty="0" smtClean="0">
                <a:latin typeface="Times New Roman" panose="02020603050405020304" charset="0"/>
                <a:cs typeface="Times New Roman" panose="02020603050405020304" charset="0"/>
              </a:rPr>
              <a:t>)’,‘Mozilla/5.0(</a:t>
            </a:r>
            <a:r>
              <a:rPr lang="en-US" altLang="zh-CN" sz="1200" dirty="0" err="1" smtClean="0">
                <a:latin typeface="Times New Roman" panose="02020603050405020304" charset="0"/>
                <a:cs typeface="Times New Roman" panose="02020603050405020304" charset="0"/>
              </a:rPr>
              <a:t>compatible;MSIE</a:t>
            </a:r>
            <a:r>
              <a:rPr lang="en-US" altLang="zh-CN" sz="1200" dirty="0" smtClean="0">
                <a:latin typeface="Times New Roman" panose="02020603050405020304" charset="0"/>
                <a:cs typeface="Times New Roman" panose="02020603050405020304" charset="0"/>
              </a:rPr>
              <a:t>/6.0+http</a:t>
            </a:r>
            <a:r>
              <a:rPr lang="en-US" altLang="zh-CN" sz="1200" dirty="0">
                <a:latin typeface="Times New Roman" panose="02020603050405020304" charset="0"/>
                <a:cs typeface="Times New Roman" panose="02020603050405020304" charset="0"/>
              </a:rPr>
              <a:t>://www.myspace.com</a:t>
            </a:r>
            <a:r>
              <a:rPr lang="en-US" altLang="zh-CN" sz="1200" dirty="0" smtClean="0">
                <a:latin typeface="Times New Roman" panose="02020603050405020304" charset="0"/>
                <a:cs typeface="Times New Roman" panose="02020603050405020304" charset="0"/>
              </a:rPr>
              <a:t>)‘]</a:t>
            </a:r>
            <a:r>
              <a:rPr lang="zh-CN" altLang="en-US" sz="1200" dirty="0">
                <a:latin typeface="微软雅黑" panose="020B0503020204020204" pitchFamily="34" charset="-122"/>
                <a:ea typeface="微软雅黑" panose="020B0503020204020204" pitchFamily="34" charset="-122"/>
                <a:cs typeface="Times New Roman" panose="02020603050405020304" charset="0"/>
              </a:rPr>
              <a:t>内</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针对凤巢贴吧广告或者原生广告，如果</a:t>
            </a:r>
            <a:r>
              <a:rPr kumimoji="1" lang="en-US" altLang="zh-CN" sz="1200" dirty="0" smtClean="0">
                <a:latin typeface="微软雅黑" panose="020B0503020204020204" pitchFamily="34" charset="-122"/>
                <a:ea typeface="微软雅黑" panose="020B0503020204020204" pitchFamily="34" charset="-122"/>
                <a:cs typeface="宋体" charset="0"/>
              </a:rPr>
              <a:t>UA</a:t>
            </a:r>
            <a:r>
              <a:rPr kumimoji="1" lang="zh-CN" altLang="en-US" sz="1200" dirty="0" smtClean="0">
                <a:latin typeface="微软雅黑" panose="020B0503020204020204" pitchFamily="34" charset="-122"/>
                <a:ea typeface="微软雅黑" panose="020B0503020204020204" pitchFamily="34" charset="-122"/>
                <a:cs typeface="宋体" charset="0"/>
              </a:rPr>
              <a:t>为</a:t>
            </a:r>
            <a:r>
              <a:rPr kumimoji="1" lang="en-US" altLang="zh-CN" sz="1200" dirty="0">
                <a:latin typeface="微软雅黑" panose="020B0503020204020204" pitchFamily="34" charset="-122"/>
                <a:ea typeface="微软雅黑" panose="020B0503020204020204" pitchFamily="34" charset="-122"/>
                <a:cs typeface="宋体" charset="0"/>
              </a:rPr>
              <a:t>RAL/2.0.17 (internal request</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zh-CN" altLang="en-US" sz="1200" dirty="0" smtClean="0">
                <a:latin typeface="微软雅黑" panose="020B0503020204020204" pitchFamily="34" charset="-122"/>
                <a:ea typeface="微软雅黑" panose="020B0503020204020204" pitchFamily="34" charset="-122"/>
                <a:cs typeface="宋体" charset="0"/>
              </a:rPr>
              <a:t>或</a:t>
            </a:r>
            <a:r>
              <a:rPr kumimoji="1" lang="en-US" altLang="zh-CN" sz="1200" dirty="0">
                <a:latin typeface="微软雅黑" panose="020B0503020204020204" pitchFamily="34" charset="-122"/>
                <a:ea typeface="微软雅黑" panose="020B0503020204020204" pitchFamily="34" charset="-122"/>
                <a:cs typeface="宋体" charset="0"/>
              </a:rPr>
              <a:t>Mozilla/5.0(</a:t>
            </a:r>
            <a:r>
              <a:rPr kumimoji="1" lang="en-US" altLang="zh-CN" sz="1200" dirty="0" err="1">
                <a:latin typeface="微软雅黑" panose="020B0503020204020204" pitchFamily="34" charset="-122"/>
                <a:ea typeface="微软雅黑" panose="020B0503020204020204" pitchFamily="34" charset="-122"/>
                <a:cs typeface="宋体" charset="0"/>
              </a:rPr>
              <a:t>compatible;MSIE</a:t>
            </a:r>
            <a:r>
              <a:rPr kumimoji="1" lang="en-US" altLang="zh-CN" sz="1200" dirty="0">
                <a:latin typeface="微软雅黑" panose="020B0503020204020204" pitchFamily="34" charset="-122"/>
                <a:ea typeface="微软雅黑" panose="020B0503020204020204" pitchFamily="34" charset="-122"/>
                <a:cs typeface="宋体" charset="0"/>
              </a:rPr>
              <a:t>/6.0+http://</a:t>
            </a:r>
            <a:r>
              <a:rPr kumimoji="1" lang="en-US" altLang="zh-CN" sz="1200" dirty="0" smtClean="0">
                <a:latin typeface="微软雅黑" panose="020B0503020204020204" pitchFamily="34" charset="-122"/>
                <a:ea typeface="微软雅黑" panose="020B0503020204020204" pitchFamily="34" charset="-122"/>
                <a:cs typeface="宋体" charset="0"/>
              </a:rPr>
              <a:t>www.myspace.com)</a:t>
            </a:r>
            <a:r>
              <a:rPr kumimoji="1" lang="zh-CN" altLang="en-US" sz="1200" dirty="0" smtClean="0">
                <a:latin typeface="微软雅黑" panose="020B0503020204020204" pitchFamily="34" charset="-122"/>
                <a:ea typeface="微软雅黑" panose="020B0503020204020204" pitchFamily="34" charset="-122"/>
                <a:cs typeface="宋体" charset="0"/>
              </a:rPr>
              <a:t>，则该日志被策略命中。</a:t>
            </a:r>
            <a:endParaRPr kumimoji="1" lang="en-US" altLang="zh-CN" sz="1200" dirty="0" smtClean="0">
              <a:latin typeface="微软雅黑" panose="020B0503020204020204" pitchFamily="34" charset="-122"/>
              <a:ea typeface="微软雅黑" panose="020B0503020204020204" pitchFamily="34" charset="-122"/>
              <a:cs typeface="宋体" charset="0"/>
            </a:endParaRPr>
          </a:p>
        </p:txBody>
      </p:sp>
      <p:sp>
        <p:nvSpPr>
          <p:cNvPr id="2" name="矩形 1"/>
          <p:cNvSpPr/>
          <p:nvPr/>
        </p:nvSpPr>
        <p:spPr>
          <a:xfrm>
            <a:off x="5108171" y="1258233"/>
            <a:ext cx="3932798" cy="3600986"/>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  1601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1601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boolean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condition   : true</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[@feature]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1601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carespace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click_level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a:t>
            </a:r>
            <a:r>
              <a:rPr lang="en-US" altLang="zh-CN" sz="1200" dirty="0" err="1">
                <a:solidFill>
                  <a:srgbClr val="33CC33"/>
                </a:solidFill>
                <a:latin typeface="Times New Roman" panose="02020603050405020304" charset="0"/>
                <a:cs typeface="Times New Roman" panose="02020603050405020304" charset="0"/>
              </a:rPr>
              <a:t>useragent</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 ['</a:t>
            </a:r>
            <a:r>
              <a:rPr lang="en-US" altLang="zh-CN" sz="1200" dirty="0" err="1">
                <a:solidFill>
                  <a:srgbClr val="33CC33"/>
                </a:solidFill>
                <a:latin typeface="Times New Roman" panose="02020603050405020304" charset="0"/>
                <a:cs typeface="Times New Roman" panose="02020603050405020304" charset="0"/>
              </a:rPr>
              <a:t>accessid</a:t>
            </a:r>
            <a:r>
              <a:rPr lang="en-US" altLang="zh-CN" sz="1200" dirty="0">
                <a:solidFill>
                  <a:srgbClr val="33CC33"/>
                </a:solidFill>
                <a:latin typeface="Times New Roman" panose="02020603050405020304" charset="0"/>
                <a:cs typeface="Times New Roman" panose="02020603050405020304" charset="0"/>
              </a:rPr>
              <a:t>':='1','31','36','37','1001','1002','1003','1004']['</a:t>
            </a:r>
            <a:r>
              <a:rPr lang="en-US" altLang="zh-CN" sz="1200" dirty="0" err="1">
                <a:solidFill>
                  <a:srgbClr val="33CC33"/>
                </a:solidFill>
                <a:latin typeface="Times New Roman" panose="02020603050405020304" charset="0"/>
                <a:cs typeface="Times New Roman" panose="02020603050405020304" charset="0"/>
              </a:rPr>
              <a:t>cmatch</a:t>
            </a:r>
            <a:r>
              <a:rPr lang="en-US" altLang="zh-CN" sz="1200" dirty="0">
                <a:solidFill>
                  <a:srgbClr val="33CC33"/>
                </a:solidFill>
                <a:latin typeface="Times New Roman" panose="02020603050405020304" charset="0"/>
                <a:cs typeface="Times New Roman" panose="02020603050405020304" charset="0"/>
              </a:rPr>
              <a:t>':='313']||['</a:t>
            </a:r>
            <a:r>
              <a:rPr lang="en-US" altLang="zh-CN" sz="1200" dirty="0" err="1">
                <a:solidFill>
                  <a:srgbClr val="33CC33"/>
                </a:solidFill>
                <a:latin typeface="Times New Roman" panose="02020603050405020304" charset="0"/>
                <a:cs typeface="Times New Roman" panose="02020603050405020304" charset="0"/>
              </a:rPr>
              <a:t>accessid</a:t>
            </a:r>
            <a:r>
              <a:rPr lang="en-US" altLang="zh-CN" sz="1200" dirty="0">
                <a:solidFill>
                  <a:srgbClr val="33CC33"/>
                </a:solidFill>
                <a:latin typeface="Times New Roman" panose="02020603050405020304" charset="0"/>
                <a:cs typeface="Times New Roman" panose="02020603050405020304" charset="0"/>
              </a:rPr>
              <a:t>':='30']</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condition    : ['</a:t>
            </a:r>
            <a:r>
              <a:rPr lang="en-US" altLang="zh-CN" sz="1200" dirty="0" err="1">
                <a:solidFill>
                  <a:srgbClr val="33CC33"/>
                </a:solidFill>
                <a:latin typeface="Times New Roman" panose="02020603050405020304" charset="0"/>
                <a:cs typeface="Times New Roman" panose="02020603050405020304" charset="0"/>
              </a:rPr>
              <a:t>useragent</a:t>
            </a:r>
            <a:r>
              <a:rPr lang="en-US" altLang="zh-CN" sz="1200" dirty="0">
                <a:solidFill>
                  <a:srgbClr val="33CC33"/>
                </a:solidFill>
                <a:latin typeface="Times New Roman" panose="02020603050405020304" charset="0"/>
                <a:cs typeface="Times New Roman" panose="02020603050405020304" charset="0"/>
              </a:rPr>
              <a:t>':='RAL/2.0.17 (internal request)','Mozilla/5.0(</a:t>
            </a:r>
            <a:r>
              <a:rPr lang="en-US" altLang="zh-CN" sz="1200" dirty="0" err="1">
                <a:solidFill>
                  <a:srgbClr val="33CC33"/>
                </a:solidFill>
                <a:latin typeface="Times New Roman" panose="02020603050405020304" charset="0"/>
                <a:cs typeface="Times New Roman" panose="02020603050405020304" charset="0"/>
              </a:rPr>
              <a:t>compatible;MSIE</a:t>
            </a:r>
            <a:r>
              <a:rPr lang="en-US" altLang="zh-CN" sz="1200" dirty="0">
                <a:solidFill>
                  <a:srgbClr val="33CC33"/>
                </a:solidFill>
                <a:latin typeface="Times New Roman" panose="02020603050405020304" charset="0"/>
                <a:cs typeface="Times New Roman" panose="02020603050405020304" charset="0"/>
              </a:rPr>
              <a:t>/6.0+http://www.myspace.com)']</a:t>
            </a:r>
            <a:endParaRPr lang="en-US" altLang="zh-CN" sz="1200" dirty="0">
              <a:solidFill>
                <a:srgbClr val="33CC33"/>
              </a:solidFill>
              <a:latin typeface="Times New Roman" panose="02020603050405020304" charset="0"/>
              <a:cs typeface="Times New Roman" panose="02020603050405020304" charset="0"/>
            </a:endParaRPr>
          </a:p>
        </p:txBody>
      </p:sp>
      <p:sp>
        <p:nvSpPr>
          <p:cNvPr id="7" name="文本框 6"/>
          <p:cNvSpPr txBox="1"/>
          <p:nvPr/>
        </p:nvSpPr>
        <p:spPr>
          <a:xfrm>
            <a:off x="5537870" y="981234"/>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1601</a:t>
            </a:r>
            <a:r>
              <a:rPr lang="zh-CN" altLang="en-US" sz="1200" dirty="0" smtClean="0">
                <a:latin typeface="微软雅黑" panose="020B0503020204020204" pitchFamily="34" charset="-122"/>
                <a:ea typeface="微软雅黑" panose="020B0503020204020204" pitchFamily="34" charset="-122"/>
              </a:rPr>
              <a:t>策略相关配置文件</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161443"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处理空间类策略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3"/>
            <a:ext cx="4307741" cy="4140667"/>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点击预取过滤策略</a:t>
            </a:r>
            <a:r>
              <a:rPr kumimoji="1" lang="en-US" altLang="zh-CN" sz="1800" dirty="0" smtClean="0">
                <a:latin typeface="微软雅黑" panose="020B0503020204020204" pitchFamily="34" charset="-122"/>
                <a:ea typeface="微软雅黑" panose="020B0503020204020204" pitchFamily="34" charset="-122"/>
                <a:cs typeface="宋体" charset="0"/>
              </a:rPr>
              <a:t>(1301)</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策略背景：</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200" dirty="0">
                <a:latin typeface="微软雅黑" panose="020B0503020204020204" pitchFamily="34" charset="-122"/>
                <a:ea typeface="微软雅黑" panose="020B0503020204020204" pitchFamily="34" charset="-122"/>
                <a:cs typeface="宋体" charset="0"/>
              </a:rPr>
              <a:t>点击预取是指</a:t>
            </a:r>
            <a:r>
              <a:rPr kumimoji="1" lang="zh-CN" altLang="en-US" sz="1200" dirty="0" smtClean="0">
                <a:latin typeface="微软雅黑" panose="020B0503020204020204" pitchFamily="34" charset="-122"/>
                <a:ea typeface="微软雅黑" panose="020B0503020204020204" pitchFamily="34" charset="-122"/>
                <a:cs typeface="宋体" charset="0"/>
              </a:rPr>
              <a:t>浏览器的主动行为，有些浏览器会提前加载用户点击页面的内容</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zh-CN" altLang="en-US" sz="1200" dirty="0" smtClean="0">
                <a:latin typeface="微软雅黑" panose="020B0503020204020204" pitchFamily="34" charset="-122"/>
                <a:ea typeface="微软雅黑" panose="020B0503020204020204" pitchFamily="34" charset="-122"/>
                <a:cs typeface="宋体" charset="0"/>
              </a:rPr>
              <a:t>比如广告</a:t>
            </a:r>
            <a:r>
              <a:rPr kumimoji="1" lang="en-US" altLang="zh-CN" sz="1200" dirty="0" smtClean="0">
                <a:latin typeface="微软雅黑" panose="020B0503020204020204" pitchFamily="34" charset="-122"/>
                <a:ea typeface="微软雅黑" panose="020B0503020204020204" pitchFamily="34" charset="-122"/>
                <a:cs typeface="宋体" charset="0"/>
              </a:rPr>
              <a:t>)</a:t>
            </a:r>
            <a:r>
              <a:rPr kumimoji="1" lang="zh-CN" altLang="en-US" sz="1200" dirty="0" smtClean="0">
                <a:latin typeface="微软雅黑" panose="020B0503020204020204" pitchFamily="34" charset="-122"/>
                <a:ea typeface="微软雅黑" panose="020B0503020204020204" pitchFamily="34" charset="-122"/>
                <a:cs typeface="宋体" charset="0"/>
              </a:rPr>
              <a:t>，但这些流量并不是网民的真实行为。我们</a:t>
            </a:r>
            <a:r>
              <a:rPr kumimoji="1" lang="zh-CN" altLang="en-US" sz="1200" dirty="0">
                <a:latin typeface="微软雅黑" panose="020B0503020204020204" pitchFamily="34" charset="-122"/>
                <a:ea typeface="微软雅黑" panose="020B0503020204020204" pitchFamily="34" charset="-122"/>
                <a:cs typeface="宋体" charset="0"/>
              </a:rPr>
              <a:t>只负责过滤掉被预</a:t>
            </a:r>
            <a:r>
              <a:rPr kumimoji="1" lang="zh-CN" altLang="en-US" sz="1200" dirty="0" smtClean="0">
                <a:latin typeface="微软雅黑" panose="020B0503020204020204" pitchFamily="34" charset="-122"/>
                <a:ea typeface="微软雅黑" panose="020B0503020204020204" pitchFamily="34" charset="-122"/>
                <a:cs typeface="宋体" charset="0"/>
              </a:rPr>
              <a:t>取的流量。</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如果一条日志满足下面所有条件，就会被</a:t>
            </a:r>
            <a:r>
              <a:rPr kumimoji="1" lang="en-US" altLang="zh-CN" sz="1200" dirty="0" smtClean="0">
                <a:latin typeface="微软雅黑" panose="020B0503020204020204" pitchFamily="34" charset="-122"/>
                <a:ea typeface="微软雅黑" panose="020B0503020204020204" pitchFamily="34" charset="-122"/>
                <a:cs typeface="宋体" charset="0"/>
              </a:rPr>
              <a:t>1301</a:t>
            </a:r>
            <a:r>
              <a:rPr kumimoji="1" lang="zh-CN" altLang="en-US" sz="1200" dirty="0" smtClean="0">
                <a:latin typeface="微软雅黑" panose="020B0503020204020204" pitchFamily="34" charset="-122"/>
                <a:ea typeface="微软雅黑" panose="020B0503020204020204" pitchFamily="34" charset="-122"/>
                <a:cs typeface="宋体" charset="0"/>
              </a:rPr>
              <a:t>策略命中。</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lvl="2">
              <a:spcAft>
                <a:spcPts val="600"/>
              </a:spcAft>
              <a:buSzPct val="120000"/>
            </a:pPr>
            <a:r>
              <a:rPr kumimoji="1" lang="en-US" altLang="zh-CN" sz="1200" dirty="0">
                <a:latin typeface="微软雅黑" panose="020B0503020204020204" pitchFamily="34" charset="-122"/>
                <a:ea typeface="微软雅黑" panose="020B0503020204020204" pitchFamily="34" charset="-122"/>
                <a:cs typeface="宋体" charset="0"/>
              </a:rPr>
              <a:t>p</a:t>
            </a:r>
            <a:r>
              <a:rPr kumimoji="1" lang="en-US" altLang="zh-CN" sz="1200" dirty="0" smtClean="0">
                <a:latin typeface="微软雅黑" panose="020B0503020204020204" pitchFamily="34" charset="-122"/>
                <a:ea typeface="微软雅黑" panose="020B0503020204020204" pitchFamily="34" charset="-122"/>
                <a:cs typeface="宋体" charset="0"/>
              </a:rPr>
              <a:t>c</a:t>
            </a:r>
            <a:r>
              <a:rPr kumimoji="1" lang="zh-CN" altLang="en-US" sz="1200" dirty="0" smtClean="0">
                <a:latin typeface="微软雅黑" panose="020B0503020204020204" pitchFamily="34" charset="-122"/>
                <a:ea typeface="微软雅黑" panose="020B0503020204020204" pitchFamily="34" charset="-122"/>
                <a:cs typeface="宋体" charset="0"/>
              </a:rPr>
              <a:t>端流量</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lvl="2">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c</a:t>
            </a:r>
            <a:r>
              <a:rPr kumimoji="1" lang="en-US" altLang="zh-CN" sz="1200" dirty="0" err="1" smtClean="0">
                <a:latin typeface="微软雅黑" panose="020B0503020204020204" pitchFamily="34" charset="-122"/>
                <a:ea typeface="微软雅黑" panose="020B0503020204020204" pitchFamily="34" charset="-122"/>
                <a:cs typeface="宋体" charset="0"/>
              </a:rPr>
              <a:t>k</a:t>
            </a:r>
            <a:r>
              <a:rPr kumimoji="1" lang="zh-CN" altLang="en-US" sz="1200" dirty="0" smtClean="0">
                <a:latin typeface="微软雅黑" panose="020B0503020204020204" pitchFamily="34" charset="-122"/>
                <a:ea typeface="微软雅黑" panose="020B0503020204020204" pitchFamily="34" charset="-122"/>
                <a:cs typeface="宋体" charset="0"/>
              </a:rPr>
              <a:t>域有值，按下弹起时间差</a:t>
            </a:r>
            <a:r>
              <a:rPr kumimoji="1" lang="en-US" altLang="zh-CN" sz="1200" dirty="0" smtClean="0">
                <a:latin typeface="微软雅黑" panose="020B0503020204020204" pitchFamily="34" charset="-122"/>
                <a:ea typeface="微软雅黑" panose="020B0503020204020204" pitchFamily="34" charset="-122"/>
                <a:cs typeface="宋体" charset="0"/>
              </a:rPr>
              <a:t>(ck_2)</a:t>
            </a:r>
            <a:r>
              <a:rPr kumimoji="1" lang="zh-CN" altLang="en-US" sz="1200" dirty="0" smtClean="0">
                <a:latin typeface="微软雅黑" panose="020B0503020204020204" pitchFamily="34" charset="-122"/>
                <a:ea typeface="微软雅黑" panose="020B0503020204020204" pitchFamily="34" charset="-122"/>
                <a:cs typeface="宋体" charset="0"/>
              </a:rPr>
              <a:t>为</a:t>
            </a:r>
            <a:r>
              <a:rPr kumimoji="1" lang="en-US" altLang="zh-CN" sz="1200" dirty="0" smtClean="0">
                <a:latin typeface="微软雅黑" panose="020B0503020204020204" pitchFamily="34" charset="-122"/>
                <a:ea typeface="微软雅黑" panose="020B0503020204020204" pitchFamily="34" charset="-122"/>
                <a:cs typeface="宋体" charset="0"/>
              </a:rPr>
              <a:t>0</a:t>
            </a:r>
            <a:r>
              <a:rPr kumimoji="1" lang="zh-CN" altLang="en-US" sz="1200" dirty="0" smtClean="0">
                <a:latin typeface="微软雅黑" panose="020B0503020204020204" pitchFamily="34" charset="-122"/>
                <a:ea typeface="微软雅黑" panose="020B0503020204020204" pitchFamily="34" charset="-122"/>
                <a:cs typeface="宋体" charset="0"/>
              </a:rPr>
              <a:t>，点击</a:t>
            </a:r>
            <a:r>
              <a:rPr kumimoji="1" lang="en-US" altLang="zh-CN" sz="1200" dirty="0" smtClean="0">
                <a:latin typeface="微软雅黑" panose="020B0503020204020204" pitchFamily="34" charset="-122"/>
                <a:ea typeface="微软雅黑" panose="020B0503020204020204" pitchFamily="34" charset="-122"/>
                <a:cs typeface="宋体" charset="0"/>
              </a:rPr>
              <a:t>x, y </a:t>
            </a:r>
            <a:r>
              <a:rPr kumimoji="1" lang="zh-CN" altLang="en-US" sz="1200" dirty="0" smtClean="0">
                <a:latin typeface="微软雅黑" panose="020B0503020204020204" pitchFamily="34" charset="-122"/>
                <a:ea typeface="微软雅黑" panose="020B0503020204020204" pitchFamily="34" charset="-122"/>
                <a:cs typeface="宋体" charset="0"/>
              </a:rPr>
              <a:t>坐标都为</a:t>
            </a:r>
            <a:r>
              <a:rPr kumimoji="1" lang="en-US" altLang="zh-CN" sz="1200" dirty="0" smtClean="0">
                <a:latin typeface="微软雅黑" panose="020B0503020204020204" pitchFamily="34" charset="-122"/>
                <a:ea typeface="微软雅黑" panose="020B0503020204020204" pitchFamily="34" charset="-122"/>
                <a:cs typeface="宋体" charset="0"/>
              </a:rPr>
              <a:t>0</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lvl="2">
              <a:spcAft>
                <a:spcPts val="600"/>
              </a:spcAft>
              <a:buSzPct val="120000"/>
            </a:pPr>
            <a:r>
              <a:rPr kumimoji="1" lang="en-US" altLang="zh-CN" sz="1200" dirty="0" err="1">
                <a:latin typeface="微软雅黑" panose="020B0503020204020204" pitchFamily="34" charset="-122"/>
                <a:ea typeface="微软雅黑" panose="020B0503020204020204" pitchFamily="34" charset="-122"/>
                <a:cs typeface="宋体" charset="0"/>
              </a:rPr>
              <a:t>c</a:t>
            </a:r>
            <a:r>
              <a:rPr kumimoji="1" lang="en-US" altLang="zh-CN" sz="1200" dirty="0" err="1" smtClean="0">
                <a:latin typeface="微软雅黑" panose="020B0503020204020204" pitchFamily="34" charset="-122"/>
                <a:ea typeface="微软雅黑" panose="020B0503020204020204" pitchFamily="34" charset="-122"/>
                <a:cs typeface="宋体" charset="0"/>
              </a:rPr>
              <a:t>match</a:t>
            </a:r>
            <a:r>
              <a:rPr kumimoji="1" lang="zh-CN" altLang="en-US" sz="1200" dirty="0" smtClean="0">
                <a:latin typeface="微软雅黑" panose="020B0503020204020204" pitchFamily="34" charset="-122"/>
                <a:ea typeface="微软雅黑" panose="020B0503020204020204" pitchFamily="34" charset="-122"/>
                <a:cs typeface="宋体" charset="0"/>
              </a:rPr>
              <a:t>不在</a:t>
            </a:r>
            <a:r>
              <a:rPr kumimoji="1" lang="en-US" altLang="zh-CN" sz="1200" dirty="0" err="1" smtClean="0">
                <a:latin typeface="微软雅黑" panose="020B0503020204020204" pitchFamily="34" charset="-122"/>
                <a:ea typeface="微软雅黑" panose="020B0503020204020204" pitchFamily="34" charset="-122"/>
                <a:cs typeface="宋体" charset="0"/>
              </a:rPr>
              <a:t>feed.whitecmatch</a:t>
            </a:r>
            <a:r>
              <a:rPr kumimoji="1" lang="zh-CN" altLang="en-US" sz="1200" dirty="0" smtClean="0">
                <a:latin typeface="微软雅黑" panose="020B0503020204020204" pitchFamily="34" charset="-122"/>
                <a:ea typeface="微软雅黑" panose="020B0503020204020204" pitchFamily="34" charset="-122"/>
                <a:cs typeface="宋体" charset="0"/>
              </a:rPr>
              <a:t>白名单文件中</a:t>
            </a:r>
            <a:endParaRPr kumimoji="1" lang="en-US" altLang="zh-CN" sz="1200" dirty="0" smtClean="0">
              <a:latin typeface="微软雅黑" panose="020B0503020204020204" pitchFamily="34" charset="-122"/>
              <a:ea typeface="微软雅黑" panose="020B0503020204020204" pitchFamily="34" charset="-122"/>
              <a:cs typeface="宋体" charset="0"/>
            </a:endParaRPr>
          </a:p>
        </p:txBody>
      </p:sp>
      <p:sp>
        <p:nvSpPr>
          <p:cNvPr id="2" name="矩形 1"/>
          <p:cNvSpPr/>
          <p:nvPr/>
        </p:nvSpPr>
        <p:spPr>
          <a:xfrm>
            <a:off x="5108171" y="1258233"/>
            <a:ext cx="3932798" cy="3046988"/>
          </a:xfrm>
          <a:prstGeom prst="rect">
            <a:avLst/>
          </a:prstGeom>
          <a:solidFill>
            <a:schemeClr val="tx1"/>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  1301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1301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boolean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condition   : true</a:t>
            </a:r>
            <a:endParaRPr lang="en-US" altLang="zh-CN" sz="1200" dirty="0">
              <a:solidFill>
                <a:srgbClr val="33CC33"/>
              </a:solidFill>
              <a:latin typeface="Times New Roman" panose="02020603050405020304" charset="0"/>
              <a:cs typeface="Times New Roman" panose="02020603050405020304" charset="0"/>
            </a:endParaRPr>
          </a:p>
          <a:p>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[@feature]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1301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carespace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a:t>
            </a:r>
            <a:r>
              <a:rPr lang="en-US" altLang="zh-CN" sz="1200" dirty="0" err="1">
                <a:solidFill>
                  <a:srgbClr val="33CC33"/>
                </a:solidFill>
                <a:latin typeface="Times New Roman" panose="02020603050405020304" charset="0"/>
                <a:cs typeface="Times New Roman" panose="02020603050405020304" charset="0"/>
              </a:rPr>
              <a:t>accessid</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click_level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 ['</a:t>
            </a:r>
            <a:r>
              <a:rPr lang="en-US" altLang="zh-CN" sz="1200" dirty="0" err="1">
                <a:solidFill>
                  <a:srgbClr val="33CC33"/>
                </a:solidFill>
                <a:latin typeface="Times New Roman" panose="02020603050405020304" charset="0"/>
                <a:cs typeface="Times New Roman" panose="02020603050405020304" charset="0"/>
              </a:rPr>
              <a:t>is_wireless</a:t>
            </a:r>
            <a:r>
              <a:rPr lang="en-US" altLang="zh-CN" sz="1200" dirty="0">
                <a:solidFill>
                  <a:srgbClr val="33CC33"/>
                </a:solidFill>
                <a:latin typeface="Times New Roman" panose="02020603050405020304" charset="0"/>
                <a:cs typeface="Times New Roman" panose="02020603050405020304" charset="0"/>
              </a:rPr>
              <a:t>':='0']['</a:t>
            </a:r>
            <a:r>
              <a:rPr lang="en-US" altLang="zh-CN" sz="1200" dirty="0" err="1">
                <a:solidFill>
                  <a:srgbClr val="33CC33"/>
                </a:solidFill>
                <a:latin typeface="Times New Roman" panose="02020603050405020304" charset="0"/>
                <a:cs typeface="Times New Roman" panose="02020603050405020304" charset="0"/>
              </a:rPr>
              <a:t>ck</a:t>
            </a:r>
            <a:r>
              <a:rPr lang="en-US" altLang="zh-CN" sz="1200" dirty="0">
                <a:solidFill>
                  <a:srgbClr val="33CC33"/>
                </a:solidFill>
                <a:latin typeface="Times New Roman" panose="02020603050405020304" charset="0"/>
                <a:cs typeface="Times New Roman" panose="02020603050405020304" charset="0"/>
              </a:rPr>
              <a:t>'!='-']['ck_2':='0']['ck_3':='0']['ck_4':='0']['</a:t>
            </a:r>
            <a:r>
              <a:rPr lang="en-US" altLang="zh-CN" sz="1200" dirty="0" err="1">
                <a:solidFill>
                  <a:srgbClr val="33CC33"/>
                </a:solidFill>
                <a:latin typeface="Times New Roman" panose="02020603050405020304" charset="0"/>
                <a:cs typeface="Times New Roman" panose="02020603050405020304" charset="0"/>
              </a:rPr>
              <a:t>cmatch'NI'feed.whitecmatch</a:t>
            </a:r>
            <a:r>
              <a:rPr lang="en-US" altLang="zh-CN" sz="1200" dirty="0">
                <a:solidFill>
                  <a:srgbClr val="33CC33"/>
                </a:solidFill>
                <a:latin typeface="Times New Roman" panose="02020603050405020304" charset="0"/>
                <a:cs typeface="Times New Roman" panose="02020603050405020304" charset="0"/>
              </a:rPr>
              <a:t>']</a:t>
            </a:r>
            <a:endParaRPr lang="en-US" altLang="zh-CN" sz="1200" dirty="0">
              <a:solidFill>
                <a:srgbClr val="33CC33"/>
              </a:solidFill>
              <a:latin typeface="Times New Roman" panose="02020603050405020304" charset="0"/>
              <a:cs typeface="Times New Roman" panose="02020603050405020304" charset="0"/>
            </a:endParaRPr>
          </a:p>
        </p:txBody>
      </p:sp>
      <p:sp>
        <p:nvSpPr>
          <p:cNvPr id="7" name="文本框 6"/>
          <p:cNvSpPr txBox="1"/>
          <p:nvPr/>
        </p:nvSpPr>
        <p:spPr>
          <a:xfrm>
            <a:off x="5537870" y="981234"/>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1301</a:t>
            </a:r>
            <a:r>
              <a:rPr lang="zh-CN" altLang="en-US" sz="1200" dirty="0" smtClean="0">
                <a:latin typeface="微软雅黑" panose="020B0503020204020204" pitchFamily="34" charset="-122"/>
                <a:ea typeface="微软雅黑" panose="020B0503020204020204" pitchFamily="34" charset="-122"/>
              </a:rPr>
              <a:t>策略相关配置文件</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统计类策略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8143195" cy="3874046"/>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统计类策略分类</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段</a:t>
            </a:r>
            <a:r>
              <a:rPr kumimoji="1" lang="zh-CN" altLang="en-US" sz="1600" dirty="0" smtClean="0">
                <a:latin typeface="微软雅黑" panose="020B0503020204020204" pitchFamily="34" charset="-122"/>
                <a:ea typeface="微软雅黑" panose="020B0503020204020204" pitchFamily="34" charset="-122"/>
                <a:cs typeface="宋体" charset="0"/>
              </a:rPr>
              <a:t>上限策略、多段上限策略、段比例策略、自动黑名单段上限策略、自动黑名单段比例策略、分布异常策略、时间差策略、集中度策略、显著性策略</a:t>
            </a: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统计</a:t>
            </a:r>
            <a:r>
              <a:rPr kumimoji="1" lang="zh-CN" altLang="en-US" sz="1800" dirty="0" smtClean="0">
                <a:latin typeface="微软雅黑" panose="020B0503020204020204" pitchFamily="34" charset="-122"/>
                <a:ea typeface="微软雅黑" panose="020B0503020204020204" pitchFamily="34" charset="-122"/>
                <a:cs typeface="宋体" charset="0"/>
              </a:rPr>
              <a:t>策略所在过滤层级</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主要存在于</a:t>
            </a:r>
            <a:r>
              <a:rPr kumimoji="1" lang="en-US" altLang="zh-CN" sz="1600" dirty="0" smtClean="0">
                <a:latin typeface="微软雅黑" panose="020B0503020204020204" pitchFamily="34" charset="-122"/>
                <a:ea typeface="微软雅黑" panose="020B0503020204020204" pitchFamily="34" charset="-122"/>
                <a:cs typeface="宋体" charset="0"/>
              </a:rPr>
              <a:t>Themis</a:t>
            </a:r>
            <a:r>
              <a:rPr kumimoji="1" lang="zh-CN" altLang="en-US" sz="1600" dirty="0" smtClean="0">
                <a:latin typeface="微软雅黑" panose="020B0503020204020204" pitchFamily="34" charset="-122"/>
                <a:ea typeface="微软雅黑" panose="020B0503020204020204" pitchFamily="34" charset="-122"/>
                <a:cs typeface="宋体" charset="0"/>
              </a:rPr>
              <a:t>层，</a:t>
            </a:r>
            <a:r>
              <a:rPr kumimoji="1" lang="en-US" altLang="zh-CN" sz="1600" dirty="0" err="1" smtClean="0">
                <a:latin typeface="微软雅黑" panose="020B0503020204020204" pitchFamily="34" charset="-122"/>
                <a:ea typeface="微软雅黑" panose="020B0503020204020204" pitchFamily="34" charset="-122"/>
                <a:cs typeface="宋体" charset="0"/>
              </a:rPr>
              <a:t>dformat</a:t>
            </a:r>
            <a:r>
              <a:rPr kumimoji="1" lang="zh-CN" altLang="en-US" sz="1600" dirty="0" smtClean="0">
                <a:latin typeface="微软雅黑" panose="020B0503020204020204" pitchFamily="34" charset="-122"/>
                <a:ea typeface="微软雅黑" panose="020B0503020204020204" pitchFamily="34" charset="-122"/>
                <a:cs typeface="宋体" charset="0"/>
              </a:rPr>
              <a:t>层也存在一些</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基于统计策略的策略命中</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统计策略的特征值一般是某个段中的累积量，从段首开始进行累积，当这个累积量超出阈值时，超出阈值部分的日志将被过滤。</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050" dirty="0" smtClean="0">
                <a:latin typeface="微软雅黑" panose="020B0503020204020204" pitchFamily="34" charset="-122"/>
                <a:ea typeface="微软雅黑" panose="020B0503020204020204" pitchFamily="34" charset="-122"/>
                <a:cs typeface="宋体" charset="0"/>
              </a:rPr>
              <a:t>100</a:t>
            </a:r>
            <a:r>
              <a:rPr kumimoji="1" lang="zh-CN" altLang="en-US" sz="1050" dirty="0" smtClean="0">
                <a:latin typeface="微软雅黑" panose="020B0503020204020204" pitchFamily="34" charset="-122"/>
                <a:ea typeface="微软雅黑" panose="020B0503020204020204" pitchFamily="34" charset="-122"/>
                <a:cs typeface="宋体" charset="0"/>
              </a:rPr>
              <a:t>条日志，</a:t>
            </a:r>
            <a:r>
              <a:rPr kumimoji="1" lang="en-US" altLang="zh-CN" sz="1050" dirty="0" smtClean="0">
                <a:latin typeface="微软雅黑" panose="020B0503020204020204" pitchFamily="34" charset="-122"/>
                <a:ea typeface="微软雅黑" panose="020B0503020204020204" pitchFamily="34" charset="-122"/>
                <a:cs typeface="宋体" charset="0"/>
              </a:rPr>
              <a:t>0-50</a:t>
            </a:r>
            <a:r>
              <a:rPr kumimoji="1" lang="zh-CN" altLang="en-US" sz="1050" dirty="0" smtClean="0">
                <a:latin typeface="微软雅黑" panose="020B0503020204020204" pitchFamily="34" charset="-122"/>
                <a:ea typeface="微软雅黑" panose="020B0503020204020204" pitchFamily="34" charset="-122"/>
                <a:cs typeface="宋体" charset="0"/>
              </a:rPr>
              <a:t>范围内累积量低于阈值，</a:t>
            </a:r>
            <a:r>
              <a:rPr kumimoji="1" lang="en-US" altLang="zh-CN" sz="1050" dirty="0" smtClean="0">
                <a:latin typeface="微软雅黑" panose="020B0503020204020204" pitchFamily="34" charset="-122"/>
                <a:ea typeface="微软雅黑" panose="020B0503020204020204" pitchFamily="34" charset="-122"/>
                <a:cs typeface="宋体" charset="0"/>
              </a:rPr>
              <a:t>50-75</a:t>
            </a:r>
            <a:r>
              <a:rPr kumimoji="1" lang="zh-CN" altLang="en-US" sz="1050" dirty="0" smtClean="0">
                <a:latin typeface="微软雅黑" panose="020B0503020204020204" pitchFamily="34" charset="-122"/>
                <a:ea typeface="微软雅黑" panose="020B0503020204020204" pitchFamily="34" charset="-122"/>
                <a:cs typeface="宋体" charset="0"/>
              </a:rPr>
              <a:t>范围内累积量高于阈值，</a:t>
            </a:r>
            <a:r>
              <a:rPr kumimoji="1" lang="en-US" altLang="zh-CN" sz="1050" dirty="0" smtClean="0">
                <a:latin typeface="微软雅黑" panose="020B0503020204020204" pitchFamily="34" charset="-122"/>
                <a:ea typeface="微软雅黑" panose="020B0503020204020204" pitchFamily="34" charset="-122"/>
                <a:cs typeface="宋体" charset="0"/>
              </a:rPr>
              <a:t>75-100</a:t>
            </a:r>
            <a:r>
              <a:rPr kumimoji="1" lang="zh-CN" altLang="en-US" sz="1050" dirty="0" smtClean="0">
                <a:latin typeface="微软雅黑" panose="020B0503020204020204" pitchFamily="34" charset="-122"/>
                <a:ea typeface="微软雅黑" panose="020B0503020204020204" pitchFamily="34" charset="-122"/>
                <a:cs typeface="宋体" charset="0"/>
              </a:rPr>
              <a:t>范围内低于阈值，则过滤序号为</a:t>
            </a:r>
            <a:r>
              <a:rPr kumimoji="1" lang="en-US" altLang="zh-CN" sz="1050" dirty="0" smtClean="0">
                <a:latin typeface="微软雅黑" panose="020B0503020204020204" pitchFamily="34" charset="-122"/>
                <a:ea typeface="微软雅黑" panose="020B0503020204020204" pitchFamily="34" charset="-122"/>
                <a:cs typeface="宋体" charset="0"/>
              </a:rPr>
              <a:t>50-75</a:t>
            </a:r>
            <a:r>
              <a:rPr kumimoji="1" lang="zh-CN" altLang="en-US" sz="1050" dirty="0" smtClean="0">
                <a:latin typeface="微软雅黑" panose="020B0503020204020204" pitchFamily="34" charset="-122"/>
                <a:ea typeface="微软雅黑" panose="020B0503020204020204" pitchFamily="34" charset="-122"/>
                <a:cs typeface="宋体" charset="0"/>
              </a:rPr>
              <a:t>的日志。</a:t>
            </a:r>
            <a:endParaRPr kumimoji="1" lang="en-US" altLang="zh-CN" sz="1050" dirty="0" smtClean="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a:latin typeface="微软雅黑"/>
                <a:ea typeface="微软雅黑"/>
                <a:cs typeface="微软雅黑"/>
              </a:rPr>
              <a:t>段上限</a:t>
            </a:r>
            <a:r>
              <a:rPr kumimoji="1" lang="zh-CN" altLang="en-US" sz="1400" b="1" spc="200" dirty="0" smtClean="0">
                <a:latin typeface="微软雅黑"/>
                <a:ea typeface="微软雅黑"/>
                <a:cs typeface="微软雅黑"/>
              </a:rPr>
              <a:t>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8143195" cy="3874046"/>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概念</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一段</a:t>
            </a:r>
            <a:r>
              <a:rPr kumimoji="1" lang="zh-CN" altLang="en-US" sz="1600" dirty="0" smtClean="0">
                <a:latin typeface="微软雅黑" panose="020B0503020204020204" pitchFamily="34" charset="-122"/>
                <a:ea typeface="微软雅黑" panose="020B0503020204020204" pitchFamily="34" charset="-122"/>
                <a:cs typeface="宋体" charset="0"/>
              </a:rPr>
              <a:t>时间段或者</a:t>
            </a:r>
            <a:r>
              <a:rPr kumimoji="1" lang="en-US" altLang="zh-CN" sz="1600" dirty="0" err="1">
                <a:latin typeface="微软雅黑" panose="020B0503020204020204" pitchFamily="34" charset="-122"/>
                <a:ea typeface="微软雅黑" panose="020B0503020204020204" pitchFamily="34" charset="-122"/>
                <a:cs typeface="宋体" charset="0"/>
              </a:rPr>
              <a:t>pv</a:t>
            </a:r>
            <a:r>
              <a:rPr kumimoji="1" lang="zh-CN" altLang="en-US" sz="1600" dirty="0">
                <a:latin typeface="微软雅黑" panose="020B0503020204020204" pitchFamily="34" charset="-122"/>
                <a:ea typeface="微软雅黑" panose="020B0503020204020204" pitchFamily="34" charset="-122"/>
                <a:cs typeface="宋体" charset="0"/>
              </a:rPr>
              <a:t>段</a:t>
            </a:r>
            <a:r>
              <a:rPr kumimoji="1" lang="zh-CN" altLang="en-US" sz="1600" dirty="0" smtClean="0">
                <a:latin typeface="微软雅黑" panose="020B0503020204020204" pitchFamily="34" charset="-122"/>
                <a:ea typeface="微软雅黑" panose="020B0503020204020204" pitchFamily="34" charset="-122"/>
                <a:cs typeface="宋体" charset="0"/>
              </a:rPr>
              <a:t>内，某一统计值超过</a:t>
            </a:r>
            <a:r>
              <a:rPr kumimoji="1" lang="zh-CN" altLang="en-US" sz="1600" dirty="0">
                <a:latin typeface="微软雅黑" panose="020B0503020204020204" pitchFamily="34" charset="-122"/>
                <a:ea typeface="微软雅黑" panose="020B0503020204020204" pitchFamily="34" charset="-122"/>
                <a:cs typeface="宋体" charset="0"/>
              </a:rPr>
              <a:t>一定阈值</a:t>
            </a:r>
            <a:r>
              <a:rPr kumimoji="1" lang="zh-CN" altLang="en-US" sz="1600" dirty="0" smtClean="0">
                <a:latin typeface="微软雅黑" panose="020B0503020204020204" pitchFamily="34" charset="-122"/>
                <a:ea typeface="微软雅黑" panose="020B0503020204020204" pitchFamily="34" charset="-122"/>
                <a:cs typeface="宋体" charset="0"/>
              </a:rPr>
              <a:t>，那么从超出阈值的点到段尾的日志将被策略命中</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比如策略</a:t>
            </a:r>
            <a:r>
              <a:rPr kumimoji="1" lang="en-US" altLang="zh-CN" sz="1400" dirty="0" smtClean="0">
                <a:latin typeface="微软雅黑" panose="020B0503020204020204" pitchFamily="34" charset="-122"/>
                <a:ea typeface="微软雅黑" panose="020B0503020204020204" pitchFamily="34" charset="-122"/>
                <a:cs typeface="宋体" charset="0"/>
              </a:rPr>
              <a:t>371</a:t>
            </a:r>
            <a:r>
              <a:rPr kumimoji="1" lang="zh-CN" altLang="en-US" sz="1400" dirty="0" smtClean="0">
                <a:latin typeface="微软雅黑" panose="020B0503020204020204" pitchFamily="34" charset="-122"/>
                <a:ea typeface="微软雅黑" panose="020B0503020204020204" pitchFamily="34" charset="-122"/>
                <a:cs typeface="宋体" charset="0"/>
              </a:rPr>
              <a:t>的业务逻辑如下：</a:t>
            </a:r>
            <a:r>
              <a:rPr kumimoji="1" lang="en-US" altLang="zh-CN" sz="1400" dirty="0" smtClean="0">
                <a:latin typeface="微软雅黑" panose="020B0503020204020204" pitchFamily="34" charset="-122"/>
                <a:ea typeface="微软雅黑" panose="020B0503020204020204" pitchFamily="34" charset="-122"/>
                <a:cs typeface="宋体" charset="0"/>
              </a:rPr>
              <a:t>pc</a:t>
            </a:r>
            <a:r>
              <a:rPr kumimoji="1" lang="zh-CN" altLang="en-US" sz="1400" dirty="0" smtClean="0">
                <a:latin typeface="微软雅黑" panose="020B0503020204020204" pitchFamily="34" charset="-122"/>
                <a:ea typeface="微软雅黑" panose="020B0503020204020204" pitchFamily="34" charset="-122"/>
                <a:cs typeface="宋体" charset="0"/>
              </a:rPr>
              <a:t>端，每</a:t>
            </a:r>
            <a:r>
              <a:rPr kumimoji="1" lang="en-US" altLang="zh-CN" sz="1400" dirty="0" smtClean="0">
                <a:latin typeface="微软雅黑" panose="020B0503020204020204" pitchFamily="34" charset="-122"/>
                <a:ea typeface="微软雅黑" panose="020B0503020204020204" pitchFamily="34" charset="-122"/>
                <a:cs typeface="宋体" charset="0"/>
              </a:rPr>
              <a:t>900</a:t>
            </a:r>
            <a:r>
              <a:rPr kumimoji="1" lang="zh-CN" altLang="en-US" sz="1400" dirty="0" smtClean="0">
                <a:latin typeface="微软雅黑" panose="020B0503020204020204" pitchFamily="34" charset="-122"/>
                <a:ea typeface="微软雅黑" panose="020B0503020204020204" pitchFamily="34" charset="-122"/>
                <a:cs typeface="宋体" charset="0"/>
              </a:rPr>
              <a:t>万条日志内，同一个</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en-US" altLang="zh-CN" sz="1400" dirty="0" err="1" smtClean="0">
                <a:latin typeface="微软雅黑" panose="020B0503020204020204" pitchFamily="34" charset="-122"/>
                <a:ea typeface="微软雅黑" panose="020B0503020204020204" pitchFamily="34" charset="-122"/>
                <a:cs typeface="宋体" charset="0"/>
              </a:rPr>
              <a:t>userid</a:t>
            </a:r>
            <a:r>
              <a:rPr kumimoji="1" lang="en-US" altLang="zh-CN" sz="1400" dirty="0" smtClean="0">
                <a:latin typeface="微软雅黑" panose="020B0503020204020204" pitchFamily="34" charset="-122"/>
                <a:ea typeface="微软雅黑" panose="020B0503020204020204" pitchFamily="34" charset="-122"/>
                <a:cs typeface="宋体" charset="0"/>
              </a:rPr>
              <a:t>, </a:t>
            </a:r>
            <a:r>
              <a:rPr kumimoji="1" lang="en-US" altLang="zh-CN" sz="1400" dirty="0" err="1" smtClean="0">
                <a:latin typeface="微软雅黑" panose="020B0503020204020204" pitchFamily="34" charset="-122"/>
                <a:ea typeface="微软雅黑" panose="020B0503020204020204" pitchFamily="34" charset="-122"/>
                <a:cs typeface="宋体" charset="0"/>
              </a:rPr>
              <a:t>clkip</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zh-CN" altLang="en-US" sz="1400" dirty="0" smtClean="0">
                <a:latin typeface="微软雅黑" panose="020B0503020204020204" pitchFamily="34" charset="-122"/>
                <a:ea typeface="微软雅黑" panose="020B0503020204020204" pitchFamily="34" charset="-122"/>
                <a:cs typeface="宋体" charset="0"/>
              </a:rPr>
              <a:t>组合的日志出现的次数一旦超过</a:t>
            </a:r>
            <a:r>
              <a:rPr kumimoji="1" lang="en-US" altLang="zh-CN" sz="1400" dirty="0" smtClean="0">
                <a:latin typeface="微软雅黑" panose="020B0503020204020204" pitchFamily="34" charset="-122"/>
                <a:ea typeface="微软雅黑" panose="020B0503020204020204" pitchFamily="34" charset="-122"/>
                <a:cs typeface="宋体" charset="0"/>
              </a:rPr>
              <a:t>6</a:t>
            </a:r>
            <a:r>
              <a:rPr kumimoji="1" lang="zh-CN" altLang="en-US" sz="1400" dirty="0" smtClean="0">
                <a:latin typeface="微软雅黑" panose="020B0503020204020204" pitchFamily="34" charset="-122"/>
                <a:ea typeface="微软雅黑" panose="020B0503020204020204" pitchFamily="34" charset="-122"/>
                <a:cs typeface="宋体" charset="0"/>
              </a:rPr>
              <a:t>次，到段尾的所有相同</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en-US" altLang="zh-CN" sz="1400" dirty="0" err="1" smtClean="0">
                <a:latin typeface="微软雅黑" panose="020B0503020204020204" pitchFamily="34" charset="-122"/>
                <a:ea typeface="微软雅黑" panose="020B0503020204020204" pitchFamily="34" charset="-122"/>
                <a:cs typeface="宋体" charset="0"/>
              </a:rPr>
              <a:t>userid</a:t>
            </a:r>
            <a:r>
              <a:rPr kumimoji="1" lang="en-US" altLang="zh-CN" sz="1400" dirty="0" smtClean="0">
                <a:latin typeface="微软雅黑" panose="020B0503020204020204" pitchFamily="34" charset="-122"/>
                <a:ea typeface="微软雅黑" panose="020B0503020204020204" pitchFamily="34" charset="-122"/>
                <a:cs typeface="宋体" charset="0"/>
              </a:rPr>
              <a:t>, </a:t>
            </a:r>
            <a:r>
              <a:rPr kumimoji="1" lang="en-US" altLang="zh-CN" sz="1400" dirty="0" err="1" smtClean="0">
                <a:latin typeface="微软雅黑" panose="020B0503020204020204" pitchFamily="34" charset="-122"/>
                <a:ea typeface="微软雅黑" panose="020B0503020204020204" pitchFamily="34" charset="-122"/>
                <a:cs typeface="宋体" charset="0"/>
              </a:rPr>
              <a:t>clkip</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zh-CN" altLang="en-US" sz="1400" dirty="0" smtClean="0">
                <a:latin typeface="微软雅黑" panose="020B0503020204020204" pitchFamily="34" charset="-122"/>
                <a:ea typeface="微软雅黑" panose="020B0503020204020204" pitchFamily="34" charset="-122"/>
                <a:cs typeface="宋体" charset="0"/>
              </a:rPr>
              <a:t>的日志将被命中</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可用特征</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数目</a:t>
            </a:r>
            <a:r>
              <a:rPr kumimoji="1" lang="zh-CN" altLang="en-US" sz="1600" dirty="0" smtClean="0">
                <a:latin typeface="微软雅黑" panose="020B0503020204020204" pitchFamily="34" charset="-122"/>
                <a:ea typeface="微软雅黑" panose="020B0503020204020204" pitchFamily="34" charset="-122"/>
                <a:cs typeface="宋体" charset="0"/>
              </a:rPr>
              <a:t>特征</a:t>
            </a:r>
            <a:r>
              <a:rPr kumimoji="1" lang="en-US" altLang="zh-CN" sz="1600" dirty="0" smtClean="0">
                <a:latin typeface="微软雅黑" panose="020B0503020204020204" pitchFamily="34" charset="-122"/>
                <a:ea typeface="微软雅黑" panose="020B0503020204020204" pitchFamily="34" charset="-122"/>
                <a:cs typeface="宋体" charset="0"/>
              </a:rPr>
              <a:t>(segment), </a:t>
            </a:r>
            <a:r>
              <a:rPr kumimoji="1" lang="zh-CN" altLang="en-US" sz="1600" dirty="0" smtClean="0">
                <a:latin typeface="微软雅黑" panose="020B0503020204020204" pitchFamily="34" charset="-122"/>
                <a:ea typeface="微软雅黑" panose="020B0503020204020204" pitchFamily="34" charset="-122"/>
                <a:cs typeface="宋体" charset="0"/>
              </a:rPr>
              <a:t>去重数目特征</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en-US" altLang="zh-CN" sz="1600" dirty="0" err="1" smtClean="0">
                <a:latin typeface="微软雅黑" panose="020B0503020204020204" pitchFamily="34" charset="-122"/>
                <a:ea typeface="微软雅黑" panose="020B0503020204020204" pitchFamily="34" charset="-122"/>
                <a:cs typeface="宋体" charset="0"/>
              </a:rPr>
              <a:t>distinct_segment</a:t>
            </a:r>
            <a:r>
              <a:rPr kumimoji="1" lang="en-US" altLang="zh-CN" sz="1600" dirty="0" smtClean="0">
                <a:latin typeface="微软雅黑" panose="020B0503020204020204" pitchFamily="34" charset="-122"/>
                <a:ea typeface="微软雅黑" panose="020B0503020204020204" pitchFamily="34" charset="-122"/>
                <a:cs typeface="宋体" charset="0"/>
              </a:rPr>
              <a:t>), </a:t>
            </a:r>
            <a:r>
              <a:rPr kumimoji="1" lang="zh-CN" altLang="en-US" sz="1600" dirty="0" smtClean="0">
                <a:latin typeface="微软雅黑" panose="020B0503020204020204" pitchFamily="34" charset="-122"/>
                <a:ea typeface="微软雅黑" panose="020B0503020204020204" pitchFamily="34" charset="-122"/>
                <a:cs typeface="宋体" charset="0"/>
              </a:rPr>
              <a:t>子数目特征</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en-US" altLang="zh-CN" sz="1600" dirty="0" err="1" smtClean="0">
                <a:latin typeface="微软雅黑" panose="020B0503020204020204" pitchFamily="34" charset="-122"/>
                <a:ea typeface="微软雅黑" panose="020B0503020204020204" pitchFamily="34" charset="-122"/>
                <a:cs typeface="宋体" charset="0"/>
              </a:rPr>
              <a:t>sum_segment</a:t>
            </a:r>
            <a:r>
              <a:rPr kumimoji="1" lang="en-US" altLang="zh-CN"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优缺点</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针对维度对象分布</a:t>
            </a:r>
            <a:r>
              <a:rPr kumimoji="1" lang="zh-CN" altLang="en-US" sz="1600" dirty="0">
                <a:latin typeface="微软雅黑" panose="020B0503020204020204" pitchFamily="34" charset="-122"/>
                <a:ea typeface="微软雅黑" panose="020B0503020204020204" pitchFamily="34" charset="-122"/>
                <a:cs typeface="宋体" charset="0"/>
              </a:rPr>
              <a:t>较为均匀的维度</a:t>
            </a:r>
            <a:r>
              <a:rPr kumimoji="1" lang="zh-CN" altLang="en-US" sz="1600" dirty="0" smtClean="0">
                <a:latin typeface="微软雅黑" panose="020B0503020204020204" pitchFamily="34" charset="-122"/>
                <a:ea typeface="微软雅黑" panose="020B0503020204020204" pitchFamily="34" charset="-122"/>
                <a:cs typeface="宋体" charset="0"/>
              </a:rPr>
              <a:t>，可以用来控制段内某一维度对象的总量</a:t>
            </a:r>
            <a:r>
              <a:rPr kumimoji="1" lang="zh-CN" altLang="en-US" sz="1600" dirty="0">
                <a:latin typeface="微软雅黑" panose="020B0503020204020204" pitchFamily="34" charset="-122"/>
                <a:ea typeface="微软雅黑" panose="020B0503020204020204" pitchFamily="34" charset="-122"/>
                <a:cs typeface="宋体" charset="0"/>
              </a:rPr>
              <a:t>，超过</a:t>
            </a:r>
            <a:r>
              <a:rPr kumimoji="1" lang="zh-CN" altLang="en-US" sz="1600" dirty="0" smtClean="0">
                <a:latin typeface="微软雅黑" panose="020B0503020204020204" pitchFamily="34" charset="-122"/>
                <a:ea typeface="微软雅黑" panose="020B0503020204020204" pitchFamily="34" charset="-122"/>
                <a:cs typeface="宋体" charset="0"/>
              </a:rPr>
              <a:t>阈值的日志将被全过滤</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段</a:t>
            </a:r>
            <a:r>
              <a:rPr kumimoji="1" lang="zh-CN" altLang="en-US" sz="1600" dirty="0" smtClean="0">
                <a:latin typeface="微软雅黑" panose="020B0503020204020204" pitchFamily="34" charset="-122"/>
                <a:ea typeface="微软雅黑" panose="020B0503020204020204" pitchFamily="34" charset="-122"/>
                <a:cs typeface="宋体" charset="0"/>
              </a:rPr>
              <a:t>上限策略使用的阈值是固定的，因此不适用于维度对象值有较大波动的场景。且段上限策略存在段首漏过和株连误过的问题。</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endParaRPr kumimoji="1" lang="en-US" altLang="zh-CN" sz="1600" dirty="0" smtClean="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4187365"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基于数目特征的段</a:t>
            </a:r>
            <a:r>
              <a:rPr kumimoji="1" lang="zh-CN" altLang="en-US" sz="1400" b="1" spc="200" dirty="0">
                <a:latin typeface="微软雅黑"/>
                <a:ea typeface="微软雅黑"/>
                <a:cs typeface="微软雅黑"/>
              </a:rPr>
              <a:t>上限</a:t>
            </a:r>
            <a:r>
              <a:rPr kumimoji="1" lang="zh-CN" altLang="en-US" sz="1400" b="1" spc="200" dirty="0" smtClean="0">
                <a:latin typeface="微软雅黑"/>
                <a:ea typeface="微软雅黑"/>
                <a:cs typeface="微软雅黑"/>
              </a:rPr>
              <a:t>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4904695" cy="3913804"/>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数目特征</a:t>
            </a:r>
            <a:r>
              <a:rPr kumimoji="1" lang="en-US" altLang="zh-CN" sz="1800" dirty="0" smtClean="0">
                <a:latin typeface="微软雅黑" panose="020B0503020204020204" pitchFamily="34" charset="-122"/>
                <a:ea typeface="微软雅黑" panose="020B0503020204020204" pitchFamily="34" charset="-122"/>
                <a:cs typeface="宋体" charset="0"/>
              </a:rPr>
              <a:t>(segment)</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含义</a:t>
            </a:r>
            <a:r>
              <a:rPr kumimoji="1" lang="zh-CN" altLang="en-US"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对于某个段内的日志，某</a:t>
            </a:r>
            <a:r>
              <a:rPr kumimoji="1" lang="zh-CN" altLang="en-US" sz="1400" dirty="0">
                <a:latin typeface="微软雅黑" panose="020B0503020204020204" pitchFamily="34" charset="-122"/>
                <a:ea typeface="微软雅黑" panose="020B0503020204020204" pitchFamily="34" charset="-122"/>
                <a:cs typeface="宋体" charset="0"/>
              </a:rPr>
              <a:t>一或某些维度下</a:t>
            </a:r>
            <a:r>
              <a:rPr kumimoji="1" lang="zh-CN" altLang="en-US" sz="1400" dirty="0" smtClean="0">
                <a:latin typeface="微软雅黑" panose="020B0503020204020204" pitchFamily="34" charset="-122"/>
                <a:ea typeface="微软雅黑" panose="020B0503020204020204" pitchFamily="34" charset="-122"/>
                <a:cs typeface="宋体" charset="0"/>
              </a:rPr>
              <a:t>，单个维度对象或维度对象组合</a:t>
            </a:r>
            <a:r>
              <a:rPr kumimoji="1" lang="zh-CN" altLang="en-US" sz="1400" dirty="0">
                <a:latin typeface="微软雅黑" panose="020B0503020204020204" pitchFamily="34" charset="-122"/>
                <a:ea typeface="微软雅黑" panose="020B0503020204020204" pitchFamily="34" charset="-122"/>
                <a:cs typeface="宋体" charset="0"/>
              </a:rPr>
              <a:t>的</a:t>
            </a:r>
            <a:r>
              <a:rPr kumimoji="1" lang="zh-CN" altLang="en-US" sz="1400" dirty="0" smtClean="0">
                <a:latin typeface="微软雅黑" panose="020B0503020204020204" pitchFamily="34" charset="-122"/>
                <a:ea typeface="微软雅黑" panose="020B0503020204020204" pitchFamily="34" charset="-122"/>
                <a:cs typeface="宋体" charset="0"/>
              </a:rPr>
              <a:t>频次，或者说具有同样维度对象的日志数目</a:t>
            </a:r>
            <a:r>
              <a:rPr kumimoji="1" lang="zh-CN" altLang="en-US" sz="1200" dirty="0" smtClean="0">
                <a:latin typeface="微软雅黑" panose="020B0503020204020204" pitchFamily="34" charset="-122"/>
                <a:ea typeface="微软雅黑" panose="020B0503020204020204" pitchFamily="34" charset="-122"/>
                <a:cs typeface="宋体" charset="0"/>
              </a:rPr>
              <a:t>。</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200" dirty="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实例</a:t>
            </a:r>
            <a:r>
              <a:rPr kumimoji="1" lang="en-US" altLang="zh-CN" sz="1600" dirty="0" smtClean="0">
                <a:latin typeface="微软雅黑" panose="020B0503020204020204" pitchFamily="34" charset="-122"/>
                <a:ea typeface="微软雅黑" panose="020B0503020204020204" pitchFamily="34" charset="-122"/>
                <a:cs typeface="宋体" charset="0"/>
              </a:rPr>
              <a:t>(331</a:t>
            </a:r>
            <a:r>
              <a:rPr kumimoji="1" lang="zh-CN" altLang="en-US" sz="1600" dirty="0" smtClean="0">
                <a:latin typeface="微软雅黑" panose="020B0503020204020204" pitchFamily="34" charset="-122"/>
                <a:ea typeface="微软雅黑" panose="020B0503020204020204" pitchFamily="34" charset="-122"/>
                <a:cs typeface="宋体" charset="0"/>
              </a:rPr>
              <a:t>特征</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400" dirty="0" err="1" smtClean="0">
                <a:latin typeface="微软雅黑" panose="020B0503020204020204" pitchFamily="34" charset="-122"/>
                <a:ea typeface="微软雅黑" panose="020B0503020204020204" pitchFamily="34" charset="-122"/>
                <a:cs typeface="宋体" charset="0"/>
              </a:rPr>
              <a:t>window_type</a:t>
            </a:r>
            <a:r>
              <a:rPr kumimoji="1" lang="zh-CN" altLang="en-US" sz="1400" dirty="0" smtClean="0">
                <a:latin typeface="微软雅黑" panose="020B0503020204020204" pitchFamily="34" charset="-122"/>
                <a:ea typeface="微软雅黑" panose="020B0503020204020204" pitchFamily="34" charset="-122"/>
                <a:cs typeface="宋体" charset="0"/>
              </a:rPr>
              <a:t>表示段的类型</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en-US" altLang="zh-CN" sz="1400" dirty="0" err="1" smtClean="0">
                <a:latin typeface="微软雅黑" panose="020B0503020204020204" pitchFamily="34" charset="-122"/>
                <a:ea typeface="微软雅黑" panose="020B0503020204020204" pitchFamily="34" charset="-122"/>
                <a:cs typeface="宋体" charset="0"/>
              </a:rPr>
              <a:t>pv</a:t>
            </a:r>
            <a:r>
              <a:rPr kumimoji="1" lang="zh-CN" altLang="en-US" sz="1400" dirty="0" smtClean="0">
                <a:latin typeface="微软雅黑" panose="020B0503020204020204" pitchFamily="34" charset="-122"/>
                <a:ea typeface="微软雅黑" panose="020B0503020204020204" pitchFamily="34" charset="-122"/>
                <a:cs typeface="宋体" charset="0"/>
              </a:rPr>
              <a:t>或</a:t>
            </a:r>
            <a:r>
              <a:rPr kumimoji="1" lang="en-US" altLang="zh-CN" sz="1400" dirty="0" smtClean="0">
                <a:latin typeface="微软雅黑" panose="020B0503020204020204" pitchFamily="34" charset="-122"/>
                <a:ea typeface="微软雅黑" panose="020B0503020204020204" pitchFamily="34" charset="-122"/>
                <a:cs typeface="宋体" charset="0"/>
              </a:rPr>
              <a:t>time)</a:t>
            </a:r>
            <a:r>
              <a:rPr kumimoji="1" lang="zh-CN" altLang="en-US" sz="1400" dirty="0" smtClean="0">
                <a:latin typeface="微软雅黑" panose="020B0503020204020204" pitchFamily="34" charset="-122"/>
                <a:ea typeface="微软雅黑" panose="020B0503020204020204" pitchFamily="34" charset="-122"/>
                <a:cs typeface="宋体" charset="0"/>
              </a:rPr>
              <a:t>，</a:t>
            </a:r>
            <a:r>
              <a:rPr kumimoji="1" lang="en-US" altLang="zh-CN" sz="1400" dirty="0" err="1" smtClean="0">
                <a:latin typeface="微软雅黑" panose="020B0503020204020204" pitchFamily="34" charset="-122"/>
                <a:ea typeface="微软雅黑" panose="020B0503020204020204" pitchFamily="34" charset="-122"/>
                <a:cs typeface="宋体" charset="0"/>
              </a:rPr>
              <a:t>window_length</a:t>
            </a:r>
            <a:r>
              <a:rPr kumimoji="1" lang="zh-CN" altLang="en-US" sz="1400" dirty="0" smtClean="0">
                <a:latin typeface="微软雅黑" panose="020B0503020204020204" pitchFamily="34" charset="-122"/>
                <a:ea typeface="微软雅黑" panose="020B0503020204020204" pitchFamily="34" charset="-122"/>
                <a:cs typeface="宋体" charset="0"/>
              </a:rPr>
              <a:t>表示段长，</a:t>
            </a:r>
            <a:r>
              <a:rPr kumimoji="1" lang="en-US" altLang="zh-CN" sz="1400" dirty="0" err="1" smtClean="0">
                <a:latin typeface="微软雅黑" panose="020B0503020204020204" pitchFamily="34" charset="-122"/>
                <a:ea typeface="微软雅黑" panose="020B0503020204020204" pitchFamily="34" charset="-122"/>
                <a:cs typeface="宋体" charset="0"/>
              </a:rPr>
              <a:t>step_length</a:t>
            </a:r>
            <a:r>
              <a:rPr kumimoji="1" lang="zh-CN" altLang="en-US" sz="1400" dirty="0" smtClean="0">
                <a:latin typeface="微软雅黑" panose="020B0503020204020204" pitchFamily="34" charset="-122"/>
                <a:ea typeface="微软雅黑" panose="020B0503020204020204" pitchFamily="34" charset="-122"/>
                <a:cs typeface="宋体" charset="0"/>
              </a:rPr>
              <a:t>表示步长，</a:t>
            </a:r>
            <a:r>
              <a:rPr kumimoji="1" lang="en-US" altLang="zh-CN" sz="1400" dirty="0" err="1" smtClean="0">
                <a:latin typeface="微软雅黑" panose="020B0503020204020204" pitchFamily="34" charset="-122"/>
                <a:ea typeface="微软雅黑" panose="020B0503020204020204" pitchFamily="34" charset="-122"/>
                <a:cs typeface="宋体" charset="0"/>
              </a:rPr>
              <a:t>click_mode</a:t>
            </a:r>
            <a:r>
              <a:rPr kumimoji="1" lang="zh-CN" altLang="en-US" sz="1400" dirty="0" smtClean="0">
                <a:latin typeface="微软雅黑" panose="020B0503020204020204" pitchFamily="34" charset="-122"/>
                <a:ea typeface="微软雅黑" panose="020B0503020204020204" pitchFamily="34" charset="-122"/>
                <a:cs typeface="宋体" charset="0"/>
              </a:rPr>
              <a:t>表示</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首先根据</a:t>
            </a:r>
            <a:r>
              <a:rPr kumimoji="1" lang="en-US" altLang="zh-CN" sz="1400" dirty="0" smtClean="0">
                <a:latin typeface="微软雅黑" panose="020B0503020204020204" pitchFamily="34" charset="-122"/>
                <a:ea typeface="微软雅黑" panose="020B0503020204020204" pitchFamily="34" charset="-122"/>
                <a:cs typeface="宋体" charset="0"/>
              </a:rPr>
              <a:t>care</a:t>
            </a:r>
            <a:r>
              <a:rPr kumimoji="1" lang="zh-CN" altLang="en-US" sz="1400" dirty="0" smtClean="0">
                <a:latin typeface="微软雅黑" panose="020B0503020204020204" pitchFamily="34" charset="-122"/>
                <a:ea typeface="微软雅黑" panose="020B0503020204020204" pitchFamily="34" charset="-122"/>
                <a:cs typeface="宋体" charset="0"/>
              </a:rPr>
              <a:t>表达式圈定</a:t>
            </a:r>
            <a:r>
              <a:rPr kumimoji="1" lang="en-US" altLang="zh-CN" sz="1400" dirty="0" smtClean="0">
                <a:latin typeface="微软雅黑" panose="020B0503020204020204" pitchFamily="34" charset="-122"/>
                <a:ea typeface="微软雅黑" panose="020B0503020204020204" pitchFamily="34" charset="-122"/>
                <a:cs typeface="宋体" charset="0"/>
              </a:rPr>
              <a:t>PC</a:t>
            </a:r>
            <a:r>
              <a:rPr kumimoji="1" lang="zh-CN" altLang="en-US" sz="1400" dirty="0" smtClean="0">
                <a:latin typeface="微软雅黑" panose="020B0503020204020204" pitchFamily="34" charset="-122"/>
                <a:ea typeface="微软雅黑" panose="020B0503020204020204" pitchFamily="34" charset="-122"/>
                <a:cs typeface="宋体" charset="0"/>
              </a:rPr>
              <a:t>凤巢的日志，然后统计每</a:t>
            </a:r>
            <a:r>
              <a:rPr kumimoji="1" lang="en-US" altLang="zh-CN" sz="1400" dirty="0" smtClean="0">
                <a:latin typeface="微软雅黑" panose="020B0503020204020204" pitchFamily="34" charset="-122"/>
                <a:ea typeface="微软雅黑" panose="020B0503020204020204" pitchFamily="34" charset="-122"/>
                <a:cs typeface="宋体" charset="0"/>
              </a:rPr>
              <a:t>10</a:t>
            </a:r>
            <a:r>
              <a:rPr kumimoji="1" lang="zh-CN" altLang="en-US" sz="1400" dirty="0" smtClean="0">
                <a:latin typeface="微软雅黑" panose="020B0503020204020204" pitchFamily="34" charset="-122"/>
                <a:ea typeface="微软雅黑" panose="020B0503020204020204" pitchFamily="34" charset="-122"/>
                <a:cs typeface="宋体" charset="0"/>
              </a:rPr>
              <a:t>万条日志中具有相同点击</a:t>
            </a:r>
            <a:r>
              <a:rPr kumimoji="1" lang="en-US" altLang="zh-CN" sz="1400" dirty="0" err="1" smtClean="0">
                <a:latin typeface="微软雅黑" panose="020B0503020204020204" pitchFamily="34" charset="-122"/>
                <a:ea typeface="微软雅黑" panose="020B0503020204020204" pitchFamily="34" charset="-122"/>
                <a:cs typeface="宋体" charset="0"/>
              </a:rPr>
              <a:t>ip</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en-US" altLang="zh-CN" sz="1400" dirty="0" err="1" smtClean="0">
                <a:latin typeface="微软雅黑" panose="020B0503020204020204" pitchFamily="34" charset="-122"/>
                <a:ea typeface="微软雅黑" panose="020B0503020204020204" pitchFamily="34" charset="-122"/>
                <a:cs typeface="宋体" charset="0"/>
              </a:rPr>
              <a:t>clkip</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zh-CN" altLang="en-US" sz="1400" dirty="0" smtClean="0">
                <a:latin typeface="微软雅黑" panose="020B0503020204020204" pitchFamily="34" charset="-122"/>
                <a:ea typeface="微软雅黑" panose="020B0503020204020204" pitchFamily="34" charset="-122"/>
                <a:cs typeface="宋体" charset="0"/>
              </a:rPr>
              <a:t>日志的数量，两个相邻的段之间相距</a:t>
            </a:r>
            <a:r>
              <a:rPr kumimoji="1" lang="en-US" altLang="zh-CN" sz="1400" dirty="0" smtClean="0">
                <a:latin typeface="微软雅黑" panose="020B0503020204020204" pitchFamily="34" charset="-122"/>
                <a:ea typeface="微软雅黑" panose="020B0503020204020204" pitchFamily="34" charset="-122"/>
                <a:cs typeface="宋体" charset="0"/>
              </a:rPr>
              <a:t>10</a:t>
            </a:r>
            <a:r>
              <a:rPr kumimoji="1" lang="zh-CN" altLang="en-US" sz="1400" dirty="0" smtClean="0">
                <a:latin typeface="微软雅黑" panose="020B0503020204020204" pitchFamily="34" charset="-122"/>
                <a:ea typeface="微软雅黑" panose="020B0503020204020204" pitchFamily="34" charset="-122"/>
                <a:cs typeface="宋体" charset="0"/>
              </a:rPr>
              <a:t>万条日志</a:t>
            </a:r>
            <a:endParaRPr kumimoji="1" lang="en-US" altLang="zh-CN" sz="1400" dirty="0" smtClean="0">
              <a:latin typeface="微软雅黑" panose="020B0503020204020204" pitchFamily="34" charset="-122"/>
              <a:ea typeface="微软雅黑" panose="020B0503020204020204" pitchFamily="34" charset="-122"/>
              <a:cs typeface="宋体" charset="0"/>
            </a:endParaRPr>
          </a:p>
        </p:txBody>
      </p:sp>
      <p:sp>
        <p:nvSpPr>
          <p:cNvPr id="6" name="矩形 5"/>
          <p:cNvSpPr/>
          <p:nvPr/>
        </p:nvSpPr>
        <p:spPr>
          <a:xfrm>
            <a:off x="5716709" y="1674323"/>
            <a:ext cx="3110495" cy="2462213"/>
          </a:xfrm>
          <a:prstGeom prst="rect">
            <a:avLst/>
          </a:prstGeom>
          <a:solidFill>
            <a:schemeClr val="tx1">
              <a:lumMod val="95000"/>
              <a:lumOff val="5000"/>
            </a:schemeClr>
          </a:solidFill>
        </p:spPr>
        <p:txBody>
          <a:bodyPr wrap="square">
            <a:spAutoFit/>
          </a:bodyPr>
          <a:lstStyle/>
          <a:p>
            <a:r>
              <a:rPr lang="en-US" altLang="zh-CN" sz="1400" dirty="0">
                <a:solidFill>
                  <a:srgbClr val="33CC33"/>
                </a:solidFill>
                <a:latin typeface="Times New Roman" panose="02020603050405020304" charset="0"/>
                <a:cs typeface="Times New Roman" panose="02020603050405020304" charset="0"/>
              </a:rPr>
              <a:t>[@feature]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 331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feature_type</a:t>
            </a:r>
            <a:r>
              <a:rPr lang="en-US" altLang="zh-CN" sz="1400" dirty="0">
                <a:solidFill>
                  <a:srgbClr val="33CC33"/>
                </a:solidFill>
                <a:latin typeface="Times New Roman" panose="02020603050405020304" charset="0"/>
                <a:cs typeface="Times New Roman" panose="02020603050405020304" charset="0"/>
              </a:rPr>
              <a:t> : segment</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view_level</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click_level</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care         : [#</a:t>
            </a:r>
            <a:r>
              <a:rPr lang="en-US" altLang="zh-CN" sz="1400" dirty="0" err="1">
                <a:solidFill>
                  <a:srgbClr val="33CC33"/>
                </a:solidFill>
                <a:latin typeface="Times New Roman" panose="02020603050405020304" charset="0"/>
                <a:cs typeface="Times New Roman" panose="02020603050405020304" charset="0"/>
              </a:rPr>
              <a:t>SearchClick</a:t>
            </a:r>
            <a:r>
              <a:rPr lang="en-US" altLang="zh-CN" sz="1400" dirty="0">
                <a:solidFill>
                  <a:srgbClr val="33CC33"/>
                </a:solidFill>
                <a:latin typeface="Times New Roman" panose="02020603050405020304" charset="0"/>
                <a:cs typeface="Times New Roman" panose="02020603050405020304" charset="0"/>
              </a:rPr>
              <a:t>][#PC]</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view         : </a:t>
            </a:r>
            <a:r>
              <a:rPr lang="en-US" altLang="zh-CN" sz="1400" dirty="0" err="1">
                <a:solidFill>
                  <a:srgbClr val="33CC33"/>
                </a:solidFill>
                <a:latin typeface="Times New Roman" panose="02020603050405020304" charset="0"/>
                <a:cs typeface="Times New Roman" panose="02020603050405020304" charset="0"/>
              </a:rPr>
              <a:t>clkip</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version      : 11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window_type</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pv</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window_length</a:t>
            </a:r>
            <a:r>
              <a:rPr lang="en-US" altLang="zh-CN" sz="1400" dirty="0">
                <a:solidFill>
                  <a:srgbClr val="33CC33"/>
                </a:solidFill>
                <a:latin typeface="Times New Roman" panose="02020603050405020304" charset="0"/>
                <a:cs typeface="Times New Roman" panose="02020603050405020304" charset="0"/>
              </a:rPr>
              <a:t>: 100000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click_mode</a:t>
            </a:r>
            <a:r>
              <a:rPr lang="en-US" altLang="zh-CN" sz="1400" dirty="0">
                <a:solidFill>
                  <a:srgbClr val="33CC33"/>
                </a:solidFill>
                <a:latin typeface="Times New Roman" panose="02020603050405020304" charset="0"/>
                <a:cs typeface="Times New Roman" panose="02020603050405020304" charset="0"/>
              </a:rPr>
              <a:t>   : 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step_length</a:t>
            </a:r>
            <a:r>
              <a:rPr lang="en-US" altLang="zh-CN" sz="1400" dirty="0">
                <a:solidFill>
                  <a:srgbClr val="33CC33"/>
                </a:solidFill>
                <a:latin typeface="Times New Roman" panose="02020603050405020304" charset="0"/>
                <a:cs typeface="Times New Roman" panose="02020603050405020304" charset="0"/>
              </a:rPr>
              <a:t>  : 100000</a:t>
            </a:r>
            <a:endParaRPr lang="en-US" altLang="zh-CN" sz="1400" dirty="0">
              <a:solidFill>
                <a:srgbClr val="33CC33"/>
              </a:solidFill>
              <a:latin typeface="Times New Roman" panose="02020603050405020304" charset="0"/>
              <a:cs typeface="Times New Roman" panose="02020603050405020304" charset="0"/>
            </a:endParaRPr>
          </a:p>
        </p:txBody>
      </p:sp>
      <p:sp>
        <p:nvSpPr>
          <p:cNvPr id="8" name="文本框 7"/>
          <p:cNvSpPr txBox="1"/>
          <p:nvPr/>
        </p:nvSpPr>
        <p:spPr>
          <a:xfrm>
            <a:off x="5753804" y="1297724"/>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331</a:t>
            </a:r>
            <a:r>
              <a:rPr lang="zh-CN" altLang="en-US" sz="1200" dirty="0" smtClean="0">
                <a:latin typeface="微软雅黑" panose="020B0503020204020204" pitchFamily="34" charset="-122"/>
                <a:ea typeface="微软雅黑" panose="020B0503020204020204" pitchFamily="34" charset="-122"/>
              </a:rPr>
              <a:t>特征配置文件</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4187365"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基于数目特征的段</a:t>
            </a:r>
            <a:r>
              <a:rPr kumimoji="1" lang="zh-CN" altLang="en-US" sz="1400" b="1" spc="200" dirty="0">
                <a:latin typeface="微软雅黑"/>
                <a:ea typeface="微软雅黑"/>
                <a:cs typeface="微软雅黑"/>
              </a:rPr>
              <a:t>上限</a:t>
            </a:r>
            <a:r>
              <a:rPr kumimoji="1" lang="zh-CN" altLang="en-US" sz="1400" b="1" spc="200" dirty="0" smtClean="0">
                <a:latin typeface="微软雅黑"/>
                <a:ea typeface="微软雅黑"/>
                <a:cs typeface="微软雅黑"/>
              </a:rPr>
              <a:t>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302649" y="1002754"/>
            <a:ext cx="5374251" cy="3913804"/>
          </a:xfrm>
        </p:spPr>
        <p:txBody>
          <a:bodyPr>
            <a:noAutofit/>
          </a:bodyPr>
          <a:lstStyle/>
          <a:p>
            <a:pPr marL="0" indent="0">
              <a:spcAft>
                <a:spcPts val="600"/>
              </a:spcAft>
              <a:buSzPct val="120000"/>
              <a:buNone/>
            </a:pPr>
            <a:r>
              <a:rPr kumimoji="1" lang="en-US" altLang="zh-CN" sz="1800" dirty="0" smtClean="0">
                <a:latin typeface="微软雅黑" panose="020B0503020204020204" pitchFamily="34" charset="-122"/>
                <a:ea typeface="微软雅黑" panose="020B0503020204020204" pitchFamily="34" charset="-122"/>
                <a:cs typeface="宋体" charset="0"/>
              </a:rPr>
              <a:t>331</a:t>
            </a:r>
            <a:r>
              <a:rPr kumimoji="1" lang="zh-CN" altLang="en-US" sz="1800" dirty="0" smtClean="0">
                <a:latin typeface="微软雅黑" panose="020B0503020204020204" pitchFamily="34" charset="-122"/>
                <a:ea typeface="微软雅黑" panose="020B0503020204020204" pitchFamily="34" charset="-122"/>
                <a:cs typeface="宋体" charset="0"/>
              </a:rPr>
              <a:t>策略</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策略背景：</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每</a:t>
            </a:r>
            <a:r>
              <a:rPr kumimoji="1" lang="en-US" altLang="zh-CN" sz="1400" dirty="0" smtClean="0">
                <a:latin typeface="微软雅黑" panose="020B0503020204020204" pitchFamily="34" charset="-122"/>
                <a:ea typeface="微软雅黑" panose="020B0503020204020204" pitchFamily="34" charset="-122"/>
                <a:cs typeface="宋体" charset="0"/>
              </a:rPr>
              <a:t>10</a:t>
            </a:r>
            <a:r>
              <a:rPr kumimoji="1" lang="zh-CN" altLang="en-US" sz="1400" dirty="0" smtClean="0">
                <a:latin typeface="微软雅黑" panose="020B0503020204020204" pitchFamily="34" charset="-122"/>
                <a:ea typeface="微软雅黑" panose="020B0503020204020204" pitchFamily="34" charset="-122"/>
                <a:cs typeface="宋体" charset="0"/>
              </a:rPr>
              <a:t>万条日志</a:t>
            </a:r>
            <a:r>
              <a:rPr kumimoji="1" lang="zh-CN" altLang="en-US" sz="1400" dirty="0">
                <a:latin typeface="微软雅黑" panose="020B0503020204020204" pitchFamily="34" charset="-122"/>
                <a:ea typeface="微软雅黑" panose="020B0503020204020204" pitchFamily="34" charset="-122"/>
                <a:cs typeface="宋体" charset="0"/>
              </a:rPr>
              <a:t>具有</a:t>
            </a:r>
            <a:r>
              <a:rPr kumimoji="1" lang="zh-CN" altLang="en-US" sz="1400" dirty="0" smtClean="0">
                <a:latin typeface="微软雅黑" panose="020B0503020204020204" pitchFamily="34" charset="-122"/>
                <a:ea typeface="微软雅黑" panose="020B0503020204020204" pitchFamily="34" charset="-122"/>
                <a:cs typeface="宋体" charset="0"/>
              </a:rPr>
              <a:t>相同点击</a:t>
            </a:r>
            <a:r>
              <a:rPr kumimoji="1" lang="en-US" altLang="zh-CN" sz="1400" dirty="0" err="1" smtClean="0">
                <a:latin typeface="微软雅黑" panose="020B0503020204020204" pitchFamily="34" charset="-122"/>
                <a:ea typeface="微软雅黑" panose="020B0503020204020204" pitchFamily="34" charset="-122"/>
                <a:cs typeface="宋体" charset="0"/>
              </a:rPr>
              <a:t>ip</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en-US" altLang="zh-CN" sz="1400" dirty="0" err="1" smtClean="0">
                <a:latin typeface="微软雅黑" panose="020B0503020204020204" pitchFamily="34" charset="-122"/>
                <a:ea typeface="微软雅黑" panose="020B0503020204020204" pitchFamily="34" charset="-122"/>
                <a:cs typeface="宋体" charset="0"/>
              </a:rPr>
              <a:t>clkip</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zh-CN" altLang="en-US" sz="1400" dirty="0" smtClean="0">
                <a:latin typeface="微软雅黑" panose="020B0503020204020204" pitchFamily="34" charset="-122"/>
                <a:ea typeface="微软雅黑" panose="020B0503020204020204" pitchFamily="34" charset="-122"/>
                <a:cs typeface="宋体" charset="0"/>
              </a:rPr>
              <a:t>的日志数应该小于某一阈值，</a:t>
            </a:r>
            <a:r>
              <a:rPr kumimoji="1" lang="en-US" altLang="zh-CN" sz="1400" dirty="0" smtClean="0">
                <a:latin typeface="微软雅黑" panose="020B0503020204020204" pitchFamily="34" charset="-122"/>
                <a:ea typeface="微软雅黑" panose="020B0503020204020204" pitchFamily="34" charset="-122"/>
                <a:cs typeface="宋体" charset="0"/>
              </a:rPr>
              <a:t>331</a:t>
            </a:r>
            <a:r>
              <a:rPr kumimoji="1" lang="zh-CN" altLang="en-US" sz="1400" dirty="0" smtClean="0">
                <a:latin typeface="微软雅黑" panose="020B0503020204020204" pitchFamily="34" charset="-122"/>
                <a:ea typeface="微软雅黑" panose="020B0503020204020204" pitchFamily="34" charset="-122"/>
                <a:cs typeface="宋体" charset="0"/>
              </a:rPr>
              <a:t>策略就实现了这一规则</a:t>
            </a:r>
            <a:endParaRPr kumimoji="1" lang="en-US" altLang="zh-CN" sz="1400" dirty="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参数说明：</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400" dirty="0" err="1" smtClean="0">
                <a:latin typeface="微软雅黑" panose="020B0503020204020204" pitchFamily="34" charset="-122"/>
                <a:ea typeface="微软雅黑" panose="020B0503020204020204" pitchFamily="34" charset="-122"/>
                <a:cs typeface="宋体" charset="0"/>
              </a:rPr>
              <a:t>gray_file</a:t>
            </a:r>
            <a:r>
              <a:rPr kumimoji="1" lang="en-US" altLang="zh-CN" sz="1400" dirty="0" smtClean="0">
                <a:latin typeface="微软雅黑" panose="020B0503020204020204" pitchFamily="34" charset="-122"/>
                <a:ea typeface="微软雅黑" panose="020B0503020204020204" pitchFamily="34" charset="-122"/>
                <a:cs typeface="宋体" charset="0"/>
              </a:rPr>
              <a:t>: </a:t>
            </a:r>
            <a:r>
              <a:rPr kumimoji="1" lang="zh-CN" altLang="en-US" sz="1400" dirty="0">
                <a:latin typeface="微软雅黑" panose="020B0503020204020204" pitchFamily="34" charset="-122"/>
                <a:ea typeface="微软雅黑" panose="020B0503020204020204" pitchFamily="34" charset="-122"/>
                <a:cs typeface="宋体" charset="0"/>
              </a:rPr>
              <a:t>灰</a:t>
            </a:r>
            <a:r>
              <a:rPr kumimoji="1" lang="zh-CN" altLang="en-US" sz="1400" dirty="0" smtClean="0">
                <a:latin typeface="微软雅黑" panose="020B0503020204020204" pitchFamily="34" charset="-122"/>
                <a:ea typeface="微软雅黑" panose="020B0503020204020204" pitchFamily="34" charset="-122"/>
                <a:cs typeface="宋体" charset="0"/>
              </a:rPr>
              <a:t>名单，点击</a:t>
            </a:r>
            <a:r>
              <a:rPr kumimoji="1" lang="en-US" altLang="zh-CN" sz="1400" dirty="0" err="1" smtClean="0">
                <a:latin typeface="微软雅黑" panose="020B0503020204020204" pitchFamily="34" charset="-122"/>
                <a:ea typeface="微软雅黑" panose="020B0503020204020204" pitchFamily="34" charset="-122"/>
                <a:cs typeface="宋体" charset="0"/>
              </a:rPr>
              <a:t>ip</a:t>
            </a:r>
            <a:r>
              <a:rPr kumimoji="1" lang="zh-CN" altLang="en-US" sz="1400" dirty="0" smtClean="0">
                <a:latin typeface="微软雅黑" panose="020B0503020204020204" pitchFamily="34" charset="-122"/>
                <a:ea typeface="微软雅黑" panose="020B0503020204020204" pitchFamily="34" charset="-122"/>
                <a:cs typeface="宋体" charset="0"/>
              </a:rPr>
              <a:t>位于</a:t>
            </a:r>
            <a:r>
              <a:rPr kumimoji="1" lang="zh-CN" altLang="en-US" sz="1400" dirty="0">
                <a:latin typeface="微软雅黑" panose="020B0503020204020204" pitchFamily="34" charset="-122"/>
                <a:ea typeface="微软雅黑" panose="020B0503020204020204" pitchFamily="34" charset="-122"/>
                <a:cs typeface="宋体" charset="0"/>
              </a:rPr>
              <a:t>灰</a:t>
            </a:r>
            <a:r>
              <a:rPr kumimoji="1" lang="zh-CN" altLang="en-US" sz="1400" dirty="0" smtClean="0">
                <a:latin typeface="微软雅黑" panose="020B0503020204020204" pitchFamily="34" charset="-122"/>
                <a:ea typeface="微软雅黑" panose="020B0503020204020204" pitchFamily="34" charset="-122"/>
                <a:cs typeface="宋体" charset="0"/>
              </a:rPr>
              <a:t>名单中就会有新的阈值</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400" dirty="0">
                <a:latin typeface="微软雅黑" panose="020B0503020204020204" pitchFamily="34" charset="-122"/>
                <a:ea typeface="微软雅黑" panose="020B0503020204020204" pitchFamily="34" charset="-122"/>
                <a:cs typeface="宋体" charset="0"/>
              </a:rPr>
              <a:t>t</a:t>
            </a:r>
            <a:r>
              <a:rPr kumimoji="1" lang="en-US" altLang="zh-CN" sz="1400" dirty="0" smtClean="0">
                <a:latin typeface="微软雅黑" panose="020B0503020204020204" pitchFamily="34" charset="-122"/>
                <a:ea typeface="微软雅黑" panose="020B0503020204020204" pitchFamily="34" charset="-122"/>
                <a:cs typeface="宋体" charset="0"/>
              </a:rPr>
              <a:t>hreshold</a:t>
            </a:r>
            <a:r>
              <a:rPr kumimoji="1" lang="zh-CN" altLang="en-US" sz="1400" dirty="0" smtClean="0">
                <a:latin typeface="微软雅黑" panose="020B0503020204020204" pitchFamily="34" charset="-122"/>
                <a:ea typeface="微软雅黑" panose="020B0503020204020204" pitchFamily="34" charset="-122"/>
                <a:cs typeface="宋体" charset="0"/>
              </a:rPr>
              <a:t>： </a:t>
            </a:r>
            <a:r>
              <a:rPr kumimoji="1" lang="zh-CN" altLang="en-US" sz="1400" dirty="0">
                <a:latin typeface="微软雅黑" panose="020B0503020204020204" pitchFamily="34" charset="-122"/>
                <a:ea typeface="微软雅黑" panose="020B0503020204020204" pitchFamily="34" charset="-122"/>
                <a:cs typeface="宋体" charset="0"/>
              </a:rPr>
              <a:t>这</a:t>
            </a:r>
            <a:r>
              <a:rPr kumimoji="1" lang="zh-CN" altLang="en-US" sz="1400" dirty="0" smtClean="0">
                <a:latin typeface="微软雅黑" panose="020B0503020204020204" pitchFamily="34" charset="-122"/>
                <a:ea typeface="微软雅黑" panose="020B0503020204020204" pitchFamily="34" charset="-122"/>
                <a:cs typeface="宋体" charset="0"/>
              </a:rPr>
              <a:t>一字段对应的值为特征值的上限，大于这个值就会被策略命中</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400" dirty="0" err="1" smtClean="0">
                <a:latin typeface="微软雅黑" panose="020B0503020204020204" pitchFamily="34" charset="-122"/>
                <a:ea typeface="微软雅黑" panose="020B0503020204020204" pitchFamily="34" charset="-122"/>
                <a:cs typeface="宋体" charset="0"/>
              </a:rPr>
              <a:t>Click_mode</a:t>
            </a:r>
            <a:r>
              <a:rPr kumimoji="1" lang="zh-CN" altLang="en-US" sz="1400" dirty="0" smtClean="0">
                <a:latin typeface="微软雅黑" panose="020B0503020204020204" pitchFamily="34" charset="-122"/>
                <a:ea typeface="微软雅黑" panose="020B0503020204020204" pitchFamily="34" charset="-122"/>
                <a:cs typeface="宋体" charset="0"/>
              </a:rPr>
              <a:t>：为</a:t>
            </a:r>
            <a:r>
              <a:rPr kumimoji="1" lang="en-US" altLang="zh-CN" sz="1400" dirty="0" smtClean="0">
                <a:latin typeface="微软雅黑" panose="020B0503020204020204" pitchFamily="34" charset="-122"/>
                <a:ea typeface="微软雅黑" panose="020B0503020204020204" pitchFamily="34" charset="-122"/>
                <a:cs typeface="宋体" charset="0"/>
              </a:rPr>
              <a:t>1</a:t>
            </a:r>
            <a:r>
              <a:rPr kumimoji="1" lang="zh-CN" altLang="en-US" sz="1400" dirty="0" smtClean="0">
                <a:latin typeface="微软雅黑" panose="020B0503020204020204" pitchFamily="34" charset="-122"/>
                <a:ea typeface="微软雅黑" panose="020B0503020204020204" pitchFamily="34" charset="-122"/>
                <a:cs typeface="宋体" charset="0"/>
              </a:rPr>
              <a:t>则跳段，为</a:t>
            </a:r>
            <a:r>
              <a:rPr kumimoji="1" lang="en-US" altLang="zh-CN" sz="1400" dirty="0" smtClean="0">
                <a:latin typeface="微软雅黑" panose="020B0503020204020204" pitchFamily="34" charset="-122"/>
                <a:ea typeface="微软雅黑" panose="020B0503020204020204" pitchFamily="34" charset="-122"/>
                <a:cs typeface="宋体" charset="0"/>
              </a:rPr>
              <a:t>0</a:t>
            </a:r>
            <a:r>
              <a:rPr kumimoji="1" lang="zh-CN" altLang="en-US" sz="1400" dirty="0" smtClean="0">
                <a:latin typeface="微软雅黑" panose="020B0503020204020204" pitchFamily="34" charset="-122"/>
                <a:ea typeface="微软雅黑" panose="020B0503020204020204" pitchFamily="34" charset="-122"/>
                <a:cs typeface="宋体" charset="0"/>
              </a:rPr>
              <a:t>则视步长而定</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800" dirty="0">
                <a:latin typeface="微软雅黑" panose="020B0503020204020204" pitchFamily="34" charset="-122"/>
                <a:ea typeface="微软雅黑" panose="020B0503020204020204" pitchFamily="34" charset="-122"/>
                <a:cs typeface="宋体" charset="0"/>
              </a:rPr>
              <a:t>策略解析：</a:t>
            </a:r>
            <a:endParaRPr kumimoji="1" lang="zh-CN" altLang="en-US" sz="1800" dirty="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a:latin typeface="微软雅黑" panose="020B0503020204020204" pitchFamily="34" charset="-122"/>
                <a:ea typeface="微软雅黑" panose="020B0503020204020204" pitchFamily="34" charset="-122"/>
                <a:cs typeface="宋体" charset="0"/>
              </a:rPr>
              <a:t>凤巢</a:t>
            </a:r>
            <a:r>
              <a:rPr kumimoji="1" lang="en-US" altLang="zh-CN" sz="1400" dirty="0">
                <a:latin typeface="微软雅黑" panose="020B0503020204020204" pitchFamily="34" charset="-122"/>
                <a:ea typeface="微软雅黑" panose="020B0503020204020204" pitchFamily="34" charset="-122"/>
                <a:cs typeface="宋体" charset="0"/>
              </a:rPr>
              <a:t>pc</a:t>
            </a:r>
            <a:r>
              <a:rPr kumimoji="1" lang="zh-CN" altLang="en-US" sz="1400" dirty="0">
                <a:latin typeface="微软雅黑" panose="020B0503020204020204" pitchFamily="34" charset="-122"/>
                <a:ea typeface="微软雅黑" panose="020B0503020204020204" pitchFamily="34" charset="-122"/>
                <a:cs typeface="宋体" charset="0"/>
              </a:rPr>
              <a:t>端每</a:t>
            </a:r>
            <a:r>
              <a:rPr kumimoji="1" lang="en-US" altLang="zh-CN" sz="1400" dirty="0">
                <a:latin typeface="微软雅黑" panose="020B0503020204020204" pitchFamily="34" charset="-122"/>
                <a:ea typeface="微软雅黑" panose="020B0503020204020204" pitchFamily="34" charset="-122"/>
                <a:cs typeface="宋体" charset="0"/>
              </a:rPr>
              <a:t>10</a:t>
            </a:r>
            <a:r>
              <a:rPr kumimoji="1" lang="zh-CN" altLang="en-US" sz="1400" dirty="0">
                <a:latin typeface="微软雅黑" panose="020B0503020204020204" pitchFamily="34" charset="-122"/>
                <a:ea typeface="微软雅黑" panose="020B0503020204020204" pitchFamily="34" charset="-122"/>
                <a:cs typeface="宋体" charset="0"/>
              </a:rPr>
              <a:t>万点击日志中，同一点击</a:t>
            </a:r>
            <a:r>
              <a:rPr kumimoji="1" lang="en-US" altLang="zh-CN" sz="1400" dirty="0" err="1">
                <a:latin typeface="微软雅黑" panose="020B0503020204020204" pitchFamily="34" charset="-122"/>
                <a:ea typeface="微软雅黑" panose="020B0503020204020204" pitchFamily="34" charset="-122"/>
                <a:cs typeface="宋体" charset="0"/>
              </a:rPr>
              <a:t>ip</a:t>
            </a:r>
            <a:r>
              <a:rPr kumimoji="1" lang="zh-CN" altLang="en-US" sz="1400" dirty="0">
                <a:latin typeface="微软雅黑" panose="020B0503020204020204" pitchFamily="34" charset="-122"/>
                <a:ea typeface="微软雅黑" panose="020B0503020204020204" pitchFamily="34" charset="-122"/>
                <a:cs typeface="宋体" charset="0"/>
              </a:rPr>
              <a:t>出现的次数不能超过</a:t>
            </a:r>
            <a:r>
              <a:rPr kumimoji="1" lang="en-US" altLang="zh-CN" sz="1400" dirty="0">
                <a:latin typeface="微软雅黑" panose="020B0503020204020204" pitchFamily="34" charset="-122"/>
                <a:ea typeface="微软雅黑" panose="020B0503020204020204" pitchFamily="34" charset="-122"/>
                <a:cs typeface="宋体" charset="0"/>
              </a:rPr>
              <a:t>150</a:t>
            </a:r>
            <a:r>
              <a:rPr kumimoji="1" lang="zh-CN" altLang="en-US" sz="1400" dirty="0">
                <a:latin typeface="微软雅黑" panose="020B0503020204020204" pitchFamily="34" charset="-122"/>
                <a:ea typeface="微软雅黑" panose="020B0503020204020204" pitchFamily="34" charset="-122"/>
                <a:cs typeface="宋体" charset="0"/>
              </a:rPr>
              <a:t>，</a:t>
            </a:r>
            <a:r>
              <a:rPr kumimoji="1" lang="en-US" altLang="zh-CN" sz="1400" dirty="0">
                <a:latin typeface="微软雅黑" panose="020B0503020204020204" pitchFamily="34" charset="-122"/>
                <a:ea typeface="微软雅黑" panose="020B0503020204020204" pitchFamily="34" charset="-122"/>
                <a:cs typeface="宋体" charset="0"/>
              </a:rPr>
              <a:t>331</a:t>
            </a:r>
            <a:r>
              <a:rPr kumimoji="1" lang="zh-CN" altLang="en-US" sz="1400" dirty="0">
                <a:latin typeface="微软雅黑" panose="020B0503020204020204" pitchFamily="34" charset="-122"/>
                <a:ea typeface="微软雅黑" panose="020B0503020204020204" pitchFamily="34" charset="-122"/>
                <a:cs typeface="宋体" charset="0"/>
              </a:rPr>
              <a:t>策略对大</a:t>
            </a:r>
            <a:r>
              <a:rPr kumimoji="1" lang="en-US" altLang="zh-CN" sz="1400" dirty="0" err="1">
                <a:latin typeface="微软雅黑" panose="020B0503020204020204" pitchFamily="34" charset="-122"/>
                <a:ea typeface="微软雅黑" panose="020B0503020204020204" pitchFamily="34" charset="-122"/>
                <a:cs typeface="宋体" charset="0"/>
              </a:rPr>
              <a:t>ip</a:t>
            </a:r>
            <a:r>
              <a:rPr kumimoji="1" lang="zh-CN" altLang="en-US" sz="1400" dirty="0">
                <a:latin typeface="微软雅黑" panose="020B0503020204020204" pitchFamily="34" charset="-122"/>
                <a:ea typeface="微软雅黑" panose="020B0503020204020204" pitchFamily="34" charset="-122"/>
                <a:cs typeface="宋体" charset="0"/>
              </a:rPr>
              <a:t>配置了灰名单，提高了</a:t>
            </a:r>
            <a:r>
              <a:rPr kumimoji="1" lang="zh-CN" altLang="en-US" sz="1400" dirty="0" smtClean="0">
                <a:latin typeface="微软雅黑" panose="020B0503020204020204" pitchFamily="34" charset="-122"/>
                <a:ea typeface="微软雅黑" panose="020B0503020204020204" pitchFamily="34" charset="-122"/>
                <a:cs typeface="宋体" charset="0"/>
              </a:rPr>
              <a:t>阈值。</a:t>
            </a:r>
            <a:endParaRPr kumimoji="1" lang="zh-CN" altLang="en-US" sz="1400" dirty="0">
              <a:latin typeface="微软雅黑" panose="020B0503020204020204" pitchFamily="34" charset="-122"/>
              <a:ea typeface="微软雅黑" panose="020B0503020204020204" pitchFamily="34" charset="-122"/>
              <a:cs typeface="宋体" charset="0"/>
            </a:endParaRPr>
          </a:p>
          <a:p>
            <a:pPr algn="just">
              <a:spcAft>
                <a:spcPts val="600"/>
              </a:spcAft>
              <a:buSzPct val="120000"/>
            </a:pPr>
            <a:endParaRPr kumimoji="1" lang="en-US" altLang="zh-CN" sz="1800" dirty="0" smtClean="0">
              <a:latin typeface="微软雅黑" panose="020B0503020204020204" pitchFamily="34" charset="-122"/>
              <a:ea typeface="微软雅黑" panose="020B0503020204020204" pitchFamily="34" charset="-122"/>
              <a:cs typeface="宋体" charset="0"/>
            </a:endParaRPr>
          </a:p>
        </p:txBody>
      </p:sp>
      <p:sp>
        <p:nvSpPr>
          <p:cNvPr id="6" name="矩形 5"/>
          <p:cNvSpPr/>
          <p:nvPr/>
        </p:nvSpPr>
        <p:spPr>
          <a:xfrm>
            <a:off x="5676900" y="1273910"/>
            <a:ext cx="1777999" cy="1569660"/>
          </a:xfrm>
          <a:prstGeom prst="rect">
            <a:avLst/>
          </a:prstGeom>
          <a:solidFill>
            <a:schemeClr val="tx1">
              <a:lumMod val="95000"/>
              <a:lumOff val="5000"/>
            </a:schemeClr>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 331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331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segment</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gray_file</a:t>
            </a:r>
            <a:r>
              <a:rPr lang="en-US" altLang="zh-CN" sz="1200" dirty="0">
                <a:solidFill>
                  <a:srgbClr val="33CC33"/>
                </a:solidFill>
                <a:latin typeface="Times New Roman" panose="02020603050405020304" charset="0"/>
                <a:cs typeface="Times New Roman" panose="02020603050405020304" charset="0"/>
              </a:rPr>
              <a:t>   : 331.gray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threshold   : 150</a:t>
            </a:r>
            <a:endParaRPr lang="en-US" altLang="zh-CN" sz="1200" dirty="0" smtClean="0">
              <a:solidFill>
                <a:srgbClr val="33CC33"/>
              </a:solidFill>
              <a:latin typeface="Times New Roman" panose="02020603050405020304" charset="0"/>
              <a:cs typeface="Times New Roman" panose="02020603050405020304" charset="0"/>
            </a:endParaRPr>
          </a:p>
        </p:txBody>
      </p:sp>
      <p:sp>
        <p:nvSpPr>
          <p:cNvPr id="8" name="文本框 7"/>
          <p:cNvSpPr txBox="1"/>
          <p:nvPr/>
        </p:nvSpPr>
        <p:spPr>
          <a:xfrm>
            <a:off x="5384800" y="1002754"/>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331</a:t>
            </a:r>
            <a:r>
              <a:rPr lang="zh-CN" altLang="en-US" sz="1200" dirty="0" smtClean="0">
                <a:latin typeface="微软雅黑" panose="020B0503020204020204" pitchFamily="34" charset="-122"/>
                <a:ea typeface="微软雅黑" panose="020B0503020204020204" pitchFamily="34" charset="-122"/>
              </a:rPr>
              <a:t>策略配置文件</a:t>
            </a:r>
            <a:endParaRPr lang="zh-CN" altLang="en-US" sz="1200" dirty="0">
              <a:latin typeface="微软雅黑" panose="020B0503020204020204" pitchFamily="34" charset="-122"/>
              <a:ea typeface="微软雅黑" panose="020B0503020204020204" pitchFamily="34" charset="-122"/>
            </a:endParaRPr>
          </a:p>
        </p:txBody>
      </p:sp>
      <p:sp>
        <p:nvSpPr>
          <p:cNvPr id="5" name="矩形 4"/>
          <p:cNvSpPr/>
          <p:nvPr/>
        </p:nvSpPr>
        <p:spPr>
          <a:xfrm>
            <a:off x="7111313" y="1281807"/>
            <a:ext cx="1905687" cy="2308324"/>
          </a:xfrm>
          <a:prstGeom prst="rect">
            <a:avLst/>
          </a:prstGeom>
          <a:solidFill>
            <a:schemeClr val="tx1"/>
          </a:solidFill>
        </p:spPr>
        <p:txBody>
          <a:bodyPr wrap="square">
            <a:spAutoFit/>
          </a:bodyPr>
          <a:lstStyle/>
          <a:p>
            <a:pPr lvl="0"/>
            <a:r>
              <a:rPr lang="en-US" altLang="zh-CN" sz="1200" dirty="0">
                <a:solidFill>
                  <a:srgbClr val="33CC33"/>
                </a:solidFill>
                <a:latin typeface="Times New Roman" panose="02020603050405020304" charset="0"/>
                <a:cs typeface="Times New Roman" panose="02020603050405020304" charset="0"/>
              </a:rPr>
              <a:t>[@feature]</a:t>
            </a:r>
            <a:endParaRPr lang="en-US" altLang="zh-CN" sz="1200" dirty="0">
              <a:solidFill>
                <a:srgbClr val="33CC33"/>
              </a:solidFill>
              <a:latin typeface="Times New Roman" panose="02020603050405020304" charset="0"/>
              <a:cs typeface="Times New Roman" panose="02020603050405020304" charset="0"/>
            </a:endParaRPr>
          </a:p>
          <a:p>
            <a:pPr lvl="0"/>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331</a:t>
            </a:r>
            <a:endParaRPr lang="en-US" altLang="zh-CN" sz="1200" dirty="0">
              <a:solidFill>
                <a:srgbClr val="33CC33"/>
              </a:solidFill>
              <a:latin typeface="Times New Roman" panose="02020603050405020304" charset="0"/>
              <a:cs typeface="Times New Roman" panose="02020603050405020304" charset="0"/>
            </a:endParaRPr>
          </a:p>
          <a:p>
            <a:pPr lvl="0"/>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segment</a:t>
            </a:r>
            <a:endParaRPr lang="en-US" altLang="zh-CN" sz="1200" dirty="0">
              <a:solidFill>
                <a:srgbClr val="33CC33"/>
              </a:solidFill>
              <a:latin typeface="Times New Roman" panose="02020603050405020304" charset="0"/>
              <a:cs typeface="Times New Roman" panose="02020603050405020304" charset="0"/>
            </a:endParaRPr>
          </a:p>
          <a:p>
            <a:pPr lvl="0"/>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click_level</a:t>
            </a:r>
            <a:endParaRPr lang="en-US" altLang="zh-CN" sz="1200" dirty="0">
              <a:solidFill>
                <a:srgbClr val="33CC33"/>
              </a:solidFill>
              <a:latin typeface="Times New Roman" panose="02020603050405020304" charset="0"/>
              <a:cs typeface="Times New Roman" panose="02020603050405020304" charset="0"/>
            </a:endParaRPr>
          </a:p>
          <a:p>
            <a:pPr lvl="0"/>
            <a:r>
              <a:rPr lang="en-US" altLang="zh-CN" sz="1200" dirty="0">
                <a:solidFill>
                  <a:srgbClr val="33CC33"/>
                </a:solidFill>
                <a:latin typeface="Times New Roman" panose="02020603050405020304" charset="0"/>
                <a:cs typeface="Times New Roman" panose="02020603050405020304" charset="0"/>
              </a:rPr>
              <a:t>care         : [#</a:t>
            </a:r>
            <a:r>
              <a:rPr lang="en-US" altLang="zh-CN" sz="1200" dirty="0" err="1">
                <a:solidFill>
                  <a:srgbClr val="33CC33"/>
                </a:solidFill>
                <a:latin typeface="Times New Roman" panose="02020603050405020304" charset="0"/>
                <a:cs typeface="Times New Roman" panose="02020603050405020304" charset="0"/>
              </a:rPr>
              <a:t>SearchClick</a:t>
            </a:r>
            <a:r>
              <a:rPr lang="en-US" altLang="zh-CN" sz="1200" dirty="0">
                <a:solidFill>
                  <a:srgbClr val="33CC33"/>
                </a:solidFill>
                <a:latin typeface="Times New Roman" panose="02020603050405020304" charset="0"/>
                <a:cs typeface="Times New Roman" panose="02020603050405020304" charset="0"/>
              </a:rPr>
              <a:t>][#PC]</a:t>
            </a:r>
            <a:endParaRPr lang="en-US" altLang="zh-CN" sz="1200" dirty="0">
              <a:solidFill>
                <a:srgbClr val="33CC33"/>
              </a:solidFill>
              <a:latin typeface="Times New Roman" panose="02020603050405020304" charset="0"/>
              <a:cs typeface="Times New Roman" panose="02020603050405020304" charset="0"/>
            </a:endParaRPr>
          </a:p>
          <a:p>
            <a:pPr lvl="0"/>
            <a:r>
              <a:rPr lang="en-US" altLang="zh-CN" sz="1200" dirty="0">
                <a:solidFill>
                  <a:srgbClr val="33CC33"/>
                </a:solidFill>
                <a:latin typeface="Times New Roman" panose="02020603050405020304" charset="0"/>
                <a:cs typeface="Times New Roman" panose="02020603050405020304" charset="0"/>
              </a:rPr>
              <a:t>view         : </a:t>
            </a:r>
            <a:r>
              <a:rPr lang="en-US" altLang="zh-CN" sz="1200" dirty="0" err="1">
                <a:solidFill>
                  <a:srgbClr val="33CC33"/>
                </a:solidFill>
                <a:latin typeface="Times New Roman" panose="02020603050405020304" charset="0"/>
                <a:cs typeface="Times New Roman" panose="02020603050405020304" charset="0"/>
              </a:rPr>
              <a:t>clkip</a:t>
            </a:r>
            <a:endParaRPr lang="en-US" altLang="zh-CN" sz="1200" dirty="0">
              <a:solidFill>
                <a:srgbClr val="33CC33"/>
              </a:solidFill>
              <a:latin typeface="Times New Roman" panose="02020603050405020304" charset="0"/>
              <a:cs typeface="Times New Roman" panose="02020603050405020304" charset="0"/>
            </a:endParaRPr>
          </a:p>
          <a:p>
            <a:pPr lvl="0"/>
            <a:r>
              <a:rPr lang="en-US" altLang="zh-CN" sz="1200" dirty="0">
                <a:solidFill>
                  <a:srgbClr val="33CC33"/>
                </a:solidFill>
                <a:latin typeface="Times New Roman" panose="02020603050405020304" charset="0"/>
                <a:cs typeface="Times New Roman" panose="02020603050405020304" charset="0"/>
              </a:rPr>
              <a:t>version      : 11</a:t>
            </a:r>
            <a:endParaRPr lang="en-US" altLang="zh-CN" sz="1200" dirty="0">
              <a:solidFill>
                <a:srgbClr val="33CC33"/>
              </a:solidFill>
              <a:latin typeface="Times New Roman" panose="02020603050405020304" charset="0"/>
              <a:cs typeface="Times New Roman" panose="02020603050405020304" charset="0"/>
            </a:endParaRPr>
          </a:p>
          <a:p>
            <a:pPr lvl="0"/>
            <a:r>
              <a:rPr lang="en-US" altLang="zh-CN" sz="1200" dirty="0" err="1">
                <a:solidFill>
                  <a:srgbClr val="33CC33"/>
                </a:solidFill>
                <a:latin typeface="Times New Roman" panose="02020603050405020304" charset="0"/>
                <a:cs typeface="Times New Roman" panose="02020603050405020304" charset="0"/>
              </a:rPr>
              <a:t>window_type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pv</a:t>
            </a:r>
            <a:endParaRPr lang="en-US" altLang="zh-CN" sz="1200" dirty="0">
              <a:solidFill>
                <a:srgbClr val="33CC33"/>
              </a:solidFill>
              <a:latin typeface="Times New Roman" panose="02020603050405020304" charset="0"/>
              <a:cs typeface="Times New Roman" panose="02020603050405020304" charset="0"/>
            </a:endParaRPr>
          </a:p>
          <a:p>
            <a:pPr lvl="0"/>
            <a:r>
              <a:rPr lang="en-US" altLang="zh-CN" sz="1200" dirty="0" err="1">
                <a:solidFill>
                  <a:srgbClr val="33CC33"/>
                </a:solidFill>
                <a:latin typeface="Times New Roman" panose="02020603050405020304" charset="0"/>
                <a:cs typeface="Times New Roman" panose="02020603050405020304" charset="0"/>
              </a:rPr>
              <a:t>window_length</a:t>
            </a:r>
            <a:r>
              <a:rPr lang="en-US" altLang="zh-CN" sz="1200" dirty="0">
                <a:solidFill>
                  <a:srgbClr val="33CC33"/>
                </a:solidFill>
                <a:latin typeface="Times New Roman" panose="02020603050405020304" charset="0"/>
                <a:cs typeface="Times New Roman" panose="02020603050405020304" charset="0"/>
              </a:rPr>
              <a:t>: 100000</a:t>
            </a:r>
            <a:endParaRPr lang="en-US" altLang="zh-CN" sz="1200" dirty="0">
              <a:solidFill>
                <a:srgbClr val="33CC33"/>
              </a:solidFill>
              <a:latin typeface="Times New Roman" panose="02020603050405020304" charset="0"/>
              <a:cs typeface="Times New Roman" panose="02020603050405020304" charset="0"/>
            </a:endParaRPr>
          </a:p>
          <a:p>
            <a:pPr lvl="0"/>
            <a:r>
              <a:rPr lang="en-US" altLang="zh-CN" sz="1200" dirty="0" err="1">
                <a:solidFill>
                  <a:srgbClr val="33CC33"/>
                </a:solidFill>
                <a:latin typeface="Times New Roman" panose="02020603050405020304" charset="0"/>
                <a:cs typeface="Times New Roman" panose="02020603050405020304" charset="0"/>
              </a:rPr>
              <a:t>click_mode</a:t>
            </a:r>
            <a:r>
              <a:rPr lang="en-US" altLang="zh-CN" sz="1200" dirty="0">
                <a:solidFill>
                  <a:srgbClr val="33CC33"/>
                </a:solidFill>
                <a:latin typeface="Times New Roman" panose="02020603050405020304" charset="0"/>
                <a:cs typeface="Times New Roman" panose="02020603050405020304" charset="0"/>
              </a:rPr>
              <a:t>   : 1</a:t>
            </a:r>
            <a:endParaRPr lang="en-US" altLang="zh-CN" sz="1200" dirty="0">
              <a:solidFill>
                <a:srgbClr val="33CC33"/>
              </a:solidFill>
              <a:latin typeface="Times New Roman" panose="02020603050405020304" charset="0"/>
              <a:cs typeface="Times New Roman" panose="02020603050405020304" charset="0"/>
            </a:endParaRPr>
          </a:p>
          <a:p>
            <a:pPr lvl="0"/>
            <a:r>
              <a:rPr lang="en-US" altLang="zh-CN" sz="1200" dirty="0" err="1">
                <a:solidFill>
                  <a:srgbClr val="33CC33"/>
                </a:solidFill>
                <a:latin typeface="Times New Roman" panose="02020603050405020304" charset="0"/>
                <a:cs typeface="Times New Roman" panose="02020603050405020304" charset="0"/>
              </a:rPr>
              <a:t>step_length</a:t>
            </a:r>
            <a:r>
              <a:rPr lang="en-US" altLang="zh-CN" sz="1200" dirty="0">
                <a:solidFill>
                  <a:srgbClr val="33CC33"/>
                </a:solidFill>
                <a:latin typeface="Times New Roman" panose="02020603050405020304" charset="0"/>
                <a:cs typeface="Times New Roman" panose="02020603050405020304" charset="0"/>
              </a:rPr>
              <a:t>  : 100000</a:t>
            </a:r>
            <a:endParaRPr lang="en-US" altLang="zh-CN" sz="1200" dirty="0">
              <a:solidFill>
                <a:srgbClr val="33CC33"/>
              </a:solidFill>
              <a:latin typeface="Times New Roman" panose="02020603050405020304" charset="0"/>
              <a:cs typeface="Times New Roman" panose="02020603050405020304" charset="0"/>
            </a:endParaRPr>
          </a:p>
        </p:txBody>
      </p:sp>
      <p:sp>
        <p:nvSpPr>
          <p:cNvPr id="9" name="文本框 8"/>
          <p:cNvSpPr txBox="1"/>
          <p:nvPr/>
        </p:nvSpPr>
        <p:spPr>
          <a:xfrm>
            <a:off x="5384800" y="3602285"/>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a:latin typeface="微软雅黑" panose="020B0503020204020204" pitchFamily="34" charset="-122"/>
                <a:ea typeface="微软雅黑" panose="020B0503020204020204" pitchFamily="34" charset="-122"/>
              </a:rPr>
              <a:t>b</a:t>
            </a:r>
            <a:r>
              <a:rPr lang="en-US" altLang="zh-CN" sz="1200" dirty="0" smtClean="0">
                <a:latin typeface="微软雅黑" panose="020B0503020204020204" pitchFamily="34" charset="-122"/>
                <a:ea typeface="微软雅黑" panose="020B0503020204020204" pitchFamily="34" charset="-122"/>
              </a:rPr>
              <a:t>: 331.gray</a:t>
            </a:r>
            <a:r>
              <a:rPr lang="zh-CN" altLang="en-US" sz="1200" dirty="0" smtClean="0">
                <a:latin typeface="微软雅黑" panose="020B0503020204020204" pitchFamily="34" charset="-122"/>
                <a:ea typeface="微软雅黑" panose="020B0503020204020204" pitchFamily="34" charset="-122"/>
              </a:rPr>
              <a:t>灰名单文件</a:t>
            </a:r>
            <a:r>
              <a:rPr lang="en-US" altLang="zh-CN" sz="1200" dirty="0" smtClean="0">
                <a:latin typeface="微软雅黑" panose="020B0503020204020204" pitchFamily="34" charset="-122"/>
                <a:ea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rPr>
              <a:t>部分</a:t>
            </a:r>
            <a:r>
              <a:rPr lang="en-US" altLang="zh-CN" sz="1200" dirty="0" smtClean="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6115050" y="3910815"/>
            <a:ext cx="1733550" cy="1065899"/>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4187365"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基于数目特征的段</a:t>
            </a:r>
            <a:r>
              <a:rPr kumimoji="1" lang="zh-CN" altLang="en-US" sz="1400" b="1" spc="200" dirty="0">
                <a:latin typeface="微软雅黑"/>
                <a:ea typeface="微软雅黑"/>
                <a:cs typeface="微软雅黑"/>
              </a:rPr>
              <a:t>上限</a:t>
            </a:r>
            <a:r>
              <a:rPr kumimoji="1" lang="zh-CN" altLang="en-US" sz="1400" b="1" spc="200" dirty="0" smtClean="0">
                <a:latin typeface="微软雅黑"/>
                <a:ea typeface="微软雅黑"/>
                <a:cs typeface="微软雅黑"/>
              </a:rPr>
              <a:t>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4904695" cy="3913804"/>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去重</a:t>
            </a:r>
            <a:r>
              <a:rPr kumimoji="1" lang="zh-CN" altLang="en-US" sz="1800" dirty="0" smtClean="0">
                <a:latin typeface="微软雅黑" panose="020B0503020204020204" pitchFamily="34" charset="-122"/>
                <a:ea typeface="微软雅黑" panose="020B0503020204020204" pitchFamily="34" charset="-122"/>
                <a:cs typeface="宋体" charset="0"/>
              </a:rPr>
              <a:t>数目特征</a:t>
            </a:r>
            <a:r>
              <a:rPr kumimoji="1" lang="en-US" altLang="zh-CN" sz="1800" dirty="0" smtClean="0">
                <a:latin typeface="微软雅黑" panose="020B0503020204020204" pitchFamily="34" charset="-122"/>
                <a:ea typeface="微软雅黑" panose="020B0503020204020204" pitchFamily="34" charset="-122"/>
                <a:cs typeface="宋体" charset="0"/>
              </a:rPr>
              <a:t>(distinct)</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含义</a:t>
            </a:r>
            <a:r>
              <a:rPr kumimoji="1" lang="zh-CN" altLang="en-US"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对于一段内的日志，在主维度下，子维度的种类数就是去重数目特征</a:t>
            </a:r>
            <a:r>
              <a:rPr kumimoji="1" lang="zh-CN" altLang="en-US" sz="1200" dirty="0" smtClean="0">
                <a:latin typeface="微软雅黑" panose="020B0503020204020204" pitchFamily="34" charset="-122"/>
                <a:ea typeface="微软雅黑" panose="020B0503020204020204" pitchFamily="34" charset="-122"/>
                <a:cs typeface="宋体" charset="0"/>
              </a:rPr>
              <a:t>。</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200" dirty="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实例</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en-US" altLang="zh-CN" sz="1600" dirty="0">
                <a:latin typeface="微软雅黑" panose="020B0503020204020204" pitchFamily="34" charset="-122"/>
                <a:ea typeface="微软雅黑" panose="020B0503020204020204" pitchFamily="34" charset="-122"/>
                <a:cs typeface="宋体" charset="0"/>
              </a:rPr>
              <a:t>6041202</a:t>
            </a:r>
            <a:r>
              <a:rPr kumimoji="1" lang="zh-CN" altLang="en-US" sz="1600" dirty="0" smtClean="0">
                <a:latin typeface="微软雅黑" panose="020B0503020204020204" pitchFamily="34" charset="-122"/>
                <a:ea typeface="微软雅黑" panose="020B0503020204020204" pitchFamily="34" charset="-122"/>
                <a:cs typeface="宋体" charset="0"/>
              </a:rPr>
              <a:t>特征</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400" dirty="0" err="1" smtClean="0">
                <a:latin typeface="微软雅黑" panose="020B0503020204020204" pitchFamily="34" charset="-122"/>
                <a:ea typeface="微软雅黑" panose="020B0503020204020204" pitchFamily="34" charset="-122"/>
                <a:cs typeface="宋体" charset="0"/>
              </a:rPr>
              <a:t>data_view</a:t>
            </a:r>
            <a:r>
              <a:rPr kumimoji="1" lang="zh-CN" altLang="en-US" sz="1400" dirty="0" smtClean="0">
                <a:latin typeface="微软雅黑" panose="020B0503020204020204" pitchFamily="34" charset="-122"/>
                <a:ea typeface="微软雅黑" panose="020B0503020204020204" pitchFamily="34" charset="-122"/>
                <a:cs typeface="宋体" charset="0"/>
              </a:rPr>
              <a:t>表示子维度，</a:t>
            </a:r>
            <a:r>
              <a:rPr kumimoji="1" lang="en-US" altLang="zh-CN" sz="1400" dirty="0" err="1" smtClean="0">
                <a:latin typeface="微软雅黑" panose="020B0503020204020204" pitchFamily="34" charset="-122"/>
                <a:ea typeface="微软雅黑" panose="020B0503020204020204" pitchFamily="34" charset="-122"/>
                <a:cs typeface="宋体" charset="0"/>
              </a:rPr>
              <a:t>window_length</a:t>
            </a:r>
            <a:r>
              <a:rPr kumimoji="1" lang="zh-CN" altLang="en-US" sz="1400" dirty="0" smtClean="0">
                <a:latin typeface="微软雅黑" panose="020B0503020204020204" pitchFamily="34" charset="-122"/>
                <a:ea typeface="微软雅黑" panose="020B0503020204020204" pitchFamily="34" charset="-122"/>
                <a:cs typeface="宋体" charset="0"/>
              </a:rPr>
              <a:t>与</a:t>
            </a:r>
            <a:r>
              <a:rPr kumimoji="1" lang="en-US" altLang="zh-CN" sz="1400" dirty="0" err="1" smtClean="0">
                <a:latin typeface="微软雅黑" panose="020B0503020204020204" pitchFamily="34" charset="-122"/>
                <a:ea typeface="微软雅黑" panose="020B0503020204020204" pitchFamily="34" charset="-122"/>
                <a:cs typeface="宋体" charset="0"/>
              </a:rPr>
              <a:t>step_length</a:t>
            </a:r>
            <a:r>
              <a:rPr kumimoji="1" lang="zh-CN" altLang="en-US" sz="1400" dirty="0" smtClean="0">
                <a:latin typeface="微软雅黑" panose="020B0503020204020204" pitchFamily="34" charset="-122"/>
                <a:ea typeface="微软雅黑" panose="020B0503020204020204" pitchFamily="34" charset="-122"/>
                <a:cs typeface="宋体" charset="0"/>
              </a:rPr>
              <a:t>的单位是秒</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图</a:t>
            </a:r>
            <a:r>
              <a:rPr kumimoji="1" lang="en-US" altLang="zh-CN" sz="1400" dirty="0" smtClean="0">
                <a:latin typeface="微软雅黑" panose="020B0503020204020204" pitchFamily="34" charset="-122"/>
                <a:ea typeface="微软雅黑" panose="020B0503020204020204" pitchFamily="34" charset="-122"/>
                <a:cs typeface="宋体" charset="0"/>
              </a:rPr>
              <a:t>a</a:t>
            </a:r>
            <a:r>
              <a:rPr kumimoji="1" lang="zh-CN" altLang="en-US" sz="1400" dirty="0" smtClean="0">
                <a:latin typeface="微软雅黑" panose="020B0503020204020204" pitchFamily="34" charset="-122"/>
                <a:ea typeface="微软雅黑" panose="020B0503020204020204" pitchFamily="34" charset="-122"/>
                <a:cs typeface="宋体" charset="0"/>
              </a:rPr>
              <a:t>中的就是去重数目特征，特征抽取首先根据</a:t>
            </a:r>
            <a:r>
              <a:rPr kumimoji="1" lang="en-US" altLang="zh-CN" sz="1400" dirty="0" smtClean="0">
                <a:latin typeface="微软雅黑" panose="020B0503020204020204" pitchFamily="34" charset="-122"/>
                <a:ea typeface="微软雅黑" panose="020B0503020204020204" pitchFamily="34" charset="-122"/>
                <a:cs typeface="宋体" charset="0"/>
              </a:rPr>
              <a:t>care</a:t>
            </a:r>
            <a:r>
              <a:rPr kumimoji="1" lang="zh-CN" altLang="en-US" sz="1400" dirty="0" smtClean="0">
                <a:latin typeface="微软雅黑" panose="020B0503020204020204" pitchFamily="34" charset="-122"/>
                <a:ea typeface="微软雅黑" panose="020B0503020204020204" pitchFamily="34" charset="-122"/>
                <a:cs typeface="宋体" charset="0"/>
              </a:rPr>
              <a:t>表达式圈定</a:t>
            </a:r>
            <a:r>
              <a:rPr kumimoji="1" lang="en-US" altLang="zh-CN" sz="1400" dirty="0" smtClean="0">
                <a:latin typeface="微软雅黑" panose="020B0503020204020204" pitchFamily="34" charset="-122"/>
                <a:ea typeface="微软雅黑" panose="020B0503020204020204" pitchFamily="34" charset="-122"/>
                <a:cs typeface="宋体" charset="0"/>
              </a:rPr>
              <a:t>wise</a:t>
            </a:r>
            <a:r>
              <a:rPr kumimoji="1" lang="zh-CN" altLang="en-US" sz="1400" dirty="0" smtClean="0">
                <a:latin typeface="微软雅黑" panose="020B0503020204020204" pitchFamily="34" charset="-122"/>
                <a:ea typeface="微软雅黑" panose="020B0503020204020204" pitchFamily="34" charset="-122"/>
                <a:cs typeface="宋体" charset="0"/>
              </a:rPr>
              <a:t>凤巢网页、</a:t>
            </a:r>
            <a:r>
              <a:rPr kumimoji="1" lang="en-US" altLang="zh-CN" sz="1400" dirty="0" err="1" smtClean="0">
                <a:latin typeface="微软雅黑" panose="020B0503020204020204" pitchFamily="34" charset="-122"/>
                <a:ea typeface="微软雅黑" panose="020B0503020204020204" pitchFamily="34" charset="-122"/>
                <a:cs typeface="宋体" charset="0"/>
              </a:rPr>
              <a:t>baiduid</a:t>
            </a:r>
            <a:r>
              <a:rPr kumimoji="1" lang="zh-CN" altLang="en-US" sz="1400" dirty="0" smtClean="0">
                <a:latin typeface="微软雅黑" panose="020B0503020204020204" pitchFamily="34" charset="-122"/>
                <a:ea typeface="微软雅黑" panose="020B0503020204020204" pitchFamily="34" charset="-122"/>
                <a:cs typeface="宋体" charset="0"/>
              </a:rPr>
              <a:t>不为空且浏览器</a:t>
            </a:r>
            <a:r>
              <a:rPr kumimoji="1" lang="en-US" altLang="zh-CN" sz="1400" dirty="0" smtClean="0">
                <a:latin typeface="微软雅黑" panose="020B0503020204020204" pitchFamily="34" charset="-122"/>
                <a:ea typeface="微软雅黑" panose="020B0503020204020204" pitchFamily="34" charset="-122"/>
                <a:cs typeface="宋体" charset="0"/>
              </a:rPr>
              <a:t>id</a:t>
            </a:r>
            <a:r>
              <a:rPr kumimoji="1" lang="zh-CN" altLang="en-US" sz="1400" dirty="0" smtClean="0">
                <a:latin typeface="微软雅黑" panose="020B0503020204020204" pitchFamily="34" charset="-122"/>
                <a:ea typeface="微软雅黑" panose="020B0503020204020204" pitchFamily="34" charset="-122"/>
                <a:cs typeface="宋体" charset="0"/>
              </a:rPr>
              <a:t>不等于</a:t>
            </a:r>
            <a:r>
              <a:rPr kumimoji="1" lang="en-US" altLang="zh-CN" sz="1400" dirty="0" smtClean="0">
                <a:latin typeface="微软雅黑" panose="020B0503020204020204" pitchFamily="34" charset="-122"/>
                <a:ea typeface="微软雅黑" panose="020B0503020204020204" pitchFamily="34" charset="-122"/>
                <a:cs typeface="宋体" charset="0"/>
              </a:rPr>
              <a:t>6</a:t>
            </a:r>
            <a:r>
              <a:rPr kumimoji="1" lang="zh-CN" altLang="en-US" sz="1400" dirty="0" smtClean="0">
                <a:latin typeface="微软雅黑" panose="020B0503020204020204" pitchFamily="34" charset="-122"/>
                <a:ea typeface="微软雅黑" panose="020B0503020204020204" pitchFamily="34" charset="-122"/>
                <a:cs typeface="宋体" charset="0"/>
              </a:rPr>
              <a:t>的日志，然后累积统计一天的日志中每一个</a:t>
            </a:r>
            <a:r>
              <a:rPr kumimoji="1" lang="en-US" altLang="zh-CN" sz="1400" dirty="0" err="1" smtClean="0">
                <a:latin typeface="微软雅黑" panose="020B0503020204020204" pitchFamily="34" charset="-122"/>
                <a:ea typeface="微软雅黑" panose="020B0503020204020204" pitchFamily="34" charset="-122"/>
                <a:cs typeface="宋体" charset="0"/>
              </a:rPr>
              <a:t>baiduid</a:t>
            </a:r>
            <a:r>
              <a:rPr kumimoji="1" lang="zh-CN" altLang="en-US" sz="1400" dirty="0" smtClean="0">
                <a:latin typeface="微软雅黑" panose="020B0503020204020204" pitchFamily="34" charset="-122"/>
                <a:ea typeface="微软雅黑" panose="020B0503020204020204" pitchFamily="34" charset="-122"/>
                <a:cs typeface="宋体" charset="0"/>
              </a:rPr>
              <a:t>对应的</a:t>
            </a:r>
            <a:r>
              <a:rPr kumimoji="1" lang="en-US" altLang="zh-CN" sz="1400" dirty="0" err="1" smtClean="0">
                <a:latin typeface="微软雅黑" panose="020B0503020204020204" pitchFamily="34" charset="-122"/>
                <a:ea typeface="微软雅黑" panose="020B0503020204020204" pitchFamily="34" charset="-122"/>
                <a:cs typeface="宋体" charset="0"/>
              </a:rPr>
              <a:t>useragent</a:t>
            </a:r>
            <a:r>
              <a:rPr kumimoji="1" lang="zh-CN" altLang="en-US" sz="1400" dirty="0" smtClean="0">
                <a:latin typeface="微软雅黑" panose="020B0503020204020204" pitchFamily="34" charset="-122"/>
                <a:ea typeface="微软雅黑" panose="020B0503020204020204" pitchFamily="34" charset="-122"/>
                <a:cs typeface="宋体" charset="0"/>
              </a:rPr>
              <a:t>种类数，两个相邻的段之间相距</a:t>
            </a:r>
            <a:r>
              <a:rPr kumimoji="1" lang="en-US" altLang="zh-CN" sz="1400" dirty="0" smtClean="0">
                <a:latin typeface="微软雅黑" panose="020B0503020204020204" pitchFamily="34" charset="-122"/>
                <a:ea typeface="微软雅黑" panose="020B0503020204020204" pitchFamily="34" charset="-122"/>
                <a:cs typeface="宋体" charset="0"/>
              </a:rPr>
              <a:t>4</a:t>
            </a:r>
            <a:r>
              <a:rPr kumimoji="1" lang="zh-CN" altLang="en-US" sz="1400" dirty="0" smtClean="0">
                <a:latin typeface="微软雅黑" panose="020B0503020204020204" pitchFamily="34" charset="-122"/>
                <a:ea typeface="微软雅黑" panose="020B0503020204020204" pitchFamily="34" charset="-122"/>
                <a:cs typeface="宋体" charset="0"/>
              </a:rPr>
              <a:t>个小时</a:t>
            </a:r>
            <a:endParaRPr kumimoji="1" lang="en-US" altLang="zh-CN" sz="1400" dirty="0" smtClean="0">
              <a:latin typeface="微软雅黑" panose="020B0503020204020204" pitchFamily="34" charset="-122"/>
              <a:ea typeface="微软雅黑" panose="020B0503020204020204" pitchFamily="34" charset="-122"/>
              <a:cs typeface="宋体" charset="0"/>
            </a:endParaRPr>
          </a:p>
        </p:txBody>
      </p:sp>
      <p:sp>
        <p:nvSpPr>
          <p:cNvPr id="6" name="矩形 5"/>
          <p:cNvSpPr/>
          <p:nvPr/>
        </p:nvSpPr>
        <p:spPr>
          <a:xfrm>
            <a:off x="5716709" y="1674323"/>
            <a:ext cx="3110495" cy="3108543"/>
          </a:xfrm>
          <a:prstGeom prst="rect">
            <a:avLst/>
          </a:prstGeom>
          <a:solidFill>
            <a:schemeClr val="tx1">
              <a:lumMod val="95000"/>
              <a:lumOff val="5000"/>
            </a:schemeClr>
          </a:solidFill>
        </p:spPr>
        <p:txBody>
          <a:bodyPr wrap="square">
            <a:spAutoFit/>
          </a:bodyPr>
          <a:lstStyle/>
          <a:p>
            <a:r>
              <a:rPr lang="en-US" altLang="zh-CN" sz="1400" dirty="0">
                <a:solidFill>
                  <a:srgbClr val="33CC33"/>
                </a:solidFill>
                <a:latin typeface="Times New Roman" panose="02020603050405020304" charset="0"/>
                <a:cs typeface="Times New Roman" panose="02020603050405020304" charset="0"/>
              </a:rPr>
              <a:t>[@feature]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6041202</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feature_type</a:t>
            </a:r>
            <a:r>
              <a:rPr lang="en-US" altLang="zh-CN" sz="1400" dirty="0">
                <a:solidFill>
                  <a:srgbClr val="33CC33"/>
                </a:solidFill>
                <a:latin typeface="Times New Roman" panose="02020603050405020304" charset="0"/>
                <a:cs typeface="Times New Roman" panose="02020603050405020304" charset="0"/>
              </a:rPr>
              <a:t>: distinct</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view_level</a:t>
            </a:r>
            <a:r>
              <a:rPr lang="en-US" altLang="zh-CN" sz="1400" dirty="0">
                <a:solidFill>
                  <a:srgbClr val="33CC33"/>
                </a:solidFill>
                <a:latin typeface="Times New Roman" panose="02020603050405020304" charset="0"/>
                <a:cs typeface="Times New Roman" panose="02020603050405020304" charset="0"/>
              </a:rPr>
              <a:t>: </a:t>
            </a:r>
            <a:r>
              <a:rPr lang="en-US" altLang="zh-CN" sz="1400" dirty="0" err="1">
                <a:solidFill>
                  <a:srgbClr val="33CC33"/>
                </a:solidFill>
                <a:latin typeface="Times New Roman" panose="02020603050405020304" charset="0"/>
                <a:cs typeface="Times New Roman" panose="02020603050405020304" charset="0"/>
              </a:rPr>
              <a:t>pv_level</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care: [#</a:t>
            </a:r>
            <a:r>
              <a:rPr lang="en-US" altLang="zh-CN" sz="1400" dirty="0" err="1">
                <a:solidFill>
                  <a:srgbClr val="33CC33"/>
                </a:solidFill>
                <a:latin typeface="Times New Roman" panose="02020603050405020304" charset="0"/>
                <a:cs typeface="Times New Roman" panose="02020603050405020304" charset="0"/>
              </a:rPr>
              <a:t>AspWiseWebSrc</a:t>
            </a:r>
            <a:r>
              <a:rPr lang="en-US" altLang="zh-CN" sz="1400" dirty="0">
                <a:solidFill>
                  <a:srgbClr val="33CC33"/>
                </a:solidFill>
                <a:latin typeface="Times New Roman" panose="02020603050405020304" charset="0"/>
                <a:cs typeface="Times New Roman" panose="02020603050405020304" charset="0"/>
              </a:rPr>
              <a:t>][#</a:t>
            </a:r>
            <a:r>
              <a:rPr lang="en-US" altLang="zh-CN" sz="1400" dirty="0" err="1">
                <a:solidFill>
                  <a:srgbClr val="33CC33"/>
                </a:solidFill>
                <a:latin typeface="Times New Roman" panose="02020603050405020304" charset="0"/>
                <a:cs typeface="Times New Roman" panose="02020603050405020304" charset="0"/>
              </a:rPr>
              <a:t>ValidBaiduid</a:t>
            </a:r>
            <a:r>
              <a:rPr lang="en-US" altLang="zh-CN" sz="1400" dirty="0">
                <a:solidFill>
                  <a:srgbClr val="33CC33"/>
                </a:solidFill>
                <a:latin typeface="Times New Roman" panose="02020603050405020304" charset="0"/>
                <a:cs typeface="Times New Roman" panose="02020603050405020304" charset="0"/>
              </a:rPr>
              <a:t>]['</a:t>
            </a:r>
            <a:r>
              <a:rPr lang="en-US" altLang="zh-CN" sz="1400" dirty="0" err="1">
                <a:solidFill>
                  <a:srgbClr val="33CC33"/>
                </a:solidFill>
                <a:latin typeface="Times New Roman" panose="02020603050405020304" charset="0"/>
                <a:cs typeface="Times New Roman" panose="02020603050405020304" charset="0"/>
              </a:rPr>
              <a:t>wbwsid</a:t>
            </a:r>
            <a:r>
              <a:rPr lang="en-US" altLang="zh-CN" sz="1400" dirty="0">
                <a:solidFill>
                  <a:srgbClr val="33CC33"/>
                </a:solidFill>
                <a:latin typeface="Times New Roman" panose="02020603050405020304" charset="0"/>
                <a:cs typeface="Times New Roman" panose="02020603050405020304" charset="0"/>
              </a:rPr>
              <a:t>'!='6']</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view: </a:t>
            </a:r>
            <a:r>
              <a:rPr lang="en-US" altLang="zh-CN" sz="1400" dirty="0" err="1">
                <a:solidFill>
                  <a:srgbClr val="33CC33"/>
                </a:solidFill>
                <a:latin typeface="Times New Roman" panose="02020603050405020304" charset="0"/>
                <a:cs typeface="Times New Roman" panose="02020603050405020304" charset="0"/>
              </a:rPr>
              <a:t>bd</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version: 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click_mode</a:t>
            </a:r>
            <a:r>
              <a:rPr lang="en-US" altLang="zh-CN" sz="1400" dirty="0">
                <a:solidFill>
                  <a:srgbClr val="33CC33"/>
                </a:solidFill>
                <a:latin typeface="Times New Roman" panose="02020603050405020304" charset="0"/>
                <a:cs typeface="Times New Roman" panose="02020603050405020304" charset="0"/>
              </a:rPr>
              <a:t>: 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window_type</a:t>
            </a:r>
            <a:r>
              <a:rPr lang="en-US" altLang="zh-CN" sz="1400" dirty="0">
                <a:solidFill>
                  <a:srgbClr val="33CC33"/>
                </a:solidFill>
                <a:latin typeface="Times New Roman" panose="02020603050405020304" charset="0"/>
                <a:cs typeface="Times New Roman" panose="02020603050405020304" charset="0"/>
              </a:rPr>
              <a:t>: time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window_length</a:t>
            </a:r>
            <a:r>
              <a:rPr lang="en-US" altLang="zh-CN" sz="1400" dirty="0">
                <a:solidFill>
                  <a:srgbClr val="33CC33"/>
                </a:solidFill>
                <a:latin typeface="Times New Roman" panose="02020603050405020304" charset="0"/>
                <a:cs typeface="Times New Roman" panose="02020603050405020304" charset="0"/>
              </a:rPr>
              <a:t>: 86400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step_length</a:t>
            </a:r>
            <a:r>
              <a:rPr lang="en-US" altLang="zh-CN" sz="1400" dirty="0">
                <a:solidFill>
                  <a:srgbClr val="33CC33"/>
                </a:solidFill>
                <a:latin typeface="Times New Roman" panose="02020603050405020304" charset="0"/>
                <a:cs typeface="Times New Roman" panose="02020603050405020304" charset="0"/>
              </a:rPr>
              <a:t>: 14400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data_view</a:t>
            </a:r>
            <a:r>
              <a:rPr lang="en-US" altLang="zh-CN" sz="1400" dirty="0">
                <a:solidFill>
                  <a:srgbClr val="33CC33"/>
                </a:solidFill>
                <a:latin typeface="Times New Roman" panose="02020603050405020304" charset="0"/>
                <a:cs typeface="Times New Roman" panose="02020603050405020304" charset="0"/>
              </a:rPr>
              <a:t>: </a:t>
            </a:r>
            <a:r>
              <a:rPr lang="en-US" altLang="zh-CN" sz="1400" dirty="0" err="1">
                <a:solidFill>
                  <a:srgbClr val="33CC33"/>
                </a:solidFill>
                <a:latin typeface="Times New Roman" panose="02020603050405020304" charset="0"/>
                <a:cs typeface="Times New Roman" panose="02020603050405020304" charset="0"/>
              </a:rPr>
              <a:t>useragent</a:t>
            </a:r>
            <a:endParaRPr lang="en-US" altLang="zh-CN" sz="1400" dirty="0">
              <a:solidFill>
                <a:srgbClr val="33CC33"/>
              </a:solidFill>
              <a:latin typeface="Times New Roman" panose="02020603050405020304" charset="0"/>
              <a:cs typeface="Times New Roman" panose="02020603050405020304" charset="0"/>
            </a:endParaRPr>
          </a:p>
        </p:txBody>
      </p:sp>
      <p:sp>
        <p:nvSpPr>
          <p:cNvPr id="8" name="文本框 7"/>
          <p:cNvSpPr txBox="1"/>
          <p:nvPr/>
        </p:nvSpPr>
        <p:spPr>
          <a:xfrm>
            <a:off x="5735256" y="1312748"/>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a:t>
            </a:r>
            <a:r>
              <a:rPr lang="en-US" altLang="zh-CN" sz="1200" dirty="0">
                <a:latin typeface="微软雅黑" panose="020B0503020204020204" pitchFamily="34" charset="-122"/>
                <a:ea typeface="微软雅黑" panose="020B0503020204020204" pitchFamily="34" charset="-122"/>
              </a:rPr>
              <a:t>6041202</a:t>
            </a:r>
            <a:r>
              <a:rPr lang="zh-CN" altLang="en-US" sz="1200" dirty="0" smtClean="0">
                <a:latin typeface="微软雅黑" panose="020B0503020204020204" pitchFamily="34" charset="-122"/>
                <a:ea typeface="微软雅黑" panose="020B0503020204020204" pitchFamily="34" charset="-122"/>
              </a:rPr>
              <a:t>特征配置文件</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4187365"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基于数目特征的段</a:t>
            </a:r>
            <a:r>
              <a:rPr kumimoji="1" lang="zh-CN" altLang="en-US" sz="1400" b="1" spc="200" dirty="0">
                <a:latin typeface="微软雅黑"/>
                <a:ea typeface="微软雅黑"/>
                <a:cs typeface="微软雅黑"/>
              </a:rPr>
              <a:t>上限</a:t>
            </a:r>
            <a:r>
              <a:rPr kumimoji="1" lang="zh-CN" altLang="en-US" sz="1400" b="1" spc="200" dirty="0" smtClean="0">
                <a:latin typeface="微软雅黑"/>
                <a:ea typeface="微软雅黑"/>
                <a:cs typeface="微软雅黑"/>
              </a:rPr>
              <a:t>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4714195" cy="3913804"/>
          </a:xfrm>
        </p:spPr>
        <p:txBody>
          <a:bodyPr>
            <a:noAutofit/>
          </a:bodyPr>
          <a:lstStyle/>
          <a:p>
            <a:pPr marL="0" indent="0">
              <a:spcAft>
                <a:spcPts val="600"/>
              </a:spcAft>
              <a:buSzPct val="120000"/>
              <a:buNone/>
            </a:pPr>
            <a:r>
              <a:rPr kumimoji="1" lang="en-US" altLang="zh-CN" sz="1800" dirty="0">
                <a:latin typeface="微软雅黑" panose="020B0503020204020204" pitchFamily="34" charset="-122"/>
                <a:ea typeface="微软雅黑" panose="020B0503020204020204" pitchFamily="34" charset="-122"/>
                <a:cs typeface="宋体" charset="0"/>
              </a:rPr>
              <a:t>60412</a:t>
            </a:r>
            <a:r>
              <a:rPr kumimoji="1" lang="zh-CN" altLang="en-US" sz="1800" dirty="0" smtClean="0">
                <a:latin typeface="微软雅黑" panose="020B0503020204020204" pitchFamily="34" charset="-122"/>
                <a:ea typeface="微软雅黑" panose="020B0503020204020204" pitchFamily="34" charset="-122"/>
                <a:cs typeface="宋体" charset="0"/>
              </a:rPr>
              <a:t>策略</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策略背景：</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正常的无线端浏览行为中，用户</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en-US" altLang="zh-CN" sz="1400" dirty="0" err="1" smtClean="0">
                <a:latin typeface="微软雅黑" panose="020B0503020204020204" pitchFamily="34" charset="-122"/>
                <a:ea typeface="微软雅黑" panose="020B0503020204020204" pitchFamily="34" charset="-122"/>
                <a:cs typeface="宋体" charset="0"/>
              </a:rPr>
              <a:t>bd</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zh-CN" altLang="en-US" sz="1400" dirty="0" smtClean="0">
                <a:latin typeface="微软雅黑" panose="020B0503020204020204" pitchFamily="34" charset="-122"/>
                <a:ea typeface="微软雅黑" panose="020B0503020204020204" pitchFamily="34" charset="-122"/>
                <a:cs typeface="宋体" charset="0"/>
              </a:rPr>
              <a:t>有多种</a:t>
            </a:r>
            <a:r>
              <a:rPr kumimoji="1" lang="en-US" altLang="zh-CN" sz="1400" dirty="0" smtClean="0">
                <a:latin typeface="微软雅黑" panose="020B0503020204020204" pitchFamily="34" charset="-122"/>
                <a:ea typeface="微软雅黑" panose="020B0503020204020204" pitchFamily="34" charset="-122"/>
                <a:cs typeface="宋体" charset="0"/>
              </a:rPr>
              <a:t>UA</a:t>
            </a:r>
            <a:r>
              <a:rPr kumimoji="1" lang="zh-CN" altLang="en-US" sz="1400" dirty="0" smtClean="0">
                <a:latin typeface="微软雅黑" panose="020B0503020204020204" pitchFamily="34" charset="-122"/>
                <a:ea typeface="微软雅黑" panose="020B0503020204020204" pitchFamily="34" charset="-122"/>
                <a:cs typeface="宋体" charset="0"/>
              </a:rPr>
              <a:t>的可能性很小，因此一个用户有多种</a:t>
            </a:r>
            <a:r>
              <a:rPr kumimoji="1" lang="en-US" altLang="zh-CN" sz="1400" dirty="0" smtClean="0">
                <a:latin typeface="微软雅黑" panose="020B0503020204020204" pitchFamily="34" charset="-122"/>
                <a:ea typeface="微软雅黑" panose="020B0503020204020204" pitchFamily="34" charset="-122"/>
                <a:cs typeface="宋体" charset="0"/>
              </a:rPr>
              <a:t>UA</a:t>
            </a:r>
            <a:r>
              <a:rPr kumimoji="1" lang="zh-CN" altLang="en-US" sz="1400" dirty="0" smtClean="0">
                <a:latin typeface="微软雅黑" panose="020B0503020204020204" pitchFamily="34" charset="-122"/>
                <a:ea typeface="微软雅黑" panose="020B0503020204020204" pitchFamily="34" charset="-122"/>
                <a:cs typeface="宋体" charset="0"/>
              </a:rPr>
              <a:t>的流量需要被过滤。</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200" dirty="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满足无线凤巢网页，</a:t>
            </a:r>
            <a:r>
              <a:rPr kumimoji="1" lang="en-US" altLang="zh-CN" sz="1400" dirty="0" err="1" smtClean="0">
                <a:latin typeface="微软雅黑" panose="020B0503020204020204" pitchFamily="34" charset="-122"/>
                <a:ea typeface="微软雅黑" panose="020B0503020204020204" pitchFamily="34" charset="-122"/>
                <a:cs typeface="宋体" charset="0"/>
              </a:rPr>
              <a:t>baiduid</a:t>
            </a:r>
            <a:r>
              <a:rPr kumimoji="1" lang="zh-CN" altLang="en-US" sz="1400" dirty="0" smtClean="0">
                <a:latin typeface="微软雅黑" panose="020B0503020204020204" pitchFamily="34" charset="-122"/>
                <a:ea typeface="微软雅黑" panose="020B0503020204020204" pitchFamily="34" charset="-122"/>
                <a:cs typeface="宋体" charset="0"/>
              </a:rPr>
              <a:t>不为空且浏览器</a:t>
            </a:r>
            <a:r>
              <a:rPr kumimoji="1" lang="en-US" altLang="zh-CN" sz="1400" dirty="0" smtClean="0">
                <a:latin typeface="微软雅黑" panose="020B0503020204020204" pitchFamily="34" charset="-122"/>
                <a:ea typeface="微软雅黑" panose="020B0503020204020204" pitchFamily="34" charset="-122"/>
                <a:cs typeface="宋体" charset="0"/>
              </a:rPr>
              <a:t>id(</a:t>
            </a:r>
            <a:r>
              <a:rPr kumimoji="1" lang="en-US" altLang="zh-CN" sz="1400" dirty="0" err="1" smtClean="0">
                <a:latin typeface="微软雅黑" panose="020B0503020204020204" pitchFamily="34" charset="-122"/>
                <a:ea typeface="微软雅黑" panose="020B0503020204020204" pitchFamily="34" charset="-122"/>
                <a:cs typeface="宋体" charset="0"/>
              </a:rPr>
              <a:t>wbwsid</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zh-CN" altLang="en-US" sz="1400" dirty="0" smtClean="0">
                <a:latin typeface="微软雅黑" panose="020B0503020204020204" pitchFamily="34" charset="-122"/>
                <a:ea typeface="微软雅黑" panose="020B0503020204020204" pitchFamily="34" charset="-122"/>
                <a:cs typeface="宋体" charset="0"/>
              </a:rPr>
              <a:t>不为</a:t>
            </a:r>
            <a:r>
              <a:rPr kumimoji="1" lang="en-US" altLang="zh-CN" sz="1400" dirty="0" smtClean="0">
                <a:latin typeface="微软雅黑" panose="020B0503020204020204" pitchFamily="34" charset="-122"/>
                <a:ea typeface="微软雅黑" panose="020B0503020204020204" pitchFamily="34" charset="-122"/>
                <a:cs typeface="宋体" charset="0"/>
              </a:rPr>
              <a:t>6</a:t>
            </a:r>
            <a:r>
              <a:rPr kumimoji="1" lang="zh-CN" altLang="en-US" sz="1400" dirty="0" smtClean="0">
                <a:latin typeface="微软雅黑" panose="020B0503020204020204" pitchFamily="34" charset="-122"/>
                <a:ea typeface="微软雅黑" panose="020B0503020204020204" pitchFamily="34" charset="-122"/>
                <a:cs typeface="宋体" charset="0"/>
              </a:rPr>
              <a:t>的处理空间的前提下，每天所有日志中，每一个</a:t>
            </a:r>
            <a:r>
              <a:rPr kumimoji="1" lang="en-US" altLang="zh-CN" sz="1400" dirty="0" err="1" smtClean="0">
                <a:latin typeface="微软雅黑" panose="020B0503020204020204" pitchFamily="34" charset="-122"/>
                <a:ea typeface="微软雅黑" panose="020B0503020204020204" pitchFamily="34" charset="-122"/>
                <a:cs typeface="宋体" charset="0"/>
              </a:rPr>
              <a:t>baiduid</a:t>
            </a:r>
            <a:r>
              <a:rPr kumimoji="1" lang="zh-CN" altLang="en-US" sz="1400" dirty="0" smtClean="0">
                <a:latin typeface="微软雅黑" panose="020B0503020204020204" pitchFamily="34" charset="-122"/>
                <a:ea typeface="微软雅黑" panose="020B0503020204020204" pitchFamily="34" charset="-122"/>
                <a:cs typeface="宋体" charset="0"/>
              </a:rPr>
              <a:t>下</a:t>
            </a:r>
            <a:r>
              <a:rPr kumimoji="1" lang="en-US" altLang="zh-CN" sz="1400" dirty="0" smtClean="0">
                <a:latin typeface="微软雅黑" panose="020B0503020204020204" pitchFamily="34" charset="-122"/>
                <a:ea typeface="微软雅黑" panose="020B0503020204020204" pitchFamily="34" charset="-122"/>
                <a:cs typeface="宋体" charset="0"/>
              </a:rPr>
              <a:t>UA</a:t>
            </a:r>
            <a:r>
              <a:rPr kumimoji="1" lang="zh-CN" altLang="en-US" sz="1400" dirty="0" smtClean="0">
                <a:latin typeface="微软雅黑" panose="020B0503020204020204" pitchFamily="34" charset="-122"/>
                <a:ea typeface="微软雅黑" panose="020B0503020204020204" pitchFamily="34" charset="-122"/>
                <a:cs typeface="宋体" charset="0"/>
              </a:rPr>
              <a:t>种类数超出</a:t>
            </a:r>
            <a:r>
              <a:rPr kumimoji="1" lang="en-US" altLang="zh-CN" sz="1400" dirty="0" smtClean="0">
                <a:latin typeface="微软雅黑" panose="020B0503020204020204" pitchFamily="34" charset="-122"/>
                <a:ea typeface="微软雅黑" panose="020B0503020204020204" pitchFamily="34" charset="-122"/>
                <a:cs typeface="宋体" charset="0"/>
              </a:rPr>
              <a:t>2</a:t>
            </a:r>
            <a:r>
              <a:rPr kumimoji="1" lang="zh-CN" altLang="en-US" sz="1400" dirty="0" smtClean="0">
                <a:latin typeface="微软雅黑" panose="020B0503020204020204" pitchFamily="34" charset="-122"/>
                <a:ea typeface="微软雅黑" panose="020B0503020204020204" pitchFamily="34" charset="-122"/>
                <a:cs typeface="宋体" charset="0"/>
              </a:rPr>
              <a:t>的日志将被过滤</a:t>
            </a:r>
            <a:endParaRPr kumimoji="1" lang="en-US" altLang="zh-CN" sz="1400" dirty="0" smtClean="0">
              <a:latin typeface="微软雅黑" panose="020B0503020204020204" pitchFamily="34" charset="-122"/>
              <a:ea typeface="微软雅黑" panose="020B0503020204020204" pitchFamily="34" charset="-122"/>
              <a:cs typeface="宋体" charset="0"/>
            </a:endParaRPr>
          </a:p>
        </p:txBody>
      </p:sp>
      <p:sp>
        <p:nvSpPr>
          <p:cNvPr id="6" name="矩形 5"/>
          <p:cNvSpPr/>
          <p:nvPr/>
        </p:nvSpPr>
        <p:spPr>
          <a:xfrm>
            <a:off x="7189908" y="1589747"/>
            <a:ext cx="1969204" cy="3323987"/>
          </a:xfrm>
          <a:prstGeom prst="rect">
            <a:avLst/>
          </a:prstGeom>
          <a:solidFill>
            <a:schemeClr val="tx1">
              <a:lumMod val="95000"/>
              <a:lumOff val="5000"/>
            </a:schemeClr>
          </a:solidFill>
        </p:spPr>
        <p:txBody>
          <a:bodyPr wrap="square">
            <a:spAutoFit/>
          </a:bodyPr>
          <a:lstStyle/>
          <a:p>
            <a:r>
              <a:rPr lang="en-US" altLang="zh-CN" sz="1400" dirty="0" smtClean="0">
                <a:solidFill>
                  <a:srgbClr val="33CC33"/>
                </a:solidFill>
                <a:latin typeface="Times New Roman" panose="02020603050405020304" charset="0"/>
                <a:cs typeface="Times New Roman" panose="02020603050405020304" charset="0"/>
              </a:rPr>
              <a:t>[@</a:t>
            </a:r>
            <a:r>
              <a:rPr lang="en-US" altLang="zh-CN" sz="1400" dirty="0">
                <a:solidFill>
                  <a:srgbClr val="33CC33"/>
                </a:solidFill>
                <a:latin typeface="Times New Roman" panose="02020603050405020304" charset="0"/>
                <a:cs typeface="Times New Roman" panose="02020603050405020304" charset="0"/>
              </a:rPr>
              <a:t>feature]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6041202</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feature_type</a:t>
            </a:r>
            <a:r>
              <a:rPr lang="en-US" altLang="zh-CN" sz="1400" dirty="0">
                <a:solidFill>
                  <a:srgbClr val="33CC33"/>
                </a:solidFill>
                <a:latin typeface="Times New Roman" panose="02020603050405020304" charset="0"/>
                <a:cs typeface="Times New Roman" panose="02020603050405020304" charset="0"/>
              </a:rPr>
              <a:t>: distinct</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view_level</a:t>
            </a:r>
            <a:r>
              <a:rPr lang="en-US" altLang="zh-CN" sz="1400" dirty="0">
                <a:solidFill>
                  <a:srgbClr val="33CC33"/>
                </a:solidFill>
                <a:latin typeface="Times New Roman" panose="02020603050405020304" charset="0"/>
                <a:cs typeface="Times New Roman" panose="02020603050405020304" charset="0"/>
              </a:rPr>
              <a:t>: </a:t>
            </a:r>
            <a:r>
              <a:rPr lang="en-US" altLang="zh-CN" sz="1400" dirty="0" err="1">
                <a:solidFill>
                  <a:srgbClr val="33CC33"/>
                </a:solidFill>
                <a:latin typeface="Times New Roman" panose="02020603050405020304" charset="0"/>
                <a:cs typeface="Times New Roman" panose="02020603050405020304" charset="0"/>
              </a:rPr>
              <a:t>pv_level</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care: [#</a:t>
            </a:r>
            <a:r>
              <a:rPr lang="en-US" altLang="zh-CN" sz="1400" dirty="0" err="1">
                <a:solidFill>
                  <a:srgbClr val="33CC33"/>
                </a:solidFill>
                <a:latin typeface="Times New Roman" panose="02020603050405020304" charset="0"/>
                <a:cs typeface="Times New Roman" panose="02020603050405020304" charset="0"/>
              </a:rPr>
              <a:t>AspWiseWebSrc</a:t>
            </a:r>
            <a:r>
              <a:rPr lang="en-US" altLang="zh-CN" sz="1400" dirty="0">
                <a:solidFill>
                  <a:srgbClr val="33CC33"/>
                </a:solidFill>
                <a:latin typeface="Times New Roman" panose="02020603050405020304" charset="0"/>
                <a:cs typeface="Times New Roman" panose="02020603050405020304" charset="0"/>
              </a:rPr>
              <a:t>][#</a:t>
            </a:r>
            <a:r>
              <a:rPr lang="en-US" altLang="zh-CN" sz="1400" dirty="0" err="1">
                <a:solidFill>
                  <a:srgbClr val="33CC33"/>
                </a:solidFill>
                <a:latin typeface="Times New Roman" panose="02020603050405020304" charset="0"/>
                <a:cs typeface="Times New Roman" panose="02020603050405020304" charset="0"/>
              </a:rPr>
              <a:t>ValidBaiduid</a:t>
            </a:r>
            <a:r>
              <a:rPr lang="en-US" altLang="zh-CN" sz="1400" dirty="0">
                <a:solidFill>
                  <a:srgbClr val="33CC33"/>
                </a:solidFill>
                <a:latin typeface="Times New Roman" panose="02020603050405020304" charset="0"/>
                <a:cs typeface="Times New Roman" panose="02020603050405020304" charset="0"/>
              </a:rPr>
              <a:t>]['</a:t>
            </a:r>
            <a:r>
              <a:rPr lang="en-US" altLang="zh-CN" sz="1400" dirty="0" err="1">
                <a:solidFill>
                  <a:srgbClr val="33CC33"/>
                </a:solidFill>
                <a:latin typeface="Times New Roman" panose="02020603050405020304" charset="0"/>
                <a:cs typeface="Times New Roman" panose="02020603050405020304" charset="0"/>
              </a:rPr>
              <a:t>wbwsid</a:t>
            </a:r>
            <a:r>
              <a:rPr lang="en-US" altLang="zh-CN" sz="1400" dirty="0">
                <a:solidFill>
                  <a:srgbClr val="33CC33"/>
                </a:solidFill>
                <a:latin typeface="Times New Roman" panose="02020603050405020304" charset="0"/>
                <a:cs typeface="Times New Roman" panose="02020603050405020304" charset="0"/>
              </a:rPr>
              <a:t>'!='6']</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view: </a:t>
            </a:r>
            <a:r>
              <a:rPr lang="en-US" altLang="zh-CN" sz="1400" dirty="0" err="1">
                <a:solidFill>
                  <a:srgbClr val="33CC33"/>
                </a:solidFill>
                <a:latin typeface="Times New Roman" panose="02020603050405020304" charset="0"/>
                <a:cs typeface="Times New Roman" panose="02020603050405020304" charset="0"/>
              </a:rPr>
              <a:t>bd</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version: 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click_mode</a:t>
            </a:r>
            <a:r>
              <a:rPr lang="en-US" altLang="zh-CN" sz="1400" dirty="0">
                <a:solidFill>
                  <a:srgbClr val="33CC33"/>
                </a:solidFill>
                <a:latin typeface="Times New Roman" panose="02020603050405020304" charset="0"/>
                <a:cs typeface="Times New Roman" panose="02020603050405020304" charset="0"/>
              </a:rPr>
              <a:t>: 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window_type</a:t>
            </a:r>
            <a:r>
              <a:rPr lang="en-US" altLang="zh-CN" sz="1400" dirty="0">
                <a:solidFill>
                  <a:srgbClr val="33CC33"/>
                </a:solidFill>
                <a:latin typeface="Times New Roman" panose="02020603050405020304" charset="0"/>
                <a:cs typeface="Times New Roman" panose="02020603050405020304" charset="0"/>
              </a:rPr>
              <a:t>: time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window_length</a:t>
            </a:r>
            <a:r>
              <a:rPr lang="en-US" altLang="zh-CN" sz="1400" dirty="0">
                <a:solidFill>
                  <a:srgbClr val="33CC33"/>
                </a:solidFill>
                <a:latin typeface="Times New Roman" panose="02020603050405020304" charset="0"/>
                <a:cs typeface="Times New Roman" panose="02020603050405020304" charset="0"/>
              </a:rPr>
              <a:t>: 86400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step_length</a:t>
            </a:r>
            <a:r>
              <a:rPr lang="en-US" altLang="zh-CN" sz="1400" dirty="0">
                <a:solidFill>
                  <a:srgbClr val="33CC33"/>
                </a:solidFill>
                <a:latin typeface="Times New Roman" panose="02020603050405020304" charset="0"/>
                <a:cs typeface="Times New Roman" panose="02020603050405020304" charset="0"/>
              </a:rPr>
              <a:t>: 14400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data_view</a:t>
            </a:r>
            <a:r>
              <a:rPr lang="en-US" altLang="zh-CN" sz="1400" dirty="0">
                <a:solidFill>
                  <a:srgbClr val="33CC33"/>
                </a:solidFill>
                <a:latin typeface="Times New Roman" panose="02020603050405020304" charset="0"/>
                <a:cs typeface="Times New Roman" panose="02020603050405020304" charset="0"/>
              </a:rPr>
              <a:t>: </a:t>
            </a:r>
            <a:r>
              <a:rPr lang="en-US" altLang="zh-CN" sz="1400" dirty="0" err="1">
                <a:solidFill>
                  <a:srgbClr val="33CC33"/>
                </a:solidFill>
                <a:latin typeface="Times New Roman" panose="02020603050405020304" charset="0"/>
                <a:cs typeface="Times New Roman" panose="02020603050405020304" charset="0"/>
              </a:rPr>
              <a:t>useragent</a:t>
            </a:r>
            <a:endParaRPr lang="en-US" altLang="zh-CN" sz="1400" dirty="0">
              <a:solidFill>
                <a:srgbClr val="33CC33"/>
              </a:solidFill>
              <a:latin typeface="Times New Roman" panose="02020603050405020304" charset="0"/>
              <a:cs typeface="Times New Roman" panose="02020603050405020304" charset="0"/>
            </a:endParaRPr>
          </a:p>
        </p:txBody>
      </p:sp>
      <p:sp>
        <p:nvSpPr>
          <p:cNvPr id="8" name="文本框 7"/>
          <p:cNvSpPr txBox="1"/>
          <p:nvPr/>
        </p:nvSpPr>
        <p:spPr>
          <a:xfrm>
            <a:off x="5735256" y="1312748"/>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a:t>
            </a:r>
            <a:r>
              <a:rPr lang="en-US" altLang="zh-CN" sz="1200" dirty="0">
                <a:latin typeface="微软雅黑" panose="020B0503020204020204" pitchFamily="34" charset="-122"/>
                <a:ea typeface="微软雅黑" panose="020B0503020204020204" pitchFamily="34" charset="-122"/>
              </a:rPr>
              <a:t>60412</a:t>
            </a:r>
            <a:r>
              <a:rPr lang="zh-CN" altLang="en-US" sz="1200" dirty="0" smtClean="0">
                <a:latin typeface="微软雅黑" panose="020B0503020204020204" pitchFamily="34" charset="-122"/>
                <a:ea typeface="微软雅黑" panose="020B0503020204020204" pitchFamily="34" charset="-122"/>
              </a:rPr>
              <a:t>特征配置文件</a:t>
            </a:r>
            <a:endParaRPr lang="zh-CN" altLang="en-US" sz="1200" dirty="0">
              <a:latin typeface="微软雅黑" panose="020B0503020204020204" pitchFamily="34" charset="-122"/>
              <a:ea typeface="微软雅黑" panose="020B0503020204020204" pitchFamily="34" charset="-122"/>
            </a:endParaRPr>
          </a:p>
        </p:txBody>
      </p:sp>
      <p:sp>
        <p:nvSpPr>
          <p:cNvPr id="7" name="矩形 6"/>
          <p:cNvSpPr/>
          <p:nvPr/>
        </p:nvSpPr>
        <p:spPr>
          <a:xfrm>
            <a:off x="5296904" y="1592571"/>
            <a:ext cx="1969204" cy="3108543"/>
          </a:xfrm>
          <a:prstGeom prst="rect">
            <a:avLst/>
          </a:prstGeom>
          <a:solidFill>
            <a:schemeClr val="tx1">
              <a:lumMod val="95000"/>
              <a:lumOff val="5000"/>
            </a:schemeClr>
          </a:solidFill>
        </p:spPr>
        <p:txBody>
          <a:bodyPr wrap="square">
            <a:spAutoFit/>
          </a:bodyPr>
          <a:lstStyle/>
          <a:p>
            <a:r>
              <a:rPr lang="en-US" altLang="zh-CN" sz="1400" dirty="0" smtClean="0">
                <a:solidFill>
                  <a:srgbClr val="33CC33"/>
                </a:solidFill>
                <a:latin typeface="Times New Roman" panose="02020603050405020304" charset="0"/>
                <a:cs typeface="Times New Roman" panose="02020603050405020304" charset="0"/>
              </a:rPr>
              <a:t>[@policy]</a:t>
            </a:r>
            <a:endParaRPr lang="en-US" altLang="zh-CN" sz="1400" dirty="0" smtClean="0">
              <a:solidFill>
                <a:srgbClr val="33CC33"/>
              </a:solidFill>
              <a:latin typeface="Times New Roman" panose="02020603050405020304" charset="0"/>
              <a:cs typeface="Times New Roman" panose="02020603050405020304" charset="0"/>
            </a:endParaRPr>
          </a:p>
          <a:p>
            <a:r>
              <a:rPr lang="en-US" altLang="zh-CN" sz="1400" dirty="0" err="1" smtClean="0">
                <a:solidFill>
                  <a:srgbClr val="33CC33"/>
                </a:solidFill>
                <a:latin typeface="Times New Roman" panose="02020603050405020304" charset="0"/>
                <a:cs typeface="Times New Roman" panose="02020603050405020304" charset="0"/>
              </a:rPr>
              <a:t>policy_id</a:t>
            </a:r>
            <a:r>
              <a:rPr lang="en-US" altLang="zh-CN" sz="1400" dirty="0" smtClean="0">
                <a:solidFill>
                  <a:srgbClr val="33CC33"/>
                </a:solidFill>
                <a:latin typeface="Times New Roman" panose="02020603050405020304" charset="0"/>
                <a:cs typeface="Times New Roman" panose="02020603050405020304" charset="0"/>
              </a:rPr>
              <a:t>: 60412</a:t>
            </a:r>
            <a:endParaRPr lang="en-US" altLang="zh-CN" sz="1400" dirty="0" smtClean="0">
              <a:solidFill>
                <a:srgbClr val="33CC33"/>
              </a:solidFill>
              <a:latin typeface="Times New Roman" panose="02020603050405020304" charset="0"/>
              <a:cs typeface="Times New Roman" panose="02020603050405020304" charset="0"/>
            </a:endParaRPr>
          </a:p>
          <a:p>
            <a:r>
              <a:rPr lang="en-US" altLang="zh-CN" sz="1400" dirty="0" err="1" smtClean="0">
                <a:solidFill>
                  <a:srgbClr val="33CC33"/>
                </a:solidFill>
                <a:latin typeface="Times New Roman" panose="02020603050405020304" charset="0"/>
                <a:cs typeface="Times New Roman" panose="02020603050405020304" charset="0"/>
              </a:rPr>
              <a:t>policy_type</a:t>
            </a:r>
            <a:r>
              <a:rPr lang="en-US" altLang="zh-CN" sz="1400" dirty="0" smtClean="0">
                <a:solidFill>
                  <a:srgbClr val="33CC33"/>
                </a:solidFill>
                <a:latin typeface="Times New Roman" panose="02020603050405020304" charset="0"/>
                <a:cs typeface="Times New Roman" panose="02020603050405020304" charset="0"/>
              </a:rPr>
              <a:t>: rule</a:t>
            </a:r>
            <a:endParaRPr lang="en-US" altLang="zh-CN" sz="1400" dirty="0" smtClean="0">
              <a:solidFill>
                <a:srgbClr val="33CC33"/>
              </a:solidFill>
              <a:latin typeface="Times New Roman" panose="02020603050405020304" charset="0"/>
              <a:cs typeface="Times New Roman" panose="02020603050405020304" charset="0"/>
            </a:endParaRPr>
          </a:p>
          <a:p>
            <a:r>
              <a:rPr lang="en-US" altLang="zh-CN" sz="1400" dirty="0" smtClean="0">
                <a:solidFill>
                  <a:srgbClr val="33CC33"/>
                </a:solidFill>
                <a:latin typeface="Times New Roman" panose="02020603050405020304" charset="0"/>
                <a:cs typeface="Times New Roman" panose="02020603050405020304" charset="0"/>
              </a:rPr>
              <a:t>[.@rule]</a:t>
            </a:r>
            <a:endParaRPr lang="en-US" altLang="zh-CN" sz="1400" dirty="0" smtClean="0">
              <a:solidFill>
                <a:srgbClr val="33CC33"/>
              </a:solidFill>
              <a:latin typeface="Times New Roman" panose="02020603050405020304" charset="0"/>
              <a:cs typeface="Times New Roman" panose="02020603050405020304" charset="0"/>
            </a:endParaRPr>
          </a:p>
          <a:p>
            <a:r>
              <a:rPr lang="en-US" altLang="zh-CN" sz="1400" dirty="0" err="1" smtClean="0">
                <a:solidFill>
                  <a:srgbClr val="33CC33"/>
                </a:solidFill>
                <a:latin typeface="Times New Roman" panose="02020603050405020304" charset="0"/>
                <a:cs typeface="Times New Roman" panose="02020603050405020304" charset="0"/>
              </a:rPr>
              <a:t>feature_id</a:t>
            </a:r>
            <a:r>
              <a:rPr lang="en-US" altLang="zh-CN" sz="1400" dirty="0" smtClean="0">
                <a:solidFill>
                  <a:srgbClr val="33CC33"/>
                </a:solidFill>
                <a:latin typeface="Times New Roman" panose="02020603050405020304" charset="0"/>
                <a:cs typeface="Times New Roman" panose="02020603050405020304" charset="0"/>
              </a:rPr>
              <a:t>: 6041201</a:t>
            </a:r>
            <a:endParaRPr lang="en-US" altLang="zh-CN" sz="1400" dirty="0" smtClean="0">
              <a:solidFill>
                <a:srgbClr val="33CC33"/>
              </a:solidFill>
              <a:latin typeface="Times New Roman" panose="02020603050405020304" charset="0"/>
              <a:cs typeface="Times New Roman" panose="02020603050405020304" charset="0"/>
            </a:endParaRPr>
          </a:p>
          <a:p>
            <a:r>
              <a:rPr lang="en-US" altLang="zh-CN" sz="1400" dirty="0" err="1" smtClean="0">
                <a:solidFill>
                  <a:srgbClr val="33CC33"/>
                </a:solidFill>
                <a:latin typeface="Times New Roman" panose="02020603050405020304" charset="0"/>
                <a:cs typeface="Times New Roman" panose="02020603050405020304" charset="0"/>
              </a:rPr>
              <a:t>rule_type</a:t>
            </a:r>
            <a:r>
              <a:rPr lang="en-US" altLang="zh-CN" sz="1400" dirty="0" smtClean="0">
                <a:solidFill>
                  <a:srgbClr val="33CC33"/>
                </a:solidFill>
                <a:latin typeface="Times New Roman" panose="02020603050405020304" charset="0"/>
                <a:cs typeface="Times New Roman" panose="02020603050405020304" charset="0"/>
              </a:rPr>
              <a:t>: concentration</a:t>
            </a:r>
            <a:endParaRPr lang="en-US" altLang="zh-CN" sz="1400" dirty="0" smtClean="0">
              <a:solidFill>
                <a:srgbClr val="33CC33"/>
              </a:solidFill>
              <a:latin typeface="Times New Roman" panose="02020603050405020304" charset="0"/>
              <a:cs typeface="Times New Roman" panose="02020603050405020304" charset="0"/>
            </a:endParaRPr>
          </a:p>
          <a:p>
            <a:r>
              <a:rPr lang="en-US" altLang="zh-CN" sz="1400" dirty="0" err="1" smtClean="0">
                <a:solidFill>
                  <a:srgbClr val="33CC33"/>
                </a:solidFill>
                <a:latin typeface="Times New Roman" panose="02020603050405020304" charset="0"/>
                <a:cs typeface="Times New Roman" panose="02020603050405020304" charset="0"/>
              </a:rPr>
              <a:t>simple_ratio</a:t>
            </a:r>
            <a:r>
              <a:rPr lang="en-US" altLang="zh-CN" sz="1400" dirty="0" smtClean="0">
                <a:solidFill>
                  <a:srgbClr val="33CC33"/>
                </a:solidFill>
                <a:latin typeface="Times New Roman" panose="02020603050405020304" charset="0"/>
                <a:cs typeface="Times New Roman" panose="02020603050405020304" charset="0"/>
              </a:rPr>
              <a:t>: 1</a:t>
            </a:r>
            <a:endParaRPr lang="en-US" altLang="zh-CN" sz="1400" dirty="0" smtClean="0">
              <a:solidFill>
                <a:srgbClr val="33CC33"/>
              </a:solidFill>
              <a:latin typeface="Times New Roman" panose="02020603050405020304" charset="0"/>
              <a:cs typeface="Times New Roman" panose="02020603050405020304" charset="0"/>
            </a:endParaRPr>
          </a:p>
          <a:p>
            <a:r>
              <a:rPr lang="en-US" altLang="zh-CN" sz="1400" dirty="0" smtClean="0">
                <a:solidFill>
                  <a:srgbClr val="33CC33"/>
                </a:solidFill>
                <a:latin typeface="Times New Roman" panose="02020603050405020304" charset="0"/>
                <a:cs typeface="Times New Roman" panose="02020603050405020304" charset="0"/>
              </a:rPr>
              <a:t>remain: 50</a:t>
            </a:r>
            <a:endParaRPr lang="en-US" altLang="zh-CN" sz="1400" dirty="0" smtClean="0">
              <a:solidFill>
                <a:srgbClr val="33CC33"/>
              </a:solidFill>
              <a:latin typeface="Times New Roman" panose="02020603050405020304" charset="0"/>
              <a:cs typeface="Times New Roman" panose="02020603050405020304" charset="0"/>
            </a:endParaRPr>
          </a:p>
          <a:p>
            <a:r>
              <a:rPr lang="en-US" altLang="zh-CN" sz="1400" dirty="0" smtClean="0">
                <a:solidFill>
                  <a:srgbClr val="33CC33"/>
                </a:solidFill>
                <a:latin typeface="Times New Roman" panose="02020603050405020304" charset="0"/>
                <a:cs typeface="Times New Roman" panose="02020603050405020304" charset="0"/>
              </a:rPr>
              <a:t>threshold: 0.7 </a:t>
            </a:r>
            <a:endParaRPr lang="en-US" altLang="zh-CN" sz="1400" dirty="0" smtClean="0">
              <a:solidFill>
                <a:srgbClr val="33CC33"/>
              </a:solidFill>
              <a:latin typeface="Times New Roman" panose="02020603050405020304" charset="0"/>
              <a:cs typeface="Times New Roman" panose="02020603050405020304" charset="0"/>
            </a:endParaRPr>
          </a:p>
          <a:p>
            <a:r>
              <a:rPr lang="en-US" altLang="zh-CN" sz="1400" dirty="0" err="1" smtClean="0">
                <a:solidFill>
                  <a:srgbClr val="33CC33"/>
                </a:solidFill>
                <a:latin typeface="Times New Roman" panose="02020603050405020304" charset="0"/>
                <a:cs typeface="Times New Roman" panose="02020603050405020304" charset="0"/>
              </a:rPr>
              <a:t>filter_mode</a:t>
            </a:r>
            <a:r>
              <a:rPr lang="en-US" altLang="zh-CN" sz="1400" dirty="0" smtClean="0">
                <a:solidFill>
                  <a:srgbClr val="33CC33"/>
                </a:solidFill>
                <a:latin typeface="Times New Roman" panose="02020603050405020304" charset="0"/>
                <a:cs typeface="Times New Roman" panose="02020603050405020304" charset="0"/>
              </a:rPr>
              <a:t>: 1</a:t>
            </a:r>
            <a:endParaRPr lang="en-US" altLang="zh-CN" sz="1400" dirty="0" smtClean="0">
              <a:solidFill>
                <a:srgbClr val="33CC33"/>
              </a:solidFill>
              <a:latin typeface="Times New Roman" panose="02020603050405020304" charset="0"/>
              <a:cs typeface="Times New Roman" panose="02020603050405020304" charset="0"/>
            </a:endParaRPr>
          </a:p>
          <a:p>
            <a:r>
              <a:rPr lang="en-US" altLang="zh-CN" sz="1400" dirty="0" smtClean="0">
                <a:solidFill>
                  <a:srgbClr val="33CC33"/>
                </a:solidFill>
                <a:latin typeface="Times New Roman" panose="02020603050405020304" charset="0"/>
                <a:cs typeface="Times New Roman" panose="02020603050405020304" charset="0"/>
              </a:rPr>
              <a:t>[.@rule]</a:t>
            </a:r>
            <a:endParaRPr lang="en-US" altLang="zh-CN" sz="1400" dirty="0" smtClean="0">
              <a:solidFill>
                <a:srgbClr val="33CC33"/>
              </a:solidFill>
              <a:latin typeface="Times New Roman" panose="02020603050405020304" charset="0"/>
              <a:cs typeface="Times New Roman" panose="02020603050405020304" charset="0"/>
            </a:endParaRPr>
          </a:p>
          <a:p>
            <a:r>
              <a:rPr lang="en-US" altLang="zh-CN" sz="1400" dirty="0" err="1" smtClean="0">
                <a:solidFill>
                  <a:srgbClr val="33CC33"/>
                </a:solidFill>
                <a:latin typeface="Times New Roman" panose="02020603050405020304" charset="0"/>
                <a:cs typeface="Times New Roman" panose="02020603050405020304" charset="0"/>
              </a:rPr>
              <a:t>feature_id</a:t>
            </a:r>
            <a:r>
              <a:rPr lang="en-US" altLang="zh-CN" sz="1400" dirty="0" smtClean="0">
                <a:solidFill>
                  <a:srgbClr val="33CC33"/>
                </a:solidFill>
                <a:latin typeface="Times New Roman" panose="02020603050405020304" charset="0"/>
                <a:cs typeface="Times New Roman" panose="02020603050405020304" charset="0"/>
              </a:rPr>
              <a:t>: 6041202</a:t>
            </a:r>
            <a:endParaRPr lang="en-US" altLang="zh-CN" sz="1400" dirty="0" smtClean="0">
              <a:solidFill>
                <a:srgbClr val="33CC33"/>
              </a:solidFill>
              <a:latin typeface="Times New Roman" panose="02020603050405020304" charset="0"/>
              <a:cs typeface="Times New Roman" panose="02020603050405020304" charset="0"/>
            </a:endParaRPr>
          </a:p>
          <a:p>
            <a:r>
              <a:rPr lang="en-US" altLang="zh-CN" sz="1400" dirty="0" err="1" smtClean="0">
                <a:solidFill>
                  <a:srgbClr val="33CC33"/>
                </a:solidFill>
                <a:latin typeface="Times New Roman" panose="02020603050405020304" charset="0"/>
                <a:cs typeface="Times New Roman" panose="02020603050405020304" charset="0"/>
              </a:rPr>
              <a:t>rule_type</a:t>
            </a:r>
            <a:r>
              <a:rPr lang="en-US" altLang="zh-CN" sz="1400" dirty="0" smtClean="0">
                <a:solidFill>
                  <a:srgbClr val="33CC33"/>
                </a:solidFill>
                <a:latin typeface="Times New Roman" panose="02020603050405020304" charset="0"/>
                <a:cs typeface="Times New Roman" panose="02020603050405020304" charset="0"/>
              </a:rPr>
              <a:t>: threshold</a:t>
            </a:r>
            <a:endParaRPr lang="en-US" altLang="zh-CN" sz="1400" dirty="0" smtClean="0">
              <a:solidFill>
                <a:srgbClr val="33CC33"/>
              </a:solidFill>
              <a:latin typeface="Times New Roman" panose="02020603050405020304" charset="0"/>
              <a:cs typeface="Times New Roman" panose="02020603050405020304" charset="0"/>
            </a:endParaRPr>
          </a:p>
          <a:p>
            <a:r>
              <a:rPr lang="en-US" altLang="zh-CN" sz="1400" dirty="0" smtClean="0">
                <a:solidFill>
                  <a:srgbClr val="33CC33"/>
                </a:solidFill>
                <a:latin typeface="Times New Roman" panose="02020603050405020304" charset="0"/>
                <a:cs typeface="Times New Roman" panose="02020603050405020304" charset="0"/>
              </a:rPr>
              <a:t>threshold: 2</a:t>
            </a:r>
            <a:endParaRPr lang="en-US" altLang="zh-CN" sz="1400" dirty="0" smtClean="0">
              <a:solidFill>
                <a:srgbClr val="33CC33"/>
              </a:solidFill>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4187365"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基于数目特征的段</a:t>
            </a:r>
            <a:r>
              <a:rPr kumimoji="1" lang="zh-CN" altLang="en-US" sz="1400" b="1" spc="200" dirty="0">
                <a:latin typeface="微软雅黑"/>
                <a:ea typeface="微软雅黑"/>
                <a:cs typeface="微软雅黑"/>
              </a:rPr>
              <a:t>上限</a:t>
            </a:r>
            <a:r>
              <a:rPr kumimoji="1" lang="zh-CN" altLang="en-US" sz="1400" b="1" spc="200" dirty="0" smtClean="0">
                <a:latin typeface="微软雅黑"/>
                <a:ea typeface="微软雅黑"/>
                <a:cs typeface="微软雅黑"/>
              </a:rPr>
              <a:t>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4904695" cy="3913804"/>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子</a:t>
            </a:r>
            <a:r>
              <a:rPr kumimoji="1" lang="zh-CN" altLang="en-US" sz="1800" dirty="0" smtClean="0">
                <a:latin typeface="微软雅黑" panose="020B0503020204020204" pitchFamily="34" charset="-122"/>
                <a:ea typeface="微软雅黑" panose="020B0503020204020204" pitchFamily="34" charset="-122"/>
                <a:cs typeface="宋体" charset="0"/>
              </a:rPr>
              <a:t>数目特征</a:t>
            </a:r>
            <a:r>
              <a:rPr kumimoji="1" lang="en-US" altLang="zh-CN" sz="1800" dirty="0" smtClean="0">
                <a:latin typeface="微软雅黑" panose="020B0503020204020204" pitchFamily="34" charset="-122"/>
                <a:ea typeface="微软雅黑" panose="020B0503020204020204" pitchFamily="34" charset="-122"/>
                <a:cs typeface="宋体" charset="0"/>
              </a:rPr>
              <a:t>(</a:t>
            </a:r>
            <a:r>
              <a:rPr kumimoji="1" lang="en-US" altLang="zh-CN" sz="1800" dirty="0" err="1" smtClean="0">
                <a:latin typeface="微软雅黑" panose="020B0503020204020204" pitchFamily="34" charset="-122"/>
                <a:ea typeface="微软雅黑" panose="020B0503020204020204" pitchFamily="34" charset="-122"/>
                <a:cs typeface="宋体" charset="0"/>
              </a:rPr>
              <a:t>sum_segment</a:t>
            </a:r>
            <a:r>
              <a:rPr kumimoji="1" lang="en-US" altLang="zh-CN" sz="1800" dirty="0" smtClean="0">
                <a:latin typeface="微软雅黑" panose="020B0503020204020204" pitchFamily="34" charset="-122"/>
                <a:ea typeface="微软雅黑" panose="020B0503020204020204" pitchFamily="34" charset="-122"/>
                <a:cs typeface="宋体" charset="0"/>
              </a:rPr>
              <a:t>)</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含义</a:t>
            </a:r>
            <a:r>
              <a:rPr kumimoji="1" lang="zh-CN" altLang="en-US"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对于一段内的日志，在主维度下，所有子维度对象的加和就是子数目特征</a:t>
            </a:r>
            <a:r>
              <a:rPr kumimoji="1" lang="zh-CN" altLang="en-US" sz="1200" dirty="0" smtClean="0">
                <a:latin typeface="微软雅黑" panose="020B0503020204020204" pitchFamily="34" charset="-122"/>
                <a:ea typeface="微软雅黑" panose="020B0503020204020204" pitchFamily="34" charset="-122"/>
                <a:cs typeface="宋体" charset="0"/>
              </a:rPr>
              <a:t>。</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200" dirty="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实例</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en-US" altLang="zh-CN" sz="1600" dirty="0">
                <a:latin typeface="微软雅黑" panose="020B0503020204020204" pitchFamily="34" charset="-122"/>
                <a:ea typeface="微软雅黑" panose="020B0503020204020204" pitchFamily="34" charset="-122"/>
                <a:cs typeface="宋体" charset="0"/>
              </a:rPr>
              <a:t>31001</a:t>
            </a:r>
            <a:r>
              <a:rPr kumimoji="1" lang="zh-CN" altLang="en-US" sz="1600" dirty="0" smtClean="0">
                <a:latin typeface="微软雅黑" panose="020B0503020204020204" pitchFamily="34" charset="-122"/>
                <a:ea typeface="微软雅黑" panose="020B0503020204020204" pitchFamily="34" charset="-122"/>
                <a:cs typeface="宋体" charset="0"/>
              </a:rPr>
              <a:t>特征</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400" dirty="0" err="1" smtClean="0">
                <a:latin typeface="微软雅黑" panose="020B0503020204020204" pitchFamily="34" charset="-122"/>
                <a:ea typeface="微软雅黑" panose="020B0503020204020204" pitchFamily="34" charset="-122"/>
                <a:cs typeface="宋体" charset="0"/>
              </a:rPr>
              <a:t>step_length</a:t>
            </a:r>
            <a:r>
              <a:rPr kumimoji="1" lang="zh-CN" altLang="en-US" sz="1400" dirty="0" smtClean="0">
                <a:latin typeface="微软雅黑" panose="020B0503020204020204" pitchFamily="34" charset="-122"/>
                <a:ea typeface="微软雅黑" panose="020B0503020204020204" pitchFamily="34" charset="-122"/>
                <a:cs typeface="宋体" charset="0"/>
              </a:rPr>
              <a:t>字段为空，因此步长默认为段长的四分之一</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特征抽取首先根据</a:t>
            </a:r>
            <a:r>
              <a:rPr kumimoji="1" lang="en-US" altLang="zh-CN" sz="1400" dirty="0" smtClean="0">
                <a:latin typeface="微软雅黑" panose="020B0503020204020204" pitchFamily="34" charset="-122"/>
                <a:ea typeface="微软雅黑" panose="020B0503020204020204" pitchFamily="34" charset="-122"/>
                <a:cs typeface="宋体" charset="0"/>
              </a:rPr>
              <a:t>care</a:t>
            </a:r>
            <a:r>
              <a:rPr kumimoji="1" lang="zh-CN" altLang="en-US" sz="1400" dirty="0" smtClean="0">
                <a:latin typeface="微软雅黑" panose="020B0503020204020204" pitchFamily="34" charset="-122"/>
                <a:ea typeface="微软雅黑" panose="020B0503020204020204" pitchFamily="34" charset="-122"/>
                <a:cs typeface="宋体" charset="0"/>
              </a:rPr>
              <a:t>表达式圈定</a:t>
            </a:r>
            <a:r>
              <a:rPr kumimoji="1" lang="zh-CN" altLang="en-US" sz="1400" dirty="0">
                <a:latin typeface="微软雅黑" panose="020B0503020204020204" pitchFamily="34" charset="-122"/>
                <a:ea typeface="微软雅黑" panose="020B0503020204020204" pitchFamily="34" charset="-122"/>
                <a:cs typeface="宋体" charset="0"/>
              </a:rPr>
              <a:t>无线</a:t>
            </a:r>
            <a:r>
              <a:rPr kumimoji="1" lang="zh-CN" altLang="en-US" sz="1400" dirty="0" smtClean="0">
                <a:latin typeface="微软雅黑" panose="020B0503020204020204" pitchFamily="34" charset="-122"/>
                <a:ea typeface="微软雅黑" panose="020B0503020204020204" pitchFamily="34" charset="-122"/>
                <a:cs typeface="宋体" charset="0"/>
              </a:rPr>
              <a:t>端凤巢、</a:t>
            </a:r>
            <a:r>
              <a:rPr kumimoji="1" lang="en-US" altLang="zh-CN" sz="1400" dirty="0" err="1" smtClean="0">
                <a:latin typeface="微软雅黑" panose="020B0503020204020204" pitchFamily="34" charset="-122"/>
                <a:ea typeface="微软雅黑" panose="020B0503020204020204" pitchFamily="34" charset="-122"/>
                <a:cs typeface="宋体" charset="0"/>
              </a:rPr>
              <a:t>baiduid</a:t>
            </a:r>
            <a:r>
              <a:rPr kumimoji="1" lang="zh-CN" altLang="en-US" sz="1400" dirty="0" smtClean="0">
                <a:latin typeface="微软雅黑" panose="020B0503020204020204" pitchFamily="34" charset="-122"/>
                <a:ea typeface="微软雅黑" panose="020B0503020204020204" pitchFamily="34" charset="-122"/>
                <a:cs typeface="宋体" charset="0"/>
              </a:rPr>
              <a:t>有效的日志，然后累积统计一天的日志中每一个</a:t>
            </a:r>
            <a:r>
              <a:rPr kumimoji="1" lang="en-US" altLang="zh-CN" sz="1400" dirty="0" err="1" smtClean="0">
                <a:latin typeface="微软雅黑" panose="020B0503020204020204" pitchFamily="34" charset="-122"/>
                <a:ea typeface="微软雅黑" panose="020B0503020204020204" pitchFamily="34" charset="-122"/>
                <a:cs typeface="宋体" charset="0"/>
              </a:rPr>
              <a:t>baiduid</a:t>
            </a:r>
            <a:r>
              <a:rPr kumimoji="1" lang="zh-CN" altLang="en-US" sz="1400" dirty="0" smtClean="0">
                <a:latin typeface="微软雅黑" panose="020B0503020204020204" pitchFamily="34" charset="-122"/>
                <a:ea typeface="微软雅黑" panose="020B0503020204020204" pitchFamily="34" charset="-122"/>
                <a:cs typeface="宋体" charset="0"/>
              </a:rPr>
              <a:t>点击广告带来的收入总和，两个相邻的段之间相距</a:t>
            </a:r>
            <a:r>
              <a:rPr kumimoji="1" lang="en-US" altLang="zh-CN" sz="1400" dirty="0">
                <a:latin typeface="微软雅黑" panose="020B0503020204020204" pitchFamily="34" charset="-122"/>
                <a:ea typeface="微软雅黑" panose="020B0503020204020204" pitchFamily="34" charset="-122"/>
                <a:cs typeface="宋体" charset="0"/>
              </a:rPr>
              <a:t>6</a:t>
            </a:r>
            <a:r>
              <a:rPr kumimoji="1" lang="zh-CN" altLang="en-US" sz="1400" dirty="0" smtClean="0">
                <a:latin typeface="微软雅黑" panose="020B0503020204020204" pitchFamily="34" charset="-122"/>
                <a:ea typeface="微软雅黑" panose="020B0503020204020204" pitchFamily="34" charset="-122"/>
                <a:cs typeface="宋体" charset="0"/>
              </a:rPr>
              <a:t>个小时</a:t>
            </a:r>
            <a:endParaRPr kumimoji="1" lang="en-US" altLang="zh-CN" sz="1400" dirty="0" smtClean="0">
              <a:latin typeface="微软雅黑" panose="020B0503020204020204" pitchFamily="34" charset="-122"/>
              <a:ea typeface="微软雅黑" panose="020B0503020204020204" pitchFamily="34" charset="-122"/>
              <a:cs typeface="宋体" charset="0"/>
            </a:endParaRPr>
          </a:p>
        </p:txBody>
      </p:sp>
      <p:sp>
        <p:nvSpPr>
          <p:cNvPr id="6" name="矩形 5"/>
          <p:cNvSpPr/>
          <p:nvPr/>
        </p:nvSpPr>
        <p:spPr>
          <a:xfrm>
            <a:off x="5716709" y="1674323"/>
            <a:ext cx="3110495" cy="2462213"/>
          </a:xfrm>
          <a:prstGeom prst="rect">
            <a:avLst/>
          </a:prstGeom>
          <a:solidFill>
            <a:schemeClr val="tx1">
              <a:lumMod val="95000"/>
              <a:lumOff val="5000"/>
            </a:schemeClr>
          </a:solidFill>
        </p:spPr>
        <p:txBody>
          <a:bodyPr wrap="square">
            <a:spAutoFit/>
          </a:bodyPr>
          <a:lstStyle/>
          <a:p>
            <a:r>
              <a:rPr lang="en-US" altLang="zh-CN" sz="1400" dirty="0">
                <a:solidFill>
                  <a:srgbClr val="33CC33"/>
                </a:solidFill>
                <a:latin typeface="Times New Roman" panose="02020603050405020304" charset="0"/>
                <a:cs typeface="Times New Roman" panose="02020603050405020304" charset="0"/>
              </a:rPr>
              <a:t>[@feature]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 31001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feature_type</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sum_segment</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view_level</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click_level</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care         : [#</a:t>
            </a:r>
            <a:r>
              <a:rPr lang="en-US" altLang="zh-CN" sz="1400" dirty="0" err="1">
                <a:solidFill>
                  <a:srgbClr val="33CC33"/>
                </a:solidFill>
                <a:latin typeface="Times New Roman" panose="02020603050405020304" charset="0"/>
                <a:cs typeface="Times New Roman" panose="02020603050405020304" charset="0"/>
              </a:rPr>
              <a:t>FcLU</a:t>
            </a:r>
            <a:r>
              <a:rPr lang="en-US" altLang="zh-CN" sz="1400" dirty="0">
                <a:solidFill>
                  <a:srgbClr val="33CC33"/>
                </a:solidFill>
                <a:latin typeface="Times New Roman" panose="02020603050405020304" charset="0"/>
                <a:cs typeface="Times New Roman" panose="02020603050405020304" charset="0"/>
              </a:rPr>
              <a:t>][#Wise][#</a:t>
            </a:r>
            <a:r>
              <a:rPr lang="en-US" altLang="zh-CN" sz="1400" dirty="0" err="1">
                <a:solidFill>
                  <a:srgbClr val="33CC33"/>
                </a:solidFill>
                <a:latin typeface="Times New Roman" panose="02020603050405020304" charset="0"/>
                <a:cs typeface="Times New Roman" panose="02020603050405020304" charset="0"/>
              </a:rPr>
              <a:t>ValidBaiduid</a:t>
            </a:r>
            <a:r>
              <a:rPr lang="en-US" altLang="zh-CN" sz="1400" dirty="0">
                <a:solidFill>
                  <a:srgbClr val="33CC33"/>
                </a:solidFill>
                <a:latin typeface="Times New Roman" panose="02020603050405020304" charset="0"/>
                <a:cs typeface="Times New Roman" panose="02020603050405020304" charset="0"/>
              </a:rPr>
              <a:t>]</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view         : </a:t>
            </a:r>
            <a:r>
              <a:rPr lang="en-US" altLang="zh-CN" sz="1400" dirty="0" err="1">
                <a:solidFill>
                  <a:srgbClr val="33CC33"/>
                </a:solidFill>
                <a:latin typeface="Times New Roman" panose="02020603050405020304" charset="0"/>
                <a:cs typeface="Times New Roman" panose="02020603050405020304" charset="0"/>
              </a:rPr>
              <a:t>baiduid</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version      : 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data_view</a:t>
            </a:r>
            <a:r>
              <a:rPr lang="en-US" altLang="zh-CN" sz="1400" dirty="0">
                <a:solidFill>
                  <a:srgbClr val="33CC33"/>
                </a:solidFill>
                <a:latin typeface="Times New Roman" panose="02020603050405020304" charset="0"/>
                <a:cs typeface="Times New Roman" panose="02020603050405020304" charset="0"/>
              </a:rPr>
              <a:t>    : price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window_type</a:t>
            </a:r>
            <a:r>
              <a:rPr lang="en-US" altLang="zh-CN" sz="1400" dirty="0">
                <a:solidFill>
                  <a:srgbClr val="33CC33"/>
                </a:solidFill>
                <a:latin typeface="Times New Roman" panose="02020603050405020304" charset="0"/>
                <a:cs typeface="Times New Roman" panose="02020603050405020304" charset="0"/>
              </a:rPr>
              <a:t>  : time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window_length</a:t>
            </a:r>
            <a:r>
              <a:rPr lang="en-US" altLang="zh-CN" sz="1400" dirty="0">
                <a:solidFill>
                  <a:srgbClr val="33CC33"/>
                </a:solidFill>
                <a:latin typeface="Times New Roman" panose="02020603050405020304" charset="0"/>
                <a:cs typeface="Times New Roman" panose="02020603050405020304" charset="0"/>
              </a:rPr>
              <a:t>: 86400</a:t>
            </a:r>
            <a:endParaRPr lang="en-US" altLang="zh-CN" sz="1400" dirty="0">
              <a:solidFill>
                <a:srgbClr val="33CC33"/>
              </a:solidFill>
              <a:latin typeface="Times New Roman" panose="02020603050405020304" charset="0"/>
              <a:cs typeface="Times New Roman" panose="02020603050405020304" charset="0"/>
            </a:endParaRPr>
          </a:p>
        </p:txBody>
      </p:sp>
      <p:sp>
        <p:nvSpPr>
          <p:cNvPr id="8" name="文本框 7"/>
          <p:cNvSpPr txBox="1"/>
          <p:nvPr/>
        </p:nvSpPr>
        <p:spPr>
          <a:xfrm>
            <a:off x="5735256" y="1312748"/>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a:t>
            </a:r>
            <a:r>
              <a:rPr lang="en-US" altLang="zh-CN" sz="1200" dirty="0">
                <a:latin typeface="微软雅黑" panose="020B0503020204020204" pitchFamily="34" charset="-122"/>
                <a:ea typeface="微软雅黑" panose="020B0503020204020204" pitchFamily="34" charset="-122"/>
              </a:rPr>
              <a:t>31001</a:t>
            </a:r>
            <a:r>
              <a:rPr lang="zh-CN" altLang="en-US" sz="1200" dirty="0" smtClean="0">
                <a:latin typeface="微软雅黑" panose="020B0503020204020204" pitchFamily="34" charset="-122"/>
                <a:ea typeface="微软雅黑" panose="020B0503020204020204" pitchFamily="34" charset="-122"/>
              </a:rPr>
              <a:t>特征配置文件</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4187365"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基于数目特征的段</a:t>
            </a:r>
            <a:r>
              <a:rPr kumimoji="1" lang="zh-CN" altLang="en-US" sz="1400" b="1" spc="200" dirty="0">
                <a:latin typeface="微软雅黑"/>
                <a:ea typeface="微软雅黑"/>
                <a:cs typeface="微软雅黑"/>
              </a:rPr>
              <a:t>上限</a:t>
            </a:r>
            <a:r>
              <a:rPr kumimoji="1" lang="zh-CN" altLang="en-US" sz="1400" b="1" spc="200" dirty="0" smtClean="0">
                <a:latin typeface="微软雅黑"/>
                <a:ea typeface="微软雅黑"/>
                <a:cs typeface="微软雅黑"/>
              </a:rPr>
              <a:t>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4904695" cy="3913804"/>
          </a:xfrm>
        </p:spPr>
        <p:txBody>
          <a:bodyPr>
            <a:noAutofit/>
          </a:bodyPr>
          <a:lstStyle/>
          <a:p>
            <a:pPr marL="0" indent="0">
              <a:spcAft>
                <a:spcPts val="600"/>
              </a:spcAft>
              <a:buSzPct val="120000"/>
              <a:buNone/>
            </a:pPr>
            <a:r>
              <a:rPr kumimoji="1" lang="en-US" altLang="zh-CN" sz="1800" dirty="0" smtClean="0">
                <a:latin typeface="微软雅黑" panose="020B0503020204020204" pitchFamily="34" charset="-122"/>
                <a:ea typeface="微软雅黑" panose="020B0503020204020204" pitchFamily="34" charset="-122"/>
                <a:cs typeface="宋体" charset="0"/>
              </a:rPr>
              <a:t>7101</a:t>
            </a:r>
            <a:r>
              <a:rPr kumimoji="1" lang="zh-CN" altLang="en-US" sz="1800" dirty="0" smtClean="0">
                <a:latin typeface="微软雅黑" panose="020B0503020204020204" pitchFamily="34" charset="-122"/>
                <a:ea typeface="微软雅黑" panose="020B0503020204020204" pitchFamily="34" charset="-122"/>
                <a:cs typeface="宋体" charset="0"/>
              </a:rPr>
              <a:t>策略</a:t>
            </a:r>
            <a:r>
              <a:rPr kumimoji="1" lang="en-US" altLang="zh-CN" sz="1800" dirty="0" smtClean="0">
                <a:latin typeface="微软雅黑" panose="020B0503020204020204" pitchFamily="34" charset="-122"/>
                <a:ea typeface="微软雅黑" panose="020B0503020204020204" pitchFamily="34" charset="-122"/>
                <a:cs typeface="宋体" charset="0"/>
              </a:rPr>
              <a:t>-3100101</a:t>
            </a:r>
            <a:r>
              <a:rPr kumimoji="1" lang="zh-CN" altLang="en-US" sz="1800" dirty="0" smtClean="0">
                <a:latin typeface="微软雅黑" panose="020B0503020204020204" pitchFamily="34" charset="-122"/>
                <a:ea typeface="微软雅黑" panose="020B0503020204020204" pitchFamily="34" charset="-122"/>
                <a:cs typeface="宋体" charset="0"/>
              </a:rPr>
              <a:t>特征</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含义</a:t>
            </a:r>
            <a:r>
              <a:rPr kumimoji="1" lang="zh-CN" altLang="en-US"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一天之内，无限凤巢同一个</a:t>
            </a:r>
            <a:r>
              <a:rPr kumimoji="1" lang="en-US" altLang="zh-CN" sz="1400" dirty="0" err="1" smtClean="0">
                <a:latin typeface="微软雅黑" panose="020B0503020204020204" pitchFamily="34" charset="-122"/>
                <a:ea typeface="微软雅黑" panose="020B0503020204020204" pitchFamily="34" charset="-122"/>
                <a:cs typeface="宋体" charset="0"/>
              </a:rPr>
              <a:t>baiduid</a:t>
            </a:r>
            <a:r>
              <a:rPr kumimoji="1" lang="zh-CN" altLang="en-US" sz="1400" dirty="0" smtClean="0">
                <a:latin typeface="微软雅黑" panose="020B0503020204020204" pitchFamily="34" charset="-122"/>
                <a:ea typeface="微软雅黑" panose="020B0503020204020204" pitchFamily="34" charset="-122"/>
                <a:cs typeface="宋体" charset="0"/>
              </a:rPr>
              <a:t>的平均点击价格应该小于</a:t>
            </a:r>
            <a:r>
              <a:rPr kumimoji="1" lang="en-US" altLang="zh-CN" sz="1400" dirty="0" smtClean="0">
                <a:latin typeface="微软雅黑" panose="020B0503020204020204" pitchFamily="34" charset="-122"/>
                <a:ea typeface="微软雅黑" panose="020B0503020204020204" pitchFamily="34" charset="-122"/>
                <a:cs typeface="宋体" charset="0"/>
              </a:rPr>
              <a:t>600</a:t>
            </a:r>
            <a:r>
              <a:rPr kumimoji="1" lang="zh-CN" altLang="en-US" sz="1400" dirty="0">
                <a:latin typeface="微软雅黑" panose="020B0503020204020204" pitchFamily="34" charset="-122"/>
                <a:ea typeface="微软雅黑" panose="020B0503020204020204" pitchFamily="34" charset="-122"/>
                <a:cs typeface="宋体" charset="0"/>
              </a:rPr>
              <a:t>。</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200" dirty="0">
              <a:latin typeface="微软雅黑" panose="020B0503020204020204" pitchFamily="34" charset="-122"/>
              <a:ea typeface="微软雅黑" panose="020B0503020204020204" pitchFamily="34" charset="-122"/>
              <a:cs typeface="宋体" charset="0"/>
            </a:endParaRPr>
          </a:p>
        </p:txBody>
      </p:sp>
      <p:sp>
        <p:nvSpPr>
          <p:cNvPr id="6" name="矩形 5"/>
          <p:cNvSpPr/>
          <p:nvPr/>
        </p:nvSpPr>
        <p:spPr>
          <a:xfrm>
            <a:off x="5698161" y="1082219"/>
            <a:ext cx="3110495" cy="3754874"/>
          </a:xfrm>
          <a:prstGeom prst="rect">
            <a:avLst/>
          </a:prstGeom>
          <a:solidFill>
            <a:schemeClr val="tx1">
              <a:lumMod val="95000"/>
              <a:lumOff val="5000"/>
            </a:schemeClr>
          </a:solidFill>
        </p:spPr>
        <p:txBody>
          <a:bodyPr wrap="square">
            <a:spAutoFit/>
          </a:bodyPr>
          <a:lstStyle/>
          <a:p>
            <a:r>
              <a:rPr lang="en-US" altLang="zh-CN" sz="1400" dirty="0">
                <a:solidFill>
                  <a:srgbClr val="33CC33"/>
                </a:solidFill>
                <a:latin typeface="Times New Roman" panose="02020603050405020304" charset="0"/>
                <a:cs typeface="Times New Roman" panose="02020603050405020304" charset="0"/>
              </a:rPr>
              <a:t>[.@rule]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 3100101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rule_type</a:t>
            </a:r>
            <a:r>
              <a:rPr lang="en-US" altLang="zh-CN" sz="1400" dirty="0">
                <a:solidFill>
                  <a:srgbClr val="33CC33"/>
                </a:solidFill>
                <a:latin typeface="Times New Roman" panose="02020603050405020304" charset="0"/>
                <a:cs typeface="Times New Roman" panose="02020603050405020304" charset="0"/>
              </a:rPr>
              <a:t>   : combine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expression  : 31001 / 31101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threshold   : 600</a:t>
            </a:r>
            <a:endParaRPr lang="en-US" altLang="zh-CN" sz="1400" dirty="0">
              <a:solidFill>
                <a:srgbClr val="33CC33"/>
              </a:solidFill>
              <a:latin typeface="Times New Roman" panose="02020603050405020304" charset="0"/>
              <a:cs typeface="Times New Roman" panose="02020603050405020304" charset="0"/>
            </a:endParaRPr>
          </a:p>
          <a:p>
            <a:endParaRPr lang="en-US" altLang="zh-CN" sz="1400" dirty="0" smtClean="0">
              <a:solidFill>
                <a:srgbClr val="33CC33"/>
              </a:solidFill>
              <a:latin typeface="Times New Roman" panose="02020603050405020304" charset="0"/>
              <a:cs typeface="Times New Roman" panose="02020603050405020304" charset="0"/>
            </a:endParaRPr>
          </a:p>
          <a:p>
            <a:r>
              <a:rPr lang="en-US" altLang="zh-CN" sz="1400" dirty="0" smtClean="0">
                <a:solidFill>
                  <a:srgbClr val="33CC33"/>
                </a:solidFill>
                <a:latin typeface="Times New Roman" panose="02020603050405020304" charset="0"/>
                <a:cs typeface="Times New Roman" panose="02020603050405020304" charset="0"/>
              </a:rPr>
              <a:t>[@</a:t>
            </a:r>
            <a:r>
              <a:rPr lang="en-US" altLang="zh-CN" sz="1400" dirty="0">
                <a:solidFill>
                  <a:srgbClr val="33CC33"/>
                </a:solidFill>
                <a:latin typeface="Times New Roman" panose="02020603050405020304" charset="0"/>
                <a:cs typeface="Times New Roman" panose="02020603050405020304" charset="0"/>
              </a:rPr>
              <a:t>feature]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 31001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feature_type</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sum_segment</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view_level</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click_level</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care         : [#</a:t>
            </a:r>
            <a:r>
              <a:rPr lang="en-US" altLang="zh-CN" sz="1400" dirty="0" err="1">
                <a:solidFill>
                  <a:srgbClr val="33CC33"/>
                </a:solidFill>
                <a:latin typeface="Times New Roman" panose="02020603050405020304" charset="0"/>
                <a:cs typeface="Times New Roman" panose="02020603050405020304" charset="0"/>
              </a:rPr>
              <a:t>FcLU</a:t>
            </a:r>
            <a:r>
              <a:rPr lang="en-US" altLang="zh-CN" sz="1400" dirty="0">
                <a:solidFill>
                  <a:srgbClr val="33CC33"/>
                </a:solidFill>
                <a:latin typeface="Times New Roman" panose="02020603050405020304" charset="0"/>
                <a:cs typeface="Times New Roman" panose="02020603050405020304" charset="0"/>
              </a:rPr>
              <a:t>][#Wise][#</a:t>
            </a:r>
            <a:r>
              <a:rPr lang="en-US" altLang="zh-CN" sz="1400" dirty="0" err="1">
                <a:solidFill>
                  <a:srgbClr val="33CC33"/>
                </a:solidFill>
                <a:latin typeface="Times New Roman" panose="02020603050405020304" charset="0"/>
                <a:cs typeface="Times New Roman" panose="02020603050405020304" charset="0"/>
              </a:rPr>
              <a:t>ValidBaiduid</a:t>
            </a:r>
            <a:r>
              <a:rPr lang="en-US" altLang="zh-CN" sz="1400" dirty="0">
                <a:solidFill>
                  <a:srgbClr val="33CC33"/>
                </a:solidFill>
                <a:latin typeface="Times New Roman" panose="02020603050405020304" charset="0"/>
                <a:cs typeface="Times New Roman" panose="02020603050405020304" charset="0"/>
              </a:rPr>
              <a:t>]</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view         : </a:t>
            </a:r>
            <a:r>
              <a:rPr lang="en-US" altLang="zh-CN" sz="1400" dirty="0" err="1">
                <a:solidFill>
                  <a:srgbClr val="33CC33"/>
                </a:solidFill>
                <a:latin typeface="Times New Roman" panose="02020603050405020304" charset="0"/>
                <a:cs typeface="Times New Roman" panose="02020603050405020304" charset="0"/>
              </a:rPr>
              <a:t>baiduid</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version      : 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data_view</a:t>
            </a:r>
            <a:r>
              <a:rPr lang="en-US" altLang="zh-CN" sz="1400" dirty="0">
                <a:solidFill>
                  <a:srgbClr val="33CC33"/>
                </a:solidFill>
                <a:latin typeface="Times New Roman" panose="02020603050405020304" charset="0"/>
                <a:cs typeface="Times New Roman" panose="02020603050405020304" charset="0"/>
              </a:rPr>
              <a:t>    : price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window_type</a:t>
            </a:r>
            <a:r>
              <a:rPr lang="en-US" altLang="zh-CN" sz="1400" dirty="0">
                <a:solidFill>
                  <a:srgbClr val="33CC33"/>
                </a:solidFill>
                <a:latin typeface="Times New Roman" panose="02020603050405020304" charset="0"/>
                <a:cs typeface="Times New Roman" panose="02020603050405020304" charset="0"/>
              </a:rPr>
              <a:t>  : time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window_length</a:t>
            </a:r>
            <a:r>
              <a:rPr lang="en-US" altLang="zh-CN" sz="1400" dirty="0">
                <a:solidFill>
                  <a:srgbClr val="33CC33"/>
                </a:solidFill>
                <a:latin typeface="Times New Roman" panose="02020603050405020304" charset="0"/>
                <a:cs typeface="Times New Roman" panose="02020603050405020304" charset="0"/>
              </a:rPr>
              <a:t>: </a:t>
            </a:r>
            <a:r>
              <a:rPr lang="en-US" altLang="zh-CN" sz="1400" dirty="0" smtClean="0">
                <a:solidFill>
                  <a:srgbClr val="33CC33"/>
                </a:solidFill>
                <a:latin typeface="Times New Roman" panose="02020603050405020304" charset="0"/>
                <a:cs typeface="Times New Roman" panose="02020603050405020304" charset="0"/>
              </a:rPr>
              <a:t>86400</a:t>
            </a:r>
            <a:endParaRPr lang="en-US" altLang="zh-CN" sz="1400" dirty="0" smtClean="0">
              <a:solidFill>
                <a:srgbClr val="33CC33"/>
              </a:solidFill>
              <a:latin typeface="Times New Roman" panose="02020603050405020304" charset="0"/>
              <a:cs typeface="Times New Roman" panose="02020603050405020304" charset="0"/>
            </a:endParaRPr>
          </a:p>
        </p:txBody>
      </p:sp>
      <p:sp>
        <p:nvSpPr>
          <p:cNvPr id="8" name="文本框 7"/>
          <p:cNvSpPr txBox="1"/>
          <p:nvPr/>
        </p:nvSpPr>
        <p:spPr>
          <a:xfrm>
            <a:off x="5735256" y="787453"/>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3100101</a:t>
            </a:r>
            <a:r>
              <a:rPr lang="zh-CN" altLang="en-US" sz="1200" dirty="0" smtClean="0">
                <a:latin typeface="微软雅黑" panose="020B0503020204020204" pitchFamily="34" charset="-122"/>
                <a:ea typeface="微软雅黑" panose="020B0503020204020204" pitchFamily="34" charset="-122"/>
              </a:rPr>
              <a:t>特征配置文件</a:t>
            </a:r>
            <a:endParaRPr lang="zh-CN" altLang="en-US" sz="1200" dirty="0">
              <a:latin typeface="微软雅黑" panose="020B0503020204020204" pitchFamily="34" charset="-122"/>
              <a:ea typeface="微软雅黑" panose="020B0503020204020204" pitchFamily="34" charset="-122"/>
            </a:endParaRPr>
          </a:p>
        </p:txBody>
      </p:sp>
      <p:sp>
        <p:nvSpPr>
          <p:cNvPr id="9" name="矩形 8"/>
          <p:cNvSpPr/>
          <p:nvPr/>
        </p:nvSpPr>
        <p:spPr>
          <a:xfrm>
            <a:off x="1251569" y="2665123"/>
            <a:ext cx="3361765" cy="2031325"/>
          </a:xfrm>
          <a:prstGeom prst="rect">
            <a:avLst/>
          </a:prstGeom>
          <a:solidFill>
            <a:schemeClr val="tx1"/>
          </a:solidFill>
        </p:spPr>
        <p:txBody>
          <a:bodyPr wrap="square">
            <a:spAutoFit/>
          </a:bodyPr>
          <a:lstStyle/>
          <a:p>
            <a:pPr lvl="0"/>
            <a:r>
              <a:rPr lang="en-US" altLang="zh-CN" sz="1400" dirty="0">
                <a:solidFill>
                  <a:srgbClr val="33CC33"/>
                </a:solidFill>
                <a:latin typeface="Times New Roman" panose="02020603050405020304" charset="0"/>
                <a:cs typeface="Times New Roman" panose="02020603050405020304" charset="0"/>
              </a:rPr>
              <a:t>[@feature]</a:t>
            </a:r>
            <a:endParaRPr lang="en-US" altLang="zh-CN" sz="1400" dirty="0">
              <a:solidFill>
                <a:srgbClr val="33CC33"/>
              </a:solidFill>
              <a:latin typeface="Times New Roman" panose="02020603050405020304" charset="0"/>
              <a:cs typeface="Times New Roman" panose="02020603050405020304" charset="0"/>
            </a:endParaRPr>
          </a:p>
          <a:p>
            <a:pPr lvl="0"/>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 31101</a:t>
            </a:r>
            <a:endParaRPr lang="en-US" altLang="zh-CN" sz="1400" dirty="0">
              <a:solidFill>
                <a:srgbClr val="33CC33"/>
              </a:solidFill>
              <a:latin typeface="Times New Roman" panose="02020603050405020304" charset="0"/>
              <a:cs typeface="Times New Roman" panose="02020603050405020304" charset="0"/>
            </a:endParaRPr>
          </a:p>
          <a:p>
            <a:pPr lvl="0"/>
            <a:r>
              <a:rPr lang="en-US" altLang="zh-CN" sz="1400" dirty="0" err="1">
                <a:solidFill>
                  <a:srgbClr val="33CC33"/>
                </a:solidFill>
                <a:latin typeface="Times New Roman" panose="02020603050405020304" charset="0"/>
                <a:cs typeface="Times New Roman" panose="02020603050405020304" charset="0"/>
              </a:rPr>
              <a:t>feature_type</a:t>
            </a:r>
            <a:r>
              <a:rPr lang="en-US" altLang="zh-CN" sz="1400" dirty="0">
                <a:solidFill>
                  <a:srgbClr val="33CC33"/>
                </a:solidFill>
                <a:latin typeface="Times New Roman" panose="02020603050405020304" charset="0"/>
                <a:cs typeface="Times New Roman" panose="02020603050405020304" charset="0"/>
              </a:rPr>
              <a:t> : segment</a:t>
            </a:r>
            <a:endParaRPr lang="en-US" altLang="zh-CN" sz="1400" dirty="0">
              <a:solidFill>
                <a:srgbClr val="33CC33"/>
              </a:solidFill>
              <a:latin typeface="Times New Roman" panose="02020603050405020304" charset="0"/>
              <a:cs typeface="Times New Roman" panose="02020603050405020304" charset="0"/>
            </a:endParaRPr>
          </a:p>
          <a:p>
            <a:pPr lvl="0"/>
            <a:r>
              <a:rPr lang="en-US" altLang="zh-CN" sz="1400" dirty="0" err="1">
                <a:solidFill>
                  <a:srgbClr val="33CC33"/>
                </a:solidFill>
                <a:latin typeface="Times New Roman" panose="02020603050405020304" charset="0"/>
                <a:cs typeface="Times New Roman" panose="02020603050405020304" charset="0"/>
              </a:rPr>
              <a:t>view_level</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click_level</a:t>
            </a:r>
            <a:endParaRPr lang="en-US" altLang="zh-CN" sz="1400" dirty="0">
              <a:solidFill>
                <a:srgbClr val="33CC33"/>
              </a:solidFill>
              <a:latin typeface="Times New Roman" panose="02020603050405020304" charset="0"/>
              <a:cs typeface="Times New Roman" panose="02020603050405020304" charset="0"/>
            </a:endParaRPr>
          </a:p>
          <a:p>
            <a:pPr lvl="0"/>
            <a:r>
              <a:rPr lang="en-US" altLang="zh-CN" sz="1400" dirty="0">
                <a:solidFill>
                  <a:srgbClr val="33CC33"/>
                </a:solidFill>
                <a:latin typeface="Times New Roman" panose="02020603050405020304" charset="0"/>
                <a:cs typeface="Times New Roman" panose="02020603050405020304" charset="0"/>
              </a:rPr>
              <a:t>care         : [#</a:t>
            </a:r>
            <a:r>
              <a:rPr lang="en-US" altLang="zh-CN" sz="1400" dirty="0" err="1">
                <a:solidFill>
                  <a:srgbClr val="33CC33"/>
                </a:solidFill>
                <a:latin typeface="Times New Roman" panose="02020603050405020304" charset="0"/>
                <a:cs typeface="Times New Roman" panose="02020603050405020304" charset="0"/>
              </a:rPr>
              <a:t>FcLU</a:t>
            </a:r>
            <a:r>
              <a:rPr lang="en-US" altLang="zh-CN" sz="1400" dirty="0">
                <a:solidFill>
                  <a:srgbClr val="33CC33"/>
                </a:solidFill>
                <a:latin typeface="Times New Roman" panose="02020603050405020304" charset="0"/>
                <a:cs typeface="Times New Roman" panose="02020603050405020304" charset="0"/>
              </a:rPr>
              <a:t>][#Wise][#</a:t>
            </a:r>
            <a:r>
              <a:rPr lang="en-US" altLang="zh-CN" sz="1400" dirty="0" err="1">
                <a:solidFill>
                  <a:srgbClr val="33CC33"/>
                </a:solidFill>
                <a:latin typeface="Times New Roman" panose="02020603050405020304" charset="0"/>
                <a:cs typeface="Times New Roman" panose="02020603050405020304" charset="0"/>
              </a:rPr>
              <a:t>ValidBaiduid</a:t>
            </a:r>
            <a:r>
              <a:rPr lang="en-US" altLang="zh-CN" sz="1400" dirty="0">
                <a:solidFill>
                  <a:srgbClr val="33CC33"/>
                </a:solidFill>
                <a:latin typeface="Times New Roman" panose="02020603050405020304" charset="0"/>
                <a:cs typeface="Times New Roman" panose="02020603050405020304" charset="0"/>
              </a:rPr>
              <a:t>]</a:t>
            </a:r>
            <a:endParaRPr lang="en-US" altLang="zh-CN" sz="1400" dirty="0">
              <a:solidFill>
                <a:srgbClr val="33CC33"/>
              </a:solidFill>
              <a:latin typeface="Times New Roman" panose="02020603050405020304" charset="0"/>
              <a:cs typeface="Times New Roman" panose="02020603050405020304" charset="0"/>
            </a:endParaRPr>
          </a:p>
          <a:p>
            <a:pPr lvl="0"/>
            <a:r>
              <a:rPr lang="en-US" altLang="zh-CN" sz="1400" dirty="0">
                <a:solidFill>
                  <a:srgbClr val="33CC33"/>
                </a:solidFill>
                <a:latin typeface="Times New Roman" panose="02020603050405020304" charset="0"/>
                <a:cs typeface="Times New Roman" panose="02020603050405020304" charset="0"/>
              </a:rPr>
              <a:t>view         : </a:t>
            </a:r>
            <a:r>
              <a:rPr lang="en-US" altLang="zh-CN" sz="1400" dirty="0" err="1">
                <a:solidFill>
                  <a:srgbClr val="33CC33"/>
                </a:solidFill>
                <a:latin typeface="Times New Roman" panose="02020603050405020304" charset="0"/>
                <a:cs typeface="Times New Roman" panose="02020603050405020304" charset="0"/>
              </a:rPr>
              <a:t>baiduid</a:t>
            </a:r>
            <a:endParaRPr lang="en-US" altLang="zh-CN" sz="1400" dirty="0">
              <a:solidFill>
                <a:srgbClr val="33CC33"/>
              </a:solidFill>
              <a:latin typeface="Times New Roman" panose="02020603050405020304" charset="0"/>
              <a:cs typeface="Times New Roman" panose="02020603050405020304" charset="0"/>
            </a:endParaRPr>
          </a:p>
          <a:p>
            <a:pPr lvl="0"/>
            <a:r>
              <a:rPr lang="en-US" altLang="zh-CN" sz="1400" dirty="0">
                <a:solidFill>
                  <a:srgbClr val="33CC33"/>
                </a:solidFill>
                <a:latin typeface="Times New Roman" panose="02020603050405020304" charset="0"/>
                <a:cs typeface="Times New Roman" panose="02020603050405020304" charset="0"/>
              </a:rPr>
              <a:t>version      : 1</a:t>
            </a:r>
            <a:endParaRPr lang="en-US" altLang="zh-CN" sz="1400" dirty="0">
              <a:solidFill>
                <a:srgbClr val="33CC33"/>
              </a:solidFill>
              <a:latin typeface="Times New Roman" panose="02020603050405020304" charset="0"/>
              <a:cs typeface="Times New Roman" panose="02020603050405020304" charset="0"/>
            </a:endParaRPr>
          </a:p>
          <a:p>
            <a:pPr lvl="0"/>
            <a:r>
              <a:rPr lang="en-US" altLang="zh-CN" sz="1400" dirty="0" err="1">
                <a:solidFill>
                  <a:srgbClr val="33CC33"/>
                </a:solidFill>
                <a:latin typeface="Times New Roman" panose="02020603050405020304" charset="0"/>
                <a:cs typeface="Times New Roman" panose="02020603050405020304" charset="0"/>
              </a:rPr>
              <a:t>window_type</a:t>
            </a:r>
            <a:r>
              <a:rPr lang="en-US" altLang="zh-CN" sz="1400" dirty="0">
                <a:solidFill>
                  <a:srgbClr val="33CC33"/>
                </a:solidFill>
                <a:latin typeface="Times New Roman" panose="02020603050405020304" charset="0"/>
                <a:cs typeface="Times New Roman" panose="02020603050405020304" charset="0"/>
              </a:rPr>
              <a:t>  : time</a:t>
            </a:r>
            <a:endParaRPr lang="en-US" altLang="zh-CN" sz="1400" dirty="0">
              <a:solidFill>
                <a:srgbClr val="33CC33"/>
              </a:solidFill>
              <a:latin typeface="Times New Roman" panose="02020603050405020304" charset="0"/>
              <a:cs typeface="Times New Roman" panose="02020603050405020304" charset="0"/>
            </a:endParaRPr>
          </a:p>
          <a:p>
            <a:pPr lvl="0"/>
            <a:r>
              <a:rPr lang="en-US" altLang="zh-CN" sz="1400" dirty="0" err="1">
                <a:solidFill>
                  <a:srgbClr val="33CC33"/>
                </a:solidFill>
                <a:latin typeface="Times New Roman" panose="02020603050405020304" charset="0"/>
                <a:cs typeface="Times New Roman" panose="02020603050405020304" charset="0"/>
              </a:rPr>
              <a:t>window_length</a:t>
            </a:r>
            <a:r>
              <a:rPr lang="en-US" altLang="zh-CN" sz="1400" dirty="0">
                <a:solidFill>
                  <a:srgbClr val="33CC33"/>
                </a:solidFill>
                <a:latin typeface="Times New Roman" panose="02020603050405020304" charset="0"/>
                <a:cs typeface="Times New Roman" panose="02020603050405020304" charset="0"/>
              </a:rPr>
              <a:t>: 86400</a:t>
            </a:r>
            <a:endParaRPr lang="en-US" altLang="zh-CN" sz="1400" dirty="0">
              <a:solidFill>
                <a:srgbClr val="33CC33"/>
              </a:solidFill>
              <a:latin typeface="Times New Roman" panose="02020603050405020304" charset="0"/>
              <a:cs typeface="Times New Roman" panose="02020603050405020304" charset="0"/>
            </a:endParaRPr>
          </a:p>
        </p:txBody>
      </p:sp>
      <p:sp>
        <p:nvSpPr>
          <p:cNvPr id="10" name="文本框 9"/>
          <p:cNvSpPr txBox="1"/>
          <p:nvPr/>
        </p:nvSpPr>
        <p:spPr>
          <a:xfrm>
            <a:off x="1385430" y="4678005"/>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a:latin typeface="微软雅黑" panose="020B0503020204020204" pitchFamily="34" charset="-122"/>
                <a:ea typeface="微软雅黑" panose="020B0503020204020204" pitchFamily="34" charset="-122"/>
              </a:rPr>
              <a:t>b</a:t>
            </a:r>
            <a:r>
              <a:rPr lang="en-US" altLang="zh-CN" sz="1200" dirty="0" smtClean="0">
                <a:latin typeface="微软雅黑" panose="020B0503020204020204" pitchFamily="34" charset="-122"/>
                <a:ea typeface="微软雅黑" panose="020B0503020204020204" pitchFamily="34" charset="-122"/>
              </a:rPr>
              <a:t>: 31101</a:t>
            </a:r>
            <a:r>
              <a:rPr lang="zh-CN" altLang="en-US" sz="1200" dirty="0" smtClean="0">
                <a:latin typeface="微软雅黑" panose="020B0503020204020204" pitchFamily="34" charset="-122"/>
                <a:ea typeface="微软雅黑" panose="020B0503020204020204" pitchFamily="34" charset="-122"/>
              </a:rPr>
              <a:t>特征配置文件</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多段</a:t>
            </a:r>
            <a:r>
              <a:rPr kumimoji="1" lang="zh-CN" altLang="en-US" sz="1400" b="1" spc="200" dirty="0">
                <a:latin typeface="微软雅黑"/>
                <a:ea typeface="微软雅黑"/>
                <a:cs typeface="微软雅黑"/>
              </a:rPr>
              <a:t>上限</a:t>
            </a:r>
            <a:r>
              <a:rPr kumimoji="1" lang="zh-CN" altLang="en-US" sz="1400" b="1" spc="200" dirty="0" smtClean="0">
                <a:latin typeface="微软雅黑"/>
                <a:ea typeface="微软雅黑"/>
                <a:cs typeface="微软雅黑"/>
              </a:rPr>
              <a:t>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8072224" cy="3913804"/>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简介</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段上限策略在使用</a:t>
            </a:r>
            <a:r>
              <a:rPr kumimoji="1" lang="en-US" altLang="zh-CN" sz="1600" dirty="0" smtClean="0">
                <a:latin typeface="微软雅黑" panose="020B0503020204020204" pitchFamily="34" charset="-122"/>
                <a:ea typeface="微软雅黑" panose="020B0503020204020204" pitchFamily="34" charset="-122"/>
                <a:cs typeface="宋体" charset="0"/>
              </a:rPr>
              <a:t>time</a:t>
            </a:r>
            <a:r>
              <a:rPr kumimoji="1" lang="zh-CN" altLang="en-US" sz="1600" dirty="0" smtClean="0">
                <a:latin typeface="微软雅黑" panose="020B0503020204020204" pitchFamily="34" charset="-122"/>
                <a:ea typeface="微软雅黑" panose="020B0503020204020204" pitchFamily="34" charset="-122"/>
                <a:cs typeface="宋体" charset="0"/>
              </a:rPr>
              <a:t>作为段类型的时候，往往会面临日志乱序的问题，此时时间上属于本段的日志可能位于下一段。而多段上限策略可以通过缓存多个时间段的日志来解决这一问题。</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可用特征</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en-US" altLang="zh-CN" sz="1600" dirty="0" err="1" smtClean="0">
                <a:latin typeface="微软雅黑" panose="020B0503020204020204" pitchFamily="34" charset="-122"/>
                <a:ea typeface="微软雅黑" panose="020B0503020204020204" pitchFamily="34" charset="-122"/>
                <a:cs typeface="宋体" charset="0"/>
              </a:rPr>
              <a:t>multi_seg</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优缺点</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通过对日志进行重排，能够得到真正有序的日志，过滤结果更精确可控</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由于实现上的原因，多段上限策略事实上只能进行跳段移动，因此不太适合大窗口统计的问题</a:t>
            </a:r>
            <a:endParaRPr kumimoji="1" lang="en-US" altLang="zh-CN" sz="1600" dirty="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9562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多段</a:t>
            </a:r>
            <a:r>
              <a:rPr kumimoji="1" lang="zh-CN" altLang="en-US" sz="1400" b="1" spc="200" dirty="0">
                <a:latin typeface="微软雅黑"/>
                <a:ea typeface="微软雅黑"/>
                <a:cs typeface="微软雅黑"/>
              </a:rPr>
              <a:t>上限</a:t>
            </a:r>
            <a:r>
              <a:rPr kumimoji="1" lang="zh-CN" altLang="en-US" sz="1400" b="1" spc="200" dirty="0" smtClean="0">
                <a:latin typeface="微软雅黑"/>
                <a:ea typeface="微软雅黑"/>
                <a:cs typeface="微软雅黑"/>
              </a:rPr>
              <a:t>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4702447" cy="3913804"/>
          </a:xfrm>
        </p:spPr>
        <p:txBody>
          <a:bodyPr>
            <a:noAutofit/>
          </a:bodyPr>
          <a:lstStyle/>
          <a:p>
            <a:pPr marL="0" indent="0">
              <a:spcAft>
                <a:spcPts val="600"/>
              </a:spcAft>
              <a:buSzPct val="120000"/>
              <a:buNone/>
            </a:pPr>
            <a:r>
              <a:rPr kumimoji="1" lang="en-US" altLang="zh-CN" sz="1800" dirty="0" smtClean="0">
                <a:latin typeface="微软雅黑" panose="020B0503020204020204" pitchFamily="34" charset="-122"/>
                <a:ea typeface="微软雅黑" panose="020B0503020204020204" pitchFamily="34" charset="-122"/>
                <a:cs typeface="宋体" charset="0"/>
              </a:rPr>
              <a:t>40004</a:t>
            </a:r>
            <a:r>
              <a:rPr kumimoji="1" lang="zh-CN" altLang="en-US" sz="1800" dirty="0" smtClean="0">
                <a:latin typeface="微软雅黑" panose="020B0503020204020204" pitchFamily="34" charset="-122"/>
                <a:ea typeface="微软雅黑" panose="020B0503020204020204" pitchFamily="34" charset="-122"/>
                <a:cs typeface="宋体" charset="0"/>
              </a:rPr>
              <a:t>策略</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策略背景：</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针对检索行为，正常用户在</a:t>
            </a:r>
            <a:r>
              <a:rPr kumimoji="1" lang="en-US" altLang="zh-CN" sz="1400" dirty="0" smtClean="0">
                <a:latin typeface="微软雅黑" panose="020B0503020204020204" pitchFamily="34" charset="-122"/>
                <a:ea typeface="微软雅黑" panose="020B0503020204020204" pitchFamily="34" charset="-122"/>
                <a:cs typeface="宋体" charset="0"/>
              </a:rPr>
              <a:t>1</a:t>
            </a:r>
            <a:r>
              <a:rPr kumimoji="1" lang="zh-CN" altLang="en-US" sz="1400" dirty="0" smtClean="0">
                <a:latin typeface="微软雅黑" panose="020B0503020204020204" pitchFamily="34" charset="-122"/>
                <a:ea typeface="微软雅黑" panose="020B0503020204020204" pitchFamily="34" charset="-122"/>
                <a:cs typeface="宋体" charset="0"/>
              </a:rPr>
              <a:t>秒内连续进行两次检索的可能很小，因此这部分流量需要过滤。</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参数说明</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400" dirty="0" err="1" smtClean="0">
                <a:latin typeface="微软雅黑" panose="020B0503020204020204" pitchFamily="34" charset="-122"/>
                <a:ea typeface="微软雅黑" panose="020B0503020204020204" pitchFamily="34" charset="-122"/>
                <a:cs typeface="宋体" charset="0"/>
              </a:rPr>
              <a:t>punish_m</a:t>
            </a:r>
            <a:r>
              <a:rPr kumimoji="1" lang="zh-CN" altLang="en-US" sz="1400" dirty="0" smtClean="0">
                <a:latin typeface="微软雅黑" panose="020B0503020204020204" pitchFamily="34" charset="-122"/>
                <a:ea typeface="微软雅黑" panose="020B0503020204020204" pitchFamily="34" charset="-122"/>
                <a:cs typeface="宋体" charset="0"/>
              </a:rPr>
              <a:t>、</a:t>
            </a:r>
            <a:r>
              <a:rPr kumimoji="1" lang="en-US" altLang="zh-CN" sz="1400" dirty="0" err="1" smtClean="0">
                <a:latin typeface="微软雅黑" panose="020B0503020204020204" pitchFamily="34" charset="-122"/>
                <a:ea typeface="微软雅黑" panose="020B0503020204020204" pitchFamily="34" charset="-122"/>
                <a:cs typeface="宋体" charset="0"/>
              </a:rPr>
              <a:t>punish_k</a:t>
            </a:r>
            <a:r>
              <a:rPr kumimoji="1" lang="zh-CN" altLang="en-US" sz="1400" dirty="0" smtClean="0">
                <a:latin typeface="微软雅黑" panose="020B0503020204020204" pitchFamily="34" charset="-122"/>
                <a:ea typeface="微软雅黑" panose="020B0503020204020204" pitchFamily="34" charset="-122"/>
                <a:cs typeface="宋体" charset="0"/>
              </a:rPr>
              <a:t>：衰减系数</a:t>
            </a:r>
            <a:r>
              <a:rPr kumimoji="1" lang="zh-CN" altLang="en-US" sz="1400" dirty="0">
                <a:latin typeface="微软雅黑" panose="020B0503020204020204" pitchFamily="34" charset="-122"/>
                <a:ea typeface="微软雅黑" panose="020B0503020204020204" pitchFamily="34" charset="-122"/>
                <a:cs typeface="宋体" charset="0"/>
              </a:rPr>
              <a:t>，</a:t>
            </a:r>
            <a:r>
              <a:rPr kumimoji="1" lang="zh-CN" altLang="en-US" sz="1400" dirty="0" smtClean="0">
                <a:latin typeface="微软雅黑" panose="020B0503020204020204" pitchFamily="34" charset="-122"/>
                <a:ea typeface="微软雅黑" panose="020B0503020204020204" pitchFamily="34" charset="-122"/>
                <a:cs typeface="宋体" charset="0"/>
              </a:rPr>
              <a:t>若过滤量累计</a:t>
            </a:r>
            <a:r>
              <a:rPr kumimoji="1" lang="zh-CN" altLang="en-US" sz="1400" dirty="0">
                <a:latin typeface="微软雅黑" panose="020B0503020204020204" pitchFamily="34" charset="-122"/>
                <a:ea typeface="微软雅黑" panose="020B0503020204020204" pitchFamily="34" charset="-122"/>
                <a:cs typeface="宋体" charset="0"/>
              </a:rPr>
              <a:t>值</a:t>
            </a:r>
            <a:r>
              <a:rPr kumimoji="1" lang="en-US" altLang="zh-CN" sz="1400" dirty="0">
                <a:latin typeface="微软雅黑" panose="020B0503020204020204" pitchFamily="34" charset="-122"/>
                <a:ea typeface="微软雅黑" panose="020B0503020204020204" pitchFamily="34" charset="-122"/>
                <a:cs typeface="宋体" charset="0"/>
              </a:rPr>
              <a:t>-</a:t>
            </a:r>
            <a:r>
              <a:rPr kumimoji="1" lang="en-US" altLang="zh-CN" sz="1400" dirty="0" smtClean="0">
                <a:latin typeface="微软雅黑" panose="020B0503020204020204" pitchFamily="34" charset="-122"/>
                <a:ea typeface="微软雅黑" panose="020B0503020204020204" pitchFamily="34" charset="-122"/>
                <a:cs typeface="宋体" charset="0"/>
              </a:rPr>
              <a:t>threshold&gt;</a:t>
            </a:r>
            <a:r>
              <a:rPr kumimoji="1" lang="en-US" altLang="zh-CN" sz="1400" dirty="0" err="1" smtClean="0">
                <a:latin typeface="微软雅黑" panose="020B0503020204020204" pitchFamily="34" charset="-122"/>
                <a:ea typeface="微软雅黑" panose="020B0503020204020204" pitchFamily="34" charset="-122"/>
                <a:cs typeface="宋体" charset="0"/>
              </a:rPr>
              <a:t>punish_m</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zh-CN" altLang="en-US" sz="1400" dirty="0" smtClean="0">
                <a:latin typeface="微软雅黑" panose="020B0503020204020204" pitchFamily="34" charset="-122"/>
                <a:ea typeface="微软雅黑" panose="020B0503020204020204" pitchFamily="34" charset="-122"/>
                <a:cs typeface="宋体" charset="0"/>
              </a:rPr>
              <a:t>则</a:t>
            </a:r>
            <a:r>
              <a:rPr kumimoji="1" lang="en-US" altLang="zh-CN" sz="1400" dirty="0">
                <a:latin typeface="微软雅黑" panose="020B0503020204020204" pitchFamily="34" charset="-122"/>
                <a:ea typeface="微软雅黑" panose="020B0503020204020204" pitchFamily="34" charset="-122"/>
                <a:cs typeface="宋体" charset="0"/>
              </a:rPr>
              <a:t>threshold=threshold-(</a:t>
            </a:r>
            <a:r>
              <a:rPr kumimoji="1" lang="zh-CN" altLang="en-US" sz="1400" dirty="0">
                <a:latin typeface="微软雅黑" panose="020B0503020204020204" pitchFamily="34" charset="-122"/>
                <a:ea typeface="微软雅黑" panose="020B0503020204020204" pitchFamily="34" charset="-122"/>
                <a:cs typeface="宋体" charset="0"/>
              </a:rPr>
              <a:t>累计值</a:t>
            </a:r>
            <a:r>
              <a:rPr kumimoji="1" lang="en-US" altLang="zh-CN" sz="1400" dirty="0">
                <a:latin typeface="微软雅黑" panose="020B0503020204020204" pitchFamily="34" charset="-122"/>
                <a:ea typeface="微软雅黑" panose="020B0503020204020204" pitchFamily="34" charset="-122"/>
                <a:cs typeface="宋体" charset="0"/>
              </a:rPr>
              <a:t>-threshold)*</a:t>
            </a:r>
            <a:r>
              <a:rPr kumimoji="1" lang="en-US" altLang="zh-CN" sz="1400" dirty="0" err="1" smtClean="0">
                <a:latin typeface="微软雅黑" panose="020B0503020204020204" pitchFamily="34" charset="-122"/>
                <a:ea typeface="微软雅黑" panose="020B0503020204020204" pitchFamily="34" charset="-122"/>
                <a:cs typeface="宋体" charset="0"/>
              </a:rPr>
              <a:t>punish_k</a:t>
            </a:r>
            <a:r>
              <a:rPr kumimoji="1" lang="zh-CN" altLang="en-US" sz="1400" dirty="0" smtClean="0">
                <a:latin typeface="微软雅黑" panose="020B0503020204020204" pitchFamily="34" charset="-122"/>
                <a:ea typeface="微软雅黑" panose="020B0503020204020204" pitchFamily="34" charset="-122"/>
                <a:cs typeface="宋体" charset="0"/>
              </a:rPr>
              <a:t>。逻辑是当</a:t>
            </a:r>
            <a:r>
              <a:rPr kumimoji="1" lang="zh-CN" altLang="en-US" sz="1400" dirty="0">
                <a:latin typeface="微软雅黑" panose="020B0503020204020204" pitchFamily="34" charset="-122"/>
                <a:ea typeface="微软雅黑" panose="020B0503020204020204" pitchFamily="34" charset="-122"/>
                <a:cs typeface="宋体" charset="0"/>
              </a:rPr>
              <a:t>累计值大于一定值的时候</a:t>
            </a:r>
            <a:r>
              <a:rPr kumimoji="1" lang="zh-CN" altLang="en-US" sz="1400" dirty="0" smtClean="0">
                <a:latin typeface="微软雅黑" panose="020B0503020204020204" pitchFamily="34" charset="-122"/>
                <a:ea typeface="微软雅黑" panose="020B0503020204020204" pitchFamily="34" charset="-122"/>
                <a:cs typeface="宋体" charset="0"/>
              </a:rPr>
              <a:t>，说明作弊的嫌疑较大，通过减小</a:t>
            </a:r>
            <a:r>
              <a:rPr kumimoji="1" lang="zh-CN" altLang="en-US" sz="1400" dirty="0">
                <a:latin typeface="微软雅黑" panose="020B0503020204020204" pitchFamily="34" charset="-122"/>
                <a:ea typeface="微软雅黑" panose="020B0503020204020204" pitchFamily="34" charset="-122"/>
                <a:cs typeface="宋体" charset="0"/>
              </a:rPr>
              <a:t>段上限设定的阈值，进一步加强对该情况的</a:t>
            </a:r>
            <a:r>
              <a:rPr kumimoji="1" lang="zh-CN" altLang="en-US" sz="1400" dirty="0" smtClean="0">
                <a:latin typeface="微软雅黑" panose="020B0503020204020204" pitchFamily="34" charset="-122"/>
                <a:ea typeface="微软雅黑" panose="020B0503020204020204" pitchFamily="34" charset="-122"/>
                <a:cs typeface="宋体" charset="0"/>
              </a:rPr>
              <a:t>过滤。</a:t>
            </a:r>
            <a:endParaRPr kumimoji="1" lang="en-US" altLang="zh-CN" sz="1400" dirty="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对于满足处理空间的日志，一秒内同一个</a:t>
            </a:r>
            <a:r>
              <a:rPr kumimoji="1" lang="en-US" altLang="zh-CN" sz="1400" dirty="0" err="1" smtClean="0">
                <a:latin typeface="微软雅黑" panose="020B0503020204020204" pitchFamily="34" charset="-122"/>
                <a:ea typeface="微软雅黑" panose="020B0503020204020204" pitchFamily="34" charset="-122"/>
                <a:cs typeface="宋体" charset="0"/>
              </a:rPr>
              <a:t>ip</a:t>
            </a:r>
            <a:r>
              <a:rPr kumimoji="1" lang="zh-CN" altLang="en-US" sz="1400" dirty="0" smtClean="0">
                <a:latin typeface="微软雅黑" panose="020B0503020204020204" pitchFamily="34" charset="-122"/>
                <a:ea typeface="微软雅黑" panose="020B0503020204020204" pitchFamily="34" charset="-122"/>
                <a:cs typeface="宋体" charset="0"/>
              </a:rPr>
              <a:t>的检索次数不能多于</a:t>
            </a:r>
            <a:r>
              <a:rPr kumimoji="1" lang="en-US" altLang="zh-CN" sz="1400" dirty="0" smtClean="0">
                <a:latin typeface="微软雅黑" panose="020B0503020204020204" pitchFamily="34" charset="-122"/>
                <a:ea typeface="微软雅黑" panose="020B0503020204020204" pitchFamily="34" charset="-122"/>
                <a:cs typeface="宋体" charset="0"/>
              </a:rPr>
              <a:t>1</a:t>
            </a:r>
            <a:r>
              <a:rPr kumimoji="1" lang="zh-CN" altLang="en-US" sz="1400" dirty="0" smtClean="0">
                <a:latin typeface="微软雅黑" panose="020B0503020204020204" pitchFamily="34" charset="-122"/>
                <a:ea typeface="微软雅黑" panose="020B0503020204020204" pitchFamily="34" charset="-122"/>
                <a:cs typeface="宋体" charset="0"/>
              </a:rPr>
              <a:t>次</a:t>
            </a:r>
            <a:endParaRPr kumimoji="1" lang="en-US" altLang="zh-CN" sz="1400" dirty="0">
              <a:latin typeface="微软雅黑" panose="020B0503020204020204" pitchFamily="34" charset="-122"/>
              <a:ea typeface="微软雅黑" panose="020B0503020204020204" pitchFamily="34" charset="-122"/>
              <a:cs typeface="宋体" charset="0"/>
            </a:endParaRPr>
          </a:p>
        </p:txBody>
      </p:sp>
      <p:sp>
        <p:nvSpPr>
          <p:cNvPr id="6" name="矩形 5"/>
          <p:cNvSpPr/>
          <p:nvPr/>
        </p:nvSpPr>
        <p:spPr>
          <a:xfrm>
            <a:off x="6922345" y="1082219"/>
            <a:ext cx="2061539" cy="3108543"/>
          </a:xfrm>
          <a:prstGeom prst="rect">
            <a:avLst/>
          </a:prstGeom>
          <a:solidFill>
            <a:schemeClr val="tx1">
              <a:lumMod val="95000"/>
              <a:lumOff val="5000"/>
            </a:schemeClr>
          </a:solidFill>
        </p:spPr>
        <p:txBody>
          <a:bodyPr wrap="square">
            <a:spAutoFit/>
          </a:bodyPr>
          <a:lstStyle/>
          <a:p>
            <a:r>
              <a:rPr lang="en-US" altLang="zh-CN" sz="1400" dirty="0">
                <a:solidFill>
                  <a:srgbClr val="33CC33"/>
                </a:solidFill>
                <a:latin typeface="Times New Roman" panose="02020603050405020304" charset="0"/>
                <a:cs typeface="Times New Roman" panose="02020603050405020304" charset="0"/>
              </a:rPr>
              <a:t>[@feature]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 40004</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feature_type</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multi_seg</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view_level</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pv_level</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care : [#</a:t>
            </a:r>
            <a:r>
              <a:rPr lang="en-US" altLang="zh-CN" sz="1400" dirty="0" err="1">
                <a:solidFill>
                  <a:srgbClr val="33CC33"/>
                </a:solidFill>
                <a:latin typeface="Times New Roman" panose="02020603050405020304" charset="0"/>
                <a:cs typeface="Times New Roman" panose="02020603050405020304" charset="0"/>
              </a:rPr>
              <a:t>AspPCGroupNoHuiliu</a:t>
            </a:r>
            <a:r>
              <a:rPr lang="en-US" altLang="zh-CN" sz="1400" dirty="0">
                <a:solidFill>
                  <a:srgbClr val="33CC33"/>
                </a:solidFill>
                <a:latin typeface="Times New Roman" panose="02020603050405020304" charset="0"/>
                <a:cs typeface="Times New Roman" panose="02020603050405020304" charset="0"/>
              </a:rPr>
              <a:t>]['</a:t>
            </a:r>
            <a:r>
              <a:rPr lang="en-US" altLang="zh-CN" sz="1400" dirty="0" err="1">
                <a:solidFill>
                  <a:srgbClr val="33CC33"/>
                </a:solidFill>
                <a:latin typeface="Times New Roman" panose="02020603050405020304" charset="0"/>
                <a:cs typeface="Times New Roman" panose="02020603050405020304" charset="0"/>
              </a:rPr>
              <a:t>flow_group</a:t>
            </a:r>
            <a:r>
              <a:rPr lang="en-US" altLang="zh-CN" sz="1400" dirty="0">
                <a:solidFill>
                  <a:srgbClr val="33CC33"/>
                </a:solidFill>
                <a:latin typeface="Times New Roman" panose="02020603050405020304" charset="0"/>
                <a:cs typeface="Times New Roman" panose="02020603050405020304" charset="0"/>
              </a:rPr>
              <a:t>'!='</a:t>
            </a:r>
            <a:r>
              <a:rPr lang="en-US" altLang="zh-CN" sz="1400" dirty="0" err="1">
                <a:solidFill>
                  <a:srgbClr val="33CC33"/>
                </a:solidFill>
                <a:latin typeface="Times New Roman" panose="02020603050405020304" charset="0"/>
                <a:cs typeface="Times New Roman" panose="02020603050405020304" charset="0"/>
              </a:rPr>
              <a:t>organic_noads</a:t>
            </a:r>
            <a:r>
              <a:rPr lang="en-US" altLang="zh-CN" sz="1400" dirty="0">
                <a:solidFill>
                  <a:srgbClr val="33CC33"/>
                </a:solidFill>
                <a:latin typeface="Times New Roman" panose="02020603050405020304" charset="0"/>
                <a:cs typeface="Times New Roman" panose="02020603050405020304" charset="0"/>
              </a:rPr>
              <a:t>'][#</a:t>
            </a:r>
            <a:r>
              <a:rPr lang="en-US" altLang="zh-CN" sz="1400" dirty="0" err="1">
                <a:solidFill>
                  <a:srgbClr val="33CC33"/>
                </a:solidFill>
                <a:latin typeface="Times New Roman" panose="02020603050405020304" charset="0"/>
                <a:cs typeface="Times New Roman" panose="02020603050405020304" charset="0"/>
              </a:rPr>
              <a:t>NullBaiduid</a:t>
            </a:r>
            <a:r>
              <a:rPr lang="en-US" altLang="zh-CN" sz="1400" dirty="0">
                <a:solidFill>
                  <a:srgbClr val="33CC33"/>
                </a:solidFill>
                <a:latin typeface="Times New Roman" panose="02020603050405020304" charset="0"/>
                <a:cs typeface="Times New Roman" panose="02020603050405020304" charset="0"/>
              </a:rPr>
              <a:t>]['</a:t>
            </a:r>
            <a:r>
              <a:rPr lang="en-US" altLang="zh-CN" sz="1400" dirty="0" err="1">
                <a:solidFill>
                  <a:srgbClr val="33CC33"/>
                </a:solidFill>
                <a:latin typeface="Times New Roman" panose="02020603050405020304" charset="0"/>
                <a:cs typeface="Times New Roman" panose="02020603050405020304" charset="0"/>
              </a:rPr>
              <a:t>skip_personal_info</a:t>
            </a:r>
            <a:r>
              <a:rPr lang="en-US" altLang="zh-CN" sz="1400" dirty="0">
                <a:solidFill>
                  <a:srgbClr val="33CC33"/>
                </a:solidFill>
                <a:latin typeface="Times New Roman" panose="02020603050405020304" charset="0"/>
                <a:cs typeface="Times New Roman" panose="02020603050405020304" charset="0"/>
              </a:rPr>
              <a:t>'!='1']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view : </a:t>
            </a:r>
            <a:r>
              <a:rPr lang="en-US" altLang="zh-CN" sz="1400" dirty="0" err="1">
                <a:solidFill>
                  <a:srgbClr val="33CC33"/>
                </a:solidFill>
                <a:latin typeface="Times New Roman" panose="02020603050405020304" charset="0"/>
                <a:cs typeface="Times New Roman" panose="02020603050405020304" charset="0"/>
              </a:rPr>
              <a:t>ip</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version : 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window_type</a:t>
            </a:r>
            <a:r>
              <a:rPr lang="en-US" altLang="zh-CN" sz="1400" dirty="0">
                <a:solidFill>
                  <a:srgbClr val="33CC33"/>
                </a:solidFill>
                <a:latin typeface="Times New Roman" panose="02020603050405020304" charset="0"/>
                <a:cs typeface="Times New Roman" panose="02020603050405020304" charset="0"/>
              </a:rPr>
              <a:t> : time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window_length</a:t>
            </a:r>
            <a:r>
              <a:rPr lang="en-US" altLang="zh-CN" sz="1400" dirty="0">
                <a:solidFill>
                  <a:srgbClr val="33CC33"/>
                </a:solidFill>
                <a:latin typeface="Times New Roman" panose="02020603050405020304" charset="0"/>
                <a:cs typeface="Times New Roman" panose="02020603050405020304" charset="0"/>
              </a:rPr>
              <a:t> : 1800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step_length</a:t>
            </a:r>
            <a:r>
              <a:rPr lang="en-US" altLang="zh-CN" sz="1400" dirty="0">
                <a:solidFill>
                  <a:srgbClr val="33CC33"/>
                </a:solidFill>
                <a:latin typeface="Times New Roman" panose="02020603050405020304" charset="0"/>
                <a:cs typeface="Times New Roman" panose="02020603050405020304" charset="0"/>
              </a:rPr>
              <a:t> : 1</a:t>
            </a:r>
            <a:endParaRPr lang="en-US" altLang="zh-CN" sz="1400" dirty="0" smtClean="0">
              <a:solidFill>
                <a:srgbClr val="33CC33"/>
              </a:solidFill>
              <a:latin typeface="Times New Roman" panose="02020603050405020304" charset="0"/>
              <a:cs typeface="Times New Roman" panose="02020603050405020304" charset="0"/>
            </a:endParaRPr>
          </a:p>
        </p:txBody>
      </p:sp>
      <p:sp>
        <p:nvSpPr>
          <p:cNvPr id="8" name="文本框 7"/>
          <p:cNvSpPr txBox="1"/>
          <p:nvPr/>
        </p:nvSpPr>
        <p:spPr>
          <a:xfrm>
            <a:off x="5735256" y="787453"/>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40004</a:t>
            </a:r>
            <a:r>
              <a:rPr lang="zh-CN" altLang="en-US" sz="1200" dirty="0" smtClean="0">
                <a:latin typeface="微软雅黑" panose="020B0503020204020204" pitchFamily="34" charset="-122"/>
                <a:ea typeface="微软雅黑" panose="020B0503020204020204" pitchFamily="34" charset="-122"/>
              </a:rPr>
              <a:t>策略配置文件</a:t>
            </a:r>
            <a:endParaRPr lang="zh-CN" altLang="en-US" sz="1200" dirty="0">
              <a:latin typeface="微软雅黑" panose="020B0503020204020204" pitchFamily="34" charset="-122"/>
              <a:ea typeface="微软雅黑" panose="020B0503020204020204" pitchFamily="34" charset="-122"/>
            </a:endParaRPr>
          </a:p>
        </p:txBody>
      </p:sp>
      <p:sp>
        <p:nvSpPr>
          <p:cNvPr id="11" name="矩形 10"/>
          <p:cNvSpPr/>
          <p:nvPr/>
        </p:nvSpPr>
        <p:spPr>
          <a:xfrm>
            <a:off x="5182552" y="1082219"/>
            <a:ext cx="1739793" cy="2462213"/>
          </a:xfrm>
          <a:prstGeom prst="rect">
            <a:avLst/>
          </a:prstGeom>
          <a:solidFill>
            <a:schemeClr val="tx1">
              <a:lumMod val="95000"/>
              <a:lumOff val="5000"/>
            </a:schemeClr>
          </a:solidFill>
        </p:spPr>
        <p:txBody>
          <a:bodyPr wrap="square">
            <a:spAutoFit/>
          </a:bodyPr>
          <a:lstStyle/>
          <a:p>
            <a:r>
              <a:rPr lang="en-US" altLang="zh-CN" sz="1400" dirty="0">
                <a:solidFill>
                  <a:srgbClr val="33CC33"/>
                </a:solidFill>
                <a:latin typeface="Times New Roman" panose="02020603050405020304" charset="0"/>
                <a:cs typeface="Times New Roman" panose="02020603050405020304" charset="0"/>
              </a:rPr>
              <a:t>[@policy]</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policy_id</a:t>
            </a:r>
            <a:r>
              <a:rPr lang="en-US" altLang="zh-CN" sz="1400" dirty="0">
                <a:solidFill>
                  <a:srgbClr val="33CC33"/>
                </a:solidFill>
                <a:latin typeface="Times New Roman" panose="02020603050405020304" charset="0"/>
                <a:cs typeface="Times New Roman" panose="02020603050405020304" charset="0"/>
              </a:rPr>
              <a:t>: 40004</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policy_type</a:t>
            </a:r>
            <a:r>
              <a:rPr lang="en-US" altLang="zh-CN" sz="1400" dirty="0">
                <a:solidFill>
                  <a:srgbClr val="33CC33"/>
                </a:solidFill>
                <a:latin typeface="Times New Roman" panose="02020603050405020304" charset="0"/>
                <a:cs typeface="Times New Roman" panose="02020603050405020304" charset="0"/>
              </a:rPr>
              <a:t> : rule</a:t>
            </a:r>
            <a:endParaRPr lang="en-US" altLang="zh-CN" sz="1400" dirty="0">
              <a:solidFill>
                <a:srgbClr val="33CC33"/>
              </a:solidFill>
              <a:latin typeface="Times New Roman" panose="02020603050405020304" charset="0"/>
              <a:cs typeface="Times New Roman" panose="02020603050405020304" charset="0"/>
            </a:endParaRPr>
          </a:p>
          <a:p>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[.@rule]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40004</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rule_type</a:t>
            </a:r>
            <a:r>
              <a:rPr lang="en-US" altLang="zh-CN" sz="1400" dirty="0">
                <a:solidFill>
                  <a:srgbClr val="33CC33"/>
                </a:solidFill>
                <a:latin typeface="Times New Roman" panose="02020603050405020304" charset="0"/>
                <a:cs typeface="Times New Roman" panose="02020603050405020304" charset="0"/>
              </a:rPr>
              <a:t>: segment</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gray_file</a:t>
            </a:r>
            <a:r>
              <a:rPr lang="en-US" altLang="zh-CN" sz="1400" dirty="0">
                <a:solidFill>
                  <a:srgbClr val="33CC33"/>
                </a:solidFill>
                <a:latin typeface="Times New Roman" panose="02020603050405020304" charset="0"/>
                <a:cs typeface="Times New Roman" panose="02020603050405020304" charset="0"/>
              </a:rPr>
              <a:t>: </a:t>
            </a:r>
            <a:r>
              <a:rPr lang="en-US" altLang="zh-CN" sz="1400" dirty="0" err="1">
                <a:solidFill>
                  <a:srgbClr val="33CC33"/>
                </a:solidFill>
                <a:latin typeface="Times New Roman" panose="02020603050405020304" charset="0"/>
                <a:cs typeface="Times New Roman" panose="02020603050405020304" charset="0"/>
              </a:rPr>
              <a:t>empty_file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threshold: 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punish_m</a:t>
            </a:r>
            <a:r>
              <a:rPr lang="en-US" altLang="zh-CN" sz="1400" dirty="0">
                <a:solidFill>
                  <a:srgbClr val="33CC33"/>
                </a:solidFill>
                <a:latin typeface="Times New Roman" panose="02020603050405020304" charset="0"/>
                <a:cs typeface="Times New Roman" panose="02020603050405020304" charset="0"/>
              </a:rPr>
              <a:t>: 0.0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punish_k</a:t>
            </a:r>
            <a:r>
              <a:rPr lang="en-US" altLang="zh-CN" sz="1400" dirty="0">
                <a:solidFill>
                  <a:srgbClr val="33CC33"/>
                </a:solidFill>
                <a:latin typeface="Times New Roman" panose="02020603050405020304" charset="0"/>
                <a:cs typeface="Times New Roman" panose="02020603050405020304" charset="0"/>
              </a:rPr>
              <a:t>: 0.0</a:t>
            </a:r>
            <a:endParaRPr lang="en-US" altLang="zh-CN" sz="1400" dirty="0" smtClean="0">
              <a:solidFill>
                <a:srgbClr val="33CC33"/>
              </a:solidFill>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776996"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自动黑名单段上限策略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8072224" cy="3913804"/>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简介</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对于某段内显著异常的维度对象</a:t>
            </a:r>
            <a:r>
              <a:rPr kumimoji="1" lang="zh-CN" altLang="en-US" sz="1600" dirty="0" smtClean="0">
                <a:latin typeface="微软雅黑" panose="020B0503020204020204" pitchFamily="34" charset="-122"/>
                <a:ea typeface="微软雅黑" panose="020B0503020204020204" pitchFamily="34" charset="-122"/>
                <a:cs typeface="宋体" charset="0"/>
              </a:rPr>
              <a:t>，可以将</a:t>
            </a:r>
            <a:r>
              <a:rPr kumimoji="1" lang="zh-CN" altLang="en-US" sz="1600" dirty="0">
                <a:latin typeface="微软雅黑" panose="020B0503020204020204" pitchFamily="34" charset="-122"/>
                <a:ea typeface="微软雅黑" panose="020B0503020204020204" pitchFamily="34" charset="-122"/>
                <a:cs typeface="宋体" charset="0"/>
              </a:rPr>
              <a:t>其加入黑名单</a:t>
            </a:r>
            <a:r>
              <a:rPr kumimoji="1" lang="zh-CN" altLang="en-US" sz="1600" dirty="0" smtClean="0">
                <a:latin typeface="微软雅黑" panose="020B0503020204020204" pitchFamily="34" charset="-122"/>
                <a:ea typeface="微软雅黑" panose="020B0503020204020204" pitchFamily="34" charset="-122"/>
                <a:cs typeface="宋体" charset="0"/>
              </a:rPr>
              <a:t>，直接过滤其后续段的流量，</a:t>
            </a:r>
            <a:r>
              <a:rPr kumimoji="1" lang="zh-CN" altLang="en-US" sz="1600" dirty="0">
                <a:latin typeface="微软雅黑" panose="020B0503020204020204" pitchFamily="34" charset="-122"/>
                <a:ea typeface="微软雅黑" panose="020B0503020204020204" pitchFamily="34" charset="-122"/>
                <a:cs typeface="宋体" charset="0"/>
              </a:rPr>
              <a:t>直到该维度对象下的流量恢复</a:t>
            </a:r>
            <a:r>
              <a:rPr kumimoji="1" lang="zh-CN" altLang="en-US" sz="1600" dirty="0" smtClean="0">
                <a:latin typeface="微软雅黑" panose="020B0503020204020204" pitchFamily="34" charset="-122"/>
                <a:ea typeface="微软雅黑" panose="020B0503020204020204" pitchFamily="34" charset="-122"/>
                <a:cs typeface="宋体" charset="0"/>
              </a:rPr>
              <a:t>正常。</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自动黑名单段上限策略同样只有跳段的移动方式。</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可用特征</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a</a:t>
            </a:r>
            <a:r>
              <a:rPr kumimoji="1" lang="en-US" altLang="zh-CN" sz="1600" dirty="0" err="1" smtClean="0">
                <a:latin typeface="微软雅黑" panose="020B0503020204020204" pitchFamily="34" charset="-122"/>
                <a:ea typeface="微软雅黑" panose="020B0503020204020204" pitchFamily="34" charset="-122"/>
                <a:cs typeface="宋体" charset="0"/>
              </a:rPr>
              <a:t>uto_segment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优缺点</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适合与一段</a:t>
            </a:r>
            <a:r>
              <a:rPr kumimoji="1" lang="zh-CN" altLang="en-US" sz="1600" dirty="0">
                <a:latin typeface="微软雅黑" panose="020B0503020204020204" pitchFamily="34" charset="-122"/>
                <a:ea typeface="微软雅黑" panose="020B0503020204020204" pitchFamily="34" charset="-122"/>
                <a:cs typeface="宋体" charset="0"/>
              </a:rPr>
              <a:t>时间内作弊严重</a:t>
            </a:r>
            <a:r>
              <a:rPr kumimoji="1" lang="zh-CN" altLang="en-US" sz="1600" dirty="0" smtClean="0">
                <a:latin typeface="微软雅黑" panose="020B0503020204020204" pitchFamily="34" charset="-122"/>
                <a:ea typeface="微软雅黑" panose="020B0503020204020204" pitchFamily="34" charset="-122"/>
                <a:cs typeface="宋体" charset="0"/>
              </a:rPr>
              <a:t>，其余时间低频作弊的场景。</a:t>
            </a:r>
            <a:r>
              <a:rPr kumimoji="1" lang="zh-CN" altLang="en-US" sz="1600" dirty="0">
                <a:latin typeface="微软雅黑" panose="020B0503020204020204" pitchFamily="34" charset="-122"/>
                <a:ea typeface="微软雅黑" panose="020B0503020204020204" pitchFamily="34" charset="-122"/>
                <a:cs typeface="宋体" charset="0"/>
              </a:rPr>
              <a:t>由于</a:t>
            </a:r>
            <a:r>
              <a:rPr kumimoji="1" lang="zh-CN" altLang="en-US" sz="1600" dirty="0" smtClean="0">
                <a:latin typeface="微软雅黑" panose="020B0503020204020204" pitchFamily="34" charset="-122"/>
                <a:ea typeface="微软雅黑" panose="020B0503020204020204" pitchFamily="34" charset="-122"/>
                <a:cs typeface="宋体" charset="0"/>
              </a:rPr>
              <a:t>考虑</a:t>
            </a:r>
            <a:r>
              <a:rPr kumimoji="1" lang="zh-CN" altLang="en-US" sz="1600" dirty="0">
                <a:latin typeface="微软雅黑" panose="020B0503020204020204" pitchFamily="34" charset="-122"/>
                <a:ea typeface="微软雅黑" panose="020B0503020204020204" pitchFamily="34" charset="-122"/>
                <a:cs typeface="宋体" charset="0"/>
              </a:rPr>
              <a:t>到历史</a:t>
            </a:r>
            <a:r>
              <a:rPr kumimoji="1" lang="zh-CN" altLang="en-US" sz="1600" dirty="0" smtClean="0">
                <a:latin typeface="微软雅黑" panose="020B0503020204020204" pitchFamily="34" charset="-122"/>
                <a:ea typeface="微软雅黑" panose="020B0503020204020204" pitchFamily="34" charset="-122"/>
                <a:cs typeface="宋体" charset="0"/>
              </a:rPr>
              <a:t>段的信息，</a:t>
            </a:r>
            <a:r>
              <a:rPr kumimoji="1" lang="zh-CN" altLang="en-US" sz="1600" dirty="0">
                <a:latin typeface="微软雅黑" panose="020B0503020204020204" pitchFamily="34" charset="-122"/>
                <a:ea typeface="微软雅黑" panose="020B0503020204020204" pitchFamily="34" charset="-122"/>
                <a:cs typeface="宋体" charset="0"/>
              </a:rPr>
              <a:t>可以一定程度上缓解段首漏过。</a:t>
            </a:r>
            <a:endParaRPr kumimoji="1" lang="zh-CN" altLang="en-US" sz="1600" dirty="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不适用</a:t>
            </a:r>
            <a:r>
              <a:rPr kumimoji="1" lang="zh-CN" altLang="en-US" sz="1600" dirty="0">
                <a:latin typeface="微软雅黑" panose="020B0503020204020204" pitchFamily="34" charset="-122"/>
                <a:ea typeface="微软雅黑" panose="020B0503020204020204" pitchFamily="34" charset="-122"/>
                <a:cs typeface="宋体" charset="0"/>
              </a:rPr>
              <a:t>于计费名</a:t>
            </a:r>
            <a:r>
              <a:rPr kumimoji="1" lang="zh-CN" altLang="en-US" sz="1600" dirty="0" smtClean="0">
                <a:latin typeface="微软雅黑" panose="020B0503020204020204" pitchFamily="34" charset="-122"/>
                <a:ea typeface="微软雅黑" panose="020B0503020204020204" pitchFamily="34" charset="-122"/>
                <a:cs typeface="宋体" charset="0"/>
              </a:rPr>
              <a:t>等波动较大</a:t>
            </a:r>
            <a:r>
              <a:rPr kumimoji="1" lang="zh-CN" altLang="en-US" sz="1600" dirty="0">
                <a:latin typeface="微软雅黑" panose="020B0503020204020204" pitchFamily="34" charset="-122"/>
                <a:ea typeface="微软雅黑" panose="020B0503020204020204" pitchFamily="34" charset="-122"/>
                <a:cs typeface="宋体" charset="0"/>
              </a:rPr>
              <a:t>的维度，若一个计费名某一时间点作弊多，会很长时间被拉黑，导致该计费名下的点击全部被过滤。</a:t>
            </a:r>
            <a:endParaRPr kumimoji="1" lang="zh-CN" altLang="en-US" sz="1600" dirty="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776996"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自动黑名单段上限策略</a:t>
            </a:r>
            <a:endParaRPr kumimoji="1" lang="zh-CN" altLang="en-US" sz="1400" b="1" spc="200" dirty="0">
              <a:latin typeface="微软雅黑"/>
              <a:ea typeface="微软雅黑"/>
              <a:cs typeface="微软雅黑"/>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80104" y="839640"/>
                <a:ext cx="7162641" cy="4374465"/>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一些概念</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累积量：某一段内维度对象的频数，使用</a:t>
                </a:r>
                <a:r>
                  <a:rPr kumimoji="1" lang="en-US" altLang="zh-CN" sz="1600" dirty="0" err="1">
                    <a:latin typeface="微软雅黑" panose="020B0503020204020204" pitchFamily="34" charset="-122"/>
                    <a:ea typeface="微软雅黑" panose="020B0503020204020204" pitchFamily="34" charset="-122"/>
                    <a:cs typeface="宋体" charset="0"/>
                  </a:rPr>
                  <a:t>cumulant</a:t>
                </a:r>
                <a:r>
                  <a:rPr kumimoji="1" lang="zh-CN" altLang="en-US" sz="1600" dirty="0" smtClean="0">
                    <a:latin typeface="微软雅黑" panose="020B0503020204020204" pitchFamily="34" charset="-122"/>
                    <a:ea typeface="微软雅黑" panose="020B0503020204020204" pitchFamily="34" charset="-122"/>
                    <a:cs typeface="宋体" charset="0"/>
                  </a:rPr>
                  <a:t>来表示，</a:t>
                </a:r>
                <a14:m>
                  <m:oMath xmlns:m="http://schemas.openxmlformats.org/officeDocument/2006/math">
                    <m:sSub>
                      <m:sSubPr>
                        <m:ctrlPr>
                          <a:rPr kumimoji="1" lang="en-US" altLang="zh-CN" sz="1600" i="1" smtClean="0">
                            <a:latin typeface="Cambria Math" panose="02040503050406030204" pitchFamily="18" charset="0"/>
                            <a:ea typeface="微软雅黑" panose="020B0503020204020204" pitchFamily="34" charset="-122"/>
                          </a:rPr>
                        </m:ctrlPr>
                      </m:sSubPr>
                      <m:e>
                        <m:r>
                          <a:rPr kumimoji="1" lang="en-US" altLang="zh-CN" sz="1600" i="1">
                            <a:latin typeface="Cambria Math" panose="02040503050406030204" pitchFamily="18" charset="0"/>
                            <a:ea typeface="微软雅黑" panose="020B0503020204020204" pitchFamily="34" charset="-122"/>
                          </a:rPr>
                          <m:t>𝑐𝑚𝑚𝑢𝑙𝑎𝑛𝑡</m:t>
                        </m:r>
                      </m:e>
                      <m:sub>
                        <m:r>
                          <a:rPr kumimoji="1" lang="en-US" altLang="zh-CN" sz="1600" b="0" i="1" smtClean="0">
                            <a:latin typeface="Cambria Math" panose="02040503050406030204" pitchFamily="18" charset="0"/>
                            <a:ea typeface="微软雅黑" panose="020B0503020204020204" pitchFamily="34" charset="-122"/>
                          </a:rPr>
                          <m:t>𝑖</m:t>
                        </m:r>
                      </m:sub>
                    </m:sSub>
                    <m:r>
                      <a:rPr kumimoji="1" lang="zh-CN" altLang="en-US" sz="1600" i="1">
                        <a:latin typeface="Cambria Math" panose="02040503050406030204" pitchFamily="18" charset="0"/>
                        <a:ea typeface="微软雅黑" panose="020B0503020204020204" pitchFamily="34" charset="-122"/>
                      </a:rPr>
                      <m:t>表示</m:t>
                    </m:r>
                  </m:oMath>
                </a14:m>
                <a:r>
                  <a:rPr kumimoji="1" lang="zh-CN" altLang="en-US" sz="1600" dirty="0" smtClean="0">
                    <a:latin typeface="微软雅黑" panose="020B0503020204020204" pitchFamily="34" charset="-122"/>
                    <a:ea typeface="微软雅黑" panose="020B0503020204020204" pitchFamily="34" charset="-122"/>
                    <a:cs typeface="宋体" charset="0"/>
                  </a:rPr>
                  <a:t>第</a:t>
                </a:r>
                <a:r>
                  <a:rPr kumimoji="1" lang="en-US" altLang="zh-CN" sz="1600" dirty="0" err="1" smtClean="0">
                    <a:latin typeface="微软雅黑" panose="020B0503020204020204" pitchFamily="34" charset="-122"/>
                    <a:ea typeface="微软雅黑" panose="020B0503020204020204" pitchFamily="34" charset="-122"/>
                    <a:cs typeface="宋体" charset="0"/>
                  </a:rPr>
                  <a:t>i</a:t>
                </a:r>
                <a:r>
                  <a:rPr kumimoji="1" lang="zh-CN" altLang="en-US" sz="1600" dirty="0" smtClean="0">
                    <a:latin typeface="微软雅黑" panose="020B0503020204020204" pitchFamily="34" charset="-122"/>
                    <a:ea typeface="微软雅黑" panose="020B0503020204020204" pitchFamily="34" charset="-122"/>
                    <a:cs typeface="宋体" charset="0"/>
                  </a:rPr>
                  <a:t>段中某个维度对象的频数。</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影响量</a:t>
                </a:r>
                <a:r>
                  <a:rPr kumimoji="1" lang="zh-CN" altLang="en-US" sz="1600" dirty="0">
                    <a:latin typeface="微软雅黑" panose="020B0503020204020204" pitchFamily="34" charset="-122"/>
                    <a:ea typeface="微软雅黑" panose="020B0503020204020204" pitchFamily="34" charset="-122"/>
                    <a:cs typeface="宋体" charset="0"/>
                  </a:rPr>
                  <a:t>和</a:t>
                </a:r>
                <a:r>
                  <a:rPr kumimoji="1" lang="zh-CN" altLang="en-US" sz="1600" dirty="0" smtClean="0">
                    <a:latin typeface="微软雅黑" panose="020B0503020204020204" pitchFamily="34" charset="-122"/>
                    <a:ea typeface="微软雅黑" panose="020B0503020204020204" pitchFamily="34" charset="-122"/>
                    <a:cs typeface="宋体" charset="0"/>
                  </a:rPr>
                  <a:t>衰减系数：自动黑名单策略在返回特征值时会考虑到历史信息的影响，也就是说之前段会对当前段产生一个影响量，用</a:t>
                </a:r>
                <a:r>
                  <a:rPr kumimoji="1" lang="en-US" altLang="zh-CN" sz="1600" dirty="0" smtClean="0">
                    <a:latin typeface="微软雅黑" panose="020B0503020204020204" pitchFamily="34" charset="-122"/>
                    <a:ea typeface="微软雅黑" panose="020B0503020204020204" pitchFamily="34" charset="-122"/>
                    <a:cs typeface="宋体" charset="0"/>
                  </a:rPr>
                  <a:t>effect</a:t>
                </a:r>
                <a:r>
                  <a:rPr kumimoji="1" lang="zh-CN" altLang="en-US" sz="1600" dirty="0" smtClean="0">
                    <a:latin typeface="微软雅黑" panose="020B0503020204020204" pitchFamily="34" charset="-122"/>
                    <a:ea typeface="微软雅黑" panose="020B0503020204020204" pitchFamily="34" charset="-122"/>
                    <a:cs typeface="宋体" charset="0"/>
                  </a:rPr>
                  <a:t>表示。但这种影响会随着距离</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相隔的段数目</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的增加而减少，因此在计算影响量时需要乘上一个衰减系数</a:t>
                </a:r>
                <a:r>
                  <a:rPr kumimoji="1" lang="el-GR" altLang="zh-CN" sz="1600" dirty="0" smtClean="0">
                    <a:latin typeface="微软雅黑" panose="020B0503020204020204" pitchFamily="34" charset="-122"/>
                    <a:ea typeface="微软雅黑" panose="020B0503020204020204" pitchFamily="34" charset="-122"/>
                    <a:cs typeface="宋体" charset="0"/>
                  </a:rPr>
                  <a:t>λ</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el-GR" altLang="zh-CN" sz="1600" dirty="0" smtClean="0">
                    <a:latin typeface="微软雅黑" panose="020B0503020204020204" pitchFamily="34" charset="-122"/>
                    <a:ea typeface="微软雅黑" panose="020B0503020204020204" pitchFamily="34" charset="-122"/>
                    <a:cs typeface="宋体" charset="0"/>
                  </a:rPr>
                  <a:t>λ</a:t>
                </a:r>
                <a:r>
                  <a:rPr kumimoji="1" lang="en-US" altLang="zh-CN" sz="1600" dirty="0" smtClean="0">
                    <a:latin typeface="微软雅黑" panose="020B0503020204020204" pitchFamily="34" charset="-122"/>
                    <a:ea typeface="微软雅黑" panose="020B0503020204020204" pitchFamily="34" charset="-122"/>
                    <a:cs typeface="宋体" charset="0"/>
                  </a:rPr>
                  <a:t> &lt; 1)</a:t>
                </a:r>
                <a:r>
                  <a:rPr kumimoji="1" lang="zh-CN" altLang="en-US" sz="1600" dirty="0" smtClean="0">
                    <a:latin typeface="微软雅黑" panose="020B0503020204020204" pitchFamily="34" charset="-122"/>
                    <a:ea typeface="微软雅黑" panose="020B0503020204020204" pitchFamily="34" charset="-122"/>
                    <a:cs typeface="宋体" charset="0"/>
                  </a:rPr>
                  <a:t>。段</a:t>
                </a:r>
                <a:r>
                  <a:rPr kumimoji="1" lang="en-US" altLang="zh-CN" sz="1600" dirty="0">
                    <a:latin typeface="微软雅黑" panose="020B0503020204020204" pitchFamily="34" charset="-122"/>
                    <a:ea typeface="微软雅黑" panose="020B0503020204020204" pitchFamily="34" charset="-122"/>
                    <a:cs typeface="宋体" charset="0"/>
                  </a:rPr>
                  <a:t>j</a:t>
                </a:r>
                <a:r>
                  <a:rPr kumimoji="1" lang="zh-CN" altLang="en-US" sz="1600" dirty="0" smtClean="0">
                    <a:latin typeface="微软雅黑" panose="020B0503020204020204" pitchFamily="34" charset="-122"/>
                    <a:ea typeface="微软雅黑" panose="020B0503020204020204" pitchFamily="34" charset="-122"/>
                    <a:cs typeface="宋体" charset="0"/>
                  </a:rPr>
                  <a:t>对段</a:t>
                </a:r>
                <a:r>
                  <a:rPr kumimoji="1" lang="en-US" altLang="zh-CN" sz="1600" dirty="0" err="1" smtClean="0">
                    <a:latin typeface="微软雅黑" panose="020B0503020204020204" pitchFamily="34" charset="-122"/>
                    <a:ea typeface="微软雅黑" panose="020B0503020204020204" pitchFamily="34" charset="-122"/>
                    <a:cs typeface="宋体" charset="0"/>
                  </a:rPr>
                  <a:t>i</a:t>
                </a:r>
                <a:r>
                  <a:rPr kumimoji="1" lang="en-US" altLang="zh-CN" sz="1600" dirty="0" smtClean="0">
                    <a:latin typeface="微软雅黑" panose="020B0503020204020204" pitchFamily="34" charset="-122"/>
                    <a:ea typeface="微软雅黑" panose="020B0503020204020204" pitchFamily="34" charset="-122"/>
                    <a:cs typeface="宋体" charset="0"/>
                  </a:rPr>
                  <a:t>(j &lt; </a:t>
                </a:r>
                <a:r>
                  <a:rPr kumimoji="1" lang="en-US" altLang="zh-CN" sz="1600" dirty="0" err="1" smtClean="0">
                    <a:latin typeface="微软雅黑" panose="020B0503020204020204" pitchFamily="34" charset="-122"/>
                    <a:ea typeface="微软雅黑" panose="020B0503020204020204" pitchFamily="34" charset="-122"/>
                    <a:cs typeface="宋体" charset="0"/>
                  </a:rPr>
                  <a:t>i</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的影响见如下公式：</a:t>
                </a:r>
                <a:endParaRPr kumimoji="1" lang="en-US" altLang="zh-CN" sz="1200" dirty="0">
                  <a:latin typeface="微软雅黑" panose="020B0503020204020204" pitchFamily="34" charset="-122"/>
                  <a:ea typeface="微软雅黑" panose="020B0503020204020204" pitchFamily="34" charset="-122"/>
                  <a:cs typeface="宋体" charset="0"/>
                </a:endParaRPr>
              </a:p>
              <a:p>
                <a:pPr marL="0" indent="0" algn="ctr">
                  <a:spcAft>
                    <a:spcPts val="600"/>
                  </a:spcAft>
                  <a:buSzPct val="120000"/>
                  <a:buNone/>
                </a:pPr>
                <a14:m>
                  <m:oMathPara xmlns:m="http://schemas.openxmlformats.org/officeDocument/2006/math">
                    <m:oMathParaPr>
                      <m:jc m:val="centerGroup"/>
                    </m:oMathParaPr>
                    <m:oMath xmlns:m="http://schemas.openxmlformats.org/officeDocument/2006/math">
                      <m:sSub>
                        <m:sSubPr>
                          <m:ctrlPr>
                            <a:rPr kumimoji="1" lang="en-US" altLang="zh-CN" sz="1600" i="1" smtClean="0">
                              <a:latin typeface="Cambria Math" panose="02040503050406030204" pitchFamily="18" charset="0"/>
                              <a:ea typeface="微软雅黑" panose="020B0503020204020204" pitchFamily="34" charset="-122"/>
                            </a:rPr>
                          </m:ctrlPr>
                        </m:sSubPr>
                        <m:e>
                          <m:r>
                            <m:rPr>
                              <m:sty m:val="p"/>
                            </m:rPr>
                            <a:rPr kumimoji="1" lang="en-US" altLang="zh-CN" sz="1600" i="1">
                              <a:latin typeface="Cambria Math" panose="02040503050406030204" pitchFamily="18" charset="0"/>
                              <a:ea typeface="微软雅黑" panose="020B0503020204020204" pitchFamily="34" charset="-122"/>
                            </a:rPr>
                            <m:t>effect</m:t>
                          </m:r>
                        </m:e>
                        <m:sub>
                          <m:r>
                            <a:rPr kumimoji="1" lang="en-US" altLang="zh-CN" sz="1600" b="0" i="1" smtClean="0">
                              <a:latin typeface="Cambria Math" panose="02040503050406030204" pitchFamily="18" charset="0"/>
                              <a:ea typeface="微软雅黑" panose="020B0503020204020204" pitchFamily="34" charset="-122"/>
                            </a:rPr>
                            <m:t>𝑖𝑗</m:t>
                          </m:r>
                        </m:sub>
                      </m:sSub>
                      <m:r>
                        <a:rPr kumimoji="1" lang="en-US" altLang="zh-CN" sz="1600" b="0" i="1" smtClean="0">
                          <a:latin typeface="Cambria Math" panose="02040503050406030204" pitchFamily="18" charset="0"/>
                          <a:ea typeface="微软雅黑" panose="020B0503020204020204" pitchFamily="34" charset="-122"/>
                        </a:rPr>
                        <m:t>=</m:t>
                      </m:r>
                      <m:sSub>
                        <m:sSubPr>
                          <m:ctrlPr>
                            <a:rPr kumimoji="1" lang="en-US" altLang="zh-CN" sz="1600" b="0" i="1" smtClean="0">
                              <a:latin typeface="Cambria Math" panose="02040503050406030204" pitchFamily="18" charset="0"/>
                              <a:ea typeface="微软雅黑" panose="020B0503020204020204" pitchFamily="34" charset="-122"/>
                            </a:rPr>
                          </m:ctrlPr>
                        </m:sSubPr>
                        <m:e>
                          <m:r>
                            <a:rPr kumimoji="1" lang="en-US" altLang="zh-CN" sz="1600" i="1">
                              <a:latin typeface="Cambria Math" panose="02040503050406030204" pitchFamily="18" charset="0"/>
                              <a:ea typeface="微软雅黑" panose="020B0503020204020204" pitchFamily="34" charset="-122"/>
                            </a:rPr>
                            <m:t>𝑐𝑚𝑚𝑢𝑙𝑎𝑛𝑡</m:t>
                          </m:r>
                        </m:e>
                        <m:sub>
                          <m:r>
                            <a:rPr kumimoji="1" lang="en-US" altLang="zh-CN" sz="1600" b="0" i="1" smtClean="0">
                              <a:latin typeface="Cambria Math" panose="02040503050406030204" pitchFamily="18" charset="0"/>
                              <a:ea typeface="微软雅黑" panose="020B0503020204020204" pitchFamily="34" charset="-122"/>
                            </a:rPr>
                            <m:t>𝑗</m:t>
                          </m:r>
                        </m:sub>
                      </m:sSub>
                      <m:r>
                        <a:rPr kumimoji="1" lang="en-US" altLang="zh-CN" sz="1600" b="0" i="1" smtClean="0">
                          <a:latin typeface="Cambria Math" panose="02040503050406030204" pitchFamily="18" charset="0"/>
                          <a:ea typeface="微软雅黑" panose="020B0503020204020204" pitchFamily="34" charset="-122"/>
                        </a:rPr>
                        <m:t>∗</m:t>
                      </m:r>
                      <m:sSup>
                        <m:sSupPr>
                          <m:ctrlPr>
                            <a:rPr kumimoji="1" lang="en-US" altLang="zh-CN" sz="1600" b="0" i="1" smtClean="0">
                              <a:latin typeface="Cambria Math" panose="02040503050406030204" pitchFamily="18" charset="0"/>
                              <a:ea typeface="微软雅黑" panose="020B0503020204020204" pitchFamily="34" charset="-122"/>
                            </a:rPr>
                          </m:ctrlPr>
                        </m:sSupPr>
                        <m:e>
                          <m:r>
                            <m:rPr>
                              <m:nor/>
                            </m:rPr>
                            <a:rPr kumimoji="1" lang="el-GR" altLang="zh-CN" sz="1600" dirty="0">
                              <a:latin typeface="微软雅黑" panose="020B0503020204020204" pitchFamily="34" charset="-122"/>
                              <a:ea typeface="微软雅黑" panose="020B0503020204020204" pitchFamily="34" charset="-122"/>
                              <a:cs typeface="宋体" charset="0"/>
                            </a:rPr>
                            <m:t>λ</m:t>
                          </m:r>
                        </m:e>
                        <m:sup>
                          <m:r>
                            <a:rPr kumimoji="1" lang="en-US" altLang="zh-CN" sz="1600" b="0" i="1" smtClean="0">
                              <a:latin typeface="Cambria Math" panose="02040503050406030204" pitchFamily="18" charset="0"/>
                              <a:ea typeface="微软雅黑" panose="020B0503020204020204" pitchFamily="34" charset="-122"/>
                            </a:rPr>
                            <m:t>𝑖</m:t>
                          </m:r>
                          <m:r>
                            <a:rPr kumimoji="1" lang="en-US" altLang="zh-CN" sz="1600" b="0" i="1" smtClean="0">
                              <a:latin typeface="Cambria Math" panose="02040503050406030204" pitchFamily="18" charset="0"/>
                              <a:ea typeface="微软雅黑" panose="020B0503020204020204" pitchFamily="34" charset="-122"/>
                            </a:rPr>
                            <m:t>−</m:t>
                          </m:r>
                          <m:r>
                            <a:rPr kumimoji="1" lang="en-US" altLang="zh-CN" sz="1600" b="0" i="1" smtClean="0">
                              <a:latin typeface="Cambria Math" panose="02040503050406030204" pitchFamily="18" charset="0"/>
                              <a:ea typeface="微软雅黑" panose="020B0503020204020204" pitchFamily="34" charset="-122"/>
                            </a:rPr>
                            <m:t>𝑗</m:t>
                          </m:r>
                        </m:sup>
                      </m:sSup>
                    </m:oMath>
                  </m:oMathPara>
                </a14:m>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统计量：当前段的累积量加上前面所有段对当前段的影响量，使用</a:t>
                </a:r>
                <a:r>
                  <a:rPr kumimoji="1" lang="en-US" altLang="zh-CN" sz="1600" dirty="0">
                    <a:latin typeface="微软雅黑" panose="020B0503020204020204" pitchFamily="34" charset="-122"/>
                    <a:ea typeface="微软雅黑" panose="020B0503020204020204" pitchFamily="34" charset="-122"/>
                    <a:cs typeface="宋体" charset="0"/>
                  </a:rPr>
                  <a:t>stat</a:t>
                </a:r>
                <a:r>
                  <a:rPr kumimoji="1" lang="zh-CN" altLang="en-US" sz="1600" dirty="0">
                    <a:latin typeface="微软雅黑" panose="020B0503020204020204" pitchFamily="34" charset="-122"/>
                    <a:ea typeface="微软雅黑" panose="020B0503020204020204" pitchFamily="34" charset="-122"/>
                    <a:cs typeface="宋体" charset="0"/>
                  </a:rPr>
                  <a:t>表示，</a:t>
                </a:r>
                <a14:m>
                  <m:oMath xmlns:m="http://schemas.openxmlformats.org/officeDocument/2006/math">
                    <m:sSub>
                      <m:sSubPr>
                        <m:ctrlPr>
                          <a:rPr kumimoji="1" lang="en-US" altLang="zh-CN" sz="1600" i="1">
                            <a:latin typeface="Cambria Math" panose="02040503050406030204" pitchFamily="18" charset="0"/>
                            <a:ea typeface="微软雅黑" panose="020B0503020204020204" pitchFamily="34" charset="-122"/>
                          </a:rPr>
                        </m:ctrlPr>
                      </m:sSubPr>
                      <m:e>
                        <m:r>
                          <a:rPr kumimoji="1" lang="en-US" altLang="zh-CN" sz="1600" i="1">
                            <a:latin typeface="Cambria Math" panose="02040503050406030204" pitchFamily="18" charset="0"/>
                            <a:ea typeface="微软雅黑" panose="020B0503020204020204" pitchFamily="34" charset="-122"/>
                          </a:rPr>
                          <m:t>𝑠𝑡𝑎𝑡</m:t>
                        </m:r>
                      </m:e>
                      <m:sub>
                        <m:r>
                          <a:rPr kumimoji="1" lang="en-US" altLang="zh-CN" sz="1600" i="1">
                            <a:latin typeface="Cambria Math" panose="02040503050406030204" pitchFamily="18" charset="0"/>
                            <a:ea typeface="微软雅黑" panose="020B0503020204020204" pitchFamily="34" charset="-122"/>
                          </a:rPr>
                          <m:t>𝑖</m:t>
                        </m:r>
                      </m:sub>
                    </m:sSub>
                  </m:oMath>
                </a14:m>
                <a:r>
                  <a:rPr kumimoji="1" lang="zh-CN" altLang="en-US" sz="1600" dirty="0">
                    <a:latin typeface="微软雅黑" panose="020B0503020204020204" pitchFamily="34" charset="-122"/>
                    <a:ea typeface="微软雅黑" panose="020B0503020204020204" pitchFamily="34" charset="-122"/>
                    <a:cs typeface="宋体" charset="0"/>
                  </a:rPr>
                  <a:t>表示第</a:t>
                </a:r>
                <a:r>
                  <a:rPr kumimoji="1" lang="en-US" altLang="zh-CN" sz="1600" dirty="0" err="1">
                    <a:latin typeface="微软雅黑" panose="020B0503020204020204" pitchFamily="34" charset="-122"/>
                    <a:ea typeface="微软雅黑" panose="020B0503020204020204" pitchFamily="34" charset="-122"/>
                    <a:cs typeface="宋体" charset="0"/>
                  </a:rPr>
                  <a:t>i</a:t>
                </a:r>
                <a:r>
                  <a:rPr kumimoji="1" lang="zh-CN" altLang="en-US" sz="1600" dirty="0">
                    <a:latin typeface="微软雅黑" panose="020B0503020204020204" pitchFamily="34" charset="-122"/>
                    <a:ea typeface="微软雅黑" panose="020B0503020204020204" pitchFamily="34" charset="-122"/>
                    <a:cs typeface="宋体" charset="0"/>
                  </a:rPr>
                  <a:t>段中某个维度对象的统计量，统计量也是最后输出的</a:t>
                </a:r>
                <a:r>
                  <a:rPr kumimoji="1" lang="zh-CN" altLang="en-US" sz="1600" dirty="0" smtClean="0">
                    <a:latin typeface="微软雅黑" panose="020B0503020204020204" pitchFamily="34" charset="-122"/>
                    <a:ea typeface="微软雅黑" panose="020B0503020204020204" pitchFamily="34" charset="-122"/>
                    <a:cs typeface="宋体" charset="0"/>
                  </a:rPr>
                  <a:t>特征值，统计量的计算如下公式：</a:t>
                </a: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lgn="ctr">
                  <a:spcAft>
                    <a:spcPts val="600"/>
                  </a:spcAft>
                  <a:buSzPct val="120000"/>
                  <a:buNone/>
                </a:pPr>
                <a14:m>
                  <m:oMath xmlns:m="http://schemas.openxmlformats.org/officeDocument/2006/math">
                    <m:sSub>
                      <m:sSubPr>
                        <m:ctrlPr>
                          <a:rPr kumimoji="1" lang="en-US" altLang="zh-CN" sz="1600" i="1" smtClean="0">
                            <a:latin typeface="Cambria Math" panose="02040503050406030204" pitchFamily="18" charset="0"/>
                            <a:ea typeface="微软雅黑" panose="020B0503020204020204" pitchFamily="34" charset="-122"/>
                          </a:rPr>
                        </m:ctrlPr>
                      </m:sSubPr>
                      <m:e>
                        <m:r>
                          <a:rPr kumimoji="1" lang="en-US" altLang="zh-CN" sz="1600" b="0" i="1" smtClean="0">
                            <a:latin typeface="Cambria Math" panose="02040503050406030204" pitchFamily="18" charset="0"/>
                            <a:ea typeface="微软雅黑" panose="020B0503020204020204" pitchFamily="34" charset="-122"/>
                          </a:rPr>
                          <m:t>𝑠𝑡𝑎𝑡</m:t>
                        </m:r>
                      </m:e>
                      <m:sub>
                        <m:r>
                          <a:rPr kumimoji="1" lang="en-US" altLang="zh-CN" sz="1600" b="0" i="1" smtClean="0">
                            <a:latin typeface="Cambria Math" panose="02040503050406030204" pitchFamily="18" charset="0"/>
                            <a:ea typeface="微软雅黑" panose="020B0503020204020204" pitchFamily="34" charset="-122"/>
                          </a:rPr>
                          <m:t>𝑖</m:t>
                        </m:r>
                      </m:sub>
                    </m:sSub>
                    <m:r>
                      <a:rPr kumimoji="1" lang="en-US" altLang="zh-CN" sz="1600" b="0" i="1" smtClean="0">
                        <a:latin typeface="Cambria Math" panose="02040503050406030204" pitchFamily="18" charset="0"/>
                        <a:ea typeface="微软雅黑" panose="020B0503020204020204" pitchFamily="34" charset="-122"/>
                      </a:rPr>
                      <m:t>=</m:t>
                    </m:r>
                    <m:sSub>
                      <m:sSubPr>
                        <m:ctrlPr>
                          <a:rPr kumimoji="1" lang="en-US" altLang="zh-CN" sz="1600" b="0" i="1" smtClean="0">
                            <a:latin typeface="Cambria Math" panose="02040503050406030204" pitchFamily="18" charset="0"/>
                            <a:ea typeface="微软雅黑" panose="020B0503020204020204" pitchFamily="34" charset="-122"/>
                          </a:rPr>
                        </m:ctrlPr>
                      </m:sSubPr>
                      <m:e>
                        <m:r>
                          <a:rPr kumimoji="1" lang="en-US" altLang="zh-CN" sz="1600" i="1">
                            <a:latin typeface="Cambria Math" panose="02040503050406030204" pitchFamily="18" charset="0"/>
                            <a:ea typeface="微软雅黑" panose="020B0503020204020204" pitchFamily="34" charset="-122"/>
                          </a:rPr>
                          <m:t>𝑐𝑚𝑚𝑢𝑙𝑎𝑛𝑡</m:t>
                        </m:r>
                      </m:e>
                      <m:sub>
                        <m:r>
                          <a:rPr kumimoji="1" lang="en-US" altLang="zh-CN" sz="1600" b="0" i="1" smtClean="0">
                            <a:latin typeface="Cambria Math" panose="02040503050406030204" pitchFamily="18" charset="0"/>
                            <a:ea typeface="微软雅黑" panose="020B0503020204020204" pitchFamily="34" charset="-122"/>
                          </a:rPr>
                          <m:t>𝑖</m:t>
                        </m:r>
                      </m:sub>
                    </m:sSub>
                    <m:r>
                      <a:rPr kumimoji="1" lang="en-US" altLang="zh-CN" sz="1600" b="0" i="1" smtClean="0">
                        <a:latin typeface="Cambria Math" panose="02040503050406030204" pitchFamily="18" charset="0"/>
                        <a:ea typeface="微软雅黑" panose="020B0503020204020204" pitchFamily="34" charset="-122"/>
                      </a:rPr>
                      <m:t>+ </m:t>
                    </m:r>
                    <m:nary>
                      <m:naryPr>
                        <m:chr m:val="∑"/>
                        <m:ctrlPr>
                          <a:rPr kumimoji="1" lang="en-US" altLang="zh-CN" sz="1600" b="0" i="1" smtClean="0">
                            <a:latin typeface="Cambria Math" panose="02040503050406030204" pitchFamily="18" charset="0"/>
                            <a:ea typeface="微软雅黑" panose="020B0503020204020204" pitchFamily="34" charset="-122"/>
                          </a:rPr>
                        </m:ctrlPr>
                      </m:naryPr>
                      <m:sub>
                        <m:r>
                          <m:rPr>
                            <m:brk m:alnAt="23"/>
                          </m:rPr>
                          <a:rPr kumimoji="1" lang="en-US" altLang="zh-CN" sz="1600" b="0" i="1" smtClean="0">
                            <a:latin typeface="Cambria Math" panose="02040503050406030204" pitchFamily="18" charset="0"/>
                            <a:ea typeface="微软雅黑" panose="020B0503020204020204" pitchFamily="34" charset="-122"/>
                          </a:rPr>
                          <m:t>𝑗</m:t>
                        </m:r>
                        <m:r>
                          <a:rPr kumimoji="1" lang="en-US" altLang="zh-CN" sz="1600" b="0" i="1" smtClean="0">
                            <a:latin typeface="Cambria Math" panose="02040503050406030204" pitchFamily="18" charset="0"/>
                            <a:ea typeface="微软雅黑" panose="020B0503020204020204" pitchFamily="34" charset="-122"/>
                          </a:rPr>
                          <m:t>=</m:t>
                        </m:r>
                        <m:r>
                          <a:rPr kumimoji="1" lang="en-US" altLang="zh-CN" sz="1600" b="0" i="1" smtClean="0">
                            <a:latin typeface="Cambria Math" panose="02040503050406030204" pitchFamily="18" charset="0"/>
                            <a:ea typeface="微软雅黑" panose="020B0503020204020204" pitchFamily="34" charset="-122"/>
                          </a:rPr>
                          <m:t>1</m:t>
                        </m:r>
                      </m:sub>
                      <m:sup>
                        <m:r>
                          <a:rPr kumimoji="1" lang="en-US" altLang="zh-CN" sz="1600" b="0" i="1" smtClean="0">
                            <a:latin typeface="Cambria Math" panose="02040503050406030204" pitchFamily="18" charset="0"/>
                            <a:ea typeface="微软雅黑" panose="020B0503020204020204" pitchFamily="34" charset="-122"/>
                          </a:rPr>
                          <m:t>𝑖</m:t>
                        </m:r>
                        <m:r>
                          <a:rPr kumimoji="1" lang="en-US" altLang="zh-CN" sz="1600" b="0" i="1" smtClean="0">
                            <a:latin typeface="Cambria Math" panose="02040503050406030204" pitchFamily="18" charset="0"/>
                            <a:ea typeface="微软雅黑" panose="020B0503020204020204" pitchFamily="34" charset="-122"/>
                          </a:rPr>
                          <m:t>−</m:t>
                        </m:r>
                        <m:r>
                          <a:rPr kumimoji="1" lang="en-US" altLang="zh-CN" sz="1600" b="0" i="1" smtClean="0">
                            <a:latin typeface="Cambria Math" panose="02040503050406030204" pitchFamily="18" charset="0"/>
                            <a:ea typeface="微软雅黑" panose="020B0503020204020204" pitchFamily="34" charset="-122"/>
                          </a:rPr>
                          <m:t>1</m:t>
                        </m:r>
                      </m:sup>
                      <m:e>
                        <m:sSub>
                          <m:sSubPr>
                            <m:ctrlPr>
                              <a:rPr kumimoji="1" lang="en-US" altLang="zh-CN" sz="1600" b="0" i="1" smtClean="0">
                                <a:latin typeface="Cambria Math" panose="02040503050406030204" pitchFamily="18" charset="0"/>
                                <a:ea typeface="微软雅黑" panose="020B0503020204020204" pitchFamily="34" charset="-122"/>
                              </a:rPr>
                            </m:ctrlPr>
                          </m:sSubPr>
                          <m:e>
                            <m:r>
                              <a:rPr kumimoji="1" lang="en-US" altLang="zh-CN" sz="1600" b="0" i="1" smtClean="0">
                                <a:latin typeface="Cambria Math" panose="02040503050406030204" pitchFamily="18" charset="0"/>
                                <a:ea typeface="微软雅黑" panose="020B0503020204020204" pitchFamily="34" charset="-122"/>
                              </a:rPr>
                              <m:t>𝑐𝑚𝑚𝑢𝑙𝑎𝑛𝑡</m:t>
                            </m:r>
                          </m:e>
                          <m:sub>
                            <m:r>
                              <a:rPr kumimoji="1" lang="en-US" altLang="zh-CN" sz="1600" b="0" i="1" smtClean="0">
                                <a:latin typeface="Cambria Math" panose="02040503050406030204" pitchFamily="18" charset="0"/>
                                <a:ea typeface="微软雅黑" panose="020B0503020204020204" pitchFamily="34" charset="-122"/>
                              </a:rPr>
                              <m:t>𝑗</m:t>
                            </m:r>
                          </m:sub>
                        </m:sSub>
                        <m:r>
                          <a:rPr kumimoji="1" lang="en-US" altLang="zh-CN" sz="1600" b="0" i="1" smtClean="0">
                            <a:latin typeface="Cambria Math" panose="02040503050406030204" pitchFamily="18" charset="0"/>
                            <a:ea typeface="微软雅黑" panose="020B0503020204020204" pitchFamily="34" charset="-122"/>
                          </a:rPr>
                          <m:t>∗</m:t>
                        </m:r>
                      </m:e>
                    </m:nary>
                    <m:sSup>
                      <m:sSupPr>
                        <m:ctrlPr>
                          <a:rPr kumimoji="1" lang="en-US" altLang="zh-CN" sz="1600" i="1">
                            <a:latin typeface="Cambria Math" panose="02040503050406030204" pitchFamily="18" charset="0"/>
                            <a:ea typeface="微软雅黑" panose="020B0503020204020204" pitchFamily="34" charset="-122"/>
                          </a:rPr>
                        </m:ctrlPr>
                      </m:sSupPr>
                      <m:e>
                        <m:r>
                          <m:rPr>
                            <m:nor/>
                          </m:rPr>
                          <a:rPr kumimoji="1" lang="el-GR" altLang="zh-CN" sz="1600" dirty="0">
                            <a:latin typeface="微软雅黑" panose="020B0503020204020204" pitchFamily="34" charset="-122"/>
                            <a:ea typeface="微软雅黑" panose="020B0503020204020204" pitchFamily="34" charset="-122"/>
                            <a:cs typeface="宋体" charset="0"/>
                          </a:rPr>
                          <m:t>λ</m:t>
                        </m:r>
                      </m:e>
                      <m:sup>
                        <m:r>
                          <a:rPr kumimoji="1" lang="en-US" altLang="zh-CN" sz="1600" i="1">
                            <a:latin typeface="Cambria Math" panose="02040503050406030204" pitchFamily="18" charset="0"/>
                            <a:ea typeface="微软雅黑" panose="020B0503020204020204" pitchFamily="34" charset="-122"/>
                          </a:rPr>
                          <m:t>𝑖</m:t>
                        </m:r>
                        <m:r>
                          <a:rPr kumimoji="1" lang="en-US" altLang="zh-CN" sz="1600" i="1">
                            <a:latin typeface="Cambria Math" panose="02040503050406030204" pitchFamily="18" charset="0"/>
                            <a:ea typeface="微软雅黑" panose="020B0503020204020204" pitchFamily="34" charset="-122"/>
                          </a:rPr>
                          <m:t>−</m:t>
                        </m:r>
                        <m:r>
                          <a:rPr kumimoji="1" lang="en-US" altLang="zh-CN" sz="1600" i="1">
                            <a:latin typeface="Cambria Math" panose="02040503050406030204" pitchFamily="18" charset="0"/>
                            <a:ea typeface="微软雅黑" panose="020B0503020204020204" pitchFamily="34" charset="-122"/>
                          </a:rPr>
                          <m:t>𝑗</m:t>
                        </m:r>
                      </m:sup>
                    </m:sSup>
                  </m:oMath>
                </a14:m>
                <a:r>
                  <a:rPr kumimoji="1" lang="en-US" altLang="zh-CN" sz="1600" dirty="0" smtClean="0">
                    <a:latin typeface="微软雅黑" panose="020B0503020204020204" pitchFamily="34" charset="-122"/>
                    <a:ea typeface="微软雅黑" panose="020B0503020204020204" pitchFamily="34" charset="-122"/>
                    <a:cs typeface="宋体" charset="0"/>
                  </a:rPr>
                  <a:t>   </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lgn="ctr">
                  <a:spcAft>
                    <a:spcPts val="600"/>
                  </a:spcAft>
                  <a:buSzPct val="120000"/>
                  <a:buNone/>
                </a:pPr>
                <a14:m>
                  <m:oMathPara xmlns:m="http://schemas.openxmlformats.org/officeDocument/2006/math">
                    <m:oMathParaPr>
                      <m:jc m:val="center"/>
                    </m:oMathParaPr>
                    <m:oMath xmlns:m="http://schemas.openxmlformats.org/officeDocument/2006/math">
                      <m:sSub>
                        <m:sSubPr>
                          <m:ctrlPr>
                            <a:rPr kumimoji="1" lang="en-US" altLang="zh-CN" sz="1600" i="1">
                              <a:latin typeface="Cambria Math" panose="02040503050406030204" pitchFamily="18" charset="0"/>
                              <a:ea typeface="微软雅黑" panose="020B0503020204020204" pitchFamily="34" charset="-122"/>
                            </a:rPr>
                          </m:ctrlPr>
                        </m:sSubPr>
                        <m:e>
                          <m:r>
                            <a:rPr kumimoji="1" lang="en-US" altLang="zh-CN" sz="1600" i="1">
                              <a:latin typeface="Cambria Math" panose="02040503050406030204" pitchFamily="18" charset="0"/>
                              <a:ea typeface="微软雅黑" panose="020B0503020204020204" pitchFamily="34" charset="-122"/>
                            </a:rPr>
                            <m:t>𝑠𝑡𝑎𝑡</m:t>
                          </m:r>
                        </m:e>
                        <m:sub>
                          <m:r>
                            <a:rPr kumimoji="1" lang="en-US" altLang="zh-CN" sz="1600" i="1">
                              <a:latin typeface="Cambria Math" panose="02040503050406030204" pitchFamily="18" charset="0"/>
                              <a:ea typeface="微软雅黑" panose="020B0503020204020204" pitchFamily="34" charset="-122"/>
                            </a:rPr>
                            <m:t>𝑖</m:t>
                          </m:r>
                        </m:sub>
                      </m:sSub>
                      <m:r>
                        <a:rPr kumimoji="1" lang="en-US" altLang="zh-CN" sz="1600" i="1">
                          <a:latin typeface="Cambria Math" panose="02040503050406030204" pitchFamily="18" charset="0"/>
                          <a:ea typeface="微软雅黑" panose="020B0503020204020204" pitchFamily="34" charset="-122"/>
                        </a:rPr>
                        <m:t>=</m:t>
                      </m:r>
                      <m:sSub>
                        <m:sSubPr>
                          <m:ctrlPr>
                            <a:rPr kumimoji="1" lang="en-US" altLang="zh-CN" sz="1600" i="1">
                              <a:latin typeface="Cambria Math" panose="02040503050406030204" pitchFamily="18" charset="0"/>
                              <a:ea typeface="微软雅黑" panose="020B0503020204020204" pitchFamily="34" charset="-122"/>
                            </a:rPr>
                          </m:ctrlPr>
                        </m:sSubPr>
                        <m:e>
                          <m:r>
                            <a:rPr kumimoji="1" lang="en-US" altLang="zh-CN" sz="1600" i="1">
                              <a:latin typeface="Cambria Math" panose="02040503050406030204" pitchFamily="18" charset="0"/>
                              <a:ea typeface="微软雅黑" panose="020B0503020204020204" pitchFamily="34" charset="-122"/>
                            </a:rPr>
                            <m:t>𝑐𝑚𝑚𝑢𝑙𝑎𝑛𝑡</m:t>
                          </m:r>
                        </m:e>
                        <m:sub>
                          <m:r>
                            <a:rPr kumimoji="1" lang="en-US" altLang="zh-CN" sz="1600" i="1">
                              <a:latin typeface="Cambria Math" panose="02040503050406030204" pitchFamily="18" charset="0"/>
                              <a:ea typeface="微软雅黑" panose="020B0503020204020204" pitchFamily="34" charset="-122"/>
                            </a:rPr>
                            <m:t>𝑖</m:t>
                          </m:r>
                        </m:sub>
                      </m:sSub>
                      <m:r>
                        <a:rPr kumimoji="1" lang="en-US" altLang="zh-CN" sz="1600" i="1">
                          <a:latin typeface="Cambria Math" panose="02040503050406030204" pitchFamily="18" charset="0"/>
                          <a:ea typeface="微软雅黑" panose="020B0503020204020204" pitchFamily="34" charset="-122"/>
                        </a:rPr>
                        <m:t>+</m:t>
                      </m:r>
                      <m:sSub>
                        <m:sSubPr>
                          <m:ctrlPr>
                            <a:rPr kumimoji="1" lang="en-US" altLang="zh-CN" sz="1600" i="1">
                              <a:latin typeface="Cambria Math" panose="02040503050406030204" pitchFamily="18" charset="0"/>
                              <a:ea typeface="微软雅黑" panose="020B0503020204020204" pitchFamily="34" charset="-122"/>
                            </a:rPr>
                          </m:ctrlPr>
                        </m:sSubPr>
                        <m:e>
                          <m:r>
                            <a:rPr kumimoji="1" lang="en-US" altLang="zh-CN" sz="1600" i="1">
                              <a:latin typeface="Cambria Math" panose="02040503050406030204" pitchFamily="18" charset="0"/>
                              <a:ea typeface="微软雅黑" panose="020B0503020204020204" pitchFamily="34" charset="-122"/>
                            </a:rPr>
                            <m:t>𝑠𝑡𝑎𝑡</m:t>
                          </m:r>
                        </m:e>
                        <m:sub>
                          <m:r>
                            <a:rPr kumimoji="1" lang="en-US" altLang="zh-CN" sz="1600" i="1">
                              <a:latin typeface="Cambria Math" panose="02040503050406030204" pitchFamily="18" charset="0"/>
                              <a:ea typeface="微软雅黑" panose="020B0503020204020204" pitchFamily="34" charset="-122"/>
                            </a:rPr>
                            <m:t>𝑖</m:t>
                          </m:r>
                          <m:r>
                            <a:rPr kumimoji="1" lang="en-US" altLang="zh-CN" sz="1600" b="0" i="1" smtClean="0">
                              <a:latin typeface="Cambria Math" panose="02040503050406030204" pitchFamily="18" charset="0"/>
                              <a:ea typeface="微软雅黑" panose="020B0503020204020204" pitchFamily="34" charset="-122"/>
                            </a:rPr>
                            <m:t>−</m:t>
                          </m:r>
                          <m:r>
                            <a:rPr kumimoji="1" lang="en-US" altLang="zh-CN" sz="1600" b="0" i="1" smtClean="0">
                              <a:latin typeface="Cambria Math" panose="02040503050406030204" pitchFamily="18" charset="0"/>
                              <a:ea typeface="微软雅黑" panose="020B0503020204020204" pitchFamily="34" charset="-122"/>
                            </a:rPr>
                            <m:t>1</m:t>
                          </m:r>
                        </m:sub>
                      </m:sSub>
                      <m:r>
                        <a:rPr kumimoji="1" lang="en-US" altLang="zh-CN" sz="1600" b="0" i="1" smtClean="0">
                          <a:latin typeface="Cambria Math" panose="02040503050406030204" pitchFamily="18" charset="0"/>
                          <a:ea typeface="微软雅黑" panose="020B0503020204020204" pitchFamily="34" charset="-122"/>
                        </a:rPr>
                        <m:t>∗</m:t>
                      </m:r>
                      <m:r>
                        <m:rPr>
                          <m:nor/>
                        </m:rPr>
                        <a:rPr kumimoji="1" lang="el-GR" altLang="zh-CN" sz="1600" dirty="0">
                          <a:latin typeface="微软雅黑" panose="020B0503020204020204" pitchFamily="34" charset="-122"/>
                          <a:ea typeface="微软雅黑" panose="020B0503020204020204" pitchFamily="34" charset="-122"/>
                          <a:cs typeface="宋体" charset="0"/>
                        </a:rPr>
                        <m:t>λ</m:t>
                      </m:r>
                    </m:oMath>
                  </m:oMathPara>
                </a14:m>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lgn="ctr">
                  <a:spcAft>
                    <a:spcPts val="600"/>
                  </a:spcAft>
                  <a:buSzPct val="120000"/>
                  <a:buNone/>
                </a:pPr>
                <a:endParaRPr kumimoji="1" lang="en-US" altLang="zh-CN" sz="1600" dirty="0" smtClean="0">
                  <a:latin typeface="微软雅黑" panose="020B0503020204020204" pitchFamily="34" charset="-122"/>
                  <a:ea typeface="微软雅黑" panose="020B0503020204020204" pitchFamily="34" charset="-122"/>
                  <a:cs typeface="宋体"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480104" y="839640"/>
                <a:ext cx="7162641" cy="4374465"/>
              </a:xfrm>
              <a:blipFill rotWithShape="1">
                <a:blip r:embed="rId2"/>
                <a:stretch>
                  <a:fillRect l="-1" t="-4" r="7" b="-4468"/>
                </a:stretch>
              </a:blipFill>
            </p:spPr>
            <p:txBody>
              <a:bodyPr/>
              <a:lstStyle/>
              <a:p>
                <a:r>
                  <a:rPr lang="zh-CN" altLang="en-US">
                    <a:noFill/>
                  </a:rPr>
                  <a:t> </a:t>
                </a:r>
              </a:p>
            </p:txBody>
          </p:sp>
        </mc:Fallback>
      </mc:AlternateContent>
      <p:sp>
        <p:nvSpPr>
          <p:cNvPr id="2" name="矩形 1"/>
          <p:cNvSpPr/>
          <p:nvPr/>
        </p:nvSpPr>
        <p:spPr>
          <a:xfrm>
            <a:off x="8052179" y="1002754"/>
            <a:ext cx="95534" cy="416613"/>
          </a:xfrm>
          <a:prstGeom prst="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5" name="矩形 4"/>
          <p:cNvSpPr/>
          <p:nvPr/>
        </p:nvSpPr>
        <p:spPr>
          <a:xfrm>
            <a:off x="8052179" y="1605906"/>
            <a:ext cx="95534" cy="400315"/>
          </a:xfrm>
          <a:prstGeom prst="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6" name="矩形 5"/>
          <p:cNvSpPr/>
          <p:nvPr/>
        </p:nvSpPr>
        <p:spPr>
          <a:xfrm>
            <a:off x="8052179" y="2158621"/>
            <a:ext cx="95534" cy="400315"/>
          </a:xfrm>
          <a:prstGeom prst="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8004412" y="2702257"/>
            <a:ext cx="95534" cy="646331"/>
          </a:xfrm>
          <a:prstGeom prst="rect">
            <a:avLst/>
          </a:prstGeom>
          <a:noFill/>
        </p:spPr>
        <p:txBody>
          <a:bodyPr wrap="square" rtlCol="0">
            <a:spAutoFit/>
          </a:bodyPr>
          <a:lstStyle/>
          <a:p>
            <a:r>
              <a:rPr lang="zh-CN" altLang="en-US" sz="1200" dirty="0" smtClean="0"/>
              <a:t>。。。</a:t>
            </a:r>
            <a:endParaRPr lang="zh-CN" altLang="en-US" sz="1200" dirty="0"/>
          </a:p>
        </p:txBody>
      </p:sp>
      <p:sp>
        <p:nvSpPr>
          <p:cNvPr id="8" name="矩形 7"/>
          <p:cNvSpPr/>
          <p:nvPr/>
        </p:nvSpPr>
        <p:spPr>
          <a:xfrm>
            <a:off x="8052179" y="3491909"/>
            <a:ext cx="95534" cy="400315"/>
          </a:xfrm>
          <a:prstGeom prst="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8147713" y="1050035"/>
            <a:ext cx="900752" cy="307777"/>
          </a:xfrm>
          <a:prstGeom prst="rect">
            <a:avLst/>
          </a:prstGeom>
          <a:noFill/>
        </p:spPr>
        <p:txBody>
          <a:bodyPr wrap="square" rtlCol="0">
            <a:spAutoFit/>
          </a:bodyPr>
          <a:lstStyle/>
          <a:p>
            <a:r>
              <a:rPr lang="zh-CN" altLang="en-US" sz="1400" dirty="0" smtClean="0"/>
              <a:t>段</a:t>
            </a:r>
            <a:r>
              <a:rPr lang="en-US" altLang="zh-CN" sz="1400" dirty="0" smtClean="0"/>
              <a:t>1</a:t>
            </a:r>
            <a:endParaRPr lang="zh-CN" altLang="en-US" sz="1400" dirty="0"/>
          </a:p>
        </p:txBody>
      </p:sp>
      <p:sp>
        <p:nvSpPr>
          <p:cNvPr id="10" name="文本框 9"/>
          <p:cNvSpPr txBox="1"/>
          <p:nvPr/>
        </p:nvSpPr>
        <p:spPr>
          <a:xfrm>
            <a:off x="8147713" y="1665883"/>
            <a:ext cx="900752" cy="307777"/>
          </a:xfrm>
          <a:prstGeom prst="rect">
            <a:avLst/>
          </a:prstGeom>
          <a:noFill/>
        </p:spPr>
        <p:txBody>
          <a:bodyPr wrap="square" rtlCol="0">
            <a:spAutoFit/>
          </a:bodyPr>
          <a:lstStyle/>
          <a:p>
            <a:r>
              <a:rPr lang="zh-CN" altLang="en-US" sz="1400" dirty="0" smtClean="0"/>
              <a:t>段</a:t>
            </a:r>
            <a:r>
              <a:rPr lang="en-US" altLang="zh-CN" sz="1400" dirty="0"/>
              <a:t>2</a:t>
            </a:r>
            <a:endParaRPr lang="zh-CN" altLang="en-US" sz="1400" dirty="0"/>
          </a:p>
        </p:txBody>
      </p:sp>
      <p:sp>
        <p:nvSpPr>
          <p:cNvPr id="11" name="文本框 10"/>
          <p:cNvSpPr txBox="1"/>
          <p:nvPr/>
        </p:nvSpPr>
        <p:spPr>
          <a:xfrm>
            <a:off x="8147713" y="2198451"/>
            <a:ext cx="900752" cy="307777"/>
          </a:xfrm>
          <a:prstGeom prst="rect">
            <a:avLst/>
          </a:prstGeom>
          <a:noFill/>
        </p:spPr>
        <p:txBody>
          <a:bodyPr wrap="square" rtlCol="0">
            <a:spAutoFit/>
          </a:bodyPr>
          <a:lstStyle/>
          <a:p>
            <a:r>
              <a:rPr lang="zh-CN" altLang="en-US" sz="1400" dirty="0" smtClean="0"/>
              <a:t>段</a:t>
            </a:r>
            <a:r>
              <a:rPr lang="en-US" altLang="zh-CN" sz="1400" dirty="0" smtClean="0"/>
              <a:t>3</a:t>
            </a:r>
            <a:endParaRPr lang="zh-CN" altLang="en-US" sz="1400" dirty="0"/>
          </a:p>
        </p:txBody>
      </p:sp>
      <p:sp>
        <p:nvSpPr>
          <p:cNvPr id="12" name="文本框 11"/>
          <p:cNvSpPr txBox="1"/>
          <p:nvPr/>
        </p:nvSpPr>
        <p:spPr>
          <a:xfrm>
            <a:off x="8147713" y="3538177"/>
            <a:ext cx="900752" cy="307777"/>
          </a:xfrm>
          <a:prstGeom prst="rect">
            <a:avLst/>
          </a:prstGeom>
          <a:noFill/>
        </p:spPr>
        <p:txBody>
          <a:bodyPr wrap="square" rtlCol="0">
            <a:spAutoFit/>
          </a:bodyPr>
          <a:lstStyle/>
          <a:p>
            <a:r>
              <a:rPr lang="zh-CN" altLang="en-US" sz="1400" dirty="0" smtClean="0"/>
              <a:t>段</a:t>
            </a:r>
            <a:r>
              <a:rPr lang="en-US" altLang="zh-CN" sz="1400" dirty="0" smtClean="0"/>
              <a:t>M</a:t>
            </a:r>
            <a:endParaRPr lang="zh-CN" altLang="en-US" sz="1400"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776996"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自动黑名单段上限策略</a:t>
            </a:r>
            <a:endParaRPr kumimoji="1" lang="zh-CN" altLang="en-US" sz="1400" b="1" spc="200" dirty="0">
              <a:latin typeface="微软雅黑"/>
              <a:ea typeface="微软雅黑"/>
              <a:cs typeface="微软雅黑"/>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80104" y="1002754"/>
                <a:ext cx="7162641" cy="4048218"/>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一些</a:t>
                </a:r>
                <a:r>
                  <a:rPr kumimoji="1" lang="zh-CN" altLang="en-US" sz="1800" dirty="0">
                    <a:latin typeface="微软雅黑" panose="020B0503020204020204" pitchFamily="34" charset="-122"/>
                    <a:ea typeface="微软雅黑" panose="020B0503020204020204" pitchFamily="34" charset="-122"/>
                    <a:cs typeface="宋体" charset="0"/>
                  </a:rPr>
                  <a:t>限制</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影响量上限：如果之前段的累积量太大，该维度对象有可能被永远置于黑名单中，无法逃脱。为了避免这种情况，在计算统计量时，需要给历史段的影响设定一个上限</a:t>
                </a:r>
                <a:r>
                  <a:rPr kumimoji="1" lang="en-US" altLang="zh-CN" sz="1600" dirty="0" err="1" smtClean="0">
                    <a:latin typeface="微软雅黑" panose="020B0503020204020204" pitchFamily="34" charset="-122"/>
                    <a:ea typeface="微软雅黑" panose="020B0503020204020204" pitchFamily="34" charset="-122"/>
                    <a:cs typeface="宋体" charset="0"/>
                  </a:rPr>
                  <a:t>upper_bound</a:t>
                </a:r>
                <a:r>
                  <a:rPr kumimoji="1" lang="zh-CN" altLang="en-US"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lvl="0" indent="0" algn="ctr">
                  <a:spcAft>
                    <a:spcPts val="600"/>
                  </a:spcAft>
                  <a:buSzPct val="120000"/>
                  <a:buNone/>
                </a:pPr>
                <a14:m>
                  <m:oMathPara xmlns:m="http://schemas.openxmlformats.org/officeDocument/2006/math">
                    <m:oMathParaPr>
                      <m:jc m:val="center"/>
                    </m:oMathParaPr>
                    <m:oMath xmlns:m="http://schemas.openxmlformats.org/officeDocument/2006/math">
                      <m:sSub>
                        <m:sSubPr>
                          <m:ctrlPr>
                            <a:rPr kumimoji="1" lang="en-US" altLang="zh-CN" sz="1600" i="1">
                              <a:solidFill>
                                <a:prstClr val="black"/>
                              </a:solidFill>
                              <a:latin typeface="Cambria Math" panose="02040503050406030204" pitchFamily="18" charset="0"/>
                              <a:ea typeface="微软雅黑" panose="020B0503020204020204" pitchFamily="34" charset="-122"/>
                            </a:rPr>
                          </m:ctrlPr>
                        </m:sSubPr>
                        <m:e>
                          <m:r>
                            <a:rPr kumimoji="1" lang="en-US" altLang="zh-CN" sz="1600" i="1">
                              <a:solidFill>
                                <a:prstClr val="black"/>
                              </a:solidFill>
                              <a:latin typeface="Cambria Math" panose="02040503050406030204" pitchFamily="18" charset="0"/>
                              <a:ea typeface="微软雅黑" panose="020B0503020204020204" pitchFamily="34" charset="-122"/>
                            </a:rPr>
                            <m:t>𝑠𝑡𝑎𝑡</m:t>
                          </m:r>
                        </m:e>
                        <m:sub>
                          <m:r>
                            <a:rPr kumimoji="1" lang="en-US" altLang="zh-CN" sz="1600" i="1">
                              <a:solidFill>
                                <a:prstClr val="black"/>
                              </a:solidFill>
                              <a:latin typeface="Cambria Math" panose="02040503050406030204" pitchFamily="18" charset="0"/>
                              <a:ea typeface="微软雅黑" panose="020B0503020204020204" pitchFamily="34" charset="-122"/>
                            </a:rPr>
                            <m:t>𝑖</m:t>
                          </m:r>
                        </m:sub>
                      </m:sSub>
                      <m:r>
                        <a:rPr kumimoji="1" lang="en-US" altLang="zh-CN" sz="1600" i="1">
                          <a:solidFill>
                            <a:prstClr val="black"/>
                          </a:solidFill>
                          <a:latin typeface="Cambria Math" panose="02040503050406030204" pitchFamily="18" charset="0"/>
                          <a:ea typeface="微软雅黑" panose="020B0503020204020204" pitchFamily="34" charset="-122"/>
                        </a:rPr>
                        <m:t>=</m:t>
                      </m:r>
                      <m:sSub>
                        <m:sSubPr>
                          <m:ctrlPr>
                            <a:rPr kumimoji="1" lang="en-US" altLang="zh-CN" sz="1600" i="1">
                              <a:solidFill>
                                <a:prstClr val="black"/>
                              </a:solidFill>
                              <a:latin typeface="Cambria Math" panose="02040503050406030204" pitchFamily="18" charset="0"/>
                              <a:ea typeface="微软雅黑" panose="020B0503020204020204" pitchFamily="34" charset="-122"/>
                            </a:rPr>
                          </m:ctrlPr>
                        </m:sSubPr>
                        <m:e>
                          <m:r>
                            <a:rPr kumimoji="1" lang="en-US" altLang="zh-CN" sz="1600" i="1">
                              <a:solidFill>
                                <a:prstClr val="black"/>
                              </a:solidFill>
                              <a:latin typeface="Cambria Math" panose="02040503050406030204" pitchFamily="18" charset="0"/>
                              <a:ea typeface="微软雅黑" panose="020B0503020204020204" pitchFamily="34" charset="-122"/>
                            </a:rPr>
                            <m:t>𝑐𝑚𝑚𝑢𝑙𝑎𝑛𝑡</m:t>
                          </m:r>
                        </m:e>
                        <m:sub>
                          <m:r>
                            <a:rPr kumimoji="1" lang="en-US" altLang="zh-CN" sz="1600" i="1">
                              <a:solidFill>
                                <a:prstClr val="black"/>
                              </a:solidFill>
                              <a:latin typeface="Cambria Math" panose="02040503050406030204" pitchFamily="18" charset="0"/>
                              <a:ea typeface="微软雅黑" panose="020B0503020204020204" pitchFamily="34" charset="-122"/>
                            </a:rPr>
                            <m:t>𝑖</m:t>
                          </m:r>
                        </m:sub>
                      </m:sSub>
                      <m:r>
                        <a:rPr kumimoji="1" lang="en-US" altLang="zh-CN" sz="1600" i="1">
                          <a:solidFill>
                            <a:prstClr val="black"/>
                          </a:solidFill>
                          <a:latin typeface="Cambria Math" panose="02040503050406030204" pitchFamily="18" charset="0"/>
                          <a:ea typeface="微软雅黑" panose="020B0503020204020204" pitchFamily="34" charset="-122"/>
                        </a:rPr>
                        <m:t>+</m:t>
                      </m:r>
                      <m:r>
                        <m:rPr>
                          <m:sty m:val="p"/>
                        </m:rPr>
                        <a:rPr kumimoji="1" lang="en-US" altLang="zh-CN" sz="1600" i="1">
                          <a:solidFill>
                            <a:prstClr val="black"/>
                          </a:solidFill>
                          <a:latin typeface="Cambria Math" panose="02040503050406030204" pitchFamily="18" charset="0"/>
                          <a:ea typeface="微软雅黑" panose="020B0503020204020204" pitchFamily="34" charset="-122"/>
                        </a:rPr>
                        <m:t>min</m:t>
                      </m:r>
                      <m:r>
                        <a:rPr kumimoji="1" lang="en-US" altLang="zh-CN" sz="1600" b="0" i="1" smtClean="0">
                          <a:solidFill>
                            <a:prstClr val="black"/>
                          </a:solidFill>
                          <a:latin typeface="Cambria Math" panose="02040503050406030204" pitchFamily="18" charset="0"/>
                          <a:ea typeface="微软雅黑" panose="020B0503020204020204" pitchFamily="34" charset="-122"/>
                        </a:rPr>
                        <m:t>(</m:t>
                      </m:r>
                      <m:sSub>
                        <m:sSubPr>
                          <m:ctrlPr>
                            <a:rPr kumimoji="1" lang="en-US" altLang="zh-CN" sz="1600" i="1">
                              <a:solidFill>
                                <a:prstClr val="black"/>
                              </a:solidFill>
                              <a:latin typeface="Cambria Math" panose="02040503050406030204" pitchFamily="18" charset="0"/>
                              <a:ea typeface="微软雅黑" panose="020B0503020204020204" pitchFamily="34" charset="-122"/>
                            </a:rPr>
                          </m:ctrlPr>
                        </m:sSubPr>
                        <m:e>
                          <m:r>
                            <a:rPr kumimoji="1" lang="en-US" altLang="zh-CN" sz="1600" i="1">
                              <a:solidFill>
                                <a:prstClr val="black"/>
                              </a:solidFill>
                              <a:latin typeface="Cambria Math" panose="02040503050406030204" pitchFamily="18" charset="0"/>
                              <a:ea typeface="微软雅黑" panose="020B0503020204020204" pitchFamily="34" charset="-122"/>
                            </a:rPr>
                            <m:t>𝑠𝑡𝑎𝑡</m:t>
                          </m:r>
                        </m:e>
                        <m:sub>
                          <m:r>
                            <a:rPr kumimoji="1" lang="en-US" altLang="zh-CN" sz="1600" i="1">
                              <a:solidFill>
                                <a:prstClr val="black"/>
                              </a:solidFill>
                              <a:latin typeface="Cambria Math" panose="02040503050406030204" pitchFamily="18" charset="0"/>
                              <a:ea typeface="微软雅黑" panose="020B0503020204020204" pitchFamily="34" charset="-122"/>
                            </a:rPr>
                            <m:t>𝑖</m:t>
                          </m:r>
                          <m:r>
                            <a:rPr kumimoji="1" lang="en-US" altLang="zh-CN" sz="1600" i="1">
                              <a:solidFill>
                                <a:prstClr val="black"/>
                              </a:solidFill>
                              <a:latin typeface="Cambria Math" panose="02040503050406030204" pitchFamily="18" charset="0"/>
                              <a:ea typeface="微软雅黑" panose="020B0503020204020204" pitchFamily="34" charset="-122"/>
                            </a:rPr>
                            <m:t>−</m:t>
                          </m:r>
                          <m:r>
                            <a:rPr kumimoji="1" lang="en-US" altLang="zh-CN" sz="1600" i="1">
                              <a:solidFill>
                                <a:prstClr val="black"/>
                              </a:solidFill>
                              <a:latin typeface="Cambria Math" panose="02040503050406030204" pitchFamily="18" charset="0"/>
                              <a:ea typeface="微软雅黑" panose="020B0503020204020204" pitchFamily="34" charset="-122"/>
                            </a:rPr>
                            <m:t>1</m:t>
                          </m:r>
                        </m:sub>
                      </m:sSub>
                      <m:r>
                        <a:rPr kumimoji="1" lang="en-US" altLang="zh-CN" sz="1600" b="0" i="1" smtClean="0">
                          <a:solidFill>
                            <a:prstClr val="black"/>
                          </a:solidFill>
                          <a:latin typeface="Cambria Math" panose="02040503050406030204" pitchFamily="18" charset="0"/>
                          <a:ea typeface="微软雅黑" panose="020B0503020204020204" pitchFamily="34" charset="-122"/>
                        </a:rPr>
                        <m:t>, </m:t>
                      </m:r>
                      <m:r>
                        <a:rPr kumimoji="1" lang="en-US" altLang="zh-CN" sz="1600" b="0" i="1" smtClean="0">
                          <a:solidFill>
                            <a:prstClr val="black"/>
                          </a:solidFill>
                          <a:latin typeface="Cambria Math" panose="02040503050406030204" pitchFamily="18" charset="0"/>
                          <a:ea typeface="微软雅黑" panose="020B0503020204020204" pitchFamily="34" charset="-122"/>
                        </a:rPr>
                        <m:t>𝑢𝑝𝑝𝑒𝑟</m:t>
                      </m:r>
                      <m:r>
                        <a:rPr kumimoji="1" lang="en-US" altLang="zh-CN" sz="1600" b="0" i="1" smtClean="0">
                          <a:solidFill>
                            <a:prstClr val="black"/>
                          </a:solidFill>
                          <a:latin typeface="Cambria Math" panose="02040503050406030204" pitchFamily="18" charset="0"/>
                          <a:ea typeface="微软雅黑" panose="020B0503020204020204" pitchFamily="34" charset="-122"/>
                        </a:rPr>
                        <m:t>_</m:t>
                      </m:r>
                      <m:r>
                        <a:rPr kumimoji="1" lang="en-US" altLang="zh-CN" sz="1600" b="0" i="1" smtClean="0">
                          <a:solidFill>
                            <a:prstClr val="black"/>
                          </a:solidFill>
                          <a:latin typeface="Cambria Math" panose="02040503050406030204" pitchFamily="18" charset="0"/>
                          <a:ea typeface="微软雅黑" panose="020B0503020204020204" pitchFamily="34" charset="-122"/>
                        </a:rPr>
                        <m:t>𝑏𝑜𝑢𝑛𝑑</m:t>
                      </m:r>
                      <m:r>
                        <a:rPr kumimoji="1" lang="en-US" altLang="zh-CN" sz="1600" b="0" i="1" smtClean="0">
                          <a:solidFill>
                            <a:prstClr val="black"/>
                          </a:solidFill>
                          <a:latin typeface="Cambria Math" panose="02040503050406030204" pitchFamily="18" charset="0"/>
                          <a:ea typeface="微软雅黑" panose="020B0503020204020204" pitchFamily="34" charset="-122"/>
                        </a:rPr>
                        <m:t>)∗</m:t>
                      </m:r>
                      <m:r>
                        <m:rPr>
                          <m:nor/>
                        </m:rPr>
                        <a:rPr kumimoji="1" lang="el-GR" altLang="zh-CN" sz="1600" dirty="0">
                          <a:solidFill>
                            <a:prstClr val="black"/>
                          </a:solidFill>
                          <a:latin typeface="微软雅黑" panose="020B0503020204020204" pitchFamily="34" charset="-122"/>
                          <a:ea typeface="微软雅黑" panose="020B0503020204020204" pitchFamily="34" charset="-122"/>
                          <a:cs typeface="宋体" charset="0"/>
                        </a:rPr>
                        <m:t>λ</m:t>
                      </m:r>
                    </m:oMath>
                  </m:oMathPara>
                </a14:m>
                <a:endParaRPr kumimoji="1" lang="en-US" altLang="zh-CN" sz="1600" dirty="0">
                  <a:solidFill>
                    <a:prstClr val="black"/>
                  </a:solidFill>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影响量下限：如果之前段的累积量太小，其对于当前段的影响就可以忽略不计，这时就可以通过一个下限</a:t>
                </a:r>
                <a:r>
                  <a:rPr kumimoji="1" lang="en-US" altLang="zh-CN" sz="1600" dirty="0" smtClean="0">
                    <a:latin typeface="微软雅黑" panose="020B0503020204020204" pitchFamily="34" charset="-122"/>
                    <a:ea typeface="微软雅黑" panose="020B0503020204020204" pitchFamily="34" charset="-122"/>
                    <a:cs typeface="宋体" charset="0"/>
                  </a:rPr>
                  <a:t>discard</a:t>
                </a:r>
                <a:r>
                  <a:rPr kumimoji="1" lang="zh-CN" altLang="en-US" sz="1600" dirty="0" smtClean="0">
                    <a:latin typeface="微软雅黑" panose="020B0503020204020204" pitchFamily="34" charset="-122"/>
                    <a:ea typeface="微软雅黑" panose="020B0503020204020204" pitchFamily="34" charset="-122"/>
                    <a:cs typeface="宋体" charset="0"/>
                  </a:rPr>
                  <a:t>来判断有没有必要加上上一段的影响量，但在实际实现中并不是直接比较，而是采用了一种迂回的方法。</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如果下一个有累积量的段离当前段的距离超过</a:t>
                </a:r>
                <a:r>
                  <a:rPr kumimoji="1" lang="en-US" altLang="zh-CN" sz="1400" dirty="0" smtClean="0">
                    <a:latin typeface="微软雅黑" panose="020B0503020204020204" pitchFamily="34" charset="-122"/>
                    <a:ea typeface="微软雅黑" panose="020B0503020204020204" pitchFamily="34" charset="-122"/>
                    <a:cs typeface="宋体" charset="0"/>
                  </a:rPr>
                  <a:t>N</a:t>
                </a:r>
                <a:r>
                  <a:rPr kumimoji="1" lang="zh-CN" altLang="en-US" sz="1400" dirty="0" smtClean="0">
                    <a:latin typeface="微软雅黑" panose="020B0503020204020204" pitchFamily="34" charset="-122"/>
                    <a:ea typeface="微软雅黑" panose="020B0503020204020204" pitchFamily="34" charset="-122"/>
                    <a:cs typeface="宋体" charset="0"/>
                  </a:rPr>
                  <a:t>，则在计算该段的统计量时将其历史段影响量置为</a:t>
                </a:r>
                <a:r>
                  <a:rPr kumimoji="1" lang="en-US" altLang="zh-CN" sz="1400" dirty="0" smtClean="0">
                    <a:latin typeface="微软雅黑" panose="020B0503020204020204" pitchFamily="34" charset="-122"/>
                    <a:ea typeface="微软雅黑" panose="020B0503020204020204" pitchFamily="34" charset="-122"/>
                    <a:cs typeface="宋体" charset="0"/>
                  </a:rPr>
                  <a:t>0</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marL="457200" lvl="1" indent="0" algn="ctr">
                  <a:spcAft>
                    <a:spcPts val="600"/>
                  </a:spcAft>
                  <a:buSzPct val="120000"/>
                  <a:buNone/>
                </a:pPr>
                <a14:m>
                  <m:oMathPara xmlns:m="http://schemas.openxmlformats.org/officeDocument/2006/math">
                    <m:oMathParaPr>
                      <m:jc m:val="centerGroup"/>
                    </m:oMathParaPr>
                    <m:oMath xmlns:m="http://schemas.openxmlformats.org/officeDocument/2006/math">
                      <m:r>
                        <a:rPr kumimoji="1" lang="en-US" altLang="zh-CN" sz="1400" i="1" smtClean="0">
                          <a:latin typeface="Cambria Math" panose="02040503050406030204" pitchFamily="18" charset="0"/>
                          <a:ea typeface="微软雅黑" panose="020B0503020204020204" pitchFamily="34" charset="-122"/>
                          <a:cs typeface="宋体" charset="0"/>
                        </a:rPr>
                        <m:t>𝑁</m:t>
                      </m:r>
                      <m:r>
                        <a:rPr kumimoji="1" lang="en-US" altLang="zh-CN" sz="1400" i="1" smtClean="0">
                          <a:latin typeface="Cambria Math" panose="02040503050406030204" pitchFamily="18" charset="0"/>
                          <a:ea typeface="微软雅黑" panose="020B0503020204020204" pitchFamily="34" charset="-122"/>
                          <a:cs typeface="宋体" charset="0"/>
                        </a:rPr>
                        <m:t>=</m:t>
                      </m:r>
                      <m:r>
                        <a:rPr kumimoji="1" lang="en-US" altLang="zh-CN" sz="1400" i="1" smtClean="0">
                          <a:latin typeface="Cambria Math" panose="02040503050406030204" pitchFamily="18" charset="0"/>
                          <a:ea typeface="微软雅黑" panose="020B0503020204020204" pitchFamily="34" charset="-122"/>
                          <a:cs typeface="宋体" charset="0"/>
                        </a:rPr>
                        <m:t>𝑚𝑖𝑛</m:t>
                      </m:r>
                      <m:r>
                        <a:rPr kumimoji="1" lang="en-US" altLang="zh-CN" sz="1400" i="1" smtClean="0">
                          <a:latin typeface="Cambria Math" panose="02040503050406030204" pitchFamily="18" charset="0"/>
                          <a:ea typeface="微软雅黑" panose="020B0503020204020204" pitchFamily="34" charset="-122"/>
                          <a:cs typeface="宋体" charset="0"/>
                        </a:rPr>
                        <m:t>(</m:t>
                      </m:r>
                      <m:r>
                        <a:rPr kumimoji="1" lang="en-US" altLang="zh-CN" sz="1400" i="1" smtClean="0">
                          <a:latin typeface="Cambria Math" panose="02040503050406030204" pitchFamily="18" charset="0"/>
                          <a:ea typeface="微软雅黑" panose="020B0503020204020204" pitchFamily="34" charset="-122"/>
                          <a:cs typeface="宋体" charset="0"/>
                        </a:rPr>
                        <m:t>𝑙𝑜𝑔</m:t>
                      </m:r>
                      <m:r>
                        <a:rPr kumimoji="1" lang="en-US" altLang="zh-CN" sz="1400" i="1" smtClean="0">
                          <a:latin typeface="Cambria Math" panose="02040503050406030204" pitchFamily="18" charset="0"/>
                          <a:ea typeface="微软雅黑" panose="020B0503020204020204" pitchFamily="34" charset="-122"/>
                          <a:cs typeface="宋体" charset="0"/>
                        </a:rPr>
                        <m:t>(</m:t>
                      </m:r>
                      <m:f>
                        <m:fPr>
                          <m:ctrlPr>
                            <a:rPr kumimoji="1" lang="en-US" altLang="zh-CN" sz="1400" b="0" i="1" smtClean="0">
                              <a:latin typeface="Cambria Math" panose="02040503050406030204" pitchFamily="18" charset="0"/>
                              <a:ea typeface="微软雅黑" panose="020B0503020204020204" pitchFamily="34" charset="-122"/>
                            </a:rPr>
                          </m:ctrlPr>
                        </m:fPr>
                        <m:num>
                          <m:r>
                            <a:rPr kumimoji="1" lang="en-US" altLang="zh-CN" sz="1400" i="1">
                              <a:latin typeface="Cambria Math" panose="02040503050406030204" pitchFamily="18" charset="0"/>
                              <a:ea typeface="微软雅黑" panose="020B0503020204020204" pitchFamily="34" charset="-122"/>
                              <a:cs typeface="宋体" charset="0"/>
                            </a:rPr>
                            <m:t>𝑑𝑖𝑠𝑐𝑎𝑟𝑑</m:t>
                          </m:r>
                        </m:num>
                        <m:den>
                          <m:r>
                            <a:rPr kumimoji="1" lang="en-US" altLang="zh-CN" sz="1400" b="0" i="1" smtClean="0">
                              <a:latin typeface="Cambria Math" panose="02040503050406030204" pitchFamily="18" charset="0"/>
                              <a:ea typeface="微软雅黑" panose="020B0503020204020204" pitchFamily="34" charset="-122"/>
                            </a:rPr>
                            <m:t>𝑢𝑝𝑝𝑒</m:t>
                          </m:r>
                          <m:sSub>
                            <m:sSubPr>
                              <m:ctrlPr>
                                <a:rPr kumimoji="1" lang="en-US" altLang="zh-CN" sz="1400" b="0" i="1" smtClean="0">
                                  <a:latin typeface="Cambria Math" panose="02040503050406030204" pitchFamily="18" charset="0"/>
                                  <a:ea typeface="微软雅黑" panose="020B0503020204020204" pitchFamily="34" charset="-122"/>
                                </a:rPr>
                              </m:ctrlPr>
                            </m:sSubPr>
                            <m:e>
                              <m:r>
                                <a:rPr kumimoji="1" lang="en-US" altLang="zh-CN" sz="1400" b="0" i="1" smtClean="0">
                                  <a:latin typeface="Cambria Math" panose="02040503050406030204" pitchFamily="18" charset="0"/>
                                  <a:ea typeface="微软雅黑" panose="020B0503020204020204" pitchFamily="34" charset="-122"/>
                                </a:rPr>
                                <m:t>𝑟</m:t>
                              </m:r>
                            </m:e>
                            <m:sub>
                              <m:r>
                                <a:rPr kumimoji="1" lang="en-US" altLang="zh-CN" sz="1400" b="0" i="1" smtClean="0">
                                  <a:latin typeface="Cambria Math" panose="02040503050406030204" pitchFamily="18" charset="0"/>
                                  <a:ea typeface="微软雅黑" panose="020B0503020204020204" pitchFamily="34" charset="-122"/>
                                </a:rPr>
                                <m:t>𝑏𝑜𝑢𝑛𝑑</m:t>
                              </m:r>
                            </m:sub>
                          </m:sSub>
                        </m:den>
                      </m:f>
                      <m:r>
                        <a:rPr kumimoji="1" lang="en-US" altLang="zh-CN" sz="1400" b="0" i="1" smtClean="0">
                          <a:latin typeface="Cambria Math" panose="02040503050406030204" pitchFamily="18" charset="0"/>
                          <a:ea typeface="微软雅黑" panose="020B0503020204020204" pitchFamily="34" charset="-122"/>
                        </a:rPr>
                        <m:t>)</m:t>
                      </m:r>
                      <m:r>
                        <a:rPr kumimoji="1" lang="en-US" altLang="zh-CN" sz="1400" i="1">
                          <a:latin typeface="Cambria Math" panose="02040503050406030204" pitchFamily="18" charset="0"/>
                          <a:ea typeface="微软雅黑" panose="020B0503020204020204" pitchFamily="34" charset="-122"/>
                          <a:cs typeface="宋体" charset="0"/>
                        </a:rPr>
                        <m:t>/</m:t>
                      </m:r>
                      <m:r>
                        <a:rPr kumimoji="1" lang="en-US" altLang="zh-CN" sz="1400" i="1">
                          <a:latin typeface="Cambria Math" panose="02040503050406030204" pitchFamily="18" charset="0"/>
                          <a:ea typeface="微软雅黑" panose="020B0503020204020204" pitchFamily="34" charset="-122"/>
                          <a:cs typeface="宋体" charset="0"/>
                        </a:rPr>
                        <m:t>𝑙𝑜𝑔</m:t>
                      </m:r>
                      <m:r>
                        <a:rPr kumimoji="1" lang="en-US" altLang="zh-CN" sz="1400" i="1">
                          <a:latin typeface="Cambria Math" panose="02040503050406030204" pitchFamily="18" charset="0"/>
                          <a:ea typeface="微软雅黑" panose="020B0503020204020204" pitchFamily="34" charset="-122"/>
                          <a:cs typeface="宋体" charset="0"/>
                        </a:rPr>
                        <m:t>(</m:t>
                      </m:r>
                      <m:r>
                        <m:rPr>
                          <m:nor/>
                        </m:rPr>
                        <a:rPr kumimoji="1" lang="el-GR" altLang="zh-CN" sz="1400" dirty="0">
                          <a:solidFill>
                            <a:prstClr val="black"/>
                          </a:solidFill>
                          <a:latin typeface="微软雅黑" panose="020B0503020204020204" pitchFamily="34" charset="-122"/>
                          <a:ea typeface="微软雅黑" panose="020B0503020204020204" pitchFamily="34" charset="-122"/>
                          <a:cs typeface="宋体" charset="0"/>
                        </a:rPr>
                        <m:t>λ</m:t>
                      </m:r>
                      <m:r>
                        <a:rPr kumimoji="1" lang="en-US" altLang="zh-CN" sz="1400" i="1">
                          <a:latin typeface="Cambria Math" panose="02040503050406030204" pitchFamily="18" charset="0"/>
                          <a:ea typeface="微软雅黑" panose="020B0503020204020204" pitchFamily="34" charset="-122"/>
                          <a:cs typeface="宋体" charset="0"/>
                        </a:rPr>
                        <m:t>) ,</m:t>
                      </m:r>
                      <m:r>
                        <a:rPr kumimoji="1" lang="en-US" altLang="zh-CN" sz="1400" i="1">
                          <a:latin typeface="Cambria Math" panose="02040503050406030204" pitchFamily="18" charset="0"/>
                          <a:ea typeface="微软雅黑" panose="020B0503020204020204" pitchFamily="34" charset="-122"/>
                          <a:cs typeface="宋体" charset="0"/>
                        </a:rPr>
                        <m:t>𝑚𝑎𝑥</m:t>
                      </m:r>
                      <m:r>
                        <a:rPr kumimoji="1" lang="en-US" altLang="zh-CN" sz="1400" i="1">
                          <a:latin typeface="Cambria Math" panose="02040503050406030204" pitchFamily="18" charset="0"/>
                          <a:ea typeface="微软雅黑" panose="020B0503020204020204" pitchFamily="34" charset="-122"/>
                          <a:cs typeface="宋体" charset="0"/>
                        </a:rPr>
                        <m:t>⁡_</m:t>
                      </m:r>
                      <m:r>
                        <a:rPr kumimoji="1" lang="en-US" altLang="zh-CN" sz="1400" i="1">
                          <a:latin typeface="Cambria Math" panose="02040503050406030204" pitchFamily="18" charset="0"/>
                          <a:ea typeface="微软雅黑" panose="020B0503020204020204" pitchFamily="34" charset="-122"/>
                          <a:cs typeface="宋体" charset="0"/>
                        </a:rPr>
                        <m:t>𝑠𝑒𝑔</m:t>
                      </m:r>
                      <m:r>
                        <a:rPr kumimoji="1" lang="en-US" altLang="zh-CN" sz="1400" i="1">
                          <a:latin typeface="Cambria Math" panose="02040503050406030204" pitchFamily="18" charset="0"/>
                          <a:ea typeface="微软雅黑" panose="020B0503020204020204" pitchFamily="34" charset="-122"/>
                          <a:cs typeface="宋体" charset="0"/>
                        </a:rPr>
                        <m:t>_</m:t>
                      </m:r>
                      <m:r>
                        <a:rPr kumimoji="1" lang="en-US" altLang="zh-CN" sz="1400" i="1">
                          <a:latin typeface="Cambria Math" panose="02040503050406030204" pitchFamily="18" charset="0"/>
                          <a:ea typeface="微软雅黑" panose="020B0503020204020204" pitchFamily="34" charset="-122"/>
                          <a:cs typeface="宋体" charset="0"/>
                        </a:rPr>
                        <m:t>𝑛𝑢𝑚</m:t>
                      </m:r>
                      <m:r>
                        <a:rPr kumimoji="1" lang="en-US" altLang="zh-CN" sz="1400" i="1">
                          <a:latin typeface="Cambria Math" panose="02040503050406030204" pitchFamily="18" charset="0"/>
                          <a:ea typeface="微软雅黑" panose="020B0503020204020204" pitchFamily="34" charset="-122"/>
                          <a:cs typeface="宋体" charset="0"/>
                        </a:rPr>
                        <m:t>)</m:t>
                      </m:r>
                    </m:oMath>
                  </m:oMathPara>
                </a14:m>
                <a:endParaRPr kumimoji="1" lang="en-US" altLang="zh-CN" sz="14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400" dirty="0">
                    <a:latin typeface="微软雅黑" panose="020B0503020204020204" pitchFamily="34" charset="-122"/>
                    <a:ea typeface="微软雅黑" panose="020B0503020204020204" pitchFamily="34" charset="-122"/>
                    <a:cs typeface="宋体" charset="0"/>
                  </a:rPr>
                  <a:t>上</a:t>
                </a:r>
                <a:r>
                  <a:rPr kumimoji="1" lang="zh-CN" altLang="en-US" sz="1400" dirty="0" smtClean="0">
                    <a:latin typeface="微软雅黑" panose="020B0503020204020204" pitchFamily="34" charset="-122"/>
                    <a:ea typeface="微软雅黑" panose="020B0503020204020204" pitchFamily="34" charset="-122"/>
                    <a:cs typeface="宋体" charset="0"/>
                  </a:rPr>
                  <a:t>式可以这样理解：当前段的最大统计量为</a:t>
                </a:r>
                <a:r>
                  <a:rPr kumimoji="1" lang="en-US" altLang="zh-CN" sz="1400" dirty="0" err="1" smtClean="0">
                    <a:latin typeface="微软雅黑" panose="020B0503020204020204" pitchFamily="34" charset="-122"/>
                    <a:ea typeface="微软雅黑" panose="020B0503020204020204" pitchFamily="34" charset="-122"/>
                    <a:cs typeface="宋体" charset="0"/>
                  </a:rPr>
                  <a:t>upper_bound</a:t>
                </a:r>
                <a:r>
                  <a:rPr kumimoji="1" lang="zh-CN" altLang="en-US" sz="1400" dirty="0" smtClean="0">
                    <a:latin typeface="微软雅黑" panose="020B0503020204020204" pitchFamily="34" charset="-122"/>
                    <a:ea typeface="微软雅黑" panose="020B0503020204020204" pitchFamily="34" charset="-122"/>
                    <a:cs typeface="宋体" charset="0"/>
                  </a:rPr>
                  <a:t>，经过</a:t>
                </a:r>
                <a:r>
                  <a:rPr kumimoji="1" lang="en-US" altLang="zh-CN" sz="1400" dirty="0" smtClean="0">
                    <a:latin typeface="微软雅黑" panose="020B0503020204020204" pitchFamily="34" charset="-122"/>
                    <a:ea typeface="微软雅黑" panose="020B0503020204020204" pitchFamily="34" charset="-122"/>
                    <a:cs typeface="宋体" charset="0"/>
                  </a:rPr>
                  <a:t>N</a:t>
                </a:r>
                <a:r>
                  <a:rPr kumimoji="1" lang="zh-CN" altLang="en-US" sz="1400" dirty="0" smtClean="0">
                    <a:latin typeface="微软雅黑" panose="020B0503020204020204" pitchFamily="34" charset="-122"/>
                    <a:ea typeface="微软雅黑" panose="020B0503020204020204" pitchFamily="34" charset="-122"/>
                    <a:cs typeface="宋体" charset="0"/>
                  </a:rPr>
                  <a:t>段的衰减后影响量小于</a:t>
                </a:r>
                <a:r>
                  <a:rPr kumimoji="1" lang="en-US" altLang="zh-CN" sz="1400" dirty="0" smtClean="0">
                    <a:latin typeface="微软雅黑" panose="020B0503020204020204" pitchFamily="34" charset="-122"/>
                    <a:ea typeface="微软雅黑" panose="020B0503020204020204" pitchFamily="34" charset="-122"/>
                    <a:cs typeface="宋体" charset="0"/>
                  </a:rPr>
                  <a:t>discard</a:t>
                </a:r>
                <a:r>
                  <a:rPr kumimoji="1" lang="zh-CN" altLang="en-US" sz="1400" dirty="0" smtClean="0">
                    <a:latin typeface="微软雅黑" panose="020B0503020204020204" pitchFamily="34" charset="-122"/>
                    <a:ea typeface="微软雅黑" panose="020B0503020204020204" pitchFamily="34" charset="-122"/>
                    <a:cs typeface="宋体" charset="0"/>
                  </a:rPr>
                  <a:t>。</a:t>
                </a:r>
                <a:r>
                  <a:rPr kumimoji="1" lang="en-US" altLang="zh-CN" sz="1400" dirty="0" err="1" smtClean="0">
                    <a:latin typeface="微软雅黑" panose="020B0503020204020204" pitchFamily="34" charset="-122"/>
                    <a:ea typeface="微软雅黑" panose="020B0503020204020204" pitchFamily="34" charset="-122"/>
                    <a:cs typeface="宋体" charset="0"/>
                  </a:rPr>
                  <a:t>Max_seg_num</a:t>
                </a:r>
                <a:r>
                  <a:rPr kumimoji="1" lang="zh-CN" altLang="en-US" sz="1400" dirty="0">
                    <a:latin typeface="微软雅黑" panose="020B0503020204020204" pitchFamily="34" charset="-122"/>
                    <a:ea typeface="微软雅黑" panose="020B0503020204020204" pitchFamily="34" charset="-122"/>
                    <a:cs typeface="宋体" charset="0"/>
                  </a:rPr>
                  <a:t>是一</a:t>
                </a:r>
                <a:r>
                  <a:rPr kumimoji="1" lang="zh-CN" altLang="en-US" sz="1400" dirty="0" smtClean="0">
                    <a:latin typeface="微软雅黑" panose="020B0503020204020204" pitchFamily="34" charset="-122"/>
                    <a:ea typeface="微软雅黑" panose="020B0503020204020204" pitchFamily="34" charset="-122"/>
                    <a:cs typeface="宋体" charset="0"/>
                  </a:rPr>
                  <a:t>个预设值，避免</a:t>
                </a:r>
                <a:r>
                  <a:rPr kumimoji="1" lang="en-US" altLang="zh-CN" sz="1400" dirty="0" smtClean="0">
                    <a:latin typeface="微软雅黑" panose="020B0503020204020204" pitchFamily="34" charset="-122"/>
                    <a:ea typeface="微软雅黑" panose="020B0503020204020204" pitchFamily="34" charset="-122"/>
                    <a:cs typeface="宋体" charset="0"/>
                  </a:rPr>
                  <a:t>N</a:t>
                </a:r>
                <a:r>
                  <a:rPr kumimoji="1" lang="zh-CN" altLang="en-US" sz="1400" dirty="0" smtClean="0">
                    <a:latin typeface="微软雅黑" panose="020B0503020204020204" pitchFamily="34" charset="-122"/>
                    <a:ea typeface="微软雅黑" panose="020B0503020204020204" pitchFamily="34" charset="-122"/>
                    <a:cs typeface="宋体" charset="0"/>
                  </a:rPr>
                  <a:t>过大。</a:t>
                </a:r>
                <a:endParaRPr kumimoji="1" lang="en-US" altLang="zh-CN" sz="1400" dirty="0" smtClean="0">
                  <a:latin typeface="微软雅黑" panose="020B0503020204020204" pitchFamily="34" charset="-122"/>
                  <a:ea typeface="微软雅黑" panose="020B0503020204020204" pitchFamily="34" charset="-122"/>
                  <a:cs typeface="宋体"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480104" y="1002754"/>
                <a:ext cx="7162641" cy="4048218"/>
              </a:xfrm>
              <a:blipFill rotWithShape="1">
                <a:blip r:embed="rId2"/>
                <a:stretch>
                  <a:fillRect l="-1" t="-2" r="7" b="4"/>
                </a:stretch>
              </a:blipFill>
            </p:spPr>
            <p:txBody>
              <a:bodyPr/>
              <a:lstStyle/>
              <a:p>
                <a:r>
                  <a:rPr lang="zh-CN" altLang="en-US">
                    <a:noFill/>
                  </a:rPr>
                  <a:t> </a:t>
                </a:r>
              </a:p>
            </p:txBody>
          </p:sp>
        </mc:Fallback>
      </mc:AlternateContent>
      <p:sp>
        <p:nvSpPr>
          <p:cNvPr id="2" name="矩形 1"/>
          <p:cNvSpPr/>
          <p:nvPr/>
        </p:nvSpPr>
        <p:spPr>
          <a:xfrm>
            <a:off x="8052179" y="1002754"/>
            <a:ext cx="95534" cy="416613"/>
          </a:xfrm>
          <a:prstGeom prst="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5" name="矩形 4"/>
          <p:cNvSpPr/>
          <p:nvPr/>
        </p:nvSpPr>
        <p:spPr>
          <a:xfrm>
            <a:off x="8052179" y="1605906"/>
            <a:ext cx="95534" cy="400315"/>
          </a:xfrm>
          <a:prstGeom prst="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6" name="矩形 5"/>
          <p:cNvSpPr/>
          <p:nvPr/>
        </p:nvSpPr>
        <p:spPr>
          <a:xfrm>
            <a:off x="8052179" y="2158621"/>
            <a:ext cx="95534" cy="400315"/>
          </a:xfrm>
          <a:prstGeom prst="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8004412" y="2702257"/>
            <a:ext cx="95534" cy="646331"/>
          </a:xfrm>
          <a:prstGeom prst="rect">
            <a:avLst/>
          </a:prstGeom>
          <a:noFill/>
        </p:spPr>
        <p:txBody>
          <a:bodyPr wrap="square" rtlCol="0">
            <a:spAutoFit/>
          </a:bodyPr>
          <a:lstStyle/>
          <a:p>
            <a:r>
              <a:rPr lang="zh-CN" altLang="en-US" sz="1200" dirty="0" smtClean="0"/>
              <a:t>。。。</a:t>
            </a:r>
            <a:endParaRPr lang="zh-CN" altLang="en-US" sz="1200" dirty="0"/>
          </a:p>
        </p:txBody>
      </p:sp>
      <p:sp>
        <p:nvSpPr>
          <p:cNvPr id="8" name="矩形 7"/>
          <p:cNvSpPr/>
          <p:nvPr/>
        </p:nvSpPr>
        <p:spPr>
          <a:xfrm>
            <a:off x="8052179" y="3491909"/>
            <a:ext cx="95534" cy="400315"/>
          </a:xfrm>
          <a:prstGeom prst="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8147713" y="1050035"/>
            <a:ext cx="900752" cy="307777"/>
          </a:xfrm>
          <a:prstGeom prst="rect">
            <a:avLst/>
          </a:prstGeom>
          <a:noFill/>
        </p:spPr>
        <p:txBody>
          <a:bodyPr wrap="square" rtlCol="0">
            <a:spAutoFit/>
          </a:bodyPr>
          <a:lstStyle/>
          <a:p>
            <a:r>
              <a:rPr lang="zh-CN" altLang="en-US" sz="1400" dirty="0" smtClean="0"/>
              <a:t>段</a:t>
            </a:r>
            <a:r>
              <a:rPr lang="en-US" altLang="zh-CN" sz="1400" dirty="0" smtClean="0"/>
              <a:t>1</a:t>
            </a:r>
            <a:endParaRPr lang="zh-CN" altLang="en-US" sz="1400" dirty="0"/>
          </a:p>
        </p:txBody>
      </p:sp>
      <p:sp>
        <p:nvSpPr>
          <p:cNvPr id="10" name="文本框 9"/>
          <p:cNvSpPr txBox="1"/>
          <p:nvPr/>
        </p:nvSpPr>
        <p:spPr>
          <a:xfrm>
            <a:off x="8147713" y="1665883"/>
            <a:ext cx="900752" cy="307777"/>
          </a:xfrm>
          <a:prstGeom prst="rect">
            <a:avLst/>
          </a:prstGeom>
          <a:noFill/>
        </p:spPr>
        <p:txBody>
          <a:bodyPr wrap="square" rtlCol="0">
            <a:spAutoFit/>
          </a:bodyPr>
          <a:lstStyle/>
          <a:p>
            <a:r>
              <a:rPr lang="zh-CN" altLang="en-US" sz="1400" dirty="0" smtClean="0"/>
              <a:t>段</a:t>
            </a:r>
            <a:r>
              <a:rPr lang="en-US" altLang="zh-CN" sz="1400" dirty="0"/>
              <a:t>2</a:t>
            </a:r>
            <a:endParaRPr lang="zh-CN" altLang="en-US" sz="1400" dirty="0"/>
          </a:p>
        </p:txBody>
      </p:sp>
      <p:sp>
        <p:nvSpPr>
          <p:cNvPr id="11" name="文本框 10"/>
          <p:cNvSpPr txBox="1"/>
          <p:nvPr/>
        </p:nvSpPr>
        <p:spPr>
          <a:xfrm>
            <a:off x="8147713" y="2198451"/>
            <a:ext cx="900752" cy="307777"/>
          </a:xfrm>
          <a:prstGeom prst="rect">
            <a:avLst/>
          </a:prstGeom>
          <a:noFill/>
        </p:spPr>
        <p:txBody>
          <a:bodyPr wrap="square" rtlCol="0">
            <a:spAutoFit/>
          </a:bodyPr>
          <a:lstStyle/>
          <a:p>
            <a:r>
              <a:rPr lang="zh-CN" altLang="en-US" sz="1400" dirty="0" smtClean="0"/>
              <a:t>段</a:t>
            </a:r>
            <a:r>
              <a:rPr lang="en-US" altLang="zh-CN" sz="1400" dirty="0" smtClean="0"/>
              <a:t>3</a:t>
            </a:r>
            <a:endParaRPr lang="zh-CN" altLang="en-US" sz="1400" dirty="0"/>
          </a:p>
        </p:txBody>
      </p:sp>
      <p:sp>
        <p:nvSpPr>
          <p:cNvPr id="12" name="文本框 11"/>
          <p:cNvSpPr txBox="1"/>
          <p:nvPr/>
        </p:nvSpPr>
        <p:spPr>
          <a:xfrm>
            <a:off x="8147713" y="3538177"/>
            <a:ext cx="900752" cy="307777"/>
          </a:xfrm>
          <a:prstGeom prst="rect">
            <a:avLst/>
          </a:prstGeom>
          <a:noFill/>
        </p:spPr>
        <p:txBody>
          <a:bodyPr wrap="square" rtlCol="0">
            <a:spAutoFit/>
          </a:bodyPr>
          <a:lstStyle/>
          <a:p>
            <a:r>
              <a:rPr lang="zh-CN" altLang="en-US" sz="1400" dirty="0" smtClean="0"/>
              <a:t>段</a:t>
            </a:r>
            <a:r>
              <a:rPr lang="en-US" altLang="zh-CN" sz="1400" dirty="0" smtClean="0"/>
              <a:t>M</a:t>
            </a:r>
            <a:endParaRPr lang="zh-CN" altLang="en-US" sz="1400"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776996"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自动黑名单段上限策略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4702447" cy="3913804"/>
          </a:xfrm>
        </p:spPr>
        <p:txBody>
          <a:bodyPr>
            <a:noAutofit/>
          </a:bodyPr>
          <a:lstStyle/>
          <a:p>
            <a:pPr marL="0" indent="0">
              <a:spcAft>
                <a:spcPts val="600"/>
              </a:spcAft>
              <a:buSzPct val="120000"/>
              <a:buNone/>
            </a:pPr>
            <a:r>
              <a:rPr kumimoji="1" lang="en-US" altLang="zh-CN" sz="1800" dirty="0" smtClean="0">
                <a:latin typeface="微软雅黑" panose="020B0503020204020204" pitchFamily="34" charset="-122"/>
                <a:ea typeface="微软雅黑" panose="020B0503020204020204" pitchFamily="34" charset="-122"/>
                <a:cs typeface="宋体" charset="0"/>
              </a:rPr>
              <a:t>603101</a:t>
            </a:r>
            <a:r>
              <a:rPr kumimoji="1" lang="zh-CN" altLang="en-US" sz="1800" dirty="0" smtClean="0">
                <a:latin typeface="微软雅黑" panose="020B0503020204020204" pitchFamily="34" charset="-122"/>
                <a:ea typeface="微软雅黑" panose="020B0503020204020204" pitchFamily="34" charset="-122"/>
                <a:cs typeface="宋体" charset="0"/>
              </a:rPr>
              <a:t>策略</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参数说明</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400" dirty="0">
                <a:latin typeface="微软雅黑" panose="020B0503020204020204" pitchFamily="34" charset="-122"/>
                <a:ea typeface="微软雅黑" panose="020B0503020204020204" pitchFamily="34" charset="-122"/>
                <a:cs typeface="宋体" charset="0"/>
              </a:rPr>
              <a:t>c</a:t>
            </a:r>
            <a:r>
              <a:rPr kumimoji="1" lang="en-US" altLang="zh-CN" sz="1400" dirty="0" smtClean="0">
                <a:latin typeface="微软雅黑" panose="020B0503020204020204" pitchFamily="34" charset="-122"/>
                <a:ea typeface="微软雅黑" panose="020B0503020204020204" pitchFamily="34" charset="-122"/>
                <a:cs typeface="宋体" charset="0"/>
              </a:rPr>
              <a:t>are</a:t>
            </a:r>
            <a:r>
              <a:rPr kumimoji="1" lang="zh-CN" altLang="en-US" sz="1400" dirty="0" smtClean="0">
                <a:latin typeface="微软雅黑" panose="020B0503020204020204" pitchFamily="34" charset="-122"/>
                <a:ea typeface="微软雅黑" panose="020B0503020204020204" pitchFamily="34" charset="-122"/>
                <a:cs typeface="宋体" charset="0"/>
              </a:rPr>
              <a:t>参数表达式的意思是：</a:t>
            </a:r>
            <a:r>
              <a:rPr kumimoji="1" lang="en-US" altLang="zh-CN" sz="1400" dirty="0" smtClean="0">
                <a:latin typeface="微软雅黑" panose="020B0503020204020204" pitchFamily="34" charset="-122"/>
                <a:ea typeface="微软雅黑" panose="020B0503020204020204" pitchFamily="34" charset="-122"/>
                <a:cs typeface="宋体" charset="0"/>
              </a:rPr>
              <a:t>pc</a:t>
            </a:r>
            <a:r>
              <a:rPr kumimoji="1" lang="zh-CN" altLang="en-US" sz="1400" dirty="0" smtClean="0">
                <a:latin typeface="微软雅黑" panose="020B0503020204020204" pitchFamily="34" charset="-122"/>
                <a:ea typeface="微软雅黑" panose="020B0503020204020204" pitchFamily="34" charset="-122"/>
                <a:cs typeface="宋体" charset="0"/>
              </a:rPr>
              <a:t>端凤巢广告，且</a:t>
            </a:r>
            <a:r>
              <a:rPr kumimoji="1" lang="en-US" altLang="zh-CN" sz="1400" dirty="0" err="1" smtClean="0">
                <a:latin typeface="微软雅黑" panose="020B0503020204020204" pitchFamily="34" charset="-122"/>
                <a:ea typeface="微软雅黑" panose="020B0503020204020204" pitchFamily="34" charset="-122"/>
                <a:cs typeface="宋体" charset="0"/>
              </a:rPr>
              <a:t>baiduid</a:t>
            </a:r>
            <a:r>
              <a:rPr kumimoji="1" lang="zh-CN" altLang="en-US" sz="1400" dirty="0" smtClean="0">
                <a:latin typeface="微软雅黑" panose="020B0503020204020204" pitchFamily="34" charset="-122"/>
                <a:ea typeface="微软雅黑" panose="020B0503020204020204" pitchFamily="34" charset="-122"/>
                <a:cs typeface="宋体" charset="0"/>
              </a:rPr>
              <a:t>有效。</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满足处理空间的情况下，每</a:t>
            </a:r>
            <a:r>
              <a:rPr kumimoji="1" lang="en-US" altLang="zh-CN" sz="1400" dirty="0" smtClean="0">
                <a:latin typeface="微软雅黑" panose="020B0503020204020204" pitchFamily="34" charset="-122"/>
                <a:ea typeface="微软雅黑" panose="020B0503020204020204" pitchFamily="34" charset="-122"/>
                <a:cs typeface="宋体" charset="0"/>
              </a:rPr>
              <a:t>40</a:t>
            </a:r>
            <a:r>
              <a:rPr kumimoji="1" lang="zh-CN" altLang="en-US" sz="1400" dirty="0" smtClean="0">
                <a:latin typeface="微软雅黑" panose="020B0503020204020204" pitchFamily="34" charset="-122"/>
                <a:ea typeface="微软雅黑" panose="020B0503020204020204" pitchFamily="34" charset="-122"/>
                <a:cs typeface="宋体" charset="0"/>
              </a:rPr>
              <a:t>万条日志的</a:t>
            </a:r>
            <a:r>
              <a:rPr kumimoji="1" lang="en-US" altLang="zh-CN" sz="1400" dirty="0" err="1" smtClean="0">
                <a:latin typeface="微软雅黑" panose="020B0503020204020204" pitchFamily="34" charset="-122"/>
                <a:ea typeface="微软雅黑" panose="020B0503020204020204" pitchFamily="34" charset="-122"/>
                <a:cs typeface="宋体" charset="0"/>
              </a:rPr>
              <a:t>baiduid</a:t>
            </a:r>
            <a:r>
              <a:rPr kumimoji="1" lang="zh-CN" altLang="en-US" sz="1400" dirty="0" smtClean="0">
                <a:latin typeface="微软雅黑" panose="020B0503020204020204" pitchFamily="34" charset="-122"/>
                <a:ea typeface="微软雅黑" panose="020B0503020204020204" pitchFamily="34" charset="-122"/>
                <a:cs typeface="宋体" charset="0"/>
              </a:rPr>
              <a:t>统计量不超过</a:t>
            </a:r>
            <a:r>
              <a:rPr kumimoji="1" lang="en-US" altLang="zh-CN" sz="1400" dirty="0" smtClean="0">
                <a:latin typeface="微软雅黑" panose="020B0503020204020204" pitchFamily="34" charset="-122"/>
                <a:ea typeface="微软雅黑" panose="020B0503020204020204" pitchFamily="34" charset="-122"/>
                <a:cs typeface="宋体" charset="0"/>
              </a:rPr>
              <a:t>57</a:t>
            </a:r>
            <a:r>
              <a:rPr kumimoji="1" lang="zh-CN" altLang="en-US" sz="1400" dirty="0" smtClean="0">
                <a:latin typeface="微软雅黑" panose="020B0503020204020204" pitchFamily="34" charset="-122"/>
                <a:ea typeface="微软雅黑" panose="020B0503020204020204" pitchFamily="34" charset="-122"/>
                <a:cs typeface="宋体" charset="0"/>
              </a:rPr>
              <a:t>，否则段尾日志将被策略命中。</a:t>
            </a:r>
            <a:endParaRPr kumimoji="1" lang="en-US" altLang="zh-CN" sz="1400" dirty="0">
              <a:latin typeface="微软雅黑" panose="020B0503020204020204" pitchFamily="34" charset="-122"/>
              <a:ea typeface="微软雅黑" panose="020B0503020204020204" pitchFamily="34" charset="-122"/>
              <a:cs typeface="宋体" charset="0"/>
            </a:endParaRPr>
          </a:p>
        </p:txBody>
      </p:sp>
      <p:sp>
        <p:nvSpPr>
          <p:cNvPr id="6" name="矩形 5"/>
          <p:cNvSpPr/>
          <p:nvPr/>
        </p:nvSpPr>
        <p:spPr>
          <a:xfrm>
            <a:off x="6922345" y="1082219"/>
            <a:ext cx="2061539" cy="3539430"/>
          </a:xfrm>
          <a:prstGeom prst="rect">
            <a:avLst/>
          </a:prstGeom>
          <a:solidFill>
            <a:schemeClr val="tx1">
              <a:lumMod val="95000"/>
              <a:lumOff val="5000"/>
            </a:schemeClr>
          </a:solidFill>
        </p:spPr>
        <p:txBody>
          <a:bodyPr wrap="square">
            <a:spAutoFit/>
          </a:bodyPr>
          <a:lstStyle/>
          <a:p>
            <a:r>
              <a:rPr lang="en-US" altLang="zh-CN" sz="1400" dirty="0">
                <a:solidFill>
                  <a:srgbClr val="33CC33"/>
                </a:solidFill>
                <a:latin typeface="Times New Roman" panose="02020603050405020304" charset="0"/>
                <a:cs typeface="Times New Roman" panose="02020603050405020304" charset="0"/>
              </a:rPr>
              <a:t>[@feature]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 603101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feature_type</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auto_segment</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view_level</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click_level</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care         : [#</a:t>
            </a:r>
            <a:r>
              <a:rPr lang="en-US" altLang="zh-CN" sz="1400" dirty="0" err="1">
                <a:solidFill>
                  <a:srgbClr val="33CC33"/>
                </a:solidFill>
                <a:latin typeface="Times New Roman" panose="02020603050405020304" charset="0"/>
                <a:cs typeface="Times New Roman" panose="02020603050405020304" charset="0"/>
              </a:rPr>
              <a:t>SearchClick</a:t>
            </a:r>
            <a:r>
              <a:rPr lang="en-US" altLang="zh-CN" sz="1400" dirty="0">
                <a:solidFill>
                  <a:srgbClr val="33CC33"/>
                </a:solidFill>
                <a:latin typeface="Times New Roman" panose="02020603050405020304" charset="0"/>
                <a:cs typeface="Times New Roman" panose="02020603050405020304" charset="0"/>
              </a:rPr>
              <a:t>][#PC][#</a:t>
            </a:r>
            <a:r>
              <a:rPr lang="en-US" altLang="zh-CN" sz="1400" dirty="0" err="1">
                <a:solidFill>
                  <a:srgbClr val="33CC33"/>
                </a:solidFill>
                <a:latin typeface="Times New Roman" panose="02020603050405020304" charset="0"/>
                <a:cs typeface="Times New Roman" panose="02020603050405020304" charset="0"/>
              </a:rPr>
              <a:t>ValidBaiduid</a:t>
            </a:r>
            <a:r>
              <a:rPr lang="en-US" altLang="zh-CN" sz="1400" dirty="0">
                <a:solidFill>
                  <a:srgbClr val="33CC33"/>
                </a:solidFill>
                <a:latin typeface="Times New Roman" panose="02020603050405020304" charset="0"/>
                <a:cs typeface="Times New Roman" panose="02020603050405020304" charset="0"/>
              </a:rPr>
              <a:t>]</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view         : </a:t>
            </a:r>
            <a:r>
              <a:rPr lang="en-US" altLang="zh-CN" sz="1400" dirty="0" err="1">
                <a:solidFill>
                  <a:srgbClr val="33CC33"/>
                </a:solidFill>
                <a:latin typeface="Times New Roman" panose="02020603050405020304" charset="0"/>
                <a:cs typeface="Times New Roman" panose="02020603050405020304" charset="0"/>
              </a:rPr>
              <a:t>baiduid</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version      : 2</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window_type</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pv</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window_length</a:t>
            </a:r>
            <a:r>
              <a:rPr lang="en-US" altLang="zh-CN" sz="1400" dirty="0">
                <a:solidFill>
                  <a:srgbClr val="33CC33"/>
                </a:solidFill>
                <a:latin typeface="Times New Roman" panose="02020603050405020304" charset="0"/>
                <a:cs typeface="Times New Roman" panose="02020603050405020304" charset="0"/>
              </a:rPr>
              <a:t>: 400000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upper_bound</a:t>
            </a:r>
            <a:r>
              <a:rPr lang="en-US" altLang="zh-CN" sz="1400" dirty="0">
                <a:solidFill>
                  <a:srgbClr val="33CC33"/>
                </a:solidFill>
                <a:latin typeface="Times New Roman" panose="02020603050405020304" charset="0"/>
                <a:cs typeface="Times New Roman" panose="02020603050405020304" charset="0"/>
              </a:rPr>
              <a:t>  : 92</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discard      : 4</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lamda</a:t>
            </a:r>
            <a:r>
              <a:rPr lang="en-US" altLang="zh-CN" sz="1400" dirty="0">
                <a:solidFill>
                  <a:srgbClr val="33CC33"/>
                </a:solidFill>
                <a:latin typeface="Times New Roman" panose="02020603050405020304" charset="0"/>
                <a:cs typeface="Times New Roman" panose="02020603050405020304" charset="0"/>
              </a:rPr>
              <a:t>        : 0.99</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max_seg_num</a:t>
            </a:r>
            <a:r>
              <a:rPr lang="en-US" altLang="zh-CN" sz="1400" dirty="0">
                <a:solidFill>
                  <a:srgbClr val="33CC33"/>
                </a:solidFill>
                <a:latin typeface="Times New Roman" panose="02020603050405020304" charset="0"/>
                <a:cs typeface="Times New Roman" panose="02020603050405020304" charset="0"/>
              </a:rPr>
              <a:t>  : 100</a:t>
            </a:r>
            <a:endParaRPr lang="en-US" altLang="zh-CN" sz="1400" dirty="0" smtClean="0">
              <a:solidFill>
                <a:srgbClr val="33CC33"/>
              </a:solidFill>
              <a:latin typeface="Times New Roman" panose="02020603050405020304" charset="0"/>
              <a:cs typeface="Times New Roman" panose="02020603050405020304" charset="0"/>
            </a:endParaRPr>
          </a:p>
        </p:txBody>
      </p:sp>
      <p:sp>
        <p:nvSpPr>
          <p:cNvPr id="8" name="文本框 7"/>
          <p:cNvSpPr txBox="1"/>
          <p:nvPr/>
        </p:nvSpPr>
        <p:spPr>
          <a:xfrm>
            <a:off x="5735256" y="787453"/>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603101</a:t>
            </a:r>
            <a:r>
              <a:rPr lang="zh-CN" altLang="en-US" sz="1200" dirty="0" smtClean="0">
                <a:latin typeface="微软雅黑" panose="020B0503020204020204" pitchFamily="34" charset="-122"/>
                <a:ea typeface="微软雅黑" panose="020B0503020204020204" pitchFamily="34" charset="-122"/>
              </a:rPr>
              <a:t>策略配置文件</a:t>
            </a:r>
            <a:endParaRPr lang="zh-CN" altLang="en-US" sz="1200" dirty="0">
              <a:latin typeface="微软雅黑" panose="020B0503020204020204" pitchFamily="34" charset="-122"/>
              <a:ea typeface="微软雅黑" panose="020B0503020204020204" pitchFamily="34" charset="-122"/>
            </a:endParaRPr>
          </a:p>
        </p:txBody>
      </p:sp>
      <p:sp>
        <p:nvSpPr>
          <p:cNvPr id="11" name="矩形 10"/>
          <p:cNvSpPr/>
          <p:nvPr/>
        </p:nvSpPr>
        <p:spPr>
          <a:xfrm>
            <a:off x="5182552" y="1082219"/>
            <a:ext cx="1739793" cy="2031325"/>
          </a:xfrm>
          <a:prstGeom prst="rect">
            <a:avLst/>
          </a:prstGeom>
          <a:solidFill>
            <a:schemeClr val="tx1">
              <a:lumMod val="95000"/>
              <a:lumOff val="5000"/>
            </a:schemeClr>
          </a:solidFill>
        </p:spPr>
        <p:txBody>
          <a:bodyPr wrap="square">
            <a:spAutoFit/>
          </a:bodyPr>
          <a:lstStyle/>
          <a:p>
            <a:r>
              <a:rPr lang="en-US" altLang="zh-CN" sz="1400" dirty="0">
                <a:solidFill>
                  <a:srgbClr val="33CC33"/>
                </a:solidFill>
                <a:latin typeface="Times New Roman" panose="02020603050405020304" charset="0"/>
                <a:cs typeface="Times New Roman" panose="02020603050405020304" charset="0"/>
              </a:rPr>
              <a:t>[@policy]</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policy_id</a:t>
            </a:r>
            <a:r>
              <a:rPr lang="en-US" altLang="zh-CN" sz="1400" dirty="0">
                <a:solidFill>
                  <a:srgbClr val="33CC33"/>
                </a:solidFill>
                <a:latin typeface="Times New Roman" panose="02020603050405020304" charset="0"/>
                <a:cs typeface="Times New Roman" panose="02020603050405020304" charset="0"/>
              </a:rPr>
              <a:t>   : 603101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policy_type</a:t>
            </a:r>
            <a:r>
              <a:rPr lang="en-US" altLang="zh-CN" sz="1400" dirty="0">
                <a:solidFill>
                  <a:srgbClr val="33CC33"/>
                </a:solidFill>
                <a:latin typeface="Times New Roman" panose="02020603050405020304" charset="0"/>
                <a:cs typeface="Times New Roman" panose="02020603050405020304" charset="0"/>
              </a:rPr>
              <a:t> : </a:t>
            </a:r>
            <a:r>
              <a:rPr lang="en-US" altLang="zh-CN" sz="1400" dirty="0" smtClean="0">
                <a:solidFill>
                  <a:srgbClr val="33CC33"/>
                </a:solidFill>
                <a:latin typeface="Times New Roman" panose="02020603050405020304" charset="0"/>
                <a:cs typeface="Times New Roman" panose="02020603050405020304" charset="0"/>
              </a:rPr>
              <a:t>rule</a:t>
            </a:r>
            <a:endParaRPr lang="en-US" altLang="zh-CN" sz="1400" dirty="0" smtClean="0">
              <a:solidFill>
                <a:srgbClr val="33CC33"/>
              </a:solidFill>
              <a:latin typeface="Times New Roman" panose="02020603050405020304" charset="0"/>
              <a:cs typeface="Times New Roman" panose="02020603050405020304" charset="0"/>
            </a:endParaRPr>
          </a:p>
          <a:p>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[.@rule]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 603101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rule_type</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auto_segment</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threshold   : 57</a:t>
            </a:r>
            <a:endParaRPr lang="en-US" altLang="zh-CN" sz="1400" dirty="0" smtClean="0">
              <a:solidFill>
                <a:srgbClr val="33CC33"/>
              </a:solidFill>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段比例策略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8072224" cy="3913804"/>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简介</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一段时间或者</a:t>
            </a:r>
            <a:r>
              <a:rPr kumimoji="1" lang="en-US" altLang="zh-CN" sz="1600" dirty="0" err="1">
                <a:latin typeface="微软雅黑" panose="020B0503020204020204" pitchFamily="34" charset="-122"/>
                <a:ea typeface="微软雅黑" panose="020B0503020204020204" pitchFamily="34" charset="-122"/>
                <a:cs typeface="宋体" charset="0"/>
              </a:rPr>
              <a:t>pv</a:t>
            </a:r>
            <a:r>
              <a:rPr kumimoji="1" lang="zh-CN" altLang="en-US" sz="1600" dirty="0">
                <a:latin typeface="微软雅黑" panose="020B0503020204020204" pitchFamily="34" charset="-122"/>
                <a:ea typeface="微软雅黑" panose="020B0503020204020204" pitchFamily="34" charset="-122"/>
                <a:cs typeface="宋体" charset="0"/>
              </a:rPr>
              <a:t>段内</a:t>
            </a:r>
            <a:r>
              <a:rPr kumimoji="1" lang="zh-CN" altLang="en-US" sz="1600" dirty="0" smtClean="0">
                <a:latin typeface="微软雅黑" panose="020B0503020204020204" pitchFamily="34" charset="-122"/>
                <a:ea typeface="微软雅黑" panose="020B0503020204020204" pitchFamily="34" charset="-122"/>
                <a:cs typeface="宋体" charset="0"/>
              </a:rPr>
              <a:t>，计算某个</a:t>
            </a:r>
            <a:r>
              <a:rPr kumimoji="1" lang="en-US" altLang="zh-CN" sz="1600" dirty="0" smtClean="0">
                <a:latin typeface="微软雅黑" panose="020B0503020204020204" pitchFamily="34" charset="-122"/>
                <a:ea typeface="微软雅黑" panose="020B0503020204020204" pitchFamily="34" charset="-122"/>
                <a:cs typeface="宋体" charset="0"/>
              </a:rPr>
              <a:t>segment</a:t>
            </a:r>
            <a:r>
              <a:rPr kumimoji="1" lang="zh-CN" altLang="en-US" sz="1600" dirty="0" smtClean="0">
                <a:latin typeface="微软雅黑" panose="020B0503020204020204" pitchFamily="34" charset="-122"/>
                <a:ea typeface="微软雅黑" panose="020B0503020204020204" pitchFamily="34" charset="-122"/>
                <a:cs typeface="宋体" charset="0"/>
              </a:rPr>
              <a:t>特征与和另一个</a:t>
            </a:r>
            <a:r>
              <a:rPr kumimoji="1" lang="en-US" altLang="zh-CN" sz="1600" dirty="0" smtClean="0">
                <a:latin typeface="微软雅黑" panose="020B0503020204020204" pitchFamily="34" charset="-122"/>
                <a:ea typeface="微软雅黑" panose="020B0503020204020204" pitchFamily="34" charset="-122"/>
                <a:cs typeface="宋体" charset="0"/>
              </a:rPr>
              <a:t>segment</a:t>
            </a:r>
            <a:r>
              <a:rPr kumimoji="1" lang="zh-CN" altLang="en-US" sz="1600" dirty="0" smtClean="0">
                <a:latin typeface="微软雅黑" panose="020B0503020204020204" pitchFamily="34" charset="-122"/>
                <a:ea typeface="微软雅黑" panose="020B0503020204020204" pitchFamily="34" charset="-122"/>
                <a:cs typeface="宋体" charset="0"/>
              </a:rPr>
              <a:t>特征的比值，如果超过阈值，则超过</a:t>
            </a:r>
            <a:r>
              <a:rPr kumimoji="1" lang="zh-CN" altLang="en-US" sz="1600" dirty="0">
                <a:latin typeface="微软雅黑" panose="020B0503020204020204" pitchFamily="34" charset="-122"/>
                <a:ea typeface="微软雅黑" panose="020B0503020204020204" pitchFamily="34" charset="-122"/>
                <a:cs typeface="宋体" charset="0"/>
              </a:rPr>
              <a:t>阈值的</a:t>
            </a:r>
            <a:r>
              <a:rPr kumimoji="1" lang="zh-CN" altLang="en-US" sz="1600" dirty="0" smtClean="0">
                <a:latin typeface="微软雅黑" panose="020B0503020204020204" pitchFamily="34" charset="-122"/>
                <a:ea typeface="微软雅黑" panose="020B0503020204020204" pitchFamily="34" charset="-122"/>
                <a:cs typeface="宋体" charset="0"/>
              </a:rPr>
              <a:t>部分</a:t>
            </a:r>
            <a:r>
              <a:rPr kumimoji="1" lang="zh-CN" altLang="en-US" sz="1600" dirty="0">
                <a:latin typeface="微软雅黑" panose="020B0503020204020204" pitchFamily="34" charset="-122"/>
                <a:ea typeface="微软雅黑" panose="020B0503020204020204" pitchFamily="34" charset="-122"/>
                <a:cs typeface="宋体" charset="0"/>
              </a:rPr>
              <a:t>将</a:t>
            </a:r>
            <a:r>
              <a:rPr kumimoji="1" lang="zh-CN" altLang="en-US" sz="1600" dirty="0" smtClean="0">
                <a:latin typeface="微软雅黑" panose="020B0503020204020204" pitchFamily="34" charset="-122"/>
                <a:ea typeface="微软雅黑" panose="020B0503020204020204" pitchFamily="34" charset="-122"/>
                <a:cs typeface="宋体" charset="0"/>
              </a:rPr>
              <a:t>被策略命中。</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可用特征</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比例特征</a:t>
            </a:r>
            <a:r>
              <a:rPr kumimoji="1" lang="en-US" altLang="zh-CN" sz="1600" dirty="0" smtClean="0">
                <a:latin typeface="微软雅黑" panose="020B0503020204020204" pitchFamily="34" charset="-122"/>
                <a:ea typeface="微软雅黑" panose="020B0503020204020204" pitchFamily="34" charset="-122"/>
                <a:cs typeface="宋体" charset="0"/>
              </a:rPr>
              <a:t>(ratio)</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优缺点</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相比段上限策略</a:t>
            </a:r>
            <a:r>
              <a:rPr kumimoji="1" lang="zh-CN" altLang="en-US" sz="1600" dirty="0" smtClean="0">
                <a:latin typeface="微软雅黑" panose="020B0503020204020204" pitchFamily="34" charset="-122"/>
                <a:ea typeface="微软雅黑" panose="020B0503020204020204" pitchFamily="34" charset="-122"/>
                <a:cs typeface="宋体" charset="0"/>
              </a:rPr>
              <a:t>，段比例策略使用比例作为特征值，避免了段上限阈值的单一带来的问题。</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与段上限策略具有相同的问题。</a:t>
            </a:r>
            <a:endParaRPr kumimoji="1" lang="zh-CN" altLang="en-US" sz="1600" dirty="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段比例策略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3996361" cy="3913804"/>
          </a:xfrm>
        </p:spPr>
        <p:txBody>
          <a:bodyPr>
            <a:noAutofit/>
          </a:bodyPr>
          <a:lstStyle/>
          <a:p>
            <a:pPr marL="0" indent="0">
              <a:spcAft>
                <a:spcPts val="600"/>
              </a:spcAft>
              <a:buSzPct val="120000"/>
              <a:buNone/>
            </a:pPr>
            <a:r>
              <a:rPr kumimoji="1" lang="en-US" altLang="zh-CN" sz="1800" dirty="0" smtClean="0">
                <a:latin typeface="微软雅黑" panose="020B0503020204020204" pitchFamily="34" charset="-122"/>
                <a:ea typeface="微软雅黑" panose="020B0503020204020204" pitchFamily="34" charset="-122"/>
                <a:cs typeface="宋体" charset="0"/>
              </a:rPr>
              <a:t>4739301</a:t>
            </a:r>
            <a:r>
              <a:rPr kumimoji="1" lang="zh-CN" altLang="en-US" sz="1800" dirty="0" smtClean="0">
                <a:latin typeface="微软雅黑" panose="020B0503020204020204" pitchFamily="34" charset="-122"/>
                <a:ea typeface="微软雅黑" panose="020B0503020204020204" pitchFamily="34" charset="-122"/>
                <a:cs typeface="宋体" charset="0"/>
              </a:rPr>
              <a:t>策略</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策略背景</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在一段日志中，如果</a:t>
            </a:r>
            <a:r>
              <a:rPr kumimoji="1" lang="en-US" altLang="zh-CN" sz="1400" dirty="0" err="1" smtClean="0">
                <a:latin typeface="微软雅黑" panose="020B0503020204020204" pitchFamily="34" charset="-122"/>
                <a:ea typeface="微软雅黑" panose="020B0503020204020204" pitchFamily="34" charset="-122"/>
                <a:cs typeface="宋体" charset="0"/>
              </a:rPr>
              <a:t>baiduid</a:t>
            </a:r>
            <a:r>
              <a:rPr kumimoji="1" lang="zh-CN" altLang="en-US" sz="1400" dirty="0" smtClean="0">
                <a:latin typeface="微软雅黑" panose="020B0503020204020204" pitchFamily="34" charset="-122"/>
                <a:ea typeface="微软雅黑" panose="020B0503020204020204" pitchFamily="34" charset="-122"/>
                <a:cs typeface="宋体" charset="0"/>
              </a:rPr>
              <a:t>新鲜度比较小的日志占多数，说明很有很能发生作弊，需要过滤。</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参数说明</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400" dirty="0">
                <a:latin typeface="微软雅黑" panose="020B0503020204020204" pitchFamily="34" charset="-122"/>
                <a:ea typeface="微软雅黑" panose="020B0503020204020204" pitchFamily="34" charset="-122"/>
                <a:cs typeface="宋体" charset="0"/>
              </a:rPr>
              <a:t>c</a:t>
            </a:r>
            <a:r>
              <a:rPr kumimoji="1" lang="en-US" altLang="zh-CN" sz="1400" dirty="0" smtClean="0">
                <a:latin typeface="微软雅黑" panose="020B0503020204020204" pitchFamily="34" charset="-122"/>
                <a:ea typeface="微软雅黑" panose="020B0503020204020204" pitchFamily="34" charset="-122"/>
                <a:cs typeface="宋体" charset="0"/>
              </a:rPr>
              <a:t>are</a:t>
            </a:r>
            <a:r>
              <a:rPr kumimoji="1" lang="zh-CN" altLang="en-US" sz="1400" dirty="0" smtClean="0">
                <a:latin typeface="微软雅黑" panose="020B0503020204020204" pitchFamily="34" charset="-122"/>
                <a:ea typeface="微软雅黑" panose="020B0503020204020204" pitchFamily="34" charset="-122"/>
                <a:cs typeface="宋体" charset="0"/>
              </a:rPr>
              <a:t>参数表达式：</a:t>
            </a:r>
            <a:r>
              <a:rPr kumimoji="1" lang="en-US" altLang="zh-CN" sz="1400" dirty="0" smtClean="0">
                <a:latin typeface="微软雅黑" panose="020B0503020204020204" pitchFamily="34" charset="-122"/>
                <a:ea typeface="微软雅黑" panose="020B0503020204020204" pitchFamily="34" charset="-122"/>
                <a:cs typeface="宋体" charset="0"/>
              </a:rPr>
              <a:t>pc</a:t>
            </a:r>
            <a:r>
              <a:rPr kumimoji="1" lang="zh-CN" altLang="en-US" sz="1400" dirty="0" smtClean="0">
                <a:latin typeface="微软雅黑" panose="020B0503020204020204" pitchFamily="34" charset="-122"/>
                <a:ea typeface="微软雅黑" panose="020B0503020204020204" pitchFamily="34" charset="-122"/>
                <a:cs typeface="宋体" charset="0"/>
              </a:rPr>
              <a:t>阿拉丁流量。</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满足处理空间的情况下，每</a:t>
            </a:r>
            <a:r>
              <a:rPr kumimoji="1" lang="en-US" altLang="zh-CN" sz="1400" dirty="0" smtClean="0">
                <a:latin typeface="微软雅黑" panose="020B0503020204020204" pitchFamily="34" charset="-122"/>
                <a:ea typeface="微软雅黑" panose="020B0503020204020204" pitchFamily="34" charset="-122"/>
                <a:cs typeface="宋体" charset="0"/>
              </a:rPr>
              <a:t>4</a:t>
            </a:r>
            <a:r>
              <a:rPr kumimoji="1" lang="zh-CN" altLang="en-US" sz="1400" dirty="0" smtClean="0">
                <a:latin typeface="微软雅黑" panose="020B0503020204020204" pitchFamily="34" charset="-122"/>
                <a:ea typeface="微软雅黑" panose="020B0503020204020204" pitchFamily="34" charset="-122"/>
                <a:cs typeface="宋体" charset="0"/>
              </a:rPr>
              <a:t>小时的日志中，</a:t>
            </a:r>
            <a:r>
              <a:rPr kumimoji="1" lang="en-US" altLang="zh-CN" sz="1400" dirty="0" err="1" smtClean="0">
                <a:latin typeface="微软雅黑" panose="020B0503020204020204" pitchFamily="34" charset="-122"/>
                <a:ea typeface="微软雅黑" panose="020B0503020204020204" pitchFamily="34" charset="-122"/>
                <a:cs typeface="宋体" charset="0"/>
              </a:rPr>
              <a:t>baiduid</a:t>
            </a:r>
            <a:r>
              <a:rPr kumimoji="1" lang="zh-CN" altLang="en-US" sz="1400" dirty="0" smtClean="0">
                <a:latin typeface="微软雅黑" panose="020B0503020204020204" pitchFamily="34" charset="-122"/>
                <a:ea typeface="微软雅黑" panose="020B0503020204020204" pitchFamily="34" charset="-122"/>
                <a:cs typeface="宋体" charset="0"/>
              </a:rPr>
              <a:t>新鲜度小于</a:t>
            </a:r>
            <a:r>
              <a:rPr kumimoji="1" lang="en-US" altLang="zh-CN" sz="1400" dirty="0" smtClean="0">
                <a:latin typeface="微软雅黑" panose="020B0503020204020204" pitchFamily="34" charset="-122"/>
                <a:ea typeface="微软雅黑" panose="020B0503020204020204" pitchFamily="34" charset="-122"/>
                <a:cs typeface="宋体" charset="0"/>
              </a:rPr>
              <a:t>60</a:t>
            </a:r>
            <a:r>
              <a:rPr kumimoji="1" lang="zh-CN" altLang="en-US" sz="1400" dirty="0" smtClean="0">
                <a:latin typeface="微软雅黑" panose="020B0503020204020204" pitchFamily="34" charset="-122"/>
                <a:ea typeface="微软雅黑" panose="020B0503020204020204" pitchFamily="34" charset="-122"/>
                <a:cs typeface="宋体" charset="0"/>
              </a:rPr>
              <a:t>的日志占总体比例超过</a:t>
            </a:r>
            <a:r>
              <a:rPr kumimoji="1" lang="en-US" altLang="zh-CN" sz="1400" dirty="0" smtClean="0">
                <a:latin typeface="微软雅黑" panose="020B0503020204020204" pitchFamily="34" charset="-122"/>
                <a:ea typeface="微软雅黑" panose="020B0503020204020204" pitchFamily="34" charset="-122"/>
                <a:cs typeface="宋体" charset="0"/>
              </a:rPr>
              <a:t>0.3</a:t>
            </a:r>
            <a:r>
              <a:rPr kumimoji="1" lang="zh-CN" altLang="en-US" sz="1400" dirty="0" smtClean="0">
                <a:latin typeface="微软雅黑" panose="020B0503020204020204" pitchFamily="34" charset="-122"/>
                <a:ea typeface="微软雅黑" panose="020B0503020204020204" pitchFamily="34" charset="-122"/>
                <a:cs typeface="宋体" charset="0"/>
              </a:rPr>
              <a:t>的时候，超出阈值部分的日志将被策略命中。</a:t>
            </a:r>
            <a:endParaRPr kumimoji="1" lang="en-US" altLang="zh-CN" sz="1400" dirty="0">
              <a:latin typeface="微软雅黑" panose="020B0503020204020204" pitchFamily="34" charset="-122"/>
              <a:ea typeface="微软雅黑" panose="020B0503020204020204" pitchFamily="34" charset="-122"/>
              <a:cs typeface="宋体" charset="0"/>
            </a:endParaRPr>
          </a:p>
        </p:txBody>
      </p:sp>
      <p:sp>
        <p:nvSpPr>
          <p:cNvPr id="6" name="矩形 5"/>
          <p:cNvSpPr/>
          <p:nvPr/>
        </p:nvSpPr>
        <p:spPr>
          <a:xfrm>
            <a:off x="6719145" y="1082219"/>
            <a:ext cx="2221655" cy="3108543"/>
          </a:xfrm>
          <a:prstGeom prst="rect">
            <a:avLst/>
          </a:prstGeom>
          <a:solidFill>
            <a:schemeClr val="tx1">
              <a:lumMod val="95000"/>
              <a:lumOff val="5000"/>
            </a:schemeClr>
          </a:solidFill>
        </p:spPr>
        <p:txBody>
          <a:bodyPr wrap="square">
            <a:spAutoFit/>
          </a:bodyPr>
          <a:lstStyle/>
          <a:p>
            <a:r>
              <a:rPr lang="en-US" altLang="zh-CN" sz="1400" dirty="0">
                <a:solidFill>
                  <a:srgbClr val="33CC33"/>
                </a:solidFill>
                <a:latin typeface="Times New Roman" panose="02020603050405020304" charset="0"/>
                <a:cs typeface="Times New Roman" panose="02020603050405020304" charset="0"/>
              </a:rPr>
              <a:t>[@feature]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 450608</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feature_type</a:t>
            </a:r>
            <a:r>
              <a:rPr lang="en-US" altLang="zh-CN" sz="1400" dirty="0">
                <a:solidFill>
                  <a:srgbClr val="33CC33"/>
                </a:solidFill>
                <a:latin typeface="Times New Roman" panose="02020603050405020304" charset="0"/>
                <a:cs typeface="Times New Roman" panose="02020603050405020304" charset="0"/>
              </a:rPr>
              <a:t> : ratio</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view_level</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click_level</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care         : ['</a:t>
            </a:r>
            <a:r>
              <a:rPr lang="en-US" altLang="zh-CN" sz="1400" dirty="0" err="1">
                <a:solidFill>
                  <a:srgbClr val="33CC33"/>
                </a:solidFill>
                <a:latin typeface="Times New Roman" panose="02020603050405020304" charset="0"/>
                <a:cs typeface="Times New Roman" panose="02020603050405020304" charset="0"/>
              </a:rPr>
              <a:t>accessid</a:t>
            </a:r>
            <a:r>
              <a:rPr lang="en-US" altLang="zh-CN" sz="1400" dirty="0">
                <a:solidFill>
                  <a:srgbClr val="33CC33"/>
                </a:solidFill>
                <a:latin typeface="Times New Roman" panose="02020603050405020304" charset="0"/>
                <a:cs typeface="Times New Roman" panose="02020603050405020304" charset="0"/>
              </a:rPr>
              <a:t>':='8']</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filter       : ['</a:t>
            </a:r>
            <a:r>
              <a:rPr lang="en-US" altLang="zh-CN" sz="1400" dirty="0" err="1">
                <a:solidFill>
                  <a:srgbClr val="33CC33"/>
                </a:solidFill>
                <a:latin typeface="Times New Roman" panose="02020603050405020304" charset="0"/>
                <a:cs typeface="Times New Roman" panose="02020603050405020304" charset="0"/>
              </a:rPr>
              <a:t>baiduid_fresh</a:t>
            </a:r>
            <a:r>
              <a:rPr lang="en-US" altLang="zh-CN" sz="1400" dirty="0">
                <a:solidFill>
                  <a:srgbClr val="33CC33"/>
                </a:solidFill>
                <a:latin typeface="Times New Roman" panose="02020603050405020304" charset="0"/>
                <a:cs typeface="Times New Roman" panose="02020603050405020304" charset="0"/>
              </a:rPr>
              <a:t>':&lt;60]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refer        : [*]</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view         : q</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version      : 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window_type</a:t>
            </a:r>
            <a:r>
              <a:rPr lang="en-US" altLang="zh-CN" sz="1400" dirty="0">
                <a:solidFill>
                  <a:srgbClr val="33CC33"/>
                </a:solidFill>
                <a:latin typeface="Times New Roman" panose="02020603050405020304" charset="0"/>
                <a:cs typeface="Times New Roman" panose="02020603050405020304" charset="0"/>
              </a:rPr>
              <a:t>  : time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window_length</a:t>
            </a:r>
            <a:r>
              <a:rPr lang="en-US" altLang="zh-CN" sz="1400" dirty="0">
                <a:solidFill>
                  <a:srgbClr val="33CC33"/>
                </a:solidFill>
                <a:latin typeface="Times New Roman" panose="02020603050405020304" charset="0"/>
                <a:cs typeface="Times New Roman" panose="02020603050405020304" charset="0"/>
              </a:rPr>
              <a:t>: 14400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step_length</a:t>
            </a:r>
            <a:r>
              <a:rPr lang="en-US" altLang="zh-CN" sz="1400" dirty="0">
                <a:solidFill>
                  <a:srgbClr val="33CC33"/>
                </a:solidFill>
                <a:latin typeface="Times New Roman" panose="02020603050405020304" charset="0"/>
                <a:cs typeface="Times New Roman" panose="02020603050405020304" charset="0"/>
              </a:rPr>
              <a:t>  : 3600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remain       : 10</a:t>
            </a:r>
            <a:endParaRPr lang="en-US" altLang="zh-CN" sz="1400" dirty="0" smtClean="0">
              <a:solidFill>
                <a:srgbClr val="33CC33"/>
              </a:solidFill>
              <a:latin typeface="Times New Roman" panose="02020603050405020304" charset="0"/>
              <a:cs typeface="Times New Roman" panose="02020603050405020304" charset="0"/>
            </a:endParaRPr>
          </a:p>
        </p:txBody>
      </p:sp>
      <p:sp>
        <p:nvSpPr>
          <p:cNvPr id="8" name="文本框 7"/>
          <p:cNvSpPr txBox="1"/>
          <p:nvPr/>
        </p:nvSpPr>
        <p:spPr>
          <a:xfrm>
            <a:off x="5313692" y="787453"/>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603101</a:t>
            </a:r>
            <a:r>
              <a:rPr lang="zh-CN" altLang="en-US" sz="1200" dirty="0" smtClean="0">
                <a:latin typeface="微软雅黑" panose="020B0503020204020204" pitchFamily="34" charset="-122"/>
                <a:ea typeface="微软雅黑" panose="020B0503020204020204" pitchFamily="34" charset="-122"/>
              </a:rPr>
              <a:t>策略配置文件</a:t>
            </a:r>
            <a:endParaRPr lang="zh-CN" altLang="en-US" sz="1200" dirty="0">
              <a:latin typeface="微软雅黑" panose="020B0503020204020204" pitchFamily="34" charset="-122"/>
              <a:ea typeface="微软雅黑" panose="020B0503020204020204" pitchFamily="34" charset="-122"/>
            </a:endParaRPr>
          </a:p>
        </p:txBody>
      </p:sp>
      <p:sp>
        <p:nvSpPr>
          <p:cNvPr id="11" name="矩形 10"/>
          <p:cNvSpPr/>
          <p:nvPr/>
        </p:nvSpPr>
        <p:spPr>
          <a:xfrm>
            <a:off x="4979352" y="1082219"/>
            <a:ext cx="1739793" cy="2031325"/>
          </a:xfrm>
          <a:prstGeom prst="rect">
            <a:avLst/>
          </a:prstGeom>
          <a:solidFill>
            <a:schemeClr val="tx1">
              <a:lumMod val="95000"/>
              <a:lumOff val="5000"/>
            </a:schemeClr>
          </a:solidFill>
        </p:spPr>
        <p:txBody>
          <a:bodyPr wrap="square">
            <a:spAutoFit/>
          </a:bodyPr>
          <a:lstStyle/>
          <a:p>
            <a:r>
              <a:rPr lang="en-US" altLang="zh-CN" sz="1400" dirty="0">
                <a:solidFill>
                  <a:srgbClr val="33CC33"/>
                </a:solidFill>
                <a:latin typeface="Times New Roman" panose="02020603050405020304" charset="0"/>
                <a:cs typeface="Times New Roman" panose="02020603050405020304" charset="0"/>
              </a:rPr>
              <a:t>[@policy]</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policy_id</a:t>
            </a:r>
            <a:r>
              <a:rPr lang="en-US" altLang="zh-CN" sz="1400" dirty="0">
                <a:solidFill>
                  <a:srgbClr val="33CC33"/>
                </a:solidFill>
                <a:latin typeface="Times New Roman" panose="02020603050405020304" charset="0"/>
                <a:cs typeface="Times New Roman" panose="02020603050405020304" charset="0"/>
              </a:rPr>
              <a:t>   : 450608</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policy_type</a:t>
            </a:r>
            <a:r>
              <a:rPr lang="en-US" altLang="zh-CN" sz="1400" dirty="0">
                <a:solidFill>
                  <a:srgbClr val="33CC33"/>
                </a:solidFill>
                <a:latin typeface="Times New Roman" panose="02020603050405020304" charset="0"/>
                <a:cs typeface="Times New Roman" panose="02020603050405020304" charset="0"/>
              </a:rPr>
              <a:t> : rule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[.@rule]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 450608</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rule_type</a:t>
            </a:r>
            <a:r>
              <a:rPr lang="en-US" altLang="zh-CN" sz="1400" dirty="0">
                <a:solidFill>
                  <a:srgbClr val="33CC33"/>
                </a:solidFill>
                <a:latin typeface="Times New Roman" panose="02020603050405020304" charset="0"/>
                <a:cs typeface="Times New Roman" panose="02020603050405020304" charset="0"/>
              </a:rPr>
              <a:t>   : ratio</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threshold   : 0.3</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remain      : 10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simple_ratio</a:t>
            </a:r>
            <a:r>
              <a:rPr lang="en-US" altLang="zh-CN" sz="1400" dirty="0">
                <a:solidFill>
                  <a:srgbClr val="33CC33"/>
                </a:solidFill>
                <a:latin typeface="Times New Roman" panose="02020603050405020304" charset="0"/>
                <a:cs typeface="Times New Roman" panose="02020603050405020304" charset="0"/>
              </a:rPr>
              <a:t>: 1</a:t>
            </a:r>
            <a:endParaRPr lang="en-US" altLang="zh-CN" sz="1400" dirty="0" smtClean="0">
              <a:solidFill>
                <a:srgbClr val="33CC33"/>
              </a:solidFill>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776996"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段比例自动黑名单策略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8072224" cy="3913804"/>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简介</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对于某段内比例数据显著异常的维度对象，系统会将其加入黑名单，后续流量直接过滤，直到该维度对象下的流量恢复正常</a:t>
            </a:r>
            <a:r>
              <a:rPr kumimoji="1" lang="zh-CN" altLang="en-US" sz="1600" dirty="0">
                <a:latin typeface="微软雅黑" panose="020B0503020204020204" pitchFamily="34" charset="-122"/>
                <a:ea typeface="微软雅黑" panose="020B0503020204020204" pitchFamily="34" charset="-122"/>
                <a:cs typeface="宋体" charset="0"/>
              </a:rPr>
              <a:t>。采用上段的段比例数据与阈值相比，来判定该段的</a:t>
            </a:r>
            <a:r>
              <a:rPr kumimoji="1" lang="zh-CN" altLang="en-US" sz="1600" dirty="0" smtClean="0">
                <a:latin typeface="微软雅黑" panose="020B0503020204020204" pitchFamily="34" charset="-122"/>
                <a:ea typeface="微软雅黑" panose="020B0503020204020204" pitchFamily="34" charset="-122"/>
                <a:cs typeface="宋体" charset="0"/>
              </a:rPr>
              <a:t>结果。</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可用特征</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a</a:t>
            </a:r>
            <a:r>
              <a:rPr kumimoji="1" lang="en-US" altLang="zh-CN" sz="1600" dirty="0" err="1" smtClean="0">
                <a:latin typeface="微软雅黑" panose="020B0503020204020204" pitchFamily="34" charset="-122"/>
                <a:ea typeface="微软雅黑" panose="020B0503020204020204" pitchFamily="34" charset="-122"/>
                <a:cs typeface="宋体" charset="0"/>
              </a:rPr>
              <a:t>uto_ratio</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适用场景</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自动黑名单段比例策略使用的是上一段的信息判断</a:t>
            </a:r>
            <a:r>
              <a:rPr kumimoji="1" lang="en-US" altLang="zh-CN" sz="1600" dirty="0">
                <a:latin typeface="微软雅黑" panose="020B0503020204020204" pitchFamily="34" charset="-122"/>
                <a:ea typeface="微软雅黑" panose="020B0503020204020204" pitchFamily="34" charset="-122"/>
                <a:cs typeface="宋体" charset="0"/>
              </a:rPr>
              <a:t>hit</a:t>
            </a:r>
            <a:r>
              <a:rPr kumimoji="1" lang="zh-CN" altLang="en-US" sz="1600" dirty="0">
                <a:latin typeface="微软雅黑" panose="020B0503020204020204" pitchFamily="34" charset="-122"/>
                <a:ea typeface="微软雅黑" panose="020B0503020204020204" pitchFamily="34" charset="-122"/>
                <a:cs typeface="宋体" charset="0"/>
              </a:rPr>
              <a:t>与否，可以缓解段首漏过问题，但是第一段会全部判定为</a:t>
            </a:r>
            <a:r>
              <a:rPr kumimoji="1" lang="en-US" altLang="zh-CN" sz="1600" dirty="0">
                <a:latin typeface="微软雅黑" panose="020B0503020204020204" pitchFamily="34" charset="-122"/>
                <a:ea typeface="微软雅黑" panose="020B0503020204020204" pitchFamily="34" charset="-122"/>
                <a:cs typeface="宋体" charset="0"/>
              </a:rPr>
              <a:t>normal</a:t>
            </a:r>
            <a:r>
              <a:rPr kumimoji="1" lang="zh-CN" altLang="en-US" sz="1600" dirty="0">
                <a:latin typeface="微软雅黑" panose="020B0503020204020204" pitchFamily="34" charset="-122"/>
                <a:ea typeface="微软雅黑" panose="020B0503020204020204" pitchFamily="34" charset="-122"/>
                <a:cs typeface="宋体" charset="0"/>
              </a:rPr>
              <a:t>，因此自动黑名单段比例策略一般段长较短。</a:t>
            </a:r>
            <a:endParaRPr kumimoji="1" lang="zh-CN" altLang="en-US" sz="1600" dirty="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776996"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段比例自动黑名单策略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3996361" cy="3913804"/>
          </a:xfrm>
        </p:spPr>
        <p:txBody>
          <a:bodyPr>
            <a:noAutofit/>
          </a:bodyPr>
          <a:lstStyle/>
          <a:p>
            <a:pPr marL="0" indent="0">
              <a:spcAft>
                <a:spcPts val="600"/>
              </a:spcAft>
              <a:buSzPct val="120000"/>
              <a:buNone/>
            </a:pPr>
            <a:r>
              <a:rPr kumimoji="1" lang="en-US" altLang="zh-CN" sz="1800" dirty="0">
                <a:latin typeface="微软雅黑" panose="020B0503020204020204" pitchFamily="34" charset="-122"/>
                <a:ea typeface="微软雅黑" panose="020B0503020204020204" pitchFamily="34" charset="-122"/>
                <a:cs typeface="宋体" charset="0"/>
              </a:rPr>
              <a:t>611101</a:t>
            </a:r>
            <a:r>
              <a:rPr kumimoji="1" lang="zh-CN" altLang="en-US" sz="1800" dirty="0" smtClean="0">
                <a:latin typeface="微软雅黑" panose="020B0503020204020204" pitchFamily="34" charset="-122"/>
                <a:ea typeface="微软雅黑" panose="020B0503020204020204" pitchFamily="34" charset="-122"/>
                <a:cs typeface="宋体" charset="0"/>
              </a:rPr>
              <a:t>策略</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400" dirty="0" smtClean="0">
                <a:latin typeface="微软雅黑" panose="020B0503020204020204" pitchFamily="34" charset="-122"/>
                <a:ea typeface="微软雅黑" panose="020B0503020204020204" pitchFamily="34" charset="-122"/>
                <a:cs typeface="宋体" charset="0"/>
              </a:rPr>
              <a:t>wise</a:t>
            </a:r>
            <a:r>
              <a:rPr kumimoji="1" lang="zh-CN" altLang="en-US" sz="1400" dirty="0" smtClean="0">
                <a:latin typeface="微软雅黑" panose="020B0503020204020204" pitchFamily="34" charset="-122"/>
                <a:ea typeface="微软雅黑" panose="020B0503020204020204" pitchFamily="34" charset="-122"/>
                <a:cs typeface="宋体" charset="0"/>
              </a:rPr>
              <a:t>端日志，每</a:t>
            </a:r>
            <a:r>
              <a:rPr kumimoji="1" lang="en-US" altLang="zh-CN" sz="1400" dirty="0" smtClean="0">
                <a:latin typeface="微软雅黑" panose="020B0503020204020204" pitchFamily="34" charset="-122"/>
                <a:ea typeface="微软雅黑" panose="020B0503020204020204" pitchFamily="34" charset="-122"/>
                <a:cs typeface="宋体" charset="0"/>
              </a:rPr>
              <a:t>2000</a:t>
            </a:r>
            <a:r>
              <a:rPr kumimoji="1" lang="zh-CN" altLang="en-US" sz="1400" dirty="0" smtClean="0">
                <a:latin typeface="微软雅黑" panose="020B0503020204020204" pitchFamily="34" charset="-122"/>
                <a:ea typeface="微软雅黑" panose="020B0503020204020204" pitchFamily="34" charset="-122"/>
                <a:cs typeface="宋体" charset="0"/>
              </a:rPr>
              <a:t>条</a:t>
            </a:r>
            <a:r>
              <a:rPr kumimoji="1" lang="en-US" altLang="zh-CN" sz="1400" dirty="0" err="1" smtClean="0">
                <a:latin typeface="微软雅黑" panose="020B0503020204020204" pitchFamily="34" charset="-122"/>
                <a:ea typeface="微软雅黑" panose="020B0503020204020204" pitchFamily="34" charset="-122"/>
                <a:cs typeface="宋体" charset="0"/>
              </a:rPr>
              <a:t>pv</a:t>
            </a:r>
            <a:r>
              <a:rPr kumimoji="1" lang="zh-CN" altLang="en-US" sz="1400" dirty="0" smtClean="0">
                <a:latin typeface="微软雅黑" panose="020B0503020204020204" pitchFamily="34" charset="-122"/>
                <a:ea typeface="微软雅黑" panose="020B0503020204020204" pitchFamily="34" charset="-122"/>
                <a:cs typeface="宋体" charset="0"/>
              </a:rPr>
              <a:t>中，同</a:t>
            </a:r>
            <a:r>
              <a:rPr kumimoji="1" lang="zh-CN" altLang="en-US" sz="1400" dirty="0">
                <a:latin typeface="微软雅黑" panose="020B0503020204020204" pitchFamily="34" charset="-122"/>
                <a:ea typeface="微软雅黑" panose="020B0503020204020204" pitchFamily="34" charset="-122"/>
                <a:cs typeface="宋体" charset="0"/>
              </a:rPr>
              <a:t>一</a:t>
            </a:r>
            <a:r>
              <a:rPr kumimoji="1" lang="en-US" altLang="zh-CN" sz="1400" dirty="0" err="1">
                <a:latin typeface="微软雅黑" panose="020B0503020204020204" pitchFamily="34" charset="-122"/>
                <a:ea typeface="微软雅黑" panose="020B0503020204020204" pitchFamily="34" charset="-122"/>
                <a:cs typeface="宋体" charset="0"/>
              </a:rPr>
              <a:t>useragent</a:t>
            </a:r>
            <a:r>
              <a:rPr kumimoji="1" lang="zh-CN" altLang="en-US" sz="1400" dirty="0" smtClean="0">
                <a:latin typeface="微软雅黑" panose="020B0503020204020204" pitchFamily="34" charset="-122"/>
                <a:ea typeface="微软雅黑" panose="020B0503020204020204" pitchFamily="34" charset="-122"/>
                <a:cs typeface="宋体" charset="0"/>
              </a:rPr>
              <a:t>下若</a:t>
            </a:r>
            <a:r>
              <a:rPr kumimoji="1" lang="zh-CN" altLang="en-US" sz="1400" dirty="0">
                <a:latin typeface="微软雅黑" panose="020B0503020204020204" pitchFamily="34" charset="-122"/>
                <a:ea typeface="微软雅黑" panose="020B0503020204020204" pitchFamily="34" charset="-122"/>
                <a:cs typeface="宋体" charset="0"/>
              </a:rPr>
              <a:t>计费名“</a:t>
            </a:r>
            <a:r>
              <a:rPr kumimoji="1" lang="en-US" altLang="zh-CN" sz="1400" dirty="0" err="1">
                <a:latin typeface="微软雅黑" panose="020B0503020204020204" pitchFamily="34" charset="-122"/>
                <a:ea typeface="微软雅黑" panose="020B0503020204020204" pitchFamily="34" charset="-122"/>
                <a:cs typeface="宋体" charset="0"/>
              </a:rPr>
              <a:t>baiduwap_ws</a:t>
            </a:r>
            <a:r>
              <a:rPr kumimoji="1" lang="en-US" altLang="zh-CN" sz="1400" dirty="0">
                <a:latin typeface="微软雅黑" panose="020B0503020204020204" pitchFamily="34" charset="-122"/>
                <a:ea typeface="微软雅黑" panose="020B0503020204020204" pitchFamily="34" charset="-122"/>
                <a:cs typeface="宋体" charset="0"/>
              </a:rPr>
              <a:t>”</a:t>
            </a:r>
            <a:r>
              <a:rPr kumimoji="1" lang="zh-CN" altLang="en-US" sz="1400" dirty="0">
                <a:latin typeface="微软雅黑" panose="020B0503020204020204" pitchFamily="34" charset="-122"/>
                <a:ea typeface="微软雅黑" panose="020B0503020204020204" pitchFamily="34" charset="-122"/>
                <a:cs typeface="宋体" charset="0"/>
              </a:rPr>
              <a:t>的占比高于</a:t>
            </a:r>
            <a:r>
              <a:rPr kumimoji="1" lang="en-US" altLang="zh-CN" sz="1400" dirty="0">
                <a:latin typeface="微软雅黑" panose="020B0503020204020204" pitchFamily="34" charset="-122"/>
                <a:ea typeface="微软雅黑" panose="020B0503020204020204" pitchFamily="34" charset="-122"/>
                <a:cs typeface="宋体" charset="0"/>
              </a:rPr>
              <a:t>0.95</a:t>
            </a:r>
            <a:r>
              <a:rPr kumimoji="1" lang="zh-CN" altLang="en-US" sz="1400" dirty="0">
                <a:latin typeface="微软雅黑" panose="020B0503020204020204" pitchFamily="34" charset="-122"/>
                <a:ea typeface="微软雅黑" panose="020B0503020204020204" pitchFamily="34" charset="-122"/>
                <a:cs typeface="宋体" charset="0"/>
              </a:rPr>
              <a:t>，则加入黑名单。</a:t>
            </a:r>
            <a:endParaRPr kumimoji="1" lang="en-US" altLang="zh-CN" sz="1400" dirty="0">
              <a:latin typeface="微软雅黑" panose="020B0503020204020204" pitchFamily="34" charset="-122"/>
              <a:ea typeface="微软雅黑" panose="020B0503020204020204" pitchFamily="34" charset="-122"/>
              <a:cs typeface="宋体" charset="0"/>
            </a:endParaRPr>
          </a:p>
        </p:txBody>
      </p:sp>
      <p:sp>
        <p:nvSpPr>
          <p:cNvPr id="6" name="矩形 5"/>
          <p:cNvSpPr/>
          <p:nvPr/>
        </p:nvSpPr>
        <p:spPr>
          <a:xfrm>
            <a:off x="6719145" y="1082219"/>
            <a:ext cx="2221655" cy="3323987"/>
          </a:xfrm>
          <a:prstGeom prst="rect">
            <a:avLst/>
          </a:prstGeom>
          <a:solidFill>
            <a:schemeClr val="tx1">
              <a:lumMod val="95000"/>
              <a:lumOff val="5000"/>
            </a:schemeClr>
          </a:solidFill>
        </p:spPr>
        <p:txBody>
          <a:bodyPr wrap="square">
            <a:spAutoFit/>
          </a:bodyPr>
          <a:lstStyle/>
          <a:p>
            <a:r>
              <a:rPr lang="en-US" altLang="zh-CN" sz="1400" dirty="0">
                <a:solidFill>
                  <a:srgbClr val="33CC33"/>
                </a:solidFill>
                <a:latin typeface="Times New Roman" panose="02020603050405020304" charset="0"/>
                <a:cs typeface="Times New Roman" panose="02020603050405020304" charset="0"/>
              </a:rPr>
              <a:t>[@feature]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 611101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feature_type</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auto_ratio</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view_level</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click_level</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care         : ['</a:t>
            </a:r>
            <a:r>
              <a:rPr lang="en-US" altLang="zh-CN" sz="1400" dirty="0" err="1">
                <a:solidFill>
                  <a:srgbClr val="33CC33"/>
                </a:solidFill>
                <a:latin typeface="Times New Roman" panose="02020603050405020304" charset="0"/>
                <a:cs typeface="Times New Roman" panose="02020603050405020304" charset="0"/>
              </a:rPr>
              <a:t>is_wireless</a:t>
            </a:r>
            <a:r>
              <a:rPr lang="en-US" altLang="zh-CN" sz="1400" dirty="0">
                <a:solidFill>
                  <a:srgbClr val="33CC33"/>
                </a:solidFill>
                <a:latin typeface="Times New Roman" panose="02020603050405020304" charset="0"/>
                <a:cs typeface="Times New Roman" panose="02020603050405020304" charset="0"/>
              </a:rPr>
              <a:t>':='1']['</a:t>
            </a:r>
            <a:r>
              <a:rPr lang="en-US" altLang="zh-CN" sz="1400" dirty="0" err="1">
                <a:solidFill>
                  <a:srgbClr val="33CC33"/>
                </a:solidFill>
                <a:latin typeface="Times New Roman" panose="02020603050405020304" charset="0"/>
                <a:cs typeface="Times New Roman" panose="02020603050405020304" charset="0"/>
              </a:rPr>
              <a:t>cmatch'NI'feed.whitecmatch</a:t>
            </a:r>
            <a:r>
              <a:rPr lang="en-US" altLang="zh-CN" sz="1400" dirty="0">
                <a:solidFill>
                  <a:srgbClr val="33CC33"/>
                </a:solidFill>
                <a:latin typeface="Times New Roman" panose="02020603050405020304" charset="0"/>
                <a:cs typeface="Times New Roman" panose="02020603050405020304" charset="0"/>
              </a:rPr>
              <a:t>']</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view         : </a:t>
            </a:r>
            <a:r>
              <a:rPr lang="en-US" altLang="zh-CN" sz="1400" dirty="0" err="1">
                <a:solidFill>
                  <a:srgbClr val="33CC33"/>
                </a:solidFill>
                <a:latin typeface="Times New Roman" panose="02020603050405020304" charset="0"/>
                <a:cs typeface="Times New Roman" panose="02020603050405020304" charset="0"/>
              </a:rPr>
              <a:t>useragent</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filter       : ['</a:t>
            </a:r>
            <a:r>
              <a:rPr lang="en-US" altLang="zh-CN" sz="1400" dirty="0" err="1">
                <a:solidFill>
                  <a:srgbClr val="33CC33"/>
                </a:solidFill>
                <a:latin typeface="Times New Roman" panose="02020603050405020304" charset="0"/>
                <a:cs typeface="Times New Roman" panose="02020603050405020304" charset="0"/>
              </a:rPr>
              <a:t>cntname</a:t>
            </a:r>
            <a:r>
              <a:rPr lang="en-US" altLang="zh-CN" sz="1400" dirty="0">
                <a:solidFill>
                  <a:srgbClr val="33CC33"/>
                </a:solidFill>
                <a:latin typeface="Times New Roman" panose="02020603050405020304" charset="0"/>
                <a:cs typeface="Times New Roman" panose="02020603050405020304" charset="0"/>
              </a:rPr>
              <a:t>':='</a:t>
            </a:r>
            <a:r>
              <a:rPr lang="en-US" altLang="zh-CN" sz="1400" dirty="0" err="1">
                <a:solidFill>
                  <a:srgbClr val="33CC33"/>
                </a:solidFill>
                <a:latin typeface="Times New Roman" panose="02020603050405020304" charset="0"/>
                <a:cs typeface="Times New Roman" panose="02020603050405020304" charset="0"/>
              </a:rPr>
              <a:t>baiduwap_ws</a:t>
            </a:r>
            <a:r>
              <a:rPr lang="en-US" altLang="zh-CN" sz="1400" dirty="0">
                <a:solidFill>
                  <a:srgbClr val="33CC33"/>
                </a:solidFill>
                <a:latin typeface="Times New Roman" panose="02020603050405020304" charset="0"/>
                <a:cs typeface="Times New Roman" panose="02020603050405020304" charset="0"/>
              </a:rPr>
              <a:t>']</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refer        : [*]</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version      : 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window_type</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pv</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window_length</a:t>
            </a:r>
            <a:r>
              <a:rPr lang="en-US" altLang="zh-CN" sz="1400" dirty="0">
                <a:solidFill>
                  <a:srgbClr val="33CC33"/>
                </a:solidFill>
                <a:latin typeface="Times New Roman" panose="02020603050405020304" charset="0"/>
                <a:cs typeface="Times New Roman" panose="02020603050405020304" charset="0"/>
              </a:rPr>
              <a:t>: 2000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remain       : 30</a:t>
            </a:r>
            <a:endParaRPr lang="en-US" altLang="zh-CN" sz="1400" dirty="0">
              <a:solidFill>
                <a:srgbClr val="33CC33"/>
              </a:solidFill>
              <a:latin typeface="Times New Roman" panose="02020603050405020304" charset="0"/>
              <a:cs typeface="Times New Roman" panose="02020603050405020304" charset="0"/>
            </a:endParaRPr>
          </a:p>
        </p:txBody>
      </p:sp>
      <p:sp>
        <p:nvSpPr>
          <p:cNvPr id="8" name="文本框 7"/>
          <p:cNvSpPr txBox="1"/>
          <p:nvPr/>
        </p:nvSpPr>
        <p:spPr>
          <a:xfrm>
            <a:off x="5313692" y="787453"/>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a:t>
            </a:r>
            <a:r>
              <a:rPr lang="en-US" altLang="zh-CN" sz="1200" dirty="0">
                <a:latin typeface="微软雅黑" panose="020B0503020204020204" pitchFamily="34" charset="-122"/>
                <a:ea typeface="微软雅黑" panose="020B0503020204020204" pitchFamily="34" charset="-122"/>
              </a:rPr>
              <a:t>611101</a:t>
            </a:r>
            <a:r>
              <a:rPr lang="zh-CN" altLang="en-US" sz="1200" dirty="0" smtClean="0">
                <a:latin typeface="微软雅黑" panose="020B0503020204020204" pitchFamily="34" charset="-122"/>
                <a:ea typeface="微软雅黑" panose="020B0503020204020204" pitchFamily="34" charset="-122"/>
              </a:rPr>
              <a:t>策略配置文件</a:t>
            </a:r>
            <a:endParaRPr lang="zh-CN" altLang="en-US" sz="1200" dirty="0">
              <a:latin typeface="微软雅黑" panose="020B0503020204020204" pitchFamily="34" charset="-122"/>
              <a:ea typeface="微软雅黑" panose="020B0503020204020204" pitchFamily="34" charset="-122"/>
            </a:endParaRPr>
          </a:p>
        </p:txBody>
      </p:sp>
      <p:sp>
        <p:nvSpPr>
          <p:cNvPr id="11" name="矩形 10"/>
          <p:cNvSpPr/>
          <p:nvPr/>
        </p:nvSpPr>
        <p:spPr>
          <a:xfrm>
            <a:off x="4868454" y="1082590"/>
            <a:ext cx="1850691" cy="2031325"/>
          </a:xfrm>
          <a:prstGeom prst="rect">
            <a:avLst/>
          </a:prstGeom>
          <a:solidFill>
            <a:schemeClr val="tx1">
              <a:lumMod val="95000"/>
              <a:lumOff val="5000"/>
            </a:schemeClr>
          </a:solidFill>
        </p:spPr>
        <p:txBody>
          <a:bodyPr wrap="square">
            <a:spAutoFit/>
          </a:bodyPr>
          <a:lstStyle/>
          <a:p>
            <a:r>
              <a:rPr lang="en-US" altLang="zh-CN" sz="1400" dirty="0">
                <a:solidFill>
                  <a:srgbClr val="33CC33"/>
                </a:solidFill>
                <a:latin typeface="Times New Roman" panose="02020603050405020304" charset="0"/>
                <a:cs typeface="Times New Roman" panose="02020603050405020304" charset="0"/>
              </a:rPr>
              <a:t>[@policy]</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policy_id</a:t>
            </a:r>
            <a:r>
              <a:rPr lang="en-US" altLang="zh-CN" sz="1400" dirty="0">
                <a:solidFill>
                  <a:srgbClr val="33CC33"/>
                </a:solidFill>
                <a:latin typeface="Times New Roman" panose="02020603050405020304" charset="0"/>
                <a:cs typeface="Times New Roman" panose="02020603050405020304" charset="0"/>
              </a:rPr>
              <a:t>   : 611101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policy_type</a:t>
            </a:r>
            <a:r>
              <a:rPr lang="en-US" altLang="zh-CN" sz="1400" dirty="0">
                <a:solidFill>
                  <a:srgbClr val="33CC33"/>
                </a:solidFill>
                <a:latin typeface="Times New Roman" panose="02020603050405020304" charset="0"/>
                <a:cs typeface="Times New Roman" panose="02020603050405020304" charset="0"/>
              </a:rPr>
              <a:t> : rule</a:t>
            </a:r>
            <a:endParaRPr lang="en-US" altLang="zh-CN" sz="1400" dirty="0">
              <a:solidFill>
                <a:srgbClr val="33CC33"/>
              </a:solidFill>
              <a:latin typeface="Times New Roman" panose="02020603050405020304" charset="0"/>
              <a:cs typeface="Times New Roman" panose="02020603050405020304" charset="0"/>
            </a:endParaRPr>
          </a:p>
          <a:p>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[.@rule]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 611101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rule_type</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auto_ratio</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threshold   : 0.95</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mode        : filter</a:t>
            </a:r>
            <a:endParaRPr lang="en-US" altLang="zh-CN" sz="1400" dirty="0">
              <a:solidFill>
                <a:srgbClr val="33CC33"/>
              </a:solidFill>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545890"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分布策略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8072224" cy="3913804"/>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简介</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在一定段长的日志中，统计</a:t>
            </a:r>
            <a:r>
              <a:rPr kumimoji="1" lang="zh-CN" altLang="en-US" sz="1600" dirty="0">
                <a:latin typeface="微软雅黑" panose="020B0503020204020204" pitchFamily="34" charset="-122"/>
                <a:ea typeface="微软雅黑" panose="020B0503020204020204" pitchFamily="34" charset="-122"/>
                <a:cs typeface="宋体" charset="0"/>
              </a:rPr>
              <a:t>各个维度对象下面得到的数值，根据一定规则分桶计数，各桶占</a:t>
            </a:r>
            <a:r>
              <a:rPr kumimoji="1" lang="zh-CN" altLang="en-US" sz="1600" dirty="0" smtClean="0">
                <a:latin typeface="微软雅黑" panose="020B0503020204020204" pitchFamily="34" charset="-122"/>
                <a:ea typeface="微软雅黑" panose="020B0503020204020204" pitchFamily="34" charset="-122"/>
                <a:cs typeface="宋体" charset="0"/>
              </a:rPr>
              <a:t>比的情况即</a:t>
            </a:r>
            <a:r>
              <a:rPr kumimoji="1" lang="zh-CN" altLang="en-US" sz="1600" dirty="0">
                <a:latin typeface="微软雅黑" panose="020B0503020204020204" pitchFamily="34" charset="-122"/>
                <a:ea typeface="微软雅黑" panose="020B0503020204020204" pitchFamily="34" charset="-122"/>
                <a:cs typeface="宋体" charset="0"/>
              </a:rPr>
              <a:t>为该维度对象下的分布。计算当前分布与基准分布的距离，距离大于一定的阈值</a:t>
            </a:r>
            <a:r>
              <a:rPr kumimoji="1" lang="zh-CN" altLang="en-US" sz="1600" dirty="0" smtClean="0">
                <a:latin typeface="微软雅黑" panose="020B0503020204020204" pitchFamily="34" charset="-122"/>
                <a:ea typeface="微软雅黑" panose="020B0503020204020204" pitchFamily="34" charset="-122"/>
                <a:cs typeface="宋体" charset="0"/>
              </a:rPr>
              <a:t>则代表策略命中。</a:t>
            </a:r>
            <a:endParaRPr kumimoji="1" lang="zh-CN" altLang="en-US" sz="16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可用特征</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分布</a:t>
            </a:r>
            <a:r>
              <a:rPr kumimoji="1" lang="zh-CN" altLang="en-US" sz="1600" dirty="0" smtClean="0">
                <a:latin typeface="微软雅黑" panose="020B0503020204020204" pitchFamily="34" charset="-122"/>
                <a:ea typeface="微软雅黑" panose="020B0503020204020204" pitchFamily="34" charset="-122"/>
                <a:cs typeface="宋体" charset="0"/>
              </a:rPr>
              <a:t>特征</a:t>
            </a:r>
            <a:r>
              <a:rPr kumimoji="1" lang="en-US" altLang="zh-CN" sz="1600" dirty="0" smtClean="0">
                <a:latin typeface="微软雅黑" panose="020B0503020204020204" pitchFamily="34" charset="-122"/>
                <a:ea typeface="微软雅黑" panose="020B0503020204020204" pitchFamily="34" charset="-122"/>
                <a:cs typeface="宋体" charset="0"/>
              </a:rPr>
              <a:t>(distribution)</a:t>
            </a:r>
            <a:r>
              <a:rPr kumimoji="1" lang="zh-CN" altLang="en-US" sz="1600" dirty="0" smtClean="0">
                <a:latin typeface="微软雅黑" panose="020B0503020204020204" pitchFamily="34" charset="-122"/>
                <a:ea typeface="微软雅黑" panose="020B0503020204020204" pitchFamily="34" charset="-122"/>
                <a:cs typeface="宋体" charset="0"/>
              </a:rPr>
              <a:t>、去</a:t>
            </a:r>
            <a:r>
              <a:rPr kumimoji="1" lang="zh-CN" altLang="en-US" sz="1600" dirty="0">
                <a:latin typeface="微软雅黑" panose="020B0503020204020204" pitchFamily="34" charset="-122"/>
                <a:ea typeface="微软雅黑" panose="020B0503020204020204" pitchFamily="34" charset="-122"/>
                <a:cs typeface="宋体" charset="0"/>
              </a:rPr>
              <a:t>重分布</a:t>
            </a:r>
            <a:r>
              <a:rPr kumimoji="1" lang="zh-CN" altLang="en-US" sz="1600" dirty="0" smtClean="0">
                <a:latin typeface="微软雅黑" panose="020B0503020204020204" pitchFamily="34" charset="-122"/>
                <a:ea typeface="微软雅黑" panose="020B0503020204020204" pitchFamily="34" charset="-122"/>
                <a:cs typeface="宋体" charset="0"/>
              </a:rPr>
              <a:t>特征</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en-US" altLang="zh-CN" sz="1600" dirty="0" err="1" smtClean="0">
                <a:latin typeface="微软雅黑" panose="020B0503020204020204" pitchFamily="34" charset="-122"/>
                <a:ea typeface="微软雅黑" panose="020B0503020204020204" pitchFamily="34" charset="-122"/>
                <a:cs typeface="宋体" charset="0"/>
              </a:rPr>
              <a:t>distinct_distribution</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、数目</a:t>
            </a:r>
            <a:r>
              <a:rPr kumimoji="1" lang="zh-CN" altLang="en-US" sz="1600" dirty="0">
                <a:latin typeface="微软雅黑" panose="020B0503020204020204" pitchFamily="34" charset="-122"/>
                <a:ea typeface="微软雅黑" panose="020B0503020204020204" pitchFamily="34" charset="-122"/>
                <a:cs typeface="宋体" charset="0"/>
              </a:rPr>
              <a:t>分布</a:t>
            </a:r>
            <a:r>
              <a:rPr kumimoji="1" lang="zh-CN" altLang="en-US" sz="1600" dirty="0" smtClean="0">
                <a:latin typeface="微软雅黑" panose="020B0503020204020204" pitchFamily="34" charset="-122"/>
                <a:ea typeface="微软雅黑" panose="020B0503020204020204" pitchFamily="34" charset="-122"/>
                <a:cs typeface="宋体" charset="0"/>
              </a:rPr>
              <a:t>特征</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en-US" altLang="zh-CN" sz="1600" dirty="0" err="1" smtClean="0">
                <a:latin typeface="微软雅黑" panose="020B0503020204020204" pitchFamily="34" charset="-122"/>
                <a:ea typeface="微软雅黑" panose="020B0503020204020204" pitchFamily="34" charset="-122"/>
                <a:cs typeface="宋体" charset="0"/>
              </a:rPr>
              <a:t>count_distribution</a:t>
            </a:r>
            <a:r>
              <a:rPr kumimoji="1" lang="en-US" altLang="zh-CN"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分</a:t>
            </a:r>
            <a:r>
              <a:rPr kumimoji="1" lang="zh-CN" altLang="en-US" sz="1800" dirty="0" smtClean="0">
                <a:latin typeface="微软雅黑" panose="020B0503020204020204" pitchFamily="34" charset="-122"/>
                <a:ea typeface="微软雅黑" panose="020B0503020204020204" pitchFamily="34" charset="-122"/>
                <a:cs typeface="宋体" charset="0"/>
              </a:rPr>
              <a:t>桶</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根据给定的分隔</a:t>
            </a:r>
            <a:r>
              <a:rPr kumimoji="1" lang="zh-CN" altLang="en-US" sz="1600" dirty="0" smtClean="0">
                <a:latin typeface="微软雅黑" panose="020B0503020204020204" pitchFamily="34" charset="-122"/>
                <a:ea typeface="微软雅黑" panose="020B0503020204020204" pitchFamily="34" charset="-122"/>
                <a:cs typeface="宋体" charset="0"/>
              </a:rPr>
              <a:t>点</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en-US" altLang="zh-CN" sz="1600" dirty="0" err="1" smtClean="0">
                <a:latin typeface="微软雅黑" panose="020B0503020204020204" pitchFamily="34" charset="-122"/>
                <a:ea typeface="微软雅黑" panose="020B0503020204020204" pitchFamily="34" charset="-122"/>
                <a:cs typeface="宋体" charset="0"/>
              </a:rPr>
              <a:t>interval_endpoints</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将</a:t>
            </a:r>
            <a:r>
              <a:rPr kumimoji="1" lang="zh-CN" altLang="en-US" sz="1600" dirty="0" smtClean="0">
                <a:latin typeface="微软雅黑" panose="020B0503020204020204" pitchFamily="34" charset="-122"/>
                <a:ea typeface="微软雅黑" panose="020B0503020204020204" pitchFamily="34" charset="-122"/>
                <a:cs typeface="宋体" charset="0"/>
              </a:rPr>
              <a:t>日志主维度下的某些值分成几个子区间</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桶</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左开右</a:t>
            </a:r>
            <a:r>
              <a:rPr kumimoji="1" lang="zh-CN" altLang="en-US" sz="1600" dirty="0" smtClean="0">
                <a:latin typeface="微软雅黑" panose="020B0503020204020204" pitchFamily="34" charset="-122"/>
                <a:ea typeface="微软雅黑" panose="020B0503020204020204" pitchFamily="34" charset="-122"/>
                <a:cs typeface="宋体" charset="0"/>
              </a:rPr>
              <a:t>闭</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比如</a:t>
            </a:r>
            <a:r>
              <a:rPr kumimoji="1" lang="en-US" altLang="zh-CN" sz="1200" dirty="0" err="1">
                <a:latin typeface="微软雅黑" panose="020B0503020204020204" pitchFamily="34" charset="-122"/>
                <a:ea typeface="微软雅黑" panose="020B0503020204020204" pitchFamily="34" charset="-122"/>
                <a:cs typeface="宋体" charset="0"/>
              </a:rPr>
              <a:t>interval_endpoints</a:t>
            </a:r>
            <a:r>
              <a:rPr kumimoji="1" lang="en-US" altLang="zh-CN" sz="1200" dirty="0">
                <a:latin typeface="微软雅黑" panose="020B0503020204020204" pitchFamily="34" charset="-122"/>
                <a:ea typeface="微软雅黑" panose="020B0503020204020204" pitchFamily="34" charset="-122"/>
                <a:cs typeface="宋体" charset="0"/>
              </a:rPr>
              <a:t> : 20, 35, 77, </a:t>
            </a:r>
            <a:r>
              <a:rPr kumimoji="1" lang="en-US" altLang="zh-CN" sz="1200" dirty="0" smtClean="0">
                <a:latin typeface="微软雅黑" panose="020B0503020204020204" pitchFamily="34" charset="-122"/>
                <a:ea typeface="微软雅黑" panose="020B0503020204020204" pitchFamily="34" charset="-122"/>
                <a:cs typeface="宋体" charset="0"/>
              </a:rPr>
              <a:t>236</a:t>
            </a:r>
            <a:r>
              <a:rPr kumimoji="1" lang="zh-CN" altLang="en-US" sz="1200" dirty="0" smtClean="0">
                <a:latin typeface="微软雅黑" panose="020B0503020204020204" pitchFamily="34" charset="-122"/>
                <a:ea typeface="微软雅黑" panose="020B0503020204020204" pitchFamily="34" charset="-122"/>
                <a:cs typeface="宋体" charset="0"/>
              </a:rPr>
              <a:t>，则五个桶的范围分别为</a:t>
            </a:r>
            <a:r>
              <a:rPr kumimoji="1" lang="en-US" altLang="zh-CN" sz="1200" dirty="0" smtClean="0">
                <a:latin typeface="微软雅黑" panose="020B0503020204020204" pitchFamily="34" charset="-122"/>
                <a:ea typeface="微软雅黑" panose="020B0503020204020204" pitchFamily="34" charset="-122"/>
                <a:cs typeface="宋体" charset="0"/>
              </a:rPr>
              <a:t>(0, 20]</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smtClean="0">
                <a:latin typeface="微软雅黑" panose="020B0503020204020204" pitchFamily="34" charset="-122"/>
                <a:ea typeface="微软雅黑" panose="020B0503020204020204" pitchFamily="34" charset="-122"/>
                <a:cs typeface="宋体" charset="0"/>
              </a:rPr>
              <a:t>(20, 35]</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smtClean="0">
                <a:latin typeface="微软雅黑" panose="020B0503020204020204" pitchFamily="34" charset="-122"/>
                <a:ea typeface="微软雅黑" panose="020B0503020204020204" pitchFamily="34" charset="-122"/>
                <a:cs typeface="宋体" charset="0"/>
              </a:rPr>
              <a:t>(35, 77]</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smtClean="0">
                <a:latin typeface="微软雅黑" panose="020B0503020204020204" pitchFamily="34" charset="-122"/>
                <a:ea typeface="微软雅黑" panose="020B0503020204020204" pitchFamily="34" charset="-122"/>
                <a:cs typeface="宋体" charset="0"/>
              </a:rPr>
              <a:t>(77, 236]</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en-US" altLang="zh-CN" sz="1200" dirty="0" smtClean="0">
                <a:latin typeface="微软雅黑" panose="020B0503020204020204" pitchFamily="34" charset="-122"/>
                <a:ea typeface="微软雅黑" panose="020B0503020204020204" pitchFamily="34" charset="-122"/>
                <a:cs typeface="宋体" charset="0"/>
              </a:rPr>
              <a:t>(236, +∞]</a:t>
            </a:r>
            <a:r>
              <a:rPr kumimoji="1" lang="zh-CN" altLang="en-US" sz="1200" dirty="0" smtClean="0">
                <a:latin typeface="微软雅黑" panose="020B0503020204020204" pitchFamily="34" charset="-122"/>
                <a:ea typeface="微软雅黑" panose="020B0503020204020204" pitchFamily="34" charset="-122"/>
                <a:cs typeface="宋体" charset="0"/>
              </a:rPr>
              <a:t>。</a:t>
            </a:r>
            <a:endParaRPr kumimoji="1" lang="en-US" altLang="zh-CN" sz="1200" dirty="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200" dirty="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2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400" dirty="0" smtClean="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545890"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分布策略</a:t>
            </a:r>
            <a:endParaRPr kumimoji="1" lang="zh-CN" altLang="en-US" sz="1400" b="1" spc="200" dirty="0">
              <a:latin typeface="微软雅黑"/>
              <a:ea typeface="微软雅黑"/>
              <a:cs typeface="微软雅黑"/>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80105" y="1002754"/>
                <a:ext cx="3803796" cy="3913804"/>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基准分布</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通过前期正常数据计算得到的各桶占比。</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zh-CN" altLang="en-US" sz="1200" dirty="0" smtClean="0">
                    <a:latin typeface="微软雅黑" panose="020B0503020204020204" pitchFamily="34" charset="-122"/>
                    <a:ea typeface="微软雅黑" panose="020B0503020204020204" pitchFamily="34" charset="-122"/>
                    <a:cs typeface="宋体" charset="0"/>
                  </a:rPr>
                  <a:t>比如</a:t>
                </a:r>
                <a:r>
                  <a:rPr kumimoji="1" lang="en-US" altLang="zh-CN" sz="1200" dirty="0" err="1">
                    <a:latin typeface="微软雅黑" panose="020B0503020204020204" pitchFamily="34" charset="-122"/>
                    <a:ea typeface="微软雅黑" panose="020B0503020204020204" pitchFamily="34" charset="-122"/>
                    <a:cs typeface="宋体" charset="0"/>
                  </a:rPr>
                  <a:t>stand_prob</a:t>
                </a:r>
                <a:r>
                  <a:rPr kumimoji="1" lang="en-US" altLang="zh-CN" sz="1200" dirty="0">
                    <a:latin typeface="微软雅黑" panose="020B0503020204020204" pitchFamily="34" charset="-122"/>
                    <a:ea typeface="微软雅黑" panose="020B0503020204020204" pitchFamily="34" charset="-122"/>
                    <a:cs typeface="宋体" charset="0"/>
                  </a:rPr>
                  <a:t>  : 0.200</a:t>
                </a:r>
                <a:r>
                  <a:rPr kumimoji="1" lang="en-US" altLang="zh-CN" sz="1200" dirty="0" smtClean="0">
                    <a:latin typeface="微软雅黑" panose="020B0503020204020204" pitchFamily="34" charset="-122"/>
                    <a:ea typeface="微软雅黑" panose="020B0503020204020204" pitchFamily="34" charset="-122"/>
                    <a:cs typeface="宋体" charset="0"/>
                  </a:rPr>
                  <a:t>, 0.200, 0.200, 0.200, 0.200</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分布之间的距离函数</a:t>
                </a:r>
                <a:endParaRPr kumimoji="1" lang="en-US" altLang="zh-CN" sz="18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见右表</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过滤标准</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14:m>
                  <m:oMath xmlns:m="http://schemas.openxmlformats.org/officeDocument/2006/math">
                    <m:r>
                      <a:rPr kumimoji="1" lang="en-US" altLang="zh-CN" sz="1600" i="1" dirty="0" smtClean="0">
                        <a:latin typeface="Cambria Math" panose="02040503050406030204" pitchFamily="18" charset="0"/>
                        <a:ea typeface="微软雅黑" panose="020B0503020204020204" pitchFamily="34" charset="-122"/>
                        <a:cs typeface="宋体" charset="0"/>
                      </a:rPr>
                      <m:t>𝑑𝑖𝑠𝑡𝑎𝑛𝑐𝑒</m:t>
                    </m:r>
                    <m:r>
                      <a:rPr kumimoji="1" lang="en-US" altLang="zh-CN" sz="1600" i="1" dirty="0" smtClean="0">
                        <a:latin typeface="Cambria Math" panose="02040503050406030204" pitchFamily="18" charset="0"/>
                        <a:ea typeface="微软雅黑" panose="020B0503020204020204" pitchFamily="34" charset="-122"/>
                        <a:cs typeface="宋体" charset="0"/>
                      </a:rPr>
                      <m:t>&gt;</m:t>
                    </m:r>
                    <m:r>
                      <a:rPr kumimoji="1" lang="en-US" altLang="zh-CN" sz="1600" i="1" dirty="0" smtClean="0">
                        <a:latin typeface="Cambria Math" panose="02040503050406030204" pitchFamily="18" charset="0"/>
                        <a:ea typeface="微软雅黑" panose="020B0503020204020204" pitchFamily="34" charset="-122"/>
                        <a:cs typeface="宋体" charset="0"/>
                      </a:rPr>
                      <m:t>𝑡ℎ𝑟𝑒𝑠ℎ𝑜𝑙𝑑</m:t>
                    </m:r>
                    <m:r>
                      <a:rPr kumimoji="1" lang="en-US" altLang="zh-CN" sz="1600" i="1" dirty="0" smtClean="0">
                        <a:latin typeface="Cambria Math" panose="02040503050406030204" pitchFamily="18" charset="0"/>
                        <a:ea typeface="微软雅黑" panose="020B0503020204020204" pitchFamily="34" charset="-122"/>
                        <a:cs typeface="宋体" charset="0"/>
                      </a:rPr>
                      <m:t> &amp;&amp; </m:t>
                    </m:r>
                    <m:sSub>
                      <m:sSubPr>
                        <m:ctrlPr>
                          <a:rPr kumimoji="1" lang="en-US" altLang="zh-CN" sz="1600" i="1" dirty="0" smtClean="0">
                            <a:latin typeface="Cambria Math" panose="02040503050406030204" pitchFamily="18" charset="0"/>
                            <a:ea typeface="微软雅黑" panose="020B0503020204020204" pitchFamily="34" charset="-122"/>
                          </a:rPr>
                        </m:ctrlPr>
                      </m:sSubPr>
                      <m:e>
                        <m:r>
                          <a:rPr kumimoji="1" lang="en-US" altLang="zh-CN" sz="1600" i="1" dirty="0">
                            <a:latin typeface="Cambria Math" panose="02040503050406030204" pitchFamily="18" charset="0"/>
                            <a:ea typeface="微软雅黑" panose="020B0503020204020204" pitchFamily="34" charset="-122"/>
                            <a:cs typeface="宋体" charset="0"/>
                          </a:rPr>
                          <m:t>𝑝𝑐</m:t>
                        </m:r>
                      </m:e>
                      <m:sub>
                        <m:r>
                          <a:rPr kumimoji="1" lang="en-US" altLang="zh-CN" sz="1600" b="0" i="1" dirty="0" smtClean="0">
                            <a:latin typeface="Cambria Math" panose="02040503050406030204" pitchFamily="18" charset="0"/>
                            <a:ea typeface="微软雅黑" panose="020B0503020204020204" pitchFamily="34" charset="-122"/>
                          </a:rPr>
                          <m:t>𝑖</m:t>
                        </m:r>
                      </m:sub>
                    </m:sSub>
                    <m:r>
                      <a:rPr kumimoji="1" lang="en-US" altLang="zh-CN" sz="1600" i="1" dirty="0" smtClean="0">
                        <a:latin typeface="Cambria Math" panose="02040503050406030204" pitchFamily="18" charset="0"/>
                        <a:ea typeface="微软雅黑" panose="020B0503020204020204" pitchFamily="34" charset="-122"/>
                        <a:cs typeface="宋体" charset="0"/>
                      </a:rPr>
                      <m:t>&gt;</m:t>
                    </m:r>
                    <m:sSub>
                      <m:sSubPr>
                        <m:ctrlPr>
                          <a:rPr kumimoji="1" lang="en-US" altLang="zh-CN" sz="1600" i="1" dirty="0" smtClean="0">
                            <a:latin typeface="Cambria Math" panose="02040503050406030204" pitchFamily="18" charset="0"/>
                            <a:ea typeface="微软雅黑" panose="020B0503020204020204" pitchFamily="34" charset="-122"/>
                          </a:rPr>
                        </m:ctrlPr>
                      </m:sSubPr>
                      <m:e>
                        <m:r>
                          <a:rPr kumimoji="1" lang="en-US" altLang="zh-CN" sz="1600" i="1" dirty="0">
                            <a:latin typeface="Cambria Math" panose="02040503050406030204" pitchFamily="18" charset="0"/>
                            <a:ea typeface="微软雅黑" panose="020B0503020204020204" pitchFamily="34" charset="-122"/>
                            <a:cs typeface="宋体" charset="0"/>
                          </a:rPr>
                          <m:t>𝑝𝑏</m:t>
                        </m:r>
                      </m:e>
                      <m:sub>
                        <m:r>
                          <a:rPr kumimoji="1" lang="en-US" altLang="zh-CN" sz="1600" b="0" i="1" dirty="0" smtClean="0">
                            <a:latin typeface="Cambria Math" panose="02040503050406030204" pitchFamily="18" charset="0"/>
                            <a:ea typeface="微软雅黑" panose="020B0503020204020204" pitchFamily="34" charset="-122"/>
                          </a:rPr>
                          <m:t>𝑖</m:t>
                        </m:r>
                      </m:sub>
                    </m:sSub>
                  </m:oMath>
                </a14:m>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14:m>
                  <m:oMath xmlns:m="http://schemas.openxmlformats.org/officeDocument/2006/math">
                    <m:sSub>
                      <m:sSubPr>
                        <m:ctrlPr>
                          <a:rPr kumimoji="1" lang="en-US" altLang="zh-CN" sz="1400" i="1" dirty="0">
                            <a:latin typeface="Cambria Math" panose="02040503050406030204" pitchFamily="18" charset="0"/>
                            <a:ea typeface="微软雅黑" panose="020B0503020204020204" pitchFamily="34" charset="-122"/>
                          </a:rPr>
                        </m:ctrlPr>
                      </m:sSubPr>
                      <m:e>
                        <m:r>
                          <a:rPr kumimoji="1" lang="en-US" altLang="zh-CN" sz="1400" i="1" dirty="0">
                            <a:latin typeface="Cambria Math" panose="02040503050406030204" pitchFamily="18" charset="0"/>
                            <a:ea typeface="微软雅黑" panose="020B0503020204020204" pitchFamily="34" charset="-122"/>
                            <a:cs typeface="宋体" charset="0"/>
                          </a:rPr>
                          <m:t>𝑝𝑐</m:t>
                        </m:r>
                      </m:e>
                      <m:sub>
                        <m:r>
                          <a:rPr kumimoji="1" lang="en-US" altLang="zh-CN" sz="1400" i="1" dirty="0">
                            <a:latin typeface="Cambria Math" panose="02040503050406030204" pitchFamily="18" charset="0"/>
                            <a:ea typeface="微软雅黑" panose="020B0503020204020204" pitchFamily="34" charset="-122"/>
                          </a:rPr>
                          <m:t>𝑖</m:t>
                        </m:r>
                      </m:sub>
                    </m:sSub>
                  </m:oMath>
                </a14:m>
                <a:r>
                  <a:rPr kumimoji="1" lang="zh-CN" altLang="en-US" sz="1400" dirty="0" smtClean="0">
                    <a:latin typeface="微软雅黑" panose="020B0503020204020204" pitchFamily="34" charset="-122"/>
                    <a:ea typeface="微软雅黑" panose="020B0503020204020204" pitchFamily="34" charset="-122"/>
                    <a:cs typeface="宋体" charset="0"/>
                  </a:rPr>
                  <a:t>为</a:t>
                </a:r>
                <a:r>
                  <a:rPr kumimoji="1" lang="zh-CN" altLang="en-US" sz="1400" dirty="0">
                    <a:latin typeface="微软雅黑" panose="020B0503020204020204" pitchFamily="34" charset="-122"/>
                    <a:ea typeface="微软雅黑" panose="020B0503020204020204" pitchFamily="34" charset="-122"/>
                    <a:cs typeface="宋体" charset="0"/>
                  </a:rPr>
                  <a:t>实际</a:t>
                </a:r>
                <a:r>
                  <a:rPr kumimoji="1" lang="zh-CN" altLang="en-US" sz="1400" dirty="0" smtClean="0">
                    <a:latin typeface="微软雅黑" panose="020B0503020204020204" pitchFamily="34" charset="-122"/>
                    <a:ea typeface="微软雅黑" panose="020B0503020204020204" pitchFamily="34" charset="-122"/>
                    <a:cs typeface="宋体" charset="0"/>
                  </a:rPr>
                  <a:t>分布桶</a:t>
                </a:r>
                <a:r>
                  <a:rPr kumimoji="1" lang="en-US" altLang="zh-CN" sz="1400" dirty="0" err="1" smtClean="0">
                    <a:latin typeface="微软雅黑" panose="020B0503020204020204" pitchFamily="34" charset="-122"/>
                    <a:ea typeface="微软雅黑" panose="020B0503020204020204" pitchFamily="34" charset="-122"/>
                    <a:cs typeface="宋体" charset="0"/>
                  </a:rPr>
                  <a:t>i</a:t>
                </a:r>
                <a:r>
                  <a:rPr kumimoji="1" lang="zh-CN" altLang="en-US" sz="1400" dirty="0" smtClean="0">
                    <a:latin typeface="微软雅黑" panose="020B0503020204020204" pitchFamily="34" charset="-122"/>
                    <a:ea typeface="微软雅黑" panose="020B0503020204020204" pitchFamily="34" charset="-122"/>
                    <a:cs typeface="宋体" charset="0"/>
                  </a:rPr>
                  <a:t>的占比，</a:t>
                </a:r>
                <a:r>
                  <a:rPr kumimoji="1" lang="en-US" altLang="zh-CN" sz="1400" dirty="0" err="1">
                    <a:latin typeface="微软雅黑" panose="020B0503020204020204" pitchFamily="34" charset="-122"/>
                    <a:ea typeface="微软雅黑" panose="020B0503020204020204" pitchFamily="34" charset="-122"/>
                    <a:cs typeface="宋体" charset="0"/>
                  </a:rPr>
                  <a:t>pb</a:t>
                </a:r>
                <a:r>
                  <a:rPr kumimoji="1" lang="zh-CN" altLang="en-US" sz="1400" dirty="0">
                    <a:latin typeface="微软雅黑" panose="020B0503020204020204" pitchFamily="34" charset="-122"/>
                    <a:ea typeface="微软雅黑" panose="020B0503020204020204" pitchFamily="34" charset="-122"/>
                    <a:cs typeface="宋体" charset="0"/>
                  </a:rPr>
                  <a:t>为基准</a:t>
                </a:r>
                <a:r>
                  <a:rPr kumimoji="1" lang="zh-CN" altLang="en-US" sz="1400" dirty="0" smtClean="0">
                    <a:latin typeface="微软雅黑" panose="020B0503020204020204" pitchFamily="34" charset="-122"/>
                    <a:ea typeface="微软雅黑" panose="020B0503020204020204" pitchFamily="34" charset="-122"/>
                    <a:cs typeface="宋体" charset="0"/>
                  </a:rPr>
                  <a:t>分布桶</a:t>
                </a:r>
                <a:r>
                  <a:rPr kumimoji="1" lang="en-US" altLang="zh-CN" sz="1400" dirty="0" err="1" smtClean="0">
                    <a:latin typeface="微软雅黑" panose="020B0503020204020204" pitchFamily="34" charset="-122"/>
                    <a:ea typeface="微软雅黑" panose="020B0503020204020204" pitchFamily="34" charset="-122"/>
                    <a:cs typeface="宋体" charset="0"/>
                  </a:rPr>
                  <a:t>i</a:t>
                </a:r>
                <a:r>
                  <a:rPr kumimoji="1" lang="zh-CN" altLang="en-US" sz="1400" dirty="0" smtClean="0">
                    <a:latin typeface="微软雅黑" panose="020B0503020204020204" pitchFamily="34" charset="-122"/>
                    <a:ea typeface="微软雅黑" panose="020B0503020204020204" pitchFamily="34" charset="-122"/>
                    <a:cs typeface="宋体" charset="0"/>
                  </a:rPr>
                  <a:t>的占比，上面公式的意思是当两分布的距离超出阈值，且</a:t>
                </a:r>
                <a:r>
                  <a:rPr kumimoji="1" lang="zh-CN" altLang="en-US" sz="1400" dirty="0">
                    <a:latin typeface="微软雅黑" panose="020B0503020204020204" pitchFamily="34" charset="-122"/>
                    <a:ea typeface="微软雅黑" panose="020B0503020204020204" pitchFamily="34" charset="-122"/>
                    <a:cs typeface="宋体" charset="0"/>
                  </a:rPr>
                  <a:t>当前</a:t>
                </a:r>
                <a:r>
                  <a:rPr kumimoji="1" lang="zh-CN" altLang="en-US" sz="1400" dirty="0" smtClean="0">
                    <a:latin typeface="微软雅黑" panose="020B0503020204020204" pitchFamily="34" charset="-122"/>
                    <a:ea typeface="微软雅黑" panose="020B0503020204020204" pitchFamily="34" charset="-122"/>
                    <a:cs typeface="宋体" charset="0"/>
                  </a:rPr>
                  <a:t>分布桶</a:t>
                </a:r>
                <a:r>
                  <a:rPr kumimoji="1" lang="en-US" altLang="zh-CN" sz="1400" dirty="0" err="1" smtClean="0">
                    <a:latin typeface="微软雅黑" panose="020B0503020204020204" pitchFamily="34" charset="-122"/>
                    <a:ea typeface="微软雅黑" panose="020B0503020204020204" pitchFamily="34" charset="-122"/>
                    <a:cs typeface="宋体" charset="0"/>
                  </a:rPr>
                  <a:t>i</a:t>
                </a:r>
                <a:r>
                  <a:rPr kumimoji="1" lang="zh-CN" altLang="en-US" sz="1400" dirty="0" smtClean="0">
                    <a:latin typeface="微软雅黑" panose="020B0503020204020204" pitchFamily="34" charset="-122"/>
                    <a:ea typeface="微软雅黑" panose="020B0503020204020204" pitchFamily="34" charset="-122"/>
                    <a:cs typeface="宋体" charset="0"/>
                  </a:rPr>
                  <a:t>的占比超过基准分布桶</a:t>
                </a:r>
                <a:r>
                  <a:rPr kumimoji="1" lang="en-US" altLang="zh-CN" sz="1400" dirty="0" err="1" smtClean="0">
                    <a:latin typeface="微软雅黑" panose="020B0503020204020204" pitchFamily="34" charset="-122"/>
                    <a:ea typeface="微软雅黑" panose="020B0503020204020204" pitchFamily="34" charset="-122"/>
                    <a:cs typeface="宋体" charset="0"/>
                  </a:rPr>
                  <a:t>i</a:t>
                </a:r>
                <a:r>
                  <a:rPr kumimoji="1" lang="zh-CN" altLang="en-US" sz="1400" dirty="0" smtClean="0">
                    <a:latin typeface="微软雅黑" panose="020B0503020204020204" pitchFamily="34" charset="-122"/>
                    <a:ea typeface="微软雅黑" panose="020B0503020204020204" pitchFamily="34" charset="-122"/>
                    <a:cs typeface="宋体" charset="0"/>
                  </a:rPr>
                  <a:t>的占比时，过滤桶</a:t>
                </a:r>
                <a:r>
                  <a:rPr kumimoji="1" lang="en-US" altLang="zh-CN" sz="1400" dirty="0" err="1" smtClean="0">
                    <a:latin typeface="微软雅黑" panose="020B0503020204020204" pitchFamily="34" charset="-122"/>
                    <a:ea typeface="微软雅黑" panose="020B0503020204020204" pitchFamily="34" charset="-122"/>
                    <a:cs typeface="宋体" charset="0"/>
                  </a:rPr>
                  <a:t>i</a:t>
                </a:r>
                <a:r>
                  <a:rPr kumimoji="1" lang="zh-CN" altLang="en-US" sz="1400" dirty="0" smtClean="0">
                    <a:latin typeface="微软雅黑" panose="020B0503020204020204" pitchFamily="34" charset="-122"/>
                    <a:ea typeface="微软雅黑" panose="020B0503020204020204" pitchFamily="34" charset="-122"/>
                    <a:cs typeface="宋体" charset="0"/>
                  </a:rPr>
                  <a:t>中的日志</a:t>
                </a:r>
                <a:endParaRPr kumimoji="1" lang="en-US" altLang="zh-CN" sz="1400" dirty="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6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endParaRPr kumimoji="1" lang="en-US" altLang="zh-CN" sz="1800" dirty="0" smtClean="0">
                  <a:latin typeface="微软雅黑" panose="020B0503020204020204" pitchFamily="34" charset="-122"/>
                  <a:ea typeface="微软雅黑" panose="020B0503020204020204" pitchFamily="34" charset="-122"/>
                  <a:cs typeface="宋体"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480105" y="1002754"/>
                <a:ext cx="3803796" cy="3913804"/>
              </a:xfrm>
              <a:blipFill rotWithShape="1">
                <a:blip r:embed="rId2"/>
                <a:stretch>
                  <a:fillRect l="-1" t="-2" r="5" b="-22559"/>
                </a:stretch>
              </a:blipFill>
            </p:spPr>
            <p:txBody>
              <a:bodyPr/>
              <a:lstStyle/>
              <a:p>
                <a:r>
                  <a:rPr lang="zh-CN" altLang="en-US">
                    <a:noFill/>
                  </a:rPr>
                  <a:t> </a:t>
                </a:r>
              </a:p>
            </p:txBody>
          </p:sp>
        </mc:Fallback>
      </mc:AlternateContent>
      <p:sp>
        <p:nvSpPr>
          <p:cNvPr id="5" name="文本框 4"/>
          <p:cNvSpPr txBox="1"/>
          <p:nvPr/>
        </p:nvSpPr>
        <p:spPr>
          <a:xfrm>
            <a:off x="5408154" y="1346334"/>
            <a:ext cx="2438459" cy="276999"/>
          </a:xfrm>
          <a:prstGeom prst="rect">
            <a:avLst/>
          </a:prstGeom>
          <a:noFill/>
        </p:spPr>
        <p:txBody>
          <a:bodyPr wrap="square" rtlCol="0">
            <a:spAutoFit/>
          </a:bodyPr>
          <a:lstStyle/>
          <a:p>
            <a:pPr algn="ctr"/>
            <a:r>
              <a:rPr lang="zh-CN" altLang="en-US" sz="1200" dirty="0" smtClean="0"/>
              <a:t>表</a:t>
            </a:r>
            <a:r>
              <a:rPr lang="en-US" altLang="zh-CN" sz="1200" dirty="0" smtClean="0"/>
              <a:t>a: </a:t>
            </a:r>
            <a:r>
              <a:rPr lang="zh-CN" altLang="en-US" sz="1200" dirty="0" smtClean="0"/>
              <a:t>距离计算函数</a:t>
            </a:r>
            <a:endParaRPr lang="zh-CN" altLang="en-US" sz="1200" dirty="0"/>
          </a:p>
        </p:txBody>
      </p:sp>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nvGraphicFramePr>
            <p:xfrm>
              <a:off x="4344050" y="1667240"/>
              <a:ext cx="4566665" cy="2584832"/>
            </p:xfrm>
            <a:graphic>
              <a:graphicData uri="http://schemas.openxmlformats.org/drawingml/2006/table">
                <a:tbl>
                  <a:tblPr firstRow="1" bandRow="1">
                    <a:tableStyleId>{5C22544A-7EE6-4342-B048-85BDC9FD1C3A}</a:tableStyleId>
                  </a:tblPr>
                  <a:tblGrid>
                    <a:gridCol w="1472357"/>
                    <a:gridCol w="3094308"/>
                  </a:tblGrid>
                  <a:tr h="507455">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1400" b="0" kern="1200" dirty="0" smtClean="0">
                              <a:solidFill>
                                <a:schemeClr val="tx1"/>
                              </a:solidFill>
                              <a:latin typeface="+mj-lt"/>
                              <a:ea typeface="宋体" charset="0"/>
                              <a:cs typeface="宋体" charset="0"/>
                            </a:rPr>
                            <a:t>最大化差异度量</a:t>
                          </a:r>
                          <a:endParaRPr kumimoji="1" lang="zh-CN" altLang="en-US" sz="1400" b="0" kern="1200" dirty="0" smtClean="0">
                            <a:solidFill>
                              <a:schemeClr val="tx1"/>
                            </a:solidFill>
                            <a:latin typeface="+mj-lt"/>
                            <a:ea typeface="宋体" charset="0"/>
                            <a:cs typeface="宋体"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func>
                                  <m:funcPr>
                                    <m:ctrlPr>
                                      <a:rPr lang="zh-CN" altLang="zh-CN" sz="1400" b="0" i="1" kern="1200" smtClean="0">
                                        <a:solidFill>
                                          <a:schemeClr val="tx1"/>
                                        </a:solidFill>
                                        <a:effectLst/>
                                        <a:latin typeface="Cambria Math" panose="02040503050406030204" pitchFamily="18" charset="0"/>
                                        <a:ea typeface="宋体" charset="0"/>
                                        <a:cs typeface="宋体" charset="0"/>
                                      </a:rPr>
                                    </m:ctrlPr>
                                  </m:funcPr>
                                  <m:fName>
                                    <m:limLow>
                                      <m:limLowPr>
                                        <m:ctrlPr>
                                          <a:rPr lang="zh-CN" altLang="zh-CN" sz="1400" b="0" i="1" kern="1200">
                                            <a:solidFill>
                                              <a:schemeClr val="tx1"/>
                                            </a:solidFill>
                                            <a:effectLst/>
                                            <a:latin typeface="Cambria Math" panose="02040503050406030204" pitchFamily="18" charset="0"/>
                                            <a:ea typeface="宋体" charset="0"/>
                                            <a:cs typeface="宋体" charset="0"/>
                                          </a:rPr>
                                        </m:ctrlPr>
                                      </m:limLowPr>
                                      <m:e>
                                        <m:r>
                                          <a:rPr lang="en-US" altLang="zh-CN" sz="1400" b="0" i="1" kern="1200">
                                            <a:solidFill>
                                              <a:schemeClr val="tx1"/>
                                            </a:solidFill>
                                            <a:effectLst/>
                                            <a:latin typeface="Cambria Math" panose="02040503050406030204" pitchFamily="18" charset="0"/>
                                            <a:ea typeface="宋体" charset="0"/>
                                            <a:cs typeface="宋体" charset="0"/>
                                          </a:rPr>
                                          <m:t>𝑚𝑎𝑥</m:t>
                                        </m:r>
                                      </m:e>
                                      <m:lim>
                                        <m:r>
                                          <a:rPr lang="en-US" altLang="zh-CN" sz="1400" b="0" i="1" kern="1200">
                                            <a:solidFill>
                                              <a:schemeClr val="tx1"/>
                                            </a:solidFill>
                                            <a:effectLst/>
                                            <a:latin typeface="Cambria Math" panose="02040503050406030204" pitchFamily="18" charset="0"/>
                                            <a:ea typeface="宋体" charset="0"/>
                                            <a:cs typeface="宋体" charset="0"/>
                                          </a:rPr>
                                          <m:t>0</m:t>
                                        </m:r>
                                        <m:r>
                                          <a:rPr lang="en-US" altLang="zh-CN" sz="1400" b="0" kern="1200">
                                            <a:solidFill>
                                              <a:schemeClr val="tx1"/>
                                            </a:solidFill>
                                            <a:effectLst/>
                                            <a:latin typeface="Cambria Math" panose="02040503050406030204" pitchFamily="18" charset="0"/>
                                            <a:ea typeface="宋体" charset="0"/>
                                            <a:cs typeface="宋体" charset="0"/>
                                          </a:rPr>
                                          <m:t>&lt;</m:t>
                                        </m:r>
                                        <m:r>
                                          <a:rPr lang="en-US" altLang="zh-CN" sz="1400" b="0" i="1" kern="1200">
                                            <a:solidFill>
                                              <a:schemeClr val="tx1"/>
                                            </a:solidFill>
                                            <a:effectLst/>
                                            <a:latin typeface="Cambria Math" panose="02040503050406030204" pitchFamily="18" charset="0"/>
                                            <a:ea typeface="宋体" charset="0"/>
                                            <a:cs typeface="宋体" charset="0"/>
                                          </a:rPr>
                                          <m:t>𝑖</m:t>
                                        </m:r>
                                        <m:r>
                                          <a:rPr lang="en-US" altLang="zh-CN" sz="1400" b="0" kern="1200">
                                            <a:solidFill>
                                              <a:schemeClr val="tx1"/>
                                            </a:solidFill>
                                            <a:effectLst/>
                                            <a:latin typeface="Cambria Math" panose="02040503050406030204" pitchFamily="18" charset="0"/>
                                            <a:ea typeface="宋体" charset="0"/>
                                            <a:cs typeface="宋体" charset="0"/>
                                          </a:rPr>
                                          <m:t>&lt;</m:t>
                                        </m:r>
                                        <m:r>
                                          <a:rPr lang="en-US" altLang="zh-CN" sz="1400" b="0" i="1" kern="1200">
                                            <a:solidFill>
                                              <a:schemeClr val="tx1"/>
                                            </a:solidFill>
                                            <a:effectLst/>
                                            <a:latin typeface="Cambria Math" panose="02040503050406030204" pitchFamily="18" charset="0"/>
                                            <a:ea typeface="宋体" charset="0"/>
                                            <a:cs typeface="宋体" charset="0"/>
                                          </a:rPr>
                                          <m:t>𝑛</m:t>
                                        </m:r>
                                      </m:lim>
                                    </m:limLow>
                                  </m:fName>
                                  <m:e>
                                    <m:f>
                                      <m:fPr>
                                        <m:ctrlPr>
                                          <a:rPr lang="zh-CN" altLang="zh-CN" sz="1400" b="0" i="1" kern="1200">
                                            <a:solidFill>
                                              <a:schemeClr val="tx1"/>
                                            </a:solidFill>
                                            <a:effectLst/>
                                            <a:latin typeface="Cambria Math" panose="02040503050406030204" pitchFamily="18" charset="0"/>
                                            <a:ea typeface="宋体" charset="0"/>
                                            <a:cs typeface="宋体" charset="0"/>
                                          </a:rPr>
                                        </m:ctrlPr>
                                      </m:fPr>
                                      <m:num>
                                        <m:r>
                                          <a:rPr lang="en-US" altLang="zh-CN" sz="1400" b="0" i="1" kern="1200">
                                            <a:solidFill>
                                              <a:schemeClr val="tx1"/>
                                            </a:solidFill>
                                            <a:effectLst/>
                                            <a:latin typeface="Cambria Math" panose="02040503050406030204" pitchFamily="18" charset="0"/>
                                            <a:ea typeface="宋体" charset="0"/>
                                            <a:cs typeface="宋体" charset="0"/>
                                          </a:rPr>
                                          <m:t>𝑝𝑐</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𝑖</m:t>
                                        </m:r>
                                        <m:r>
                                          <a:rPr lang="en-US" altLang="zh-CN" sz="1400" b="0" kern="1200">
                                            <a:solidFill>
                                              <a:schemeClr val="tx1"/>
                                            </a:solidFill>
                                            <a:effectLst/>
                                            <a:latin typeface="Cambria Math" panose="02040503050406030204" pitchFamily="18" charset="0"/>
                                            <a:ea typeface="宋体" charset="0"/>
                                            <a:cs typeface="宋体" charset="0"/>
                                          </a:rPr>
                                          <m:t>]</m:t>
                                        </m:r>
                                        <m:r>
                                          <a:rPr lang="zh-CN" altLang="en-US" sz="1400" b="0" i="1"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𝑝𝑏</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𝑖</m:t>
                                        </m:r>
                                        <m:r>
                                          <a:rPr lang="en-US" altLang="zh-CN" sz="1400" b="0" kern="1200">
                                            <a:solidFill>
                                              <a:schemeClr val="tx1"/>
                                            </a:solidFill>
                                            <a:effectLst/>
                                            <a:latin typeface="Cambria Math" panose="02040503050406030204" pitchFamily="18" charset="0"/>
                                            <a:ea typeface="宋体" charset="0"/>
                                            <a:cs typeface="宋体" charset="0"/>
                                          </a:rPr>
                                          <m:t>]</m:t>
                                        </m:r>
                                      </m:num>
                                      <m:den>
                                        <m:r>
                                          <a:rPr lang="en-US" altLang="zh-CN" sz="1400" b="0" i="1" kern="1200">
                                            <a:solidFill>
                                              <a:schemeClr val="tx1"/>
                                            </a:solidFill>
                                            <a:effectLst/>
                                            <a:latin typeface="Cambria Math" panose="02040503050406030204" pitchFamily="18" charset="0"/>
                                            <a:ea typeface="宋体" charset="0"/>
                                            <a:cs typeface="宋体" charset="0"/>
                                          </a:rPr>
                                          <m:t>𝑝𝑏</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𝑖</m:t>
                                        </m:r>
                                        <m:r>
                                          <a:rPr lang="en-US" altLang="zh-CN" sz="1400" b="0" kern="1200">
                                            <a:solidFill>
                                              <a:schemeClr val="tx1"/>
                                            </a:solidFill>
                                            <a:effectLst/>
                                            <a:latin typeface="Cambria Math" panose="02040503050406030204" pitchFamily="18" charset="0"/>
                                            <a:ea typeface="宋体" charset="0"/>
                                            <a:cs typeface="宋体" charset="0"/>
                                          </a:rPr>
                                          <m:t>]</m:t>
                                        </m:r>
                                      </m:den>
                                    </m:f>
                                  </m:e>
                                </m:func>
                              </m:oMath>
                            </m:oMathPara>
                          </a14:m>
                          <a:endParaRPr lang="zh-CN" altLang="zh-CN" sz="1400" b="0" kern="1200" dirty="0">
                            <a:solidFill>
                              <a:schemeClr val="tx1"/>
                            </a:solidFill>
                            <a:effectLst/>
                            <a:latin typeface="+mj-lt"/>
                            <a:ea typeface="宋体" charset="0"/>
                            <a:cs typeface="宋体" charset="0"/>
                          </a:endParaRPr>
                        </a:p>
                      </a:txBody>
                      <a:tcPr anchor="ctr"/>
                    </a:tc>
                  </a:tr>
                  <a:tr h="637607">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1400" b="0" kern="1200" dirty="0" smtClean="0">
                              <a:solidFill>
                                <a:schemeClr val="tx1"/>
                              </a:solidFill>
                              <a:latin typeface="+mj-lt"/>
                              <a:ea typeface="宋体" charset="0"/>
                              <a:cs typeface="宋体" charset="0"/>
                            </a:rPr>
                            <a:t>卡方距离</a:t>
                          </a:r>
                          <a:endParaRPr kumimoji="1" lang="zh-CN" altLang="en-US" sz="1400" b="0" kern="1200" dirty="0" smtClean="0">
                            <a:solidFill>
                              <a:schemeClr val="tx1"/>
                            </a:solidFill>
                            <a:latin typeface="+mj-lt"/>
                            <a:ea typeface="宋体" charset="0"/>
                            <a:cs typeface="宋体"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nary>
                                  <m:naryPr>
                                    <m:chr m:val="∑"/>
                                    <m:limLoc m:val="undOvr"/>
                                    <m:ctrlPr>
                                      <a:rPr lang="zh-CN" altLang="zh-CN" sz="1400" b="0" i="1" kern="1200" smtClean="0">
                                        <a:solidFill>
                                          <a:schemeClr val="tx1"/>
                                        </a:solidFill>
                                        <a:effectLst/>
                                        <a:latin typeface="Cambria Math" panose="02040503050406030204" pitchFamily="18" charset="0"/>
                                        <a:ea typeface="宋体" charset="0"/>
                                        <a:cs typeface="宋体" charset="0"/>
                                      </a:rPr>
                                    </m:ctrlPr>
                                  </m:naryPr>
                                  <m:sub>
                                    <m:r>
                                      <a:rPr lang="en-US" altLang="zh-CN" sz="1400" b="0" i="1" kern="1200">
                                        <a:solidFill>
                                          <a:schemeClr val="tx1"/>
                                        </a:solidFill>
                                        <a:effectLst/>
                                        <a:latin typeface="Cambria Math" panose="02040503050406030204" pitchFamily="18" charset="0"/>
                                        <a:ea typeface="宋体" charset="0"/>
                                        <a:cs typeface="宋体" charset="0"/>
                                      </a:rPr>
                                      <m:t>𝑖</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0</m:t>
                                    </m:r>
                                  </m:sub>
                                  <m:sup>
                                    <m:r>
                                      <a:rPr lang="en-US" altLang="zh-CN" sz="1400" b="0" i="1" kern="1200">
                                        <a:solidFill>
                                          <a:schemeClr val="tx1"/>
                                        </a:solidFill>
                                        <a:effectLst/>
                                        <a:latin typeface="Cambria Math" panose="02040503050406030204" pitchFamily="18" charset="0"/>
                                        <a:ea typeface="宋体" charset="0"/>
                                        <a:cs typeface="宋体" charset="0"/>
                                      </a:rPr>
                                      <m:t>𝑛</m:t>
                                    </m:r>
                                  </m:sup>
                                  <m:e>
                                    <m:f>
                                      <m:fPr>
                                        <m:ctrlPr>
                                          <a:rPr lang="zh-CN" altLang="zh-CN" sz="1400" b="0" i="1" kern="1200">
                                            <a:solidFill>
                                              <a:schemeClr val="tx1"/>
                                            </a:solidFill>
                                            <a:effectLst/>
                                            <a:latin typeface="Cambria Math" panose="02040503050406030204" pitchFamily="18" charset="0"/>
                                            <a:ea typeface="宋体" charset="0"/>
                                            <a:cs typeface="宋体" charset="0"/>
                                          </a:rPr>
                                        </m:ctrlPr>
                                      </m:fPr>
                                      <m:num>
                                        <m:sSup>
                                          <m:sSupPr>
                                            <m:ctrlPr>
                                              <a:rPr lang="zh-CN" altLang="zh-CN" sz="1400" b="0" i="1" kern="1200">
                                                <a:solidFill>
                                                  <a:schemeClr val="tx1"/>
                                                </a:solidFill>
                                                <a:effectLst/>
                                                <a:latin typeface="Cambria Math" panose="02040503050406030204" pitchFamily="18" charset="0"/>
                                                <a:ea typeface="宋体" charset="0"/>
                                                <a:cs typeface="宋体" charset="0"/>
                                              </a:rPr>
                                            </m:ctrlPr>
                                          </m:sSupPr>
                                          <m:e>
                                            <m:d>
                                              <m:dPr>
                                                <m:ctrlPr>
                                                  <a:rPr lang="zh-CN" altLang="zh-CN" sz="1400" b="0" i="1" kern="1200">
                                                    <a:solidFill>
                                                      <a:schemeClr val="tx1"/>
                                                    </a:solidFill>
                                                    <a:effectLst/>
                                                    <a:latin typeface="Cambria Math" panose="02040503050406030204" pitchFamily="18" charset="0"/>
                                                    <a:ea typeface="宋体" charset="0"/>
                                                    <a:cs typeface="宋体" charset="0"/>
                                                  </a:rPr>
                                                </m:ctrlPr>
                                              </m:dPr>
                                              <m:e>
                                                <m:r>
                                                  <a:rPr lang="en-US" altLang="zh-CN" sz="1400" b="0" i="1" kern="1200">
                                                    <a:solidFill>
                                                      <a:schemeClr val="tx1"/>
                                                    </a:solidFill>
                                                    <a:effectLst/>
                                                    <a:latin typeface="Cambria Math" panose="02040503050406030204" pitchFamily="18" charset="0"/>
                                                    <a:ea typeface="宋体" charset="0"/>
                                                    <a:cs typeface="宋体" charset="0"/>
                                                  </a:rPr>
                                                  <m:t>𝑝𝑐</m:t>
                                                </m:r>
                                                <m:d>
                                                  <m:dPr>
                                                    <m:begChr m:val="["/>
                                                    <m:endChr m:val="]"/>
                                                    <m:ctrlPr>
                                                      <a:rPr lang="zh-CN" altLang="zh-CN" sz="1400" b="0" i="1" kern="1200">
                                                        <a:solidFill>
                                                          <a:schemeClr val="tx1"/>
                                                        </a:solidFill>
                                                        <a:effectLst/>
                                                        <a:latin typeface="Cambria Math" panose="02040503050406030204" pitchFamily="18" charset="0"/>
                                                        <a:ea typeface="宋体" charset="0"/>
                                                        <a:cs typeface="宋体" charset="0"/>
                                                      </a:rPr>
                                                    </m:ctrlPr>
                                                  </m:dPr>
                                                  <m:e>
                                                    <m:r>
                                                      <a:rPr lang="en-US" altLang="zh-CN" sz="1400" b="0" i="1" kern="1200">
                                                        <a:solidFill>
                                                          <a:schemeClr val="tx1"/>
                                                        </a:solidFill>
                                                        <a:effectLst/>
                                                        <a:latin typeface="Cambria Math" panose="02040503050406030204" pitchFamily="18" charset="0"/>
                                                        <a:ea typeface="宋体" charset="0"/>
                                                        <a:cs typeface="宋体" charset="0"/>
                                                      </a:rPr>
                                                      <m:t>𝑖</m:t>
                                                    </m:r>
                                                  </m:e>
                                                </m:d>
                                                <m:r>
                                                  <a:rPr lang="en-US" altLang="zh-CN" sz="1400" b="0" i="1"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𝑝𝑏</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𝑖</m:t>
                                                </m:r>
                                                <m:r>
                                                  <a:rPr lang="en-US" altLang="zh-CN" sz="1400" b="0" kern="1200">
                                                    <a:solidFill>
                                                      <a:schemeClr val="tx1"/>
                                                    </a:solidFill>
                                                    <a:effectLst/>
                                                    <a:latin typeface="Cambria Math" panose="02040503050406030204" pitchFamily="18" charset="0"/>
                                                    <a:ea typeface="宋体" charset="0"/>
                                                    <a:cs typeface="宋体" charset="0"/>
                                                  </a:rPr>
                                                  <m:t>]</m:t>
                                                </m:r>
                                              </m:e>
                                            </m:d>
                                          </m:e>
                                          <m:sup>
                                            <m:r>
                                              <a:rPr lang="en-US" altLang="zh-CN" sz="1400" b="0" i="1" kern="1200">
                                                <a:solidFill>
                                                  <a:schemeClr val="tx1"/>
                                                </a:solidFill>
                                                <a:effectLst/>
                                                <a:latin typeface="Cambria Math" panose="02040503050406030204" pitchFamily="18" charset="0"/>
                                                <a:ea typeface="宋体" charset="0"/>
                                                <a:cs typeface="宋体" charset="0"/>
                                              </a:rPr>
                                              <m:t>2</m:t>
                                            </m:r>
                                          </m:sup>
                                        </m:sSup>
                                      </m:num>
                                      <m:den>
                                        <m:r>
                                          <a:rPr lang="en-US" altLang="zh-CN" sz="1400" b="0" i="1" kern="1200">
                                            <a:solidFill>
                                              <a:schemeClr val="tx1"/>
                                            </a:solidFill>
                                            <a:effectLst/>
                                            <a:latin typeface="Cambria Math" panose="02040503050406030204" pitchFamily="18" charset="0"/>
                                            <a:ea typeface="宋体" charset="0"/>
                                            <a:cs typeface="宋体" charset="0"/>
                                          </a:rPr>
                                          <m:t>𝑝𝑏</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𝑖</m:t>
                                        </m:r>
                                        <m:r>
                                          <a:rPr lang="en-US" altLang="zh-CN" sz="1400" b="0" kern="1200">
                                            <a:solidFill>
                                              <a:schemeClr val="tx1"/>
                                            </a:solidFill>
                                            <a:effectLst/>
                                            <a:latin typeface="Cambria Math" panose="02040503050406030204" pitchFamily="18" charset="0"/>
                                            <a:ea typeface="宋体" charset="0"/>
                                            <a:cs typeface="宋体" charset="0"/>
                                          </a:rPr>
                                          <m:t>]</m:t>
                                        </m:r>
                                      </m:den>
                                    </m:f>
                                  </m:e>
                                </m:nary>
                              </m:oMath>
                            </m:oMathPara>
                          </a14:m>
                          <a:endParaRPr lang="zh-CN" altLang="zh-CN" sz="1400" b="0" kern="1200" dirty="0">
                            <a:solidFill>
                              <a:schemeClr val="tx1"/>
                            </a:solidFill>
                            <a:effectLst/>
                            <a:latin typeface="+mj-lt"/>
                            <a:ea typeface="宋体" charset="0"/>
                            <a:cs typeface="宋体" charset="0"/>
                          </a:endParaRPr>
                        </a:p>
                      </a:txBody>
                      <a:tcPr anchor="ctr"/>
                    </a:tc>
                  </a:tr>
                  <a:tr h="662172">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1400" b="0" kern="1200" dirty="0" smtClean="0">
                              <a:solidFill>
                                <a:schemeClr val="tx1"/>
                              </a:solidFill>
                              <a:latin typeface="+mj-lt"/>
                              <a:ea typeface="宋体" charset="0"/>
                              <a:cs typeface="宋体" charset="0"/>
                            </a:rPr>
                            <a:t>卡方检验</a:t>
                          </a:r>
                          <a:endParaRPr kumimoji="1" lang="zh-CN" altLang="en-US" sz="1400" b="0" kern="1200" dirty="0" smtClean="0">
                            <a:solidFill>
                              <a:schemeClr val="tx1"/>
                            </a:solidFill>
                            <a:latin typeface="+mj-lt"/>
                            <a:ea typeface="宋体" charset="0"/>
                            <a:cs typeface="宋体"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nary>
                                  <m:naryPr>
                                    <m:chr m:val="∑"/>
                                    <m:limLoc m:val="undOvr"/>
                                    <m:ctrlPr>
                                      <a:rPr lang="zh-CN" altLang="zh-CN" sz="1400" b="0" i="1" kern="1200" smtClean="0">
                                        <a:solidFill>
                                          <a:schemeClr val="tx1"/>
                                        </a:solidFill>
                                        <a:effectLst/>
                                        <a:latin typeface="Cambria Math" panose="02040503050406030204" pitchFamily="18" charset="0"/>
                                        <a:ea typeface="宋体" charset="0"/>
                                        <a:cs typeface="宋体" charset="0"/>
                                      </a:rPr>
                                    </m:ctrlPr>
                                  </m:naryPr>
                                  <m:sub>
                                    <m:r>
                                      <a:rPr lang="en-US" altLang="zh-CN" sz="1400" b="0" i="1" kern="1200">
                                        <a:solidFill>
                                          <a:schemeClr val="tx1"/>
                                        </a:solidFill>
                                        <a:effectLst/>
                                        <a:latin typeface="Cambria Math" panose="02040503050406030204" pitchFamily="18" charset="0"/>
                                        <a:ea typeface="宋体" charset="0"/>
                                        <a:cs typeface="宋体" charset="0"/>
                                      </a:rPr>
                                      <m:t>𝑖</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0</m:t>
                                    </m:r>
                                  </m:sub>
                                  <m:sup>
                                    <m:r>
                                      <a:rPr lang="en-US" altLang="zh-CN" sz="1400" b="0" i="1" kern="1200">
                                        <a:solidFill>
                                          <a:schemeClr val="tx1"/>
                                        </a:solidFill>
                                        <a:effectLst/>
                                        <a:latin typeface="Cambria Math" panose="02040503050406030204" pitchFamily="18" charset="0"/>
                                        <a:ea typeface="宋体" charset="0"/>
                                        <a:cs typeface="宋体" charset="0"/>
                                      </a:rPr>
                                      <m:t>𝑛</m:t>
                                    </m:r>
                                  </m:sup>
                                  <m:e>
                                    <m:sSup>
                                      <m:sSupPr>
                                        <m:ctrlPr>
                                          <a:rPr lang="zh-CN" altLang="zh-CN" sz="1400" b="0" i="1" kern="1200">
                                            <a:solidFill>
                                              <a:schemeClr val="tx1"/>
                                            </a:solidFill>
                                            <a:effectLst/>
                                            <a:latin typeface="Cambria Math" panose="02040503050406030204" pitchFamily="18" charset="0"/>
                                            <a:ea typeface="宋体" charset="0"/>
                                            <a:cs typeface="宋体" charset="0"/>
                                          </a:rPr>
                                        </m:ctrlPr>
                                      </m:sSupPr>
                                      <m:e>
                                        <m:d>
                                          <m:dPr>
                                            <m:ctrlPr>
                                              <a:rPr lang="zh-CN" altLang="zh-CN" sz="1400" b="0" i="1" kern="1200">
                                                <a:solidFill>
                                                  <a:schemeClr val="tx1"/>
                                                </a:solidFill>
                                                <a:effectLst/>
                                                <a:latin typeface="Cambria Math" panose="02040503050406030204" pitchFamily="18" charset="0"/>
                                                <a:ea typeface="宋体" charset="0"/>
                                                <a:cs typeface="宋体" charset="0"/>
                                              </a:rPr>
                                            </m:ctrlPr>
                                          </m:dPr>
                                          <m:e>
                                            <m:d>
                                              <m:dPr>
                                                <m:ctrlPr>
                                                  <a:rPr lang="zh-CN" altLang="zh-CN" sz="1400" b="0" i="1" kern="1200">
                                                    <a:solidFill>
                                                      <a:schemeClr val="tx1"/>
                                                    </a:solidFill>
                                                    <a:effectLst/>
                                                    <a:latin typeface="Cambria Math" panose="02040503050406030204" pitchFamily="18" charset="0"/>
                                                    <a:ea typeface="宋体" charset="0"/>
                                                    <a:cs typeface="宋体" charset="0"/>
                                                  </a:rPr>
                                                </m:ctrlPr>
                                              </m:dPr>
                                              <m:e>
                                                <m:f>
                                                  <m:fPr>
                                                    <m:ctrlPr>
                                                      <a:rPr lang="zh-CN" altLang="zh-CN" sz="1400" b="0" i="1" kern="1200">
                                                        <a:solidFill>
                                                          <a:schemeClr val="tx1"/>
                                                        </a:solidFill>
                                                        <a:effectLst/>
                                                        <a:latin typeface="Cambria Math" panose="02040503050406030204" pitchFamily="18" charset="0"/>
                                                        <a:ea typeface="宋体" charset="0"/>
                                                        <a:cs typeface="宋体" charset="0"/>
                                                      </a:rPr>
                                                    </m:ctrlPr>
                                                  </m:fPr>
                                                  <m:num>
                                                    <m:r>
                                                      <a:rPr lang="en-US" altLang="zh-CN" sz="1400" b="0" i="1" kern="1200">
                                                        <a:solidFill>
                                                          <a:schemeClr val="tx1"/>
                                                        </a:solidFill>
                                                        <a:effectLst/>
                                                        <a:latin typeface="Cambria Math" panose="02040503050406030204" pitchFamily="18" charset="0"/>
                                                        <a:ea typeface="宋体" charset="0"/>
                                                        <a:cs typeface="宋体" charset="0"/>
                                                      </a:rPr>
                                                      <m:t>𝑝𝑐</m:t>
                                                    </m:r>
                                                    <m:d>
                                                      <m:dPr>
                                                        <m:begChr m:val="["/>
                                                        <m:endChr m:val="]"/>
                                                        <m:ctrlPr>
                                                          <a:rPr lang="zh-CN" altLang="zh-CN" sz="1400" b="0" i="1" kern="1200">
                                                            <a:solidFill>
                                                              <a:schemeClr val="tx1"/>
                                                            </a:solidFill>
                                                            <a:effectLst/>
                                                            <a:latin typeface="Cambria Math" panose="02040503050406030204" pitchFamily="18" charset="0"/>
                                                            <a:ea typeface="宋体" charset="0"/>
                                                            <a:cs typeface="宋体" charset="0"/>
                                                          </a:rPr>
                                                        </m:ctrlPr>
                                                      </m:dPr>
                                                      <m:e>
                                                        <m:r>
                                                          <a:rPr lang="en-US" altLang="zh-CN" sz="1400" b="0" i="1" kern="1200">
                                                            <a:solidFill>
                                                              <a:schemeClr val="tx1"/>
                                                            </a:solidFill>
                                                            <a:effectLst/>
                                                            <a:latin typeface="Cambria Math" panose="02040503050406030204" pitchFamily="18" charset="0"/>
                                                            <a:ea typeface="宋体" charset="0"/>
                                                            <a:cs typeface="宋体" charset="0"/>
                                                          </a:rPr>
                                                          <m:t>𝑖</m:t>
                                                        </m:r>
                                                      </m:e>
                                                    </m:d>
                                                    <m:r>
                                                      <a:rPr lang="en-US" altLang="zh-CN" sz="1400" b="0" i="1"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𝑝𝑏</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𝑖</m:t>
                                                    </m:r>
                                                    <m:r>
                                                      <a:rPr lang="en-US" altLang="zh-CN" sz="1400" b="0" kern="1200">
                                                        <a:solidFill>
                                                          <a:schemeClr val="tx1"/>
                                                        </a:solidFill>
                                                        <a:effectLst/>
                                                        <a:latin typeface="Cambria Math" panose="02040503050406030204" pitchFamily="18" charset="0"/>
                                                        <a:ea typeface="宋体" charset="0"/>
                                                        <a:cs typeface="宋体" charset="0"/>
                                                      </a:rPr>
                                                      <m:t>]</m:t>
                                                    </m:r>
                                                  </m:num>
                                                  <m:den>
                                                    <m:r>
                                                      <a:rPr lang="en-US" altLang="zh-CN" sz="1400" b="0" i="1" kern="1200">
                                                        <a:solidFill>
                                                          <a:schemeClr val="tx1"/>
                                                        </a:solidFill>
                                                        <a:effectLst/>
                                                        <a:latin typeface="Cambria Math" panose="02040503050406030204" pitchFamily="18" charset="0"/>
                                                        <a:ea typeface="宋体" charset="0"/>
                                                        <a:cs typeface="宋体" charset="0"/>
                                                      </a:rPr>
                                                      <m:t>𝑝𝑏</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𝑖</m:t>
                                                    </m:r>
                                                    <m:r>
                                                      <a:rPr lang="en-US" altLang="zh-CN" sz="1400" b="0" kern="1200">
                                                        <a:solidFill>
                                                          <a:schemeClr val="tx1"/>
                                                        </a:solidFill>
                                                        <a:effectLst/>
                                                        <a:latin typeface="Cambria Math" panose="02040503050406030204" pitchFamily="18" charset="0"/>
                                                        <a:ea typeface="宋体" charset="0"/>
                                                        <a:cs typeface="宋体" charset="0"/>
                                                      </a:rPr>
                                                      <m:t>]</m:t>
                                                    </m:r>
                                                  </m:den>
                                                </m:f>
                                              </m:e>
                                            </m:d>
                                            <m:r>
                                              <a:rPr lang="en-US" altLang="zh-CN" sz="1400" b="0" kern="1200">
                                                <a:solidFill>
                                                  <a:schemeClr val="tx1"/>
                                                </a:solidFill>
                                                <a:effectLst/>
                                                <a:latin typeface="Cambria Math" panose="02040503050406030204" pitchFamily="18" charset="0"/>
                                                <a:ea typeface="宋体" charset="0"/>
                                                <a:cs typeface="宋体" charset="0"/>
                                              </a:rPr>
                                              <m:t>×</m:t>
                                            </m:r>
                                            <m:sSup>
                                              <m:sSupPr>
                                                <m:ctrlPr>
                                                  <a:rPr lang="zh-CN" altLang="zh-CN" sz="1400" b="0" i="1" kern="1200">
                                                    <a:solidFill>
                                                      <a:schemeClr val="tx1"/>
                                                    </a:solidFill>
                                                    <a:effectLst/>
                                                    <a:latin typeface="Cambria Math" panose="02040503050406030204" pitchFamily="18" charset="0"/>
                                                    <a:ea typeface="宋体" charset="0"/>
                                                    <a:cs typeface="宋体" charset="0"/>
                                                  </a:rPr>
                                                </m:ctrlPr>
                                              </m:sSupPr>
                                              <m:e>
                                                <m:r>
                                                  <a:rPr lang="en-US" altLang="zh-CN" sz="1400" b="0" i="1" kern="1200">
                                                    <a:solidFill>
                                                      <a:schemeClr val="tx1"/>
                                                    </a:solidFill>
                                                    <a:effectLst/>
                                                    <a:latin typeface="Cambria Math" panose="02040503050406030204" pitchFamily="18" charset="0"/>
                                                    <a:ea typeface="宋体" charset="0"/>
                                                    <a:cs typeface="宋体" charset="0"/>
                                                  </a:rPr>
                                                  <m:t>1</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8</m:t>
                                                </m:r>
                                              </m:e>
                                              <m:sup>
                                                <m:r>
                                                  <a:rPr lang="en-US" altLang="zh-CN" sz="1400" b="0" i="1" kern="1200">
                                                    <a:solidFill>
                                                      <a:schemeClr val="tx1"/>
                                                    </a:solidFill>
                                                    <a:effectLst/>
                                                    <a:latin typeface="Cambria Math" panose="02040503050406030204" pitchFamily="18" charset="0"/>
                                                    <a:ea typeface="宋体" charset="0"/>
                                                    <a:cs typeface="宋体" charset="0"/>
                                                  </a:rPr>
                                                  <m:t>10</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𝑝𝑏</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𝑖</m:t>
                                                </m:r>
                                                <m:r>
                                                  <a:rPr lang="en-US" altLang="zh-CN" sz="1400" b="0" kern="1200">
                                                    <a:solidFill>
                                                      <a:schemeClr val="tx1"/>
                                                    </a:solidFill>
                                                    <a:effectLst/>
                                                    <a:latin typeface="Cambria Math" panose="02040503050406030204" pitchFamily="18" charset="0"/>
                                                    <a:ea typeface="宋体" charset="0"/>
                                                    <a:cs typeface="宋体" charset="0"/>
                                                  </a:rPr>
                                                  <m:t>]</m:t>
                                                </m:r>
                                              </m:sup>
                                            </m:sSup>
                                          </m:e>
                                        </m:d>
                                      </m:e>
                                      <m:sup>
                                        <m:r>
                                          <a:rPr lang="en-US" altLang="zh-CN" sz="1400" b="0" i="1" kern="1200">
                                            <a:solidFill>
                                              <a:schemeClr val="tx1"/>
                                            </a:solidFill>
                                            <a:effectLst/>
                                            <a:latin typeface="Cambria Math" panose="02040503050406030204" pitchFamily="18" charset="0"/>
                                            <a:ea typeface="宋体" charset="0"/>
                                            <a:cs typeface="宋体" charset="0"/>
                                          </a:rPr>
                                          <m:t>4</m:t>
                                        </m:r>
                                      </m:sup>
                                    </m:sSup>
                                  </m:e>
                                </m:nary>
                              </m:oMath>
                            </m:oMathPara>
                          </a14:m>
                          <a:endParaRPr lang="zh-CN" altLang="zh-CN" sz="1400" b="0" kern="1200" dirty="0">
                            <a:solidFill>
                              <a:schemeClr val="tx1"/>
                            </a:solidFill>
                            <a:effectLst/>
                            <a:latin typeface="+mj-lt"/>
                            <a:ea typeface="宋体" charset="0"/>
                            <a:cs typeface="宋体" charset="0"/>
                          </a:endParaRPr>
                        </a:p>
                      </a:txBody>
                      <a:tcPr anchor="ctr"/>
                    </a:tc>
                  </a:tr>
                  <a:tr h="637607">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en-US" altLang="zh-CN" sz="1400" b="0" kern="1200" dirty="0" smtClean="0">
                              <a:solidFill>
                                <a:schemeClr val="tx1"/>
                              </a:solidFill>
                              <a:latin typeface="+mj-lt"/>
                              <a:ea typeface="宋体" charset="0"/>
                              <a:cs typeface="宋体" charset="0"/>
                            </a:rPr>
                            <a:t>KL</a:t>
                          </a:r>
                          <a:r>
                            <a:rPr kumimoji="1" lang="zh-CN" altLang="en-US" sz="1400" b="0" kern="1200" dirty="0" smtClean="0">
                              <a:solidFill>
                                <a:schemeClr val="tx1"/>
                              </a:solidFill>
                              <a:latin typeface="+mj-lt"/>
                              <a:ea typeface="宋体" charset="0"/>
                              <a:cs typeface="宋体" charset="0"/>
                            </a:rPr>
                            <a:t>差异度</a:t>
                          </a:r>
                          <a:endParaRPr kumimoji="1" lang="zh-CN" altLang="en-US" sz="1400" b="0" kern="1200" dirty="0" smtClean="0">
                            <a:solidFill>
                              <a:schemeClr val="tx1"/>
                            </a:solidFill>
                            <a:latin typeface="+mj-lt"/>
                            <a:ea typeface="宋体" charset="0"/>
                            <a:cs typeface="宋体"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nary>
                                  <m:naryPr>
                                    <m:chr m:val="∑"/>
                                    <m:limLoc m:val="undOvr"/>
                                    <m:ctrlPr>
                                      <a:rPr lang="zh-CN" altLang="zh-CN" sz="1400" b="0" i="1" kern="1200" smtClean="0">
                                        <a:solidFill>
                                          <a:schemeClr val="tx1"/>
                                        </a:solidFill>
                                        <a:effectLst/>
                                        <a:latin typeface="Cambria Math" panose="02040503050406030204" pitchFamily="18" charset="0"/>
                                        <a:ea typeface="宋体" charset="0"/>
                                        <a:cs typeface="宋体" charset="0"/>
                                      </a:rPr>
                                    </m:ctrlPr>
                                  </m:naryPr>
                                  <m:sub>
                                    <m:r>
                                      <a:rPr lang="en-US" altLang="zh-CN" sz="1400" b="0" i="1" kern="1200">
                                        <a:solidFill>
                                          <a:schemeClr val="tx1"/>
                                        </a:solidFill>
                                        <a:effectLst/>
                                        <a:latin typeface="Cambria Math" panose="02040503050406030204" pitchFamily="18" charset="0"/>
                                        <a:ea typeface="宋体" charset="0"/>
                                        <a:cs typeface="宋体" charset="0"/>
                                      </a:rPr>
                                      <m:t>𝑖</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0</m:t>
                                    </m:r>
                                  </m:sub>
                                  <m:sup>
                                    <m:r>
                                      <a:rPr lang="en-US" altLang="zh-CN" sz="1400" b="0" i="1" kern="1200">
                                        <a:solidFill>
                                          <a:schemeClr val="tx1"/>
                                        </a:solidFill>
                                        <a:effectLst/>
                                        <a:latin typeface="Cambria Math" panose="02040503050406030204" pitchFamily="18" charset="0"/>
                                        <a:ea typeface="宋体" charset="0"/>
                                        <a:cs typeface="宋体" charset="0"/>
                                      </a:rPr>
                                      <m:t>𝑛</m:t>
                                    </m:r>
                                  </m:sup>
                                  <m:e>
                                    <m:r>
                                      <a:rPr lang="en-US" altLang="zh-CN" sz="1400" b="0" i="1" kern="1200">
                                        <a:solidFill>
                                          <a:schemeClr val="tx1"/>
                                        </a:solidFill>
                                        <a:effectLst/>
                                        <a:latin typeface="Cambria Math" panose="02040503050406030204" pitchFamily="18" charset="0"/>
                                        <a:ea typeface="宋体" charset="0"/>
                                        <a:cs typeface="宋体" charset="0"/>
                                      </a:rPr>
                                      <m:t>𝑝𝑐</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𝑖</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𝑙𝑜𝑔</m:t>
                                    </m:r>
                                    <m:d>
                                      <m:dPr>
                                        <m:ctrlPr>
                                          <a:rPr lang="zh-CN" altLang="zh-CN" sz="1400" b="0" i="1" kern="1200">
                                            <a:solidFill>
                                              <a:schemeClr val="tx1"/>
                                            </a:solidFill>
                                            <a:effectLst/>
                                            <a:latin typeface="Cambria Math" panose="02040503050406030204" pitchFamily="18" charset="0"/>
                                            <a:ea typeface="宋体" charset="0"/>
                                            <a:cs typeface="宋体" charset="0"/>
                                          </a:rPr>
                                        </m:ctrlPr>
                                      </m:dPr>
                                      <m:e>
                                        <m:f>
                                          <m:fPr>
                                            <m:ctrlPr>
                                              <a:rPr lang="zh-CN" altLang="zh-CN" sz="1400" b="0" i="1" kern="1200">
                                                <a:solidFill>
                                                  <a:schemeClr val="tx1"/>
                                                </a:solidFill>
                                                <a:effectLst/>
                                                <a:latin typeface="Cambria Math" panose="02040503050406030204" pitchFamily="18" charset="0"/>
                                                <a:ea typeface="宋体" charset="0"/>
                                                <a:cs typeface="宋体" charset="0"/>
                                              </a:rPr>
                                            </m:ctrlPr>
                                          </m:fPr>
                                          <m:num>
                                            <m:r>
                                              <a:rPr lang="en-US" altLang="zh-CN" sz="1400" b="0" i="1" kern="1200">
                                                <a:solidFill>
                                                  <a:schemeClr val="tx1"/>
                                                </a:solidFill>
                                                <a:effectLst/>
                                                <a:latin typeface="Cambria Math" panose="02040503050406030204" pitchFamily="18" charset="0"/>
                                                <a:ea typeface="宋体" charset="0"/>
                                                <a:cs typeface="宋体" charset="0"/>
                                              </a:rPr>
                                              <m:t>𝑝𝑐</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𝑖</m:t>
                                            </m:r>
                                            <m:r>
                                              <a:rPr lang="en-US" altLang="zh-CN" sz="1400" b="0" kern="1200">
                                                <a:solidFill>
                                                  <a:schemeClr val="tx1"/>
                                                </a:solidFill>
                                                <a:effectLst/>
                                                <a:latin typeface="Cambria Math" panose="02040503050406030204" pitchFamily="18" charset="0"/>
                                                <a:ea typeface="宋体" charset="0"/>
                                                <a:cs typeface="宋体" charset="0"/>
                                              </a:rPr>
                                              <m:t>]</m:t>
                                            </m:r>
                                          </m:num>
                                          <m:den>
                                            <m:r>
                                              <a:rPr lang="en-US" altLang="zh-CN" sz="1400" b="0" i="1" kern="1200">
                                                <a:solidFill>
                                                  <a:schemeClr val="tx1"/>
                                                </a:solidFill>
                                                <a:effectLst/>
                                                <a:latin typeface="Cambria Math" panose="02040503050406030204" pitchFamily="18" charset="0"/>
                                                <a:ea typeface="宋体" charset="0"/>
                                                <a:cs typeface="宋体" charset="0"/>
                                              </a:rPr>
                                              <m:t>𝑝𝑏</m:t>
                                            </m:r>
                                            <m:r>
                                              <a:rPr lang="en-US" altLang="zh-CN" sz="1400" b="0" kern="1200">
                                                <a:solidFill>
                                                  <a:schemeClr val="tx1"/>
                                                </a:solidFill>
                                                <a:effectLst/>
                                                <a:latin typeface="Cambria Math" panose="02040503050406030204" pitchFamily="18" charset="0"/>
                                                <a:ea typeface="宋体" charset="0"/>
                                                <a:cs typeface="宋体" charset="0"/>
                                              </a:rPr>
                                              <m:t>[</m:t>
                                            </m:r>
                                            <m:r>
                                              <a:rPr lang="en-US" altLang="zh-CN" sz="1400" b="0" i="1" kern="1200">
                                                <a:solidFill>
                                                  <a:schemeClr val="tx1"/>
                                                </a:solidFill>
                                                <a:effectLst/>
                                                <a:latin typeface="Cambria Math" panose="02040503050406030204" pitchFamily="18" charset="0"/>
                                                <a:ea typeface="宋体" charset="0"/>
                                                <a:cs typeface="宋体" charset="0"/>
                                              </a:rPr>
                                              <m:t>𝑖</m:t>
                                            </m:r>
                                            <m:r>
                                              <a:rPr lang="en-US" altLang="zh-CN" sz="1400" b="0" kern="1200">
                                                <a:solidFill>
                                                  <a:schemeClr val="tx1"/>
                                                </a:solidFill>
                                                <a:effectLst/>
                                                <a:latin typeface="Cambria Math" panose="02040503050406030204" pitchFamily="18" charset="0"/>
                                                <a:ea typeface="宋体" charset="0"/>
                                                <a:cs typeface="宋体" charset="0"/>
                                              </a:rPr>
                                              <m:t>]</m:t>
                                            </m:r>
                                          </m:den>
                                        </m:f>
                                      </m:e>
                                    </m:d>
                                  </m:e>
                                </m:nary>
                              </m:oMath>
                            </m:oMathPara>
                          </a14:m>
                          <a:endParaRPr lang="zh-CN" altLang="zh-CN" sz="1400" b="0" kern="1200" dirty="0">
                            <a:solidFill>
                              <a:schemeClr val="tx1"/>
                            </a:solidFill>
                            <a:effectLst/>
                            <a:latin typeface="+mj-lt"/>
                            <a:ea typeface="宋体" charset="0"/>
                            <a:cs typeface="宋体" charset="0"/>
                          </a:endParaRPr>
                        </a:p>
                      </a:txBody>
                      <a:tcPr anchor="ctr"/>
                    </a:tc>
                  </a:tr>
                </a:tbl>
              </a:graphicData>
            </a:graphic>
          </p:graphicFrame>
        </mc:Choice>
        <mc:Fallback xmlns="">
          <p:graphicFrame>
            <p:nvGraphicFramePr>
              <p:cNvPr id="6" name="表格 5"/>
              <p:cNvGraphicFramePr>
                <a:graphicFrameLocks noGrp="1"/>
              </p:cNvGraphicFramePr>
              <p:nvPr/>
            </p:nvGraphicFramePr>
            <p:xfrm>
              <a:off x="4344050" y="1667240"/>
              <a:ext cx="4566665" cy="2584832"/>
            </p:xfrm>
            <a:graphic>
              <a:graphicData uri="http://schemas.openxmlformats.org/drawingml/2006/table">
                <a:tbl>
                  <a:tblPr firstRow="1" bandRow="1">
                    <a:tableStyleId>{5C22544A-7EE6-4342-B048-85BDC9FD1C3A}</a:tableStyleId>
                  </a:tblPr>
                  <a:tblGrid>
                    <a:gridCol w="1472357"/>
                    <a:gridCol w="3094308"/>
                  </a:tblGrid>
                  <a:tr h="528955">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1400" b="0" kern="1200" dirty="0" smtClean="0">
                              <a:solidFill>
                                <a:schemeClr val="tx1"/>
                              </a:solidFill>
                              <a:latin typeface="+mj-lt"/>
                              <a:ea typeface="宋体" charset="0"/>
                              <a:cs typeface="宋体" charset="0"/>
                            </a:rPr>
                            <a:t>最大化差异度量</a:t>
                          </a:r>
                          <a:endParaRPr kumimoji="1" lang="zh-CN" altLang="en-US" sz="1400" b="0" kern="1200" dirty="0" smtClean="0">
                            <a:solidFill>
                              <a:schemeClr val="tx1"/>
                            </a:solidFill>
                            <a:latin typeface="+mj-lt"/>
                            <a:ea typeface="宋体" charset="0"/>
                            <a:cs typeface="宋体" charset="0"/>
                          </a:endParaRPr>
                        </a:p>
                      </a:txBody>
                      <a:tcPr anchor="ctr"/>
                    </a:tc>
                    <a:tc>
                      <a:txBody>
                        <a:bodyPr/>
                        <a:lstStyle/>
                        <a:p>
                          <a:endParaRPr lang="zh-CN"/>
                        </a:p>
                      </a:txBody>
                      <a:tcPr anchor="ctr">
                        <a:blipFill>
                          <a:blip r:embed="rId3"/>
                        </a:blipFill>
                      </a:tcPr>
                    </a:tc>
                  </a:tr>
                  <a:tr h="63754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1400" b="0" kern="1200" dirty="0" smtClean="0">
                              <a:solidFill>
                                <a:schemeClr val="tx1"/>
                              </a:solidFill>
                              <a:latin typeface="+mj-lt"/>
                              <a:ea typeface="宋体" charset="0"/>
                              <a:cs typeface="宋体" charset="0"/>
                            </a:rPr>
                            <a:t>卡方距离</a:t>
                          </a:r>
                          <a:endParaRPr kumimoji="1" lang="zh-CN" altLang="en-US" sz="1400" b="0" kern="1200" dirty="0" smtClean="0">
                            <a:solidFill>
                              <a:schemeClr val="tx1"/>
                            </a:solidFill>
                            <a:latin typeface="+mj-lt"/>
                            <a:ea typeface="宋体" charset="0"/>
                            <a:cs typeface="宋体" charset="0"/>
                          </a:endParaRPr>
                        </a:p>
                      </a:txBody>
                      <a:tcPr anchor="ctr"/>
                    </a:tc>
                    <a:tc>
                      <a:txBody>
                        <a:bodyPr/>
                        <a:lstStyle/>
                        <a:p>
                          <a:endParaRPr lang="zh-CN"/>
                        </a:p>
                      </a:txBody>
                      <a:tcPr anchor="ctr">
                        <a:blipFill>
                          <a:blip r:embed="rId3"/>
                        </a:blipFill>
                      </a:tcPr>
                    </a:tc>
                  </a:tr>
                  <a:tr h="662305">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1400" b="0" kern="1200" dirty="0" smtClean="0">
                              <a:solidFill>
                                <a:schemeClr val="tx1"/>
                              </a:solidFill>
                              <a:latin typeface="+mj-lt"/>
                              <a:ea typeface="宋体" charset="0"/>
                              <a:cs typeface="宋体" charset="0"/>
                            </a:rPr>
                            <a:t>卡方检验</a:t>
                          </a:r>
                          <a:endParaRPr kumimoji="1" lang="zh-CN" altLang="en-US" sz="1400" b="0" kern="1200" dirty="0" smtClean="0">
                            <a:solidFill>
                              <a:schemeClr val="tx1"/>
                            </a:solidFill>
                            <a:latin typeface="+mj-lt"/>
                            <a:ea typeface="宋体" charset="0"/>
                            <a:cs typeface="宋体" charset="0"/>
                          </a:endParaRPr>
                        </a:p>
                      </a:txBody>
                      <a:tcPr anchor="ctr"/>
                    </a:tc>
                    <a:tc>
                      <a:txBody>
                        <a:bodyPr/>
                        <a:lstStyle/>
                        <a:p>
                          <a:endParaRPr lang="zh-CN"/>
                        </a:p>
                      </a:txBody>
                      <a:tcPr anchor="ctr">
                        <a:blipFill>
                          <a:blip r:embed="rId3"/>
                        </a:blipFill>
                      </a:tcPr>
                    </a:tc>
                  </a:tr>
                  <a:tr h="63754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en-US" altLang="zh-CN" sz="1400" b="0" kern="1200" dirty="0" smtClean="0">
                              <a:solidFill>
                                <a:schemeClr val="tx1"/>
                              </a:solidFill>
                              <a:latin typeface="+mj-lt"/>
                              <a:ea typeface="宋体" charset="0"/>
                              <a:cs typeface="宋体" charset="0"/>
                            </a:rPr>
                            <a:t>KL</a:t>
                          </a:r>
                          <a:r>
                            <a:rPr kumimoji="1" lang="zh-CN" altLang="en-US" sz="1400" b="0" kern="1200" dirty="0" smtClean="0">
                              <a:solidFill>
                                <a:schemeClr val="tx1"/>
                              </a:solidFill>
                              <a:latin typeface="+mj-lt"/>
                              <a:ea typeface="宋体" charset="0"/>
                              <a:cs typeface="宋体" charset="0"/>
                            </a:rPr>
                            <a:t>差异度</a:t>
                          </a:r>
                          <a:endParaRPr kumimoji="1" lang="zh-CN" altLang="en-US" sz="1400" b="0" kern="1200" dirty="0" smtClean="0">
                            <a:solidFill>
                              <a:schemeClr val="tx1"/>
                            </a:solidFill>
                            <a:latin typeface="+mj-lt"/>
                            <a:ea typeface="宋体" charset="0"/>
                            <a:cs typeface="宋体" charset="0"/>
                          </a:endParaRPr>
                        </a:p>
                      </a:txBody>
                      <a:tcPr anchor="ctr"/>
                    </a:tc>
                    <a:tc>
                      <a:txBody>
                        <a:bodyPr/>
                        <a:lstStyle/>
                        <a:p>
                          <a:endParaRPr lang="zh-CN"/>
                        </a:p>
                      </a:txBody>
                      <a:tcPr anchor="ctr">
                        <a:blipFill>
                          <a:blip r:embed="rId3"/>
                        </a:blipFill>
                      </a:tcPr>
                    </a:tc>
                  </a:tr>
                </a:tbl>
              </a:graphicData>
            </a:graphic>
          </p:graphicFrame>
        </mc:Fallback>
      </mc:AlternateContent>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982180"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基于分布特征的分布策略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3996361" cy="3913804"/>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分布特征</a:t>
            </a:r>
            <a:r>
              <a:rPr kumimoji="1" lang="en-US" altLang="zh-CN" sz="1800" dirty="0" smtClean="0">
                <a:latin typeface="微软雅黑" panose="020B0503020204020204" pitchFamily="34" charset="-122"/>
                <a:ea typeface="微软雅黑" panose="020B0503020204020204" pitchFamily="34" charset="-122"/>
                <a:cs typeface="宋体" charset="0"/>
              </a:rPr>
              <a:t>(distribution)</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400" dirty="0">
                <a:latin typeface="微软雅黑" panose="020B0503020204020204" pitchFamily="34" charset="-122"/>
                <a:ea typeface="微软雅黑" panose="020B0503020204020204" pitchFamily="34" charset="-122"/>
                <a:cs typeface="宋体" charset="0"/>
              </a:rPr>
              <a:t>在一定段长的日志中，</a:t>
            </a:r>
            <a:r>
              <a:rPr kumimoji="1" lang="zh-CN" altLang="en-US" sz="1400" dirty="0" smtClean="0">
                <a:latin typeface="微软雅黑" panose="020B0503020204020204" pitchFamily="34" charset="-122"/>
                <a:ea typeface="微软雅黑" panose="020B0503020204020204" pitchFamily="34" charset="-122"/>
                <a:cs typeface="宋体" charset="0"/>
              </a:rPr>
              <a:t>同</a:t>
            </a:r>
            <a:r>
              <a:rPr kumimoji="1" lang="zh-CN" altLang="en-US" sz="1400" dirty="0">
                <a:latin typeface="微软雅黑" panose="020B0503020204020204" pitchFamily="34" charset="-122"/>
                <a:ea typeface="微软雅黑" panose="020B0503020204020204" pitchFamily="34" charset="-122"/>
                <a:cs typeface="宋体" charset="0"/>
              </a:rPr>
              <a:t>一</a:t>
            </a:r>
            <a:r>
              <a:rPr kumimoji="1" lang="zh-CN" altLang="en-US" sz="1400" dirty="0" smtClean="0">
                <a:latin typeface="微软雅黑" panose="020B0503020204020204" pitchFamily="34" charset="-122"/>
                <a:ea typeface="微软雅黑" panose="020B0503020204020204" pitchFamily="34" charset="-122"/>
                <a:cs typeface="宋体" charset="0"/>
              </a:rPr>
              <a:t>个主维度</a:t>
            </a:r>
            <a:r>
              <a:rPr kumimoji="1" lang="en-US" altLang="zh-CN" sz="1400" dirty="0" smtClean="0">
                <a:latin typeface="微软雅黑" panose="020B0503020204020204" pitchFamily="34" charset="-122"/>
                <a:ea typeface="微软雅黑" panose="020B0503020204020204" pitchFamily="34" charset="-122"/>
                <a:cs typeface="宋体" charset="0"/>
              </a:rPr>
              <a:t>(view)</a:t>
            </a:r>
            <a:r>
              <a:rPr kumimoji="1" lang="zh-CN" altLang="en-US" sz="1400" dirty="0" smtClean="0">
                <a:latin typeface="微软雅黑" panose="020B0503020204020204" pitchFamily="34" charset="-122"/>
                <a:ea typeface="微软雅黑" panose="020B0503020204020204" pitchFamily="34" charset="-122"/>
                <a:cs typeface="宋体" charset="0"/>
              </a:rPr>
              <a:t>下</a:t>
            </a:r>
            <a:r>
              <a:rPr kumimoji="1" lang="zh-CN" altLang="en-US" sz="1400" dirty="0">
                <a:latin typeface="微软雅黑" panose="020B0503020204020204" pitchFamily="34" charset="-122"/>
                <a:ea typeface="微软雅黑" panose="020B0503020204020204" pitchFamily="34" charset="-122"/>
                <a:cs typeface="宋体" charset="0"/>
              </a:rPr>
              <a:t>，</a:t>
            </a:r>
            <a:r>
              <a:rPr kumimoji="1" lang="zh-CN" altLang="en-US" sz="1400" dirty="0" smtClean="0">
                <a:latin typeface="微软雅黑" panose="020B0503020204020204" pitchFamily="34" charset="-122"/>
                <a:ea typeface="微软雅黑" panose="020B0503020204020204" pitchFamily="34" charset="-122"/>
                <a:cs typeface="宋体" charset="0"/>
              </a:rPr>
              <a:t>每个</a:t>
            </a:r>
            <a:r>
              <a:rPr kumimoji="1" lang="zh-CN" altLang="en-US" sz="1400" dirty="0">
                <a:latin typeface="微软雅黑" panose="020B0503020204020204" pitchFamily="34" charset="-122"/>
                <a:ea typeface="微软雅黑" panose="020B0503020204020204" pitchFamily="34" charset="-122"/>
                <a:cs typeface="宋体" charset="0"/>
              </a:rPr>
              <a:t>子</a:t>
            </a:r>
            <a:r>
              <a:rPr kumimoji="1" lang="zh-CN" altLang="en-US" sz="1400" dirty="0" smtClean="0">
                <a:latin typeface="微软雅黑" panose="020B0503020204020204" pitchFamily="34" charset="-122"/>
                <a:ea typeface="微软雅黑" panose="020B0503020204020204" pitchFamily="34" charset="-122"/>
                <a:cs typeface="宋体" charset="0"/>
              </a:rPr>
              <a:t>维度</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en-US" altLang="zh-CN" sz="1400" dirty="0" err="1" smtClean="0">
                <a:latin typeface="微软雅黑" panose="020B0503020204020204" pitchFamily="34" charset="-122"/>
                <a:ea typeface="微软雅黑" panose="020B0503020204020204" pitchFamily="34" charset="-122"/>
                <a:cs typeface="宋体" charset="0"/>
              </a:rPr>
              <a:t>data_view</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zh-CN" altLang="en-US" sz="1400" dirty="0" smtClean="0">
                <a:latin typeface="微软雅黑" panose="020B0503020204020204" pitchFamily="34" charset="-122"/>
                <a:ea typeface="微软雅黑" panose="020B0503020204020204" pitchFamily="34" charset="-122"/>
                <a:cs typeface="宋体" charset="0"/>
              </a:rPr>
              <a:t>值的分布</a:t>
            </a:r>
            <a:endParaRPr kumimoji="1" lang="en-US" altLang="zh-CN" sz="14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en-US" altLang="zh-CN" sz="1800" dirty="0">
                <a:latin typeface="微软雅黑" panose="020B0503020204020204" pitchFamily="34" charset="-122"/>
                <a:ea typeface="微软雅黑" panose="020B0503020204020204" pitchFamily="34" charset="-122"/>
                <a:cs typeface="宋体" charset="0"/>
              </a:rPr>
              <a:t>5041</a:t>
            </a:r>
            <a:r>
              <a:rPr kumimoji="1" lang="zh-CN" altLang="en-US" sz="1800" dirty="0" smtClean="0">
                <a:latin typeface="微软雅黑" panose="020B0503020204020204" pitchFamily="34" charset="-122"/>
                <a:ea typeface="微软雅黑" panose="020B0503020204020204" pitchFamily="34" charset="-122"/>
                <a:cs typeface="宋体" charset="0"/>
              </a:rPr>
              <a:t>策略</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变量说明</a:t>
            </a:r>
            <a:r>
              <a:rPr kumimoji="1" lang="en-US" altLang="zh-CN"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200" dirty="0" err="1" smtClean="0">
                <a:latin typeface="微软雅黑" panose="020B0503020204020204" pitchFamily="34" charset="-122"/>
                <a:ea typeface="微软雅黑" panose="020B0503020204020204" pitchFamily="34" charset="-122"/>
                <a:cs typeface="宋体" charset="0"/>
              </a:rPr>
              <a:t>count_threshold</a:t>
            </a:r>
            <a:r>
              <a:rPr kumimoji="1" lang="zh-CN" altLang="en-US" sz="1200" dirty="0" smtClean="0">
                <a:latin typeface="微软雅黑" panose="020B0503020204020204" pitchFamily="34" charset="-122"/>
                <a:ea typeface="微软雅黑" panose="020B0503020204020204" pitchFamily="34" charset="-122"/>
                <a:cs typeface="宋体" charset="0"/>
              </a:rPr>
              <a:t>：段的累积量超过该参数的值才开始过滤，加上之前的两个标准</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200" dirty="0" err="1" smtClean="0">
                <a:latin typeface="微软雅黑" panose="020B0503020204020204" pitchFamily="34" charset="-122"/>
                <a:ea typeface="微软雅黑" panose="020B0503020204020204" pitchFamily="34" charset="-122"/>
                <a:cs typeface="宋体" charset="0"/>
              </a:rPr>
              <a:t>simple_distribution</a:t>
            </a:r>
            <a:r>
              <a:rPr kumimoji="1" lang="zh-CN" altLang="en-US" sz="1200" dirty="0" smtClean="0">
                <a:latin typeface="微软雅黑" panose="020B0503020204020204" pitchFamily="34" charset="-122"/>
                <a:ea typeface="微软雅黑" panose="020B0503020204020204" pitchFamily="34" charset="-122"/>
                <a:cs typeface="宋体" charset="0"/>
              </a:rPr>
              <a:t>：</a:t>
            </a:r>
            <a:r>
              <a:rPr kumimoji="1" lang="zh-CN" altLang="en-US" sz="1200" dirty="0">
                <a:latin typeface="微软雅黑" panose="020B0503020204020204" pitchFamily="34" charset="-122"/>
                <a:ea typeface="微软雅黑" panose="020B0503020204020204" pitchFamily="34" charset="-122"/>
                <a:cs typeface="宋体" charset="0"/>
              </a:rPr>
              <a:t>决定</a:t>
            </a:r>
            <a:r>
              <a:rPr kumimoji="1" lang="zh-CN" altLang="en-US" sz="1200" dirty="0" smtClean="0">
                <a:latin typeface="微软雅黑" panose="020B0503020204020204" pitchFamily="34" charset="-122"/>
                <a:ea typeface="微软雅黑" panose="020B0503020204020204" pitchFamily="34" charset="-122"/>
                <a:cs typeface="宋体" charset="0"/>
              </a:rPr>
              <a:t>分布计算公式</a:t>
            </a:r>
            <a:endParaRPr kumimoji="1" lang="en-US" altLang="zh-CN" sz="12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a:latin typeface="微软雅黑" panose="020B0503020204020204" pitchFamily="34" charset="-122"/>
                <a:ea typeface="微软雅黑" panose="020B0503020204020204" pitchFamily="34" charset="-122"/>
                <a:cs typeface="宋体" charset="0"/>
              </a:rPr>
              <a:t>凤巢</a:t>
            </a:r>
            <a:r>
              <a:rPr kumimoji="1" lang="en-US" altLang="zh-CN" sz="1400" dirty="0">
                <a:latin typeface="微软雅黑" panose="020B0503020204020204" pitchFamily="34" charset="-122"/>
                <a:ea typeface="微软雅黑" panose="020B0503020204020204" pitchFamily="34" charset="-122"/>
                <a:cs typeface="宋体" charset="0"/>
              </a:rPr>
              <a:t>pc</a:t>
            </a:r>
            <a:r>
              <a:rPr kumimoji="1" lang="zh-CN" altLang="en-US" sz="1400" dirty="0" smtClean="0">
                <a:latin typeface="微软雅黑" panose="020B0503020204020204" pitchFamily="34" charset="-122"/>
                <a:ea typeface="微软雅黑" panose="020B0503020204020204" pitchFamily="34" charset="-122"/>
                <a:cs typeface="宋体" charset="0"/>
              </a:rPr>
              <a:t>端、点展时间差超过</a:t>
            </a:r>
            <a:r>
              <a:rPr kumimoji="1" lang="en-US" altLang="zh-CN" sz="1400" dirty="0" smtClean="0">
                <a:latin typeface="微软雅黑" panose="020B0503020204020204" pitchFamily="34" charset="-122"/>
                <a:ea typeface="微软雅黑" panose="020B0503020204020204" pitchFamily="34" charset="-122"/>
                <a:cs typeface="宋体" charset="0"/>
              </a:rPr>
              <a:t>13</a:t>
            </a:r>
            <a:r>
              <a:rPr kumimoji="1" lang="zh-CN" altLang="en-US" sz="1400" dirty="0" smtClean="0">
                <a:latin typeface="微软雅黑" panose="020B0503020204020204" pitchFamily="34" charset="-122"/>
                <a:ea typeface="微软雅黑" panose="020B0503020204020204" pitchFamily="34" charset="-122"/>
                <a:cs typeface="宋体" charset="0"/>
              </a:rPr>
              <a:t>秒的每</a:t>
            </a:r>
            <a:r>
              <a:rPr kumimoji="1" lang="en-US" altLang="zh-CN" sz="1400" dirty="0">
                <a:latin typeface="微软雅黑" panose="020B0503020204020204" pitchFamily="34" charset="-122"/>
                <a:ea typeface="微软雅黑" panose="020B0503020204020204" pitchFamily="34" charset="-122"/>
                <a:cs typeface="宋体" charset="0"/>
              </a:rPr>
              <a:t>2000</a:t>
            </a:r>
            <a:r>
              <a:rPr kumimoji="1" lang="zh-CN" altLang="en-US" sz="1400" dirty="0">
                <a:latin typeface="微软雅黑" panose="020B0503020204020204" pitchFamily="34" charset="-122"/>
                <a:ea typeface="微软雅黑" panose="020B0503020204020204" pitchFamily="34" charset="-122"/>
                <a:cs typeface="宋体" charset="0"/>
              </a:rPr>
              <a:t>万</a:t>
            </a:r>
            <a:r>
              <a:rPr kumimoji="1" lang="zh-CN" altLang="en-US" sz="1400" dirty="0" smtClean="0">
                <a:latin typeface="微软雅黑" panose="020B0503020204020204" pitchFamily="34" charset="-122"/>
                <a:ea typeface="微软雅黑" panose="020B0503020204020204" pitchFamily="34" charset="-122"/>
                <a:cs typeface="宋体" charset="0"/>
              </a:rPr>
              <a:t>点击日志中</a:t>
            </a:r>
            <a:r>
              <a:rPr kumimoji="1" lang="zh-CN" altLang="en-US" sz="1400" dirty="0">
                <a:latin typeface="微软雅黑" panose="020B0503020204020204" pitchFamily="34" charset="-122"/>
                <a:ea typeface="微软雅黑" panose="020B0503020204020204" pitchFamily="34" charset="-122"/>
                <a:cs typeface="宋体" charset="0"/>
              </a:rPr>
              <a:t>，同一</a:t>
            </a:r>
            <a:r>
              <a:rPr kumimoji="1" lang="en-US" altLang="zh-CN" sz="1400" dirty="0" err="1">
                <a:latin typeface="微软雅黑" panose="020B0503020204020204" pitchFamily="34" charset="-122"/>
                <a:ea typeface="微软雅黑" panose="020B0503020204020204" pitchFamily="34" charset="-122"/>
                <a:cs typeface="宋体" charset="0"/>
              </a:rPr>
              <a:t>userid</a:t>
            </a:r>
            <a:r>
              <a:rPr kumimoji="1" lang="zh-CN" altLang="en-US" sz="1400" dirty="0">
                <a:latin typeface="微软雅黑" panose="020B0503020204020204" pitchFamily="34" charset="-122"/>
                <a:ea typeface="微软雅黑" panose="020B0503020204020204" pitchFamily="34" charset="-122"/>
                <a:cs typeface="宋体" charset="0"/>
              </a:rPr>
              <a:t>下，点展时间差的分布与基准分布的</a:t>
            </a:r>
            <a:r>
              <a:rPr kumimoji="1" lang="en-US" altLang="zh-CN" sz="1400" dirty="0" err="1">
                <a:latin typeface="微软雅黑" panose="020B0503020204020204" pitchFamily="34" charset="-122"/>
                <a:ea typeface="微软雅黑" panose="020B0503020204020204" pitchFamily="34" charset="-122"/>
                <a:cs typeface="宋体" charset="0"/>
              </a:rPr>
              <a:t>max_diff</a:t>
            </a:r>
            <a:r>
              <a:rPr kumimoji="1" lang="zh-CN" altLang="en-US" sz="1400" dirty="0">
                <a:latin typeface="微软雅黑" panose="020B0503020204020204" pitchFamily="34" charset="-122"/>
                <a:ea typeface="微软雅黑" panose="020B0503020204020204" pitchFamily="34" charset="-122"/>
                <a:cs typeface="宋体" charset="0"/>
              </a:rPr>
              <a:t>不能</a:t>
            </a:r>
            <a:r>
              <a:rPr kumimoji="1" lang="zh-CN" altLang="en-US" sz="1400" dirty="0" smtClean="0">
                <a:latin typeface="微软雅黑" panose="020B0503020204020204" pitchFamily="34" charset="-122"/>
                <a:ea typeface="微软雅黑" panose="020B0503020204020204" pitchFamily="34" charset="-122"/>
                <a:cs typeface="宋体" charset="0"/>
              </a:rPr>
              <a:t>超过</a:t>
            </a:r>
            <a:r>
              <a:rPr kumimoji="1" lang="en-US" altLang="zh-CN" sz="1400" dirty="0" smtClean="0">
                <a:latin typeface="微软雅黑" panose="020B0503020204020204" pitchFamily="34" charset="-122"/>
                <a:ea typeface="微软雅黑" panose="020B0503020204020204" pitchFamily="34" charset="-122"/>
                <a:cs typeface="宋体" charset="0"/>
              </a:rPr>
              <a:t>2</a:t>
            </a:r>
            <a:endParaRPr kumimoji="1" lang="en-US" altLang="zh-CN" sz="1400" dirty="0">
              <a:latin typeface="微软雅黑" panose="020B0503020204020204" pitchFamily="34" charset="-122"/>
              <a:ea typeface="微软雅黑" panose="020B0503020204020204" pitchFamily="34" charset="-122"/>
              <a:cs typeface="宋体" charset="0"/>
            </a:endParaRPr>
          </a:p>
        </p:txBody>
      </p:sp>
      <p:sp>
        <p:nvSpPr>
          <p:cNvPr id="6" name="矩形 5"/>
          <p:cNvSpPr/>
          <p:nvPr/>
        </p:nvSpPr>
        <p:spPr>
          <a:xfrm>
            <a:off x="6719145" y="1082219"/>
            <a:ext cx="2221655" cy="3785652"/>
          </a:xfrm>
          <a:prstGeom prst="rect">
            <a:avLst/>
          </a:prstGeom>
          <a:solidFill>
            <a:schemeClr val="tx1">
              <a:lumMod val="95000"/>
              <a:lumOff val="5000"/>
            </a:schemeClr>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[@feature]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5041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distribution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func_type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max_diff</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stand_prob</a:t>
            </a:r>
            <a:r>
              <a:rPr lang="en-US" altLang="zh-CN" sz="1200" dirty="0">
                <a:solidFill>
                  <a:srgbClr val="33CC33"/>
                </a:solidFill>
                <a:latin typeface="Times New Roman" panose="02020603050405020304" charset="0"/>
                <a:cs typeface="Times New Roman" panose="02020603050405020304" charset="0"/>
              </a:rPr>
              <a:t>  : 0.200, 0.200, 0.200, 0.200, 0.200</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click_level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 [#</a:t>
            </a:r>
            <a:r>
              <a:rPr lang="en-US" altLang="zh-CN" sz="1200" dirty="0" err="1">
                <a:solidFill>
                  <a:srgbClr val="33CC33"/>
                </a:solidFill>
                <a:latin typeface="Times New Roman" panose="02020603050405020304" charset="0"/>
                <a:cs typeface="Times New Roman" panose="02020603050405020304" charset="0"/>
              </a:rPr>
              <a:t>SearchClick</a:t>
            </a:r>
            <a:r>
              <a:rPr lang="en-US" altLang="zh-CN" sz="1200" dirty="0">
                <a:solidFill>
                  <a:srgbClr val="33CC33"/>
                </a:solidFill>
                <a:latin typeface="Times New Roman" panose="02020603050405020304" charset="0"/>
                <a:cs typeface="Times New Roman" panose="02020603050405020304" charset="0"/>
              </a:rPr>
              <a:t>][#PC]['</a:t>
            </a:r>
            <a:r>
              <a:rPr lang="en-US" altLang="zh-CN" sz="1200" dirty="0" err="1">
                <a:solidFill>
                  <a:srgbClr val="33CC33"/>
                </a:solidFill>
                <a:latin typeface="Times New Roman" panose="02020603050405020304" charset="0"/>
                <a:cs typeface="Times New Roman" panose="02020603050405020304" charset="0"/>
              </a:rPr>
              <a:t>cdtime_diff</a:t>
            </a:r>
            <a:r>
              <a:rPr lang="en-US" altLang="zh-CN" sz="1200" dirty="0">
                <a:solidFill>
                  <a:srgbClr val="33CC33"/>
                </a:solidFill>
                <a:latin typeface="Times New Roman" panose="02020603050405020304" charset="0"/>
                <a:cs typeface="Times New Roman" panose="02020603050405020304" charset="0"/>
              </a:rPr>
              <a:t>'&gt;=13][#</a:t>
            </a:r>
            <a:r>
              <a:rPr lang="en-US" altLang="zh-CN" sz="1200" dirty="0" err="1">
                <a:solidFill>
                  <a:srgbClr val="33CC33"/>
                </a:solidFill>
                <a:latin typeface="Times New Roman" panose="02020603050405020304" charset="0"/>
                <a:cs typeface="Times New Roman" panose="02020603050405020304" charset="0"/>
              </a:rPr>
              <a:t>ValidCdtime</a:t>
            </a:r>
            <a:r>
              <a:rPr lang="en-US" altLang="zh-CN" sz="1200" dirty="0">
                <a:solidFill>
                  <a:srgbClr val="33CC33"/>
                </a:solidFill>
                <a:latin typeface="Times New Roman" panose="02020603050405020304" charset="0"/>
                <a:cs typeface="Times New Roman" panose="02020603050405020304" charset="0"/>
              </a:rPr>
              <a:t>]</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a:t>
            </a:r>
            <a:r>
              <a:rPr lang="en-US" altLang="zh-CN" sz="1200" dirty="0" err="1">
                <a:solidFill>
                  <a:srgbClr val="33CC33"/>
                </a:solidFill>
                <a:latin typeface="Times New Roman" panose="02020603050405020304" charset="0"/>
                <a:cs typeface="Times New Roman" panose="02020603050405020304" charset="0"/>
              </a:rPr>
              <a:t>userid</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data_view</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cdtime_diff</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interval_endpoints</a:t>
            </a:r>
            <a:r>
              <a:rPr lang="en-US" altLang="zh-CN" sz="1200" dirty="0">
                <a:solidFill>
                  <a:srgbClr val="33CC33"/>
                </a:solidFill>
                <a:latin typeface="Times New Roman" panose="02020603050405020304" charset="0"/>
                <a:cs typeface="Times New Roman" panose="02020603050405020304" charset="0"/>
              </a:rPr>
              <a:t> : 20, 35, 77, 236</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count_threshold</a:t>
            </a:r>
            <a:r>
              <a:rPr lang="en-US" altLang="zh-CN" sz="1200" dirty="0">
                <a:solidFill>
                  <a:srgbClr val="33CC33"/>
                </a:solidFill>
                <a:latin typeface="Times New Roman" panose="02020603050405020304" charset="0"/>
                <a:cs typeface="Times New Roman" panose="02020603050405020304" charset="0"/>
              </a:rPr>
              <a:t> : 200</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version      : 4</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window_type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pv</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window_length</a:t>
            </a:r>
            <a:r>
              <a:rPr lang="en-US" altLang="zh-CN" sz="1200" dirty="0">
                <a:solidFill>
                  <a:srgbClr val="33CC33"/>
                </a:solidFill>
                <a:latin typeface="Times New Roman" panose="02020603050405020304" charset="0"/>
                <a:cs typeface="Times New Roman" panose="02020603050405020304" charset="0"/>
              </a:rPr>
              <a:t>: 20000000</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click_mode</a:t>
            </a:r>
            <a:r>
              <a:rPr lang="en-US" altLang="zh-CN" sz="1200" dirty="0">
                <a:solidFill>
                  <a:srgbClr val="33CC33"/>
                </a:solidFill>
                <a:latin typeface="Times New Roman" panose="02020603050405020304" charset="0"/>
                <a:cs typeface="Times New Roman" panose="02020603050405020304" charset="0"/>
              </a:rPr>
              <a:t>   : 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step_length</a:t>
            </a:r>
            <a:r>
              <a:rPr lang="en-US" altLang="zh-CN" sz="1200" dirty="0">
                <a:solidFill>
                  <a:srgbClr val="33CC33"/>
                </a:solidFill>
                <a:latin typeface="Times New Roman" panose="02020603050405020304" charset="0"/>
                <a:cs typeface="Times New Roman" panose="02020603050405020304" charset="0"/>
              </a:rPr>
              <a:t>  : 20000000</a:t>
            </a:r>
            <a:endParaRPr lang="en-US" altLang="zh-CN" sz="1200" dirty="0">
              <a:solidFill>
                <a:srgbClr val="33CC33"/>
              </a:solidFill>
              <a:latin typeface="Times New Roman" panose="02020603050405020304" charset="0"/>
              <a:cs typeface="Times New Roman" panose="02020603050405020304" charset="0"/>
            </a:endParaRPr>
          </a:p>
        </p:txBody>
      </p:sp>
      <p:sp>
        <p:nvSpPr>
          <p:cNvPr id="8" name="文本框 7"/>
          <p:cNvSpPr txBox="1"/>
          <p:nvPr/>
        </p:nvSpPr>
        <p:spPr>
          <a:xfrm>
            <a:off x="5313692" y="787453"/>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a:t>
            </a:r>
            <a:r>
              <a:rPr lang="en-US" altLang="zh-CN" sz="1200" dirty="0">
                <a:latin typeface="微软雅黑" panose="020B0503020204020204" pitchFamily="34" charset="-122"/>
                <a:ea typeface="微软雅黑" panose="020B0503020204020204" pitchFamily="34" charset="-122"/>
              </a:rPr>
              <a:t>5041</a:t>
            </a:r>
            <a:r>
              <a:rPr lang="zh-CN" altLang="en-US" sz="1200" dirty="0" smtClean="0">
                <a:latin typeface="微软雅黑" panose="020B0503020204020204" pitchFamily="34" charset="-122"/>
                <a:ea typeface="微软雅黑" panose="020B0503020204020204" pitchFamily="34" charset="-122"/>
              </a:rPr>
              <a:t>策略配置文件</a:t>
            </a:r>
            <a:endParaRPr lang="zh-CN" altLang="en-US" sz="1200" dirty="0">
              <a:latin typeface="微软雅黑" panose="020B0503020204020204" pitchFamily="34" charset="-122"/>
              <a:ea typeface="微软雅黑" panose="020B0503020204020204" pitchFamily="34" charset="-122"/>
            </a:endParaRPr>
          </a:p>
        </p:txBody>
      </p:sp>
      <p:sp>
        <p:nvSpPr>
          <p:cNvPr id="11" name="矩形 10"/>
          <p:cNvSpPr/>
          <p:nvPr/>
        </p:nvSpPr>
        <p:spPr>
          <a:xfrm>
            <a:off x="4868454" y="1082590"/>
            <a:ext cx="1850691" cy="2308324"/>
          </a:xfrm>
          <a:prstGeom prst="rect">
            <a:avLst/>
          </a:prstGeom>
          <a:solidFill>
            <a:schemeClr val="tx1">
              <a:lumMod val="95000"/>
              <a:lumOff val="5000"/>
            </a:schemeClr>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 5041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5041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distribution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func_type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max_diff</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stand_prob</a:t>
            </a:r>
            <a:r>
              <a:rPr lang="en-US" altLang="zh-CN" sz="1200" dirty="0">
                <a:solidFill>
                  <a:srgbClr val="33CC33"/>
                </a:solidFill>
                <a:latin typeface="Times New Roman" panose="02020603050405020304" charset="0"/>
                <a:cs typeface="Times New Roman" panose="02020603050405020304" charset="0"/>
              </a:rPr>
              <a:t>  : 0.200, 0.200, 0.200, 0.200, 0.200</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simple_distribution:1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count_threshold</a:t>
            </a:r>
            <a:r>
              <a:rPr lang="en-US" altLang="zh-CN" sz="1200" dirty="0">
                <a:solidFill>
                  <a:srgbClr val="33CC33"/>
                </a:solidFill>
                <a:latin typeface="Times New Roman" panose="02020603050405020304" charset="0"/>
                <a:cs typeface="Times New Roman" panose="02020603050405020304" charset="0"/>
              </a:rPr>
              <a:t> : 200</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threshold:2</a:t>
            </a:r>
            <a:endParaRPr lang="en-US" altLang="zh-CN" sz="1200" dirty="0">
              <a:solidFill>
                <a:srgbClr val="33CC33"/>
              </a:solidFill>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439254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基于</a:t>
            </a:r>
            <a:r>
              <a:rPr kumimoji="1" lang="zh-CN" altLang="en-US" sz="1400" b="1" spc="200" dirty="0">
                <a:latin typeface="微软雅黑"/>
                <a:ea typeface="微软雅黑"/>
                <a:cs typeface="微软雅黑"/>
              </a:rPr>
              <a:t>数目</a:t>
            </a:r>
            <a:r>
              <a:rPr kumimoji="1" lang="zh-CN" altLang="en-US" sz="1400" b="1" spc="200" dirty="0" smtClean="0">
                <a:latin typeface="微软雅黑"/>
                <a:ea typeface="微软雅黑"/>
                <a:cs typeface="微软雅黑"/>
              </a:rPr>
              <a:t>分布特征的分布策略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3996361" cy="3913804"/>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数目</a:t>
            </a:r>
            <a:r>
              <a:rPr kumimoji="1" lang="zh-CN" altLang="en-US" sz="1800" dirty="0" smtClean="0">
                <a:latin typeface="微软雅黑" panose="020B0503020204020204" pitchFamily="34" charset="-122"/>
                <a:ea typeface="微软雅黑" panose="020B0503020204020204" pitchFamily="34" charset="-122"/>
                <a:cs typeface="宋体" charset="0"/>
              </a:rPr>
              <a:t>分布特征</a:t>
            </a:r>
            <a:r>
              <a:rPr kumimoji="1" lang="en-US" altLang="zh-CN" sz="1800" dirty="0" smtClean="0">
                <a:latin typeface="微软雅黑" panose="020B0503020204020204" pitchFamily="34" charset="-122"/>
                <a:ea typeface="微软雅黑" panose="020B0503020204020204" pitchFamily="34" charset="-122"/>
                <a:cs typeface="宋体" charset="0"/>
              </a:rPr>
              <a:t>(</a:t>
            </a:r>
            <a:r>
              <a:rPr kumimoji="1" lang="en-US" altLang="zh-CN" sz="1800" dirty="0" err="1" smtClean="0">
                <a:latin typeface="微软雅黑" panose="020B0503020204020204" pitchFamily="34" charset="-122"/>
                <a:ea typeface="微软雅黑" panose="020B0503020204020204" pitchFamily="34" charset="-122"/>
                <a:cs typeface="宋体" charset="0"/>
              </a:rPr>
              <a:t>count_distribution</a:t>
            </a:r>
            <a:r>
              <a:rPr kumimoji="1" lang="en-US" altLang="zh-CN" sz="1800" dirty="0" smtClean="0">
                <a:latin typeface="微软雅黑" panose="020B0503020204020204" pitchFamily="34" charset="-122"/>
                <a:ea typeface="微软雅黑" panose="020B0503020204020204" pitchFamily="34" charset="-122"/>
                <a:cs typeface="宋体" charset="0"/>
              </a:rPr>
              <a:t>)</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400" dirty="0">
                <a:latin typeface="微软雅黑" panose="020B0503020204020204" pitchFamily="34" charset="-122"/>
                <a:ea typeface="微软雅黑" panose="020B0503020204020204" pitchFamily="34" charset="-122"/>
                <a:cs typeface="宋体" charset="0"/>
              </a:rPr>
              <a:t>在一定段长的日志中，</a:t>
            </a:r>
            <a:r>
              <a:rPr kumimoji="1" lang="zh-CN" altLang="en-US" sz="1400" dirty="0" smtClean="0">
                <a:latin typeface="微软雅黑" panose="020B0503020204020204" pitchFamily="34" charset="-122"/>
                <a:ea typeface="微软雅黑" panose="020B0503020204020204" pitchFamily="34" charset="-122"/>
                <a:cs typeface="宋体" charset="0"/>
              </a:rPr>
              <a:t>同</a:t>
            </a:r>
            <a:r>
              <a:rPr kumimoji="1" lang="zh-CN" altLang="en-US" sz="1400" dirty="0">
                <a:latin typeface="微软雅黑" panose="020B0503020204020204" pitchFamily="34" charset="-122"/>
                <a:ea typeface="微软雅黑" panose="020B0503020204020204" pitchFamily="34" charset="-122"/>
                <a:cs typeface="宋体" charset="0"/>
              </a:rPr>
              <a:t>一</a:t>
            </a:r>
            <a:r>
              <a:rPr kumimoji="1" lang="zh-CN" altLang="en-US" sz="1400" dirty="0" smtClean="0">
                <a:latin typeface="微软雅黑" panose="020B0503020204020204" pitchFamily="34" charset="-122"/>
                <a:ea typeface="微软雅黑" panose="020B0503020204020204" pitchFamily="34" charset="-122"/>
                <a:cs typeface="宋体" charset="0"/>
              </a:rPr>
              <a:t>个主维度</a:t>
            </a:r>
            <a:r>
              <a:rPr kumimoji="1" lang="en-US" altLang="zh-CN" sz="1400" dirty="0" smtClean="0">
                <a:latin typeface="微软雅黑" panose="020B0503020204020204" pitchFamily="34" charset="-122"/>
                <a:ea typeface="微软雅黑" panose="020B0503020204020204" pitchFamily="34" charset="-122"/>
                <a:cs typeface="宋体" charset="0"/>
              </a:rPr>
              <a:t>(view)</a:t>
            </a:r>
            <a:r>
              <a:rPr kumimoji="1" lang="zh-CN" altLang="en-US" sz="1400" dirty="0" smtClean="0">
                <a:latin typeface="微软雅黑" panose="020B0503020204020204" pitchFamily="34" charset="-122"/>
                <a:ea typeface="微软雅黑" panose="020B0503020204020204" pitchFamily="34" charset="-122"/>
                <a:cs typeface="宋体" charset="0"/>
              </a:rPr>
              <a:t>下</a:t>
            </a:r>
            <a:r>
              <a:rPr kumimoji="1" lang="zh-CN" altLang="en-US" sz="1400" dirty="0">
                <a:latin typeface="微软雅黑" panose="020B0503020204020204" pitchFamily="34" charset="-122"/>
                <a:ea typeface="微软雅黑" panose="020B0503020204020204" pitchFamily="34" charset="-122"/>
                <a:cs typeface="宋体" charset="0"/>
              </a:rPr>
              <a:t>，</a:t>
            </a:r>
            <a:r>
              <a:rPr kumimoji="1" lang="zh-CN" altLang="en-US" sz="1400" dirty="0" smtClean="0">
                <a:latin typeface="微软雅黑" panose="020B0503020204020204" pitchFamily="34" charset="-122"/>
                <a:ea typeface="微软雅黑" panose="020B0503020204020204" pitchFamily="34" charset="-122"/>
                <a:cs typeface="宋体" charset="0"/>
              </a:rPr>
              <a:t>每个</a:t>
            </a:r>
            <a:r>
              <a:rPr kumimoji="1" lang="zh-CN" altLang="en-US" sz="1400" dirty="0">
                <a:latin typeface="微软雅黑" panose="020B0503020204020204" pitchFamily="34" charset="-122"/>
                <a:ea typeface="微软雅黑" panose="020B0503020204020204" pitchFamily="34" charset="-122"/>
                <a:cs typeface="宋体" charset="0"/>
              </a:rPr>
              <a:t>子</a:t>
            </a:r>
            <a:r>
              <a:rPr kumimoji="1" lang="zh-CN" altLang="en-US" sz="1400" dirty="0" smtClean="0">
                <a:latin typeface="微软雅黑" panose="020B0503020204020204" pitchFamily="34" charset="-122"/>
                <a:ea typeface="微软雅黑" panose="020B0503020204020204" pitchFamily="34" charset="-122"/>
                <a:cs typeface="宋体" charset="0"/>
              </a:rPr>
              <a:t>维度对象</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en-US" altLang="zh-CN" sz="1400" dirty="0" err="1" smtClean="0">
                <a:latin typeface="微软雅黑" panose="020B0503020204020204" pitchFamily="34" charset="-122"/>
                <a:ea typeface="微软雅黑" panose="020B0503020204020204" pitchFamily="34" charset="-122"/>
                <a:cs typeface="宋体" charset="0"/>
              </a:rPr>
              <a:t>data_view</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zh-CN" altLang="en-US" sz="1400" dirty="0" smtClean="0">
                <a:latin typeface="微软雅黑" panose="020B0503020204020204" pitchFamily="34" charset="-122"/>
                <a:ea typeface="微软雅黑" panose="020B0503020204020204" pitchFamily="34" charset="-122"/>
                <a:cs typeface="宋体" charset="0"/>
              </a:rPr>
              <a:t>频次的分布</a:t>
            </a:r>
            <a:endParaRPr kumimoji="1" lang="en-US" altLang="zh-CN" sz="14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en-US" altLang="zh-CN" sz="1800" dirty="0">
                <a:latin typeface="微软雅黑" panose="020B0503020204020204" pitchFamily="34" charset="-122"/>
                <a:ea typeface="微软雅黑" panose="020B0503020204020204" pitchFamily="34" charset="-122"/>
                <a:cs typeface="宋体" charset="0"/>
              </a:rPr>
              <a:t>51407</a:t>
            </a:r>
            <a:r>
              <a:rPr kumimoji="1" lang="zh-CN" altLang="en-US" sz="1800" dirty="0" smtClean="0">
                <a:latin typeface="微软雅黑" panose="020B0503020204020204" pitchFamily="34" charset="-122"/>
                <a:ea typeface="微软雅黑" panose="020B0503020204020204" pitchFamily="34" charset="-122"/>
                <a:cs typeface="宋体" charset="0"/>
              </a:rPr>
              <a:t>策略</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a:latin typeface="微软雅黑" panose="020B0503020204020204" pitchFamily="34" charset="-122"/>
                <a:ea typeface="微软雅黑" panose="020B0503020204020204" pitchFamily="34" charset="-122"/>
                <a:cs typeface="宋体" charset="0"/>
              </a:rPr>
              <a:t>无线端</a:t>
            </a:r>
            <a:r>
              <a:rPr kumimoji="1" lang="zh-CN" altLang="en-US" sz="1400" dirty="0" smtClean="0">
                <a:latin typeface="微软雅黑" panose="020B0503020204020204" pitchFamily="34" charset="-122"/>
                <a:ea typeface="微软雅黑" panose="020B0503020204020204" pitchFamily="34" charset="-122"/>
                <a:cs typeface="宋体" charset="0"/>
              </a:rPr>
              <a:t>信息流</a:t>
            </a:r>
            <a:r>
              <a:rPr kumimoji="1" lang="zh-CN" altLang="en-US" sz="1400" dirty="0">
                <a:latin typeface="微软雅黑" panose="020B0503020204020204" pitchFamily="34" charset="-122"/>
                <a:ea typeface="微软雅黑" panose="020B0503020204020204" pitchFamily="34" charset="-122"/>
                <a:cs typeface="宋体" charset="0"/>
              </a:rPr>
              <a:t>原生广告一天的流量中，</a:t>
            </a:r>
            <a:r>
              <a:rPr kumimoji="1" lang="zh-CN" altLang="en-US" sz="1400" dirty="0" smtClean="0">
                <a:latin typeface="微软雅黑" panose="020B0503020204020204" pitchFamily="34" charset="-122"/>
                <a:ea typeface="微软雅黑" panose="020B0503020204020204" pitchFamily="34" charset="-122"/>
                <a:cs typeface="宋体" charset="0"/>
              </a:rPr>
              <a:t>同一计费</a:t>
            </a:r>
            <a:r>
              <a:rPr kumimoji="1" lang="zh-CN" altLang="en-US" sz="1400" dirty="0">
                <a:latin typeface="微软雅黑" panose="020B0503020204020204" pitchFamily="34" charset="-122"/>
                <a:ea typeface="微软雅黑" panose="020B0503020204020204" pitchFamily="34" charset="-122"/>
                <a:cs typeface="宋体" charset="0"/>
              </a:rPr>
              <a:t>名下， </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en-US" altLang="zh-CN" sz="1400" dirty="0" err="1" smtClean="0">
                <a:latin typeface="微软雅黑" panose="020B0503020204020204" pitchFamily="34" charset="-122"/>
                <a:ea typeface="微软雅黑" panose="020B0503020204020204" pitchFamily="34" charset="-122"/>
                <a:cs typeface="宋体" charset="0"/>
              </a:rPr>
              <a:t>baiduid</a:t>
            </a:r>
            <a:r>
              <a:rPr kumimoji="1" lang="en-US" altLang="zh-CN" sz="1400" dirty="0" smtClean="0">
                <a:latin typeface="微软雅黑" panose="020B0503020204020204" pitchFamily="34" charset="-122"/>
                <a:ea typeface="微软雅黑" panose="020B0503020204020204" pitchFamily="34" charset="-122"/>
                <a:cs typeface="宋体" charset="0"/>
              </a:rPr>
              <a:t>, </a:t>
            </a:r>
            <a:r>
              <a:rPr kumimoji="1" lang="en-US" altLang="zh-CN" sz="1400" dirty="0" err="1">
                <a:latin typeface="微软雅黑" panose="020B0503020204020204" pitchFamily="34" charset="-122"/>
                <a:ea typeface="微软雅黑" panose="020B0503020204020204" pitchFamily="34" charset="-122"/>
                <a:cs typeface="宋体" charset="0"/>
              </a:rPr>
              <a:t>useragent</a:t>
            </a:r>
            <a:r>
              <a:rPr kumimoji="1" lang="en-US" altLang="zh-CN" sz="1400" dirty="0">
                <a:latin typeface="微软雅黑" panose="020B0503020204020204" pitchFamily="34" charset="-122"/>
                <a:ea typeface="微软雅黑" panose="020B0503020204020204" pitchFamily="34" charset="-122"/>
                <a:cs typeface="宋体" charset="0"/>
              </a:rPr>
              <a:t>) </a:t>
            </a:r>
            <a:r>
              <a:rPr kumimoji="1" lang="zh-CN" altLang="en-US" sz="1400" dirty="0">
                <a:latin typeface="微软雅黑" panose="020B0503020204020204" pitchFamily="34" charset="-122"/>
                <a:ea typeface="微软雅黑" panose="020B0503020204020204" pitchFamily="34" charset="-122"/>
                <a:cs typeface="宋体" charset="0"/>
              </a:rPr>
              <a:t>的频次分布和基准分布的</a:t>
            </a:r>
            <a:r>
              <a:rPr kumimoji="1" lang="en-US" altLang="zh-CN" sz="1400" dirty="0" err="1">
                <a:latin typeface="微软雅黑" panose="020B0503020204020204" pitchFamily="34" charset="-122"/>
                <a:ea typeface="微软雅黑" panose="020B0503020204020204" pitchFamily="34" charset="-122"/>
                <a:cs typeface="宋体" charset="0"/>
              </a:rPr>
              <a:t>max_diff</a:t>
            </a:r>
            <a:r>
              <a:rPr kumimoji="1" lang="zh-CN" altLang="en-US" sz="1400" dirty="0">
                <a:latin typeface="微软雅黑" panose="020B0503020204020204" pitchFamily="34" charset="-122"/>
                <a:ea typeface="微软雅黑" panose="020B0503020204020204" pitchFamily="34" charset="-122"/>
                <a:cs typeface="宋体" charset="0"/>
              </a:rPr>
              <a:t>不能超过</a:t>
            </a:r>
            <a:r>
              <a:rPr kumimoji="1" lang="en-US" altLang="zh-CN" sz="1400" dirty="0">
                <a:latin typeface="微软雅黑" panose="020B0503020204020204" pitchFamily="34" charset="-122"/>
                <a:ea typeface="微软雅黑" panose="020B0503020204020204" pitchFamily="34" charset="-122"/>
                <a:cs typeface="宋体" charset="0"/>
              </a:rPr>
              <a:t>0.67</a:t>
            </a:r>
            <a:endParaRPr kumimoji="1" lang="en-US" altLang="zh-CN" sz="1400" dirty="0">
              <a:latin typeface="微软雅黑" panose="020B0503020204020204" pitchFamily="34" charset="-122"/>
              <a:ea typeface="微软雅黑" panose="020B0503020204020204" pitchFamily="34" charset="-122"/>
              <a:cs typeface="宋体" charset="0"/>
            </a:endParaRPr>
          </a:p>
        </p:txBody>
      </p:sp>
      <p:sp>
        <p:nvSpPr>
          <p:cNvPr id="6" name="矩形 5"/>
          <p:cNvSpPr/>
          <p:nvPr/>
        </p:nvSpPr>
        <p:spPr>
          <a:xfrm>
            <a:off x="6719145" y="1082219"/>
            <a:ext cx="2221655" cy="3046988"/>
          </a:xfrm>
          <a:prstGeom prst="rect">
            <a:avLst/>
          </a:prstGeom>
          <a:solidFill>
            <a:schemeClr val="tx1">
              <a:lumMod val="95000"/>
              <a:lumOff val="5000"/>
            </a:schemeClr>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[@feature]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51407</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count_distribution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click_level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 ( [#</a:t>
            </a:r>
            <a:r>
              <a:rPr lang="en-US" altLang="zh-CN" sz="1200" dirty="0" err="1">
                <a:solidFill>
                  <a:srgbClr val="33CC33"/>
                </a:solidFill>
                <a:latin typeface="Times New Roman" panose="02020603050405020304" charset="0"/>
                <a:cs typeface="Times New Roman" panose="02020603050405020304" charset="0"/>
              </a:rPr>
              <a:t>DspClick</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FeedDsp</a:t>
            </a:r>
            <a:r>
              <a:rPr lang="en-US" altLang="zh-CN" sz="1200" dirty="0">
                <a:solidFill>
                  <a:srgbClr val="33CC33"/>
                </a:solidFill>
                <a:latin typeface="Times New Roman" panose="02020603050405020304" charset="0"/>
                <a:cs typeface="Times New Roman" panose="02020603050405020304" charset="0"/>
              </a:rPr>
              <a:t>] ) &amp;&amp; ['</a:t>
            </a:r>
            <a:r>
              <a:rPr lang="en-US" altLang="zh-CN" sz="1200" dirty="0" err="1">
                <a:solidFill>
                  <a:srgbClr val="33CC33"/>
                </a:solidFill>
                <a:latin typeface="Times New Roman" panose="02020603050405020304" charset="0"/>
                <a:cs typeface="Times New Roman" panose="02020603050405020304" charset="0"/>
              </a:rPr>
              <a:t>nttp</a:t>
            </a:r>
            <a:r>
              <a:rPr lang="en-US" altLang="zh-CN" sz="1200" dirty="0">
                <a:solidFill>
                  <a:srgbClr val="33CC33"/>
                </a:solidFill>
                <a:latin typeface="Times New Roman" panose="02020603050405020304" charset="0"/>
                <a:cs typeface="Times New Roman" panose="02020603050405020304" charset="0"/>
              </a:rPr>
              <a:t>':='2','3'][#</a:t>
            </a:r>
            <a:r>
              <a:rPr lang="en-US" altLang="zh-CN" sz="1200" dirty="0" err="1">
                <a:solidFill>
                  <a:srgbClr val="33CC33"/>
                </a:solidFill>
                <a:latin typeface="Times New Roman" panose="02020603050405020304" charset="0"/>
                <a:cs typeface="Times New Roman" panose="02020603050405020304" charset="0"/>
              </a:rPr>
              <a:t>ValidBaiduid</a:t>
            </a:r>
            <a:r>
              <a:rPr lang="en-US" altLang="zh-CN" sz="1200" dirty="0">
                <a:solidFill>
                  <a:srgbClr val="33CC33"/>
                </a:solidFill>
                <a:latin typeface="Times New Roman" panose="02020603050405020304" charset="0"/>
                <a:cs typeface="Times New Roman" panose="02020603050405020304" charset="0"/>
              </a:rPr>
              <a:t>]</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a:t>
            </a:r>
            <a:r>
              <a:rPr lang="en-US" altLang="zh-CN" sz="1200" dirty="0" err="1">
                <a:solidFill>
                  <a:srgbClr val="33CC33"/>
                </a:solidFill>
                <a:latin typeface="Times New Roman" panose="02020603050405020304" charset="0"/>
                <a:cs typeface="Times New Roman" panose="02020603050405020304" charset="0"/>
              </a:rPr>
              <a:t>cntname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data_view</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baiduid,useragent</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interval_endpoints</a:t>
            </a:r>
            <a:r>
              <a:rPr lang="en-US" altLang="zh-CN" sz="1200" dirty="0">
                <a:solidFill>
                  <a:srgbClr val="33CC33"/>
                </a:solidFill>
                <a:latin typeface="Times New Roman" panose="02020603050405020304" charset="0"/>
                <a:cs typeface="Times New Roman" panose="02020603050405020304" charset="0"/>
              </a:rPr>
              <a:t> : 3</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window_type</a:t>
            </a:r>
            <a:r>
              <a:rPr lang="en-US" altLang="zh-CN" sz="1200" dirty="0">
                <a:solidFill>
                  <a:srgbClr val="33CC33"/>
                </a:solidFill>
                <a:latin typeface="Times New Roman" panose="02020603050405020304" charset="0"/>
                <a:cs typeface="Times New Roman" panose="02020603050405020304" charset="0"/>
              </a:rPr>
              <a:t>  : time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window_length</a:t>
            </a:r>
            <a:r>
              <a:rPr lang="en-US" altLang="zh-CN" sz="1200" dirty="0">
                <a:solidFill>
                  <a:srgbClr val="33CC33"/>
                </a:solidFill>
                <a:latin typeface="Times New Roman" panose="02020603050405020304" charset="0"/>
                <a:cs typeface="Times New Roman" panose="02020603050405020304" charset="0"/>
              </a:rPr>
              <a:t>: 86400</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version      : 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func_type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max_diff</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stand_prob</a:t>
            </a:r>
            <a:r>
              <a:rPr lang="en-US" altLang="zh-CN" sz="1200" dirty="0">
                <a:solidFill>
                  <a:srgbClr val="33CC33"/>
                </a:solidFill>
                <a:latin typeface="Times New Roman" panose="02020603050405020304" charset="0"/>
                <a:cs typeface="Times New Roman" panose="02020603050405020304" charset="0"/>
              </a:rPr>
              <a:t>  : 0.74,0.26</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count_threshold</a:t>
            </a:r>
            <a:r>
              <a:rPr lang="en-US" altLang="zh-CN" sz="1200" dirty="0">
                <a:solidFill>
                  <a:srgbClr val="33CC33"/>
                </a:solidFill>
                <a:latin typeface="Times New Roman" panose="02020603050405020304" charset="0"/>
                <a:cs typeface="Times New Roman" panose="02020603050405020304" charset="0"/>
              </a:rPr>
              <a:t> : 15</a:t>
            </a:r>
            <a:endParaRPr lang="en-US" altLang="zh-CN" sz="1200" dirty="0">
              <a:solidFill>
                <a:srgbClr val="33CC33"/>
              </a:solidFill>
              <a:latin typeface="Times New Roman" panose="02020603050405020304" charset="0"/>
              <a:cs typeface="Times New Roman" panose="02020603050405020304" charset="0"/>
            </a:endParaRPr>
          </a:p>
        </p:txBody>
      </p:sp>
      <p:sp>
        <p:nvSpPr>
          <p:cNvPr id="8" name="文本框 7"/>
          <p:cNvSpPr txBox="1"/>
          <p:nvPr/>
        </p:nvSpPr>
        <p:spPr>
          <a:xfrm>
            <a:off x="5313692" y="787453"/>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a:t>
            </a:r>
            <a:r>
              <a:rPr lang="en-US" altLang="zh-CN" sz="1200" dirty="0">
                <a:latin typeface="微软雅黑" panose="020B0503020204020204" pitchFamily="34" charset="-122"/>
                <a:ea typeface="微软雅黑" panose="020B0503020204020204" pitchFamily="34" charset="-122"/>
              </a:rPr>
              <a:t>51407</a:t>
            </a:r>
            <a:r>
              <a:rPr lang="zh-CN" altLang="en-US" sz="1200" dirty="0" smtClean="0">
                <a:latin typeface="微软雅黑" panose="020B0503020204020204" pitchFamily="34" charset="-122"/>
                <a:ea typeface="微软雅黑" panose="020B0503020204020204" pitchFamily="34" charset="-122"/>
              </a:rPr>
              <a:t>策略配置文件</a:t>
            </a:r>
            <a:endParaRPr lang="zh-CN" altLang="en-US" sz="1200" dirty="0">
              <a:latin typeface="微软雅黑" panose="020B0503020204020204" pitchFamily="34" charset="-122"/>
              <a:ea typeface="微软雅黑" panose="020B0503020204020204" pitchFamily="34" charset="-122"/>
            </a:endParaRPr>
          </a:p>
        </p:txBody>
      </p:sp>
      <p:sp>
        <p:nvSpPr>
          <p:cNvPr id="11" name="矩形 10"/>
          <p:cNvSpPr/>
          <p:nvPr/>
        </p:nvSpPr>
        <p:spPr>
          <a:xfrm>
            <a:off x="5109526" y="1082984"/>
            <a:ext cx="1609619" cy="2123658"/>
          </a:xfrm>
          <a:prstGeom prst="rect">
            <a:avLst/>
          </a:prstGeom>
          <a:solidFill>
            <a:schemeClr val="tx1">
              <a:lumMod val="95000"/>
              <a:lumOff val="5000"/>
            </a:schemeClr>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 51407</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51407</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count_distribution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func_type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max_diff</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stand_prob</a:t>
            </a:r>
            <a:r>
              <a:rPr lang="en-US" altLang="zh-CN" sz="1200" dirty="0">
                <a:solidFill>
                  <a:srgbClr val="33CC33"/>
                </a:solidFill>
                <a:latin typeface="Times New Roman" panose="02020603050405020304" charset="0"/>
                <a:cs typeface="Times New Roman" panose="02020603050405020304" charset="0"/>
              </a:rPr>
              <a:t>  : 0.74,0.26</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count_threshold</a:t>
            </a:r>
            <a:r>
              <a:rPr lang="en-US" altLang="zh-CN" sz="1200" dirty="0">
                <a:solidFill>
                  <a:srgbClr val="33CC33"/>
                </a:solidFill>
                <a:latin typeface="Times New Roman" panose="02020603050405020304" charset="0"/>
                <a:cs typeface="Times New Roman" panose="02020603050405020304" charset="0"/>
              </a:rPr>
              <a:t> : 15</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threshold   : 0.67</a:t>
            </a:r>
            <a:endParaRPr lang="en-US" altLang="zh-CN" sz="1200" dirty="0">
              <a:solidFill>
                <a:srgbClr val="33CC33"/>
              </a:solidFill>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439254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基于</a:t>
            </a:r>
            <a:r>
              <a:rPr kumimoji="1" lang="zh-CN" altLang="en-US" sz="1400" b="1" spc="200" dirty="0">
                <a:latin typeface="微软雅黑"/>
                <a:ea typeface="微软雅黑"/>
                <a:cs typeface="微软雅黑"/>
              </a:rPr>
              <a:t>去重</a:t>
            </a:r>
            <a:r>
              <a:rPr kumimoji="1" lang="zh-CN" altLang="en-US" sz="1400" b="1" spc="200" dirty="0" smtClean="0">
                <a:latin typeface="微软雅黑"/>
                <a:ea typeface="微软雅黑"/>
                <a:cs typeface="微软雅黑"/>
              </a:rPr>
              <a:t>分布特征的分布策略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3996361" cy="3913804"/>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去重</a:t>
            </a:r>
            <a:r>
              <a:rPr kumimoji="1" lang="zh-CN" altLang="en-US" sz="1800" dirty="0" smtClean="0">
                <a:latin typeface="微软雅黑" panose="020B0503020204020204" pitchFamily="34" charset="-122"/>
                <a:ea typeface="微软雅黑" panose="020B0503020204020204" pitchFamily="34" charset="-122"/>
                <a:cs typeface="宋体" charset="0"/>
              </a:rPr>
              <a:t>分布特征</a:t>
            </a:r>
            <a:r>
              <a:rPr kumimoji="1" lang="en-US" altLang="zh-CN" sz="1800" dirty="0" smtClean="0">
                <a:latin typeface="微软雅黑" panose="020B0503020204020204" pitchFamily="34" charset="-122"/>
                <a:ea typeface="微软雅黑" panose="020B0503020204020204" pitchFamily="34" charset="-122"/>
                <a:cs typeface="宋体" charset="0"/>
              </a:rPr>
              <a:t>(</a:t>
            </a:r>
            <a:r>
              <a:rPr kumimoji="1" lang="en-US" altLang="zh-CN" sz="1800" dirty="0" err="1" smtClean="0">
                <a:latin typeface="微软雅黑" panose="020B0503020204020204" pitchFamily="34" charset="-122"/>
                <a:ea typeface="微软雅黑" panose="020B0503020204020204" pitchFamily="34" charset="-122"/>
                <a:cs typeface="宋体" charset="0"/>
              </a:rPr>
              <a:t>distinct_distribution</a:t>
            </a:r>
            <a:r>
              <a:rPr kumimoji="1" lang="en-US" altLang="zh-CN" sz="1800" dirty="0" smtClean="0">
                <a:latin typeface="微软雅黑" panose="020B0503020204020204" pitchFamily="34" charset="-122"/>
                <a:ea typeface="微软雅黑" panose="020B0503020204020204" pitchFamily="34" charset="-122"/>
                <a:cs typeface="宋体" charset="0"/>
              </a:rPr>
              <a:t>)</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400" dirty="0">
                <a:latin typeface="微软雅黑" panose="020B0503020204020204" pitchFamily="34" charset="-122"/>
                <a:ea typeface="微软雅黑" panose="020B0503020204020204" pitchFamily="34" charset="-122"/>
                <a:cs typeface="宋体" charset="0"/>
              </a:rPr>
              <a:t>在一定段长的日志中，</a:t>
            </a:r>
            <a:r>
              <a:rPr kumimoji="1" lang="zh-CN" altLang="en-US" sz="1400" dirty="0" smtClean="0">
                <a:latin typeface="微软雅黑" panose="020B0503020204020204" pitchFamily="34" charset="-122"/>
                <a:ea typeface="微软雅黑" panose="020B0503020204020204" pitchFamily="34" charset="-122"/>
                <a:cs typeface="宋体" charset="0"/>
              </a:rPr>
              <a:t>同</a:t>
            </a:r>
            <a:r>
              <a:rPr kumimoji="1" lang="zh-CN" altLang="en-US" sz="1400" dirty="0">
                <a:latin typeface="微软雅黑" panose="020B0503020204020204" pitchFamily="34" charset="-122"/>
                <a:ea typeface="微软雅黑" panose="020B0503020204020204" pitchFamily="34" charset="-122"/>
                <a:cs typeface="宋体" charset="0"/>
              </a:rPr>
              <a:t>一</a:t>
            </a:r>
            <a:r>
              <a:rPr kumimoji="1" lang="zh-CN" altLang="en-US" sz="1400" dirty="0" smtClean="0">
                <a:latin typeface="微软雅黑" panose="020B0503020204020204" pitchFamily="34" charset="-122"/>
                <a:ea typeface="微软雅黑" panose="020B0503020204020204" pitchFamily="34" charset="-122"/>
                <a:cs typeface="宋体" charset="0"/>
              </a:rPr>
              <a:t>个主维度</a:t>
            </a:r>
            <a:r>
              <a:rPr kumimoji="1" lang="zh-CN" altLang="en-US" sz="1400" dirty="0">
                <a:latin typeface="微软雅黑" panose="020B0503020204020204" pitchFamily="34" charset="-122"/>
                <a:ea typeface="微软雅黑" panose="020B0503020204020204" pitchFamily="34" charset="-122"/>
                <a:cs typeface="宋体" charset="0"/>
              </a:rPr>
              <a:t>对象</a:t>
            </a:r>
            <a:r>
              <a:rPr kumimoji="1" lang="en-US" altLang="zh-CN" sz="1400" dirty="0" smtClean="0">
                <a:latin typeface="微软雅黑" panose="020B0503020204020204" pitchFamily="34" charset="-122"/>
                <a:ea typeface="微软雅黑" panose="020B0503020204020204" pitchFamily="34" charset="-122"/>
                <a:cs typeface="宋体" charset="0"/>
              </a:rPr>
              <a:t>(view)</a:t>
            </a:r>
            <a:r>
              <a:rPr kumimoji="1" lang="zh-CN" altLang="en-US" sz="1400" dirty="0" smtClean="0">
                <a:latin typeface="微软雅黑" panose="020B0503020204020204" pitchFamily="34" charset="-122"/>
                <a:ea typeface="微软雅黑" panose="020B0503020204020204" pitchFamily="34" charset="-122"/>
                <a:cs typeface="宋体" charset="0"/>
              </a:rPr>
              <a:t>下</a:t>
            </a:r>
            <a:r>
              <a:rPr kumimoji="1" lang="zh-CN" altLang="en-US" sz="1400" dirty="0">
                <a:latin typeface="微软雅黑" panose="020B0503020204020204" pitchFamily="34" charset="-122"/>
                <a:ea typeface="微软雅黑" panose="020B0503020204020204" pitchFamily="34" charset="-122"/>
                <a:cs typeface="宋体" charset="0"/>
              </a:rPr>
              <a:t>，</a:t>
            </a:r>
            <a:r>
              <a:rPr kumimoji="1" lang="zh-CN" altLang="en-US" sz="1400" dirty="0" smtClean="0">
                <a:latin typeface="微软雅黑" panose="020B0503020204020204" pitchFamily="34" charset="-122"/>
                <a:ea typeface="微软雅黑" panose="020B0503020204020204" pitchFamily="34" charset="-122"/>
                <a:cs typeface="宋体" charset="0"/>
              </a:rPr>
              <a:t>每个</a:t>
            </a:r>
            <a:r>
              <a:rPr kumimoji="1" lang="zh-CN" altLang="en-US" sz="1400" dirty="0">
                <a:latin typeface="微软雅黑" panose="020B0503020204020204" pitchFamily="34" charset="-122"/>
                <a:ea typeface="微软雅黑" panose="020B0503020204020204" pitchFamily="34" charset="-122"/>
                <a:cs typeface="宋体" charset="0"/>
              </a:rPr>
              <a:t>子</a:t>
            </a:r>
            <a:r>
              <a:rPr kumimoji="1" lang="zh-CN" altLang="en-US" sz="1400" dirty="0" smtClean="0">
                <a:latin typeface="微软雅黑" panose="020B0503020204020204" pitchFamily="34" charset="-122"/>
                <a:ea typeface="微软雅黑" panose="020B0503020204020204" pitchFamily="34" charset="-122"/>
                <a:cs typeface="宋体" charset="0"/>
              </a:rPr>
              <a:t>维度对象</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en-US" altLang="zh-CN" sz="1400" dirty="0" err="1" smtClean="0">
                <a:latin typeface="微软雅黑" panose="020B0503020204020204" pitchFamily="34" charset="-122"/>
                <a:ea typeface="微软雅黑" panose="020B0503020204020204" pitchFamily="34" charset="-122"/>
                <a:cs typeface="宋体" charset="0"/>
              </a:rPr>
              <a:t>data_view</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zh-CN" altLang="en-US" sz="1400" dirty="0" smtClean="0">
                <a:latin typeface="微软雅黑" panose="020B0503020204020204" pitchFamily="34" charset="-122"/>
                <a:ea typeface="微软雅黑" panose="020B0503020204020204" pitchFamily="34" charset="-122"/>
                <a:cs typeface="宋体" charset="0"/>
              </a:rPr>
              <a:t>的</a:t>
            </a:r>
            <a:r>
              <a:rPr kumimoji="1" lang="zh-CN" altLang="en-US" sz="1400" dirty="0">
                <a:latin typeface="微软雅黑" panose="020B0503020204020204" pitchFamily="34" charset="-122"/>
                <a:ea typeface="微软雅黑" panose="020B0503020204020204" pitchFamily="34" charset="-122"/>
                <a:cs typeface="宋体" charset="0"/>
              </a:rPr>
              <a:t>子</a:t>
            </a:r>
            <a:r>
              <a:rPr kumimoji="1" lang="zh-CN" altLang="en-US" sz="1400" dirty="0" smtClean="0">
                <a:latin typeface="微软雅黑" panose="020B0503020204020204" pitchFamily="34" charset="-122"/>
                <a:ea typeface="微软雅黑" panose="020B0503020204020204" pitchFamily="34" charset="-122"/>
                <a:cs typeface="宋体" charset="0"/>
              </a:rPr>
              <a:t>维度对象</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en-US" altLang="zh-CN" sz="1400" dirty="0" err="1">
                <a:ea typeface="宋体" charset="0"/>
                <a:cs typeface="宋体" charset="0"/>
              </a:rPr>
              <a:t>cumulate_view</a:t>
            </a:r>
            <a:r>
              <a:rPr kumimoji="1" lang="en-US" altLang="zh-CN" sz="1400" dirty="0" smtClean="0">
                <a:latin typeface="微软雅黑" panose="020B0503020204020204" pitchFamily="34" charset="-122"/>
                <a:ea typeface="微软雅黑" panose="020B0503020204020204" pitchFamily="34" charset="-122"/>
                <a:cs typeface="宋体" charset="0"/>
              </a:rPr>
              <a:t>)</a:t>
            </a:r>
            <a:r>
              <a:rPr kumimoji="1" lang="zh-CN" altLang="en-US" sz="1400" dirty="0" smtClean="0">
                <a:latin typeface="微软雅黑" panose="020B0503020204020204" pitchFamily="34" charset="-122"/>
                <a:ea typeface="微软雅黑" panose="020B0503020204020204" pitchFamily="34" charset="-122"/>
                <a:cs typeface="宋体" charset="0"/>
              </a:rPr>
              <a:t>种类数的分布。</a:t>
            </a:r>
            <a:endParaRPr kumimoji="1" lang="en-US" altLang="zh-CN" sz="14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en-US" altLang="zh-CN" sz="1800" dirty="0">
                <a:latin typeface="微软雅黑" panose="020B0503020204020204" pitchFamily="34" charset="-122"/>
                <a:ea typeface="微软雅黑" panose="020B0503020204020204" pitchFamily="34" charset="-122"/>
                <a:cs typeface="宋体" charset="0"/>
              </a:rPr>
              <a:t>51001</a:t>
            </a:r>
            <a:r>
              <a:rPr kumimoji="1" lang="zh-CN" altLang="en-US" sz="1800" dirty="0" smtClean="0">
                <a:latin typeface="微软雅黑" panose="020B0503020204020204" pitchFamily="34" charset="-122"/>
                <a:ea typeface="微软雅黑" panose="020B0503020204020204" pitchFamily="34" charset="-122"/>
                <a:cs typeface="宋体" charset="0"/>
              </a:rPr>
              <a:t>策略</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同</a:t>
            </a:r>
            <a:r>
              <a:rPr kumimoji="1" lang="zh-CN" altLang="en-US" sz="1400" dirty="0">
                <a:latin typeface="微软雅黑" panose="020B0503020204020204" pitchFamily="34" charset="-122"/>
                <a:ea typeface="微软雅黑" panose="020B0503020204020204" pitchFamily="34" charset="-122"/>
                <a:cs typeface="宋体" charset="0"/>
              </a:rPr>
              <a:t>一计费名下，每个 </a:t>
            </a:r>
            <a:r>
              <a:rPr kumimoji="1" lang="en-US" altLang="zh-CN" sz="1400" dirty="0">
                <a:latin typeface="微软雅黑" panose="020B0503020204020204" pitchFamily="34" charset="-122"/>
                <a:ea typeface="微软雅黑" panose="020B0503020204020204" pitchFamily="34" charset="-122"/>
                <a:cs typeface="宋体" charset="0"/>
              </a:rPr>
              <a:t>(</a:t>
            </a:r>
            <a:r>
              <a:rPr kumimoji="1" lang="en-US" altLang="zh-CN" sz="1400" dirty="0" err="1">
                <a:latin typeface="微软雅黑" panose="020B0503020204020204" pitchFamily="34" charset="-122"/>
                <a:ea typeface="微软雅黑" panose="020B0503020204020204" pitchFamily="34" charset="-122"/>
                <a:cs typeface="宋体" charset="0"/>
              </a:rPr>
              <a:t>clkip</a:t>
            </a:r>
            <a:r>
              <a:rPr kumimoji="1" lang="en-US" altLang="zh-CN" sz="1400" dirty="0">
                <a:latin typeface="微软雅黑" panose="020B0503020204020204" pitchFamily="34" charset="-122"/>
                <a:ea typeface="微软雅黑" panose="020B0503020204020204" pitchFamily="34" charset="-122"/>
                <a:cs typeface="宋体" charset="0"/>
              </a:rPr>
              <a:t>, </a:t>
            </a:r>
            <a:r>
              <a:rPr kumimoji="1" lang="en-US" altLang="zh-CN" sz="1400" dirty="0" err="1">
                <a:latin typeface="微软雅黑" panose="020B0503020204020204" pitchFamily="34" charset="-122"/>
                <a:ea typeface="微软雅黑" panose="020B0503020204020204" pitchFamily="34" charset="-122"/>
                <a:cs typeface="宋体" charset="0"/>
              </a:rPr>
              <a:t>useragent</a:t>
            </a:r>
            <a:r>
              <a:rPr kumimoji="1" lang="en-US" altLang="zh-CN" sz="1400" dirty="0">
                <a:latin typeface="微软雅黑" panose="020B0503020204020204" pitchFamily="34" charset="-122"/>
                <a:ea typeface="微软雅黑" panose="020B0503020204020204" pitchFamily="34" charset="-122"/>
                <a:cs typeface="宋体" charset="0"/>
              </a:rPr>
              <a:t>) </a:t>
            </a:r>
            <a:r>
              <a:rPr kumimoji="1" lang="zh-CN" altLang="en-US" sz="1400" dirty="0">
                <a:latin typeface="微软雅黑" panose="020B0503020204020204" pitchFamily="34" charset="-122"/>
                <a:ea typeface="微软雅黑" panose="020B0503020204020204" pitchFamily="34" charset="-122"/>
                <a:cs typeface="宋体" charset="0"/>
              </a:rPr>
              <a:t>下的</a:t>
            </a:r>
            <a:r>
              <a:rPr kumimoji="1" lang="en-US" altLang="zh-CN" sz="1400" dirty="0" err="1">
                <a:latin typeface="微软雅黑" panose="020B0503020204020204" pitchFamily="34" charset="-122"/>
                <a:ea typeface="微软雅黑" panose="020B0503020204020204" pitchFamily="34" charset="-122"/>
                <a:cs typeface="宋体" charset="0"/>
              </a:rPr>
              <a:t>baiduid</a:t>
            </a:r>
            <a:r>
              <a:rPr kumimoji="1" lang="zh-CN" altLang="en-US" sz="1400" dirty="0">
                <a:latin typeface="微软雅黑" panose="020B0503020204020204" pitchFamily="34" charset="-122"/>
                <a:ea typeface="微软雅黑" panose="020B0503020204020204" pitchFamily="34" charset="-122"/>
                <a:cs typeface="宋体" charset="0"/>
              </a:rPr>
              <a:t>的种类的分布与基准分布的</a:t>
            </a:r>
            <a:r>
              <a:rPr kumimoji="1" lang="en-US" altLang="zh-CN" sz="1400" dirty="0" err="1">
                <a:latin typeface="微软雅黑" panose="020B0503020204020204" pitchFamily="34" charset="-122"/>
                <a:ea typeface="微软雅黑" panose="020B0503020204020204" pitchFamily="34" charset="-122"/>
                <a:cs typeface="宋体" charset="0"/>
              </a:rPr>
              <a:t>max_diff</a:t>
            </a:r>
            <a:r>
              <a:rPr kumimoji="1" lang="zh-CN" altLang="en-US" sz="1400" dirty="0">
                <a:latin typeface="微软雅黑" panose="020B0503020204020204" pitchFamily="34" charset="-122"/>
                <a:ea typeface="微软雅黑" panose="020B0503020204020204" pitchFamily="34" charset="-122"/>
                <a:cs typeface="宋体" charset="0"/>
              </a:rPr>
              <a:t>距离不能超过</a:t>
            </a:r>
            <a:r>
              <a:rPr kumimoji="1" lang="en-US" altLang="zh-CN" sz="1400" dirty="0">
                <a:latin typeface="微软雅黑" panose="020B0503020204020204" pitchFamily="34" charset="-122"/>
                <a:ea typeface="微软雅黑" panose="020B0503020204020204" pitchFamily="34" charset="-122"/>
                <a:cs typeface="宋体" charset="0"/>
              </a:rPr>
              <a:t>2</a:t>
            </a:r>
            <a:endParaRPr kumimoji="1" lang="en-US" altLang="zh-CN" sz="1400" dirty="0">
              <a:latin typeface="微软雅黑" panose="020B0503020204020204" pitchFamily="34" charset="-122"/>
              <a:ea typeface="微软雅黑" panose="020B0503020204020204" pitchFamily="34" charset="-122"/>
              <a:cs typeface="宋体" charset="0"/>
            </a:endParaRPr>
          </a:p>
        </p:txBody>
      </p:sp>
      <p:sp>
        <p:nvSpPr>
          <p:cNvPr id="6" name="矩形 5"/>
          <p:cNvSpPr/>
          <p:nvPr/>
        </p:nvSpPr>
        <p:spPr>
          <a:xfrm>
            <a:off x="6719145" y="1082219"/>
            <a:ext cx="2221655" cy="3785652"/>
          </a:xfrm>
          <a:prstGeom prst="rect">
            <a:avLst/>
          </a:prstGeom>
          <a:solidFill>
            <a:schemeClr val="tx1">
              <a:lumMod val="95000"/>
              <a:lumOff val="5000"/>
            </a:schemeClr>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[@feature]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51001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distinct_distribution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click_level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 [#</a:t>
            </a:r>
            <a:r>
              <a:rPr lang="en-US" altLang="zh-CN" sz="1200" dirty="0" err="1">
                <a:solidFill>
                  <a:srgbClr val="33CC33"/>
                </a:solidFill>
                <a:latin typeface="Times New Roman" panose="02020603050405020304" charset="0"/>
                <a:cs typeface="Times New Roman" panose="02020603050405020304" charset="0"/>
              </a:rPr>
              <a:t>FeedLU</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accessid</a:t>
            </a:r>
            <a:r>
              <a:rPr lang="en-US" altLang="zh-CN" sz="1200" dirty="0">
                <a:solidFill>
                  <a:srgbClr val="33CC33"/>
                </a:solidFill>
                <a:latin typeface="Times New Roman" panose="02020603050405020304" charset="0"/>
                <a:cs typeface="Times New Roman" panose="02020603050405020304" charset="0"/>
              </a:rPr>
              <a:t>':='1','31','37'] &amp;&amp; ( ['</a:t>
            </a:r>
            <a:r>
              <a:rPr lang="en-US" altLang="zh-CN" sz="1200" dirty="0" err="1">
                <a:solidFill>
                  <a:srgbClr val="33CC33"/>
                </a:solidFill>
                <a:latin typeface="Times New Roman" panose="02020603050405020304" charset="0"/>
                <a:cs typeface="Times New Roman" panose="02020603050405020304" charset="0"/>
              </a:rPr>
              <a:t>flow_group</a:t>
            </a:r>
            <a:r>
              <a:rPr lang="en-US" altLang="zh-CN" sz="1200" dirty="0">
                <a:solidFill>
                  <a:srgbClr val="33CC33"/>
                </a:solidFill>
                <a:latin typeface="Times New Roman" panose="02020603050405020304" charset="0"/>
                <a:cs typeface="Times New Roman" panose="02020603050405020304" charset="0"/>
              </a:rPr>
              <a:t>':='wise_union_</a:t>
            </a:r>
            <a:r>
              <a:rPr lang="en-US" altLang="zh-CN" sz="1200" dirty="0" err="1">
                <a:solidFill>
                  <a:srgbClr val="33CC33"/>
                </a:solidFill>
                <a:latin typeface="Times New Roman" panose="02020603050405020304" charset="0"/>
                <a:cs typeface="Times New Roman" panose="02020603050405020304" charset="0"/>
              </a:rPr>
              <a:t>cpro</a:t>
            </a:r>
            <a:r>
              <a:rPr lang="en-US" altLang="zh-CN" sz="1200" dirty="0">
                <a:solidFill>
                  <a:srgbClr val="33CC33"/>
                </a:solidFill>
                <a:latin typeface="Times New Roman" panose="02020603050405020304" charset="0"/>
                <a:cs typeface="Times New Roman" panose="02020603050405020304" charset="0"/>
              </a:rPr>
              <a:t>','app_lu_mid','</a:t>
            </a:r>
            <a:r>
              <a:rPr lang="en-US" altLang="zh-CN" sz="1200" dirty="0" err="1">
                <a:solidFill>
                  <a:srgbClr val="33CC33"/>
                </a:solidFill>
                <a:latin typeface="Times New Roman" panose="02020603050405020304" charset="0"/>
                <a:cs typeface="Times New Roman" panose="02020603050405020304" charset="0"/>
              </a:rPr>
              <a:t>union_cpro</a:t>
            </a:r>
            <a:r>
              <a:rPr lang="en-US" altLang="zh-CN" sz="1200" dirty="0">
                <a:solidFill>
                  <a:srgbClr val="33CC33"/>
                </a:solidFill>
                <a:latin typeface="Times New Roman" panose="02020603050405020304" charset="0"/>
                <a:cs typeface="Times New Roman" panose="02020603050405020304" charset="0"/>
              </a:rPr>
              <a:t>'][#Wise] || ['</a:t>
            </a:r>
            <a:r>
              <a:rPr lang="en-US" altLang="zh-CN" sz="1200" dirty="0" err="1">
                <a:solidFill>
                  <a:srgbClr val="33CC33"/>
                </a:solidFill>
                <a:latin typeface="Times New Roman" panose="02020603050405020304" charset="0"/>
                <a:cs typeface="Times New Roman" panose="02020603050405020304" charset="0"/>
              </a:rPr>
              <a:t>cmatch</a:t>
            </a:r>
            <a:r>
              <a:rPr lang="en-US" altLang="zh-CN" sz="1200" dirty="0">
                <a:solidFill>
                  <a:srgbClr val="33CC33"/>
                </a:solidFill>
                <a:latin typeface="Times New Roman" panose="02020603050405020304" charset="0"/>
                <a:cs typeface="Times New Roman" panose="02020603050405020304" charset="0"/>
              </a:rPr>
              <a:t>':='354']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a:t>
            </a:r>
            <a:r>
              <a:rPr lang="en-US" altLang="zh-CN" sz="1200" dirty="0" err="1">
                <a:solidFill>
                  <a:srgbClr val="33CC33"/>
                </a:solidFill>
                <a:latin typeface="Times New Roman" panose="02020603050405020304" charset="0"/>
                <a:cs typeface="Times New Roman" panose="02020603050405020304" charset="0"/>
              </a:rPr>
              <a:t>cntname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data_view</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clkip,useragent</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cumulate_view</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baiduid</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interval_endpoints</a:t>
            </a:r>
            <a:r>
              <a:rPr lang="en-US" altLang="zh-CN" sz="1200" dirty="0">
                <a:solidFill>
                  <a:srgbClr val="33CC33"/>
                </a:solidFill>
                <a:latin typeface="Times New Roman" panose="02020603050405020304" charset="0"/>
                <a:cs typeface="Times New Roman" panose="02020603050405020304" charset="0"/>
              </a:rPr>
              <a:t> : 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window_type</a:t>
            </a:r>
            <a:r>
              <a:rPr lang="en-US" altLang="zh-CN" sz="1200" dirty="0">
                <a:solidFill>
                  <a:srgbClr val="33CC33"/>
                </a:solidFill>
                <a:latin typeface="Times New Roman" panose="02020603050405020304" charset="0"/>
                <a:cs typeface="Times New Roman" panose="02020603050405020304" charset="0"/>
              </a:rPr>
              <a:t>  : time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window_length</a:t>
            </a:r>
            <a:r>
              <a:rPr lang="en-US" altLang="zh-CN" sz="1200" dirty="0">
                <a:solidFill>
                  <a:srgbClr val="33CC33"/>
                </a:solidFill>
                <a:latin typeface="Times New Roman" panose="02020603050405020304" charset="0"/>
                <a:cs typeface="Times New Roman" panose="02020603050405020304" charset="0"/>
              </a:rPr>
              <a:t>: 86400</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version      : 2</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func_type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max_diff</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stand_prob</a:t>
            </a:r>
            <a:r>
              <a:rPr lang="en-US" altLang="zh-CN" sz="1200" dirty="0">
                <a:solidFill>
                  <a:srgbClr val="33CC33"/>
                </a:solidFill>
                <a:latin typeface="Times New Roman" panose="02020603050405020304" charset="0"/>
                <a:cs typeface="Times New Roman" panose="02020603050405020304" charset="0"/>
              </a:rPr>
              <a:t>  : 0.93,0.07</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count_threshold</a:t>
            </a:r>
            <a:r>
              <a:rPr lang="en-US" altLang="zh-CN" sz="1200" dirty="0">
                <a:solidFill>
                  <a:srgbClr val="33CC33"/>
                </a:solidFill>
                <a:latin typeface="Times New Roman" panose="02020603050405020304" charset="0"/>
                <a:cs typeface="Times New Roman" panose="02020603050405020304" charset="0"/>
              </a:rPr>
              <a:t> : 10</a:t>
            </a:r>
            <a:endParaRPr lang="en-US" altLang="zh-CN" sz="1200" dirty="0">
              <a:solidFill>
                <a:srgbClr val="33CC33"/>
              </a:solidFill>
              <a:latin typeface="Times New Roman" panose="02020603050405020304" charset="0"/>
              <a:cs typeface="Times New Roman" panose="02020603050405020304" charset="0"/>
            </a:endParaRPr>
          </a:p>
        </p:txBody>
      </p:sp>
      <p:sp>
        <p:nvSpPr>
          <p:cNvPr id="8" name="文本框 7"/>
          <p:cNvSpPr txBox="1"/>
          <p:nvPr/>
        </p:nvSpPr>
        <p:spPr>
          <a:xfrm>
            <a:off x="5313692" y="787453"/>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a:t>
            </a:r>
            <a:r>
              <a:rPr lang="en-US" altLang="zh-CN" sz="1200" dirty="0">
                <a:latin typeface="微软雅黑" panose="020B0503020204020204" pitchFamily="34" charset="-122"/>
                <a:ea typeface="微软雅黑" panose="020B0503020204020204" pitchFamily="34" charset="-122"/>
              </a:rPr>
              <a:t>51001</a:t>
            </a:r>
            <a:r>
              <a:rPr lang="zh-CN" altLang="en-US" sz="1200" dirty="0" smtClean="0">
                <a:latin typeface="微软雅黑" panose="020B0503020204020204" pitchFamily="34" charset="-122"/>
                <a:ea typeface="微软雅黑" panose="020B0503020204020204" pitchFamily="34" charset="-122"/>
              </a:rPr>
              <a:t>策略配置文件</a:t>
            </a:r>
            <a:endParaRPr lang="zh-CN" altLang="en-US" sz="1200" dirty="0">
              <a:latin typeface="微软雅黑" panose="020B0503020204020204" pitchFamily="34" charset="-122"/>
              <a:ea typeface="微软雅黑" panose="020B0503020204020204" pitchFamily="34" charset="-122"/>
            </a:endParaRPr>
          </a:p>
        </p:txBody>
      </p:sp>
      <p:sp>
        <p:nvSpPr>
          <p:cNvPr id="11" name="矩形 10"/>
          <p:cNvSpPr/>
          <p:nvPr/>
        </p:nvSpPr>
        <p:spPr>
          <a:xfrm>
            <a:off x="5109526" y="1082984"/>
            <a:ext cx="1609619" cy="2308324"/>
          </a:xfrm>
          <a:prstGeom prst="rect">
            <a:avLst/>
          </a:prstGeom>
          <a:solidFill>
            <a:schemeClr val="tx1">
              <a:lumMod val="95000"/>
              <a:lumOff val="5000"/>
            </a:schemeClr>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 51001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51001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 distribution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func_type</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max_diff</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stand_prob</a:t>
            </a:r>
            <a:r>
              <a:rPr lang="en-US" altLang="zh-CN" sz="1200" dirty="0">
                <a:solidFill>
                  <a:srgbClr val="33CC33"/>
                </a:solidFill>
                <a:latin typeface="Times New Roman" panose="02020603050405020304" charset="0"/>
                <a:cs typeface="Times New Roman" panose="02020603050405020304" charset="0"/>
              </a:rPr>
              <a:t>  : 0.93,0.07</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simple_distribution:1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count_threshold</a:t>
            </a:r>
            <a:r>
              <a:rPr lang="en-US" altLang="zh-CN" sz="1200" dirty="0">
                <a:solidFill>
                  <a:srgbClr val="33CC33"/>
                </a:solidFill>
                <a:latin typeface="Times New Roman" panose="02020603050405020304" charset="0"/>
                <a:cs typeface="Times New Roman" panose="02020603050405020304" charset="0"/>
              </a:rPr>
              <a:t> : 10</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threshold:2</a:t>
            </a:r>
            <a:endParaRPr lang="en-US" altLang="zh-CN" sz="1200" dirty="0">
              <a:solidFill>
                <a:srgbClr val="33CC33"/>
              </a:solidFill>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a:latin typeface="微软雅黑"/>
                <a:ea typeface="微软雅黑"/>
                <a:cs typeface="微软雅黑"/>
              </a:rPr>
              <a:t>集中度</a:t>
            </a:r>
            <a:r>
              <a:rPr kumimoji="1" lang="zh-CN" altLang="en-US" sz="1400" b="1" spc="200" dirty="0" smtClean="0">
                <a:latin typeface="微软雅黑"/>
                <a:ea typeface="微软雅黑"/>
                <a:cs typeface="微软雅黑"/>
              </a:rPr>
              <a:t>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6" y="1002754"/>
            <a:ext cx="4628924" cy="3913804"/>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简介</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在一定段长内，计算</a:t>
            </a:r>
            <a:r>
              <a:rPr kumimoji="1" lang="zh-CN" altLang="en-US" sz="1600" dirty="0">
                <a:latin typeface="微软雅黑" panose="020B0503020204020204" pitchFamily="34" charset="-122"/>
                <a:ea typeface="微软雅黑" panose="020B0503020204020204" pitchFamily="34" charset="-122"/>
                <a:cs typeface="宋体" charset="0"/>
              </a:rPr>
              <a:t>主维度下，子维度对象的</a:t>
            </a:r>
            <a:r>
              <a:rPr kumimoji="1" lang="en-US" altLang="zh-CN" sz="1600" dirty="0" err="1">
                <a:latin typeface="微软雅黑" panose="020B0503020204020204" pitchFamily="34" charset="-122"/>
                <a:ea typeface="微软雅黑" panose="020B0503020204020204" pitchFamily="34" charset="-122"/>
                <a:cs typeface="宋体" charset="0"/>
              </a:rPr>
              <a:t>pv</a:t>
            </a:r>
            <a:r>
              <a:rPr kumimoji="1" lang="zh-CN" altLang="en-US" sz="1600" dirty="0">
                <a:latin typeface="微软雅黑" panose="020B0503020204020204" pitchFamily="34" charset="-122"/>
                <a:ea typeface="微软雅黑" panose="020B0503020204020204" pitchFamily="34" charset="-122"/>
                <a:cs typeface="宋体" charset="0"/>
              </a:rPr>
              <a:t>累积量</a:t>
            </a:r>
            <a:r>
              <a:rPr kumimoji="1" lang="zh-CN" altLang="en-US" sz="1600" dirty="0" smtClean="0">
                <a:latin typeface="微软雅黑" panose="020B0503020204020204" pitchFamily="34" charset="-122"/>
                <a:ea typeface="微软雅黑" panose="020B0503020204020204" pitchFamily="34" charset="-122"/>
                <a:cs typeface="宋体" charset="0"/>
              </a:rPr>
              <a:t>，这些累积量中</a:t>
            </a:r>
            <a:r>
              <a:rPr kumimoji="1" lang="en-US" altLang="zh-CN" sz="1600" dirty="0" smtClean="0">
                <a:latin typeface="微软雅黑" panose="020B0503020204020204" pitchFamily="34" charset="-122"/>
                <a:ea typeface="微软雅黑" panose="020B0503020204020204" pitchFamily="34" charset="-122"/>
                <a:cs typeface="宋体" charset="0"/>
              </a:rPr>
              <a:t>top </a:t>
            </a:r>
            <a:r>
              <a:rPr kumimoji="1" lang="en-US" altLang="zh-CN" sz="1600" dirty="0">
                <a:latin typeface="微软雅黑" panose="020B0503020204020204" pitchFamily="34" charset="-122"/>
                <a:ea typeface="微软雅黑" panose="020B0503020204020204" pitchFamily="34" charset="-122"/>
                <a:cs typeface="宋体" charset="0"/>
              </a:rPr>
              <a:t>k</a:t>
            </a:r>
            <a:r>
              <a:rPr kumimoji="1" lang="zh-CN" altLang="en-US" sz="1600" dirty="0">
                <a:latin typeface="微软雅黑" panose="020B0503020204020204" pitchFamily="34" charset="-122"/>
                <a:ea typeface="微软雅黑" panose="020B0503020204020204" pitchFamily="34" charset="-122"/>
                <a:cs typeface="宋体" charset="0"/>
              </a:rPr>
              <a:t>的占比反映了主维度下，子维度的流量集中程度</a:t>
            </a:r>
            <a:r>
              <a:rPr kumimoji="1" lang="zh-CN" altLang="en-US" sz="1600" dirty="0" smtClean="0">
                <a:latin typeface="微软雅黑" panose="020B0503020204020204" pitchFamily="34" charset="-122"/>
                <a:ea typeface="微软雅黑" panose="020B0503020204020204" pitchFamily="34" charset="-122"/>
                <a:cs typeface="宋体" charset="0"/>
              </a:rPr>
              <a:t>。如果超过</a:t>
            </a:r>
            <a:r>
              <a:rPr kumimoji="1" lang="zh-CN" altLang="en-US" sz="1600" dirty="0">
                <a:latin typeface="微软雅黑" panose="020B0503020204020204" pitchFamily="34" charset="-122"/>
                <a:ea typeface="微软雅黑" panose="020B0503020204020204" pitchFamily="34" charset="-122"/>
                <a:cs typeface="宋体" charset="0"/>
              </a:rPr>
              <a:t>阈值，则认为流量过分集中，是异常的表现。</a:t>
            </a:r>
            <a:endParaRPr kumimoji="1" lang="zh-CN" altLang="en-US" sz="16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可用特征</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集中度</a:t>
            </a:r>
            <a:r>
              <a:rPr kumimoji="1" lang="zh-CN" altLang="en-US" sz="1600" dirty="0" smtClean="0">
                <a:latin typeface="微软雅黑" panose="020B0503020204020204" pitchFamily="34" charset="-122"/>
                <a:ea typeface="微软雅黑" panose="020B0503020204020204" pitchFamily="34" charset="-122"/>
                <a:cs typeface="宋体" charset="0"/>
              </a:rPr>
              <a:t>特征</a:t>
            </a:r>
            <a:r>
              <a:rPr kumimoji="1" lang="en-US" altLang="zh-CN" sz="1600" dirty="0">
                <a:latin typeface="微软雅黑" panose="020B0503020204020204" pitchFamily="34" charset="-122"/>
                <a:ea typeface="微软雅黑" panose="020B0503020204020204" pitchFamily="34" charset="-122"/>
                <a:cs typeface="宋体" charset="0"/>
              </a:rPr>
              <a:t>(concentration</a:t>
            </a:r>
            <a:r>
              <a:rPr kumimoji="1" lang="en-US" altLang="zh-CN"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适用场景</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主要针对</a:t>
            </a:r>
            <a:r>
              <a:rPr kumimoji="1" lang="zh-CN" altLang="en-US" sz="1600" dirty="0">
                <a:latin typeface="微软雅黑" panose="020B0503020204020204" pitchFamily="34" charset="-122"/>
                <a:ea typeface="微软雅黑" panose="020B0503020204020204" pitchFamily="34" charset="-122"/>
                <a:cs typeface="宋体" charset="0"/>
              </a:rPr>
              <a:t>作弊者</a:t>
            </a:r>
            <a:r>
              <a:rPr kumimoji="1" lang="zh-CN" altLang="en-US" sz="1600" dirty="0" smtClean="0">
                <a:latin typeface="微软雅黑" panose="020B0503020204020204" pitchFamily="34" charset="-122"/>
                <a:ea typeface="微软雅黑" panose="020B0503020204020204" pitchFamily="34" charset="-122"/>
                <a:cs typeface="宋体" charset="0"/>
              </a:rPr>
              <a:t>在</a:t>
            </a:r>
            <a:r>
              <a:rPr kumimoji="1" lang="zh-CN" altLang="en-US" sz="1600" dirty="0">
                <a:latin typeface="微软雅黑" panose="020B0503020204020204" pitchFamily="34" charset="-122"/>
                <a:ea typeface="微软雅黑" panose="020B0503020204020204" pitchFamily="34" charset="-122"/>
                <a:cs typeface="宋体" charset="0"/>
              </a:rPr>
              <a:t>某</a:t>
            </a:r>
            <a:r>
              <a:rPr kumimoji="1" lang="zh-CN" altLang="en-US" sz="1600" dirty="0" smtClean="0">
                <a:latin typeface="微软雅黑" panose="020B0503020204020204" pitchFamily="34" charset="-122"/>
                <a:ea typeface="微软雅黑" panose="020B0503020204020204" pitchFamily="34" charset="-122"/>
                <a:cs typeface="宋体" charset="0"/>
              </a:rPr>
              <a:t>维度对象下</a:t>
            </a:r>
            <a:r>
              <a:rPr kumimoji="1" lang="zh-CN" altLang="en-US" sz="1600" dirty="0">
                <a:latin typeface="微软雅黑" panose="020B0503020204020204" pitchFamily="34" charset="-122"/>
                <a:ea typeface="微软雅黑" panose="020B0503020204020204" pitchFamily="34" charset="-122"/>
                <a:cs typeface="宋体" charset="0"/>
              </a:rPr>
              <a:t>的集中</a:t>
            </a:r>
            <a:r>
              <a:rPr kumimoji="1" lang="zh-CN" altLang="en-US" sz="1600" dirty="0" smtClean="0">
                <a:latin typeface="微软雅黑" panose="020B0503020204020204" pitchFamily="34" charset="-122"/>
                <a:ea typeface="微软雅黑" panose="020B0503020204020204" pitchFamily="34" charset="-122"/>
                <a:cs typeface="宋体" charset="0"/>
              </a:rPr>
              <a:t>作弊</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“异常集中”的分布很可能是作弊，比如某一段内某个计费名相关的日志占比超过</a:t>
            </a:r>
            <a:r>
              <a:rPr kumimoji="1" lang="en-US" altLang="zh-CN" sz="1400" dirty="0" smtClean="0">
                <a:latin typeface="微软雅黑" panose="020B0503020204020204" pitchFamily="34" charset="-122"/>
                <a:ea typeface="微软雅黑" panose="020B0503020204020204" pitchFamily="34" charset="-122"/>
                <a:cs typeface="宋体" charset="0"/>
              </a:rPr>
              <a:t>0.9</a:t>
            </a:r>
            <a:r>
              <a:rPr kumimoji="1" lang="zh-CN" altLang="en-US" sz="1400" dirty="0" smtClean="0">
                <a:latin typeface="微软雅黑" panose="020B0503020204020204" pitchFamily="34" charset="-122"/>
                <a:ea typeface="微软雅黑" panose="020B0503020204020204" pitchFamily="34" charset="-122"/>
                <a:cs typeface="宋体" charset="0"/>
              </a:rPr>
              <a:t>就很不正常</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400" dirty="0" smtClean="0">
              <a:latin typeface="微软雅黑" panose="020B0503020204020204" pitchFamily="34" charset="-122"/>
              <a:ea typeface="微软雅黑" panose="020B0503020204020204" pitchFamily="34" charset="-122"/>
              <a:cs typeface="宋体" charset="0"/>
            </a:endParaRPr>
          </a:p>
        </p:txBody>
      </p:sp>
      <p:sp>
        <p:nvSpPr>
          <p:cNvPr id="5" name="内容占位符 2"/>
          <p:cNvSpPr txBox="1"/>
          <p:nvPr/>
        </p:nvSpPr>
        <p:spPr>
          <a:xfrm>
            <a:off x="5109030" y="1002754"/>
            <a:ext cx="3773713" cy="391380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spcAft>
                <a:spcPts val="600"/>
              </a:spcAft>
              <a:buSzPct val="120000"/>
              <a:buFont typeface="Arial" panose="020B0604020202020204"/>
              <a:buNone/>
            </a:pPr>
            <a:r>
              <a:rPr kumimoji="1" lang="zh-CN" altLang="en-US" sz="1800" dirty="0" smtClean="0">
                <a:latin typeface="微软雅黑" panose="020B0503020204020204" pitchFamily="34" charset="-122"/>
                <a:ea typeface="微软雅黑" panose="020B0503020204020204" pitchFamily="34" charset="-122"/>
                <a:cs typeface="宋体" charset="0"/>
              </a:rPr>
              <a:t>集中度策略和比例策略</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比例策略：</a:t>
            </a:r>
            <a:r>
              <a:rPr kumimoji="1" lang="en-US" altLang="zh-CN" sz="1600" dirty="0">
                <a:latin typeface="微软雅黑" panose="020B0503020204020204" pitchFamily="34" charset="-122"/>
                <a:ea typeface="微软雅黑" panose="020B0503020204020204" pitchFamily="34" charset="-122"/>
                <a:cs typeface="宋体" charset="0"/>
              </a:rPr>
              <a:t>refer</a:t>
            </a:r>
            <a:r>
              <a:rPr kumimoji="1" lang="zh-CN" altLang="en-US" sz="1600" dirty="0">
                <a:latin typeface="微软雅黑" panose="020B0503020204020204" pitchFamily="34" charset="-122"/>
                <a:ea typeface="微软雅黑" panose="020B0503020204020204" pitchFamily="34" charset="-122"/>
                <a:cs typeface="宋体" charset="0"/>
              </a:rPr>
              <a:t>固定，</a:t>
            </a:r>
            <a:r>
              <a:rPr kumimoji="1" lang="en-US" altLang="zh-CN" sz="1600" dirty="0">
                <a:latin typeface="微软雅黑" panose="020B0503020204020204" pitchFamily="34" charset="-122"/>
                <a:ea typeface="微软雅黑" panose="020B0503020204020204" pitchFamily="34" charset="-122"/>
                <a:cs typeface="宋体" charset="0"/>
              </a:rPr>
              <a:t>filter</a:t>
            </a:r>
            <a:r>
              <a:rPr kumimoji="1" lang="zh-CN" altLang="en-US" sz="1600" dirty="0">
                <a:latin typeface="微软雅黑" panose="020B0503020204020204" pitchFamily="34" charset="-122"/>
                <a:ea typeface="微软雅黑" panose="020B0503020204020204" pitchFamily="34" charset="-122"/>
                <a:cs typeface="宋体" charset="0"/>
              </a:rPr>
              <a:t>固定</a:t>
            </a:r>
            <a:endParaRPr kumimoji="1" lang="zh-CN" altLang="en-US"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集中</a:t>
            </a:r>
            <a:r>
              <a:rPr kumimoji="1" lang="zh-CN" altLang="en-US" sz="1600" dirty="0">
                <a:latin typeface="微软雅黑" panose="020B0503020204020204" pitchFamily="34" charset="-122"/>
                <a:ea typeface="微软雅黑" panose="020B0503020204020204" pitchFamily="34" charset="-122"/>
                <a:cs typeface="宋体" charset="0"/>
              </a:rPr>
              <a:t>度策略：</a:t>
            </a:r>
            <a:r>
              <a:rPr kumimoji="1" lang="en-US" altLang="zh-CN" sz="1600" dirty="0">
                <a:latin typeface="微软雅黑" panose="020B0503020204020204" pitchFamily="34" charset="-122"/>
                <a:ea typeface="微软雅黑" panose="020B0503020204020204" pitchFamily="34" charset="-122"/>
                <a:cs typeface="宋体" charset="0"/>
              </a:rPr>
              <a:t>refer</a:t>
            </a:r>
            <a:r>
              <a:rPr kumimoji="1" lang="zh-CN" altLang="en-US" sz="1600" dirty="0">
                <a:latin typeface="微软雅黑" panose="020B0503020204020204" pitchFamily="34" charset="-122"/>
                <a:ea typeface="微软雅黑" panose="020B0503020204020204" pitchFamily="34" charset="-122"/>
                <a:cs typeface="宋体" charset="0"/>
              </a:rPr>
              <a:t>固定（主维度全集），</a:t>
            </a:r>
            <a:r>
              <a:rPr kumimoji="1" lang="en-US" altLang="zh-CN" sz="1600" dirty="0">
                <a:latin typeface="微软雅黑" panose="020B0503020204020204" pitchFamily="34" charset="-122"/>
                <a:ea typeface="微软雅黑" panose="020B0503020204020204" pitchFamily="34" charset="-122"/>
                <a:cs typeface="宋体" charset="0"/>
              </a:rPr>
              <a:t>filter</a:t>
            </a:r>
            <a:r>
              <a:rPr kumimoji="1" lang="zh-CN" altLang="en-US" sz="1600" dirty="0">
                <a:latin typeface="微软雅黑" panose="020B0503020204020204" pitchFamily="34" charset="-122"/>
                <a:ea typeface="微软雅黑" panose="020B0503020204020204" pitchFamily="34" charset="-122"/>
                <a:cs typeface="宋体" charset="0"/>
              </a:rPr>
              <a:t>由统计结果决定（</a:t>
            </a:r>
            <a:r>
              <a:rPr kumimoji="1" lang="en-US" altLang="zh-CN" sz="1600" dirty="0">
                <a:latin typeface="微软雅黑" panose="020B0503020204020204" pitchFamily="34" charset="-122"/>
                <a:ea typeface="微软雅黑" panose="020B0503020204020204" pitchFamily="34" charset="-122"/>
                <a:cs typeface="宋体" charset="0"/>
              </a:rPr>
              <a:t>Top</a:t>
            </a:r>
            <a:r>
              <a:rPr kumimoji="1" lang="zh-CN" altLang="en-US" sz="1600" dirty="0">
                <a:latin typeface="微软雅黑" panose="020B0503020204020204" pitchFamily="34" charset="-122"/>
                <a:ea typeface="微软雅黑" panose="020B0503020204020204" pitchFamily="34" charset="-122"/>
                <a:cs typeface="宋体" charset="0"/>
              </a:rPr>
              <a:t>子维度</a:t>
            </a:r>
            <a:r>
              <a:rPr kumimoji="1" lang="en-US" altLang="zh-CN" sz="1600" dirty="0" err="1">
                <a:latin typeface="微软雅黑" panose="020B0503020204020204" pitchFamily="34" charset="-122"/>
                <a:ea typeface="微软雅黑" panose="020B0503020204020204" pitchFamily="34" charset="-122"/>
                <a:cs typeface="宋体" charset="0"/>
              </a:rPr>
              <a:t>pv</a:t>
            </a:r>
            <a:r>
              <a:rPr kumimoji="1" lang="zh-CN" altLang="en-US" sz="1600" dirty="0">
                <a:latin typeface="微软雅黑" panose="020B0503020204020204" pitchFamily="34" charset="-122"/>
                <a:ea typeface="微软雅黑" panose="020B0503020204020204" pitchFamily="34" charset="-122"/>
                <a:cs typeface="宋体" charset="0"/>
              </a:rPr>
              <a:t>累积量占比）</a:t>
            </a:r>
            <a:endParaRPr kumimoji="1" lang="zh-CN" altLang="en-US" sz="1600" dirty="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751074"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zh-CN" altLang="en-US" sz="1400" b="1" spc="200" dirty="0" smtClean="0">
                <a:latin typeface="微软雅黑"/>
                <a:ea typeface="微软雅黑"/>
                <a:cs typeface="微软雅黑"/>
              </a:rPr>
              <a:t>集中度策略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4382840" cy="3913804"/>
          </a:xfrm>
        </p:spPr>
        <p:txBody>
          <a:bodyPr>
            <a:noAutofit/>
          </a:bodyPr>
          <a:lstStyle/>
          <a:p>
            <a:pPr marL="0" indent="0">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集中度特征</a:t>
            </a:r>
            <a:r>
              <a:rPr kumimoji="1" lang="en-US" altLang="zh-CN" sz="1800" dirty="0">
                <a:latin typeface="微软雅黑" panose="020B0503020204020204" pitchFamily="34" charset="-122"/>
                <a:ea typeface="微软雅黑" panose="020B0503020204020204" pitchFamily="34" charset="-122"/>
                <a:cs typeface="宋体" charset="0"/>
              </a:rPr>
              <a:t>(concentration)</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400" dirty="0">
                <a:latin typeface="微软雅黑" panose="020B0503020204020204" pitchFamily="34" charset="-122"/>
                <a:ea typeface="微软雅黑" panose="020B0503020204020204" pitchFamily="34" charset="-122"/>
                <a:cs typeface="宋体" charset="0"/>
              </a:rPr>
              <a:t>在一定段长的日志中，</a:t>
            </a:r>
            <a:r>
              <a:rPr kumimoji="1" lang="zh-CN" altLang="en-US" sz="1400" dirty="0" smtClean="0">
                <a:latin typeface="微软雅黑" panose="020B0503020204020204" pitchFamily="34" charset="-122"/>
                <a:ea typeface="微软雅黑" panose="020B0503020204020204" pitchFamily="34" charset="-122"/>
                <a:cs typeface="宋体" charset="0"/>
              </a:rPr>
              <a:t>同</a:t>
            </a:r>
            <a:r>
              <a:rPr kumimoji="1" lang="zh-CN" altLang="en-US" sz="1400" dirty="0">
                <a:latin typeface="微软雅黑" panose="020B0503020204020204" pitchFamily="34" charset="-122"/>
                <a:ea typeface="微软雅黑" panose="020B0503020204020204" pitchFamily="34" charset="-122"/>
                <a:cs typeface="宋体" charset="0"/>
              </a:rPr>
              <a:t>一</a:t>
            </a:r>
            <a:r>
              <a:rPr kumimoji="1" lang="zh-CN" altLang="en-US" sz="1400" dirty="0" smtClean="0">
                <a:latin typeface="微软雅黑" panose="020B0503020204020204" pitchFamily="34" charset="-122"/>
                <a:ea typeface="微软雅黑" panose="020B0503020204020204" pitchFamily="34" charset="-122"/>
                <a:cs typeface="宋体" charset="0"/>
              </a:rPr>
              <a:t>个主维度</a:t>
            </a:r>
            <a:r>
              <a:rPr kumimoji="1" lang="zh-CN" altLang="en-US" sz="1400" dirty="0">
                <a:latin typeface="微软雅黑" panose="020B0503020204020204" pitchFamily="34" charset="-122"/>
                <a:ea typeface="微软雅黑" panose="020B0503020204020204" pitchFamily="34" charset="-122"/>
                <a:cs typeface="宋体" charset="0"/>
              </a:rPr>
              <a:t>对象</a:t>
            </a:r>
            <a:r>
              <a:rPr kumimoji="1" lang="en-US" altLang="zh-CN" sz="1400" dirty="0" smtClean="0">
                <a:latin typeface="微软雅黑" panose="020B0503020204020204" pitchFamily="34" charset="-122"/>
                <a:ea typeface="微软雅黑" panose="020B0503020204020204" pitchFamily="34" charset="-122"/>
                <a:cs typeface="宋体" charset="0"/>
              </a:rPr>
              <a:t>(view)</a:t>
            </a:r>
            <a:r>
              <a:rPr kumimoji="1" lang="zh-CN" altLang="en-US" sz="1400" dirty="0" smtClean="0">
                <a:latin typeface="微软雅黑" panose="020B0503020204020204" pitchFamily="34" charset="-122"/>
                <a:ea typeface="微软雅黑" panose="020B0503020204020204" pitchFamily="34" charset="-122"/>
                <a:cs typeface="宋体" charset="0"/>
              </a:rPr>
              <a:t>下，频数</a:t>
            </a:r>
            <a:r>
              <a:rPr kumimoji="1" lang="en-US" altLang="zh-CN" sz="1400" dirty="0" err="1" smtClean="0">
                <a:latin typeface="微软雅黑" panose="020B0503020204020204" pitchFamily="34" charset="-122"/>
                <a:ea typeface="微软雅黑" panose="020B0503020204020204" pitchFamily="34" charset="-122"/>
                <a:cs typeface="宋体" charset="0"/>
              </a:rPr>
              <a:t>topk</a:t>
            </a:r>
            <a:r>
              <a:rPr kumimoji="1" lang="zh-CN" altLang="en-US" sz="1400" dirty="0" smtClean="0">
                <a:latin typeface="微软雅黑" panose="020B0503020204020204" pitchFamily="34" charset="-122"/>
                <a:ea typeface="微软雅黑" panose="020B0503020204020204" pitchFamily="34" charset="-122"/>
                <a:cs typeface="宋体" charset="0"/>
              </a:rPr>
              <a:t>的</a:t>
            </a:r>
            <a:r>
              <a:rPr kumimoji="1" lang="zh-CN" altLang="en-US" sz="1400" dirty="0">
                <a:latin typeface="微软雅黑" panose="020B0503020204020204" pitchFamily="34" charset="-122"/>
                <a:ea typeface="微软雅黑" panose="020B0503020204020204" pitchFamily="34" charset="-122"/>
                <a:cs typeface="宋体" charset="0"/>
              </a:rPr>
              <a:t>所有</a:t>
            </a:r>
            <a:r>
              <a:rPr kumimoji="1" lang="zh-CN" altLang="en-US" sz="1400" dirty="0" smtClean="0">
                <a:latin typeface="微软雅黑" panose="020B0503020204020204" pitchFamily="34" charset="-122"/>
                <a:ea typeface="微软雅黑" panose="020B0503020204020204" pitchFamily="34" charset="-122"/>
                <a:cs typeface="宋体" charset="0"/>
              </a:rPr>
              <a:t>子维度对象的总占比。</a:t>
            </a:r>
            <a:endParaRPr kumimoji="1" lang="en-US" altLang="zh-CN" sz="1400" dirty="0">
              <a:latin typeface="微软雅黑" panose="020B0503020204020204" pitchFamily="34" charset="-122"/>
              <a:ea typeface="微软雅黑" panose="020B0503020204020204" pitchFamily="34" charset="-122"/>
              <a:cs typeface="宋体" charset="0"/>
            </a:endParaRPr>
          </a:p>
          <a:p>
            <a:pPr marL="0" indent="0">
              <a:spcAft>
                <a:spcPts val="600"/>
              </a:spcAft>
              <a:buSzPct val="120000"/>
              <a:buNone/>
            </a:pPr>
            <a:r>
              <a:rPr kumimoji="1" lang="en-US" altLang="zh-CN" sz="1800" dirty="0">
                <a:ea typeface="宋体" charset="0"/>
                <a:cs typeface="宋体" charset="0"/>
              </a:rPr>
              <a:t>60001</a:t>
            </a:r>
            <a:r>
              <a:rPr kumimoji="1" lang="zh-CN" altLang="en-US" sz="1800" dirty="0" smtClean="0">
                <a:latin typeface="微软雅黑" panose="020B0503020204020204" pitchFamily="34" charset="-122"/>
                <a:ea typeface="微软雅黑" panose="020B0503020204020204" pitchFamily="34" charset="-122"/>
                <a:cs typeface="宋体" charset="0"/>
              </a:rPr>
              <a:t>策略</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参数说明</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600" dirty="0">
                <a:latin typeface="微软雅黑" panose="020B0503020204020204" pitchFamily="34" charset="-122"/>
                <a:ea typeface="微软雅黑" panose="020B0503020204020204" pitchFamily="34" charset="-122"/>
                <a:cs typeface="宋体" charset="0"/>
              </a:rPr>
              <a:t>r</a:t>
            </a:r>
            <a:r>
              <a:rPr kumimoji="1" lang="en-US" altLang="zh-CN" sz="1600" dirty="0" smtClean="0">
                <a:latin typeface="微软雅黑" panose="020B0503020204020204" pitchFamily="34" charset="-122"/>
                <a:ea typeface="微软雅黑" panose="020B0503020204020204" pitchFamily="34" charset="-122"/>
                <a:cs typeface="宋体" charset="0"/>
              </a:rPr>
              <a:t>emain</a:t>
            </a:r>
            <a:r>
              <a:rPr kumimoji="1" lang="en-US" altLang="zh-CN" sz="1400" dirty="0" smtClean="0">
                <a:latin typeface="微软雅黑" panose="020B0503020204020204" pitchFamily="34" charset="-122"/>
                <a:ea typeface="微软雅黑" panose="020B0503020204020204" pitchFamily="34" charset="-122"/>
                <a:cs typeface="宋体" charset="0"/>
              </a:rPr>
              <a:t>: </a:t>
            </a:r>
            <a:r>
              <a:rPr kumimoji="1" lang="zh-CN" altLang="en-US" sz="1400" dirty="0" smtClean="0">
                <a:latin typeface="微软雅黑" panose="020B0503020204020204" pitchFamily="34" charset="-122"/>
                <a:ea typeface="微软雅黑" panose="020B0503020204020204" pitchFamily="34" charset="-122"/>
                <a:cs typeface="宋体" charset="0"/>
              </a:rPr>
              <a:t>段的累积量超出该值才会过滤</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400" dirty="0" err="1" smtClean="0">
                <a:latin typeface="微软雅黑" panose="020B0503020204020204" pitchFamily="34" charset="-122"/>
                <a:ea typeface="微软雅黑" panose="020B0503020204020204" pitchFamily="34" charset="-122"/>
                <a:cs typeface="宋体" charset="0"/>
              </a:rPr>
              <a:t>count_threshold</a:t>
            </a:r>
            <a:r>
              <a:rPr kumimoji="1" lang="zh-CN" altLang="en-US" sz="1400" dirty="0" smtClean="0">
                <a:latin typeface="微软雅黑" panose="020B0503020204020204" pitchFamily="34" charset="-122"/>
                <a:ea typeface="微软雅黑" panose="020B0503020204020204" pitchFamily="34" charset="-122"/>
                <a:cs typeface="宋体" charset="0"/>
              </a:rPr>
              <a:t>：段的累积量超出该值才会过滤</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400" dirty="0">
                <a:latin typeface="微软雅黑" panose="020B0503020204020204" pitchFamily="34" charset="-122"/>
                <a:ea typeface="微软雅黑" panose="020B0503020204020204" pitchFamily="34" charset="-122"/>
                <a:cs typeface="宋体" charset="0"/>
              </a:rPr>
              <a:t>p</a:t>
            </a:r>
            <a:r>
              <a:rPr kumimoji="1" lang="en-US" altLang="zh-CN" sz="1400" dirty="0" smtClean="0">
                <a:latin typeface="微软雅黑" panose="020B0503020204020204" pitchFamily="34" charset="-122"/>
                <a:ea typeface="微软雅黑" panose="020B0503020204020204" pitchFamily="34" charset="-122"/>
                <a:cs typeface="宋体" charset="0"/>
              </a:rPr>
              <a:t>c</a:t>
            </a:r>
            <a:r>
              <a:rPr kumimoji="1" lang="zh-CN" altLang="en-US" sz="1400" dirty="0" smtClean="0">
                <a:latin typeface="微软雅黑" panose="020B0503020204020204" pitchFamily="34" charset="-122"/>
                <a:ea typeface="微软雅黑" panose="020B0503020204020204" pitchFamily="34" charset="-122"/>
                <a:cs typeface="宋体" charset="0"/>
              </a:rPr>
              <a:t>检索、去除回流和</a:t>
            </a:r>
            <a:r>
              <a:rPr kumimoji="1" lang="en-US" altLang="zh-CN" sz="1400" dirty="0" smtClean="0">
                <a:latin typeface="微软雅黑" panose="020B0503020204020204" pitchFamily="34" charset="-122"/>
                <a:ea typeface="微软雅黑" panose="020B0503020204020204" pitchFamily="34" charset="-122"/>
                <a:cs typeface="宋体" charset="0"/>
              </a:rPr>
              <a:t>feed</a:t>
            </a:r>
            <a:r>
              <a:rPr kumimoji="1" lang="zh-CN" altLang="en-US" sz="1400" dirty="0" smtClean="0">
                <a:latin typeface="微软雅黑" panose="020B0503020204020204" pitchFamily="34" charset="-122"/>
                <a:ea typeface="微软雅黑" panose="020B0503020204020204" pitchFamily="34" charset="-122"/>
                <a:cs typeface="宋体" charset="0"/>
              </a:rPr>
              <a:t>流量的日志，</a:t>
            </a:r>
            <a:r>
              <a:rPr kumimoji="1" lang="zh-CN" altLang="en-US" sz="1400" dirty="0">
                <a:latin typeface="微软雅黑" panose="020B0503020204020204" pitchFamily="34" charset="-122"/>
                <a:ea typeface="微软雅黑" panose="020B0503020204020204" pitchFamily="34" charset="-122"/>
                <a:cs typeface="宋体" charset="0"/>
              </a:rPr>
              <a:t>每个小时内同一</a:t>
            </a:r>
            <a:r>
              <a:rPr kumimoji="1" lang="en-US" altLang="zh-CN" sz="1400" dirty="0" err="1">
                <a:latin typeface="微软雅黑" panose="020B0503020204020204" pitchFamily="34" charset="-122"/>
                <a:ea typeface="微软雅黑" panose="020B0503020204020204" pitchFamily="34" charset="-122"/>
                <a:cs typeface="宋体" charset="0"/>
              </a:rPr>
              <a:t>ip</a:t>
            </a:r>
            <a:r>
              <a:rPr kumimoji="1" lang="zh-CN" altLang="en-US" sz="1400" dirty="0">
                <a:latin typeface="微软雅黑" panose="020B0503020204020204" pitchFamily="34" charset="-122"/>
                <a:ea typeface="微软雅黑" panose="020B0503020204020204" pitchFamily="34" charset="-122"/>
                <a:cs typeface="宋体" charset="0"/>
              </a:rPr>
              <a:t>下频次最高的</a:t>
            </a:r>
            <a:r>
              <a:rPr kumimoji="1" lang="en-US" altLang="zh-CN" sz="1400" dirty="0" err="1" smtClean="0">
                <a:latin typeface="微软雅黑" panose="020B0503020204020204" pitchFamily="34" charset="-122"/>
                <a:ea typeface="微软雅黑" panose="020B0503020204020204" pitchFamily="34" charset="-122"/>
                <a:cs typeface="宋体" charset="0"/>
              </a:rPr>
              <a:t>url_type</a:t>
            </a:r>
            <a:r>
              <a:rPr kumimoji="1" lang="zh-CN" altLang="en-US" sz="1400" dirty="0" smtClean="0">
                <a:latin typeface="微软雅黑" panose="020B0503020204020204" pitchFamily="34" charset="-122"/>
                <a:ea typeface="微软雅黑" panose="020B0503020204020204" pitchFamily="34" charset="-122"/>
                <a:cs typeface="宋体" charset="0"/>
              </a:rPr>
              <a:t>对象占</a:t>
            </a:r>
            <a:r>
              <a:rPr kumimoji="1" lang="zh-CN" altLang="en-US" sz="1400" dirty="0">
                <a:latin typeface="微软雅黑" panose="020B0503020204020204" pitchFamily="34" charset="-122"/>
                <a:ea typeface="微软雅黑" panose="020B0503020204020204" pitchFamily="34" charset="-122"/>
                <a:cs typeface="宋体" charset="0"/>
              </a:rPr>
              <a:t>比不超过</a:t>
            </a:r>
            <a:r>
              <a:rPr kumimoji="1" lang="en-US" altLang="zh-CN" sz="1400" dirty="0" smtClean="0">
                <a:latin typeface="微软雅黑" panose="020B0503020204020204" pitchFamily="34" charset="-122"/>
                <a:ea typeface="微软雅黑" panose="020B0503020204020204" pitchFamily="34" charset="-122"/>
                <a:cs typeface="宋体" charset="0"/>
              </a:rPr>
              <a:t>0.85</a:t>
            </a:r>
            <a:endParaRPr kumimoji="1" lang="en-US" altLang="zh-CN" sz="1400" dirty="0">
              <a:latin typeface="微软雅黑" panose="020B0503020204020204" pitchFamily="34" charset="-122"/>
              <a:ea typeface="微软雅黑" panose="020B0503020204020204" pitchFamily="34" charset="-122"/>
              <a:cs typeface="宋体" charset="0"/>
            </a:endParaRPr>
          </a:p>
        </p:txBody>
      </p:sp>
      <p:sp>
        <p:nvSpPr>
          <p:cNvPr id="6" name="矩形 5"/>
          <p:cNvSpPr/>
          <p:nvPr/>
        </p:nvSpPr>
        <p:spPr>
          <a:xfrm>
            <a:off x="6719145" y="1082219"/>
            <a:ext cx="2221655" cy="2862322"/>
          </a:xfrm>
          <a:prstGeom prst="rect">
            <a:avLst/>
          </a:prstGeom>
          <a:solidFill>
            <a:schemeClr val="tx1">
              <a:lumMod val="95000"/>
              <a:lumOff val="5000"/>
            </a:schemeClr>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[@feature]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 60001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feature_type</a:t>
            </a:r>
            <a:r>
              <a:rPr lang="en-US" altLang="zh-CN" sz="1200" dirty="0">
                <a:solidFill>
                  <a:srgbClr val="33CC33"/>
                </a:solidFill>
                <a:latin typeface="Times New Roman" panose="02020603050405020304" charset="0"/>
                <a:cs typeface="Times New Roman" panose="02020603050405020304" charset="0"/>
              </a:rPr>
              <a:t> : concentration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view_level</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pv_level</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care : [#</a:t>
            </a:r>
            <a:r>
              <a:rPr lang="en-US" altLang="zh-CN" sz="1200" dirty="0" err="1">
                <a:solidFill>
                  <a:srgbClr val="33CC33"/>
                </a:solidFill>
                <a:latin typeface="Times New Roman" panose="02020603050405020304" charset="0"/>
                <a:cs typeface="Times New Roman" panose="02020603050405020304" charset="0"/>
              </a:rPr>
              <a:t>AspPCGroupNoHuiliu</a:t>
            </a:r>
            <a:r>
              <a:rPr lang="en-US" altLang="zh-CN" sz="1200" dirty="0">
                <a:solidFill>
                  <a:srgbClr val="33CC33"/>
                </a:solidFill>
                <a:latin typeface="Times New Roman" panose="02020603050405020304" charset="0"/>
                <a:cs typeface="Times New Roman" panose="02020603050405020304" charset="0"/>
              </a:rPr>
              <a:t>][#</a:t>
            </a:r>
            <a:r>
              <a:rPr lang="en-US" altLang="zh-CN" sz="1200" dirty="0" err="1">
                <a:solidFill>
                  <a:srgbClr val="33CC33"/>
                </a:solidFill>
                <a:latin typeface="Times New Roman" panose="02020603050405020304" charset="0"/>
                <a:cs typeface="Times New Roman" panose="02020603050405020304" charset="0"/>
              </a:rPr>
              <a:t>NoPCfeed</a:t>
            </a:r>
            <a:r>
              <a:rPr lang="en-US" altLang="zh-CN" sz="1200" dirty="0">
                <a:solidFill>
                  <a:srgbClr val="33CC33"/>
                </a:solidFill>
                <a:latin typeface="Times New Roman" panose="02020603050405020304" charset="0"/>
                <a:cs typeface="Times New Roman" panose="02020603050405020304" charset="0"/>
              </a:rPr>
              <a:t>]</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view : </a:t>
            </a:r>
            <a:r>
              <a:rPr lang="en-US" altLang="zh-CN" sz="1200" dirty="0" err="1">
                <a:solidFill>
                  <a:srgbClr val="33CC33"/>
                </a:solidFill>
                <a:latin typeface="Times New Roman" panose="02020603050405020304" charset="0"/>
                <a:cs typeface="Times New Roman" panose="02020603050405020304" charset="0"/>
              </a:rPr>
              <a:t>ip</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version : 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window_type</a:t>
            </a:r>
            <a:r>
              <a:rPr lang="en-US" altLang="zh-CN" sz="1200" dirty="0">
                <a:solidFill>
                  <a:srgbClr val="33CC33"/>
                </a:solidFill>
                <a:latin typeface="Times New Roman" panose="02020603050405020304" charset="0"/>
                <a:cs typeface="Times New Roman" panose="02020603050405020304" charset="0"/>
              </a:rPr>
              <a:t> : time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window_length</a:t>
            </a:r>
            <a:r>
              <a:rPr lang="en-US" altLang="zh-CN" sz="1200" dirty="0">
                <a:solidFill>
                  <a:srgbClr val="33CC33"/>
                </a:solidFill>
                <a:latin typeface="Times New Roman" panose="02020603050405020304" charset="0"/>
                <a:cs typeface="Times New Roman" panose="02020603050405020304" charset="0"/>
              </a:rPr>
              <a:t> : 3600</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step_length</a:t>
            </a:r>
            <a:r>
              <a:rPr lang="en-US" altLang="zh-CN" sz="1200" dirty="0">
                <a:solidFill>
                  <a:srgbClr val="33CC33"/>
                </a:solidFill>
                <a:latin typeface="Times New Roman" panose="02020603050405020304" charset="0"/>
                <a:cs typeface="Times New Roman" panose="02020603050405020304" charset="0"/>
              </a:rPr>
              <a:t> : 900</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top : 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data_view</a:t>
            </a:r>
            <a:r>
              <a:rPr lang="en-US" altLang="zh-CN" sz="1200" dirty="0">
                <a:solidFill>
                  <a:srgbClr val="33CC33"/>
                </a:solidFill>
                <a:latin typeface="Times New Roman" panose="02020603050405020304" charset="0"/>
                <a:cs typeface="Times New Roman" panose="02020603050405020304" charset="0"/>
              </a:rPr>
              <a:t> : </a:t>
            </a:r>
            <a:r>
              <a:rPr lang="en-US" altLang="zh-CN" sz="1200" dirty="0" err="1">
                <a:solidFill>
                  <a:srgbClr val="33CC33"/>
                </a:solidFill>
                <a:latin typeface="Times New Roman" panose="02020603050405020304" charset="0"/>
                <a:cs typeface="Times New Roman" panose="02020603050405020304" charset="0"/>
              </a:rPr>
              <a:t>url_type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count_threshold</a:t>
            </a:r>
            <a:r>
              <a:rPr lang="en-US" altLang="zh-CN" sz="1200" dirty="0">
                <a:solidFill>
                  <a:srgbClr val="33CC33"/>
                </a:solidFill>
                <a:latin typeface="Times New Roman" panose="02020603050405020304" charset="0"/>
                <a:cs typeface="Times New Roman" panose="02020603050405020304" charset="0"/>
              </a:rPr>
              <a:t> : 50</a:t>
            </a:r>
            <a:endParaRPr lang="en-US" altLang="zh-CN" sz="1200" dirty="0">
              <a:solidFill>
                <a:srgbClr val="33CC33"/>
              </a:solidFill>
              <a:latin typeface="Times New Roman" panose="02020603050405020304" charset="0"/>
              <a:cs typeface="Times New Roman" panose="02020603050405020304" charset="0"/>
            </a:endParaRPr>
          </a:p>
        </p:txBody>
      </p:sp>
      <p:sp>
        <p:nvSpPr>
          <p:cNvPr id="8" name="文本框 7"/>
          <p:cNvSpPr txBox="1"/>
          <p:nvPr/>
        </p:nvSpPr>
        <p:spPr>
          <a:xfrm>
            <a:off x="5313692" y="787453"/>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a:t>
            </a:r>
            <a:r>
              <a:rPr kumimoji="1" lang="en-US" altLang="zh-CN" sz="1200" dirty="0">
                <a:ea typeface="宋体" charset="0"/>
                <a:cs typeface="宋体" charset="0"/>
              </a:rPr>
              <a:t>60001</a:t>
            </a:r>
            <a:r>
              <a:rPr lang="zh-CN" altLang="en-US" sz="1200" dirty="0" smtClean="0">
                <a:latin typeface="微软雅黑" panose="020B0503020204020204" pitchFamily="34" charset="-122"/>
                <a:ea typeface="微软雅黑" panose="020B0503020204020204" pitchFamily="34" charset="-122"/>
              </a:rPr>
              <a:t>策略配置文件</a:t>
            </a:r>
            <a:endParaRPr lang="zh-CN" altLang="en-US" sz="1200" dirty="0">
              <a:latin typeface="微软雅黑" panose="020B0503020204020204" pitchFamily="34" charset="-122"/>
              <a:ea typeface="微软雅黑" panose="020B0503020204020204" pitchFamily="34" charset="-122"/>
            </a:endParaRPr>
          </a:p>
        </p:txBody>
      </p:sp>
      <p:sp>
        <p:nvSpPr>
          <p:cNvPr id="11" name="矩形 10"/>
          <p:cNvSpPr/>
          <p:nvPr/>
        </p:nvSpPr>
        <p:spPr>
          <a:xfrm>
            <a:off x="5109526" y="1082984"/>
            <a:ext cx="1609619" cy="1938992"/>
          </a:xfrm>
          <a:prstGeom prst="rect">
            <a:avLst/>
          </a:prstGeom>
          <a:solidFill>
            <a:schemeClr val="tx1">
              <a:lumMod val="95000"/>
              <a:lumOff val="5000"/>
            </a:schemeClr>
          </a:solidFill>
        </p:spPr>
        <p:txBody>
          <a:bodyPr wrap="square">
            <a:spAutoFit/>
          </a:bodyPr>
          <a:lstStyle/>
          <a:p>
            <a:r>
              <a:rPr lang="en-US" altLang="zh-CN" sz="1200" dirty="0">
                <a:solidFill>
                  <a:srgbClr val="33CC33"/>
                </a:solidFill>
                <a:latin typeface="Times New Roman" panose="02020603050405020304" charset="0"/>
                <a:cs typeface="Times New Roman" panose="02020603050405020304" charset="0"/>
              </a:rPr>
              <a:t>[@policy]</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policy_id</a:t>
            </a:r>
            <a:r>
              <a:rPr lang="en-US" altLang="zh-CN" sz="1200" dirty="0">
                <a:solidFill>
                  <a:srgbClr val="33CC33"/>
                </a:solidFill>
                <a:latin typeface="Times New Roman" panose="02020603050405020304" charset="0"/>
                <a:cs typeface="Times New Roman" panose="02020603050405020304" charset="0"/>
              </a:rPr>
              <a:t>: 60001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policy_type</a:t>
            </a:r>
            <a:r>
              <a:rPr lang="en-US" altLang="zh-CN" sz="1200" dirty="0">
                <a:solidFill>
                  <a:srgbClr val="33CC33"/>
                </a:solidFill>
                <a:latin typeface="Times New Roman" panose="02020603050405020304" charset="0"/>
                <a:cs typeface="Times New Roman" panose="02020603050405020304" charset="0"/>
              </a:rPr>
              <a:t> : 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 </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[.@rule]</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feature_id</a:t>
            </a:r>
            <a:r>
              <a:rPr lang="en-US" altLang="zh-CN" sz="1200" dirty="0">
                <a:solidFill>
                  <a:srgbClr val="33CC33"/>
                </a:solidFill>
                <a:latin typeface="Times New Roman" panose="02020603050405020304" charset="0"/>
                <a:cs typeface="Times New Roman" panose="02020603050405020304" charset="0"/>
              </a:rPr>
              <a:t>: 60001</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err="1">
                <a:solidFill>
                  <a:srgbClr val="33CC33"/>
                </a:solidFill>
                <a:latin typeface="Times New Roman" panose="02020603050405020304" charset="0"/>
                <a:cs typeface="Times New Roman" panose="02020603050405020304" charset="0"/>
              </a:rPr>
              <a:t>rule_type</a:t>
            </a:r>
            <a:r>
              <a:rPr lang="en-US" altLang="zh-CN" sz="1200" dirty="0">
                <a:solidFill>
                  <a:srgbClr val="33CC33"/>
                </a:solidFill>
                <a:latin typeface="Times New Roman" panose="02020603050405020304" charset="0"/>
                <a:cs typeface="Times New Roman" panose="02020603050405020304" charset="0"/>
              </a:rPr>
              <a:t>: concentration</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threshold: 0.85</a:t>
            </a:r>
            <a:endParaRPr lang="en-US" altLang="zh-CN" sz="1200" dirty="0">
              <a:solidFill>
                <a:srgbClr val="33CC33"/>
              </a:solidFill>
              <a:latin typeface="Times New Roman" panose="02020603050405020304" charset="0"/>
              <a:cs typeface="Times New Roman" panose="02020603050405020304" charset="0"/>
            </a:endParaRPr>
          </a:p>
          <a:p>
            <a:r>
              <a:rPr lang="en-US" altLang="zh-CN" sz="1200" dirty="0">
                <a:solidFill>
                  <a:srgbClr val="33CC33"/>
                </a:solidFill>
                <a:latin typeface="Times New Roman" panose="02020603050405020304" charset="0"/>
                <a:cs typeface="Times New Roman" panose="02020603050405020304" charset="0"/>
              </a:rPr>
              <a:t>remain: 0</a:t>
            </a:r>
            <a:endParaRPr lang="en-US" altLang="zh-CN" sz="1200" dirty="0">
              <a:solidFill>
                <a:srgbClr val="33CC33"/>
              </a:solidFill>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0636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en-US" altLang="zh-CN" sz="1400" b="1" spc="200" dirty="0" err="1" smtClean="0">
                <a:latin typeface="微软雅黑"/>
                <a:ea typeface="微软雅黑"/>
                <a:cs typeface="微软雅黑"/>
              </a:rPr>
              <a:t>timediff</a:t>
            </a:r>
            <a:r>
              <a:rPr kumimoji="1" lang="zh-CN" altLang="en-US" sz="1400" b="1" spc="200" dirty="0" smtClean="0">
                <a:latin typeface="微软雅黑"/>
                <a:ea typeface="微软雅黑"/>
                <a:cs typeface="微软雅黑"/>
              </a:rPr>
              <a:t>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8072224" cy="3913804"/>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简介</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在一定段长的日志中，同维度对象</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或维度对象组合</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zh-CN" altLang="en-US" sz="1600" dirty="0" smtClean="0">
                <a:latin typeface="微软雅黑" panose="020B0503020204020204" pitchFamily="34" charset="-122"/>
                <a:ea typeface="微软雅黑" panose="020B0503020204020204" pitchFamily="34" charset="-122"/>
                <a:cs typeface="宋体" charset="0"/>
              </a:rPr>
              <a:t>下</a:t>
            </a:r>
            <a:r>
              <a:rPr kumimoji="1" lang="zh-CN" altLang="en-US" sz="1600" dirty="0">
                <a:latin typeface="微软雅黑" panose="020B0503020204020204" pitchFamily="34" charset="-122"/>
                <a:ea typeface="微软雅黑" panose="020B0503020204020204" pitchFamily="34" charset="-122"/>
                <a:cs typeface="宋体" charset="0"/>
              </a:rPr>
              <a:t>的两条日志</a:t>
            </a:r>
            <a:r>
              <a:rPr kumimoji="1" lang="zh-CN" altLang="en-US" sz="1600" dirty="0" smtClean="0">
                <a:latin typeface="微软雅黑" panose="020B0503020204020204" pitchFamily="34" charset="-122"/>
                <a:ea typeface="微软雅黑" panose="020B0503020204020204" pitchFamily="34" charset="-122"/>
                <a:cs typeface="宋体" charset="0"/>
              </a:rPr>
              <a:t>，如果前后</a:t>
            </a:r>
            <a:r>
              <a:rPr kumimoji="1" lang="zh-CN" altLang="en-US" sz="1600" dirty="0">
                <a:latin typeface="微软雅黑" panose="020B0503020204020204" pitchFamily="34" charset="-122"/>
                <a:ea typeface="微软雅黑" panose="020B0503020204020204" pitchFamily="34" charset="-122"/>
                <a:cs typeface="宋体" charset="0"/>
              </a:rPr>
              <a:t>时间差在阈值区间内</a:t>
            </a:r>
            <a:r>
              <a:rPr kumimoji="1" lang="zh-CN" altLang="en-US" sz="1600" dirty="0" smtClean="0">
                <a:latin typeface="微软雅黑" panose="020B0503020204020204" pitchFamily="34" charset="-122"/>
                <a:ea typeface="微软雅黑" panose="020B0503020204020204" pitchFamily="34" charset="-122"/>
                <a:cs typeface="宋体" charset="0"/>
              </a:rPr>
              <a:t>，那么顺序上位于后面的日志将被策略命中。</a:t>
            </a:r>
            <a:endParaRPr kumimoji="1" lang="zh-CN" altLang="en-US" sz="16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可用特征</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时间差特征</a:t>
            </a:r>
            <a:r>
              <a:rPr kumimoji="1" lang="en-US" altLang="zh-CN" sz="1600" dirty="0" smtClean="0">
                <a:latin typeface="微软雅黑" panose="020B0503020204020204" pitchFamily="34" charset="-122"/>
                <a:ea typeface="微软雅黑" panose="020B0503020204020204" pitchFamily="34" charset="-122"/>
                <a:cs typeface="宋体" charset="0"/>
              </a:rPr>
              <a:t>(</a:t>
            </a:r>
            <a:r>
              <a:rPr kumimoji="1" lang="en-US" altLang="zh-CN" sz="1600" dirty="0" err="1" smtClean="0">
                <a:latin typeface="微软雅黑" panose="020B0503020204020204" pitchFamily="34" charset="-122"/>
                <a:ea typeface="微软雅黑" panose="020B0503020204020204" pitchFamily="34" charset="-122"/>
                <a:cs typeface="宋体" charset="0"/>
              </a:rPr>
              <a:t>timediff</a:t>
            </a:r>
            <a:r>
              <a:rPr kumimoji="1" lang="en-US" altLang="zh-CN" sz="1600" dirty="0" smtClean="0">
                <a:latin typeface="微软雅黑" panose="020B0503020204020204" pitchFamily="34" charset="-122"/>
                <a:ea typeface="微软雅黑" panose="020B0503020204020204" pitchFamily="34" charset="-122"/>
                <a:cs typeface="宋体" charset="0"/>
              </a:rPr>
              <a:t>)</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适用场景</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主要针对于检索日志中重复检索、</a:t>
            </a:r>
            <a:r>
              <a:rPr kumimoji="1" lang="en-US" altLang="zh-CN" sz="1600" dirty="0" smtClean="0">
                <a:latin typeface="微软雅黑" panose="020B0503020204020204" pitchFamily="34" charset="-122"/>
                <a:ea typeface="微软雅黑" panose="020B0503020204020204" pitchFamily="34" charset="-122"/>
                <a:cs typeface="宋体" charset="0"/>
              </a:rPr>
              <a:t>wise</a:t>
            </a:r>
            <a:r>
              <a:rPr kumimoji="1" lang="zh-CN" altLang="en-US" sz="1600" dirty="0">
                <a:latin typeface="微软雅黑" panose="020B0503020204020204" pitchFamily="34" charset="-122"/>
                <a:ea typeface="微软雅黑" panose="020B0503020204020204" pitchFamily="34" charset="-122"/>
                <a:cs typeface="宋体" charset="0"/>
              </a:rPr>
              <a:t>预</a:t>
            </a:r>
            <a:r>
              <a:rPr kumimoji="1" lang="zh-CN" altLang="en-US" sz="1600" dirty="0" smtClean="0">
                <a:latin typeface="微软雅黑" panose="020B0503020204020204" pitchFamily="34" charset="-122"/>
                <a:ea typeface="微软雅黑" panose="020B0503020204020204" pitchFamily="34" charset="-122"/>
                <a:cs typeface="宋体" charset="0"/>
              </a:rPr>
              <a:t>读、网页回翻以及重发</a:t>
            </a:r>
            <a:r>
              <a:rPr kumimoji="1" lang="en-US" altLang="zh-CN" sz="1600" dirty="0" err="1" smtClean="0">
                <a:latin typeface="微软雅黑" panose="020B0503020204020204" pitchFamily="34" charset="-122"/>
                <a:ea typeface="微软雅黑" panose="020B0503020204020204" pitchFamily="34" charset="-122"/>
                <a:cs typeface="宋体" charset="0"/>
              </a:rPr>
              <a:t>pv</a:t>
            </a:r>
            <a:r>
              <a:rPr kumimoji="1" lang="zh-CN" altLang="en-US" sz="1600" dirty="0" smtClean="0">
                <a:latin typeface="微软雅黑" panose="020B0503020204020204" pitchFamily="34" charset="-122"/>
                <a:ea typeface="微软雅黑" panose="020B0503020204020204" pitchFamily="34" charset="-122"/>
                <a:cs typeface="宋体" charset="0"/>
              </a:rPr>
              <a:t>劫持等问题</a:t>
            </a:r>
            <a:endParaRPr kumimoji="1" lang="en-US" altLang="zh-CN" sz="1200" dirty="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2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400" dirty="0" smtClean="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3063659"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en-US" altLang="zh-CN" sz="1400" b="1" spc="200" dirty="0" err="1" smtClean="0">
                <a:latin typeface="微软雅黑"/>
                <a:ea typeface="微软雅黑"/>
                <a:cs typeface="微软雅黑"/>
              </a:rPr>
              <a:t>timediff</a:t>
            </a:r>
            <a:r>
              <a:rPr kumimoji="1" lang="zh-CN" altLang="en-US" sz="1400" b="1" spc="200" dirty="0" smtClean="0">
                <a:latin typeface="微软雅黑"/>
                <a:ea typeface="微软雅黑"/>
                <a:cs typeface="微软雅黑"/>
              </a:rPr>
              <a:t>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4" y="1002754"/>
            <a:ext cx="4629421" cy="3913804"/>
          </a:xfrm>
        </p:spPr>
        <p:txBody>
          <a:bodyPr>
            <a:noAutofit/>
          </a:bodyPr>
          <a:lstStyle/>
          <a:p>
            <a:pPr marL="0" indent="0">
              <a:spcAft>
                <a:spcPts val="600"/>
              </a:spcAft>
              <a:buSzPct val="120000"/>
              <a:buNone/>
            </a:pPr>
            <a:r>
              <a:rPr kumimoji="1" lang="en-US" altLang="zh-CN" sz="1800" dirty="0">
                <a:ea typeface="宋体" charset="0"/>
                <a:cs typeface="宋体" charset="0"/>
              </a:rPr>
              <a:t>50012</a:t>
            </a:r>
            <a:r>
              <a:rPr kumimoji="1" lang="zh-CN" altLang="en-US" sz="1800" dirty="0" smtClean="0">
                <a:latin typeface="微软雅黑" panose="020B0503020204020204" pitchFamily="34" charset="-122"/>
                <a:ea typeface="微软雅黑" panose="020B0503020204020204" pitchFamily="34" charset="-122"/>
                <a:cs typeface="宋体" charset="0"/>
              </a:rPr>
              <a:t>策略</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参数说明</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400" dirty="0" smtClean="0">
                <a:latin typeface="微软雅黑" panose="020B0503020204020204" pitchFamily="34" charset="-122"/>
                <a:ea typeface="微软雅黑" panose="020B0503020204020204" pitchFamily="34" charset="-122"/>
                <a:cs typeface="宋体" charset="0"/>
              </a:rPr>
              <a:t>range: </a:t>
            </a:r>
            <a:r>
              <a:rPr kumimoji="1" lang="zh-CN" altLang="en-US" sz="1400" dirty="0" smtClean="0">
                <a:latin typeface="微软雅黑" panose="020B0503020204020204" pitchFamily="34" charset="-122"/>
                <a:ea typeface="微软雅黑" panose="020B0503020204020204" pitchFamily="34" charset="-122"/>
                <a:cs typeface="宋体" charset="0"/>
              </a:rPr>
              <a:t>这是特征累积程序实现时需要用到的一个参数，程序使用一个缓存结构存储一个段中所有的记录，累积到某个坐标的日志时，需要遍历这个缓存结构以得到时间差，在该日志之前，并且日志坐标相差大于等于</a:t>
            </a:r>
            <a:r>
              <a:rPr kumimoji="1" lang="en-US" altLang="zh-CN" sz="1400" dirty="0" smtClean="0">
                <a:latin typeface="微软雅黑" panose="020B0503020204020204" pitchFamily="34" charset="-122"/>
                <a:ea typeface="微软雅黑" panose="020B0503020204020204" pitchFamily="34" charset="-122"/>
                <a:cs typeface="宋体" charset="0"/>
              </a:rPr>
              <a:t>range</a:t>
            </a:r>
            <a:r>
              <a:rPr kumimoji="1" lang="zh-CN" altLang="en-US" sz="1400" dirty="0" smtClean="0">
                <a:latin typeface="微软雅黑" panose="020B0503020204020204" pitchFamily="34" charset="-122"/>
                <a:ea typeface="微软雅黑" panose="020B0503020204020204" pitchFamily="34" charset="-122"/>
                <a:cs typeface="宋体" charset="0"/>
              </a:rPr>
              <a:t>的不会加入时间差计算。</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400" dirty="0">
                <a:latin typeface="微软雅黑" panose="020B0503020204020204" pitchFamily="34" charset="-122"/>
                <a:ea typeface="微软雅黑" panose="020B0503020204020204" pitchFamily="34" charset="-122"/>
                <a:cs typeface="宋体" charset="0"/>
              </a:rPr>
              <a:t>t</a:t>
            </a:r>
            <a:r>
              <a:rPr kumimoji="1" lang="en-US" altLang="zh-CN" sz="1400" dirty="0" smtClean="0">
                <a:latin typeface="微软雅黑" panose="020B0503020204020204" pitchFamily="34" charset="-122"/>
                <a:ea typeface="微软雅黑" panose="020B0503020204020204" pitchFamily="34" charset="-122"/>
                <a:cs typeface="宋体" charset="0"/>
              </a:rPr>
              <a:t>hreshold</a:t>
            </a:r>
            <a:r>
              <a:rPr kumimoji="1" lang="en-US" altLang="zh-CN" sz="1400" dirty="0">
                <a:latin typeface="微软雅黑" panose="020B0503020204020204" pitchFamily="34" charset="-122"/>
                <a:ea typeface="微软雅黑" panose="020B0503020204020204" pitchFamily="34" charset="-122"/>
                <a:cs typeface="宋体" charset="0"/>
              </a:rPr>
              <a:t>, </a:t>
            </a:r>
            <a:r>
              <a:rPr kumimoji="1" lang="en-US" altLang="zh-CN" sz="1400" dirty="0" err="1" smtClean="0">
                <a:latin typeface="微软雅黑" panose="020B0503020204020204" pitchFamily="34" charset="-122"/>
                <a:ea typeface="微软雅黑" panose="020B0503020204020204" pitchFamily="34" charset="-122"/>
                <a:cs typeface="宋体" charset="0"/>
              </a:rPr>
              <a:t>threshold_lower</a:t>
            </a:r>
            <a:r>
              <a:rPr kumimoji="1" lang="zh-CN" altLang="en-US" sz="1400" dirty="0" smtClean="0">
                <a:latin typeface="微软雅黑" panose="020B0503020204020204" pitchFamily="34" charset="-122"/>
                <a:ea typeface="微软雅黑" panose="020B0503020204020204" pitchFamily="34" charset="-122"/>
                <a:cs typeface="宋体" charset="0"/>
              </a:rPr>
              <a:t>：共同组成区间</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400" dirty="0" smtClean="0">
                <a:latin typeface="微软雅黑" panose="020B0503020204020204" pitchFamily="34" charset="-122"/>
                <a:ea typeface="微软雅黑" panose="020B0503020204020204" pitchFamily="34" charset="-122"/>
                <a:cs typeface="宋体" charset="0"/>
              </a:rPr>
              <a:t>Wise</a:t>
            </a:r>
            <a:r>
              <a:rPr kumimoji="1" lang="zh-CN" altLang="en-US" sz="1400" dirty="0" smtClean="0">
                <a:latin typeface="微软雅黑" panose="020B0503020204020204" pitchFamily="34" charset="-122"/>
                <a:ea typeface="微软雅黑" panose="020B0503020204020204" pitchFamily="34" charset="-122"/>
                <a:cs typeface="宋体" charset="0"/>
              </a:rPr>
              <a:t>凤巢网页每</a:t>
            </a:r>
            <a:r>
              <a:rPr kumimoji="1" lang="en-US" altLang="zh-CN" sz="1400" dirty="0" smtClean="0">
                <a:latin typeface="微软雅黑" panose="020B0503020204020204" pitchFamily="34" charset="-122"/>
                <a:ea typeface="微软雅黑" panose="020B0503020204020204" pitchFamily="34" charset="-122"/>
                <a:cs typeface="宋体" charset="0"/>
              </a:rPr>
              <a:t>5</a:t>
            </a:r>
            <a:r>
              <a:rPr kumimoji="1" lang="zh-CN" altLang="en-US" sz="1400" dirty="0" smtClean="0">
                <a:latin typeface="微软雅黑" panose="020B0503020204020204" pitchFamily="34" charset="-122"/>
                <a:ea typeface="微软雅黑" panose="020B0503020204020204" pitchFamily="34" charset="-122"/>
                <a:cs typeface="宋体" charset="0"/>
              </a:rPr>
              <a:t>分钟内的检索日志中，相同</a:t>
            </a:r>
            <a:r>
              <a:rPr kumimoji="1" lang="en-US" altLang="zh-CN" sz="1400" dirty="0" smtClean="0">
                <a:latin typeface="微软雅黑" panose="020B0503020204020204" pitchFamily="34" charset="-122"/>
                <a:ea typeface="微软雅黑" panose="020B0503020204020204" pitchFamily="34" charset="-122"/>
                <a:cs typeface="宋体" charset="0"/>
              </a:rPr>
              <a:t>&lt;</a:t>
            </a:r>
            <a:r>
              <a:rPr kumimoji="1" lang="zh-CN" altLang="en-US" sz="1400" dirty="0" smtClean="0">
                <a:latin typeface="微软雅黑" panose="020B0503020204020204" pitchFamily="34" charset="-122"/>
                <a:ea typeface="微软雅黑" panose="020B0503020204020204" pitchFamily="34" charset="-122"/>
                <a:cs typeface="宋体" charset="0"/>
              </a:rPr>
              <a:t>检索</a:t>
            </a:r>
            <a:r>
              <a:rPr kumimoji="1" lang="zh-CN" altLang="en-US" sz="1400" dirty="0">
                <a:latin typeface="微软雅黑" panose="020B0503020204020204" pitchFamily="34" charset="-122"/>
                <a:ea typeface="微软雅黑" panose="020B0503020204020204" pitchFamily="34" charset="-122"/>
                <a:cs typeface="宋体" charset="0"/>
              </a:rPr>
              <a:t>词，</a:t>
            </a:r>
            <a:r>
              <a:rPr kumimoji="1" lang="en-US" altLang="zh-CN" sz="1400" dirty="0" err="1">
                <a:latin typeface="微软雅黑" panose="020B0503020204020204" pitchFamily="34" charset="-122"/>
                <a:ea typeface="微软雅黑" panose="020B0503020204020204" pitchFamily="34" charset="-122"/>
                <a:cs typeface="宋体" charset="0"/>
              </a:rPr>
              <a:t>baiduid</a:t>
            </a:r>
            <a:r>
              <a:rPr kumimoji="1" lang="zh-CN" altLang="en-US" sz="1400" dirty="0">
                <a:latin typeface="微软雅黑" panose="020B0503020204020204" pitchFamily="34" charset="-122"/>
                <a:ea typeface="微软雅黑" panose="020B0503020204020204" pitchFamily="34" charset="-122"/>
                <a:cs typeface="宋体" charset="0"/>
              </a:rPr>
              <a:t>，和</a:t>
            </a:r>
            <a:r>
              <a:rPr kumimoji="1" lang="en-US" altLang="zh-CN" sz="1400" dirty="0" err="1" smtClean="0">
                <a:latin typeface="微软雅黑" panose="020B0503020204020204" pitchFamily="34" charset="-122"/>
                <a:ea typeface="微软雅黑" panose="020B0503020204020204" pitchFamily="34" charset="-122"/>
                <a:cs typeface="宋体" charset="0"/>
              </a:rPr>
              <a:t>page_number</a:t>
            </a:r>
            <a:r>
              <a:rPr kumimoji="1" lang="en-US" altLang="zh-CN" sz="1400" dirty="0" smtClean="0">
                <a:latin typeface="微软雅黑" panose="020B0503020204020204" pitchFamily="34" charset="-122"/>
                <a:ea typeface="微软雅黑" panose="020B0503020204020204" pitchFamily="34" charset="-122"/>
                <a:cs typeface="宋体" charset="0"/>
              </a:rPr>
              <a:t>&gt;</a:t>
            </a:r>
            <a:r>
              <a:rPr kumimoji="1" lang="zh-CN" altLang="en-US" sz="1400" dirty="0" smtClean="0">
                <a:latin typeface="微软雅黑" panose="020B0503020204020204" pitchFamily="34" charset="-122"/>
                <a:ea typeface="微软雅黑" panose="020B0503020204020204" pitchFamily="34" charset="-122"/>
                <a:cs typeface="宋体" charset="0"/>
              </a:rPr>
              <a:t>组合的</a:t>
            </a:r>
            <a:r>
              <a:rPr kumimoji="1" lang="zh-CN" altLang="en-US" sz="1400" dirty="0">
                <a:latin typeface="微软雅黑" panose="020B0503020204020204" pitchFamily="34" charset="-122"/>
                <a:ea typeface="微软雅黑" panose="020B0503020204020204" pitchFamily="34" charset="-122"/>
                <a:cs typeface="宋体" charset="0"/>
              </a:rPr>
              <a:t>两条日志</a:t>
            </a:r>
            <a:r>
              <a:rPr kumimoji="1" lang="zh-CN" altLang="en-US" sz="1400" dirty="0" smtClean="0">
                <a:latin typeface="微软雅黑" panose="020B0503020204020204" pitchFamily="34" charset="-122"/>
                <a:ea typeface="微软雅黑" panose="020B0503020204020204" pitchFamily="34" charset="-122"/>
                <a:cs typeface="宋体" charset="0"/>
              </a:rPr>
              <a:t>，如果时间差</a:t>
            </a:r>
            <a:r>
              <a:rPr kumimoji="1" lang="zh-CN" altLang="en-US" sz="1400" dirty="0">
                <a:latin typeface="微软雅黑" panose="020B0503020204020204" pitchFamily="34" charset="-122"/>
                <a:ea typeface="微软雅黑" panose="020B0503020204020204" pitchFamily="34" charset="-122"/>
                <a:cs typeface="宋体" charset="0"/>
              </a:rPr>
              <a:t>在</a:t>
            </a:r>
            <a:r>
              <a:rPr kumimoji="1" lang="en-US" altLang="zh-CN" sz="1400" dirty="0">
                <a:latin typeface="微软雅黑" panose="020B0503020204020204" pitchFamily="34" charset="-122"/>
                <a:ea typeface="微软雅黑" panose="020B0503020204020204" pitchFamily="34" charset="-122"/>
                <a:cs typeface="宋体" charset="0"/>
              </a:rPr>
              <a:t>1s~60s</a:t>
            </a:r>
            <a:r>
              <a:rPr kumimoji="1" lang="zh-CN" altLang="en-US" sz="1400" dirty="0">
                <a:latin typeface="微软雅黑" panose="020B0503020204020204" pitchFamily="34" charset="-122"/>
                <a:ea typeface="微软雅黑" panose="020B0503020204020204" pitchFamily="34" charset="-122"/>
                <a:cs typeface="宋体" charset="0"/>
              </a:rPr>
              <a:t>范围内，</a:t>
            </a:r>
            <a:r>
              <a:rPr kumimoji="1" lang="zh-CN" altLang="en-US" sz="1400" dirty="0" smtClean="0">
                <a:latin typeface="微软雅黑" panose="020B0503020204020204" pitchFamily="34" charset="-122"/>
                <a:ea typeface="微软雅黑" panose="020B0503020204020204" pitchFamily="34" charset="-122"/>
                <a:cs typeface="宋体" charset="0"/>
              </a:rPr>
              <a:t>则时间上在后面的日志将被策略命中</a:t>
            </a:r>
            <a:endParaRPr kumimoji="1" lang="en-US" altLang="zh-CN" sz="1400" dirty="0">
              <a:latin typeface="微软雅黑" panose="020B0503020204020204" pitchFamily="34" charset="-122"/>
              <a:ea typeface="微软雅黑" panose="020B0503020204020204" pitchFamily="34" charset="-122"/>
              <a:cs typeface="宋体" charset="0"/>
            </a:endParaRPr>
          </a:p>
        </p:txBody>
      </p:sp>
      <p:sp>
        <p:nvSpPr>
          <p:cNvPr id="6" name="矩形 5"/>
          <p:cNvSpPr/>
          <p:nvPr/>
        </p:nvSpPr>
        <p:spPr>
          <a:xfrm>
            <a:off x="6922345" y="1196519"/>
            <a:ext cx="2221655" cy="2462213"/>
          </a:xfrm>
          <a:prstGeom prst="rect">
            <a:avLst/>
          </a:prstGeom>
          <a:solidFill>
            <a:schemeClr val="tx1">
              <a:lumMod val="95000"/>
              <a:lumOff val="5000"/>
            </a:schemeClr>
          </a:solidFill>
        </p:spPr>
        <p:txBody>
          <a:bodyPr wrap="square">
            <a:spAutoFit/>
          </a:bodyPr>
          <a:lstStyle/>
          <a:p>
            <a:r>
              <a:rPr lang="en-US" altLang="zh-CN" sz="1400" dirty="0">
                <a:solidFill>
                  <a:srgbClr val="33CC33"/>
                </a:solidFill>
                <a:latin typeface="Times New Roman" panose="02020603050405020304" charset="0"/>
                <a:cs typeface="Times New Roman" panose="02020603050405020304" charset="0"/>
              </a:rPr>
              <a:t>[@feature]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 50012</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feature_type</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timediff</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view_level</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pv_level</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care : ['</a:t>
            </a:r>
            <a:r>
              <a:rPr lang="en-US" altLang="zh-CN" sz="1400" dirty="0" err="1">
                <a:solidFill>
                  <a:srgbClr val="33CC33"/>
                </a:solidFill>
                <a:latin typeface="Times New Roman" panose="02020603050405020304" charset="0"/>
                <a:cs typeface="Times New Roman" panose="02020603050405020304" charset="0"/>
              </a:rPr>
              <a:t>bd</a:t>
            </a:r>
            <a:r>
              <a:rPr lang="en-US" altLang="zh-CN" sz="1400" dirty="0">
                <a:solidFill>
                  <a:srgbClr val="33CC33"/>
                </a:solidFill>
                <a:latin typeface="Times New Roman" panose="02020603050405020304" charset="0"/>
                <a:cs typeface="Times New Roman" panose="02020603050405020304" charset="0"/>
              </a:rPr>
              <a:t>'!='-NULL-']['</a:t>
            </a:r>
            <a:r>
              <a:rPr lang="en-US" altLang="zh-CN" sz="1400" dirty="0" err="1">
                <a:solidFill>
                  <a:srgbClr val="33CC33"/>
                </a:solidFill>
                <a:latin typeface="Times New Roman" panose="02020603050405020304" charset="0"/>
                <a:cs typeface="Times New Roman" panose="02020603050405020304" charset="0"/>
              </a:rPr>
              <a:t>srcid_list</a:t>
            </a:r>
            <a:r>
              <a:rPr lang="en-US" altLang="zh-CN" sz="1400" dirty="0">
                <a:solidFill>
                  <a:srgbClr val="33CC33"/>
                </a:solidFill>
                <a:latin typeface="Times New Roman" panose="02020603050405020304" charset="0"/>
                <a:cs typeface="Times New Roman" panose="02020603050405020304" charset="0"/>
              </a:rPr>
              <a:t>':='160','111']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view : </a:t>
            </a:r>
            <a:r>
              <a:rPr lang="en-US" altLang="zh-CN" sz="1400" dirty="0" err="1">
                <a:solidFill>
                  <a:srgbClr val="33CC33"/>
                </a:solidFill>
                <a:latin typeface="Times New Roman" panose="02020603050405020304" charset="0"/>
                <a:cs typeface="Times New Roman" panose="02020603050405020304" charset="0"/>
              </a:rPr>
              <a:t>query,bd,pn</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version : 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window_type</a:t>
            </a:r>
            <a:r>
              <a:rPr lang="en-US" altLang="zh-CN" sz="1400" dirty="0">
                <a:solidFill>
                  <a:srgbClr val="33CC33"/>
                </a:solidFill>
                <a:latin typeface="Times New Roman" panose="02020603050405020304" charset="0"/>
                <a:cs typeface="Times New Roman" panose="02020603050405020304" charset="0"/>
              </a:rPr>
              <a:t> : time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window_length</a:t>
            </a:r>
            <a:r>
              <a:rPr lang="en-US" altLang="zh-CN" sz="1400" dirty="0">
                <a:solidFill>
                  <a:srgbClr val="33CC33"/>
                </a:solidFill>
                <a:latin typeface="Times New Roman" panose="02020603050405020304" charset="0"/>
                <a:cs typeface="Times New Roman" panose="02020603050405020304" charset="0"/>
              </a:rPr>
              <a:t> : 300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range: 61</a:t>
            </a:r>
            <a:endParaRPr lang="en-US" altLang="zh-CN" sz="1400" dirty="0">
              <a:solidFill>
                <a:srgbClr val="33CC33"/>
              </a:solidFill>
              <a:latin typeface="Times New Roman" panose="02020603050405020304" charset="0"/>
              <a:cs typeface="Times New Roman" panose="02020603050405020304" charset="0"/>
            </a:endParaRPr>
          </a:p>
        </p:txBody>
      </p:sp>
      <p:sp>
        <p:nvSpPr>
          <p:cNvPr id="8" name="文本框 7"/>
          <p:cNvSpPr txBox="1"/>
          <p:nvPr/>
        </p:nvSpPr>
        <p:spPr>
          <a:xfrm>
            <a:off x="5661765" y="925952"/>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a:t>
            </a:r>
            <a:r>
              <a:rPr kumimoji="1" lang="en-US" altLang="zh-CN" sz="1200" dirty="0">
                <a:ea typeface="宋体" charset="0"/>
                <a:cs typeface="宋体" charset="0"/>
              </a:rPr>
              <a:t>50012</a:t>
            </a:r>
            <a:r>
              <a:rPr lang="zh-CN" altLang="en-US" sz="1200" dirty="0" smtClean="0">
                <a:latin typeface="微软雅黑" panose="020B0503020204020204" pitchFamily="34" charset="-122"/>
                <a:ea typeface="微软雅黑" panose="020B0503020204020204" pitchFamily="34" charset="-122"/>
              </a:rPr>
              <a:t>策略配置文件</a:t>
            </a:r>
            <a:endParaRPr lang="zh-CN" altLang="en-US" sz="1200" dirty="0">
              <a:latin typeface="微软雅黑" panose="020B0503020204020204" pitchFamily="34" charset="-122"/>
              <a:ea typeface="微软雅黑" panose="020B0503020204020204" pitchFamily="34" charset="-122"/>
            </a:endParaRPr>
          </a:p>
        </p:txBody>
      </p:sp>
      <p:sp>
        <p:nvSpPr>
          <p:cNvPr id="11" name="矩形 10"/>
          <p:cNvSpPr/>
          <p:nvPr/>
        </p:nvSpPr>
        <p:spPr>
          <a:xfrm>
            <a:off x="5312726" y="1197284"/>
            <a:ext cx="1609619" cy="2462213"/>
          </a:xfrm>
          <a:prstGeom prst="rect">
            <a:avLst/>
          </a:prstGeom>
          <a:solidFill>
            <a:schemeClr val="tx1">
              <a:lumMod val="95000"/>
              <a:lumOff val="5000"/>
            </a:schemeClr>
          </a:solidFill>
        </p:spPr>
        <p:txBody>
          <a:bodyPr wrap="square">
            <a:spAutoFit/>
          </a:bodyPr>
          <a:lstStyle/>
          <a:p>
            <a:r>
              <a:rPr lang="en-US" altLang="zh-CN" sz="1400" dirty="0">
                <a:solidFill>
                  <a:srgbClr val="33CC33"/>
                </a:solidFill>
                <a:latin typeface="Times New Roman" panose="02020603050405020304" charset="0"/>
                <a:cs typeface="Times New Roman" panose="02020603050405020304" charset="0"/>
              </a:rPr>
              <a:t>[@policy]</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policy_id</a:t>
            </a:r>
            <a:r>
              <a:rPr lang="en-US" altLang="zh-CN" sz="1400" dirty="0">
                <a:solidFill>
                  <a:srgbClr val="33CC33"/>
                </a:solidFill>
                <a:latin typeface="Times New Roman" panose="02020603050405020304" charset="0"/>
                <a:cs typeface="Times New Roman" panose="02020603050405020304" charset="0"/>
              </a:rPr>
              <a:t>: 50012</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policy_type</a:t>
            </a:r>
            <a:r>
              <a:rPr lang="en-US" altLang="zh-CN" sz="1400" dirty="0">
                <a:solidFill>
                  <a:srgbClr val="33CC33"/>
                </a:solidFill>
                <a:latin typeface="Times New Roman" panose="02020603050405020304" charset="0"/>
                <a:cs typeface="Times New Roman" panose="02020603050405020304" charset="0"/>
              </a:rPr>
              <a:t> : rule</a:t>
            </a:r>
            <a:endParaRPr lang="en-US" altLang="zh-CN" sz="1400" dirty="0">
              <a:solidFill>
                <a:srgbClr val="33CC33"/>
              </a:solidFill>
              <a:latin typeface="Times New Roman" panose="02020603050405020304" charset="0"/>
              <a:cs typeface="Times New Roman" panose="02020603050405020304" charset="0"/>
            </a:endParaRPr>
          </a:p>
          <a:p>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[.@rule]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50012</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rule_type</a:t>
            </a:r>
            <a:r>
              <a:rPr lang="en-US" altLang="zh-CN" sz="1400" dirty="0">
                <a:solidFill>
                  <a:srgbClr val="33CC33"/>
                </a:solidFill>
                <a:latin typeface="Times New Roman" panose="02020603050405020304" charset="0"/>
                <a:cs typeface="Times New Roman" panose="02020603050405020304" charset="0"/>
              </a:rPr>
              <a:t>: </a:t>
            </a:r>
            <a:r>
              <a:rPr lang="en-US" altLang="zh-CN" sz="1400" dirty="0" err="1">
                <a:solidFill>
                  <a:srgbClr val="33CC33"/>
                </a:solidFill>
                <a:latin typeface="Times New Roman" panose="02020603050405020304" charset="0"/>
                <a:cs typeface="Times New Roman" panose="02020603050405020304" charset="0"/>
              </a:rPr>
              <a:t>timediff</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gray_file</a:t>
            </a:r>
            <a:r>
              <a:rPr lang="en-US" altLang="zh-CN" sz="1400" dirty="0">
                <a:solidFill>
                  <a:srgbClr val="33CC33"/>
                </a:solidFill>
                <a:latin typeface="Times New Roman" panose="02020603050405020304" charset="0"/>
                <a:cs typeface="Times New Roman" panose="02020603050405020304" charset="0"/>
              </a:rPr>
              <a:t>: </a:t>
            </a:r>
            <a:r>
              <a:rPr lang="en-US" altLang="zh-CN" sz="1400" dirty="0" err="1">
                <a:solidFill>
                  <a:srgbClr val="33CC33"/>
                </a:solidFill>
                <a:latin typeface="Times New Roman" panose="02020603050405020304" charset="0"/>
                <a:cs typeface="Times New Roman" panose="02020603050405020304" charset="0"/>
              </a:rPr>
              <a:t>empty_file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threshold: 60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threshold_lower</a:t>
            </a:r>
            <a:r>
              <a:rPr lang="en-US" altLang="zh-CN" sz="1400" dirty="0">
                <a:solidFill>
                  <a:srgbClr val="33CC33"/>
                </a:solidFill>
                <a:latin typeface="Times New Roman" panose="02020603050405020304" charset="0"/>
                <a:cs typeface="Times New Roman" panose="02020603050405020304" charset="0"/>
              </a:rPr>
              <a:t> : 1</a:t>
            </a:r>
            <a:endParaRPr lang="en-US" altLang="zh-CN" sz="1400" dirty="0">
              <a:solidFill>
                <a:srgbClr val="33CC33"/>
              </a:solidFill>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816797"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a:t>
            </a:r>
            <a:r>
              <a:rPr kumimoji="1" lang="en-US" altLang="zh-CN" sz="1400" b="1" spc="200" dirty="0">
                <a:latin typeface="微软雅黑"/>
                <a:ea typeface="微软雅黑"/>
                <a:cs typeface="微软雅黑"/>
              </a:rPr>
              <a:t>hijack</a:t>
            </a:r>
            <a:r>
              <a:rPr kumimoji="1" lang="zh-CN" altLang="en-US" sz="1400" b="1" spc="200" dirty="0" smtClean="0">
                <a:latin typeface="微软雅黑"/>
                <a:ea typeface="微软雅黑"/>
                <a:cs typeface="微软雅黑"/>
              </a:rPr>
              <a:t>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8072224" cy="3913804"/>
          </a:xfrm>
        </p:spPr>
        <p:txBody>
          <a:bodyPr>
            <a:noAutofit/>
          </a:bodyPr>
          <a:lstStyle/>
          <a:p>
            <a:pPr marL="0" indent="0">
              <a:spcAft>
                <a:spcPts val="600"/>
              </a:spcAft>
              <a:buSzPct val="120000"/>
              <a:buNone/>
            </a:pPr>
            <a:r>
              <a:rPr kumimoji="1" lang="zh-CN" altLang="en-US" sz="1800" dirty="0">
                <a:latin typeface="微软雅黑" panose="020B0503020204020204" pitchFamily="34" charset="-122"/>
                <a:ea typeface="微软雅黑" panose="020B0503020204020204" pitchFamily="34" charset="-122"/>
                <a:cs typeface="宋体" charset="0"/>
              </a:rPr>
              <a:t>简介</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在一定段长的日志中，</a:t>
            </a:r>
            <a:r>
              <a:rPr kumimoji="1" lang="zh-CN" altLang="en-US" sz="1600" dirty="0">
                <a:latin typeface="微软雅黑" panose="020B0503020204020204" pitchFamily="34" charset="-122"/>
                <a:ea typeface="微软雅黑" panose="020B0503020204020204" pitchFamily="34" charset="-122"/>
                <a:cs typeface="宋体" charset="0"/>
              </a:rPr>
              <a:t>同维度对象</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或维度对象组合</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下的两条日志，如果前后</a:t>
            </a:r>
            <a:r>
              <a:rPr kumimoji="1" lang="zh-CN" altLang="en-US" sz="1600" dirty="0" smtClean="0">
                <a:latin typeface="微软雅黑" panose="020B0503020204020204" pitchFamily="34" charset="-122"/>
                <a:ea typeface="微软雅黑" panose="020B0503020204020204" pitchFamily="34" charset="-122"/>
                <a:cs typeface="宋体" charset="0"/>
              </a:rPr>
              <a:t>时间差小于某一阈值，</a:t>
            </a:r>
            <a:r>
              <a:rPr kumimoji="1" lang="zh-CN" altLang="en-US" sz="1600" dirty="0">
                <a:latin typeface="微软雅黑" panose="020B0503020204020204" pitchFamily="34" charset="-122"/>
                <a:ea typeface="微软雅黑" panose="020B0503020204020204" pitchFamily="34" charset="-122"/>
                <a:cs typeface="宋体" charset="0"/>
              </a:rPr>
              <a:t>那么顺序上</a:t>
            </a:r>
            <a:r>
              <a:rPr kumimoji="1" lang="zh-CN" altLang="en-US" sz="1600" dirty="0" smtClean="0">
                <a:latin typeface="微软雅黑" panose="020B0503020204020204" pitchFamily="34" charset="-122"/>
                <a:ea typeface="微软雅黑" panose="020B0503020204020204" pitchFamily="34" charset="-122"/>
                <a:cs typeface="宋体" charset="0"/>
              </a:rPr>
              <a:t>位于</a:t>
            </a:r>
            <a:r>
              <a:rPr kumimoji="1" lang="zh-CN" altLang="en-US" sz="1600" dirty="0">
                <a:latin typeface="微软雅黑" panose="020B0503020204020204" pitchFamily="34" charset="-122"/>
                <a:ea typeface="微软雅黑" panose="020B0503020204020204" pitchFamily="34" charset="-122"/>
                <a:cs typeface="宋体" charset="0"/>
              </a:rPr>
              <a:t>前面</a:t>
            </a:r>
            <a:r>
              <a:rPr kumimoji="1" lang="zh-CN" altLang="en-US" sz="1600" dirty="0" smtClean="0">
                <a:latin typeface="微软雅黑" panose="020B0503020204020204" pitchFamily="34" charset="-122"/>
                <a:ea typeface="微软雅黑" panose="020B0503020204020204" pitchFamily="34" charset="-122"/>
                <a:cs typeface="宋体" charset="0"/>
              </a:rPr>
              <a:t>的</a:t>
            </a:r>
            <a:r>
              <a:rPr kumimoji="1" lang="zh-CN" altLang="en-US" sz="1600" dirty="0">
                <a:latin typeface="微软雅黑" panose="020B0503020204020204" pitchFamily="34" charset="-122"/>
                <a:ea typeface="微软雅黑" panose="020B0503020204020204" pitchFamily="34" charset="-122"/>
                <a:cs typeface="宋体" charset="0"/>
              </a:rPr>
              <a:t>日志将被策略命中</a:t>
            </a:r>
            <a:r>
              <a:rPr kumimoji="1" lang="zh-CN" altLang="en-US" sz="1600" dirty="0" smtClean="0">
                <a:latin typeface="微软雅黑" panose="020B0503020204020204" pitchFamily="34" charset="-122"/>
                <a:ea typeface="微软雅黑" panose="020B0503020204020204" pitchFamily="34" charset="-122"/>
                <a:cs typeface="宋体" charset="0"/>
              </a:rPr>
              <a:t>。</a:t>
            </a:r>
            <a:endParaRPr kumimoji="1" lang="zh-CN" altLang="en-US" sz="16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可用特征</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en-US" altLang="zh-CN" sz="1600" dirty="0" smtClean="0">
                <a:latin typeface="微软雅黑" panose="020B0503020204020204" pitchFamily="34" charset="-122"/>
                <a:ea typeface="微软雅黑" panose="020B0503020204020204" pitchFamily="34" charset="-122"/>
                <a:cs typeface="宋体" charset="0"/>
              </a:rPr>
              <a:t>hijack</a:t>
            </a:r>
            <a:r>
              <a:rPr kumimoji="1" lang="zh-CN" altLang="en-US" sz="1600" dirty="0" smtClean="0">
                <a:latin typeface="微软雅黑" panose="020B0503020204020204" pitchFamily="34" charset="-122"/>
                <a:ea typeface="微软雅黑" panose="020B0503020204020204" pitchFamily="34" charset="-122"/>
                <a:cs typeface="宋体" charset="0"/>
              </a:rPr>
              <a:t>特征</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None/>
            </a:pPr>
            <a:r>
              <a:rPr kumimoji="1" lang="zh-CN" altLang="en-US" sz="1800" dirty="0" smtClean="0">
                <a:latin typeface="微软雅黑" panose="020B0503020204020204" pitchFamily="34" charset="-122"/>
                <a:ea typeface="微软雅黑" panose="020B0503020204020204" pitchFamily="34" charset="-122"/>
                <a:cs typeface="宋体" charset="0"/>
              </a:rPr>
              <a:t>适用场景</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解决检索日志中的流量</a:t>
            </a:r>
            <a:r>
              <a:rPr kumimoji="1" lang="zh-CN" altLang="en-US" sz="1600" dirty="0">
                <a:latin typeface="微软雅黑" panose="020B0503020204020204" pitchFamily="34" charset="-122"/>
                <a:ea typeface="微软雅黑" panose="020B0503020204020204" pitchFamily="34" charset="-122"/>
                <a:cs typeface="宋体" charset="0"/>
              </a:rPr>
              <a:t>劫持</a:t>
            </a:r>
            <a:r>
              <a:rPr kumimoji="1" lang="zh-CN" altLang="en-US" sz="1600" dirty="0" smtClean="0">
                <a:latin typeface="微软雅黑" panose="020B0503020204020204" pitchFamily="34" charset="-122"/>
                <a:ea typeface="微软雅黑" panose="020B0503020204020204" pitchFamily="34" charset="-122"/>
                <a:cs typeface="宋体" charset="0"/>
              </a:rPr>
              <a:t>问题</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zh-CN" altLang="en-US" sz="1400" dirty="0" smtClean="0">
                <a:latin typeface="微软雅黑" panose="020B0503020204020204" pitchFamily="34" charset="-122"/>
                <a:ea typeface="微软雅黑" panose="020B0503020204020204" pitchFamily="34" charset="-122"/>
                <a:cs typeface="宋体" charset="0"/>
              </a:rPr>
              <a:t>作弊</a:t>
            </a:r>
            <a:r>
              <a:rPr kumimoji="1" lang="zh-CN" altLang="en-US" sz="1400" dirty="0">
                <a:latin typeface="微软雅黑" panose="020B0503020204020204" pitchFamily="34" charset="-122"/>
                <a:ea typeface="微软雅黑" panose="020B0503020204020204" pitchFamily="34" charset="-122"/>
                <a:cs typeface="宋体" charset="0"/>
              </a:rPr>
              <a:t>者会通过各种手段篡改正常</a:t>
            </a:r>
            <a:r>
              <a:rPr kumimoji="1" lang="en-US" altLang="zh-CN" sz="1400" dirty="0" err="1">
                <a:latin typeface="微软雅黑" panose="020B0503020204020204" pitchFamily="34" charset="-122"/>
                <a:ea typeface="微软雅黑" panose="020B0503020204020204" pitchFamily="34" charset="-122"/>
                <a:cs typeface="宋体" charset="0"/>
              </a:rPr>
              <a:t>url</a:t>
            </a:r>
            <a:r>
              <a:rPr kumimoji="1" lang="zh-CN" altLang="en-US" sz="1400" dirty="0">
                <a:latin typeface="微软雅黑" panose="020B0503020204020204" pitchFamily="34" charset="-122"/>
                <a:ea typeface="微软雅黑" panose="020B0503020204020204" pitchFamily="34" charset="-122"/>
                <a:cs typeface="宋体" charset="0"/>
              </a:rPr>
              <a:t>中的计费名，换成自己的计费名，构成劫持。此时第一次出来的检索界面，用户是没有看到的，用户只看到了劫持后的检索界面，因此间隔时间内出现两条检索日志，只统计第二条（多次劫持时只统计最后一条日志）检索</a:t>
            </a:r>
            <a:r>
              <a:rPr kumimoji="1" lang="zh-CN" altLang="en-US" sz="1400" dirty="0" smtClean="0">
                <a:latin typeface="微软雅黑" panose="020B0503020204020204" pitchFamily="34" charset="-122"/>
                <a:ea typeface="微软雅黑" panose="020B0503020204020204" pitchFamily="34" charset="-122"/>
                <a:cs typeface="宋体" charset="0"/>
              </a:rPr>
              <a:t>日志。</a:t>
            </a:r>
            <a:endParaRPr kumimoji="1" lang="en-US" altLang="zh-CN" sz="1000" dirty="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2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400" dirty="0" smtClean="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2816797"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-hijack</a:t>
            </a:r>
            <a:r>
              <a:rPr kumimoji="1" lang="zh-CN" altLang="en-US" sz="1400" b="1" spc="200" dirty="0" smtClean="0">
                <a:latin typeface="微软雅黑"/>
                <a:ea typeface="微软雅黑"/>
                <a:cs typeface="微软雅黑"/>
              </a:rPr>
              <a:t>策略</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4382840" cy="3913804"/>
          </a:xfrm>
        </p:spPr>
        <p:txBody>
          <a:bodyPr>
            <a:noAutofit/>
          </a:bodyPr>
          <a:lstStyle/>
          <a:p>
            <a:pPr marL="0" indent="0">
              <a:spcAft>
                <a:spcPts val="600"/>
              </a:spcAft>
              <a:buSzPct val="120000"/>
              <a:buNone/>
            </a:pPr>
            <a:r>
              <a:rPr kumimoji="1" lang="en-US" altLang="zh-CN" sz="1800" dirty="0">
                <a:ea typeface="宋体" charset="0"/>
                <a:cs typeface="宋体" charset="0"/>
              </a:rPr>
              <a:t>70012</a:t>
            </a:r>
            <a:r>
              <a:rPr kumimoji="1" lang="zh-CN" altLang="en-US" sz="1800" dirty="0" smtClean="0">
                <a:latin typeface="微软雅黑" panose="020B0503020204020204" pitchFamily="34" charset="-122"/>
                <a:ea typeface="微软雅黑" panose="020B0503020204020204" pitchFamily="34" charset="-122"/>
                <a:cs typeface="宋体" charset="0"/>
              </a:rPr>
              <a:t>策略</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参数说明</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hijack_delta</a:t>
            </a:r>
            <a:r>
              <a:rPr kumimoji="1" lang="en-US" altLang="zh-CN" sz="1400" dirty="0" smtClean="0">
                <a:latin typeface="微软雅黑" panose="020B0503020204020204" pitchFamily="34" charset="-122"/>
                <a:ea typeface="微软雅黑" panose="020B0503020204020204" pitchFamily="34" charset="-122"/>
                <a:cs typeface="宋体" charset="0"/>
              </a:rPr>
              <a:t>: hijack</a:t>
            </a:r>
            <a:r>
              <a:rPr kumimoji="1" lang="zh-CN" altLang="en-US" sz="1400" dirty="0" smtClean="0">
                <a:latin typeface="微软雅黑" panose="020B0503020204020204" pitchFamily="34" charset="-122"/>
                <a:ea typeface="微软雅黑" panose="020B0503020204020204" pitchFamily="34" charset="-122"/>
                <a:cs typeface="宋体" charset="0"/>
              </a:rPr>
              <a:t>会把顺序在后面的日志保留，但将其计费名修改成前面日志的计费名，</a:t>
            </a:r>
            <a:r>
              <a:rPr kumimoji="1" lang="en-US" altLang="zh-CN" sz="1400" dirty="0" err="1" smtClean="0">
                <a:latin typeface="微软雅黑" panose="020B0503020204020204" pitchFamily="34" charset="-122"/>
                <a:ea typeface="微软雅黑" panose="020B0503020204020204" pitchFamily="34" charset="-122"/>
                <a:cs typeface="宋体" charset="0"/>
              </a:rPr>
              <a:t>hijack_delta+policy_id</a:t>
            </a:r>
            <a:r>
              <a:rPr kumimoji="1" lang="zh-CN" altLang="en-US" sz="1400" dirty="0" smtClean="0">
                <a:latin typeface="微软雅黑" panose="020B0503020204020204" pitchFamily="34" charset="-122"/>
                <a:ea typeface="微软雅黑" panose="020B0503020204020204" pitchFamily="34" charset="-122"/>
                <a:cs typeface="宋体" charset="0"/>
              </a:rPr>
              <a:t>就是标识这种修改的一种方法。</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lvl="1">
              <a:spcAft>
                <a:spcPts val="600"/>
              </a:spcAft>
              <a:buSzPct val="120000"/>
            </a:pPr>
            <a:r>
              <a:rPr kumimoji="1" lang="en-US" altLang="zh-CN" sz="1400" dirty="0">
                <a:latin typeface="微软雅黑" panose="020B0503020204020204" pitchFamily="34" charset="-122"/>
                <a:ea typeface="微软雅黑" panose="020B0503020204020204" pitchFamily="34" charset="-122"/>
                <a:cs typeface="宋体" charset="0"/>
              </a:rPr>
              <a:t>r</a:t>
            </a:r>
            <a:r>
              <a:rPr kumimoji="1" lang="en-US" altLang="zh-CN" sz="1400" dirty="0" smtClean="0">
                <a:latin typeface="微软雅黑" panose="020B0503020204020204" pitchFamily="34" charset="-122"/>
                <a:ea typeface="微软雅黑" panose="020B0503020204020204" pitchFamily="34" charset="-122"/>
                <a:cs typeface="宋体" charset="0"/>
              </a:rPr>
              <a:t>ange</a:t>
            </a:r>
            <a:r>
              <a:rPr kumimoji="1" lang="zh-CN" altLang="en-US" sz="1400" dirty="0" smtClean="0">
                <a:latin typeface="微软雅黑" panose="020B0503020204020204" pitchFamily="34" charset="-122"/>
                <a:ea typeface="微软雅黑" panose="020B0503020204020204" pitchFamily="34" charset="-122"/>
                <a:cs typeface="宋体" charset="0"/>
              </a:rPr>
              <a:t>：意义与</a:t>
            </a:r>
            <a:r>
              <a:rPr kumimoji="1" lang="en-US" altLang="zh-CN" sz="1400" dirty="0" err="1" smtClean="0">
                <a:latin typeface="微软雅黑" panose="020B0503020204020204" pitchFamily="34" charset="-122"/>
                <a:ea typeface="微软雅黑" panose="020B0503020204020204" pitchFamily="34" charset="-122"/>
                <a:cs typeface="宋体" charset="0"/>
              </a:rPr>
              <a:t>timediff</a:t>
            </a:r>
            <a:r>
              <a:rPr kumimoji="1" lang="zh-CN" altLang="en-US" sz="1400" dirty="0" smtClean="0">
                <a:latin typeface="微软雅黑" panose="020B0503020204020204" pitchFamily="34" charset="-122"/>
                <a:ea typeface="微软雅黑" panose="020B0503020204020204" pitchFamily="34" charset="-122"/>
                <a:cs typeface="宋体" charset="0"/>
              </a:rPr>
              <a:t>策略的</a:t>
            </a:r>
            <a:r>
              <a:rPr kumimoji="1" lang="en-US" altLang="zh-CN" sz="1400" dirty="0" smtClean="0">
                <a:latin typeface="微软雅黑" panose="020B0503020204020204" pitchFamily="34" charset="-122"/>
                <a:ea typeface="微软雅黑" panose="020B0503020204020204" pitchFamily="34" charset="-122"/>
                <a:cs typeface="宋体" charset="0"/>
              </a:rPr>
              <a:t>range</a:t>
            </a:r>
            <a:r>
              <a:rPr kumimoji="1" lang="zh-CN" altLang="en-US" sz="1400" dirty="0" smtClean="0">
                <a:latin typeface="微软雅黑" panose="020B0503020204020204" pitchFamily="34" charset="-122"/>
                <a:ea typeface="微软雅黑" panose="020B0503020204020204" pitchFamily="34" charset="-122"/>
                <a:cs typeface="宋体" charset="0"/>
              </a:rPr>
              <a:t>相同</a:t>
            </a:r>
            <a:endParaRPr kumimoji="1" lang="en-US" altLang="zh-CN" sz="14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策略解析</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r>
              <a:rPr kumimoji="1" lang="en-US" altLang="zh-CN" sz="1400" dirty="0" smtClean="0">
                <a:latin typeface="微软雅黑" panose="020B0503020204020204" pitchFamily="34" charset="-122"/>
                <a:ea typeface="微软雅黑" panose="020B0503020204020204" pitchFamily="34" charset="-122"/>
                <a:cs typeface="宋体" charset="0"/>
              </a:rPr>
              <a:t>wise</a:t>
            </a:r>
            <a:r>
              <a:rPr kumimoji="1" lang="zh-CN" altLang="en-US" sz="1400" dirty="0" smtClean="0">
                <a:latin typeface="微软雅黑" panose="020B0503020204020204" pitchFamily="34" charset="-122"/>
                <a:ea typeface="微软雅黑" panose="020B0503020204020204" pitchFamily="34" charset="-122"/>
                <a:cs typeface="宋体" charset="0"/>
              </a:rPr>
              <a:t>凤巢网页每</a:t>
            </a:r>
            <a:r>
              <a:rPr kumimoji="1" lang="en-US" altLang="zh-CN" sz="1400" dirty="0" smtClean="0">
                <a:latin typeface="微软雅黑" panose="020B0503020204020204" pitchFamily="34" charset="-122"/>
                <a:ea typeface="微软雅黑" panose="020B0503020204020204" pitchFamily="34" charset="-122"/>
                <a:cs typeface="宋体" charset="0"/>
              </a:rPr>
              <a:t>5</a:t>
            </a:r>
            <a:r>
              <a:rPr kumimoji="1" lang="zh-CN" altLang="en-US" sz="1400" dirty="0" smtClean="0">
                <a:latin typeface="微软雅黑" panose="020B0503020204020204" pitchFamily="34" charset="-122"/>
                <a:ea typeface="微软雅黑" panose="020B0503020204020204" pitchFamily="34" charset="-122"/>
                <a:cs typeface="宋体" charset="0"/>
              </a:rPr>
              <a:t>分钟的日志中，相同</a:t>
            </a:r>
            <a:r>
              <a:rPr kumimoji="1" lang="en-US" altLang="zh-CN" sz="1400" dirty="0" smtClean="0">
                <a:latin typeface="微软雅黑" panose="020B0503020204020204" pitchFamily="34" charset="-122"/>
                <a:ea typeface="微软雅黑" panose="020B0503020204020204" pitchFamily="34" charset="-122"/>
                <a:cs typeface="宋体" charset="0"/>
              </a:rPr>
              <a:t>&lt;</a:t>
            </a:r>
            <a:r>
              <a:rPr kumimoji="1" lang="zh-CN" altLang="en-US" sz="1400" dirty="0" smtClean="0">
                <a:latin typeface="微软雅黑" panose="020B0503020204020204" pitchFamily="34" charset="-122"/>
                <a:ea typeface="微软雅黑" panose="020B0503020204020204" pitchFamily="34" charset="-122"/>
                <a:cs typeface="宋体" charset="0"/>
              </a:rPr>
              <a:t>检索</a:t>
            </a:r>
            <a:r>
              <a:rPr kumimoji="1" lang="zh-CN" altLang="en-US" sz="1400" dirty="0">
                <a:latin typeface="微软雅黑" panose="020B0503020204020204" pitchFamily="34" charset="-122"/>
                <a:ea typeface="微软雅黑" panose="020B0503020204020204" pitchFamily="34" charset="-122"/>
                <a:cs typeface="宋体" charset="0"/>
              </a:rPr>
              <a:t>词，</a:t>
            </a:r>
            <a:r>
              <a:rPr kumimoji="1" lang="en-US" altLang="zh-CN" sz="1400" dirty="0" err="1">
                <a:latin typeface="微软雅黑" panose="020B0503020204020204" pitchFamily="34" charset="-122"/>
                <a:ea typeface="微软雅黑" panose="020B0503020204020204" pitchFamily="34" charset="-122"/>
                <a:cs typeface="宋体" charset="0"/>
              </a:rPr>
              <a:t>baiduid</a:t>
            </a:r>
            <a:r>
              <a:rPr kumimoji="1" lang="zh-CN" altLang="en-US" sz="1400" dirty="0">
                <a:latin typeface="微软雅黑" panose="020B0503020204020204" pitchFamily="34" charset="-122"/>
                <a:ea typeface="微软雅黑" panose="020B0503020204020204" pitchFamily="34" charset="-122"/>
                <a:cs typeface="宋体" charset="0"/>
              </a:rPr>
              <a:t>，和</a:t>
            </a:r>
            <a:r>
              <a:rPr kumimoji="1" lang="en-US" altLang="zh-CN" sz="1400" dirty="0" err="1" smtClean="0">
                <a:latin typeface="微软雅黑" panose="020B0503020204020204" pitchFamily="34" charset="-122"/>
                <a:ea typeface="微软雅黑" panose="020B0503020204020204" pitchFamily="34" charset="-122"/>
                <a:cs typeface="宋体" charset="0"/>
              </a:rPr>
              <a:t>page_number</a:t>
            </a:r>
            <a:r>
              <a:rPr kumimoji="1" lang="en-US" altLang="zh-CN" sz="1400" dirty="0" smtClean="0">
                <a:latin typeface="微软雅黑" panose="020B0503020204020204" pitchFamily="34" charset="-122"/>
                <a:ea typeface="微软雅黑" panose="020B0503020204020204" pitchFamily="34" charset="-122"/>
                <a:cs typeface="宋体" charset="0"/>
              </a:rPr>
              <a:t>&gt;</a:t>
            </a:r>
            <a:r>
              <a:rPr kumimoji="1" lang="zh-CN" altLang="en-US" sz="1400" dirty="0" smtClean="0">
                <a:latin typeface="微软雅黑" panose="020B0503020204020204" pitchFamily="34" charset="-122"/>
                <a:ea typeface="微软雅黑" panose="020B0503020204020204" pitchFamily="34" charset="-122"/>
                <a:cs typeface="宋体" charset="0"/>
              </a:rPr>
              <a:t>的</a:t>
            </a:r>
            <a:r>
              <a:rPr kumimoji="1" lang="zh-CN" altLang="en-US" sz="1400" dirty="0">
                <a:latin typeface="微软雅黑" panose="020B0503020204020204" pitchFamily="34" charset="-122"/>
                <a:ea typeface="微软雅黑" panose="020B0503020204020204" pitchFamily="34" charset="-122"/>
                <a:cs typeface="宋体" charset="0"/>
              </a:rPr>
              <a:t>两条日志</a:t>
            </a:r>
            <a:r>
              <a:rPr kumimoji="1" lang="zh-CN" altLang="en-US" sz="1400" dirty="0" smtClean="0">
                <a:latin typeface="微软雅黑" panose="020B0503020204020204" pitchFamily="34" charset="-122"/>
                <a:ea typeface="微软雅黑" panose="020B0503020204020204" pitchFamily="34" charset="-122"/>
                <a:cs typeface="宋体" charset="0"/>
              </a:rPr>
              <a:t>，如果时间差</a:t>
            </a:r>
            <a:r>
              <a:rPr kumimoji="1" lang="zh-CN" altLang="en-US" sz="1400" dirty="0">
                <a:latin typeface="微软雅黑" panose="020B0503020204020204" pitchFamily="34" charset="-122"/>
                <a:ea typeface="微软雅黑" panose="020B0503020204020204" pitchFamily="34" charset="-122"/>
                <a:cs typeface="宋体" charset="0"/>
              </a:rPr>
              <a:t>在</a:t>
            </a:r>
            <a:r>
              <a:rPr kumimoji="1" lang="en-US" altLang="zh-CN" sz="1400" dirty="0">
                <a:latin typeface="微软雅黑" panose="020B0503020204020204" pitchFamily="34" charset="-122"/>
                <a:ea typeface="微软雅黑" panose="020B0503020204020204" pitchFamily="34" charset="-122"/>
                <a:cs typeface="宋体" charset="0"/>
              </a:rPr>
              <a:t>1s</a:t>
            </a:r>
            <a:r>
              <a:rPr kumimoji="1" lang="zh-CN" altLang="en-US" sz="1400" dirty="0">
                <a:latin typeface="微软雅黑" panose="020B0503020204020204" pitchFamily="34" charset="-122"/>
                <a:ea typeface="微软雅黑" panose="020B0503020204020204" pitchFamily="34" charset="-122"/>
                <a:cs typeface="宋体" charset="0"/>
              </a:rPr>
              <a:t>内，</a:t>
            </a:r>
            <a:r>
              <a:rPr kumimoji="1" lang="zh-CN" altLang="en-US" sz="1400" dirty="0" smtClean="0">
                <a:latin typeface="微软雅黑" panose="020B0503020204020204" pitchFamily="34" charset="-122"/>
                <a:ea typeface="微软雅黑" panose="020B0503020204020204" pitchFamily="34" charset="-122"/>
                <a:cs typeface="宋体" charset="0"/>
              </a:rPr>
              <a:t>则命中顺序在前面的日志。</a:t>
            </a:r>
            <a:endParaRPr kumimoji="1" lang="en-US" altLang="zh-CN" sz="1400" dirty="0">
              <a:latin typeface="微软雅黑" panose="020B0503020204020204" pitchFamily="34" charset="-122"/>
              <a:ea typeface="微软雅黑" panose="020B0503020204020204" pitchFamily="34" charset="-122"/>
              <a:cs typeface="宋体" charset="0"/>
            </a:endParaRPr>
          </a:p>
        </p:txBody>
      </p:sp>
      <p:sp>
        <p:nvSpPr>
          <p:cNvPr id="6" name="矩形 5"/>
          <p:cNvSpPr/>
          <p:nvPr/>
        </p:nvSpPr>
        <p:spPr>
          <a:xfrm>
            <a:off x="5457624" y="973951"/>
            <a:ext cx="3491655" cy="3754874"/>
          </a:xfrm>
          <a:prstGeom prst="rect">
            <a:avLst/>
          </a:prstGeom>
          <a:solidFill>
            <a:schemeClr val="tx1">
              <a:lumMod val="95000"/>
              <a:lumOff val="5000"/>
            </a:schemeClr>
          </a:solidFill>
        </p:spPr>
        <p:txBody>
          <a:bodyPr wrap="square">
            <a:spAutoFit/>
          </a:bodyPr>
          <a:lstStyle/>
          <a:p>
            <a:r>
              <a:rPr lang="en-US" altLang="zh-CN" sz="1400" dirty="0">
                <a:solidFill>
                  <a:srgbClr val="33CC33"/>
                </a:solidFill>
                <a:latin typeface="Times New Roman" panose="02020603050405020304" charset="0"/>
                <a:cs typeface="Times New Roman" panose="02020603050405020304" charset="0"/>
              </a:rPr>
              <a:t>[@policy]</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policy_id</a:t>
            </a:r>
            <a:r>
              <a:rPr lang="en-US" altLang="zh-CN" sz="1400" dirty="0">
                <a:solidFill>
                  <a:srgbClr val="33CC33"/>
                </a:solidFill>
                <a:latin typeface="Times New Roman" panose="02020603050405020304" charset="0"/>
                <a:cs typeface="Times New Roman" panose="02020603050405020304" charset="0"/>
              </a:rPr>
              <a:t>: 70012</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policy_type</a:t>
            </a:r>
            <a:r>
              <a:rPr lang="en-US" altLang="zh-CN" sz="1400" dirty="0">
                <a:solidFill>
                  <a:srgbClr val="33CC33"/>
                </a:solidFill>
                <a:latin typeface="Times New Roman" panose="02020603050405020304" charset="0"/>
                <a:cs typeface="Times New Roman" panose="02020603050405020304" charset="0"/>
              </a:rPr>
              <a:t> : hijack </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70012</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threshold: 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hijack_delta</a:t>
            </a:r>
            <a:r>
              <a:rPr lang="en-US" altLang="zh-CN" sz="1400" dirty="0">
                <a:solidFill>
                  <a:srgbClr val="33CC33"/>
                </a:solidFill>
                <a:latin typeface="Times New Roman" panose="02020603050405020304" charset="0"/>
                <a:cs typeface="Times New Roman" panose="02020603050405020304" charset="0"/>
              </a:rPr>
              <a:t>: 9200000</a:t>
            </a:r>
            <a:endParaRPr lang="en-US" altLang="zh-CN" sz="1400" dirty="0">
              <a:solidFill>
                <a:srgbClr val="33CC33"/>
              </a:solidFill>
              <a:latin typeface="Times New Roman" panose="02020603050405020304" charset="0"/>
              <a:cs typeface="Times New Roman" panose="02020603050405020304" charset="0"/>
            </a:endParaRPr>
          </a:p>
          <a:p>
            <a:endParaRPr lang="en-US" altLang="zh-CN" sz="1400" dirty="0" smtClean="0">
              <a:solidFill>
                <a:srgbClr val="33CC33"/>
              </a:solidFill>
              <a:latin typeface="Times New Roman" panose="02020603050405020304" charset="0"/>
              <a:cs typeface="Times New Roman" panose="02020603050405020304" charset="0"/>
            </a:endParaRPr>
          </a:p>
          <a:p>
            <a:r>
              <a:rPr lang="en-US" altLang="zh-CN" sz="1400" dirty="0" smtClean="0">
                <a:solidFill>
                  <a:srgbClr val="33CC33"/>
                </a:solidFill>
                <a:latin typeface="Times New Roman" panose="02020603050405020304" charset="0"/>
                <a:cs typeface="Times New Roman" panose="02020603050405020304" charset="0"/>
              </a:rPr>
              <a:t>[@</a:t>
            </a:r>
            <a:r>
              <a:rPr lang="en-US" altLang="zh-CN" sz="1400" dirty="0">
                <a:solidFill>
                  <a:srgbClr val="33CC33"/>
                </a:solidFill>
                <a:latin typeface="Times New Roman" panose="02020603050405020304" charset="0"/>
                <a:cs typeface="Times New Roman" panose="02020603050405020304" charset="0"/>
              </a:rPr>
              <a:t>feature]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feature_id</a:t>
            </a:r>
            <a:r>
              <a:rPr lang="en-US" altLang="zh-CN" sz="1400" dirty="0">
                <a:solidFill>
                  <a:srgbClr val="33CC33"/>
                </a:solidFill>
                <a:latin typeface="Times New Roman" panose="02020603050405020304" charset="0"/>
                <a:cs typeface="Times New Roman" panose="02020603050405020304" charset="0"/>
              </a:rPr>
              <a:t> : 70012</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feature_type</a:t>
            </a:r>
            <a:r>
              <a:rPr lang="en-US" altLang="zh-CN" sz="1400" dirty="0">
                <a:solidFill>
                  <a:srgbClr val="33CC33"/>
                </a:solidFill>
                <a:latin typeface="Times New Roman" panose="02020603050405020304" charset="0"/>
                <a:cs typeface="Times New Roman" panose="02020603050405020304" charset="0"/>
              </a:rPr>
              <a:t> : hijack </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view_level</a:t>
            </a:r>
            <a:r>
              <a:rPr lang="en-US" altLang="zh-CN" sz="1400" dirty="0">
                <a:solidFill>
                  <a:srgbClr val="33CC33"/>
                </a:solidFill>
                <a:latin typeface="Times New Roman" panose="02020603050405020304" charset="0"/>
                <a:cs typeface="Times New Roman" panose="02020603050405020304" charset="0"/>
              </a:rPr>
              <a:t> : </a:t>
            </a:r>
            <a:r>
              <a:rPr lang="en-US" altLang="zh-CN" sz="1400" dirty="0" err="1">
                <a:solidFill>
                  <a:srgbClr val="33CC33"/>
                </a:solidFill>
                <a:latin typeface="Times New Roman" panose="02020603050405020304" charset="0"/>
                <a:cs typeface="Times New Roman" panose="02020603050405020304" charset="0"/>
              </a:rPr>
              <a:t>pv_level</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care : ['</a:t>
            </a:r>
            <a:r>
              <a:rPr lang="en-US" altLang="zh-CN" sz="1400" dirty="0" err="1">
                <a:solidFill>
                  <a:srgbClr val="33CC33"/>
                </a:solidFill>
                <a:latin typeface="Times New Roman" panose="02020603050405020304" charset="0"/>
                <a:cs typeface="Times New Roman" panose="02020603050405020304" charset="0"/>
              </a:rPr>
              <a:t>bd</a:t>
            </a:r>
            <a:r>
              <a:rPr lang="en-US" altLang="zh-CN" sz="1400" dirty="0">
                <a:solidFill>
                  <a:srgbClr val="33CC33"/>
                </a:solidFill>
                <a:latin typeface="Times New Roman" panose="02020603050405020304" charset="0"/>
                <a:cs typeface="Times New Roman" panose="02020603050405020304" charset="0"/>
              </a:rPr>
              <a:t>'!='-NULL-']['</a:t>
            </a:r>
            <a:r>
              <a:rPr lang="en-US" altLang="zh-CN" sz="1400" dirty="0" err="1">
                <a:solidFill>
                  <a:srgbClr val="33CC33"/>
                </a:solidFill>
                <a:latin typeface="Times New Roman" panose="02020603050405020304" charset="0"/>
                <a:cs typeface="Times New Roman" panose="02020603050405020304" charset="0"/>
              </a:rPr>
              <a:t>srcid_list</a:t>
            </a:r>
            <a:r>
              <a:rPr lang="en-US" altLang="zh-CN" sz="1400" dirty="0">
                <a:solidFill>
                  <a:srgbClr val="33CC33"/>
                </a:solidFill>
                <a:latin typeface="Times New Roman" panose="02020603050405020304" charset="0"/>
                <a:cs typeface="Times New Roman" panose="02020603050405020304" charset="0"/>
              </a:rPr>
              <a:t>':='160','111']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view : </a:t>
            </a:r>
            <a:r>
              <a:rPr lang="en-US" altLang="zh-CN" sz="1400" dirty="0" err="1">
                <a:solidFill>
                  <a:srgbClr val="33CC33"/>
                </a:solidFill>
                <a:latin typeface="Times New Roman" panose="02020603050405020304" charset="0"/>
                <a:cs typeface="Times New Roman" panose="02020603050405020304" charset="0"/>
              </a:rPr>
              <a:t>query,bd,pn</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version : 1</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window_type</a:t>
            </a:r>
            <a:r>
              <a:rPr lang="en-US" altLang="zh-CN" sz="1400" dirty="0">
                <a:solidFill>
                  <a:srgbClr val="33CC33"/>
                </a:solidFill>
                <a:latin typeface="Times New Roman" panose="02020603050405020304" charset="0"/>
                <a:cs typeface="Times New Roman" panose="02020603050405020304" charset="0"/>
              </a:rPr>
              <a:t> : time</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err="1">
                <a:solidFill>
                  <a:srgbClr val="33CC33"/>
                </a:solidFill>
                <a:latin typeface="Times New Roman" panose="02020603050405020304" charset="0"/>
                <a:cs typeface="Times New Roman" panose="02020603050405020304" charset="0"/>
              </a:rPr>
              <a:t>window_length</a:t>
            </a:r>
            <a:r>
              <a:rPr lang="en-US" altLang="zh-CN" sz="1400" dirty="0">
                <a:solidFill>
                  <a:srgbClr val="33CC33"/>
                </a:solidFill>
                <a:latin typeface="Times New Roman" panose="02020603050405020304" charset="0"/>
                <a:cs typeface="Times New Roman" panose="02020603050405020304" charset="0"/>
              </a:rPr>
              <a:t> : 300</a:t>
            </a:r>
            <a:endParaRPr lang="en-US" altLang="zh-CN" sz="1400" dirty="0">
              <a:solidFill>
                <a:srgbClr val="33CC33"/>
              </a:solidFill>
              <a:latin typeface="Times New Roman" panose="02020603050405020304" charset="0"/>
              <a:cs typeface="Times New Roman" panose="02020603050405020304" charset="0"/>
            </a:endParaRPr>
          </a:p>
          <a:p>
            <a:r>
              <a:rPr lang="en-US" altLang="zh-CN" sz="1400" dirty="0">
                <a:solidFill>
                  <a:srgbClr val="33CC33"/>
                </a:solidFill>
                <a:latin typeface="Times New Roman" panose="02020603050405020304" charset="0"/>
                <a:cs typeface="Times New Roman" panose="02020603050405020304" charset="0"/>
              </a:rPr>
              <a:t>range : 10 </a:t>
            </a:r>
            <a:endParaRPr lang="en-US" altLang="zh-CN" sz="1400" dirty="0">
              <a:solidFill>
                <a:srgbClr val="33CC33"/>
              </a:solidFill>
              <a:latin typeface="Times New Roman" panose="02020603050405020304" charset="0"/>
              <a:cs typeface="Times New Roman" panose="02020603050405020304" charset="0"/>
            </a:endParaRPr>
          </a:p>
        </p:txBody>
      </p:sp>
      <p:sp>
        <p:nvSpPr>
          <p:cNvPr id="8" name="文本框 7"/>
          <p:cNvSpPr txBox="1"/>
          <p:nvPr/>
        </p:nvSpPr>
        <p:spPr>
          <a:xfrm>
            <a:off x="5666751" y="742850"/>
            <a:ext cx="3073400" cy="276999"/>
          </a:xfrm>
          <a:prstGeom prst="rect">
            <a:avLst/>
          </a:prstGeom>
          <a:noFill/>
        </p:spPr>
        <p:txBody>
          <a:bodyPr wrap="square" rtlCol="0">
            <a:spAutoFit/>
          </a:bodyPr>
          <a:lstStyle/>
          <a:p>
            <a:pPr algn="ctr"/>
            <a:r>
              <a:rPr lang="zh-CN" altLang="en-US" sz="1200" dirty="0" smtClean="0">
                <a:latin typeface="微软雅黑" panose="020B0503020204020204" pitchFamily="34" charset="-122"/>
                <a:ea typeface="微软雅黑" panose="020B0503020204020204" pitchFamily="34" charset="-122"/>
              </a:rPr>
              <a:t>图</a:t>
            </a:r>
            <a:r>
              <a:rPr lang="en-US" altLang="zh-CN" sz="1200" dirty="0" smtClean="0">
                <a:latin typeface="微软雅黑" panose="020B0503020204020204" pitchFamily="34" charset="-122"/>
                <a:ea typeface="微软雅黑" panose="020B0503020204020204" pitchFamily="34" charset="-122"/>
              </a:rPr>
              <a:t>a: </a:t>
            </a:r>
            <a:r>
              <a:rPr kumimoji="1" lang="en-US" altLang="zh-CN" sz="1200" dirty="0">
                <a:ea typeface="宋体" charset="0"/>
                <a:cs typeface="宋体" charset="0"/>
              </a:rPr>
              <a:t>70012</a:t>
            </a:r>
            <a:r>
              <a:rPr lang="zh-CN" altLang="en-US" sz="1200" dirty="0" smtClean="0">
                <a:latin typeface="微软雅黑" panose="020B0503020204020204" pitchFamily="34" charset="-122"/>
                <a:ea typeface="微软雅黑" panose="020B0503020204020204" pitchFamily="34" charset="-122"/>
              </a:rPr>
              <a:t>策略配置文件</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828448" y="404225"/>
            <a:ext cx="4976042" cy="393954"/>
          </a:xfrm>
          <a:prstGeom prst="rect">
            <a:avLst/>
          </a:prstGeom>
          <a:noFill/>
        </p:spPr>
        <p:txBody>
          <a:bodyPr wrap="none" rtlCol="0">
            <a:spAutoFit/>
          </a:bodyPr>
          <a:lstStyle/>
          <a:p>
            <a:pPr>
              <a:lnSpc>
                <a:spcPct val="140000"/>
              </a:lnSpc>
            </a:pPr>
            <a:r>
              <a:rPr kumimoji="1" lang="zh-CN" altLang="en-US" sz="1400" b="1" spc="200" dirty="0" smtClean="0">
                <a:latin typeface="微软雅黑"/>
                <a:ea typeface="微软雅黑"/>
                <a:cs typeface="微软雅黑"/>
              </a:rPr>
              <a:t>策略及特征介绍</a:t>
            </a:r>
            <a:r>
              <a:rPr kumimoji="1" lang="en-US" altLang="zh-CN" sz="1400" b="1" spc="200" dirty="0" smtClean="0">
                <a:latin typeface="微软雅黑"/>
                <a:ea typeface="微软雅黑"/>
                <a:cs typeface="微软雅黑"/>
              </a:rPr>
              <a:t>-hijack</a:t>
            </a:r>
            <a:r>
              <a:rPr kumimoji="1" lang="zh-CN" altLang="en-US" sz="1400" b="1" spc="200" dirty="0" smtClean="0">
                <a:latin typeface="微软雅黑"/>
                <a:ea typeface="微软雅黑"/>
                <a:cs typeface="微软雅黑"/>
              </a:rPr>
              <a:t>策略与</a:t>
            </a:r>
            <a:r>
              <a:rPr kumimoji="1" lang="en-US" altLang="zh-CN" sz="1400" b="1" spc="200" dirty="0" err="1" smtClean="0">
                <a:latin typeface="微软雅黑"/>
                <a:ea typeface="微软雅黑"/>
                <a:cs typeface="微软雅黑"/>
              </a:rPr>
              <a:t>timediff</a:t>
            </a:r>
            <a:r>
              <a:rPr kumimoji="1" lang="zh-CN" altLang="en-US" sz="1400" b="1" spc="200" dirty="0" smtClean="0">
                <a:latin typeface="微软雅黑"/>
                <a:ea typeface="微软雅黑"/>
                <a:cs typeface="微软雅黑"/>
              </a:rPr>
              <a:t>策略的异同</a:t>
            </a:r>
            <a:endParaRPr kumimoji="1" lang="zh-CN" altLang="en-US" sz="1400" b="1" spc="200" dirty="0">
              <a:latin typeface="微软雅黑"/>
              <a:ea typeface="微软雅黑"/>
              <a:cs typeface="微软雅黑"/>
            </a:endParaRPr>
          </a:p>
        </p:txBody>
      </p:sp>
      <p:sp>
        <p:nvSpPr>
          <p:cNvPr id="3" name="内容占位符 2"/>
          <p:cNvSpPr>
            <a:spLocks noGrp="1"/>
          </p:cNvSpPr>
          <p:nvPr>
            <p:ph idx="1"/>
          </p:nvPr>
        </p:nvSpPr>
        <p:spPr>
          <a:xfrm>
            <a:off x="480105" y="1002754"/>
            <a:ext cx="8072224" cy="3913804"/>
          </a:xfrm>
        </p:spPr>
        <p:txBody>
          <a:bodyPr>
            <a:noAutofit/>
          </a:bodyPr>
          <a:lstStyle/>
          <a:p>
            <a:pPr lvl="1" algn="just">
              <a:spcAft>
                <a:spcPts val="600"/>
              </a:spcAft>
              <a:buSzPct val="120000"/>
            </a:pPr>
            <a:endParaRPr kumimoji="1" lang="en-US" altLang="zh-CN" sz="12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400" dirty="0" smtClean="0">
              <a:latin typeface="微软雅黑" panose="020B0503020204020204" pitchFamily="34" charset="-122"/>
              <a:ea typeface="微软雅黑" panose="020B0503020204020204" pitchFamily="34" charset="-122"/>
              <a:cs typeface="宋体" charset="0"/>
            </a:endParaRPr>
          </a:p>
        </p:txBody>
      </p:sp>
      <p:sp>
        <p:nvSpPr>
          <p:cNvPr id="5" name="内容占位符 2"/>
          <p:cNvSpPr txBox="1"/>
          <p:nvPr/>
        </p:nvSpPr>
        <p:spPr>
          <a:xfrm>
            <a:off x="480105" y="1002754"/>
            <a:ext cx="8072224" cy="377244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spcAft>
                <a:spcPts val="600"/>
              </a:spcAft>
              <a:buSzPct val="120000"/>
              <a:buFont typeface="Arial" panose="020B0604020202020204"/>
              <a:buNone/>
            </a:pPr>
            <a:r>
              <a:rPr kumimoji="1" lang="zh-CN" altLang="en-US" sz="1800" dirty="0">
                <a:latin typeface="微软雅黑" panose="020B0503020204020204" pitchFamily="34" charset="-122"/>
                <a:ea typeface="微软雅黑" panose="020B0503020204020204" pitchFamily="34" charset="-122"/>
                <a:cs typeface="宋体" charset="0"/>
              </a:rPr>
              <a:t>相同点</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使用的特征值实质上都是时间差</a:t>
            </a:r>
            <a:endParaRPr kumimoji="1" lang="zh-CN" altLang="en-US" sz="1600" dirty="0" smtClean="0">
              <a:latin typeface="微软雅黑" panose="020B0503020204020204" pitchFamily="34" charset="-122"/>
              <a:ea typeface="微软雅黑" panose="020B0503020204020204" pitchFamily="34" charset="-122"/>
              <a:cs typeface="宋体" charset="0"/>
            </a:endParaRPr>
          </a:p>
          <a:p>
            <a:pPr marL="0" indent="0" algn="just">
              <a:spcAft>
                <a:spcPts val="600"/>
              </a:spcAft>
              <a:buSzPct val="120000"/>
              <a:buFont typeface="Arial" panose="020B0604020202020204"/>
              <a:buNone/>
            </a:pPr>
            <a:r>
              <a:rPr kumimoji="1" lang="zh-CN" altLang="en-US" sz="1800" dirty="0" smtClean="0">
                <a:latin typeface="微软雅黑" panose="020B0503020204020204" pitchFamily="34" charset="-122"/>
                <a:ea typeface="微软雅黑" panose="020B0503020204020204" pitchFamily="34" charset="-122"/>
                <a:cs typeface="宋体" charset="0"/>
              </a:rPr>
              <a:t>区别</a:t>
            </a:r>
            <a:endParaRPr kumimoji="1" lang="en-US" altLang="zh-CN" sz="18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策略的命中方式不同：</a:t>
            </a:r>
            <a:r>
              <a:rPr kumimoji="1" lang="en-US" altLang="zh-CN" sz="1600" dirty="0" err="1" smtClean="0">
                <a:latin typeface="微软雅黑" panose="020B0503020204020204" pitchFamily="34" charset="-122"/>
                <a:ea typeface="微软雅黑" panose="020B0503020204020204" pitchFamily="34" charset="-122"/>
                <a:cs typeface="宋体" charset="0"/>
              </a:rPr>
              <a:t>timediff</a:t>
            </a:r>
            <a:r>
              <a:rPr kumimoji="1" lang="zh-CN" altLang="en-US" sz="1600" dirty="0" smtClean="0">
                <a:latin typeface="微软雅黑" panose="020B0503020204020204" pitchFamily="34" charset="-122"/>
                <a:ea typeface="微软雅黑" panose="020B0503020204020204" pitchFamily="34" charset="-122"/>
                <a:cs typeface="宋体" charset="0"/>
              </a:rPr>
              <a:t>策略在时间差在某个区间内命中，而</a:t>
            </a:r>
            <a:r>
              <a:rPr kumimoji="1" lang="en-US" altLang="zh-CN" sz="1600" dirty="0" smtClean="0">
                <a:latin typeface="微软雅黑" panose="020B0503020204020204" pitchFamily="34" charset="-122"/>
                <a:ea typeface="微软雅黑" panose="020B0503020204020204" pitchFamily="34" charset="-122"/>
                <a:cs typeface="宋体" charset="0"/>
              </a:rPr>
              <a:t>hijack</a:t>
            </a:r>
            <a:r>
              <a:rPr kumimoji="1" lang="zh-CN" altLang="en-US" sz="1600" dirty="0" smtClean="0">
                <a:latin typeface="微软雅黑" panose="020B0503020204020204" pitchFamily="34" charset="-122"/>
                <a:ea typeface="微软雅黑" panose="020B0503020204020204" pitchFamily="34" charset="-122"/>
                <a:cs typeface="宋体" charset="0"/>
              </a:rPr>
              <a:t>策略在时间差小于某个阈值时命中</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策略命中对象不同：</a:t>
            </a:r>
            <a:r>
              <a:rPr kumimoji="1" lang="en-US" altLang="zh-CN" sz="1600" dirty="0" err="1" smtClean="0">
                <a:latin typeface="微软雅黑" panose="020B0503020204020204" pitchFamily="34" charset="-122"/>
                <a:ea typeface="微软雅黑" panose="020B0503020204020204" pitchFamily="34" charset="-122"/>
                <a:cs typeface="宋体" charset="0"/>
              </a:rPr>
              <a:t>timediff</a:t>
            </a:r>
            <a:r>
              <a:rPr kumimoji="1" lang="zh-CN" altLang="en-US" sz="1600" dirty="0" smtClean="0">
                <a:latin typeface="微软雅黑" panose="020B0503020204020204" pitchFamily="34" charset="-122"/>
                <a:ea typeface="微软雅黑" panose="020B0503020204020204" pitchFamily="34" charset="-122"/>
                <a:cs typeface="宋体" charset="0"/>
              </a:rPr>
              <a:t>策略命中坐标上位于后面的日志，</a:t>
            </a:r>
            <a:r>
              <a:rPr kumimoji="1" lang="en-US" altLang="zh-CN" sz="1600" dirty="0" smtClean="0">
                <a:latin typeface="微软雅黑" panose="020B0503020204020204" pitchFamily="34" charset="-122"/>
                <a:ea typeface="微软雅黑" panose="020B0503020204020204" pitchFamily="34" charset="-122"/>
                <a:cs typeface="宋体" charset="0"/>
              </a:rPr>
              <a:t>hijack</a:t>
            </a:r>
            <a:r>
              <a:rPr kumimoji="1" lang="zh-CN" altLang="en-US" sz="1600" dirty="0" smtClean="0">
                <a:latin typeface="微软雅黑" panose="020B0503020204020204" pitchFamily="34" charset="-122"/>
                <a:ea typeface="微软雅黑" panose="020B0503020204020204" pitchFamily="34" charset="-122"/>
                <a:cs typeface="宋体" charset="0"/>
              </a:rPr>
              <a:t>策略命中坐标上位于前面的日志</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smtClean="0">
                <a:latin typeface="微软雅黑" panose="020B0503020204020204" pitchFamily="34" charset="-122"/>
                <a:ea typeface="微软雅黑" panose="020B0503020204020204" pitchFamily="34" charset="-122"/>
                <a:cs typeface="宋体" charset="0"/>
              </a:rPr>
              <a:t>解决的问题不同：</a:t>
            </a:r>
            <a:r>
              <a:rPr kumimoji="1" lang="en-US" altLang="zh-CN" sz="1600" dirty="0" err="1" smtClean="0">
                <a:latin typeface="微软雅黑" panose="020B0503020204020204" pitchFamily="34" charset="-122"/>
                <a:ea typeface="微软雅黑" panose="020B0503020204020204" pitchFamily="34" charset="-122"/>
                <a:cs typeface="宋体" charset="0"/>
              </a:rPr>
              <a:t>timediff</a:t>
            </a:r>
            <a:r>
              <a:rPr kumimoji="1" lang="zh-CN" altLang="en-US" sz="1600" dirty="0" smtClean="0">
                <a:latin typeface="微软雅黑" panose="020B0503020204020204" pitchFamily="34" charset="-122"/>
                <a:ea typeface="微软雅黑" panose="020B0503020204020204" pitchFamily="34" charset="-122"/>
                <a:cs typeface="宋体" charset="0"/>
              </a:rPr>
              <a:t>策略面对的问题中，顺序在后面的日志并不是用户的正常行为结果，而</a:t>
            </a:r>
            <a:r>
              <a:rPr kumimoji="1" lang="en-US" altLang="zh-CN" sz="1600" dirty="0" smtClean="0">
                <a:latin typeface="微软雅黑" panose="020B0503020204020204" pitchFamily="34" charset="-122"/>
                <a:ea typeface="微软雅黑" panose="020B0503020204020204" pitchFamily="34" charset="-122"/>
                <a:cs typeface="宋体" charset="0"/>
              </a:rPr>
              <a:t>hijack</a:t>
            </a:r>
            <a:r>
              <a:rPr kumimoji="1" lang="zh-CN" altLang="en-US" sz="1600" dirty="0" smtClean="0">
                <a:latin typeface="微软雅黑" panose="020B0503020204020204" pitchFamily="34" charset="-122"/>
                <a:ea typeface="微软雅黑" panose="020B0503020204020204" pitchFamily="34" charset="-122"/>
                <a:cs typeface="宋体" charset="0"/>
              </a:rPr>
              <a:t>策略面对的问题中，顺序在前面的日志并未反映用户的真实行为。</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algn="just">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对</a:t>
            </a:r>
            <a:r>
              <a:rPr kumimoji="1" lang="zh-CN" altLang="en-US" sz="1600" dirty="0" smtClean="0">
                <a:latin typeface="微软雅黑" panose="020B0503020204020204" pitchFamily="34" charset="-122"/>
                <a:ea typeface="微软雅黑" panose="020B0503020204020204" pitchFamily="34" charset="-122"/>
                <a:cs typeface="宋体" charset="0"/>
              </a:rPr>
              <a:t>日志的处理不同：</a:t>
            </a:r>
            <a:r>
              <a:rPr kumimoji="1" lang="en-US" altLang="zh-CN" sz="1600" dirty="0" smtClean="0">
                <a:latin typeface="微软雅黑" panose="020B0503020204020204" pitchFamily="34" charset="-122"/>
                <a:ea typeface="微软雅黑" panose="020B0503020204020204" pitchFamily="34" charset="-122"/>
                <a:cs typeface="宋体" charset="0"/>
              </a:rPr>
              <a:t>hijack</a:t>
            </a:r>
            <a:r>
              <a:rPr kumimoji="1" lang="zh-CN" altLang="en-US" sz="1600" dirty="0" smtClean="0">
                <a:latin typeface="微软雅黑" panose="020B0503020204020204" pitchFamily="34" charset="-122"/>
                <a:ea typeface="微软雅黑" panose="020B0503020204020204" pitchFamily="34" charset="-122"/>
                <a:cs typeface="宋体" charset="0"/>
              </a:rPr>
              <a:t>策略修改了日志的计费名，而</a:t>
            </a:r>
            <a:r>
              <a:rPr kumimoji="1" lang="en-US" altLang="zh-CN" sz="1600" dirty="0" err="1" smtClean="0">
                <a:latin typeface="微软雅黑" panose="020B0503020204020204" pitchFamily="34" charset="-122"/>
                <a:ea typeface="微软雅黑" panose="020B0503020204020204" pitchFamily="34" charset="-122"/>
                <a:cs typeface="宋体" charset="0"/>
              </a:rPr>
              <a:t>timediff</a:t>
            </a:r>
            <a:r>
              <a:rPr kumimoji="1" lang="zh-CN" altLang="en-US" sz="1600" smtClean="0">
                <a:latin typeface="微软雅黑" panose="020B0503020204020204" pitchFamily="34" charset="-122"/>
                <a:ea typeface="微软雅黑" panose="020B0503020204020204" pitchFamily="34" charset="-122"/>
                <a:cs typeface="宋体" charset="0"/>
              </a:rPr>
              <a:t>则不进行修改</a:t>
            </a:r>
            <a:endParaRPr kumimoji="1" lang="en-US" altLang="zh-CN" sz="16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200" dirty="0" smtClean="0">
              <a:latin typeface="微软雅黑" panose="020B0503020204020204" pitchFamily="34" charset="-122"/>
              <a:ea typeface="微软雅黑" panose="020B0503020204020204" pitchFamily="34" charset="-122"/>
              <a:cs typeface="宋体" charset="0"/>
            </a:endParaRPr>
          </a:p>
          <a:p>
            <a:pPr lvl="1" algn="just">
              <a:spcAft>
                <a:spcPts val="600"/>
              </a:spcAft>
              <a:buSzPct val="120000"/>
            </a:pPr>
            <a:endParaRPr kumimoji="1" lang="en-US" altLang="zh-CN" sz="1400" dirty="0" smtClean="0">
              <a:latin typeface="微软雅黑" panose="020B0503020204020204" pitchFamily="34" charset="-122"/>
              <a:ea typeface="微软雅黑" panose="020B0503020204020204" pitchFamily="34" charset="-122"/>
              <a:cs typeface="宋体" charset="0"/>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TABLE_BEAUTIFY" val="smartTable{425d75b0-d295-482a-b48d-4ea035f43591}"/>
</p:tagLst>
</file>

<file path=ppt/theme/theme1.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30532</Words>
  <Application>WPS 演示</Application>
  <PresentationFormat>全屏显示(16:9)</PresentationFormat>
  <Paragraphs>1725</Paragraphs>
  <Slides>76</Slides>
  <Notes>72</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76</vt:i4>
      </vt:variant>
    </vt:vector>
  </HeadingPairs>
  <TitlesOfParts>
    <vt:vector size="99" baseType="lpstr">
      <vt:lpstr>Arial</vt:lpstr>
      <vt:lpstr>宋体</vt:lpstr>
      <vt:lpstr>Wingdings</vt:lpstr>
      <vt:lpstr>Arial</vt:lpstr>
      <vt:lpstr>微软雅黑</vt:lpstr>
      <vt:lpstr>汉仪旗黑</vt:lpstr>
      <vt:lpstr>楷体</vt:lpstr>
      <vt:lpstr>微软雅黑</vt:lpstr>
      <vt:lpstr>宋体</vt:lpstr>
      <vt:lpstr>汉仪书宋二KW</vt:lpstr>
      <vt:lpstr>Times New Roman</vt:lpstr>
      <vt:lpstr>Cambria Math</vt:lpstr>
      <vt:lpstr>Verdana</vt:lpstr>
      <vt:lpstr>Heiti SC Light</vt:lpstr>
      <vt:lpstr>Symbol</vt:lpstr>
      <vt:lpstr>Kingsoft Sign</vt:lpstr>
      <vt:lpstr>汉仪楷体KW</vt:lpstr>
      <vt:lpstr>Arial Unicode MS</vt:lpstr>
      <vt:lpstr>Calibri</vt:lpstr>
      <vt:lpstr>Helvetica Neue</vt:lpstr>
      <vt:lpstr>Kingsoft Math</vt:lpstr>
      <vt:lpstr>DejaVu Math TeX Gyre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caikun01</cp:lastModifiedBy>
  <cp:revision>1541</cp:revision>
  <dcterms:created xsi:type="dcterms:W3CDTF">2022-08-09T07:22:49Z</dcterms:created>
  <dcterms:modified xsi:type="dcterms:W3CDTF">2022-08-09T07:22:49Z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AD3EB9C9F4D596FD480BF262102F1142</vt:lpwstr>
  </property>
  <property fmtid="{D5CDD505-2E9C-101B-9397-08002B2CF9AE}" pid="3" name="KSOProductBuildVer">
    <vt:lpwstr>2052-4.5.0.7415</vt:lpwstr>
  </property>
</Properties>
</file>