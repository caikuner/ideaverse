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7"/>
  </p:notesMasterIdLst>
  <p:handoutMasterIdLst>
    <p:handoutMasterId r:id="rId78"/>
  </p:handoutMasterIdLst>
  <p:sldIdLst>
    <p:sldId id="256" r:id="rId2"/>
    <p:sldId id="257" r:id="rId3"/>
    <p:sldId id="260" r:id="rId4"/>
    <p:sldId id="258" r:id="rId5"/>
    <p:sldId id="261" r:id="rId6"/>
    <p:sldId id="262" r:id="rId7"/>
    <p:sldId id="263" r:id="rId8"/>
    <p:sldId id="264" r:id="rId9"/>
    <p:sldId id="265" r:id="rId10"/>
    <p:sldId id="266" r:id="rId11"/>
    <p:sldId id="331" r:id="rId12"/>
    <p:sldId id="268" r:id="rId13"/>
    <p:sldId id="267" r:id="rId14"/>
    <p:sldId id="269" r:id="rId15"/>
    <p:sldId id="270" r:id="rId16"/>
    <p:sldId id="271" r:id="rId17"/>
    <p:sldId id="334" r:id="rId18"/>
    <p:sldId id="275" r:id="rId19"/>
    <p:sldId id="272" r:id="rId20"/>
    <p:sldId id="277" r:id="rId21"/>
    <p:sldId id="278" r:id="rId22"/>
    <p:sldId id="279" r:id="rId23"/>
    <p:sldId id="280" r:id="rId24"/>
    <p:sldId id="281" r:id="rId25"/>
    <p:sldId id="282" r:id="rId26"/>
    <p:sldId id="283" r:id="rId27"/>
    <p:sldId id="274" r:id="rId28"/>
    <p:sldId id="276"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8" r:id="rId43"/>
    <p:sldId id="297" r:id="rId44"/>
    <p:sldId id="299" r:id="rId45"/>
    <p:sldId id="300" r:id="rId46"/>
    <p:sldId id="301" r:id="rId47"/>
    <p:sldId id="302" r:id="rId48"/>
    <p:sldId id="303" r:id="rId49"/>
    <p:sldId id="332" r:id="rId50"/>
    <p:sldId id="305" r:id="rId51"/>
    <p:sldId id="333" r:id="rId52"/>
    <p:sldId id="306" r:id="rId53"/>
    <p:sldId id="307" r:id="rId54"/>
    <p:sldId id="308" r:id="rId55"/>
    <p:sldId id="310" r:id="rId56"/>
    <p:sldId id="311" r:id="rId57"/>
    <p:sldId id="309" r:id="rId58"/>
    <p:sldId id="312" r:id="rId59"/>
    <p:sldId id="313" r:id="rId60"/>
    <p:sldId id="314" r:id="rId61"/>
    <p:sldId id="315" r:id="rId62"/>
    <p:sldId id="317" r:id="rId63"/>
    <p:sldId id="316" r:id="rId64"/>
    <p:sldId id="318" r:id="rId65"/>
    <p:sldId id="319" r:id="rId66"/>
    <p:sldId id="320" r:id="rId67"/>
    <p:sldId id="321" r:id="rId68"/>
    <p:sldId id="322" r:id="rId69"/>
    <p:sldId id="323" r:id="rId70"/>
    <p:sldId id="324" r:id="rId71"/>
    <p:sldId id="325" r:id="rId72"/>
    <p:sldId id="326" r:id="rId73"/>
    <p:sldId id="327" r:id="rId74"/>
    <p:sldId id="328" r:id="rId75"/>
    <p:sldId id="330" r:id="rId7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422"/>
    <p:restoredTop sz="81956"/>
  </p:normalViewPr>
  <p:slideViewPr>
    <p:cSldViewPr snapToGrid="0" snapToObjects="1">
      <p:cViewPr varScale="1">
        <p:scale>
          <a:sx n="102" d="100"/>
          <a:sy n="102" d="100"/>
        </p:scale>
        <p:origin x="968" y="184"/>
      </p:cViewPr>
      <p:guideLst/>
    </p:cSldViewPr>
  </p:slideViewPr>
  <p:outlineViewPr>
    <p:cViewPr>
      <p:scale>
        <a:sx n="33" d="100"/>
        <a:sy n="33" d="100"/>
      </p:scale>
      <p:origin x="0" y="-2032"/>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5" d="100"/>
          <a:sy n="95" d="100"/>
        </p:scale>
        <p:origin x="3720" y="20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3CFC41F-D94C-4D2A-989A-2D97E4C93557}" type="doc">
      <dgm:prSet loTypeId="urn:microsoft.com/office/officeart/2005/8/layout/cycle7#1" loCatId="cycle" qsTypeId="urn:microsoft.com/office/officeart/2005/8/quickstyle/simple1#1" qsCatId="simple" csTypeId="urn:microsoft.com/office/officeart/2005/8/colors/colorful1#1" csCatId="colorful" phldr="1"/>
      <dgm:spPr/>
      <dgm:t>
        <a:bodyPr/>
        <a:lstStyle/>
        <a:p>
          <a:endParaRPr lang="zh-CN" altLang="en-US"/>
        </a:p>
      </dgm:t>
    </dgm:pt>
    <dgm:pt modelId="{491798FE-E380-40B2-AB89-279E6843B487}">
      <dgm:prSet phldrT="[文本]"/>
      <dgm:spPr/>
      <dgm:t>
        <a:bodyPr/>
        <a:lstStyle/>
        <a:p>
          <a:r>
            <a:rPr lang="zh-CN" altLang="en-US" dirty="0"/>
            <a:t>广告主</a:t>
          </a:r>
        </a:p>
      </dgm:t>
    </dgm:pt>
    <dgm:pt modelId="{828C9797-592C-4C65-BB17-AD449EEE4116}" type="parTrans" cxnId="{E3D45DB2-E483-46E4-86B1-63C7A380D0C3}">
      <dgm:prSet/>
      <dgm:spPr/>
      <dgm:t>
        <a:bodyPr/>
        <a:lstStyle/>
        <a:p>
          <a:endParaRPr lang="zh-CN" altLang="en-US"/>
        </a:p>
      </dgm:t>
    </dgm:pt>
    <dgm:pt modelId="{86256C80-CE88-417F-9DEB-5AE3CDD62CBA}" type="sibTrans" cxnId="{E3D45DB2-E483-46E4-86B1-63C7A380D0C3}">
      <dgm:prSet/>
      <dgm:spPr/>
      <dgm:t>
        <a:bodyPr/>
        <a:lstStyle/>
        <a:p>
          <a:endParaRPr lang="zh-CN" altLang="en-US" dirty="0"/>
        </a:p>
      </dgm:t>
    </dgm:pt>
    <dgm:pt modelId="{BCE1FFAA-90D0-4B62-B40B-BF6917531D7A}">
      <dgm:prSet phldrT="[文本]"/>
      <dgm:spPr/>
      <dgm:t>
        <a:bodyPr/>
        <a:lstStyle/>
        <a:p>
          <a:r>
            <a:rPr lang="zh-CN" altLang="en-US" dirty="0"/>
            <a:t>网民</a:t>
          </a:r>
        </a:p>
      </dgm:t>
    </dgm:pt>
    <dgm:pt modelId="{DE270CBB-573F-4D29-A606-524263751D3B}" type="parTrans" cxnId="{81A48DCE-6A6A-4C1C-8EB0-9AC530DCEA7F}">
      <dgm:prSet/>
      <dgm:spPr/>
      <dgm:t>
        <a:bodyPr/>
        <a:lstStyle/>
        <a:p>
          <a:endParaRPr lang="zh-CN" altLang="en-US"/>
        </a:p>
      </dgm:t>
    </dgm:pt>
    <dgm:pt modelId="{F5C6D198-3602-4757-AD22-5123C361BB9E}" type="sibTrans" cxnId="{81A48DCE-6A6A-4C1C-8EB0-9AC530DCEA7F}">
      <dgm:prSet/>
      <dgm:spPr/>
      <dgm:t>
        <a:bodyPr/>
        <a:lstStyle/>
        <a:p>
          <a:endParaRPr lang="zh-CN" altLang="en-US"/>
        </a:p>
      </dgm:t>
    </dgm:pt>
    <dgm:pt modelId="{57C1AF08-4362-4930-BCC0-84B58DDE224A}">
      <dgm:prSet phldrT="[文本]"/>
      <dgm:spPr/>
      <dgm:t>
        <a:bodyPr/>
        <a:lstStyle/>
        <a:p>
          <a:r>
            <a:rPr lang="zh-CN" altLang="en-US" dirty="0"/>
            <a:t>百度</a:t>
          </a:r>
        </a:p>
      </dgm:t>
    </dgm:pt>
    <dgm:pt modelId="{213EF44F-62C1-4928-8335-473AF18E17DC}" type="parTrans" cxnId="{BC43C7C8-9B69-448E-9DDA-38E76F2AE2B7}">
      <dgm:prSet/>
      <dgm:spPr/>
      <dgm:t>
        <a:bodyPr/>
        <a:lstStyle/>
        <a:p>
          <a:endParaRPr lang="zh-CN" altLang="en-US"/>
        </a:p>
      </dgm:t>
    </dgm:pt>
    <dgm:pt modelId="{2424DE64-1439-4EC2-AB9C-A3EC2E308D24}" type="sibTrans" cxnId="{BC43C7C8-9B69-448E-9DDA-38E76F2AE2B7}">
      <dgm:prSet/>
      <dgm:spPr/>
      <dgm:t>
        <a:bodyPr/>
        <a:lstStyle/>
        <a:p>
          <a:endParaRPr lang="zh-CN" altLang="en-US"/>
        </a:p>
      </dgm:t>
    </dgm:pt>
    <dgm:pt modelId="{250115E6-FA17-43E4-BC9F-73C7130A1DBA}" type="pres">
      <dgm:prSet presAssocID="{03CFC41F-D94C-4D2A-989A-2D97E4C93557}" presName="Name0" presStyleCnt="0">
        <dgm:presLayoutVars>
          <dgm:dir/>
          <dgm:resizeHandles val="exact"/>
        </dgm:presLayoutVars>
      </dgm:prSet>
      <dgm:spPr/>
    </dgm:pt>
    <dgm:pt modelId="{8D051C71-2E87-4E10-BFAD-48D14F8B5C71}" type="pres">
      <dgm:prSet presAssocID="{491798FE-E380-40B2-AB89-279E6843B487}" presName="node" presStyleLbl="node1" presStyleIdx="0" presStyleCnt="3">
        <dgm:presLayoutVars>
          <dgm:bulletEnabled val="1"/>
        </dgm:presLayoutVars>
      </dgm:prSet>
      <dgm:spPr/>
    </dgm:pt>
    <dgm:pt modelId="{E35B8973-ECBE-440A-A903-9388DFE79E4C}" type="pres">
      <dgm:prSet presAssocID="{86256C80-CE88-417F-9DEB-5AE3CDD62CBA}" presName="sibTrans" presStyleLbl="sibTrans2D1" presStyleIdx="0" presStyleCnt="3"/>
      <dgm:spPr/>
    </dgm:pt>
    <dgm:pt modelId="{3A09CE41-0E76-4B09-ABFB-6A1B200EE14C}" type="pres">
      <dgm:prSet presAssocID="{86256C80-CE88-417F-9DEB-5AE3CDD62CBA}" presName="connectorText" presStyleLbl="sibTrans2D1" presStyleIdx="0" presStyleCnt="3"/>
      <dgm:spPr/>
    </dgm:pt>
    <dgm:pt modelId="{6B92D6B2-2593-48E9-9288-45C4C2A55968}" type="pres">
      <dgm:prSet presAssocID="{BCE1FFAA-90D0-4B62-B40B-BF6917531D7A}" presName="node" presStyleLbl="node1" presStyleIdx="1" presStyleCnt="3" custRadScaleRad="126956" custRadScaleInc="-883">
        <dgm:presLayoutVars>
          <dgm:bulletEnabled val="1"/>
        </dgm:presLayoutVars>
      </dgm:prSet>
      <dgm:spPr/>
    </dgm:pt>
    <dgm:pt modelId="{67D6846B-933E-4FDD-BBFF-662C3964D907}" type="pres">
      <dgm:prSet presAssocID="{F5C6D198-3602-4757-AD22-5123C361BB9E}" presName="sibTrans" presStyleLbl="sibTrans2D1" presStyleIdx="1" presStyleCnt="3"/>
      <dgm:spPr/>
    </dgm:pt>
    <dgm:pt modelId="{783598DF-13CC-4B85-8A6B-11EE482E3C56}" type="pres">
      <dgm:prSet presAssocID="{F5C6D198-3602-4757-AD22-5123C361BB9E}" presName="connectorText" presStyleLbl="sibTrans2D1" presStyleIdx="1" presStyleCnt="3"/>
      <dgm:spPr/>
    </dgm:pt>
    <dgm:pt modelId="{21D0F7F7-7207-4AEA-9D3A-BE2A69757B25}" type="pres">
      <dgm:prSet presAssocID="{57C1AF08-4362-4930-BCC0-84B58DDE224A}" presName="node" presStyleLbl="node1" presStyleIdx="2" presStyleCnt="3" custRadScaleRad="129837" custRadScaleInc="863">
        <dgm:presLayoutVars>
          <dgm:bulletEnabled val="1"/>
        </dgm:presLayoutVars>
      </dgm:prSet>
      <dgm:spPr/>
    </dgm:pt>
    <dgm:pt modelId="{3312CCA1-B17F-44F8-BA97-09A750C8A542}" type="pres">
      <dgm:prSet presAssocID="{2424DE64-1439-4EC2-AB9C-A3EC2E308D24}" presName="sibTrans" presStyleLbl="sibTrans2D1" presStyleIdx="2" presStyleCnt="3"/>
      <dgm:spPr/>
    </dgm:pt>
    <dgm:pt modelId="{D381E308-0C4B-474D-940B-05C6655FDB76}" type="pres">
      <dgm:prSet presAssocID="{2424DE64-1439-4EC2-AB9C-A3EC2E308D24}" presName="connectorText" presStyleLbl="sibTrans2D1" presStyleIdx="2" presStyleCnt="3"/>
      <dgm:spPr/>
    </dgm:pt>
  </dgm:ptLst>
  <dgm:cxnLst>
    <dgm:cxn modelId="{4BDE9309-04AA-4414-9B1C-E25AE86CEF41}" type="presOf" srcId="{03CFC41F-D94C-4D2A-989A-2D97E4C93557}" destId="{250115E6-FA17-43E4-BC9F-73C7130A1DBA}" srcOrd="0" destOrd="0" presId="urn:microsoft.com/office/officeart/2005/8/layout/cycle7#1"/>
    <dgm:cxn modelId="{DD742E28-CB95-42AE-B1CD-241E18E6F478}" type="presOf" srcId="{57C1AF08-4362-4930-BCC0-84B58DDE224A}" destId="{21D0F7F7-7207-4AEA-9D3A-BE2A69757B25}" srcOrd="0" destOrd="0" presId="urn:microsoft.com/office/officeart/2005/8/layout/cycle7#1"/>
    <dgm:cxn modelId="{9DC99648-7F56-482E-865D-6243174B1760}" type="presOf" srcId="{86256C80-CE88-417F-9DEB-5AE3CDD62CBA}" destId="{E35B8973-ECBE-440A-A903-9388DFE79E4C}" srcOrd="0" destOrd="0" presId="urn:microsoft.com/office/officeart/2005/8/layout/cycle7#1"/>
    <dgm:cxn modelId="{577CE162-C5D3-4901-9353-21C4DA520ECE}" type="presOf" srcId="{2424DE64-1439-4EC2-AB9C-A3EC2E308D24}" destId="{3312CCA1-B17F-44F8-BA97-09A750C8A542}" srcOrd="0" destOrd="0" presId="urn:microsoft.com/office/officeart/2005/8/layout/cycle7#1"/>
    <dgm:cxn modelId="{8929A16C-6E71-4DA2-9B0D-6DC372B993F2}" type="presOf" srcId="{F5C6D198-3602-4757-AD22-5123C361BB9E}" destId="{67D6846B-933E-4FDD-BBFF-662C3964D907}" srcOrd="0" destOrd="0" presId="urn:microsoft.com/office/officeart/2005/8/layout/cycle7#1"/>
    <dgm:cxn modelId="{A7B66C81-61C9-4A48-ADEE-61CA3231FF11}" type="presOf" srcId="{86256C80-CE88-417F-9DEB-5AE3CDD62CBA}" destId="{3A09CE41-0E76-4B09-ABFB-6A1B200EE14C}" srcOrd="1" destOrd="0" presId="urn:microsoft.com/office/officeart/2005/8/layout/cycle7#1"/>
    <dgm:cxn modelId="{A064498E-BA66-4802-A991-B9672EB747DA}" type="presOf" srcId="{2424DE64-1439-4EC2-AB9C-A3EC2E308D24}" destId="{D381E308-0C4B-474D-940B-05C6655FDB76}" srcOrd="1" destOrd="0" presId="urn:microsoft.com/office/officeart/2005/8/layout/cycle7#1"/>
    <dgm:cxn modelId="{77CED896-5DA4-4FF4-9892-41E4D40166F2}" type="presOf" srcId="{491798FE-E380-40B2-AB89-279E6843B487}" destId="{8D051C71-2E87-4E10-BFAD-48D14F8B5C71}" srcOrd="0" destOrd="0" presId="urn:microsoft.com/office/officeart/2005/8/layout/cycle7#1"/>
    <dgm:cxn modelId="{E3D45DB2-E483-46E4-86B1-63C7A380D0C3}" srcId="{03CFC41F-D94C-4D2A-989A-2D97E4C93557}" destId="{491798FE-E380-40B2-AB89-279E6843B487}" srcOrd="0" destOrd="0" parTransId="{828C9797-592C-4C65-BB17-AD449EEE4116}" sibTransId="{86256C80-CE88-417F-9DEB-5AE3CDD62CBA}"/>
    <dgm:cxn modelId="{F2D174C4-B0AF-43C0-9112-20CFFA19BCBF}" type="presOf" srcId="{BCE1FFAA-90D0-4B62-B40B-BF6917531D7A}" destId="{6B92D6B2-2593-48E9-9288-45C4C2A55968}" srcOrd="0" destOrd="0" presId="urn:microsoft.com/office/officeart/2005/8/layout/cycle7#1"/>
    <dgm:cxn modelId="{BC43C7C8-9B69-448E-9DDA-38E76F2AE2B7}" srcId="{03CFC41F-D94C-4D2A-989A-2D97E4C93557}" destId="{57C1AF08-4362-4930-BCC0-84B58DDE224A}" srcOrd="2" destOrd="0" parTransId="{213EF44F-62C1-4928-8335-473AF18E17DC}" sibTransId="{2424DE64-1439-4EC2-AB9C-A3EC2E308D24}"/>
    <dgm:cxn modelId="{7012ACCC-5023-45A1-B099-867C2B8364AD}" type="presOf" srcId="{F5C6D198-3602-4757-AD22-5123C361BB9E}" destId="{783598DF-13CC-4B85-8A6B-11EE482E3C56}" srcOrd="1" destOrd="0" presId="urn:microsoft.com/office/officeart/2005/8/layout/cycle7#1"/>
    <dgm:cxn modelId="{81A48DCE-6A6A-4C1C-8EB0-9AC530DCEA7F}" srcId="{03CFC41F-D94C-4D2A-989A-2D97E4C93557}" destId="{BCE1FFAA-90D0-4B62-B40B-BF6917531D7A}" srcOrd="1" destOrd="0" parTransId="{DE270CBB-573F-4D29-A606-524263751D3B}" sibTransId="{F5C6D198-3602-4757-AD22-5123C361BB9E}"/>
    <dgm:cxn modelId="{179C7743-A6BA-4C5F-80B2-1628174A5B11}" type="presParOf" srcId="{250115E6-FA17-43E4-BC9F-73C7130A1DBA}" destId="{8D051C71-2E87-4E10-BFAD-48D14F8B5C71}" srcOrd="0" destOrd="0" presId="urn:microsoft.com/office/officeart/2005/8/layout/cycle7#1"/>
    <dgm:cxn modelId="{1A0E21C6-F6D6-4E0F-BF06-5AC7E022BE35}" type="presParOf" srcId="{250115E6-FA17-43E4-BC9F-73C7130A1DBA}" destId="{E35B8973-ECBE-440A-A903-9388DFE79E4C}" srcOrd="1" destOrd="0" presId="urn:microsoft.com/office/officeart/2005/8/layout/cycle7#1"/>
    <dgm:cxn modelId="{CD2B7B04-D5F6-4F92-8A35-00EF316B8D0E}" type="presParOf" srcId="{E35B8973-ECBE-440A-A903-9388DFE79E4C}" destId="{3A09CE41-0E76-4B09-ABFB-6A1B200EE14C}" srcOrd="0" destOrd="0" presId="urn:microsoft.com/office/officeart/2005/8/layout/cycle7#1"/>
    <dgm:cxn modelId="{D92BA074-44A4-41D9-B7E3-601087B02B20}" type="presParOf" srcId="{250115E6-FA17-43E4-BC9F-73C7130A1DBA}" destId="{6B92D6B2-2593-48E9-9288-45C4C2A55968}" srcOrd="2" destOrd="0" presId="urn:microsoft.com/office/officeart/2005/8/layout/cycle7#1"/>
    <dgm:cxn modelId="{8099C448-4687-4484-9DFF-A46D08581F6F}" type="presParOf" srcId="{250115E6-FA17-43E4-BC9F-73C7130A1DBA}" destId="{67D6846B-933E-4FDD-BBFF-662C3964D907}" srcOrd="3" destOrd="0" presId="urn:microsoft.com/office/officeart/2005/8/layout/cycle7#1"/>
    <dgm:cxn modelId="{1BCF2791-6CA1-436A-8E6D-57B25DAD6FE1}" type="presParOf" srcId="{67D6846B-933E-4FDD-BBFF-662C3964D907}" destId="{783598DF-13CC-4B85-8A6B-11EE482E3C56}" srcOrd="0" destOrd="0" presId="urn:microsoft.com/office/officeart/2005/8/layout/cycle7#1"/>
    <dgm:cxn modelId="{B1641A59-10E6-439C-A131-80D657178AA9}" type="presParOf" srcId="{250115E6-FA17-43E4-BC9F-73C7130A1DBA}" destId="{21D0F7F7-7207-4AEA-9D3A-BE2A69757B25}" srcOrd="4" destOrd="0" presId="urn:microsoft.com/office/officeart/2005/8/layout/cycle7#1"/>
    <dgm:cxn modelId="{2D7E6CC2-0A9F-453F-87B9-0C113AC95C06}" type="presParOf" srcId="{250115E6-FA17-43E4-BC9F-73C7130A1DBA}" destId="{3312CCA1-B17F-44F8-BA97-09A750C8A542}" srcOrd="5" destOrd="0" presId="urn:microsoft.com/office/officeart/2005/8/layout/cycle7#1"/>
    <dgm:cxn modelId="{7EED7F59-9B30-4432-809B-7B311778914F}" type="presParOf" srcId="{3312CCA1-B17F-44F8-BA97-09A750C8A542}" destId="{D381E308-0C4B-474D-940B-05C6655FDB76}" srcOrd="0" destOrd="0" presId="urn:microsoft.com/office/officeart/2005/8/layout/cycle7#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51C71-2E87-4E10-BFAD-48D14F8B5C71}">
      <dsp:nvSpPr>
        <dsp:cNvPr id="0" name=""/>
        <dsp:cNvSpPr/>
      </dsp:nvSpPr>
      <dsp:spPr>
        <a:xfrm>
          <a:off x="1565171" y="738"/>
          <a:ext cx="1118128" cy="55906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zh-CN" altLang="en-US" sz="2200" kern="1200" dirty="0"/>
            <a:t>广告主</a:t>
          </a:r>
        </a:p>
      </dsp:txBody>
      <dsp:txXfrm>
        <a:off x="1581545" y="17112"/>
        <a:ext cx="1085380" cy="526316"/>
      </dsp:txXfrm>
    </dsp:sp>
    <dsp:sp modelId="{E35B8973-ECBE-440A-A903-9388DFE79E4C}">
      <dsp:nvSpPr>
        <dsp:cNvPr id="0" name=""/>
        <dsp:cNvSpPr/>
      </dsp:nvSpPr>
      <dsp:spPr>
        <a:xfrm rot="3217651">
          <a:off x="2207217" y="982652"/>
          <a:ext cx="1012796" cy="195672"/>
        </a:xfrm>
        <a:prstGeom prst="lef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dirty="0"/>
        </a:p>
      </dsp:txBody>
      <dsp:txXfrm>
        <a:off x="2265919" y="1021786"/>
        <a:ext cx="895392" cy="117404"/>
      </dsp:txXfrm>
    </dsp:sp>
    <dsp:sp modelId="{6B92D6B2-2593-48E9-9288-45C4C2A55968}">
      <dsp:nvSpPr>
        <dsp:cNvPr id="0" name=""/>
        <dsp:cNvSpPr/>
      </dsp:nvSpPr>
      <dsp:spPr>
        <a:xfrm>
          <a:off x="2743930" y="1601175"/>
          <a:ext cx="1118128" cy="55906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zh-CN" altLang="en-US" sz="2200" kern="1200" dirty="0"/>
            <a:t>网民</a:t>
          </a:r>
        </a:p>
      </dsp:txBody>
      <dsp:txXfrm>
        <a:off x="2760304" y="1617549"/>
        <a:ext cx="1085380" cy="526316"/>
      </dsp:txXfrm>
    </dsp:sp>
    <dsp:sp modelId="{67D6846B-933E-4FDD-BBFF-662C3964D907}">
      <dsp:nvSpPr>
        <dsp:cNvPr id="0" name=""/>
        <dsp:cNvSpPr/>
      </dsp:nvSpPr>
      <dsp:spPr>
        <a:xfrm rot="10800000">
          <a:off x="1604534" y="1782871"/>
          <a:ext cx="1012796" cy="195672"/>
        </a:xfrm>
        <a:prstGeom prst="lef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rot="10800000">
        <a:off x="1663236" y="1822005"/>
        <a:ext cx="895392" cy="117404"/>
      </dsp:txXfrm>
    </dsp:sp>
    <dsp:sp modelId="{21D0F7F7-7207-4AEA-9D3A-BE2A69757B25}">
      <dsp:nvSpPr>
        <dsp:cNvPr id="0" name=""/>
        <dsp:cNvSpPr/>
      </dsp:nvSpPr>
      <dsp:spPr>
        <a:xfrm>
          <a:off x="359806" y="1601175"/>
          <a:ext cx="1118128" cy="55906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zh-CN" altLang="en-US" sz="2200" kern="1200" dirty="0"/>
            <a:t>百度</a:t>
          </a:r>
        </a:p>
      </dsp:txBody>
      <dsp:txXfrm>
        <a:off x="376180" y="1617549"/>
        <a:ext cx="1085380" cy="526316"/>
      </dsp:txXfrm>
    </dsp:sp>
    <dsp:sp modelId="{3312CCA1-B17F-44F8-BA97-09A750C8A542}">
      <dsp:nvSpPr>
        <dsp:cNvPr id="0" name=""/>
        <dsp:cNvSpPr/>
      </dsp:nvSpPr>
      <dsp:spPr>
        <a:xfrm rot="18419108">
          <a:off x="1015155" y="982652"/>
          <a:ext cx="1012796" cy="195672"/>
        </a:xfrm>
        <a:prstGeom prst="lef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zh-CN" altLang="en-US" sz="700" kern="1200"/>
        </a:p>
      </dsp:txBody>
      <dsp:txXfrm>
        <a:off x="1073857" y="1021786"/>
        <a:ext cx="895392" cy="117404"/>
      </dsp:txXfrm>
    </dsp:sp>
  </dsp:spTree>
</dsp:drawing>
</file>

<file path=ppt/diagrams/layout1.xml><?xml version="1.0" encoding="utf-8"?>
<dgm:layoutDef xmlns:dgm="http://schemas.openxmlformats.org/drawingml/2006/diagram" xmlns:a="http://schemas.openxmlformats.org/drawingml/2006/main" uniqueId="urn:microsoft.com/office/officeart/2005/8/layout/cycle7#1">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Sty" val="arr"/>
                    <dgm:param type="endSty" val="arr"/>
                    <dgm:param type="begPts" val="radial"/>
                    <dgm:param type="endPts" val="radial"/>
                  </dgm:alg>
                </dgm:if>
                <dgm:else name="Name8">
                  <dgm:alg type="conn">
                    <dgm:param type="begSty" val="arr"/>
                    <dgm:param type="endSty" val="arr"/>
                    <dgm:param type="begPts" val="auto"/>
                    <dgm:param type="endPts" val="auto"/>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2022/8/9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B3CB31-7352-4D48-892F-5CEF09ECB96E}" type="datetimeFigureOut">
              <a:rPr kumimoji="1" lang="zh-CN" altLang="en-US" smtClean="0"/>
              <a:t>2022/8/9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025440-15E5-2644-90EE-6D169A986B07}"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m.baidu.com/"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2</a:t>
            </a:fld>
            <a:endParaRPr kumimoji="1" lang="zh-CN" altLang="en-US"/>
          </a:p>
        </p:txBody>
      </p:sp>
    </p:spTree>
    <p:extLst>
      <p:ext uri="{BB962C8B-B14F-4D97-AF65-F5344CB8AC3E}">
        <p14:creationId xmlns:p14="http://schemas.microsoft.com/office/powerpoint/2010/main" val="2133472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3</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4</a:t>
            </a:fld>
            <a:endParaRPr kumimoji="1" lang="zh-CN" altLang="en-US"/>
          </a:p>
        </p:txBody>
      </p:sp>
    </p:spTree>
    <p:extLst>
      <p:ext uri="{BB962C8B-B14F-4D97-AF65-F5344CB8AC3E}">
        <p14:creationId xmlns:p14="http://schemas.microsoft.com/office/powerpoint/2010/main" val="3867733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5</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6</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7</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sz="1200" b="0" i="0" u="none" strike="noStrike" kern="1200" dirty="0" err="1">
                <a:solidFill>
                  <a:schemeClr val="tx1"/>
                </a:solidFill>
                <a:effectLst/>
                <a:latin typeface="+mn-lt"/>
                <a:ea typeface="+mn-ea"/>
                <a:cs typeface="+mn-cs"/>
              </a:rPr>
              <a:t>dformat</a:t>
            </a:r>
            <a:r>
              <a:rPr lang="zh-CN" altLang="en-US" sz="1200" b="0" i="0" u="none" strike="noStrike" kern="1200" dirty="0">
                <a:solidFill>
                  <a:schemeClr val="tx1"/>
                </a:solidFill>
                <a:effectLst/>
                <a:latin typeface="+mn-lt"/>
                <a:ea typeface="+mn-ea"/>
                <a:cs typeface="+mn-cs"/>
              </a:rPr>
              <a:t>是在</a:t>
            </a:r>
            <a:r>
              <a:rPr lang="en-GB" altLang="zh-CN" sz="1200" b="0" i="0" u="none" strike="noStrike" kern="1200" dirty="0" err="1">
                <a:solidFill>
                  <a:schemeClr val="tx1"/>
                </a:solidFill>
                <a:effectLst/>
                <a:latin typeface="+mn-lt"/>
                <a:ea typeface="+mn-ea"/>
                <a:cs typeface="+mn-cs"/>
              </a:rPr>
              <a:t>rcv</a:t>
            </a:r>
            <a:r>
              <a:rPr lang="zh-CN" altLang="en-US" sz="1200" b="0" i="0" u="none" strike="noStrike" kern="1200" dirty="0">
                <a:solidFill>
                  <a:schemeClr val="tx1"/>
                </a:solidFill>
                <a:effectLst/>
                <a:latin typeface="+mn-lt"/>
                <a:ea typeface="+mn-ea"/>
                <a:cs typeface="+mn-cs"/>
              </a:rPr>
              <a:t>上单台机器上执行，所看到的日志是单条日志。</a:t>
            </a:r>
            <a:r>
              <a:rPr lang="en-GB" altLang="zh-CN" sz="1200" b="0" i="0" u="none" strike="noStrike" kern="1200" dirty="0" err="1">
                <a:solidFill>
                  <a:schemeClr val="tx1"/>
                </a:solidFill>
                <a:effectLst/>
                <a:latin typeface="+mn-lt"/>
                <a:ea typeface="+mn-ea"/>
                <a:cs typeface="+mn-cs"/>
              </a:rPr>
              <a:t>dformat</a:t>
            </a:r>
            <a:r>
              <a:rPr lang="zh-CN" altLang="en-US" sz="1200" b="0" i="0" u="none" strike="noStrike" kern="1200" dirty="0">
                <a:solidFill>
                  <a:schemeClr val="tx1"/>
                </a:solidFill>
                <a:effectLst/>
                <a:latin typeface="+mn-lt"/>
                <a:ea typeface="+mn-ea"/>
                <a:cs typeface="+mn-cs"/>
              </a:rPr>
              <a:t>上过掉的流量不会参与到</a:t>
            </a:r>
            <a:r>
              <a:rPr lang="en-GB" altLang="zh-CN" sz="1200" b="0" i="0" u="none" strike="noStrike" kern="1200" dirty="0" err="1">
                <a:solidFill>
                  <a:schemeClr val="tx1"/>
                </a:solidFill>
                <a:effectLst/>
                <a:latin typeface="+mn-lt"/>
                <a:ea typeface="+mn-ea"/>
                <a:cs typeface="+mn-cs"/>
              </a:rPr>
              <a:t>themis</a:t>
            </a:r>
            <a:r>
              <a:rPr lang="zh-CN" altLang="en-US" sz="1200" b="0" i="0" u="none" strike="noStrike" kern="1200" dirty="0">
                <a:solidFill>
                  <a:schemeClr val="tx1"/>
                </a:solidFill>
                <a:effectLst/>
                <a:latin typeface="+mn-lt"/>
                <a:ea typeface="+mn-ea"/>
                <a:cs typeface="+mn-cs"/>
              </a:rPr>
              <a:t>的流量累计，这样是合理的，减少机器负担。日志经过</a:t>
            </a:r>
            <a:r>
              <a:rPr lang="en-GB" altLang="zh-CN" sz="1200" b="0" i="0" u="none" strike="noStrike" kern="1200" dirty="0" err="1">
                <a:solidFill>
                  <a:schemeClr val="tx1"/>
                </a:solidFill>
                <a:effectLst/>
                <a:latin typeface="+mn-lt"/>
                <a:ea typeface="+mn-ea"/>
                <a:cs typeface="+mn-cs"/>
              </a:rPr>
              <a:t>dformat</a:t>
            </a:r>
            <a:r>
              <a:rPr lang="zh-CN" altLang="en-US" sz="1200" b="0" i="0" u="none" strike="noStrike" kern="1200" dirty="0">
                <a:solidFill>
                  <a:schemeClr val="tx1"/>
                </a:solidFill>
                <a:effectLst/>
                <a:latin typeface="+mn-lt"/>
                <a:ea typeface="+mn-ea"/>
                <a:cs typeface="+mn-cs"/>
              </a:rPr>
              <a:t>层不会再下发给</a:t>
            </a:r>
            <a:r>
              <a:rPr lang="en-GB" altLang="zh-CN" sz="1200" b="0" i="0" u="none" strike="noStrike" kern="1200" dirty="0" err="1">
                <a:solidFill>
                  <a:schemeClr val="tx1"/>
                </a:solidFill>
                <a:effectLst/>
                <a:latin typeface="+mn-lt"/>
                <a:ea typeface="+mn-ea"/>
                <a:cs typeface="+mn-cs"/>
              </a:rPr>
              <a:t>themis</a:t>
            </a:r>
            <a:r>
              <a:rPr lang="zh-CN" altLang="en-US" sz="1200" b="0" i="0" u="none" strike="noStrike" kern="1200" dirty="0">
                <a:solidFill>
                  <a:schemeClr val="tx1"/>
                </a:solidFill>
                <a:effectLst/>
                <a:latin typeface="+mn-lt"/>
                <a:ea typeface="+mn-ea"/>
                <a:cs typeface="+mn-cs"/>
              </a:rPr>
              <a:t>层。</a:t>
            </a:r>
            <a:r>
              <a:rPr lang="en-GB" altLang="zh-CN" sz="1200" b="0" i="0" u="none" strike="noStrike" kern="1200" dirty="0" err="1">
                <a:solidFill>
                  <a:schemeClr val="tx1"/>
                </a:solidFill>
                <a:effectLst/>
                <a:latin typeface="+mn-lt"/>
                <a:ea typeface="+mn-ea"/>
                <a:cs typeface="+mn-cs"/>
              </a:rPr>
              <a:t>dformat</a:t>
            </a:r>
            <a:r>
              <a:rPr lang="zh-CN" altLang="en-US" sz="1200" b="0" i="0" u="none" strike="noStrike" kern="1200" dirty="0">
                <a:solidFill>
                  <a:schemeClr val="tx1"/>
                </a:solidFill>
                <a:effectLst/>
                <a:latin typeface="+mn-lt"/>
                <a:ea typeface="+mn-ea"/>
                <a:cs typeface="+mn-cs"/>
              </a:rPr>
              <a:t>层底层机制和</a:t>
            </a:r>
            <a:r>
              <a:rPr lang="en-GB" altLang="zh-CN" sz="1200" b="0" i="0" u="none" strike="noStrike" kern="1200" dirty="0" err="1">
                <a:solidFill>
                  <a:schemeClr val="tx1"/>
                </a:solidFill>
                <a:effectLst/>
                <a:latin typeface="+mn-lt"/>
                <a:ea typeface="+mn-ea"/>
                <a:cs typeface="+mn-cs"/>
              </a:rPr>
              <a:t>themis</a:t>
            </a:r>
            <a:r>
              <a:rPr lang="zh-CN" altLang="en-US" sz="1200" b="0" i="0" u="none" strike="noStrike" kern="1200" dirty="0">
                <a:solidFill>
                  <a:schemeClr val="tx1"/>
                </a:solidFill>
                <a:effectLst/>
                <a:latin typeface="+mn-lt"/>
                <a:ea typeface="+mn-ea"/>
                <a:cs typeface="+mn-cs"/>
              </a:rPr>
              <a:t>一样，所以</a:t>
            </a:r>
            <a:r>
              <a:rPr lang="en-GB" altLang="zh-CN" sz="1200" b="0" i="0" u="none" strike="noStrike" kern="1200" dirty="0" err="1">
                <a:solidFill>
                  <a:schemeClr val="tx1"/>
                </a:solidFill>
                <a:effectLst/>
                <a:latin typeface="+mn-lt"/>
                <a:ea typeface="+mn-ea"/>
                <a:cs typeface="+mn-cs"/>
              </a:rPr>
              <a:t>dformat</a:t>
            </a:r>
            <a:r>
              <a:rPr lang="zh-CN" altLang="en-US" sz="1200" b="0" i="0" u="none" strike="noStrike" kern="1200" dirty="0">
                <a:solidFill>
                  <a:schemeClr val="tx1"/>
                </a:solidFill>
                <a:effectLst/>
                <a:latin typeface="+mn-lt"/>
                <a:ea typeface="+mn-ea"/>
                <a:cs typeface="+mn-cs"/>
              </a:rPr>
              <a:t>和</a:t>
            </a:r>
            <a:r>
              <a:rPr lang="en-GB" altLang="zh-CN" sz="1200" b="0" i="0" u="none" strike="noStrike" kern="1200" dirty="0" err="1">
                <a:solidFill>
                  <a:schemeClr val="tx1"/>
                </a:solidFill>
                <a:effectLst/>
                <a:latin typeface="+mn-lt"/>
                <a:ea typeface="+mn-ea"/>
                <a:cs typeface="+mn-cs"/>
              </a:rPr>
              <a:t>themis</a:t>
            </a:r>
            <a:r>
              <a:rPr lang="zh-CN" altLang="en-US" sz="1200" b="0" i="0" u="none" strike="noStrike" kern="1200" dirty="0">
                <a:solidFill>
                  <a:schemeClr val="tx1"/>
                </a:solidFill>
                <a:effectLst/>
                <a:latin typeface="+mn-lt"/>
                <a:ea typeface="+mn-ea"/>
                <a:cs typeface="+mn-cs"/>
              </a:rPr>
              <a:t>是有不同的</a:t>
            </a:r>
            <a:r>
              <a:rPr lang="en-GB" altLang="zh-CN" sz="1200" b="0" i="0" u="none" strike="noStrike" kern="1200" dirty="0" err="1">
                <a:solidFill>
                  <a:schemeClr val="tx1"/>
                </a:solidFill>
                <a:effectLst/>
                <a:latin typeface="+mn-lt"/>
                <a:ea typeface="+mn-ea"/>
                <a:cs typeface="+mn-cs"/>
              </a:rPr>
              <a:t>logmerge</a:t>
            </a:r>
            <a:r>
              <a:rPr lang="zh-CN" altLang="en-GB"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解释：由于经过</a:t>
            </a:r>
            <a:r>
              <a:rPr lang="en-GB" altLang="zh-CN" sz="1200" b="0" i="0" u="none" strike="noStrike" kern="1200" dirty="0" err="1">
                <a:solidFill>
                  <a:schemeClr val="tx1"/>
                </a:solidFill>
                <a:effectLst/>
                <a:latin typeface="+mn-lt"/>
                <a:ea typeface="+mn-ea"/>
                <a:cs typeface="+mn-cs"/>
              </a:rPr>
              <a:t>dformat</a:t>
            </a:r>
            <a:r>
              <a:rPr lang="zh-CN" altLang="en-US" sz="1200" b="0" i="0" u="none" strike="noStrike" kern="1200" dirty="0">
                <a:solidFill>
                  <a:schemeClr val="tx1"/>
                </a:solidFill>
                <a:effectLst/>
                <a:latin typeface="+mn-lt"/>
                <a:ea typeface="+mn-ea"/>
                <a:cs typeface="+mn-cs"/>
              </a:rPr>
              <a:t>层的日志会被策略命中的并且打上</a:t>
            </a:r>
            <a:r>
              <a:rPr lang="en-GB" altLang="zh-CN" sz="1200" b="0" i="0" u="none" strike="noStrike" kern="1200" dirty="0">
                <a:solidFill>
                  <a:schemeClr val="tx1"/>
                </a:solidFill>
                <a:effectLst/>
                <a:latin typeface="+mn-lt"/>
                <a:ea typeface="+mn-ea"/>
                <a:cs typeface="+mn-cs"/>
              </a:rPr>
              <a:t>HIT</a:t>
            </a:r>
            <a:r>
              <a:rPr lang="zh-CN" altLang="en-US" sz="1200" b="0" i="0" u="none" strike="noStrike" kern="1200" dirty="0">
                <a:solidFill>
                  <a:schemeClr val="tx1"/>
                </a:solidFill>
                <a:effectLst/>
                <a:latin typeface="+mn-lt"/>
                <a:ea typeface="+mn-ea"/>
                <a:cs typeface="+mn-cs"/>
              </a:rPr>
              <a:t>标记，不会进入</a:t>
            </a:r>
            <a:r>
              <a:rPr lang="en-GB" altLang="zh-CN" sz="1200" b="0" i="0" u="none" strike="noStrike" kern="1200" dirty="0" err="1">
                <a:solidFill>
                  <a:schemeClr val="tx1"/>
                </a:solidFill>
                <a:effectLst/>
                <a:latin typeface="+mn-lt"/>
                <a:ea typeface="+mn-ea"/>
                <a:cs typeface="+mn-cs"/>
              </a:rPr>
              <a:t>themis</a:t>
            </a:r>
            <a:r>
              <a:rPr lang="zh-CN" altLang="en-US" sz="1200" b="0" i="0" u="none" strike="noStrike" kern="1200" dirty="0">
                <a:solidFill>
                  <a:schemeClr val="tx1"/>
                </a:solidFill>
                <a:effectLst/>
                <a:latin typeface="+mn-lt"/>
                <a:ea typeface="+mn-ea"/>
                <a:cs typeface="+mn-cs"/>
              </a:rPr>
              <a:t>层，所以这部分的日志会有自己的</a:t>
            </a:r>
            <a:r>
              <a:rPr lang="en-GB" altLang="zh-CN" sz="1200" b="0" i="0" u="none" strike="noStrike" kern="1200" dirty="0" err="1">
                <a:solidFill>
                  <a:schemeClr val="tx1"/>
                </a:solidFill>
                <a:effectLst/>
                <a:latin typeface="+mn-lt"/>
                <a:ea typeface="+mn-ea"/>
                <a:cs typeface="+mn-cs"/>
              </a:rPr>
              <a:t>logmerge</a:t>
            </a:r>
            <a:r>
              <a:rPr lang="zh-CN" altLang="en-GB"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如果经过</a:t>
            </a:r>
            <a:r>
              <a:rPr lang="en-GB" altLang="zh-CN" sz="1200" b="0" i="0" u="none" strike="noStrike" kern="1200" dirty="0" err="1">
                <a:solidFill>
                  <a:schemeClr val="tx1"/>
                </a:solidFill>
                <a:effectLst/>
                <a:latin typeface="+mn-lt"/>
                <a:ea typeface="+mn-ea"/>
                <a:cs typeface="+mn-cs"/>
              </a:rPr>
              <a:t>dformat</a:t>
            </a:r>
            <a:r>
              <a:rPr lang="zh-CN" altLang="en-US" sz="1200" b="0" i="0" u="none" strike="noStrike" kern="1200" dirty="0">
                <a:solidFill>
                  <a:schemeClr val="tx1"/>
                </a:solidFill>
                <a:effectLst/>
                <a:latin typeface="+mn-lt"/>
                <a:ea typeface="+mn-ea"/>
                <a:cs typeface="+mn-cs"/>
              </a:rPr>
              <a:t>层的日志是</a:t>
            </a:r>
            <a:r>
              <a:rPr lang="en-GB" altLang="zh-CN" sz="1200" b="0" i="0" u="none" strike="noStrike" kern="1200" dirty="0">
                <a:solidFill>
                  <a:schemeClr val="tx1"/>
                </a:solidFill>
                <a:effectLst/>
                <a:latin typeface="+mn-lt"/>
                <a:ea typeface="+mn-ea"/>
                <a:cs typeface="+mn-cs"/>
              </a:rPr>
              <a:t>NOHIT,</a:t>
            </a:r>
            <a:r>
              <a:rPr lang="zh-CN" altLang="en-US" sz="1200" b="0" i="0" u="none" strike="noStrike" kern="1200" dirty="0">
                <a:solidFill>
                  <a:schemeClr val="tx1"/>
                </a:solidFill>
                <a:effectLst/>
                <a:latin typeface="+mn-lt"/>
                <a:ea typeface="+mn-ea"/>
                <a:cs typeface="+mn-cs"/>
              </a:rPr>
              <a:t>则会进入</a:t>
            </a:r>
            <a:r>
              <a:rPr lang="en-GB" altLang="zh-CN" sz="1200" b="0" i="0" u="none" strike="noStrike" kern="1200" dirty="0" err="1">
                <a:solidFill>
                  <a:schemeClr val="tx1"/>
                </a:solidFill>
                <a:effectLst/>
                <a:latin typeface="+mn-lt"/>
                <a:ea typeface="+mn-ea"/>
                <a:cs typeface="+mn-cs"/>
              </a:rPr>
              <a:t>themis</a:t>
            </a:r>
            <a:r>
              <a:rPr lang="zh-CN" altLang="en-US" sz="1200" b="0" i="0" u="none" strike="noStrike" kern="1200" dirty="0">
                <a:solidFill>
                  <a:schemeClr val="tx1"/>
                </a:solidFill>
                <a:effectLst/>
                <a:latin typeface="+mn-lt"/>
                <a:ea typeface="+mn-ea"/>
                <a:cs typeface="+mn-cs"/>
              </a:rPr>
              <a:t>层进行处理，如果在</a:t>
            </a:r>
            <a:r>
              <a:rPr lang="en-GB" altLang="zh-CN" sz="1200" b="0" i="0" u="none" strike="noStrike" kern="1200" dirty="0" err="1">
                <a:solidFill>
                  <a:schemeClr val="tx1"/>
                </a:solidFill>
                <a:effectLst/>
                <a:latin typeface="+mn-lt"/>
                <a:ea typeface="+mn-ea"/>
                <a:cs typeface="+mn-cs"/>
              </a:rPr>
              <a:t>themis</a:t>
            </a:r>
            <a:r>
              <a:rPr lang="zh-CN" altLang="en-US" sz="1200" b="0" i="0" u="none" strike="noStrike" kern="1200" dirty="0">
                <a:solidFill>
                  <a:schemeClr val="tx1"/>
                </a:solidFill>
                <a:effectLst/>
                <a:latin typeface="+mn-lt"/>
                <a:ea typeface="+mn-ea"/>
                <a:cs typeface="+mn-cs"/>
              </a:rPr>
              <a:t>层过滤，则在</a:t>
            </a:r>
            <a:r>
              <a:rPr lang="en-GB" altLang="zh-CN" sz="1200" b="0" i="0" u="none" strike="noStrike" kern="1200" dirty="0" err="1">
                <a:solidFill>
                  <a:schemeClr val="tx1"/>
                </a:solidFill>
                <a:effectLst/>
                <a:latin typeface="+mn-lt"/>
                <a:ea typeface="+mn-ea"/>
                <a:cs typeface="+mn-cs"/>
              </a:rPr>
              <a:t>themis</a:t>
            </a:r>
            <a:r>
              <a:rPr lang="zh-CN" altLang="en-US" sz="1200" b="0" i="0" u="none" strike="noStrike" kern="1200" dirty="0">
                <a:solidFill>
                  <a:schemeClr val="tx1"/>
                </a:solidFill>
                <a:effectLst/>
                <a:latin typeface="+mn-lt"/>
                <a:ea typeface="+mn-ea"/>
                <a:cs typeface="+mn-cs"/>
              </a:rPr>
              <a:t>的</a:t>
            </a:r>
            <a:r>
              <a:rPr lang="en-GB" altLang="zh-CN" sz="1200" b="0" i="0" u="none" strike="noStrike" kern="1200" dirty="0" err="1">
                <a:solidFill>
                  <a:schemeClr val="tx1"/>
                </a:solidFill>
                <a:effectLst/>
                <a:latin typeface="+mn-lt"/>
                <a:ea typeface="+mn-ea"/>
                <a:cs typeface="+mn-cs"/>
              </a:rPr>
              <a:t>logmerge</a:t>
            </a:r>
            <a:r>
              <a:rPr lang="en-GB" altLang="zh-CN" sz="1200" b="0" i="0" u="none" strike="noStrike" kern="1200" dirty="0">
                <a:solidFill>
                  <a:schemeClr val="tx1"/>
                </a:solidFill>
                <a:effectLst/>
                <a:latin typeface="+mn-lt"/>
                <a:ea typeface="+mn-ea"/>
                <a:cs typeface="+mn-cs"/>
              </a:rPr>
              <a:t> </a:t>
            </a:r>
            <a:r>
              <a:rPr lang="zh-CN" altLang="en-US" sz="1200" b="0" i="0" u="none" strike="noStrike" kern="1200" dirty="0">
                <a:solidFill>
                  <a:schemeClr val="tx1"/>
                </a:solidFill>
                <a:effectLst/>
                <a:latin typeface="+mn-lt"/>
                <a:ea typeface="+mn-ea"/>
                <a:cs typeface="+mn-cs"/>
              </a:rPr>
              <a:t>进行</a:t>
            </a:r>
            <a:r>
              <a:rPr lang="en-GB" altLang="zh-CN" sz="1200" b="0" i="0" u="none" strike="noStrike" kern="1200" dirty="0">
                <a:solidFill>
                  <a:schemeClr val="tx1"/>
                </a:solidFill>
                <a:effectLst/>
                <a:latin typeface="+mn-lt"/>
                <a:ea typeface="+mn-ea"/>
                <a:cs typeface="+mn-cs"/>
              </a:rPr>
              <a:t>HIT</a:t>
            </a:r>
            <a:r>
              <a:rPr lang="zh-CN" altLang="en-US" sz="1200" b="0" i="0" u="none" strike="noStrike" kern="1200" dirty="0">
                <a:solidFill>
                  <a:schemeClr val="tx1"/>
                </a:solidFill>
                <a:effectLst/>
                <a:latin typeface="+mn-lt"/>
                <a:ea typeface="+mn-ea"/>
                <a:cs typeface="+mn-cs"/>
              </a:rPr>
              <a:t>或者</a:t>
            </a:r>
            <a:r>
              <a:rPr lang="en-GB" altLang="zh-CN" sz="1200" b="0" i="0" u="none" strike="noStrike" kern="1200" dirty="0">
                <a:solidFill>
                  <a:schemeClr val="tx1"/>
                </a:solidFill>
                <a:effectLst/>
                <a:latin typeface="+mn-lt"/>
                <a:ea typeface="+mn-ea"/>
                <a:cs typeface="+mn-cs"/>
              </a:rPr>
              <a:t>NOHIT</a:t>
            </a:r>
            <a:r>
              <a:rPr lang="zh-CN" altLang="en-US" sz="1200" b="0" i="0" u="none" strike="noStrike" kern="1200" dirty="0">
                <a:solidFill>
                  <a:schemeClr val="tx1"/>
                </a:solidFill>
                <a:effectLst/>
                <a:latin typeface="+mn-lt"/>
                <a:ea typeface="+mn-ea"/>
                <a:cs typeface="+mn-cs"/>
              </a:rPr>
              <a:t>拼接。通过</a:t>
            </a:r>
            <a:r>
              <a:rPr lang="en-GB" altLang="zh-CN" sz="1200" b="0" i="0" u="none" strike="noStrike" kern="1200" dirty="0" err="1">
                <a:solidFill>
                  <a:schemeClr val="tx1"/>
                </a:solidFill>
                <a:effectLst/>
                <a:latin typeface="+mn-lt"/>
                <a:ea typeface="+mn-ea"/>
                <a:cs typeface="+mn-cs"/>
              </a:rPr>
              <a:t>policy_level</a:t>
            </a:r>
            <a:r>
              <a:rPr lang="en-GB" altLang="zh-CN" sz="1200" b="0" i="0" u="none" strike="noStrike" kern="1200" dirty="0">
                <a:solidFill>
                  <a:schemeClr val="tx1"/>
                </a:solidFill>
                <a:effectLst/>
                <a:latin typeface="+mn-lt"/>
                <a:ea typeface="+mn-ea"/>
                <a:cs typeface="+mn-cs"/>
              </a:rPr>
              <a:t> </a:t>
            </a:r>
            <a:r>
              <a:rPr lang="zh-CN" altLang="en-US" sz="1200" b="0" i="0" u="none" strike="noStrike" kern="1200" dirty="0">
                <a:solidFill>
                  <a:schemeClr val="tx1"/>
                </a:solidFill>
                <a:effectLst/>
                <a:latin typeface="+mn-lt"/>
                <a:ea typeface="+mn-ea"/>
                <a:cs typeface="+mn-cs"/>
              </a:rPr>
              <a:t>的字段判定是</a:t>
            </a:r>
            <a:r>
              <a:rPr lang="en-GB" altLang="zh-CN" sz="1200" b="0" i="0" u="none" strike="noStrike" kern="1200" dirty="0" err="1">
                <a:solidFill>
                  <a:schemeClr val="tx1"/>
                </a:solidFill>
                <a:effectLst/>
                <a:latin typeface="+mn-lt"/>
                <a:ea typeface="+mn-ea"/>
                <a:cs typeface="+mn-cs"/>
              </a:rPr>
              <a:t>dformat</a:t>
            </a:r>
            <a:r>
              <a:rPr lang="zh-CN" altLang="en-US" sz="1200" b="0" i="0" u="none" strike="noStrike" kern="1200" dirty="0">
                <a:solidFill>
                  <a:schemeClr val="tx1"/>
                </a:solidFill>
                <a:effectLst/>
                <a:latin typeface="+mn-lt"/>
                <a:ea typeface="+mn-ea"/>
                <a:cs typeface="+mn-cs"/>
              </a:rPr>
              <a:t>和</a:t>
            </a:r>
            <a:r>
              <a:rPr lang="en-GB" altLang="zh-CN" sz="1200" b="0" i="0" u="none" strike="noStrike" kern="1200" dirty="0" err="1">
                <a:solidFill>
                  <a:schemeClr val="tx1"/>
                </a:solidFill>
                <a:effectLst/>
                <a:latin typeface="+mn-lt"/>
                <a:ea typeface="+mn-ea"/>
                <a:cs typeface="+mn-cs"/>
              </a:rPr>
              <a:t>themis</a:t>
            </a:r>
            <a:r>
              <a:rPr lang="zh-CN" altLang="en-US" sz="1200" b="0" i="0" u="none" strike="noStrike" kern="1200" dirty="0">
                <a:solidFill>
                  <a:schemeClr val="tx1"/>
                </a:solidFill>
                <a:effectLst/>
                <a:latin typeface="+mn-lt"/>
                <a:ea typeface="+mn-ea"/>
                <a:cs typeface="+mn-cs"/>
              </a:rPr>
              <a:t>过滤的日志，当</a:t>
            </a:r>
            <a:r>
              <a:rPr lang="en-GB" altLang="zh-CN" sz="1200" b="0" i="0" u="none" strike="noStrike" kern="1200" dirty="0" err="1">
                <a:solidFill>
                  <a:schemeClr val="tx1"/>
                </a:solidFill>
                <a:effectLst/>
                <a:latin typeface="+mn-lt"/>
                <a:ea typeface="+mn-ea"/>
                <a:cs typeface="+mn-cs"/>
              </a:rPr>
              <a:t>policy_level</a:t>
            </a:r>
            <a:r>
              <a:rPr lang="zh-CN" altLang="en-US" sz="1200" b="0" i="0" u="none" strike="noStrike" kern="1200" dirty="0">
                <a:solidFill>
                  <a:schemeClr val="tx1"/>
                </a:solidFill>
                <a:effectLst/>
                <a:latin typeface="+mn-lt"/>
                <a:ea typeface="+mn-ea"/>
                <a:cs typeface="+mn-cs"/>
              </a:rPr>
              <a:t>为</a:t>
            </a:r>
            <a:r>
              <a:rPr lang="en-US" altLang="zh-CN" sz="1200" b="0" i="0" u="none" strike="noStrike" kern="1200" dirty="0">
                <a:solidFill>
                  <a:schemeClr val="tx1"/>
                </a:solidFill>
                <a:effectLst/>
                <a:latin typeface="+mn-lt"/>
                <a:ea typeface="+mn-ea"/>
                <a:cs typeface="+mn-cs"/>
              </a:rPr>
              <a:t>0</a:t>
            </a:r>
            <a:r>
              <a:rPr lang="zh-CN" altLang="en-US" sz="1200" b="0" i="0" u="none" strike="noStrike" kern="1200" dirty="0">
                <a:solidFill>
                  <a:schemeClr val="tx1"/>
                </a:solidFill>
                <a:effectLst/>
                <a:latin typeface="+mn-lt"/>
                <a:ea typeface="+mn-ea"/>
                <a:cs typeface="+mn-cs"/>
              </a:rPr>
              <a:t>时，日志为</a:t>
            </a:r>
            <a:r>
              <a:rPr lang="en-GB" altLang="zh-CN" sz="1200" b="0" i="0" u="none" strike="noStrike" kern="1200" dirty="0" err="1">
                <a:solidFill>
                  <a:schemeClr val="tx1"/>
                </a:solidFill>
                <a:effectLst/>
                <a:latin typeface="+mn-lt"/>
                <a:ea typeface="+mn-ea"/>
                <a:cs typeface="+mn-cs"/>
              </a:rPr>
              <a:t>dformat</a:t>
            </a:r>
            <a:r>
              <a:rPr lang="zh-CN" altLang="en-US" sz="1200" b="0" i="0" u="none" strike="noStrike" kern="1200" dirty="0">
                <a:solidFill>
                  <a:schemeClr val="tx1"/>
                </a:solidFill>
                <a:effectLst/>
                <a:latin typeface="+mn-lt"/>
                <a:ea typeface="+mn-ea"/>
                <a:cs typeface="+mn-cs"/>
              </a:rPr>
              <a:t>过滤日志。当</a:t>
            </a:r>
            <a:r>
              <a:rPr lang="en-GB" altLang="zh-CN" sz="1200" b="0" i="0" u="none" strike="noStrike" kern="1200" dirty="0" err="1">
                <a:solidFill>
                  <a:schemeClr val="tx1"/>
                </a:solidFill>
                <a:effectLst/>
                <a:latin typeface="+mn-lt"/>
                <a:ea typeface="+mn-ea"/>
                <a:cs typeface="+mn-cs"/>
              </a:rPr>
              <a:t>policy_level</a:t>
            </a:r>
            <a:r>
              <a:rPr lang="en-GB" altLang="zh-CN" sz="1200" b="0" i="0" u="none" strike="noStrike" kern="1200" dirty="0">
                <a:solidFill>
                  <a:schemeClr val="tx1"/>
                </a:solidFill>
                <a:effectLst/>
                <a:latin typeface="+mn-lt"/>
                <a:ea typeface="+mn-ea"/>
                <a:cs typeface="+mn-cs"/>
              </a:rPr>
              <a:t> </a:t>
            </a:r>
            <a:r>
              <a:rPr lang="zh-CN" altLang="en-US" sz="1200" b="0" i="0" u="none" strike="noStrike" kern="1200" dirty="0">
                <a:solidFill>
                  <a:schemeClr val="tx1"/>
                </a:solidFill>
                <a:effectLst/>
                <a:latin typeface="+mn-lt"/>
                <a:ea typeface="+mn-ea"/>
                <a:cs typeface="+mn-cs"/>
              </a:rPr>
              <a:t>不为</a:t>
            </a:r>
            <a:r>
              <a:rPr lang="en-US" altLang="zh-CN" sz="1200" b="0" i="0" u="none" strike="noStrike" kern="1200" dirty="0">
                <a:solidFill>
                  <a:schemeClr val="tx1"/>
                </a:solidFill>
                <a:effectLst/>
                <a:latin typeface="+mn-lt"/>
                <a:ea typeface="+mn-ea"/>
                <a:cs typeface="+mn-cs"/>
              </a:rPr>
              <a:t>0</a:t>
            </a:r>
            <a:r>
              <a:rPr lang="zh-CN" altLang="en-US" sz="1200" b="0" i="0" u="none" strike="noStrike" kern="1200" dirty="0">
                <a:solidFill>
                  <a:schemeClr val="tx1"/>
                </a:solidFill>
                <a:effectLst/>
                <a:latin typeface="+mn-lt"/>
                <a:ea typeface="+mn-ea"/>
                <a:cs typeface="+mn-cs"/>
              </a:rPr>
              <a:t>时，日志为</a:t>
            </a:r>
            <a:r>
              <a:rPr lang="en-GB" altLang="zh-CN" sz="1200" b="0" i="0" u="none" strike="noStrike" kern="1200" dirty="0" err="1">
                <a:solidFill>
                  <a:schemeClr val="tx1"/>
                </a:solidFill>
                <a:effectLst/>
                <a:latin typeface="+mn-lt"/>
                <a:ea typeface="+mn-ea"/>
                <a:cs typeface="+mn-cs"/>
              </a:rPr>
              <a:t>themis</a:t>
            </a:r>
            <a:r>
              <a:rPr lang="zh-CN" altLang="en-US" sz="1200" b="0" i="0" u="none" strike="noStrike" kern="1200" dirty="0">
                <a:solidFill>
                  <a:schemeClr val="tx1"/>
                </a:solidFill>
                <a:effectLst/>
                <a:latin typeface="+mn-lt"/>
                <a:ea typeface="+mn-ea"/>
                <a:cs typeface="+mn-cs"/>
              </a:rPr>
              <a:t>过滤日志，简单策略通过</a:t>
            </a:r>
            <a:r>
              <a:rPr lang="en-GB" altLang="zh-CN" sz="1200" b="0" i="0" u="none" strike="noStrike" kern="1200" dirty="0" err="1">
                <a:solidFill>
                  <a:schemeClr val="tx1"/>
                </a:solidFill>
                <a:effectLst/>
                <a:latin typeface="+mn-lt"/>
                <a:ea typeface="+mn-ea"/>
                <a:cs typeface="+mn-cs"/>
              </a:rPr>
              <a:t>policy_id</a:t>
            </a:r>
            <a:r>
              <a:rPr lang="zh-CN" altLang="en-US" sz="1200" b="0" i="0" u="none" strike="noStrike" kern="1200" dirty="0">
                <a:solidFill>
                  <a:schemeClr val="tx1"/>
                </a:solidFill>
                <a:effectLst/>
                <a:latin typeface="+mn-lt"/>
                <a:ea typeface="+mn-ea"/>
                <a:cs typeface="+mn-cs"/>
              </a:rPr>
              <a:t>的最高识别位来判断，当该位置数值是</a:t>
            </a:r>
            <a:r>
              <a:rPr lang="en-US" altLang="zh-CN" sz="1200" b="0" i="0" u="none" strike="noStrike" kern="12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时，即为简单策略。当然，在</a:t>
            </a:r>
            <a:r>
              <a:rPr lang="en-GB" altLang="zh-CN" sz="1200" b="0" i="0" u="none" strike="noStrike" kern="1200" dirty="0" err="1">
                <a:solidFill>
                  <a:schemeClr val="tx1"/>
                </a:solidFill>
                <a:effectLst/>
                <a:latin typeface="+mn-lt"/>
                <a:ea typeface="+mn-ea"/>
                <a:cs typeface="+mn-cs"/>
              </a:rPr>
              <a:t>themis</a:t>
            </a:r>
            <a:r>
              <a:rPr lang="zh-CN" altLang="en-US" sz="1200" b="0" i="0" u="none" strike="noStrike" kern="1200" dirty="0">
                <a:solidFill>
                  <a:schemeClr val="tx1"/>
                </a:solidFill>
                <a:effectLst/>
                <a:latin typeface="+mn-lt"/>
                <a:ea typeface="+mn-ea"/>
                <a:cs typeface="+mn-cs"/>
              </a:rPr>
              <a:t>中也存在一些简单策略，如开头为</a:t>
            </a:r>
            <a:r>
              <a:rPr lang="en-US" altLang="zh-CN" sz="1200" b="0" i="0" u="none" strike="noStrike" kern="1200" dirty="0">
                <a:solidFill>
                  <a:schemeClr val="tx1"/>
                </a:solidFill>
                <a:effectLst/>
                <a:latin typeface="+mn-lt"/>
                <a:ea typeface="+mn-ea"/>
                <a:cs typeface="+mn-cs"/>
              </a:rPr>
              <a:t>3</a:t>
            </a:r>
            <a:r>
              <a:rPr lang="zh-CN" altLang="en-US" sz="1200" b="0" i="0" u="none" strike="noStrike" kern="1200" dirty="0">
                <a:solidFill>
                  <a:schemeClr val="tx1"/>
                </a:solidFill>
                <a:effectLst/>
                <a:latin typeface="+mn-lt"/>
                <a:ea typeface="+mn-ea"/>
                <a:cs typeface="+mn-cs"/>
              </a:rPr>
              <a:t>的一些规则类策略，我们也认为是简单策略</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8</a:t>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sz="1200" b="0" i="0" u="none" strike="noStrike" kern="1200" dirty="0">
                <a:solidFill>
                  <a:schemeClr val="tx1"/>
                </a:solidFill>
                <a:effectLst/>
                <a:latin typeface="+mn-lt"/>
                <a:ea typeface="+mn-ea"/>
                <a:cs typeface="+mn-cs"/>
              </a:rPr>
              <a:t>4.record.conf</a:t>
            </a:r>
            <a:r>
              <a:rPr lang="zh-CN" altLang="en-US" sz="1200" b="0" i="0" u="none" strike="noStrike" kern="1200" dirty="0">
                <a:solidFill>
                  <a:schemeClr val="tx1"/>
                </a:solidFill>
                <a:effectLst/>
                <a:latin typeface="+mn-lt"/>
                <a:ea typeface="+mn-ea"/>
                <a:cs typeface="+mn-cs"/>
              </a:rPr>
              <a:t>是在处理空间之前提取的，</a:t>
            </a:r>
            <a:r>
              <a:rPr lang="en-GB" altLang="zh-CN" sz="1200" b="0" i="0" u="none" strike="noStrike" kern="1200" dirty="0">
                <a:solidFill>
                  <a:schemeClr val="tx1"/>
                </a:solidFill>
                <a:effectLst/>
                <a:latin typeface="+mn-lt"/>
                <a:ea typeface="+mn-ea"/>
                <a:cs typeface="+mn-cs"/>
              </a:rPr>
              <a:t>log-parser-lib</a:t>
            </a:r>
            <a:r>
              <a:rPr lang="zh-CN" altLang="en-US" sz="1200" b="0" i="0" u="none" strike="noStrike" kern="1200" dirty="0">
                <a:solidFill>
                  <a:schemeClr val="tx1"/>
                </a:solidFill>
                <a:effectLst/>
                <a:latin typeface="+mn-lt"/>
                <a:ea typeface="+mn-ea"/>
                <a:cs typeface="+mn-cs"/>
              </a:rPr>
              <a:t>提取基础字段，当存在一些字段取不到时，就需要在</a:t>
            </a:r>
            <a:r>
              <a:rPr lang="en-GB" altLang="zh-CN" sz="1200" b="0" i="0" u="none" strike="noStrike" kern="1200" dirty="0" err="1">
                <a:solidFill>
                  <a:schemeClr val="tx1"/>
                </a:solidFill>
                <a:effectLst/>
                <a:latin typeface="+mn-lt"/>
                <a:ea typeface="+mn-ea"/>
                <a:cs typeface="+mn-cs"/>
              </a:rPr>
              <a:t>record.conf</a:t>
            </a:r>
            <a:r>
              <a:rPr lang="zh-CN" altLang="en-US" sz="1200" b="0" i="0" u="none" strike="noStrike" kern="1200" dirty="0">
                <a:solidFill>
                  <a:schemeClr val="tx1"/>
                </a:solidFill>
                <a:effectLst/>
                <a:latin typeface="+mn-lt"/>
                <a:ea typeface="+mn-ea"/>
                <a:cs typeface="+mn-cs"/>
              </a:rPr>
              <a:t>中去查看，通过后处理函数去获取。在各个</a:t>
            </a:r>
            <a:r>
              <a:rPr lang="en-GB" altLang="zh-CN" sz="1200" b="0" i="0" u="none" strike="noStrike" kern="1200" dirty="0">
                <a:solidFill>
                  <a:schemeClr val="tx1"/>
                </a:solidFill>
                <a:effectLst/>
                <a:latin typeface="+mn-lt"/>
                <a:ea typeface="+mn-ea"/>
                <a:cs typeface="+mn-cs"/>
              </a:rPr>
              <a:t>proto</a:t>
            </a:r>
            <a:r>
              <a:rPr lang="zh-CN" altLang="en-US" sz="1200" b="0" i="0" u="none" strike="noStrike" kern="1200" dirty="0">
                <a:solidFill>
                  <a:schemeClr val="tx1"/>
                </a:solidFill>
                <a:effectLst/>
                <a:latin typeface="+mn-lt"/>
                <a:ea typeface="+mn-ea"/>
                <a:cs typeface="+mn-cs"/>
              </a:rPr>
              <a:t>文件中给出了字段的含义和定义类型。</a:t>
            </a:r>
            <a:endParaRPr lang="en-US" altLang="zh-CN" sz="1200" b="0" i="0" u="none" strike="noStrike" kern="1200" dirty="0">
              <a:solidFill>
                <a:schemeClr val="tx1"/>
              </a:solidFill>
              <a:effectLst/>
              <a:latin typeface="+mn-lt"/>
              <a:ea typeface="+mn-ea"/>
              <a:cs typeface="+mn-cs"/>
            </a:endParaRPr>
          </a:p>
          <a:p>
            <a:endParaRPr lang="en-US" altLang="zh-CN" sz="1200" b="0" i="0" u="none" strike="noStrike" kern="1200" dirty="0">
              <a:solidFill>
                <a:schemeClr val="tx1"/>
              </a:solidFill>
              <a:effectLst/>
              <a:latin typeface="+mn-lt"/>
              <a:ea typeface="+mn-ea"/>
              <a:cs typeface="+mn-cs"/>
            </a:endParaRPr>
          </a:p>
          <a:p>
            <a:endParaRPr lang="en-US" altLang="zh-CN" sz="1200" b="0" i="0" u="none" strike="noStrike" kern="1200" dirty="0">
              <a:solidFill>
                <a:schemeClr val="tx1"/>
              </a:solidFill>
              <a:effectLst/>
              <a:latin typeface="+mn-lt"/>
              <a:ea typeface="+mn-ea"/>
              <a:cs typeface="+mn-cs"/>
            </a:endParaRPr>
          </a:p>
          <a:p>
            <a:r>
              <a:rPr lang="zh-CN" altLang="en-US" sz="1200" b="0" i="0" u="none" strike="noStrike" kern="1200" dirty="0">
                <a:solidFill>
                  <a:schemeClr val="tx1"/>
                </a:solidFill>
                <a:effectLst/>
                <a:latin typeface="+mn-lt"/>
                <a:ea typeface="+mn-ea"/>
                <a:cs typeface="+mn-cs"/>
              </a:rPr>
              <a:t>目前</a:t>
            </a:r>
            <a:r>
              <a:rPr lang="en-GB" altLang="zh-CN" sz="1200" b="0" i="0" u="none" strike="noStrike" kern="1200" dirty="0" err="1">
                <a:solidFill>
                  <a:schemeClr val="tx1"/>
                </a:solidFill>
                <a:effectLst/>
                <a:latin typeface="+mn-lt"/>
                <a:ea typeface="+mn-ea"/>
                <a:cs typeface="+mn-cs"/>
              </a:rPr>
              <a:t>dformat</a:t>
            </a:r>
            <a:r>
              <a:rPr lang="zh-CN" altLang="en-US" sz="1200" b="0" i="0" u="none" strike="noStrike" kern="1200" dirty="0">
                <a:solidFill>
                  <a:schemeClr val="tx1"/>
                </a:solidFill>
                <a:effectLst/>
                <a:latin typeface="+mn-lt"/>
                <a:ea typeface="+mn-ea"/>
                <a:cs typeface="+mn-cs"/>
              </a:rPr>
              <a:t>工作模式是单条日志串行处理，主要表现：（</a:t>
            </a:r>
            <a:r>
              <a:rPr lang="en-US" altLang="zh-CN" sz="1200" b="0" i="0" u="none" strike="noStrike" kern="12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）日志之间串行处理，上一条日志处理完成并成功刷盘后，才会处理下一条；（</a:t>
            </a:r>
            <a:r>
              <a:rPr lang="en-US" altLang="zh-CN" sz="1200" b="0" i="0" u="none" strike="noStrike" kern="1200" dirty="0">
                <a:solidFill>
                  <a:schemeClr val="tx1"/>
                </a:solidFill>
                <a:effectLst/>
                <a:latin typeface="+mn-lt"/>
                <a:ea typeface="+mn-ea"/>
                <a:cs typeface="+mn-cs"/>
              </a:rPr>
              <a:t>2</a:t>
            </a:r>
            <a:r>
              <a:rPr lang="zh-CN" altLang="en-US" sz="1200" b="0" i="0" u="none" strike="noStrike" kern="1200" dirty="0">
                <a:solidFill>
                  <a:schemeClr val="tx1"/>
                </a:solidFill>
                <a:effectLst/>
                <a:latin typeface="+mn-lt"/>
                <a:ea typeface="+mn-ea"/>
                <a:cs typeface="+mn-cs"/>
              </a:rPr>
              <a:t>）模块之间串行工作，日志处理流程主要包括，日志读取，字段抽取，策略过滤和日志输出，这四个过程是严格串行的；（</a:t>
            </a:r>
            <a:r>
              <a:rPr lang="en-US" altLang="zh-CN" sz="1200" b="0" i="0" u="none" strike="noStrike" kern="1200" dirty="0">
                <a:solidFill>
                  <a:schemeClr val="tx1"/>
                </a:solidFill>
                <a:effectLst/>
                <a:latin typeface="+mn-lt"/>
                <a:ea typeface="+mn-ea"/>
                <a:cs typeface="+mn-cs"/>
              </a:rPr>
              <a:t>3</a:t>
            </a:r>
            <a:r>
              <a:rPr lang="zh-CN" altLang="en-US" sz="1200" b="0" i="0" u="none" strike="noStrike" kern="1200" dirty="0">
                <a:solidFill>
                  <a:schemeClr val="tx1"/>
                </a:solidFill>
                <a:effectLst/>
                <a:latin typeface="+mn-lt"/>
                <a:ea typeface="+mn-ea"/>
                <a:cs typeface="+mn-cs"/>
              </a:rPr>
              <a:t>）模块内部串行工作，字段抽取阶段，多字段抽取过程串行；策略过滤阶段，多特征抽取和累积过程串行。</a:t>
            </a:r>
            <a:endParaRPr lang="zh-CN" altLang="en-GB" sz="1200" b="0" i="0" u="none" strike="noStrike" kern="1200" dirty="0">
              <a:solidFill>
                <a:schemeClr val="tx1"/>
              </a:solidFill>
              <a:effectLst/>
              <a:latin typeface="+mn-lt"/>
              <a:ea typeface="+mn-ea"/>
              <a:cs typeface="+mn-cs"/>
            </a:endParaRPr>
          </a:p>
          <a:p>
            <a:br>
              <a:rPr lang="en-GB" altLang="zh-CN" dirty="0"/>
            </a:b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9</a:t>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在对特征进行抽取时，定义了维度名，维度层级，抽取函数，后处理函数，以及默认值信息，用于初始化。</a:t>
            </a:r>
          </a:p>
          <a:p>
            <a:r>
              <a:rPr lang="zh-CN" altLang="en-US" sz="1200" b="0" i="0" u="none" strike="noStrike" kern="1200" dirty="0">
                <a:solidFill>
                  <a:schemeClr val="tx1"/>
                </a:solidFill>
                <a:effectLst/>
                <a:latin typeface="+mn-lt"/>
                <a:ea typeface="+mn-ea"/>
                <a:cs typeface="+mn-cs"/>
              </a:rPr>
              <a:t>   </a:t>
            </a:r>
            <a:br>
              <a:rPr lang="en-GB" altLang="zh-CN" dirty="0"/>
            </a:b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10</a:t>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对于</a:t>
            </a:r>
            <a:r>
              <a:rPr lang="en-GB" altLang="zh-CN" sz="1200" b="0" i="0" u="none" strike="noStrike" kern="1200" dirty="0" err="1">
                <a:solidFill>
                  <a:schemeClr val="tx1"/>
                </a:solidFill>
                <a:effectLst/>
                <a:latin typeface="+mn-lt"/>
                <a:ea typeface="+mn-ea"/>
                <a:cs typeface="+mn-cs"/>
              </a:rPr>
              <a:t>is_wireless</a:t>
            </a:r>
            <a:r>
              <a:rPr lang="zh-CN" altLang="en-US" sz="1200" b="0" i="0" u="none" strike="noStrike" kern="1200" dirty="0">
                <a:solidFill>
                  <a:schemeClr val="tx1"/>
                </a:solidFill>
                <a:effectLst/>
                <a:latin typeface="+mn-lt"/>
                <a:ea typeface="+mn-ea"/>
                <a:cs typeface="+mn-cs"/>
              </a:rPr>
              <a:t>这个字段，先看</a:t>
            </a:r>
            <a:r>
              <a:rPr lang="en-GB" altLang="zh-CN" sz="1200" b="0" i="0" u="none" strike="noStrike" kern="1200" dirty="0">
                <a:solidFill>
                  <a:schemeClr val="tx1"/>
                </a:solidFill>
                <a:effectLst/>
                <a:latin typeface="+mn-lt"/>
                <a:ea typeface="+mn-ea"/>
                <a:cs typeface="+mn-cs"/>
              </a:rPr>
              <a:t>K</a:t>
            </a:r>
            <a:r>
              <a:rPr lang="zh-CN" altLang="en-US" sz="1200" b="0" i="0" u="none" strike="noStrike" kern="1200" dirty="0">
                <a:solidFill>
                  <a:schemeClr val="tx1"/>
                </a:solidFill>
                <a:effectLst/>
                <a:latin typeface="+mn-lt"/>
                <a:ea typeface="+mn-ea"/>
                <a:cs typeface="+mn-cs"/>
              </a:rPr>
              <a:t>域是否存</a:t>
            </a:r>
            <a:r>
              <a:rPr lang="en-US" altLang="zh-CN" sz="1200" b="0" i="0" u="none" strike="noStrike" kern="1200" dirty="0">
                <a:solidFill>
                  <a:schemeClr val="tx1"/>
                </a:solidFill>
                <a:effectLst/>
                <a:latin typeface="+mn-lt"/>
                <a:ea typeface="+mn-ea"/>
                <a:cs typeface="+mn-cs"/>
              </a:rPr>
              <a:t>r</a:t>
            </a:r>
            <a:r>
              <a:rPr lang="en-GB" altLang="zh-CN" sz="1200" b="0" i="0" u="none" strike="noStrike" kern="1200" dirty="0" err="1">
                <a:solidFill>
                  <a:schemeClr val="tx1"/>
                </a:solidFill>
                <a:effectLst/>
                <a:latin typeface="+mn-lt"/>
                <a:ea typeface="+mn-ea"/>
                <a:cs typeface="+mn-cs"/>
              </a:rPr>
              <a:t>ecord.conf</a:t>
            </a:r>
            <a:r>
              <a:rPr lang="zh-CN" altLang="en-US" sz="1200" b="0" i="0" u="none" strike="noStrike" kern="1200" dirty="0">
                <a:solidFill>
                  <a:schemeClr val="tx1"/>
                </a:solidFill>
                <a:effectLst/>
                <a:latin typeface="+mn-lt"/>
                <a:ea typeface="+mn-ea"/>
                <a:cs typeface="+mn-cs"/>
              </a:rPr>
              <a:t>是在处理空间之前提取的，</a:t>
            </a:r>
            <a:r>
              <a:rPr lang="en-GB" altLang="zh-CN" sz="1200" b="0" i="0" u="none" strike="noStrike" kern="1200" dirty="0">
                <a:solidFill>
                  <a:schemeClr val="tx1"/>
                </a:solidFill>
                <a:effectLst/>
                <a:latin typeface="+mn-lt"/>
                <a:ea typeface="+mn-ea"/>
                <a:cs typeface="+mn-cs"/>
              </a:rPr>
              <a:t>log-parser-lib</a:t>
            </a:r>
            <a:r>
              <a:rPr lang="zh-CN" altLang="en-US" sz="1200" b="0" i="0" u="none" strike="noStrike" kern="1200" dirty="0">
                <a:solidFill>
                  <a:schemeClr val="tx1"/>
                </a:solidFill>
                <a:effectLst/>
                <a:latin typeface="+mn-lt"/>
                <a:ea typeface="+mn-ea"/>
                <a:cs typeface="+mn-cs"/>
              </a:rPr>
              <a:t>提取基础字段，当存在一些字段取不到时，就需要在</a:t>
            </a:r>
            <a:r>
              <a:rPr lang="en-GB" altLang="zh-CN" sz="1200" b="0" i="0" u="none" strike="noStrike" kern="1200" dirty="0" err="1">
                <a:solidFill>
                  <a:schemeClr val="tx1"/>
                </a:solidFill>
                <a:effectLst/>
                <a:latin typeface="+mn-lt"/>
                <a:ea typeface="+mn-ea"/>
                <a:cs typeface="+mn-cs"/>
              </a:rPr>
              <a:t>record.conf</a:t>
            </a:r>
            <a:r>
              <a:rPr lang="zh-CN" altLang="en-US" sz="1200" b="0" i="0" u="none" strike="noStrike" kern="1200" dirty="0">
                <a:solidFill>
                  <a:schemeClr val="tx1"/>
                </a:solidFill>
                <a:effectLst/>
                <a:latin typeface="+mn-lt"/>
                <a:ea typeface="+mn-ea"/>
                <a:cs typeface="+mn-cs"/>
              </a:rPr>
              <a:t>中去查看，通过后处理函数去获取。在各个</a:t>
            </a:r>
            <a:r>
              <a:rPr lang="en-GB" altLang="zh-CN" sz="1200" b="0" i="0" u="none" strike="noStrike" kern="1200" dirty="0">
                <a:solidFill>
                  <a:schemeClr val="tx1"/>
                </a:solidFill>
                <a:effectLst/>
                <a:latin typeface="+mn-lt"/>
                <a:ea typeface="+mn-ea"/>
                <a:cs typeface="+mn-cs"/>
              </a:rPr>
              <a:t>proto</a:t>
            </a:r>
            <a:r>
              <a:rPr lang="zh-CN" altLang="en-US" sz="1200" b="0" i="0" u="none" strike="noStrike" kern="1200" dirty="0">
                <a:solidFill>
                  <a:schemeClr val="tx1"/>
                </a:solidFill>
                <a:effectLst/>
                <a:latin typeface="+mn-lt"/>
                <a:ea typeface="+mn-ea"/>
                <a:cs typeface="+mn-cs"/>
              </a:rPr>
              <a:t>文件中给出了字段的含义和定义类型。在</a:t>
            </a:r>
            <a:r>
              <a:rPr lang="en-GB" altLang="zh-CN" sz="1200" b="0" i="0" u="none" strike="noStrike" kern="1200" dirty="0" err="1">
                <a:solidFill>
                  <a:schemeClr val="tx1"/>
                </a:solidFill>
                <a:effectLst/>
                <a:latin typeface="+mn-lt"/>
                <a:ea typeface="+mn-ea"/>
                <a:cs typeface="+mn-cs"/>
              </a:rPr>
              <a:t>is_wireless</a:t>
            </a:r>
            <a:r>
              <a:rPr lang="en-GB" altLang="zh-CN" sz="1200" b="0" i="0" u="none" strike="noStrike" kern="1200" dirty="0">
                <a:solidFill>
                  <a:schemeClr val="tx1"/>
                </a:solidFill>
                <a:effectLst/>
                <a:latin typeface="+mn-lt"/>
                <a:ea typeface="+mn-ea"/>
                <a:cs typeface="+mn-cs"/>
              </a:rPr>
              <a:t> </a:t>
            </a:r>
            <a:r>
              <a:rPr lang="zh-CN" altLang="en-GB"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若不存在，再看</a:t>
            </a:r>
            <a:r>
              <a:rPr lang="en-GB" altLang="zh-CN" sz="1200" b="0" i="0" u="none" strike="noStrike" kern="1200" dirty="0" err="1">
                <a:solidFill>
                  <a:schemeClr val="tx1"/>
                </a:solidFill>
                <a:effectLst/>
                <a:latin typeface="+mn-lt"/>
                <a:ea typeface="+mn-ea"/>
                <a:cs typeface="+mn-cs"/>
              </a:rPr>
              <a:t>request_host</a:t>
            </a:r>
            <a:r>
              <a:rPr lang="zh-CN" altLang="en-US" sz="1200" b="0" i="0" u="none" strike="noStrike" kern="1200" dirty="0">
                <a:solidFill>
                  <a:schemeClr val="tx1"/>
                </a:solidFill>
                <a:effectLst/>
                <a:latin typeface="+mn-lt"/>
                <a:ea typeface="+mn-ea"/>
                <a:cs typeface="+mn-cs"/>
              </a:rPr>
              <a:t>前面域名，如果为 </a:t>
            </a:r>
            <a:r>
              <a:rPr lang="en-GB" altLang="zh-CN" sz="1200" b="0" i="0" u="none" strike="noStrike" kern="1200" dirty="0">
                <a:solidFill>
                  <a:schemeClr val="tx1"/>
                </a:solidFill>
                <a:effectLst/>
                <a:latin typeface="+mn-lt"/>
                <a:ea typeface="+mn-ea"/>
                <a:cs typeface="+mn-cs"/>
                <a:hlinkClick r:id="rId3"/>
              </a:rPr>
              <a:t>m.baidu.com</a:t>
            </a:r>
            <a:r>
              <a:rPr lang="en-GB" altLang="zh-CN" sz="1200" b="0" i="0" u="none" strike="noStrike" kern="1200" dirty="0">
                <a:solidFill>
                  <a:schemeClr val="tx1"/>
                </a:solidFill>
                <a:effectLst/>
                <a:latin typeface="+mn-lt"/>
                <a:ea typeface="+mn-ea"/>
                <a:cs typeface="+mn-cs"/>
              </a:rPr>
              <a:t> </a:t>
            </a:r>
            <a:r>
              <a:rPr lang="zh-CN" altLang="en-GB"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则为</a:t>
            </a:r>
            <a:r>
              <a:rPr lang="en-GB" altLang="zh-CN" sz="1200" b="0" i="0" u="none" strike="noStrike" kern="1200" dirty="0">
                <a:solidFill>
                  <a:schemeClr val="tx1"/>
                </a:solidFill>
                <a:effectLst/>
                <a:latin typeface="+mn-lt"/>
                <a:ea typeface="+mn-ea"/>
                <a:cs typeface="+mn-cs"/>
              </a:rPr>
              <a:t>wise</a:t>
            </a:r>
            <a:r>
              <a:rPr lang="zh-CN" altLang="en-GB"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若不是，则为</a:t>
            </a:r>
            <a:r>
              <a:rPr lang="en-GB" altLang="zh-CN" sz="1200" b="0" i="0" u="none" strike="noStrike" kern="1200" dirty="0">
                <a:solidFill>
                  <a:schemeClr val="tx1"/>
                </a:solidFill>
                <a:effectLst/>
                <a:latin typeface="+mn-lt"/>
                <a:ea typeface="+mn-ea"/>
                <a:cs typeface="+mn-cs"/>
              </a:rPr>
              <a:t>PC </a:t>
            </a:r>
            <a:r>
              <a:rPr lang="zh-CN" altLang="en-GB" sz="1200" b="0" i="0" u="none" strike="noStrike" kern="1200" dirty="0">
                <a:solidFill>
                  <a:schemeClr val="tx1"/>
                </a:solidFill>
                <a:effectLst/>
                <a:latin typeface="+mn-lt"/>
                <a:ea typeface="+mn-ea"/>
                <a:cs typeface="+mn-cs"/>
              </a:rPr>
              <a:t>。</a:t>
            </a:r>
            <a:endParaRPr lang="en-US" altLang="zh-CN" sz="1200" b="0" i="0" u="none" strike="noStrike" kern="1200" dirty="0">
              <a:solidFill>
                <a:schemeClr val="tx1"/>
              </a:solidFill>
              <a:effectLst/>
              <a:latin typeface="+mn-lt"/>
              <a:ea typeface="+mn-ea"/>
              <a:cs typeface="+mn-cs"/>
            </a:endParaRPr>
          </a:p>
          <a:p>
            <a:endParaRPr kumimoji="1" lang="en-US" altLang="zh-CN" sz="1200" b="0" i="0" u="none" strike="noStrike" kern="1200" dirty="0">
              <a:solidFill>
                <a:schemeClr val="tx1"/>
              </a:solidFill>
              <a:effectLst/>
              <a:latin typeface="+mn-lt"/>
              <a:ea typeface="+mn-ea"/>
              <a:cs typeface="+mn-cs"/>
            </a:endParaRPr>
          </a:p>
          <a:p>
            <a:r>
              <a:rPr kumimoji="1" lang="en-US" altLang="zh-CN" sz="1200" b="0" i="0" u="none" strike="noStrike" kern="1200" dirty="0">
                <a:solidFill>
                  <a:schemeClr val="tx1"/>
                </a:solidFill>
                <a:effectLst/>
                <a:latin typeface="+mn-lt"/>
                <a:ea typeface="+mn-ea"/>
                <a:cs typeface="+mn-cs"/>
              </a:rPr>
              <a:t>Policy</a:t>
            </a:r>
            <a:r>
              <a:rPr kumimoji="1" lang="zh-CN" altLang="en-US" sz="1200" b="0" i="0" u="none" strike="noStrike" kern="1200" dirty="0">
                <a:solidFill>
                  <a:schemeClr val="tx1"/>
                </a:solidFill>
                <a:effectLst/>
                <a:latin typeface="+mn-lt"/>
                <a:ea typeface="+mn-ea"/>
                <a:cs typeface="+mn-cs"/>
              </a:rPr>
              <a:t> </a:t>
            </a:r>
            <a:r>
              <a:rPr kumimoji="1" lang="en-US" altLang="zh-CN" sz="1200" b="0" i="0" u="none" strike="noStrike" kern="1200" dirty="0">
                <a:solidFill>
                  <a:schemeClr val="tx1"/>
                </a:solidFill>
                <a:effectLst/>
                <a:latin typeface="+mn-lt"/>
                <a:ea typeface="+mn-ea"/>
                <a:cs typeface="+mn-cs"/>
              </a:rPr>
              <a:t>conf</a:t>
            </a:r>
            <a:r>
              <a:rPr kumimoji="1" lang="zh-CN" altLang="en-US" sz="1200" b="0" i="0" u="none" strike="noStrike" kern="1200" dirty="0">
                <a:solidFill>
                  <a:schemeClr val="tx1"/>
                </a:solidFill>
                <a:effectLst/>
                <a:latin typeface="+mn-lt"/>
                <a:ea typeface="+mn-ea"/>
                <a:cs typeface="+mn-cs"/>
              </a:rPr>
              <a:t> 中</a:t>
            </a:r>
            <a:r>
              <a:rPr kumimoji="1" lang="en-US" altLang="zh-CN" sz="1200" b="0" i="0" u="none" strike="noStrike" kern="1200" dirty="0">
                <a:solidFill>
                  <a:schemeClr val="tx1"/>
                </a:solidFill>
                <a:effectLst/>
                <a:latin typeface="+mn-lt"/>
                <a:ea typeface="+mn-ea"/>
                <a:cs typeface="+mn-cs"/>
              </a:rPr>
              <a:t>#</a:t>
            </a:r>
            <a:r>
              <a:rPr kumimoji="1" lang="zh-CN" altLang="en-US" sz="1200" b="0" i="0" u="none" strike="noStrike" kern="1200" dirty="0">
                <a:solidFill>
                  <a:schemeClr val="tx1"/>
                </a:solidFill>
                <a:effectLst/>
                <a:latin typeface="+mn-lt"/>
                <a:ea typeface="+mn-ea"/>
                <a:cs typeface="+mn-cs"/>
              </a:rPr>
              <a:t>后面数字含义：</a:t>
            </a:r>
            <a:r>
              <a:rPr lang="zh-CN" altLang="en-US" sz="1200" b="0" i="0" u="none" strike="noStrike" kern="1200" dirty="0">
                <a:solidFill>
                  <a:schemeClr val="tx1"/>
                </a:solidFill>
                <a:effectLst/>
                <a:latin typeface="+mn-lt"/>
                <a:ea typeface="+mn-ea"/>
                <a:cs typeface="+mn-cs"/>
              </a:rPr>
              <a:t>最后的</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后面的值代表概率（置信度），意思是对方这条策略命中后，为了防止误过的太多，会以这个概率值和随机生成的概率阈值比较，随机生成的阈值大于配置的阈值不会被过滤。</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11</a:t>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12</a:t>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defRPr/>
            </a:pPr>
            <a:r>
              <a:rPr kumimoji="1" lang="en-US" altLang="zh-CN" sz="1200" dirty="0">
                <a:highlight>
                  <a:srgbClr val="FFFF00"/>
                </a:highlight>
              </a:rPr>
              <a:t>View</a:t>
            </a:r>
            <a:r>
              <a:rPr kumimoji="1" lang="zh-CN" altLang="en-US" sz="1200" dirty="0">
                <a:highlight>
                  <a:srgbClr val="FFFF00"/>
                </a:highlight>
              </a:rPr>
              <a:t>：处理空间中的</a:t>
            </a:r>
            <a:r>
              <a:rPr kumimoji="1" lang="en-US" altLang="zh-CN" sz="1200" dirty="0">
                <a:highlight>
                  <a:srgbClr val="FFFF00"/>
                </a:highlight>
              </a:rPr>
              <a:t>view </a:t>
            </a:r>
            <a:r>
              <a:rPr kumimoji="1" lang="zh-CN" altLang="en-US" sz="1200" dirty="0">
                <a:highlight>
                  <a:srgbClr val="FFFF00"/>
                </a:highlight>
              </a:rPr>
              <a:t>分片，一般选择特征分散的进行分片，减少服务器的压力，原则的用什么维度分片都可以，不同场景下定义不同。</a:t>
            </a:r>
            <a:endParaRPr kumimoji="1" lang="en-US" altLang="zh-CN" sz="1200" dirty="0">
              <a:highlight>
                <a:srgbClr val="FFFF00"/>
              </a:highlight>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defRPr/>
            </a:pPr>
            <a:r>
              <a:rPr kumimoji="1" lang="zh-CN" altLang="en-US" sz="1200" dirty="0">
                <a:highlight>
                  <a:srgbClr val="FFFF00"/>
                </a:highlight>
              </a:rPr>
              <a:t>特征：用来判定 </a:t>
            </a:r>
            <a:r>
              <a:rPr kumimoji="1" lang="en-US" altLang="zh-CN" sz="1200" dirty="0">
                <a:highlight>
                  <a:srgbClr val="FFFF00"/>
                </a:highlight>
              </a:rPr>
              <a:t>view:</a:t>
            </a:r>
            <a:r>
              <a:rPr kumimoji="1" lang="zh-CN" altLang="en-US" sz="1200" dirty="0">
                <a:highlight>
                  <a:srgbClr val="FFFF00"/>
                </a:highlight>
              </a:rPr>
              <a:t>分片</a:t>
            </a:r>
            <a:endParaRPr kumimoji="1" lang="en-US" altLang="zh-CN" sz="1200" dirty="0">
              <a:highlight>
                <a:srgbClr val="FFFF00"/>
              </a:highlight>
            </a:endParaRPr>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13</a:t>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14</a:t>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GB" sz="1200" b="0" i="0" u="none" strike="noStrike" kern="1200" dirty="0">
                <a:solidFill>
                  <a:schemeClr val="tx1"/>
                </a:solidFill>
                <a:effectLst/>
                <a:latin typeface="+mn-lt"/>
                <a:ea typeface="+mn-ea"/>
                <a:cs typeface="+mn-cs"/>
              </a:rPr>
              <a:t>不</a:t>
            </a:r>
            <a:r>
              <a:rPr lang="zh-CN" altLang="en-US" sz="1200" b="0" i="0" u="none" strike="noStrike" kern="1200" dirty="0">
                <a:solidFill>
                  <a:schemeClr val="tx1"/>
                </a:solidFill>
                <a:effectLst/>
                <a:latin typeface="+mn-lt"/>
                <a:ea typeface="+mn-ea"/>
                <a:cs typeface="+mn-cs"/>
              </a:rPr>
              <a:t>判断</a:t>
            </a:r>
            <a:r>
              <a:rPr lang="en-US" altLang="zh-CN" sz="1200" b="0" i="0" u="none" strike="noStrike" kern="1200" dirty="0">
                <a:solidFill>
                  <a:schemeClr val="tx1"/>
                </a:solidFill>
                <a:effectLst/>
                <a:latin typeface="+mn-lt"/>
                <a:ea typeface="+mn-ea"/>
                <a:cs typeface="+mn-cs"/>
              </a:rPr>
              <a:t>HA</a:t>
            </a:r>
            <a:r>
              <a:rPr lang="zh-CN" altLang="en-US" sz="1200" b="0" i="0" u="none" strike="noStrike" kern="1200" dirty="0">
                <a:solidFill>
                  <a:schemeClr val="tx1"/>
                </a:solidFill>
                <a:effectLst/>
                <a:latin typeface="+mn-lt"/>
                <a:ea typeface="+mn-ea"/>
                <a:cs typeface="+mn-cs"/>
              </a:rPr>
              <a:t>会报错：</a:t>
            </a:r>
            <a:r>
              <a:rPr lang="en-GB" altLang="zh-CN" sz="1200" b="0" i="0" u="none" strike="noStrike" kern="1200" dirty="0">
                <a:solidFill>
                  <a:schemeClr val="tx1"/>
                </a:solidFill>
                <a:effectLst/>
                <a:latin typeface="+mn-lt"/>
                <a:ea typeface="+mn-ea"/>
                <a:cs typeface="+mn-cs"/>
              </a:rPr>
              <a:t>CFATAL_LOG("_</a:t>
            </a:r>
            <a:r>
              <a:rPr lang="en-GB" altLang="zh-CN" sz="1200" b="0" i="0" u="none" strike="noStrike" kern="1200" dirty="0" err="1">
                <a:solidFill>
                  <a:schemeClr val="tx1"/>
                </a:solidFill>
                <a:effectLst/>
                <a:latin typeface="+mn-lt"/>
                <a:ea typeface="+mn-ea"/>
                <a:cs typeface="+mn-cs"/>
              </a:rPr>
              <a:t>view.size</a:t>
            </a:r>
            <a:r>
              <a:rPr lang="en-GB" altLang="zh-CN" sz="1200" b="0" i="0" u="none" strike="noStrike" kern="1200" dirty="0">
                <a:solidFill>
                  <a:schemeClr val="tx1"/>
                </a:solidFill>
                <a:effectLst/>
                <a:latin typeface="+mn-lt"/>
                <a:ea typeface="+mn-ea"/>
                <a:cs typeface="+mn-cs"/>
              </a:rPr>
              <a:t> is 0, call </a:t>
            </a:r>
            <a:r>
              <a:rPr lang="en-GB" altLang="zh-CN" sz="1200" b="0" i="0" u="none" strike="noStrike" kern="1200" dirty="0" err="1">
                <a:solidFill>
                  <a:schemeClr val="tx1"/>
                </a:solidFill>
                <a:effectLst/>
                <a:latin typeface="+mn-lt"/>
                <a:ea typeface="+mn-ea"/>
                <a:cs typeface="+mn-cs"/>
              </a:rPr>
              <a:t>init</a:t>
            </a:r>
            <a:r>
              <a:rPr lang="en-GB" altLang="zh-CN" sz="1200" b="0" i="0" u="none" strike="noStrike" kern="1200" dirty="0">
                <a:solidFill>
                  <a:schemeClr val="tx1"/>
                </a:solidFill>
                <a:effectLst/>
                <a:latin typeface="+mn-lt"/>
                <a:ea typeface="+mn-ea"/>
                <a:cs typeface="+mn-cs"/>
              </a:rPr>
              <a:t> first")</a:t>
            </a:r>
            <a:r>
              <a:rPr lang="zh-CN" altLang="en-GB" sz="1200" b="0" i="0" u="none" strike="noStrike" kern="1200" dirty="0">
                <a:solidFill>
                  <a:schemeClr val="tx1"/>
                </a:solidFill>
                <a:effectLst/>
                <a:latin typeface="+mn-lt"/>
                <a:ea typeface="+mn-ea"/>
                <a:cs typeface="+mn-cs"/>
              </a:rPr>
              <a:t>。</a:t>
            </a:r>
            <a:endParaRPr lang="en-US" altLang="zh-CN" sz="1200" b="0" i="0" u="none" strike="noStrike" kern="1200" dirty="0">
              <a:solidFill>
                <a:schemeClr val="tx1"/>
              </a:solidFill>
              <a:effectLst/>
              <a:latin typeface="+mn-lt"/>
              <a:ea typeface="+mn-ea"/>
              <a:cs typeface="+mn-cs"/>
            </a:endParaRPr>
          </a:p>
          <a:p>
            <a:endParaRPr kumimoji="1" lang="en-US" altLang="zh-CN" sz="1200" b="0" i="0" u="none" strike="noStrike" kern="1200" dirty="0">
              <a:solidFill>
                <a:schemeClr val="tx1"/>
              </a:solidFill>
              <a:effectLst/>
              <a:latin typeface="+mn-lt"/>
              <a:ea typeface="+mn-ea"/>
              <a:cs typeface="+mn-cs"/>
            </a:endParaRPr>
          </a:p>
          <a:p>
            <a:r>
              <a:rPr lang="zh-CN" altLang="en-US" sz="1200" b="0" i="0" u="none" strike="noStrike" kern="1200" dirty="0">
                <a:solidFill>
                  <a:schemeClr val="tx1"/>
                </a:solidFill>
                <a:effectLst/>
                <a:latin typeface="+mn-lt"/>
                <a:ea typeface="+mn-ea"/>
                <a:cs typeface="+mn-cs"/>
              </a:rPr>
              <a:t>运算符之间的空格不能删，</a:t>
            </a:r>
            <a:r>
              <a:rPr lang="en-GB" altLang="zh-CN" sz="1200" b="0" i="0" u="none" strike="noStrike" kern="1200" dirty="0">
                <a:solidFill>
                  <a:schemeClr val="tx1"/>
                </a:solidFill>
                <a:effectLst/>
                <a:latin typeface="+mn-lt"/>
                <a:ea typeface="+mn-ea"/>
                <a:cs typeface="+mn-cs"/>
              </a:rPr>
              <a:t>conf</a:t>
            </a:r>
            <a:r>
              <a:rPr lang="zh-CN" altLang="en-US" sz="1200" b="0" i="0" u="none" strike="noStrike" kern="1200" dirty="0">
                <a:solidFill>
                  <a:schemeClr val="tx1"/>
                </a:solidFill>
                <a:effectLst/>
                <a:latin typeface="+mn-lt"/>
                <a:ea typeface="+mn-ea"/>
                <a:cs typeface="+mn-cs"/>
              </a:rPr>
              <a:t>配置的</a:t>
            </a:r>
            <a:r>
              <a:rPr lang="en-GB" altLang="zh-CN" sz="1200" b="0" i="0" u="none" strike="noStrike" kern="1200" dirty="0" err="1">
                <a:solidFill>
                  <a:schemeClr val="tx1"/>
                </a:solidFill>
                <a:effectLst/>
                <a:latin typeface="+mn-lt"/>
                <a:ea typeface="+mn-ea"/>
                <a:cs typeface="+mn-cs"/>
              </a:rPr>
              <a:t>key,value</a:t>
            </a:r>
            <a:r>
              <a:rPr lang="zh-CN" altLang="en-US" sz="1200" b="0" i="0" u="none" strike="noStrike" kern="1200" dirty="0">
                <a:solidFill>
                  <a:schemeClr val="tx1"/>
                </a:solidFill>
                <a:effectLst/>
                <a:latin typeface="+mn-lt"/>
                <a:ea typeface="+mn-ea"/>
                <a:cs typeface="+mn-cs"/>
              </a:rPr>
              <a:t>之间空格可以删除。</a:t>
            </a:r>
            <a:endParaRPr lang="en-US" altLang="zh-CN" sz="1200" b="0" i="0" u="none" strike="noStrike" kern="1200" dirty="0">
              <a:solidFill>
                <a:schemeClr val="tx1"/>
              </a:solidFill>
              <a:effectLst/>
              <a:latin typeface="+mn-lt"/>
              <a:ea typeface="+mn-ea"/>
              <a:cs typeface="+mn-cs"/>
            </a:endParaRPr>
          </a:p>
          <a:p>
            <a:endParaRPr lang="en-US" altLang="zh-CN" sz="1200" b="0" i="0" u="none" strike="noStrike" kern="1200" dirty="0">
              <a:solidFill>
                <a:schemeClr val="tx1"/>
              </a:solidFill>
              <a:effectLst/>
              <a:latin typeface="+mn-lt"/>
              <a:ea typeface="+mn-ea"/>
              <a:cs typeface="+mn-cs"/>
            </a:endParaRPr>
          </a:p>
          <a:p>
            <a:r>
              <a:rPr lang="en-GB" altLang="zh-CN" dirty="0">
                <a:effectLst/>
              </a:rPr>
              <a:t>CI</a:t>
            </a:r>
            <a:r>
              <a:rPr lang="zh-CN" altLang="en-US" dirty="0">
                <a:effectLst/>
              </a:rPr>
              <a:t>和</a:t>
            </a:r>
            <a:r>
              <a:rPr lang="en-GB" altLang="zh-CN" dirty="0">
                <a:effectLst/>
              </a:rPr>
              <a:t>NC</a:t>
            </a:r>
            <a:r>
              <a:rPr lang="zh-CN" altLang="en-US" dirty="0">
                <a:effectLst/>
              </a:rPr>
              <a:t>计算符，支持右值为字典类型，功能为查找左侧维度中是否有任意一值可以子串匹配到字典内的任意一字符串。</a:t>
            </a:r>
          </a:p>
          <a:p>
            <a:endParaRPr lang="en-US" altLang="zh-CN" sz="1200" b="0" i="0" u="none" strike="noStrike" kern="1200" dirty="0">
              <a:solidFill>
                <a:schemeClr val="tx1"/>
              </a:solidFill>
              <a:effectLst/>
              <a:latin typeface="+mn-lt"/>
              <a:ea typeface="+mn-ea"/>
              <a:cs typeface="+mn-cs"/>
            </a:endParaRPr>
          </a:p>
          <a:p>
            <a:r>
              <a:rPr kumimoji="1" lang="en-US" altLang="zh-CN" dirty="0"/>
              <a:t>VA</a:t>
            </a:r>
            <a:r>
              <a:rPr kumimoji="1" lang="zh-CN" altLang="en-US" dirty="0"/>
              <a:t>什么情况下用？</a:t>
            </a:r>
            <a:r>
              <a:rPr lang="zh-CN" altLang="en-US" sz="1200" b="0" i="0" kern="1200" dirty="0">
                <a:solidFill>
                  <a:schemeClr val="tx1"/>
                </a:solidFill>
                <a:effectLst/>
                <a:latin typeface="+mn-lt"/>
                <a:ea typeface="+mn-ea"/>
                <a:cs typeface="+mn-cs"/>
              </a:rPr>
              <a:t>合法的判定为不等于</a:t>
            </a:r>
            <a:r>
              <a:rPr lang="en-GB" altLang="zh-CN" sz="1200" b="0" i="0" kern="1200" dirty="0" err="1">
                <a:solidFill>
                  <a:schemeClr val="tx1"/>
                </a:solidFill>
                <a:effectLst/>
                <a:latin typeface="+mn-lt"/>
                <a:ea typeface="+mn-ea"/>
                <a:cs typeface="+mn-cs"/>
              </a:rPr>
              <a:t>not_exist</a:t>
            </a:r>
            <a:r>
              <a:rPr lang="zh-CN" altLang="en-US" sz="1200" b="0" i="0" kern="1200" dirty="0">
                <a:solidFill>
                  <a:schemeClr val="tx1"/>
                </a:solidFill>
                <a:effectLst/>
                <a:latin typeface="+mn-lt"/>
                <a:ea typeface="+mn-ea"/>
                <a:cs typeface="+mn-cs"/>
              </a:rPr>
              <a:t>且不等于 </a:t>
            </a:r>
            <a:r>
              <a:rPr lang="en-GB" altLang="zh-CN" sz="1200" b="0" i="0" kern="1200" dirty="0">
                <a:solidFill>
                  <a:schemeClr val="tx1"/>
                </a:solidFill>
                <a:effectLst/>
                <a:latin typeface="+mn-lt"/>
                <a:ea typeface="+mn-ea"/>
                <a:cs typeface="+mn-cs"/>
              </a:rPr>
              <a:t>invalid</a:t>
            </a:r>
            <a:r>
              <a:rPr lang="zh-CN" altLang="en-GB"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VA</a:t>
            </a:r>
            <a:r>
              <a:rPr lang="zh-CN" altLang="en-US" sz="1200" b="0" i="0" kern="1200" dirty="0">
                <a:solidFill>
                  <a:schemeClr val="tx1"/>
                </a:solidFill>
                <a:effectLst/>
                <a:latin typeface="+mn-lt"/>
                <a:ea typeface="+mn-ea"/>
                <a:cs typeface="+mn-cs"/>
              </a:rPr>
              <a:t>包含</a:t>
            </a:r>
            <a:r>
              <a:rPr lang="en-US" altLang="zh-CN" sz="1200" b="0" i="0" kern="1200" dirty="0">
                <a:solidFill>
                  <a:schemeClr val="tx1"/>
                </a:solidFill>
                <a:effectLst/>
                <a:latin typeface="+mn-lt"/>
                <a:ea typeface="+mn-ea"/>
                <a:cs typeface="+mn-cs"/>
              </a:rPr>
              <a:t>HA</a:t>
            </a:r>
            <a:r>
              <a:rPr lang="zh-CN" altLang="en-US" sz="1200" b="0" i="0" kern="1200" dirty="0">
                <a:solidFill>
                  <a:schemeClr val="tx1"/>
                </a:solidFill>
                <a:effectLst/>
                <a:latin typeface="+mn-lt"/>
                <a:ea typeface="+mn-ea"/>
                <a:cs typeface="+mn-cs"/>
              </a:rPr>
              <a:t>，判定</a:t>
            </a:r>
            <a:r>
              <a:rPr lang="en-US" altLang="zh-CN" sz="1200" b="0" i="0" kern="1200" dirty="0">
                <a:solidFill>
                  <a:schemeClr val="tx1"/>
                </a:solidFill>
                <a:effectLst/>
                <a:latin typeface="+mn-lt"/>
                <a:ea typeface="+mn-ea"/>
                <a:cs typeface="+mn-cs"/>
              </a:rPr>
              <a:t>VA,</a:t>
            </a:r>
            <a:r>
              <a:rPr lang="zh-CN" altLang="en-US" sz="1200" b="0" i="0" kern="1200" dirty="0">
                <a:solidFill>
                  <a:schemeClr val="tx1"/>
                </a:solidFill>
                <a:effectLst/>
                <a:latin typeface="+mn-lt"/>
                <a:ea typeface="+mn-ea"/>
                <a:cs typeface="+mn-cs"/>
              </a:rPr>
              <a:t>必须要先判定存在。</a:t>
            </a:r>
            <a:endParaRPr lang="en-US" altLang="zh-CN" sz="1200" b="0" i="0" kern="1200" dirty="0">
              <a:solidFill>
                <a:schemeClr val="tx1"/>
              </a:solidFill>
              <a:effectLst/>
              <a:latin typeface="+mn-lt"/>
              <a:ea typeface="+mn-ea"/>
              <a:cs typeface="+mn-cs"/>
            </a:endParaRPr>
          </a:p>
          <a:p>
            <a:endParaRPr lang="en-GB" altLang="zh-CN" sz="1200" b="0" i="0" kern="1200" dirty="0">
              <a:solidFill>
                <a:schemeClr val="tx1"/>
              </a:solidFill>
              <a:effectLst/>
              <a:latin typeface="+mn-lt"/>
              <a:ea typeface="+mn-ea"/>
              <a:cs typeface="+mn-cs"/>
            </a:endParaRPr>
          </a:p>
          <a:p>
            <a:r>
              <a:rPr lang="en-GB" altLang="zh-CN" sz="1200" b="0" i="0" kern="1200" dirty="0">
                <a:solidFill>
                  <a:schemeClr val="tx1"/>
                </a:solidFill>
                <a:effectLst/>
                <a:latin typeface="+mn-lt"/>
                <a:ea typeface="+mn-ea"/>
                <a:cs typeface="+mn-cs"/>
              </a:rPr>
              <a:t>VA</a:t>
            </a:r>
            <a:r>
              <a:rPr lang="zh-CN" altLang="en-US" sz="1200" b="0" i="0" kern="1200" dirty="0">
                <a:solidFill>
                  <a:schemeClr val="tx1"/>
                </a:solidFill>
                <a:effectLst/>
                <a:latin typeface="+mn-lt"/>
                <a:ea typeface="+mn-ea"/>
                <a:cs typeface="+mn-cs"/>
              </a:rPr>
              <a:t>支持的字段：</a:t>
            </a:r>
            <a:r>
              <a:rPr lang="en-GB" altLang="zh-CN" sz="1200" b="0" i="0" kern="1200" dirty="0" err="1">
                <a:solidFill>
                  <a:schemeClr val="tx1"/>
                </a:solidFill>
                <a:effectLst/>
                <a:latin typeface="+mn-lt"/>
                <a:ea typeface="+mn-ea"/>
                <a:cs typeface="+mn-cs"/>
              </a:rPr>
              <a:t>baiduid</a:t>
            </a:r>
            <a:r>
              <a:rPr lang="en-GB" altLang="zh-CN" sz="1200" b="0" i="0" kern="1200" dirty="0">
                <a:solidFill>
                  <a:schemeClr val="tx1"/>
                </a:solidFill>
                <a:effectLst/>
                <a:latin typeface="+mn-lt"/>
                <a:ea typeface="+mn-ea"/>
                <a:cs typeface="+mn-cs"/>
              </a:rPr>
              <a:t>, </a:t>
            </a:r>
            <a:r>
              <a:rPr lang="en-GB" altLang="zh-CN" sz="1200" b="0" i="0" kern="1200" dirty="0" err="1">
                <a:solidFill>
                  <a:schemeClr val="tx1"/>
                </a:solidFill>
                <a:effectLst/>
                <a:latin typeface="+mn-lt"/>
                <a:ea typeface="+mn-ea"/>
                <a:cs typeface="+mn-cs"/>
              </a:rPr>
              <a:t>chrome_browser_ver</a:t>
            </a:r>
            <a:r>
              <a:rPr lang="en-GB" altLang="zh-CN" sz="1200" b="0" i="0" kern="1200" dirty="0">
                <a:solidFill>
                  <a:schemeClr val="tx1"/>
                </a:solidFill>
                <a:effectLst/>
                <a:latin typeface="+mn-lt"/>
                <a:ea typeface="+mn-ea"/>
                <a:cs typeface="+mn-cs"/>
              </a:rPr>
              <a:t>, ck_1, ck_2, ck_7, </a:t>
            </a:r>
            <a:r>
              <a:rPr lang="en-GB" altLang="zh-CN" sz="1200" b="0" i="0" kern="1200" dirty="0" err="1">
                <a:solidFill>
                  <a:schemeClr val="tx1"/>
                </a:solidFill>
                <a:effectLst/>
                <a:latin typeface="+mn-lt"/>
                <a:ea typeface="+mn-ea"/>
                <a:cs typeface="+mn-cs"/>
              </a:rPr>
              <a:t>sn</a:t>
            </a:r>
            <a:r>
              <a:rPr lang="en-US" altLang="zh-CN" sz="1200" b="0" i="0"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唯一标识一台手机或一个用户</a:t>
            </a:r>
            <a:r>
              <a:rPr lang="en-US" altLang="zh-CN" sz="1200" b="0" i="0" u="none" strike="noStrike" kern="1200" dirty="0">
                <a:solidFill>
                  <a:schemeClr val="tx1"/>
                </a:solidFill>
                <a:effectLst/>
                <a:latin typeface="+mn-lt"/>
                <a:ea typeface="+mn-ea"/>
                <a:cs typeface="+mn-cs"/>
              </a:rPr>
              <a:t>,</a:t>
            </a:r>
            <a:r>
              <a:rPr lang="en-GB" altLang="zh-CN" sz="1200" b="0" i="0" u="none" strike="noStrike" kern="1200" dirty="0">
                <a:solidFill>
                  <a:schemeClr val="tx1"/>
                </a:solidFill>
                <a:effectLst/>
                <a:latin typeface="+mn-lt"/>
                <a:ea typeface="+mn-ea"/>
                <a:cs typeface="+mn-cs"/>
              </a:rPr>
              <a:t>K</a:t>
            </a:r>
            <a:r>
              <a:rPr lang="zh-CN" altLang="en-US" sz="1200" b="0" i="0" u="none" strike="noStrike" kern="1200" dirty="0">
                <a:solidFill>
                  <a:schemeClr val="tx1"/>
                </a:solidFill>
                <a:effectLst/>
                <a:latin typeface="+mn-lt"/>
                <a:ea typeface="+mn-ea"/>
                <a:cs typeface="+mn-cs"/>
              </a:rPr>
              <a:t>域</a:t>
            </a:r>
            <a:r>
              <a:rPr lang="en-US" altLang="zh-CN" sz="1200" b="0" i="0" kern="1200" dirty="0">
                <a:solidFill>
                  <a:schemeClr val="tx1"/>
                </a:solidFill>
                <a:effectLst/>
                <a:latin typeface="+mn-lt"/>
                <a:ea typeface="+mn-ea"/>
                <a:cs typeface="+mn-cs"/>
              </a:rPr>
              <a:t>)</a:t>
            </a:r>
            <a:r>
              <a:rPr lang="en-GB" altLang="zh-CN" sz="1200" b="0" i="0" kern="1200" dirty="0">
                <a:solidFill>
                  <a:schemeClr val="tx1"/>
                </a:solidFill>
                <a:effectLst/>
                <a:latin typeface="+mn-lt"/>
                <a:ea typeface="+mn-ea"/>
                <a:cs typeface="+mn-cs"/>
              </a:rPr>
              <a:t>, </a:t>
            </a:r>
            <a:r>
              <a:rPr lang="en-GB" altLang="zh-CN" sz="1200" b="0" i="0" kern="1200" dirty="0" err="1">
                <a:solidFill>
                  <a:schemeClr val="tx1"/>
                </a:solidFill>
                <a:effectLst/>
                <a:latin typeface="+mn-lt"/>
                <a:ea typeface="+mn-ea"/>
                <a:cs typeface="+mn-cs"/>
              </a:rPr>
              <a:t>dc_cuid</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公司</a:t>
            </a:r>
            <a:r>
              <a:rPr lang="en-GB" altLang="zh-CN" sz="1200" b="0" i="0" kern="1200" dirty="0" err="1">
                <a:solidFill>
                  <a:schemeClr val="tx1"/>
                </a:solidFill>
                <a:effectLst/>
                <a:latin typeface="+mn-lt"/>
                <a:ea typeface="+mn-ea"/>
                <a:cs typeface="+mn-cs"/>
              </a:rPr>
              <a:t>cuid</a:t>
            </a:r>
            <a:r>
              <a:rPr lang="en-US" altLang="zh-CN" sz="1200" b="0" i="0" kern="1200" dirty="0">
                <a:solidFill>
                  <a:schemeClr val="tx1"/>
                </a:solidFill>
                <a:effectLst/>
                <a:latin typeface="+mn-lt"/>
                <a:ea typeface="+mn-ea"/>
                <a:cs typeface="+mn-cs"/>
              </a:rPr>
              <a:t>)</a:t>
            </a:r>
            <a:r>
              <a:rPr lang="en-GB" altLang="zh-CN" sz="1200" b="0" i="0" kern="1200" dirty="0">
                <a:solidFill>
                  <a:schemeClr val="tx1"/>
                </a:solidFill>
                <a:effectLst/>
                <a:latin typeface="+mn-lt"/>
                <a:ea typeface="+mn-ea"/>
                <a:cs typeface="+mn-cs"/>
              </a:rPr>
              <a:t>, </a:t>
            </a:r>
            <a:r>
              <a:rPr lang="en-GB" altLang="zh-CN" sz="1200" b="0" i="0" kern="1200" dirty="0" err="1">
                <a:solidFill>
                  <a:schemeClr val="tx1"/>
                </a:solidFill>
                <a:effectLst/>
                <a:latin typeface="+mn-lt"/>
                <a:ea typeface="+mn-ea"/>
                <a:cs typeface="+mn-cs"/>
              </a:rPr>
              <a:t>dc_req_pkg</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请求包名</a:t>
            </a:r>
            <a:r>
              <a:rPr lang="en-US" altLang="zh-CN" sz="1200" b="0" i="0" kern="1200" dirty="0">
                <a:solidFill>
                  <a:schemeClr val="tx1"/>
                </a:solidFill>
                <a:effectLst/>
                <a:latin typeface="+mn-lt"/>
                <a:ea typeface="+mn-ea"/>
                <a:cs typeface="+mn-cs"/>
              </a:rPr>
              <a:t>)</a:t>
            </a:r>
            <a:r>
              <a:rPr lang="zh-CN" altLang="en-GB" sz="1200" b="0" i="0" kern="1200" dirty="0">
                <a:solidFill>
                  <a:schemeClr val="tx1"/>
                </a:solidFill>
                <a:effectLst/>
                <a:latin typeface="+mn-lt"/>
                <a:ea typeface="+mn-ea"/>
                <a:cs typeface="+mn-cs"/>
              </a:rPr>
              <a:t>。</a:t>
            </a:r>
            <a:endParaRPr kumimoji="1" lang="en-US" altLang="zh-CN" dirty="0"/>
          </a:p>
          <a:p>
            <a:r>
              <a:rPr kumimoji="1" lang="zh-CN" altLang="en-US" dirty="0"/>
              <a:t>公司</a:t>
            </a:r>
            <a:r>
              <a:rPr kumimoji="1" lang="en-US" altLang="zh-CN" dirty="0" err="1"/>
              <a:t>cuid</a:t>
            </a:r>
            <a:r>
              <a:rPr kumimoji="1" lang="zh-CN" altLang="en-US" dirty="0"/>
              <a:t>什么时候不合法？</a:t>
            </a:r>
            <a:r>
              <a:rPr kumimoji="1" lang="en-GB" altLang="zh-CN" dirty="0" err="1"/>
              <a:t>cuid</a:t>
            </a:r>
            <a:r>
              <a:rPr kumimoji="1" lang="en-GB" altLang="zh-CN" dirty="0"/>
              <a:t> != '-' and </a:t>
            </a:r>
            <a:r>
              <a:rPr kumimoji="1" lang="en-GB" altLang="zh-CN" dirty="0" err="1"/>
              <a:t>cuid</a:t>
            </a:r>
            <a:r>
              <a:rPr kumimoji="1" lang="en-GB" altLang="zh-CN" dirty="0"/>
              <a:t> != '_' and </a:t>
            </a:r>
            <a:r>
              <a:rPr kumimoji="1" lang="en-GB" altLang="zh-CN" dirty="0" err="1"/>
              <a:t>cuid</a:t>
            </a:r>
            <a:r>
              <a:rPr kumimoji="1" lang="en-GB" altLang="zh-CN" dirty="0"/>
              <a:t> != '' and </a:t>
            </a:r>
            <a:r>
              <a:rPr kumimoji="1" lang="en-GB" altLang="zh-CN" dirty="0" err="1"/>
              <a:t>cuid</a:t>
            </a:r>
            <a:r>
              <a:rPr kumimoji="1" lang="en-GB" altLang="zh-CN" dirty="0"/>
              <a:t> != ' ' and </a:t>
            </a:r>
            <a:r>
              <a:rPr kumimoji="1" lang="en-GB" altLang="zh-CN" dirty="0" err="1"/>
              <a:t>cuid</a:t>
            </a:r>
            <a:r>
              <a:rPr kumimoji="1" lang="en-GB" altLang="zh-CN" dirty="0"/>
              <a:t> != '  ' and </a:t>
            </a:r>
            <a:r>
              <a:rPr kumimoji="1" lang="en-GB" altLang="zh-CN" dirty="0" err="1"/>
              <a:t>cuid</a:t>
            </a:r>
            <a:r>
              <a:rPr kumimoji="1" lang="en-GB" altLang="zh-CN" dirty="0"/>
              <a:t> != '++' and </a:t>
            </a:r>
            <a:r>
              <a:rPr kumimoji="1" lang="en-GB" altLang="zh-CN" dirty="0" err="1"/>
              <a:t>cuid</a:t>
            </a:r>
            <a:r>
              <a:rPr kumimoji="1" lang="en-GB" altLang="zh-CN" dirty="0"/>
              <a:t> != '</a:t>
            </a:r>
            <a:r>
              <a:rPr kumimoji="1" lang="en-GB" altLang="zh-CN" dirty="0" err="1"/>
              <a:t>cuid_fail</a:t>
            </a:r>
            <a:r>
              <a:rPr kumimoji="1" lang="en-GB" altLang="zh-CN" dirty="0"/>
              <a:t>'</a:t>
            </a:r>
            <a:r>
              <a:rPr kumimoji="1" lang="zh-CN" altLang="en-US" dirty="0"/>
              <a:t> </a:t>
            </a:r>
            <a:r>
              <a:rPr kumimoji="1" lang="en-GB" altLang="zh-CN" dirty="0"/>
              <a:t>and </a:t>
            </a:r>
            <a:r>
              <a:rPr kumimoji="1" lang="en-GB" altLang="zh-CN" dirty="0" err="1"/>
              <a:t>cuid</a:t>
            </a:r>
            <a:r>
              <a:rPr kumimoji="1" lang="en-GB" altLang="zh-CN" dirty="0"/>
              <a:t> != '$.'</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200" b="1" i="0" kern="1200" dirty="0" err="1">
                <a:solidFill>
                  <a:schemeClr val="tx1"/>
                </a:solidFill>
                <a:effectLst/>
                <a:latin typeface="+mn-lt"/>
                <a:ea typeface="+mn-ea"/>
                <a:cs typeface="+mn-cs"/>
              </a:rPr>
              <a:t>statflag</a:t>
            </a:r>
            <a:r>
              <a:rPr lang="en-GB" altLang="zh-CN" sz="1200" b="1" i="0" kern="1200" dirty="0">
                <a:solidFill>
                  <a:schemeClr val="tx1"/>
                </a:solidFill>
                <a:effectLst/>
                <a:latin typeface="+mn-lt"/>
                <a:ea typeface="+mn-ea"/>
                <a:cs typeface="+mn-cs"/>
              </a:rPr>
              <a:t> :</a:t>
            </a:r>
            <a:r>
              <a:rPr lang="zh-CN" altLang="en-US" sz="1200" b="1" i="0" kern="1200" dirty="0">
                <a:solidFill>
                  <a:schemeClr val="tx1"/>
                </a:solidFill>
                <a:effectLst/>
                <a:latin typeface="+mn-lt"/>
                <a:ea typeface="+mn-ea"/>
                <a:cs typeface="+mn-cs"/>
              </a:rPr>
              <a:t>异常标识符。全</a:t>
            </a:r>
            <a:r>
              <a:rPr lang="en-US" altLang="zh-CN" sz="1200" b="1" i="0" kern="1200" dirty="0">
                <a:solidFill>
                  <a:schemeClr val="tx1"/>
                </a:solidFill>
                <a:effectLst/>
                <a:latin typeface="+mn-lt"/>
                <a:ea typeface="+mn-ea"/>
                <a:cs typeface="+mn-cs"/>
              </a:rPr>
              <a:t>0</a:t>
            </a:r>
            <a:r>
              <a:rPr lang="zh-CN" altLang="en-US" sz="1200" b="1" i="0" kern="1200" dirty="0">
                <a:solidFill>
                  <a:schemeClr val="tx1"/>
                </a:solidFill>
                <a:effectLst/>
                <a:latin typeface="+mn-lt"/>
                <a:ea typeface="+mn-ea"/>
                <a:cs typeface="+mn-cs"/>
              </a:rPr>
              <a:t>为正常</a:t>
            </a:r>
          </a:p>
          <a:p>
            <a:r>
              <a:rPr kumimoji="1" lang="en-US" altLang="zh-CN" b="1" dirty="0" err="1"/>
              <a:t>baiduid</a:t>
            </a:r>
            <a:r>
              <a:rPr kumimoji="1" lang="zh-CN" altLang="en-US" b="1" dirty="0"/>
              <a:t>全</a:t>
            </a:r>
            <a:r>
              <a:rPr kumimoji="1" lang="en-US" altLang="zh-CN" b="1" dirty="0"/>
              <a:t>0</a:t>
            </a:r>
            <a:r>
              <a:rPr kumimoji="1" lang="zh-CN" altLang="en-US" b="1" dirty="0"/>
              <a:t>代表空，全</a:t>
            </a:r>
            <a:r>
              <a:rPr kumimoji="1" lang="en-US" altLang="zh-CN" b="1" dirty="0"/>
              <a:t>F</a:t>
            </a:r>
            <a:r>
              <a:rPr kumimoji="1" lang="zh-CN" altLang="en-US" b="1" dirty="0"/>
              <a:t>代表无法正常解析。</a:t>
            </a:r>
            <a:endParaRPr kumimoji="1" lang="en-US" altLang="zh-CN" b="1" dirty="0"/>
          </a:p>
          <a:p>
            <a:endParaRPr kumimoji="1" lang="en-US" altLang="zh-CN" b="1" dirty="0"/>
          </a:p>
          <a:p>
            <a:r>
              <a:rPr kumimoji="1" lang="en-US" altLang="zh-CN" dirty="0"/>
              <a:t>EQ</a:t>
            </a:r>
            <a:r>
              <a:rPr kumimoji="1" lang="zh-CN" altLang="en-US" dirty="0"/>
              <a:t> </a:t>
            </a:r>
            <a:r>
              <a:rPr kumimoji="1" lang="en-US" altLang="zh-CN" dirty="0"/>
              <a:t>:~</a:t>
            </a:r>
            <a:r>
              <a:rPr kumimoji="1" lang="zh-CN" altLang="en-US" dirty="0"/>
              <a:t> </a:t>
            </a:r>
            <a:r>
              <a:rPr kumimoji="1" lang="en-US" altLang="zh-CN" dirty="0"/>
              <a:t>:C</a:t>
            </a:r>
            <a:r>
              <a:rPr kumimoji="1" lang="zh-CN" altLang="en-US" dirty="0"/>
              <a:t> </a:t>
            </a:r>
            <a:r>
              <a:rPr kumimoji="1" lang="en-US" altLang="zh-CN" dirty="0"/>
              <a:t>:=</a:t>
            </a:r>
            <a:r>
              <a:rPr kumimoji="1" lang="zh-CN" altLang="en-US" dirty="0"/>
              <a:t>比较</a:t>
            </a:r>
            <a:endParaRPr kumimoji="1" lang="en-US" altLang="zh-CN" dirty="0"/>
          </a:p>
          <a:p>
            <a:r>
              <a:rPr kumimoji="1" lang="zh-CN" altLang="en-US" dirty="0"/>
              <a:t>相同点：左值都是维度对象，右值取值，处理后都支持多维度数组</a:t>
            </a:r>
            <a:endParaRPr kumimoji="1" lang="en-US" altLang="zh-CN" dirty="0"/>
          </a:p>
          <a:p>
            <a:r>
              <a:rPr kumimoji="1" lang="en-US" altLang="zh-CN" dirty="0"/>
              <a:t>:=</a:t>
            </a:r>
            <a:r>
              <a:rPr kumimoji="1" lang="zh-CN" altLang="en-US" dirty="0"/>
              <a:t>右值必须是单引号括起来的字符串数据。</a:t>
            </a:r>
            <a:endParaRPr kumimoji="1" lang="en-US" altLang="zh-CN" dirty="0"/>
          </a:p>
          <a:p>
            <a:r>
              <a:rPr kumimoji="1" lang="zh-CN" altLang="en-US" dirty="0"/>
              <a:t>不同点</a:t>
            </a:r>
            <a:r>
              <a:rPr kumimoji="1" lang="en-US" altLang="zh-CN" dirty="0"/>
              <a:t>:</a:t>
            </a:r>
          </a:p>
          <a:p>
            <a:r>
              <a:rPr kumimoji="1" lang="zh-CN" altLang="en-US" dirty="0"/>
              <a:t>含义不同：</a:t>
            </a:r>
            <a:endParaRPr kumimoji="1" lang="en-US" altLang="zh-CN" dirty="0"/>
          </a:p>
          <a:p>
            <a:r>
              <a:rPr kumimoji="1" lang="en-US" altLang="zh-CN" dirty="0"/>
              <a:t>EQ</a:t>
            </a:r>
            <a:r>
              <a:rPr kumimoji="1" lang="zh-CN" altLang="en-US" dirty="0"/>
              <a:t>维度相等，要求对应维度对象个数相等、值相等</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dirty="0"/>
              <a:t>:C</a:t>
            </a:r>
            <a:r>
              <a:rPr kumimoji="1" lang="zh-CN" altLang="en-US" dirty="0"/>
              <a:t> 包含于集合，需左值数</a:t>
            </a:r>
            <a:r>
              <a:rPr kumimoji="1" lang="en-US" altLang="zh-CN" dirty="0"/>
              <a:t>:~</a:t>
            </a:r>
            <a:r>
              <a:rPr kumimoji="1" lang="zh-CN" altLang="en-US" dirty="0"/>
              <a:t>匹配字符，左侧任意一字符串值，能子串匹配到任一右值，则为</a:t>
            </a:r>
            <a:r>
              <a:rPr kumimoji="1" lang="en-US" altLang="zh-CN" dirty="0"/>
              <a:t>True</a:t>
            </a:r>
          </a:p>
          <a:p>
            <a:r>
              <a:rPr kumimoji="1" lang="zh-CN" altLang="en-US" dirty="0"/>
              <a:t>组包含于右值数组</a:t>
            </a:r>
            <a:endParaRPr kumimoji="1" lang="en-US" altLang="zh-CN" dirty="0"/>
          </a:p>
          <a:p>
            <a:r>
              <a:rPr kumimoji="1" lang="en-US" altLang="zh-CN" dirty="0"/>
              <a:t>:=</a:t>
            </a:r>
            <a:r>
              <a:rPr kumimoji="1" lang="zh-CN" altLang="en-US" dirty="0"/>
              <a:t> 等于右值，左值数组任意一值，对应能匹配到右值一项值，则为</a:t>
            </a:r>
            <a:r>
              <a:rPr kumimoji="1" lang="en-US" altLang="zh-CN" dirty="0"/>
              <a:t>True</a:t>
            </a:r>
          </a:p>
          <a:p>
            <a:r>
              <a:rPr kumimoji="1" lang="zh-CN" altLang="en-US" dirty="0"/>
              <a:t>匹配方式不同：</a:t>
            </a:r>
            <a:endParaRPr kumimoji="1" lang="en-US" altLang="zh-CN" dirty="0"/>
          </a:p>
          <a:p>
            <a:r>
              <a:rPr kumimoji="1" lang="en-US" altLang="zh-CN" b="1" dirty="0"/>
              <a:t>:~</a:t>
            </a:r>
            <a:r>
              <a:rPr kumimoji="1" lang="zh-CN" altLang="en-US" b="1" dirty="0"/>
              <a:t>对应子串匹配，</a:t>
            </a:r>
            <a:r>
              <a:rPr kumimoji="1" lang="en-US" altLang="zh-CN" b="1" dirty="0"/>
              <a:t>EQ</a:t>
            </a:r>
            <a:r>
              <a:rPr kumimoji="1" lang="zh-CN" altLang="en-US" b="1" dirty="0"/>
              <a:t> </a:t>
            </a:r>
            <a:r>
              <a:rPr kumimoji="1" lang="en-US" altLang="zh-CN" b="1" dirty="0"/>
              <a:t>:C</a:t>
            </a:r>
            <a:r>
              <a:rPr kumimoji="1" lang="zh-CN" altLang="en-US" b="1" dirty="0"/>
              <a:t> </a:t>
            </a:r>
            <a:r>
              <a:rPr kumimoji="1" lang="en-US" altLang="zh-CN" b="1" dirty="0"/>
              <a:t>:=</a:t>
            </a:r>
            <a:r>
              <a:rPr kumimoji="1" lang="zh-CN" altLang="en-US" b="1" dirty="0"/>
              <a:t>对应维度值签名匹配，即</a:t>
            </a:r>
            <a:r>
              <a:rPr kumimoji="1" lang="en-US" altLang="zh-CN" b="1" dirty="0"/>
              <a:t>sign</a:t>
            </a:r>
            <a:r>
              <a:rPr kumimoji="1" lang="zh-CN" altLang="en-US" b="1" dirty="0"/>
              <a:t>匹配。</a:t>
            </a:r>
            <a:endParaRPr kumimoji="1" lang="en-US" altLang="zh-CN" b="1" dirty="0"/>
          </a:p>
          <a:p>
            <a:endParaRPr kumimoji="1" lang="en-US" altLang="zh-CN" dirty="0"/>
          </a:p>
          <a:p>
            <a:r>
              <a:rPr kumimoji="1" lang="zh-CN" altLang="en-US" dirty="0"/>
              <a:t>右值支持多维度值的运算符：</a:t>
            </a:r>
            <a:r>
              <a:rPr kumimoji="1" lang="en-US" altLang="zh-CN" dirty="0"/>
              <a:t>IN</a:t>
            </a:r>
            <a:r>
              <a:rPr kumimoji="1" lang="zh-CN" altLang="en-US" dirty="0"/>
              <a:t> </a:t>
            </a:r>
            <a:r>
              <a:rPr kumimoji="1" lang="en-US" altLang="zh-CN" dirty="0"/>
              <a:t>NI</a:t>
            </a:r>
            <a:r>
              <a:rPr kumimoji="1" lang="zh-CN" altLang="en-US" dirty="0"/>
              <a:t> </a:t>
            </a:r>
            <a:r>
              <a:rPr kumimoji="1" lang="en-US" altLang="zh-CN" dirty="0"/>
              <a:t>:=</a:t>
            </a:r>
            <a:r>
              <a:rPr kumimoji="1" lang="zh-CN" altLang="en-US" dirty="0"/>
              <a:t> </a:t>
            </a:r>
            <a:r>
              <a:rPr kumimoji="1" lang="en-US" altLang="zh-CN" dirty="0"/>
              <a:t>!=</a:t>
            </a:r>
            <a:r>
              <a:rPr kumimoji="1" lang="zh-CN" altLang="en-US" dirty="0"/>
              <a:t> </a:t>
            </a:r>
            <a:r>
              <a:rPr kumimoji="1" lang="en-US" altLang="zh-CN" dirty="0"/>
              <a:t>:C</a:t>
            </a:r>
            <a:r>
              <a:rPr kumimoji="1" lang="zh-CN" altLang="en-US" dirty="0"/>
              <a:t> </a:t>
            </a:r>
            <a:r>
              <a:rPr kumimoji="1" lang="en-US" altLang="zh-CN" dirty="0"/>
              <a:t>!C</a:t>
            </a:r>
            <a:r>
              <a:rPr kumimoji="1" lang="zh-CN" altLang="en-US" dirty="0"/>
              <a:t> </a:t>
            </a:r>
            <a:r>
              <a:rPr kumimoji="1" lang="en-US" altLang="zh-CN" dirty="0"/>
              <a:t>:~</a:t>
            </a:r>
            <a:r>
              <a:rPr kumimoji="1" lang="zh-CN" altLang="en-US" dirty="0"/>
              <a:t> </a:t>
            </a:r>
            <a:r>
              <a:rPr kumimoji="1" lang="en-US" altLang="zh-CN" dirty="0"/>
              <a:t>!~</a:t>
            </a:r>
            <a:r>
              <a:rPr kumimoji="1" lang="zh-CN" altLang="en-US" dirty="0"/>
              <a:t>、</a:t>
            </a:r>
            <a:r>
              <a:rPr kumimoji="1" lang="en-US" altLang="zh-CN" dirty="0"/>
              <a:t>EQ</a:t>
            </a:r>
            <a:r>
              <a:rPr kumimoji="1" lang="zh-CN" altLang="en-US" dirty="0"/>
              <a:t> </a:t>
            </a:r>
            <a:r>
              <a:rPr kumimoji="1" lang="en-US" altLang="zh-CN" dirty="0"/>
              <a:t>NE</a:t>
            </a:r>
          </a:p>
          <a:p>
            <a:r>
              <a:rPr kumimoji="1" lang="en-US" altLang="zh-CN" dirty="0"/>
              <a:t>:=</a:t>
            </a:r>
            <a:r>
              <a:rPr kumimoji="1" lang="zh-CN" altLang="en-US" dirty="0"/>
              <a:t> </a:t>
            </a:r>
            <a:r>
              <a:rPr kumimoji="1" lang="en-US" altLang="zh-CN" dirty="0"/>
              <a:t>!=</a:t>
            </a:r>
            <a:r>
              <a:rPr kumimoji="1" lang="zh-CN" altLang="en-US" dirty="0"/>
              <a:t> </a:t>
            </a:r>
            <a:r>
              <a:rPr kumimoji="1" lang="en-US" altLang="zh-CN" dirty="0"/>
              <a:t>:C</a:t>
            </a:r>
            <a:r>
              <a:rPr kumimoji="1" lang="zh-CN" altLang="en-US" dirty="0"/>
              <a:t> </a:t>
            </a:r>
            <a:r>
              <a:rPr kumimoji="1" lang="en-US" altLang="zh-CN" dirty="0"/>
              <a:t>!C</a:t>
            </a:r>
            <a:r>
              <a:rPr kumimoji="1" lang="zh-CN" altLang="en-US" dirty="0"/>
              <a:t> </a:t>
            </a:r>
            <a:r>
              <a:rPr kumimoji="1" lang="en-US" altLang="zh-CN" dirty="0"/>
              <a:t>:~</a:t>
            </a:r>
            <a:r>
              <a:rPr kumimoji="1" lang="zh-CN" altLang="en-US" dirty="0"/>
              <a:t> </a:t>
            </a:r>
            <a:r>
              <a:rPr kumimoji="1" lang="en-US" altLang="zh-CN" dirty="0"/>
              <a:t>!~</a:t>
            </a:r>
            <a:r>
              <a:rPr kumimoji="1" lang="zh-CN" altLang="en-US" dirty="0"/>
              <a:t>右值为逗号间隔的字符串，处理为数组多值。</a:t>
            </a:r>
            <a:endParaRPr kumimoji="1" lang="en-US" altLang="zh-CN" dirty="0"/>
          </a:p>
          <a:p>
            <a:r>
              <a:rPr kumimoji="1" lang="en-US" altLang="zh-CN" dirty="0"/>
              <a:t>IN</a:t>
            </a:r>
            <a:r>
              <a:rPr kumimoji="1" lang="zh-CN" altLang="en-US" dirty="0"/>
              <a:t> </a:t>
            </a:r>
            <a:r>
              <a:rPr kumimoji="1" lang="en-US" altLang="zh-CN" dirty="0"/>
              <a:t>NI</a:t>
            </a:r>
            <a:r>
              <a:rPr kumimoji="1" lang="zh-CN" altLang="en-US" dirty="0"/>
              <a:t>右值是：带单引号的</a:t>
            </a:r>
            <a:r>
              <a:rPr kumimoji="1" lang="en-US" altLang="zh-CN" dirty="0" err="1"/>
              <a:t>file_key</a:t>
            </a:r>
            <a:r>
              <a:rPr kumimoji="1" lang="zh-CN" altLang="en-US" dirty="0"/>
              <a:t>的字符串，然后将文件内字符处理为多值。</a:t>
            </a:r>
            <a:endParaRPr kumimoji="1" lang="en-US" altLang="zh-CN" dirty="0"/>
          </a:p>
          <a:p>
            <a:endParaRPr kumimoji="1" lang="en-US" altLang="zh-CN" b="1" dirty="0"/>
          </a:p>
          <a:p>
            <a:endParaRPr lang="zh-CN" altLang="en-US" sz="1200" b="0" i="0" u="none" strike="noStrike"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15</a:t>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跳段：效率高</a:t>
            </a:r>
            <a:endParaRPr kumimoji="1" lang="en-US" altLang="zh-CN" dirty="0"/>
          </a:p>
          <a:p>
            <a:r>
              <a:rPr kumimoji="1" lang="zh-CN" altLang="en-US" dirty="0"/>
              <a:t>滑段：一定程度上能够缓解段首漏过</a:t>
            </a:r>
            <a:endParaRPr kumimoji="1" lang="en-US" altLang="zh-CN"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16</a:t>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跳段：效率高</a:t>
            </a:r>
            <a:endParaRPr kumimoji="1" lang="en-US" altLang="zh-CN" dirty="0"/>
          </a:p>
          <a:p>
            <a:r>
              <a:rPr kumimoji="1" lang="zh-CN" altLang="en-US" dirty="0"/>
              <a:t>滑段：一定程度上能够缓解段首漏过</a:t>
            </a:r>
            <a:endParaRPr kumimoji="1" lang="en-US" altLang="zh-CN"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17</a:t>
            </a:fld>
            <a:endParaRPr kumimoji="1" lang="zh-CN" altLang="en-US"/>
          </a:p>
        </p:txBody>
      </p:sp>
    </p:spTree>
    <p:extLst>
      <p:ext uri="{BB962C8B-B14F-4D97-AF65-F5344CB8AC3E}">
        <p14:creationId xmlns:p14="http://schemas.microsoft.com/office/powerpoint/2010/main" val="32674192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dirty="0"/>
              <a:t>段首：</a:t>
            </a:r>
            <a:r>
              <a:rPr lang="zh-CN" altLang="zh-CN" sz="1200" kern="1200" dirty="0">
                <a:solidFill>
                  <a:schemeClr val="tx1"/>
                </a:solidFill>
                <a:effectLst/>
                <a:latin typeface="+mn-lt"/>
                <a:ea typeface="+mn-ea"/>
                <a:cs typeface="+mn-cs"/>
              </a:rPr>
              <a:t>对策：滑段，</a:t>
            </a:r>
            <a:r>
              <a:rPr lang="zh-CN" altLang="en-US" sz="1200" kern="1200" dirty="0">
                <a:solidFill>
                  <a:schemeClr val="tx1"/>
                </a:solidFill>
                <a:effectLst/>
                <a:latin typeface="+mn-lt"/>
                <a:ea typeface="+mn-ea"/>
                <a:cs typeface="+mn-cs"/>
              </a:rPr>
              <a:t>但是第一段仍有可能漏过，采用多段上限策略可以解决滑段中存在的段首漏过。</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mn-lt"/>
                <a:ea typeface="+mn-ea"/>
                <a:cs typeface="+mn-cs"/>
              </a:rPr>
              <a:t>株连：对策：</a:t>
            </a:r>
            <a:r>
              <a:rPr lang="en-US" altLang="zh-CN" sz="1200" b="0" i="0" u="none" strike="noStrike" kern="12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增大阈值或者过滤量的上限</a:t>
            </a:r>
            <a:r>
              <a:rPr lang="en-US" altLang="zh-CN" sz="1200" b="0" i="0" u="none" strike="noStrike" kern="1200" dirty="0">
                <a:solidFill>
                  <a:schemeClr val="tx1"/>
                </a:solidFill>
                <a:effectLst/>
                <a:latin typeface="+mn-lt"/>
                <a:ea typeface="+mn-ea"/>
                <a:cs typeface="+mn-cs"/>
              </a:rPr>
              <a:t>2.</a:t>
            </a:r>
            <a:r>
              <a:rPr lang="zh-CN" altLang="en-US" sz="1200" b="0" i="0" u="none" strike="noStrike" kern="1200" dirty="0">
                <a:solidFill>
                  <a:schemeClr val="tx1"/>
                </a:solidFill>
                <a:effectLst/>
                <a:latin typeface="+mn-lt"/>
                <a:ea typeface="+mn-ea"/>
                <a:cs typeface="+mn-cs"/>
              </a:rPr>
              <a:t>利用分布策略进行多区间多阈值判断</a:t>
            </a:r>
            <a:r>
              <a:rPr lang="en-US" altLang="zh-CN" sz="1200" b="0" i="0" u="none" strike="noStrike" kern="1200" dirty="0">
                <a:solidFill>
                  <a:schemeClr val="tx1"/>
                </a:solidFill>
                <a:effectLst/>
                <a:latin typeface="+mn-lt"/>
                <a:ea typeface="+mn-ea"/>
                <a:cs typeface="+mn-cs"/>
              </a:rPr>
              <a:t>3.</a:t>
            </a:r>
            <a:r>
              <a:rPr lang="zh-CN" altLang="en-US" sz="1200" b="0" i="0" u="none" strike="noStrike" kern="1200" dirty="0">
                <a:solidFill>
                  <a:schemeClr val="tx1"/>
                </a:solidFill>
                <a:effectLst/>
                <a:latin typeface="+mn-lt"/>
                <a:ea typeface="+mn-ea"/>
                <a:cs typeface="+mn-cs"/>
              </a:rPr>
              <a:t>控制适当的段长，</a:t>
            </a:r>
            <a:r>
              <a:rPr lang="en-US" altLang="zh-CN" sz="1200" b="0" i="0" u="none" strike="noStrike" kern="1200" dirty="0">
                <a:solidFill>
                  <a:schemeClr val="tx1"/>
                </a:solidFill>
                <a:effectLst/>
                <a:latin typeface="+mn-lt"/>
                <a:ea typeface="+mn-ea"/>
                <a:cs typeface="+mn-cs"/>
              </a:rPr>
              <a:t>4.</a:t>
            </a:r>
            <a:r>
              <a:rPr lang="zh-CN" altLang="en-US" sz="1200" b="0" i="0" u="none" strike="noStrike" kern="1200" dirty="0">
                <a:solidFill>
                  <a:schemeClr val="tx1"/>
                </a:solidFill>
                <a:effectLst/>
                <a:latin typeface="+mn-lt"/>
                <a:ea typeface="+mn-ea"/>
                <a:cs typeface="+mn-cs"/>
              </a:rPr>
              <a:t>多个特征检测</a:t>
            </a:r>
            <a:endParaRPr lang="en-US" altLang="zh-CN" sz="1200" kern="1200" dirty="0">
              <a:solidFill>
                <a:schemeClr val="tx1"/>
              </a:solidFill>
              <a:effectLst/>
              <a:latin typeface="+mn-lt"/>
              <a:ea typeface="+mn-ea"/>
              <a:cs typeface="+mn-cs"/>
            </a:endParaRPr>
          </a:p>
          <a:p>
            <a:endParaRPr kumimoji="1" lang="zh-CN" altLang="en-US" b="1"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18</a:t>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19</a:t>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保存在用户的浏览器</a:t>
            </a:r>
            <a:r>
              <a:rPr lang="en-GB" altLang="zh-CN" sz="1200" b="0" i="0" u="none" strike="noStrike" kern="1200" dirty="0">
                <a:solidFill>
                  <a:schemeClr val="tx1"/>
                </a:solidFill>
                <a:effectLst/>
                <a:latin typeface="+mn-lt"/>
                <a:ea typeface="+mn-ea"/>
                <a:cs typeface="+mn-cs"/>
              </a:rPr>
              <a:t>cookie</a:t>
            </a:r>
            <a:r>
              <a:rPr lang="zh-CN" altLang="en-US" sz="1200" b="0" i="0" u="none" strike="noStrike" kern="1200" dirty="0">
                <a:solidFill>
                  <a:schemeClr val="tx1"/>
                </a:solidFill>
                <a:effectLst/>
                <a:latin typeface="+mn-lt"/>
                <a:ea typeface="+mn-ea"/>
                <a:cs typeface="+mn-cs"/>
              </a:rPr>
              <a:t>的</a:t>
            </a:r>
            <a:r>
              <a:rPr lang="en-GB" altLang="zh-CN" sz="1200" b="0" i="0" u="none" strike="noStrike" kern="1200" dirty="0" err="1">
                <a:solidFill>
                  <a:schemeClr val="tx1"/>
                </a:solidFill>
                <a:effectLst/>
                <a:latin typeface="+mn-lt"/>
                <a:ea typeface="+mn-ea"/>
                <a:cs typeface="+mn-cs"/>
              </a:rPr>
              <a:t>baidu</a:t>
            </a:r>
            <a:r>
              <a:rPr lang="zh-CN" altLang="en-US" sz="1200" b="0" i="0" u="none" strike="noStrike" kern="1200" dirty="0">
                <a:solidFill>
                  <a:schemeClr val="tx1"/>
                </a:solidFill>
                <a:effectLst/>
                <a:latin typeface="+mn-lt"/>
                <a:ea typeface="+mn-ea"/>
                <a:cs typeface="+mn-cs"/>
              </a:rPr>
              <a:t>域中，作为</a:t>
            </a:r>
            <a:r>
              <a:rPr lang="en-GB" altLang="zh-CN" sz="1200" b="0" i="0" u="none" strike="noStrike" kern="1200" dirty="0">
                <a:solidFill>
                  <a:schemeClr val="tx1"/>
                </a:solidFill>
                <a:effectLst/>
                <a:latin typeface="+mn-lt"/>
                <a:ea typeface="+mn-ea"/>
                <a:cs typeface="+mn-cs"/>
              </a:rPr>
              <a:t>cookie</a:t>
            </a:r>
            <a:r>
              <a:rPr lang="zh-CN" altLang="en-US" sz="1200" b="0" i="0" u="none" strike="noStrike" kern="1200" dirty="0">
                <a:solidFill>
                  <a:schemeClr val="tx1"/>
                </a:solidFill>
                <a:effectLst/>
                <a:latin typeface="+mn-lt"/>
                <a:ea typeface="+mn-ea"/>
                <a:cs typeface="+mn-cs"/>
              </a:rPr>
              <a:t>的唯一标示，数据格式是</a:t>
            </a:r>
            <a:r>
              <a:rPr lang="en-US" altLang="zh-CN" sz="1200" b="0" i="0" u="none" strike="noStrike" kern="1200" dirty="0">
                <a:solidFill>
                  <a:schemeClr val="tx1"/>
                </a:solidFill>
                <a:effectLst/>
                <a:latin typeface="+mn-lt"/>
                <a:ea typeface="+mn-ea"/>
                <a:cs typeface="+mn-cs"/>
              </a:rPr>
              <a:t>32</a:t>
            </a:r>
            <a:r>
              <a:rPr lang="zh-CN" altLang="en-US" sz="1200" b="0" i="0" u="none" strike="noStrike" kern="1200" dirty="0">
                <a:solidFill>
                  <a:schemeClr val="tx1"/>
                </a:solidFill>
                <a:effectLst/>
                <a:latin typeface="+mn-lt"/>
                <a:ea typeface="+mn-ea"/>
                <a:cs typeface="+mn-cs"/>
              </a:rPr>
              <a:t>位</a:t>
            </a:r>
            <a:r>
              <a:rPr lang="en-US" altLang="zh-CN" sz="1200" b="0" i="0" u="none" strike="noStrike" kern="1200" dirty="0">
                <a:solidFill>
                  <a:schemeClr val="tx1"/>
                </a:solidFill>
                <a:effectLst/>
                <a:latin typeface="+mn-lt"/>
                <a:ea typeface="+mn-ea"/>
                <a:cs typeface="+mn-cs"/>
              </a:rPr>
              <a:t>16</a:t>
            </a:r>
            <a:r>
              <a:rPr lang="zh-CN" altLang="en-US" sz="1200" b="0" i="0" u="none" strike="noStrike" kern="1200" dirty="0">
                <a:solidFill>
                  <a:schemeClr val="tx1"/>
                </a:solidFill>
                <a:effectLst/>
                <a:latin typeface="+mn-lt"/>
                <a:ea typeface="+mn-ea"/>
                <a:cs typeface="+mn-cs"/>
              </a:rPr>
              <a:t>进制   </a:t>
            </a:r>
            <a:endParaRPr lang="en-US" altLang="zh-CN" sz="1200" b="0" i="0" u="none" strike="noStrike" kern="1200" dirty="0">
              <a:solidFill>
                <a:schemeClr val="tx1"/>
              </a:solidFill>
              <a:effectLst/>
              <a:latin typeface="+mn-lt"/>
              <a:ea typeface="+mn-ea"/>
              <a:cs typeface="+mn-cs"/>
            </a:endParaRPr>
          </a:p>
          <a:p>
            <a:r>
              <a:rPr lang="en-US" altLang="zh-CN" dirty="0">
                <a:effectLst/>
              </a:rPr>
              <a:t>1.360</a:t>
            </a:r>
            <a:r>
              <a:rPr lang="zh-CN" altLang="en-US" dirty="0">
                <a:effectLst/>
              </a:rPr>
              <a:t>会清理百度域的</a:t>
            </a:r>
            <a:r>
              <a:rPr lang="en-GB" altLang="zh-CN" dirty="0">
                <a:effectLst/>
              </a:rPr>
              <a:t>cookie </a:t>
            </a:r>
          </a:p>
          <a:p>
            <a:r>
              <a:rPr lang="en-GB" altLang="zh-CN" dirty="0">
                <a:effectLst/>
              </a:rPr>
              <a:t>2.</a:t>
            </a:r>
            <a:r>
              <a:rPr lang="zh-CN" altLang="en-US" dirty="0">
                <a:effectLst/>
              </a:rPr>
              <a:t>部分网吧的机器启动时会自动清理</a:t>
            </a:r>
            <a:r>
              <a:rPr lang="en-GB" altLang="zh-CN" dirty="0">
                <a:effectLst/>
              </a:rPr>
              <a:t>cookie </a:t>
            </a:r>
          </a:p>
          <a:p>
            <a:r>
              <a:rPr lang="en-GB" altLang="zh-CN" dirty="0">
                <a:effectLst/>
              </a:rPr>
              <a:t>3.</a:t>
            </a:r>
            <a:r>
              <a:rPr lang="zh-CN" altLang="en-US" dirty="0">
                <a:effectLst/>
              </a:rPr>
              <a:t>同一个用户使用不同浏览器会对应不同</a:t>
            </a:r>
            <a:r>
              <a:rPr lang="en-GB" altLang="zh-CN" dirty="0">
                <a:effectLst/>
              </a:rPr>
              <a:t>cookie</a:t>
            </a:r>
          </a:p>
          <a:p>
            <a:endParaRPr lang="en-GB" altLang="zh-CN" dirty="0">
              <a:effectLst/>
            </a:endParaRPr>
          </a:p>
          <a:p>
            <a:r>
              <a:rPr kumimoji="1" lang="en-US" altLang="zh-CN" sz="1200" b="1" dirty="0" err="1"/>
              <a:t>Baiduid</a:t>
            </a:r>
            <a:r>
              <a:rPr kumimoji="1" lang="zh-CN" altLang="en-US" sz="1200" b="1" dirty="0"/>
              <a:t>种重：</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由于生成函数有多个、可能出现</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种重（既不同用户拥有同样的</a:t>
            </a:r>
            <a:r>
              <a:rPr lang="en-GB" altLang="zh-CN" sz="1200" b="1" i="0" u="none" strike="noStrike" kern="1200" dirty="0" err="1">
                <a:solidFill>
                  <a:schemeClr val="tx1"/>
                </a:solidFill>
                <a:effectLst/>
                <a:latin typeface="+mn-lt"/>
                <a:ea typeface="+mn-ea"/>
                <a:cs typeface="+mn-cs"/>
              </a:rPr>
              <a:t>baiduid</a:t>
            </a:r>
            <a:r>
              <a:rPr lang="zh-CN" altLang="en-US" sz="1200" b="1" i="0" u="none" strike="noStrike" kern="1200" dirty="0">
                <a:solidFill>
                  <a:schemeClr val="tx1"/>
                </a:solidFill>
                <a:effectLst/>
                <a:latin typeface="+mn-lt"/>
                <a:ea typeface="+mn-ea"/>
                <a:cs typeface="+mn-cs"/>
              </a:rPr>
              <a:t>现象）</a:t>
            </a:r>
          </a:p>
          <a:p>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种重的判定：可以根据同一</a:t>
            </a:r>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下的</a:t>
            </a:r>
            <a:r>
              <a:rPr lang="en-GB" altLang="zh-CN" sz="1200" b="0" i="0" u="none" strike="noStrike" kern="1200" dirty="0" err="1">
                <a:solidFill>
                  <a:schemeClr val="tx1"/>
                </a:solidFill>
                <a:effectLst/>
                <a:latin typeface="+mn-lt"/>
                <a:ea typeface="+mn-ea"/>
                <a:cs typeface="+mn-cs"/>
              </a:rPr>
              <a:t>ua</a:t>
            </a:r>
            <a:r>
              <a:rPr lang="zh-CN" altLang="en-GB" sz="1200" b="0" i="0" u="none" strike="noStrike" kern="1200" dirty="0">
                <a:solidFill>
                  <a:schemeClr val="tx1"/>
                </a:solidFill>
                <a:effectLst/>
                <a:latin typeface="+mn-lt"/>
                <a:ea typeface="+mn-ea"/>
                <a:cs typeface="+mn-cs"/>
              </a:rPr>
              <a:t>、</a:t>
            </a:r>
            <a:r>
              <a:rPr lang="en-GB" altLang="zh-CN" sz="1200" b="0" i="0" u="none" strike="noStrike" kern="1200" dirty="0" err="1">
                <a:solidFill>
                  <a:schemeClr val="tx1"/>
                </a:solidFill>
                <a:effectLst/>
                <a:latin typeface="+mn-lt"/>
                <a:ea typeface="+mn-ea"/>
                <a:cs typeface="+mn-cs"/>
              </a:rPr>
              <a:t>ip</a:t>
            </a:r>
            <a:r>
              <a:rPr lang="zh-CN" altLang="en-US" sz="1200" b="0" i="0" u="none" strike="noStrike" kern="1200" dirty="0">
                <a:solidFill>
                  <a:schemeClr val="tx1"/>
                </a:solidFill>
                <a:effectLst/>
                <a:latin typeface="+mn-lt"/>
                <a:ea typeface="+mn-ea"/>
                <a:cs typeface="+mn-cs"/>
              </a:rPr>
              <a:t>的个数和查询意图来判断。种重不是作弊。</a:t>
            </a:r>
          </a:p>
          <a:p>
            <a:endParaRPr lang="en-US" altLang="zh-CN"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访问百度产品</a:t>
            </a:r>
            <a:r>
              <a:rPr lang="zh-CN" altLang="en-US" sz="1200" b="0" i="0" kern="1200" dirty="0">
                <a:solidFill>
                  <a:schemeClr val="tx1"/>
                </a:solidFill>
                <a:effectLst/>
                <a:latin typeface="+mn-lt"/>
                <a:ea typeface="+mn-ea"/>
                <a:cs typeface="+mn-cs"/>
              </a:rPr>
              <a:t>是指打开一个网页或者</a:t>
            </a:r>
            <a:r>
              <a:rPr lang="en-GB" altLang="zh-CN" sz="1200" b="0" i="0" kern="1200" dirty="0">
                <a:solidFill>
                  <a:schemeClr val="tx1"/>
                </a:solidFill>
                <a:effectLst/>
                <a:latin typeface="+mn-lt"/>
                <a:ea typeface="+mn-ea"/>
                <a:cs typeface="+mn-cs"/>
              </a:rPr>
              <a:t>APP</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与百度有合作关系的网页或者</a:t>
            </a:r>
            <a:r>
              <a:rPr lang="en-US" altLang="zh-CN" sz="1200" b="0" i="0" kern="1200" dirty="0">
                <a:solidFill>
                  <a:schemeClr val="tx1"/>
                </a:solidFill>
                <a:effectLst/>
                <a:latin typeface="+mn-lt"/>
                <a:ea typeface="+mn-ea"/>
                <a:cs typeface="+mn-cs"/>
              </a:rPr>
              <a:t>app</a:t>
            </a:r>
            <a:r>
              <a:rPr lang="zh-CN" altLang="en-US" sz="1200" b="0" i="0" kern="1200" dirty="0">
                <a:solidFill>
                  <a:schemeClr val="tx1"/>
                </a:solidFill>
                <a:effectLst/>
                <a:latin typeface="+mn-lt"/>
                <a:ea typeface="+mn-ea"/>
                <a:cs typeface="+mn-cs"/>
              </a:rPr>
              <a:t>。</a:t>
            </a:r>
            <a:endParaRPr lang="en-GB" altLang="zh-CN" sz="1200" b="0" i="0" kern="1200" dirty="0">
              <a:solidFill>
                <a:schemeClr val="tx1"/>
              </a:solidFill>
              <a:effectLst/>
              <a:latin typeface="+mn-lt"/>
              <a:ea typeface="+mn-ea"/>
              <a:cs typeface="+mn-cs"/>
            </a:endParaRPr>
          </a:p>
          <a:p>
            <a:r>
              <a:rPr lang="en-GB" altLang="zh-CN" sz="1200" b="0" i="0" kern="1200" dirty="0" err="1">
                <a:solidFill>
                  <a:schemeClr val="tx1"/>
                </a:solidFill>
                <a:effectLst/>
                <a:latin typeface="+mn-lt"/>
                <a:ea typeface="+mn-ea"/>
                <a:cs typeface="+mn-cs"/>
              </a:rPr>
              <a:t>baiduid</a:t>
            </a:r>
            <a:r>
              <a:rPr lang="zh-CN" altLang="en-US" sz="1200" b="0" i="0" kern="1200" dirty="0">
                <a:solidFill>
                  <a:schemeClr val="tx1"/>
                </a:solidFill>
                <a:effectLst/>
                <a:latin typeface="+mn-lt"/>
                <a:ea typeface="+mn-ea"/>
                <a:cs typeface="+mn-cs"/>
              </a:rPr>
              <a:t>新鲜度有可能小于</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。当用户发生检索或点击后，再清除浏览器的</a:t>
            </a:r>
            <a:r>
              <a:rPr lang="en-GB" altLang="zh-CN" sz="1200" b="0" i="0" kern="1200" dirty="0">
                <a:solidFill>
                  <a:schemeClr val="tx1"/>
                </a:solidFill>
                <a:effectLst/>
                <a:latin typeface="+mn-lt"/>
                <a:ea typeface="+mn-ea"/>
                <a:cs typeface="+mn-cs"/>
              </a:rPr>
              <a:t>cookie</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此时</a:t>
            </a:r>
            <a:r>
              <a:rPr lang="en-GB" altLang="zh-CN" sz="1200" b="0" i="0" kern="1200" dirty="0" err="1">
                <a:solidFill>
                  <a:schemeClr val="tx1"/>
                </a:solidFill>
                <a:effectLst/>
                <a:latin typeface="+mn-lt"/>
                <a:ea typeface="+mn-ea"/>
                <a:cs typeface="+mn-cs"/>
              </a:rPr>
              <a:t>baiduid</a:t>
            </a:r>
            <a:r>
              <a:rPr lang="zh-CN" altLang="en-US" sz="1200" b="0" i="0" kern="1200" dirty="0">
                <a:solidFill>
                  <a:schemeClr val="tx1"/>
                </a:solidFill>
                <a:effectLst/>
                <a:latin typeface="+mn-lt"/>
                <a:ea typeface="+mn-ea"/>
                <a:cs typeface="+mn-cs"/>
              </a:rPr>
              <a:t>新鲜度会小于</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a:t>
            </a:r>
          </a:p>
          <a:p>
            <a:br>
              <a:rPr lang="en-GB" altLang="zh-CN" dirty="0"/>
            </a:b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20</a:t>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21</a:t>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22</a:t>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defRPr/>
            </a:pPr>
            <a:r>
              <a:rPr lang="en-GB" altLang="zh-CN" sz="1200" b="0" i="0" u="none" strike="noStrike" kern="1200" dirty="0" err="1">
                <a:solidFill>
                  <a:schemeClr val="tx1"/>
                </a:solidFill>
                <a:effectLst/>
                <a:latin typeface="+mn-lt"/>
                <a:ea typeface="+mn-ea"/>
                <a:cs typeface="+mn-cs"/>
              </a:rPr>
              <a:t>url</a:t>
            </a:r>
            <a:r>
              <a:rPr lang="zh-CN" altLang="en-GB" sz="1200" b="0" i="0" u="none" strike="noStrike" kern="1200" dirty="0">
                <a:solidFill>
                  <a:schemeClr val="tx1"/>
                </a:solidFill>
                <a:effectLst/>
                <a:latin typeface="+mn-lt"/>
                <a:ea typeface="+mn-ea"/>
                <a:cs typeface="+mn-cs"/>
              </a:rPr>
              <a:t>点击</a:t>
            </a:r>
            <a:r>
              <a:rPr lang="zh-CN" altLang="en-US" sz="1200" b="0" i="0" u="none" strike="noStrike" kern="1200" dirty="0">
                <a:solidFill>
                  <a:schemeClr val="tx1"/>
                </a:solidFill>
                <a:effectLst/>
                <a:latin typeface="+mn-lt"/>
                <a:ea typeface="+mn-ea"/>
                <a:cs typeface="+mn-cs"/>
              </a:rPr>
              <a:t>串的生成过程为。。。</a:t>
            </a:r>
            <a:endParaRPr lang="en-GB" altLang="zh-CN"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defRPr/>
            </a:pPr>
            <a:r>
              <a:rPr lang="zh-CN" altLang="en-US" sz="1200" b="0" i="0" u="none" strike="noStrike" kern="1200" dirty="0">
                <a:solidFill>
                  <a:schemeClr val="tx1"/>
                </a:solidFill>
                <a:effectLst/>
                <a:latin typeface="+mn-lt"/>
                <a:ea typeface="+mn-ea"/>
                <a:cs typeface="+mn-cs"/>
              </a:rPr>
              <a:t>一条日志的</a:t>
            </a:r>
            <a:r>
              <a:rPr lang="en-GB" altLang="zh-CN" sz="1200" b="0" i="0" u="none" strike="noStrike" kern="1200" dirty="0">
                <a:solidFill>
                  <a:schemeClr val="tx1"/>
                </a:solidFill>
                <a:effectLst/>
                <a:latin typeface="+mn-lt"/>
                <a:ea typeface="+mn-ea"/>
                <a:cs typeface="+mn-cs"/>
              </a:rPr>
              <a:t>ck</a:t>
            </a:r>
            <a:r>
              <a:rPr lang="zh-CN" altLang="en-US" sz="1200" b="0" i="0" u="none" strike="noStrike" kern="1200" dirty="0">
                <a:solidFill>
                  <a:schemeClr val="tx1"/>
                </a:solidFill>
                <a:effectLst/>
                <a:latin typeface="+mn-lt"/>
                <a:ea typeface="+mn-ea"/>
                <a:cs typeface="+mn-cs"/>
              </a:rPr>
              <a:t>域在检索端返回搜索结果的时候就已经生成了。</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GB" altLang="zh-CN"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200" b="0" i="0" u="none" strike="noStrike" kern="1200" dirty="0">
                <a:solidFill>
                  <a:schemeClr val="tx1"/>
                </a:solidFill>
                <a:effectLst/>
                <a:latin typeface="+mn-lt"/>
                <a:ea typeface="+mn-ea"/>
                <a:cs typeface="+mn-cs"/>
              </a:rPr>
              <a:t>us</a:t>
            </a:r>
            <a:r>
              <a:rPr lang="zh-CN" altLang="en-US" sz="1200" b="0" i="0" u="none" strike="noStrike" kern="1200" dirty="0">
                <a:solidFill>
                  <a:schemeClr val="tx1"/>
                </a:solidFill>
                <a:effectLst/>
                <a:latin typeface="+mn-lt"/>
                <a:ea typeface="+mn-ea"/>
                <a:cs typeface="+mn-cs"/>
              </a:rPr>
              <a:t>字段是扩展字段，接入方如果有信息在</a:t>
            </a:r>
            <a:r>
              <a:rPr lang="en-GB" altLang="zh-CN" sz="1200" b="0" i="0" u="none" strike="noStrike" kern="1200" dirty="0" err="1">
                <a:solidFill>
                  <a:schemeClr val="tx1"/>
                </a:solidFill>
                <a:effectLst/>
                <a:latin typeface="+mn-lt"/>
                <a:ea typeface="+mn-ea"/>
                <a:cs typeface="+mn-cs"/>
              </a:rPr>
              <a:t>i,j,k</a:t>
            </a:r>
            <a:r>
              <a:rPr lang="zh-CN" altLang="en-US" sz="1200" b="0" i="0" u="none" strike="noStrike" kern="1200" dirty="0">
                <a:solidFill>
                  <a:schemeClr val="tx1"/>
                </a:solidFill>
                <a:effectLst/>
                <a:latin typeface="+mn-lt"/>
                <a:ea typeface="+mn-ea"/>
                <a:cs typeface="+mn-cs"/>
              </a:rPr>
              <a:t>和</a:t>
            </a:r>
            <a:r>
              <a:rPr lang="en-GB" altLang="zh-CN" sz="1200" b="0" i="0" u="none" strike="noStrike" kern="1200" dirty="0">
                <a:solidFill>
                  <a:schemeClr val="tx1"/>
                </a:solidFill>
                <a:effectLst/>
                <a:latin typeface="+mn-lt"/>
                <a:ea typeface="+mn-ea"/>
                <a:cs typeface="+mn-cs"/>
              </a:rPr>
              <a:t>ck</a:t>
            </a:r>
            <a:r>
              <a:rPr lang="zh-CN" altLang="en-US" sz="1200" b="0" i="0" u="none" strike="noStrike" kern="1200" dirty="0">
                <a:solidFill>
                  <a:schemeClr val="tx1"/>
                </a:solidFill>
                <a:effectLst/>
                <a:latin typeface="+mn-lt"/>
                <a:ea typeface="+mn-ea"/>
                <a:cs typeface="+mn-cs"/>
              </a:rPr>
              <a:t>域不能完全表达，则可将信息放入</a:t>
            </a:r>
            <a:r>
              <a:rPr lang="en-GB" altLang="zh-CN" sz="1200" b="0" i="0" u="none" strike="noStrike" kern="1200" dirty="0">
                <a:solidFill>
                  <a:schemeClr val="tx1"/>
                </a:solidFill>
                <a:effectLst/>
                <a:latin typeface="+mn-lt"/>
                <a:ea typeface="+mn-ea"/>
                <a:cs typeface="+mn-cs"/>
              </a:rPr>
              <a:t>us</a:t>
            </a:r>
            <a:r>
              <a:rPr lang="zh-CN" altLang="en-US" sz="1200" b="0" i="0" u="none" strike="noStrike" kern="1200" dirty="0">
                <a:solidFill>
                  <a:schemeClr val="tx1"/>
                </a:solidFill>
                <a:effectLst/>
                <a:latin typeface="+mn-lt"/>
                <a:ea typeface="+mn-ea"/>
                <a:cs typeface="+mn-cs"/>
              </a:rPr>
              <a:t>域中，</a:t>
            </a:r>
            <a:r>
              <a:rPr lang="en-GB" altLang="zh-CN" sz="1200" b="0" i="0" u="none" strike="noStrike" kern="1200" dirty="0">
                <a:solidFill>
                  <a:schemeClr val="tx1"/>
                </a:solidFill>
                <a:effectLst/>
                <a:latin typeface="+mn-lt"/>
                <a:ea typeface="+mn-ea"/>
                <a:cs typeface="+mn-cs"/>
              </a:rPr>
              <a:t>us</a:t>
            </a:r>
            <a:r>
              <a:rPr lang="zh-CN" altLang="en-US" sz="1200" b="0" i="0" u="none" strike="noStrike" kern="1200" dirty="0">
                <a:solidFill>
                  <a:schemeClr val="tx1"/>
                </a:solidFill>
                <a:effectLst/>
                <a:latin typeface="+mn-lt"/>
                <a:ea typeface="+mn-ea"/>
                <a:cs typeface="+mn-cs"/>
              </a:rPr>
              <a:t>域不能使用的特殊字符”</a:t>
            </a:r>
            <a:r>
              <a:rPr lang="en-US" altLang="zh-CN" sz="1200" b="0" i="0" u="none" strike="noStrike" kern="1200" dirty="0">
                <a:solidFill>
                  <a:schemeClr val="tx1"/>
                </a:solidFill>
                <a:effectLst/>
                <a:latin typeface="+mn-lt"/>
                <a:ea typeface="+mn-ea"/>
                <a:cs typeface="+mn-cs"/>
              </a:rPr>
              <a:t>,=&amp;”,</a:t>
            </a:r>
            <a:r>
              <a:rPr lang="zh-CN" altLang="en-US" sz="1200" b="0" i="0" u="none" strike="noStrike" kern="1200" dirty="0">
                <a:solidFill>
                  <a:schemeClr val="tx1"/>
                </a:solidFill>
                <a:effectLst/>
                <a:latin typeface="+mn-lt"/>
                <a:ea typeface="+mn-ea"/>
                <a:cs typeface="+mn-cs"/>
              </a:rPr>
              <a:t>且限长</a:t>
            </a:r>
            <a:r>
              <a:rPr lang="en-US" altLang="zh-CN" sz="1200" b="0" i="0" u="none" strike="noStrike" kern="1200" dirty="0">
                <a:solidFill>
                  <a:schemeClr val="tx1"/>
                </a:solidFill>
                <a:effectLst/>
                <a:latin typeface="+mn-lt"/>
                <a:ea typeface="+mn-ea"/>
                <a:cs typeface="+mn-cs"/>
              </a:rPr>
              <a:t>255</a:t>
            </a:r>
            <a:r>
              <a:rPr lang="zh-CN" altLang="en-US" sz="1200" b="0" i="0" u="none" strike="noStrike" kern="1200" dirty="0">
                <a:solidFill>
                  <a:schemeClr val="tx1"/>
                </a:solidFill>
                <a:effectLst/>
                <a:latin typeface="+mn-lt"/>
                <a:ea typeface="+mn-ea"/>
                <a:cs typeface="+mn-cs"/>
              </a:rPr>
              <a:t>字节。</a:t>
            </a:r>
          </a:p>
          <a:p>
            <a:endParaRPr kumimoji="1" lang="en-US" altLang="zh-CN" dirty="0"/>
          </a:p>
          <a:p>
            <a:r>
              <a:rPr kumimoji="1" lang="en-US" altLang="zh-CN" dirty="0"/>
              <a:t>BFE</a:t>
            </a:r>
            <a:r>
              <a:rPr kumimoji="1" lang="zh-CN" altLang="en-US" dirty="0"/>
              <a:t>：百度七层流量接入平台。核心功能是：接入和转发、全局流量调度、安全和防攻击、数据分析。</a:t>
            </a:r>
            <a:endParaRPr kumimoji="1" lang="en-US" altLang="zh-CN" dirty="0"/>
          </a:p>
          <a:p>
            <a:endParaRPr kumimoji="1" lang="en-US" altLang="zh-CN" noProof="0" dirty="0"/>
          </a:p>
          <a:p>
            <a:r>
              <a:rPr kumimoji="1" lang="en-US" altLang="zh-CN" dirty="0" err="1"/>
              <a:t>Rcv</a:t>
            </a:r>
            <a:r>
              <a:rPr kumimoji="1" lang="zh-CN" altLang="en-US" dirty="0"/>
              <a:t>：点击主要是指用户点击广告的行为，当用户点击了检索结果中的某条广告，点击请求被转发到</a:t>
            </a:r>
            <a:r>
              <a:rPr kumimoji="1" lang="en-US" altLang="zh-CN" dirty="0"/>
              <a:t>BFE</a:t>
            </a:r>
            <a:r>
              <a:rPr kumimoji="1" lang="zh-CN" altLang="en-US" dirty="0"/>
              <a:t>，</a:t>
            </a:r>
            <a:r>
              <a:rPr kumimoji="1" lang="en-US" altLang="zh-CN" dirty="0"/>
              <a:t>BFE</a:t>
            </a:r>
            <a:r>
              <a:rPr kumimoji="1" lang="zh-CN" altLang="en-US" dirty="0"/>
              <a:t>将请求转发到某个机房的</a:t>
            </a:r>
            <a:r>
              <a:rPr kumimoji="1" lang="en-US" altLang="zh-CN" dirty="0"/>
              <a:t>RCV</a:t>
            </a:r>
            <a:r>
              <a:rPr kumimoji="1" lang="zh-CN" altLang="en-US" dirty="0"/>
              <a:t>服务器，</a:t>
            </a:r>
            <a:r>
              <a:rPr kumimoji="1" lang="en-US" altLang="zh-CN" dirty="0"/>
              <a:t>RCV</a:t>
            </a:r>
            <a:r>
              <a:rPr kumimoji="1" lang="zh-CN" altLang="en-US" dirty="0"/>
              <a:t>服务器从点击串提取必要字段，生成一条点击日志落到本地，然后返回本次点击需要跳转的</a:t>
            </a:r>
            <a:r>
              <a:rPr kumimoji="1" lang="en-US" altLang="zh-CN" dirty="0"/>
              <a:t>URL</a:t>
            </a:r>
            <a:r>
              <a:rPr kumimoji="1" lang="zh-CN" altLang="en-US" dirty="0"/>
              <a:t>，客户端根据该</a:t>
            </a:r>
            <a:r>
              <a:rPr kumimoji="1" lang="en-US" altLang="zh-CN" dirty="0"/>
              <a:t>URL</a:t>
            </a:r>
            <a:r>
              <a:rPr kumimoji="1" lang="zh-CN" altLang="en-US" dirty="0"/>
              <a:t>跳转到广告页面。</a:t>
            </a:r>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23</a:t>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200" kern="1200" dirty="0" err="1">
                <a:solidFill>
                  <a:schemeClr val="tx1"/>
                </a:solidFill>
                <a:effectLst/>
                <a:latin typeface="+mn-lt"/>
                <a:ea typeface="+mn-ea"/>
                <a:cs typeface="+mn-cs"/>
              </a:rPr>
              <a:t>winfoid</a:t>
            </a:r>
            <a:r>
              <a:rPr lang="zh-CN" altLang="en-GB" sz="1200" kern="1200" dirty="0">
                <a:solidFill>
                  <a:schemeClr val="tx1"/>
                </a:solidFill>
                <a:effectLst/>
                <a:latin typeface="+mn-lt"/>
                <a:ea typeface="+mn-ea"/>
                <a:cs typeface="+mn-cs"/>
              </a:rPr>
              <a:t>：</a:t>
            </a:r>
            <a:r>
              <a:rPr lang="en-GB"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每条广告的投放</a:t>
            </a:r>
            <a:r>
              <a:rPr lang="en-GB" altLang="zh-CN" sz="1200" kern="1200" dirty="0">
                <a:solidFill>
                  <a:schemeClr val="tx1"/>
                </a:solidFill>
                <a:effectLst/>
                <a:latin typeface="+mn-lt"/>
                <a:ea typeface="+mn-ea"/>
                <a:cs typeface="+mn-cs"/>
              </a:rPr>
              <a:t>id</a:t>
            </a:r>
            <a:r>
              <a:rPr lang="zh-CN" altLang="en-GB" sz="1200" kern="1200" dirty="0">
                <a:solidFill>
                  <a:schemeClr val="tx1"/>
                </a:solidFill>
                <a:effectLst/>
                <a:latin typeface="+mn-lt"/>
                <a:ea typeface="+mn-ea"/>
                <a:cs typeface="+mn-cs"/>
              </a:rPr>
              <a:t>；</a:t>
            </a:r>
            <a:r>
              <a:rPr lang="en-GB" altLang="zh-CN" sz="1200" kern="1200" dirty="0" err="1">
                <a:solidFill>
                  <a:schemeClr val="tx1"/>
                </a:solidFill>
                <a:effectLst/>
                <a:latin typeface="+mn-lt"/>
                <a:ea typeface="+mn-ea"/>
                <a:cs typeface="+mn-cs"/>
              </a:rPr>
              <a:t>url_sign</a:t>
            </a:r>
            <a:r>
              <a:rPr lang="en-GB" altLang="zh-CN" sz="1200" kern="1200" dirty="0">
                <a:solidFill>
                  <a:schemeClr val="tx1"/>
                </a:solidFill>
                <a:effectLst/>
                <a:latin typeface="+mn-lt"/>
                <a:ea typeface="+mn-ea"/>
                <a:cs typeface="+mn-cs"/>
              </a:rPr>
              <a:t>: </a:t>
            </a:r>
            <a:r>
              <a:rPr lang="en-GB" altLang="zh-CN" sz="1200" kern="1200" dirty="0" err="1">
                <a:solidFill>
                  <a:schemeClr val="tx1"/>
                </a:solidFill>
                <a:effectLst/>
                <a:latin typeface="+mn-lt"/>
                <a:ea typeface="+mn-ea"/>
                <a:cs typeface="+mn-cs"/>
              </a:rPr>
              <a:t>kv</a:t>
            </a:r>
            <a:r>
              <a:rPr lang="zh-CN" altLang="en-US" sz="1200" kern="1200" dirty="0">
                <a:solidFill>
                  <a:schemeClr val="tx1"/>
                </a:solidFill>
                <a:effectLst/>
                <a:latin typeface="+mn-lt"/>
                <a:ea typeface="+mn-ea"/>
                <a:cs typeface="+mn-cs"/>
              </a:rPr>
              <a:t>域里</a:t>
            </a:r>
            <a:r>
              <a:rPr lang="en-US" altLang="zh-CN" sz="1200" kern="1200" dirty="0" err="1">
                <a:solidFill>
                  <a:schemeClr val="tx1"/>
                </a:solidFill>
                <a:effectLst/>
                <a:latin typeface="+mn-lt"/>
                <a:ea typeface="+mn-ea"/>
                <a:cs typeface="+mn-cs"/>
              </a:rPr>
              <a:t>url</a:t>
            </a:r>
            <a:r>
              <a:rPr lang="zh-CN" altLang="en-US" sz="1200" kern="1200" dirty="0">
                <a:solidFill>
                  <a:schemeClr val="tx1"/>
                </a:solidFill>
                <a:effectLst/>
                <a:latin typeface="+mn-lt"/>
                <a:ea typeface="+mn-ea"/>
                <a:cs typeface="+mn-cs"/>
              </a:rPr>
              <a:t>的签名 </a:t>
            </a:r>
            <a:r>
              <a:rPr lang="en-US" altLang="zh-CN" sz="1200" kern="1200" dirty="0" err="1">
                <a:solidFill>
                  <a:schemeClr val="tx1"/>
                </a:solidFill>
                <a:effectLst/>
                <a:latin typeface="+mn-lt"/>
                <a:ea typeface="+mn-ea"/>
                <a:cs typeface="+mn-cs"/>
              </a:rPr>
              <a:t>winfoid</a:t>
            </a:r>
            <a:r>
              <a:rPr lang="zh-CN" altLang="en-US" sz="1200" kern="1200" dirty="0">
                <a:solidFill>
                  <a:schemeClr val="tx1"/>
                </a:solidFill>
                <a:effectLst/>
                <a:latin typeface="+mn-lt"/>
                <a:ea typeface="+mn-ea"/>
                <a:cs typeface="+mn-cs"/>
              </a:rPr>
              <a:t>广告</a:t>
            </a:r>
            <a:r>
              <a:rPr lang="en-US" altLang="zh-CN" sz="1200" kern="1200" dirty="0">
                <a:solidFill>
                  <a:schemeClr val="tx1"/>
                </a:solidFill>
                <a:effectLst/>
                <a:latin typeface="+mn-lt"/>
                <a:ea typeface="+mn-ea"/>
                <a:cs typeface="+mn-cs"/>
              </a:rPr>
              <a:t>id</a:t>
            </a:r>
            <a:r>
              <a:rPr lang="zh-CN" altLang="en-US"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tu</a:t>
            </a:r>
            <a:r>
              <a:rPr lang="zh-CN" altLang="en-US" sz="1200" kern="1200" dirty="0">
                <a:solidFill>
                  <a:schemeClr val="tx1"/>
                </a:solidFill>
                <a:effectLst/>
                <a:latin typeface="+mn-lt"/>
                <a:ea typeface="+mn-ea"/>
                <a:cs typeface="+mn-cs"/>
              </a:rPr>
              <a:t> 广告位</a:t>
            </a:r>
            <a:r>
              <a:rPr lang="en-US" altLang="zh-CN" sz="1200" kern="1200" dirty="0">
                <a:solidFill>
                  <a:schemeClr val="tx1"/>
                </a:solidFill>
                <a:effectLst/>
                <a:latin typeface="+mn-lt"/>
                <a:ea typeface="+mn-ea"/>
                <a:cs typeface="+mn-cs"/>
              </a:rPr>
              <a:t>id</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kern="1200" dirty="0">
              <a:solidFill>
                <a:schemeClr val="tx1"/>
              </a:solidFill>
              <a:effectLst/>
              <a:latin typeface="+mn-lt"/>
              <a:ea typeface="+mn-ea"/>
              <a:cs typeface="+mn-cs"/>
            </a:endParaRPr>
          </a:p>
          <a:p>
            <a:endParaRPr kumimoji="1" lang="zh-CN" altLang="en-US" b="1"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24</a:t>
            </a:fld>
            <a:endParaRPr kumimoji="1"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25</a:t>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26</a:t>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27</a:t>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200" dirty="0" err="1">
                <a:solidFill>
                  <a:srgbClr val="FF0000"/>
                </a:solidFill>
              </a:rPr>
              <a:t>Dformat</a:t>
            </a:r>
            <a:r>
              <a:rPr kumimoji="1" lang="zh-CN" altLang="en-US" sz="1200" dirty="0">
                <a:solidFill>
                  <a:srgbClr val="FF0000"/>
                </a:solidFill>
              </a:rPr>
              <a:t>的统计类策略：有，针对大型作弊的，就是不用全局变量也能过滤的，阈值设置的比较大，有几个比例是</a:t>
            </a:r>
            <a:endParaRPr kumimoji="1" lang="en-US" altLang="zh-CN" sz="1200" dirty="0">
              <a:solidFill>
                <a:srgbClr val="FF0000"/>
              </a:solidFill>
            </a:endParaRPr>
          </a:p>
          <a:p>
            <a:endParaRPr kumimoji="1"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策略类型是</a:t>
            </a:r>
            <a:r>
              <a:rPr lang="en-US" altLang="zh-CN" dirty="0" err="1"/>
              <a:t>acp</a:t>
            </a:r>
            <a:r>
              <a:rPr lang="zh-CN" altLang="en-US" dirty="0"/>
              <a:t>，意思是使用</a:t>
            </a:r>
            <a:r>
              <a:rPr lang="en-US" altLang="zh-CN" dirty="0" err="1"/>
              <a:t>sum_segment</a:t>
            </a:r>
            <a:r>
              <a:rPr lang="en-US" altLang="zh-CN" dirty="0"/>
              <a:t>/segment</a:t>
            </a:r>
            <a:r>
              <a:rPr lang="zh-CN" altLang="en-US" dirty="0"/>
              <a:t>，计算每个主维度对象下，子维度对象值的平均值。</a:t>
            </a:r>
            <a:endParaRPr lang="en-US" altLang="zh-CN" dirty="0"/>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28</a:t>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29</a:t>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30</a:t>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灰名单是一种比较特殊的特征，</a:t>
            </a:r>
            <a:r>
              <a:rPr lang="zh-CN" altLang="en-US" sz="1200" b="0" i="0" kern="1200" dirty="0">
                <a:solidFill>
                  <a:schemeClr val="tx1"/>
                </a:solidFill>
                <a:effectLst/>
                <a:latin typeface="+mn-lt"/>
                <a:ea typeface="+mn-ea"/>
                <a:cs typeface="+mn-cs"/>
              </a:rPr>
              <a:t>例如策略</a:t>
            </a:r>
            <a:r>
              <a:rPr lang="en-US" altLang="zh-CN" sz="1200" b="0" i="0" kern="1200" dirty="0">
                <a:solidFill>
                  <a:schemeClr val="tx1"/>
                </a:solidFill>
                <a:effectLst/>
                <a:latin typeface="+mn-lt"/>
                <a:ea typeface="+mn-ea"/>
                <a:cs typeface="+mn-cs"/>
              </a:rPr>
              <a:t>331</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pc</a:t>
            </a:r>
            <a:r>
              <a:rPr lang="zh-CN" altLang="en-US" sz="1200" b="0" i="0" kern="1200" dirty="0">
                <a:solidFill>
                  <a:schemeClr val="tx1"/>
                </a:solidFill>
                <a:effectLst/>
                <a:latin typeface="+mn-lt"/>
                <a:ea typeface="+mn-ea"/>
                <a:cs typeface="+mn-cs"/>
              </a:rPr>
              <a:t>端每</a:t>
            </a:r>
            <a:r>
              <a:rPr lang="en-US" altLang="zh-CN" sz="1200" b="0" i="0" kern="1200" dirty="0">
                <a:solidFill>
                  <a:schemeClr val="tx1"/>
                </a:solidFill>
                <a:effectLst/>
                <a:latin typeface="+mn-lt"/>
                <a:ea typeface="+mn-ea"/>
                <a:cs typeface="+mn-cs"/>
              </a:rPr>
              <a:t>10</a:t>
            </a:r>
            <a:r>
              <a:rPr lang="zh-CN" altLang="en-US" sz="1200" b="0" i="0" kern="1200" dirty="0">
                <a:solidFill>
                  <a:schemeClr val="tx1"/>
                </a:solidFill>
                <a:effectLst/>
                <a:latin typeface="+mn-lt"/>
                <a:ea typeface="+mn-ea"/>
                <a:cs typeface="+mn-cs"/>
              </a:rPr>
              <a:t>万</a:t>
            </a:r>
            <a:r>
              <a:rPr lang="en-US" altLang="zh-CN" sz="1200" b="0" i="0" kern="1200" dirty="0" err="1">
                <a:solidFill>
                  <a:schemeClr val="tx1"/>
                </a:solidFill>
                <a:effectLst/>
                <a:latin typeface="+mn-lt"/>
                <a:ea typeface="+mn-ea"/>
                <a:cs typeface="+mn-cs"/>
              </a:rPr>
              <a:t>pv</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同一点击</a:t>
            </a:r>
            <a:r>
              <a:rPr lang="en-US"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出现的次数不超过</a:t>
            </a:r>
            <a:r>
              <a:rPr lang="en-US" altLang="zh-CN" sz="1200" b="0" i="0" kern="1200" dirty="0">
                <a:solidFill>
                  <a:schemeClr val="tx1"/>
                </a:solidFill>
                <a:effectLst/>
                <a:latin typeface="+mn-lt"/>
                <a:ea typeface="+mn-ea"/>
                <a:cs typeface="+mn-cs"/>
              </a:rPr>
              <a:t>150</a:t>
            </a:r>
            <a:r>
              <a:rPr lang="zh-CN" altLang="en-US" sz="1200" b="0" i="0" kern="1200" dirty="0">
                <a:solidFill>
                  <a:schemeClr val="tx1"/>
                </a:solidFill>
                <a:effectLst/>
                <a:latin typeface="+mn-lt"/>
                <a:ea typeface="+mn-ea"/>
                <a:cs typeface="+mn-cs"/>
              </a:rPr>
              <a:t>。但如果</a:t>
            </a:r>
            <a:r>
              <a:rPr lang="en-US"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与灰名单词表文件匹配成功则视为大</a:t>
            </a:r>
            <a:r>
              <a:rPr lang="en-US"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，对于大</a:t>
            </a:r>
            <a:r>
              <a:rPr lang="en-US"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配置了灰名单</a:t>
            </a:r>
            <a:r>
              <a:rPr lang="en-US" altLang="zh-CN" sz="1200" b="0" i="0" kern="1200" dirty="0">
                <a:solidFill>
                  <a:schemeClr val="tx1"/>
                </a:solidFill>
                <a:effectLst/>
                <a:latin typeface="+mn-lt"/>
                <a:ea typeface="+mn-ea"/>
                <a:cs typeface="+mn-cs"/>
              </a:rPr>
              <a:t>331.gray</a:t>
            </a:r>
            <a:r>
              <a:rPr lang="zh-CN" altLang="en-US" sz="1200" b="0" i="0" kern="1200" dirty="0">
                <a:solidFill>
                  <a:schemeClr val="tx1"/>
                </a:solidFill>
                <a:effectLst/>
                <a:latin typeface="+mn-lt"/>
                <a:ea typeface="+mn-ea"/>
                <a:cs typeface="+mn-cs"/>
              </a:rPr>
              <a:t>，提高了阈值</a:t>
            </a:r>
            <a:r>
              <a:rPr lang="en-US" altLang="zh-CN" sz="1200" b="0" i="0" kern="1200" dirty="0">
                <a:solidFill>
                  <a:schemeClr val="tx1"/>
                </a:solidFill>
                <a:effectLst/>
                <a:latin typeface="+mn-lt"/>
                <a:ea typeface="+mn-ea"/>
                <a:cs typeface="+mn-cs"/>
              </a:rPr>
              <a:t>threshold</a:t>
            </a:r>
            <a:endParaRPr lang="en-US" altLang="zh-CN" dirty="0"/>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31</a:t>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1200" dirty="0">
                <a:latin typeface="微软雅黑" panose="020B0503020204020204" pitchFamily="34" charset="-122"/>
                <a:ea typeface="微软雅黑" panose="020B0503020204020204" pitchFamily="34" charset="-122"/>
                <a:cs typeface="宋体" charset="0"/>
              </a:rPr>
              <a:t>查找做二分查找</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程序会将</a:t>
            </a:r>
            <a:r>
              <a:rPr lang="en-US"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字符串全部转换成</a:t>
            </a:r>
            <a:r>
              <a:rPr lang="en-US" altLang="zh-CN" sz="1200" b="0" i="0" kern="1200" dirty="0">
                <a:solidFill>
                  <a:schemeClr val="tx1"/>
                </a:solidFill>
                <a:effectLst/>
                <a:latin typeface="+mn-lt"/>
                <a:ea typeface="+mn-ea"/>
                <a:cs typeface="+mn-cs"/>
              </a:rPr>
              <a:t>10</a:t>
            </a:r>
            <a:r>
              <a:rPr lang="zh-CN" altLang="en-US" sz="1200" b="0" i="0" kern="1200" dirty="0">
                <a:solidFill>
                  <a:schemeClr val="tx1"/>
                </a:solidFill>
                <a:effectLst/>
                <a:latin typeface="+mn-lt"/>
                <a:ea typeface="+mn-ea"/>
                <a:cs typeface="+mn-cs"/>
              </a:rPr>
              <a:t>进制数，转换方式是把</a:t>
            </a:r>
            <a:r>
              <a:rPr lang="en-US"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的四个值全部转换成二进制然后直接拼接到一起，比如</a:t>
            </a:r>
            <a:r>
              <a:rPr lang="en-US" altLang="zh-CN" sz="1200" b="0" i="0" kern="1200" dirty="0">
                <a:solidFill>
                  <a:schemeClr val="tx1"/>
                </a:solidFill>
                <a:effectLst/>
                <a:latin typeface="+mn-lt"/>
                <a:ea typeface="+mn-ea"/>
                <a:cs typeface="+mn-cs"/>
              </a:rPr>
              <a:t>1.1.1.1</a:t>
            </a:r>
            <a:r>
              <a:rPr lang="zh-CN" altLang="en-US" sz="1200" b="0" i="0" kern="1200" dirty="0">
                <a:solidFill>
                  <a:schemeClr val="tx1"/>
                </a:solidFill>
                <a:effectLst/>
                <a:latin typeface="+mn-lt"/>
                <a:ea typeface="+mn-ea"/>
                <a:cs typeface="+mn-cs"/>
              </a:rPr>
              <a:t>就会转换成</a:t>
            </a:r>
            <a:r>
              <a:rPr lang="en-US" altLang="zh-CN" sz="1200" b="0" i="0" kern="1200" dirty="0">
                <a:solidFill>
                  <a:schemeClr val="tx1"/>
                </a:solidFill>
                <a:effectLst/>
                <a:latin typeface="+mn-lt"/>
                <a:ea typeface="+mn-ea"/>
                <a:cs typeface="+mn-cs"/>
              </a:rPr>
              <a:t>00000001000000010000000100000001</a:t>
            </a:r>
            <a:r>
              <a:rPr lang="zh-CN" altLang="en-US" sz="1200" b="0" i="0" kern="1200" dirty="0">
                <a:solidFill>
                  <a:schemeClr val="tx1"/>
                </a:solidFill>
                <a:effectLst/>
                <a:latin typeface="+mn-lt"/>
                <a:ea typeface="+mn-ea"/>
                <a:cs typeface="+mn-cs"/>
              </a:rPr>
              <a:t>，然后转换为</a:t>
            </a:r>
            <a:r>
              <a:rPr lang="en-US" altLang="zh-CN" sz="1200" b="0" i="0" kern="1200" dirty="0">
                <a:solidFill>
                  <a:schemeClr val="tx1"/>
                </a:solidFill>
                <a:effectLst/>
                <a:latin typeface="+mn-lt"/>
                <a:ea typeface="+mn-ea"/>
                <a:cs typeface="+mn-cs"/>
              </a:rPr>
              <a:t>16843009)</a:t>
            </a:r>
            <a:r>
              <a:rPr lang="zh-CN" altLang="en-US" sz="1200" b="0" i="0" kern="1200" dirty="0">
                <a:solidFill>
                  <a:schemeClr val="tx1"/>
                </a:solidFill>
                <a:effectLst/>
                <a:latin typeface="+mn-lt"/>
                <a:ea typeface="+mn-ea"/>
                <a:cs typeface="+mn-cs"/>
              </a:rPr>
              <a:t>，也就是说，实际上这种匹配方式不是用日志的</a:t>
            </a:r>
            <a:r>
              <a:rPr lang="en-US"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值跟词表里的行进行字符串匹配，而是看这个</a:t>
            </a:r>
            <a:r>
              <a:rPr lang="en-US"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值是否在词表各行形成的</a:t>
            </a:r>
            <a:r>
              <a:rPr lang="en-US"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段内。比如下图中的词表，进行匹配时实际上是判断日志的</a:t>
            </a:r>
            <a:r>
              <a:rPr lang="en-US"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是否在</a:t>
            </a:r>
            <a:r>
              <a:rPr lang="en-US" altLang="zh-CN" sz="1200" b="0" i="0" kern="1200" dirty="0">
                <a:solidFill>
                  <a:schemeClr val="tx1"/>
                </a:solidFill>
                <a:effectLst/>
                <a:latin typeface="+mn-lt"/>
                <a:ea typeface="+mn-ea"/>
                <a:cs typeface="+mn-cs"/>
              </a:rPr>
              <a:t>0.0.0.0-0.0.0.0, 1.85.1.194-1.85.1.254</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1.197.79.57-1.197.79.57</a:t>
            </a:r>
            <a:r>
              <a:rPr lang="zh-CN" altLang="en-US" sz="1200" b="0" i="0" kern="1200" dirty="0">
                <a:solidFill>
                  <a:schemeClr val="tx1"/>
                </a:solidFill>
                <a:effectLst/>
                <a:latin typeface="+mn-lt"/>
                <a:ea typeface="+mn-ea"/>
                <a:cs typeface="+mn-cs"/>
              </a:rPr>
              <a:t>这三个</a:t>
            </a:r>
            <a:r>
              <a:rPr lang="en-US"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段的合集之中</a:t>
            </a:r>
            <a:endParaRPr kumimoji="1" lang="en-US" altLang="zh-CN" sz="1200" dirty="0">
              <a:latin typeface="微软雅黑" panose="020B0503020204020204" pitchFamily="34" charset="-122"/>
              <a:ea typeface="微软雅黑" panose="020B0503020204020204" pitchFamily="34" charset="-122"/>
              <a:cs typeface="宋体" charset="0"/>
            </a:endParaRPr>
          </a:p>
          <a:p>
            <a:endParaRPr lang="en-US" altLang="zh-CN" dirty="0"/>
          </a:p>
          <a:p>
            <a:r>
              <a:rPr kumimoji="1" lang="en-US" altLang="zh-CN" dirty="0" err="1"/>
              <a:t>Click_ip_type</a:t>
            </a:r>
            <a:r>
              <a:rPr kumimoji="1" lang="zh-CN" altLang="en-US" dirty="0"/>
              <a:t> </a:t>
            </a:r>
            <a:r>
              <a:rPr kumimoji="1" lang="en-US" altLang="zh-CN" dirty="0"/>
              <a:t>direct(</a:t>
            </a:r>
            <a:r>
              <a:rPr kumimoji="1" lang="en-US" altLang="zh-CN" dirty="0" err="1"/>
              <a:t>click_ip_type</a:t>
            </a:r>
            <a:r>
              <a:rPr kumimoji="1" lang="en-US" altLang="zh-CN" dirty="0"/>
              <a:t>)</a:t>
            </a:r>
            <a:r>
              <a:rPr kumimoji="1" lang="zh-CN" altLang="en-US" dirty="0"/>
              <a:t> </a:t>
            </a:r>
            <a:r>
              <a:rPr kumimoji="1" lang="en-US" altLang="zh-CN" dirty="0"/>
              <a:t>ipv4</a:t>
            </a:r>
          </a:p>
          <a:p>
            <a:endParaRPr lang="en-US" altLang="zh-CN" sz="1200" kern="1200" dirty="0">
              <a:solidFill>
                <a:schemeClr val="tx1"/>
              </a:solidFill>
              <a:effectLst/>
              <a:latin typeface="+mn-lt"/>
              <a:ea typeface="+mn-ea"/>
              <a:cs typeface="+mn-cs"/>
            </a:endParaRPr>
          </a:p>
          <a:p>
            <a:r>
              <a:rPr lang="en-GB" altLang="zh-CN" sz="1200" b="0" i="0" kern="1200" dirty="0" err="1">
                <a:solidFill>
                  <a:schemeClr val="tx1"/>
                </a:solidFill>
                <a:effectLst/>
                <a:latin typeface="+mn-lt"/>
                <a:ea typeface="+mn-ea"/>
                <a:cs typeface="+mn-cs"/>
              </a:rPr>
              <a:t>ip.black</a:t>
            </a:r>
            <a:r>
              <a:rPr lang="zh-CN" altLang="en-US" sz="1200" b="0" i="0" kern="1200" dirty="0">
                <a:solidFill>
                  <a:schemeClr val="tx1"/>
                </a:solidFill>
                <a:effectLst/>
                <a:latin typeface="+mn-lt"/>
                <a:ea typeface="+mn-ea"/>
                <a:cs typeface="+mn-cs"/>
              </a:rPr>
              <a:t>文件内容？公司内部</a:t>
            </a:r>
            <a:r>
              <a:rPr lang="en-GB"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怎么判断？从哪获取的？</a:t>
            </a:r>
            <a:r>
              <a:rPr lang="en-US" altLang="zh-CN" sz="1200" b="0" i="0" kern="1200" dirty="0">
                <a:solidFill>
                  <a:schemeClr val="tx1"/>
                </a:solidFill>
                <a:effectLst/>
                <a:latin typeface="+mn-lt"/>
                <a:ea typeface="+mn-ea"/>
                <a:cs typeface="+mn-cs"/>
              </a:rPr>
              <a:t>14001</a:t>
            </a:r>
            <a:r>
              <a:rPr lang="zh-CN" altLang="en-US" sz="1200" b="0" i="0" kern="1200" dirty="0">
                <a:solidFill>
                  <a:schemeClr val="tx1"/>
                </a:solidFill>
                <a:effectLst/>
                <a:latin typeface="+mn-lt"/>
                <a:ea typeface="+mn-ea"/>
                <a:cs typeface="+mn-cs"/>
              </a:rPr>
              <a:t>白名单</a:t>
            </a:r>
            <a:r>
              <a:rPr lang="en-GB" altLang="zh-CN" sz="1200" b="0" i="0" kern="1200" dirty="0" err="1">
                <a:solidFill>
                  <a:schemeClr val="tx1"/>
                </a:solidFill>
                <a:effectLst/>
                <a:latin typeface="+mn-lt"/>
                <a:ea typeface="+mn-ea"/>
                <a:cs typeface="+mn-cs"/>
              </a:rPr>
              <a:t>cmatch</a:t>
            </a:r>
            <a:r>
              <a:rPr lang="zh-CN" altLang="en-US" sz="1200" b="0" i="0" kern="1200" dirty="0">
                <a:solidFill>
                  <a:schemeClr val="tx1"/>
                </a:solidFill>
                <a:effectLst/>
                <a:latin typeface="+mn-lt"/>
                <a:ea typeface="+mn-ea"/>
                <a:cs typeface="+mn-cs"/>
              </a:rPr>
              <a:t>为什么要豁免？</a:t>
            </a:r>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0" i="0" kern="1200" dirty="0">
                <a:solidFill>
                  <a:schemeClr val="tx1"/>
                </a:solidFill>
                <a:effectLst/>
                <a:latin typeface="+mn-lt"/>
                <a:ea typeface="+mn-ea"/>
                <a:cs typeface="+mn-cs"/>
              </a:rPr>
              <a:t>14001</a:t>
            </a:r>
            <a:r>
              <a:rPr lang="zh-CN" altLang="en-US" sz="1200" b="0" i="0" kern="1200" dirty="0">
                <a:solidFill>
                  <a:schemeClr val="tx1"/>
                </a:solidFill>
                <a:effectLst/>
                <a:latin typeface="+mn-lt"/>
                <a:ea typeface="+mn-ea"/>
                <a:cs typeface="+mn-cs"/>
              </a:rPr>
              <a:t>白名单</a:t>
            </a:r>
            <a:r>
              <a:rPr lang="en-GB" altLang="zh-CN" sz="1200" b="0" i="0" kern="1200" dirty="0" err="1">
                <a:solidFill>
                  <a:schemeClr val="tx1"/>
                </a:solidFill>
                <a:effectLst/>
                <a:latin typeface="+mn-lt"/>
                <a:ea typeface="+mn-ea"/>
                <a:cs typeface="+mn-cs"/>
              </a:rPr>
              <a:t>cmatch</a:t>
            </a:r>
            <a:r>
              <a:rPr lang="zh-CN" altLang="en-US" sz="1200" b="0" i="0" kern="1200" dirty="0">
                <a:solidFill>
                  <a:schemeClr val="tx1"/>
                </a:solidFill>
                <a:effectLst/>
                <a:latin typeface="+mn-lt"/>
                <a:ea typeface="+mn-ea"/>
                <a:cs typeface="+mn-cs"/>
              </a:rPr>
              <a:t>豁免是由业务驱动的，德答：</a:t>
            </a:r>
            <a:r>
              <a:rPr lang="en-GB" altLang="zh-CN" sz="1200" b="0" i="0" kern="1200" dirty="0" err="1">
                <a:solidFill>
                  <a:schemeClr val="tx1"/>
                </a:solidFill>
                <a:effectLst/>
                <a:latin typeface="+mn-lt"/>
                <a:ea typeface="+mn-ea"/>
                <a:cs typeface="+mn-cs"/>
              </a:rPr>
              <a:t>ip.black</a:t>
            </a:r>
            <a:r>
              <a:rPr lang="zh-CN" altLang="en-US" sz="1200" b="0" i="0" kern="1200" dirty="0">
                <a:solidFill>
                  <a:schemeClr val="tx1"/>
                </a:solidFill>
                <a:effectLst/>
                <a:latin typeface="+mn-lt"/>
                <a:ea typeface="+mn-ea"/>
                <a:cs typeface="+mn-cs"/>
              </a:rPr>
              <a:t>文件内容见附件</a:t>
            </a:r>
            <a:r>
              <a:rPr lang="en-GB" altLang="zh-CN" sz="1200" b="0" i="0" kern="1200" dirty="0" err="1">
                <a:solidFill>
                  <a:schemeClr val="tx1"/>
                </a:solidFill>
                <a:effectLst/>
                <a:latin typeface="+mn-lt"/>
                <a:ea typeface="+mn-ea"/>
                <a:cs typeface="+mn-cs"/>
              </a:rPr>
              <a:t>ipblack_seg.dat</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包括内部</a:t>
            </a:r>
            <a:r>
              <a:rPr lang="en-GB"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以及一些已知</a:t>
            </a:r>
            <a:r>
              <a:rPr lang="en-GB" altLang="zh-CN" sz="1200" b="0" i="0" kern="1200" dirty="0">
                <a:solidFill>
                  <a:schemeClr val="tx1"/>
                </a:solidFill>
                <a:effectLst/>
                <a:latin typeface="+mn-lt"/>
                <a:ea typeface="+mn-ea"/>
                <a:cs typeface="+mn-cs"/>
              </a:rPr>
              <a:t>IP</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其中公司内部</a:t>
            </a:r>
            <a:r>
              <a:rPr lang="en-GB"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从系统部获取。</a:t>
            </a:r>
          </a:p>
          <a:p>
            <a:r>
              <a:rPr lang="zh-CN" altLang="en-US" sz="1200" b="0" i="0" kern="1200" dirty="0">
                <a:solidFill>
                  <a:schemeClr val="tx1"/>
                </a:solidFill>
                <a:effectLst/>
                <a:latin typeface="+mn-lt"/>
                <a:ea typeface="+mn-ea"/>
                <a:cs typeface="+mn-cs"/>
              </a:rPr>
              <a:t>雷克：点击是后端</a:t>
            </a:r>
            <a:r>
              <a:rPr lang="en-GB" altLang="zh-CN" sz="1200" b="0" i="0" kern="1200" dirty="0">
                <a:solidFill>
                  <a:schemeClr val="tx1"/>
                </a:solidFill>
                <a:effectLst/>
                <a:latin typeface="+mn-lt"/>
                <a:ea typeface="+mn-ea"/>
                <a:cs typeface="+mn-cs"/>
              </a:rPr>
              <a:t>server</a:t>
            </a:r>
            <a:r>
              <a:rPr lang="zh-CN" altLang="en-US" sz="1200" b="0" i="0" kern="1200" dirty="0">
                <a:solidFill>
                  <a:schemeClr val="tx1"/>
                </a:solidFill>
                <a:effectLst/>
                <a:latin typeface="+mn-lt"/>
                <a:ea typeface="+mn-ea"/>
                <a:cs typeface="+mn-cs"/>
              </a:rPr>
              <a:t>直接发起的，没有二跳</a:t>
            </a:r>
            <a:r>
              <a:rPr lang="en-GB" altLang="zh-CN" sz="1200" b="0" i="0" kern="1200" dirty="0">
                <a:solidFill>
                  <a:schemeClr val="tx1"/>
                </a:solidFill>
                <a:effectLst/>
                <a:latin typeface="+mn-lt"/>
                <a:ea typeface="+mn-ea"/>
                <a:cs typeface="+mn-cs"/>
              </a:rPr>
              <a:t>cookie</a:t>
            </a:r>
            <a:r>
              <a:rPr lang="zh-CN" altLang="en-US" sz="1200" b="0" i="0" kern="1200" dirty="0">
                <a:solidFill>
                  <a:schemeClr val="tx1"/>
                </a:solidFill>
                <a:effectLst/>
                <a:latin typeface="+mn-lt"/>
                <a:ea typeface="+mn-ea"/>
                <a:cs typeface="+mn-cs"/>
              </a:rPr>
              <a:t>点击。并且使用了百度代理</a:t>
            </a:r>
            <a:r>
              <a:rPr lang="en-GB" altLang="zh-CN" sz="1200" b="0" i="0" kern="1200" dirty="0" err="1">
                <a:solidFill>
                  <a:schemeClr val="tx1"/>
                </a:solidFill>
                <a:effectLst/>
                <a:latin typeface="+mn-lt"/>
                <a:ea typeface="+mn-ea"/>
                <a:cs typeface="+mn-cs"/>
              </a:rPr>
              <a:t>ip</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故需要进行</a:t>
            </a:r>
            <a:r>
              <a:rPr lang="en-GB"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策略豁免以及关二跳</a:t>
            </a:r>
            <a:r>
              <a:rPr lang="en-GB" altLang="zh-CN" sz="1200" b="0" i="0" kern="1200" dirty="0">
                <a:solidFill>
                  <a:schemeClr val="tx1"/>
                </a:solidFill>
                <a:effectLst/>
                <a:latin typeface="+mn-lt"/>
                <a:ea typeface="+mn-ea"/>
                <a:cs typeface="+mn-cs"/>
              </a:rPr>
              <a:t>cookie</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涉及</a:t>
            </a:r>
            <a:r>
              <a:rPr lang="en-GB" altLang="zh-CN" sz="1200" b="0" i="0" kern="1200" dirty="0" err="1">
                <a:solidFill>
                  <a:schemeClr val="tx1"/>
                </a:solidFill>
                <a:effectLst/>
                <a:latin typeface="+mn-lt"/>
                <a:ea typeface="+mn-ea"/>
                <a:cs typeface="+mn-cs"/>
              </a:rPr>
              <a:t>cmatch</a:t>
            </a:r>
            <a:r>
              <a:rPr lang="zh-CN" altLang="en-US" sz="1200" b="0" i="0" kern="1200" dirty="0">
                <a:solidFill>
                  <a:schemeClr val="tx1"/>
                </a:solidFill>
                <a:effectLst/>
                <a:latin typeface="+mn-lt"/>
                <a:ea typeface="+mn-ea"/>
                <a:cs typeface="+mn-cs"/>
              </a:rPr>
              <a:t>如下：</a:t>
            </a:r>
          </a:p>
          <a:p>
            <a:r>
              <a:rPr lang="en-GB" altLang="zh-CN" sz="1200" b="0" i="0" kern="1200" dirty="0">
                <a:solidFill>
                  <a:schemeClr val="tx1"/>
                </a:solidFill>
                <a:effectLst/>
                <a:latin typeface="+mn-lt"/>
                <a:ea typeface="+mn-ea"/>
                <a:cs typeface="+mn-cs"/>
              </a:rPr>
              <a:t>l  </a:t>
            </a:r>
            <a:r>
              <a:rPr lang="en-GB" altLang="zh-CN" sz="1200" b="0" i="0" kern="1200" dirty="0" err="1">
                <a:solidFill>
                  <a:schemeClr val="tx1"/>
                </a:solidFill>
                <a:effectLst/>
                <a:latin typeface="+mn-lt"/>
                <a:ea typeface="+mn-ea"/>
                <a:cs typeface="+mn-cs"/>
              </a:rPr>
              <a:t>cmatch</a:t>
            </a:r>
            <a:r>
              <a:rPr lang="en-GB" altLang="zh-CN" sz="1200" b="0" i="0" kern="1200" dirty="0">
                <a:solidFill>
                  <a:schemeClr val="tx1"/>
                </a:solidFill>
                <a:effectLst/>
                <a:latin typeface="+mn-lt"/>
                <a:ea typeface="+mn-ea"/>
                <a:cs typeface="+mn-cs"/>
              </a:rPr>
              <a:t>=1152</a:t>
            </a:r>
            <a:r>
              <a:rPr lang="zh-CN" altLang="en-US" sz="1200" b="0" i="0" kern="1200" dirty="0">
                <a:solidFill>
                  <a:schemeClr val="tx1"/>
                </a:solidFill>
                <a:effectLst/>
                <a:latin typeface="+mn-lt"/>
                <a:ea typeface="+mn-ea"/>
                <a:cs typeface="+mn-cs"/>
              </a:rPr>
              <a:t>是目前线上凤巢广告投德雷克 </a:t>
            </a:r>
          </a:p>
          <a:p>
            <a:r>
              <a:rPr lang="en-GB" altLang="zh-CN" sz="1200" b="0" i="0" kern="1200" dirty="0">
                <a:solidFill>
                  <a:schemeClr val="tx1"/>
                </a:solidFill>
                <a:effectLst/>
                <a:latin typeface="+mn-lt"/>
                <a:ea typeface="+mn-ea"/>
                <a:cs typeface="+mn-cs"/>
              </a:rPr>
              <a:t>l  </a:t>
            </a:r>
            <a:r>
              <a:rPr lang="en-GB" altLang="zh-CN" sz="1200" b="0" i="0" kern="1200" dirty="0" err="1">
                <a:solidFill>
                  <a:schemeClr val="tx1"/>
                </a:solidFill>
                <a:effectLst/>
                <a:latin typeface="+mn-lt"/>
                <a:ea typeface="+mn-ea"/>
                <a:cs typeface="+mn-cs"/>
              </a:rPr>
              <a:t>cmatch</a:t>
            </a:r>
            <a:r>
              <a:rPr lang="en-GB" altLang="zh-CN" sz="1200" b="0" i="0" kern="1200" dirty="0">
                <a:solidFill>
                  <a:schemeClr val="tx1"/>
                </a:solidFill>
                <a:effectLst/>
                <a:latin typeface="+mn-lt"/>
                <a:ea typeface="+mn-ea"/>
                <a:cs typeface="+mn-cs"/>
              </a:rPr>
              <a:t>=1142</a:t>
            </a:r>
            <a:r>
              <a:rPr lang="zh-CN" altLang="en-US" sz="1200" b="0" i="0" kern="1200" dirty="0">
                <a:solidFill>
                  <a:schemeClr val="tx1"/>
                </a:solidFill>
                <a:effectLst/>
                <a:latin typeface="+mn-lt"/>
                <a:ea typeface="+mn-ea"/>
                <a:cs typeface="+mn-cs"/>
              </a:rPr>
              <a:t>是升级后凤巢广告投德雷克 </a:t>
            </a:r>
          </a:p>
          <a:p>
            <a:r>
              <a:rPr lang="en-GB" altLang="zh-CN" sz="1200" b="0" i="0" kern="1200" dirty="0">
                <a:solidFill>
                  <a:schemeClr val="tx1"/>
                </a:solidFill>
                <a:effectLst/>
                <a:latin typeface="+mn-lt"/>
                <a:ea typeface="+mn-ea"/>
                <a:cs typeface="+mn-cs"/>
              </a:rPr>
              <a:t>l  </a:t>
            </a:r>
            <a:r>
              <a:rPr lang="en-GB" altLang="zh-CN" sz="1200" b="0" i="0" kern="1200" dirty="0" err="1">
                <a:solidFill>
                  <a:schemeClr val="tx1"/>
                </a:solidFill>
                <a:effectLst/>
                <a:latin typeface="+mn-lt"/>
                <a:ea typeface="+mn-ea"/>
                <a:cs typeface="+mn-cs"/>
              </a:rPr>
              <a:t>cmatch</a:t>
            </a:r>
            <a:r>
              <a:rPr lang="en-GB" altLang="zh-CN" sz="1200" b="0" i="0" kern="1200" dirty="0">
                <a:solidFill>
                  <a:schemeClr val="tx1"/>
                </a:solidFill>
                <a:effectLst/>
                <a:latin typeface="+mn-lt"/>
                <a:ea typeface="+mn-ea"/>
                <a:cs typeface="+mn-cs"/>
              </a:rPr>
              <a:t>=711</a:t>
            </a:r>
            <a:r>
              <a:rPr lang="zh-CN" altLang="en-US" sz="1200" b="0" i="0" kern="1200" dirty="0">
                <a:solidFill>
                  <a:schemeClr val="tx1"/>
                </a:solidFill>
                <a:effectLst/>
                <a:latin typeface="+mn-lt"/>
                <a:ea typeface="+mn-ea"/>
                <a:cs typeface="+mn-cs"/>
              </a:rPr>
              <a:t>是百通广告投德雷克</a:t>
            </a:r>
            <a:endParaRPr lang="zh-CN" altLang="en-US" dirty="0"/>
          </a:p>
          <a:p>
            <a:endParaRPr kumimoji="1" lang="en-US" altLang="zh-CN" dirty="0"/>
          </a:p>
          <a:p>
            <a:endParaRPr kumimoji="1" lang="en-US" altLang="zh-CN" dirty="0"/>
          </a:p>
          <a:p>
            <a:endParaRPr kumimoji="1" lang="en-US" altLang="zh-CN"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32</a:t>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实现方式：</a:t>
            </a:r>
            <a:r>
              <a:rPr lang="en-US" altLang="zh-CN" dirty="0" err="1"/>
              <a:t>trie</a:t>
            </a:r>
            <a:r>
              <a:rPr lang="zh-CN" altLang="en-US" dirty="0"/>
              <a:t>树算法    </a:t>
            </a:r>
            <a:r>
              <a:rPr lang="zh-CN" altLang="en-US" sz="1200" b="0" i="0" u="none" strike="noStrike" kern="1200" dirty="0">
                <a:solidFill>
                  <a:schemeClr val="tx1"/>
                </a:solidFill>
                <a:effectLst/>
                <a:latin typeface="+mn-lt"/>
                <a:ea typeface="+mn-ea"/>
                <a:cs typeface="+mn-cs"/>
              </a:rPr>
              <a:t>前缀树，字典树</a:t>
            </a:r>
            <a:endParaRPr lang="en-US" altLang="zh-CN" dirty="0"/>
          </a:p>
          <a:p>
            <a:r>
              <a:rPr kumimoji="1" lang="zh-CN" altLang="en-US" dirty="0"/>
              <a:t> </a:t>
            </a:r>
            <a:r>
              <a:rPr kumimoji="1" lang="en-US" altLang="zh-CN" dirty="0" err="1"/>
              <a:t>accessid</a:t>
            </a:r>
            <a:r>
              <a:rPr kumimoji="1" lang="zh-CN" altLang="en-US" dirty="0"/>
              <a:t> </a:t>
            </a:r>
            <a:r>
              <a:rPr kumimoji="1" lang="en-US" altLang="zh-CN" dirty="0" err="1"/>
              <a:t>clk</a:t>
            </a:r>
            <a:endParaRPr kumimoji="1" lang="en-US" altLang="zh-CN" dirty="0"/>
          </a:p>
          <a:p>
            <a:r>
              <a:rPr kumimoji="1" lang="en-US" altLang="zh-CN" dirty="0" err="1"/>
              <a:t>Useragent</a:t>
            </a:r>
            <a:r>
              <a:rPr kumimoji="1" lang="zh-CN" altLang="en-US" dirty="0"/>
              <a:t> </a:t>
            </a:r>
            <a:r>
              <a:rPr kumimoji="1" lang="en-US" altLang="zh-CN" dirty="0" err="1"/>
              <a:t>pv</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33</a:t>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实现方式：</a:t>
            </a:r>
            <a:r>
              <a:rPr lang="en-US" altLang="zh-CN" dirty="0"/>
              <a:t>sign</a:t>
            </a:r>
            <a:r>
              <a:rPr lang="zh-CN" altLang="en-US" dirty="0"/>
              <a:t>匹配</a:t>
            </a:r>
            <a:endParaRPr lang="en-US" altLang="zh-CN" dirty="0"/>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34</a:t>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Cntname</a:t>
            </a:r>
            <a:r>
              <a:rPr lang="zh-CN" altLang="en-US" dirty="0"/>
              <a:t>  </a:t>
            </a:r>
            <a:r>
              <a:rPr lang="en-US" altLang="zh-CN" dirty="0" err="1"/>
              <a:t>clk</a:t>
            </a:r>
            <a:endParaRPr lang="en-US" altLang="zh-CN" dirty="0"/>
          </a:p>
          <a:p>
            <a:endParaRPr lang="en-US" altLang="zh-CN" dirty="0"/>
          </a:p>
          <a:p>
            <a:endParaRPr lang="en-US" altLang="zh-CN" dirty="0"/>
          </a:p>
          <a:p>
            <a:r>
              <a:rPr lang="en-US" altLang="zh-CN" sz="1200" b="0" i="0" u="none" strike="noStrike" kern="1200" dirty="0">
                <a:solidFill>
                  <a:schemeClr val="tx1"/>
                </a:solidFill>
                <a:effectLst/>
                <a:latin typeface="+mn-lt"/>
                <a:ea typeface="+mn-ea"/>
                <a:cs typeface="+mn-cs"/>
              </a:rPr>
              <a:t>1. </a:t>
            </a:r>
            <a:r>
              <a:rPr lang="zh-CN" altLang="en-US" sz="1200" b="0" i="0" u="none" strike="noStrike" kern="1200" dirty="0">
                <a:solidFill>
                  <a:schemeClr val="tx1"/>
                </a:solidFill>
                <a:effectLst/>
                <a:latin typeface="+mn-lt"/>
                <a:ea typeface="+mn-ea"/>
                <a:cs typeface="+mn-cs"/>
              </a:rPr>
              <a:t>网页搜索合作伙伴：指的像</a:t>
            </a:r>
            <a:r>
              <a:rPr lang="en-US" altLang="zh-CN" sz="1200" b="0" i="0" u="none" strike="noStrike" kern="1200" dirty="0">
                <a:solidFill>
                  <a:schemeClr val="tx1"/>
                </a:solidFill>
                <a:effectLst/>
                <a:latin typeface="+mn-lt"/>
                <a:ea typeface="+mn-ea"/>
                <a:cs typeface="+mn-cs"/>
              </a:rPr>
              <a:t>58</a:t>
            </a:r>
            <a:r>
              <a:rPr lang="zh-CN" altLang="en-US" sz="1200" b="0" i="0" u="none" strike="noStrike" kern="1200" dirty="0">
                <a:solidFill>
                  <a:schemeClr val="tx1"/>
                </a:solidFill>
                <a:effectLst/>
                <a:latin typeface="+mn-lt"/>
                <a:ea typeface="+mn-ea"/>
                <a:cs typeface="+mn-cs"/>
              </a:rPr>
              <a:t>，赶集这样以请求大搜索数据源的形式返回展现广告，该部分流量</a:t>
            </a:r>
            <a:r>
              <a:rPr lang="en-GB" altLang="zh-CN" sz="1200" b="0" i="0" u="none" strike="noStrike" kern="1200" dirty="0" err="1">
                <a:solidFill>
                  <a:schemeClr val="tx1"/>
                </a:solidFill>
                <a:effectLst/>
                <a:latin typeface="+mn-lt"/>
                <a:ea typeface="+mn-ea"/>
                <a:cs typeface="+mn-cs"/>
              </a:rPr>
              <a:t>is_inner</a:t>
            </a:r>
            <a:r>
              <a:rPr lang="en-GB" altLang="zh-CN" sz="1200" b="0" i="0" u="none" strike="noStrike" kern="1200" dirty="0">
                <a:solidFill>
                  <a:schemeClr val="tx1"/>
                </a:solidFill>
                <a:effectLst/>
                <a:latin typeface="+mn-lt"/>
                <a:ea typeface="+mn-ea"/>
                <a:cs typeface="+mn-cs"/>
              </a:rPr>
              <a:t>=0</a:t>
            </a:r>
            <a:r>
              <a:rPr lang="zh-CN" altLang="en-GB"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属于外部流量。 </a:t>
            </a:r>
          </a:p>
          <a:p>
            <a:r>
              <a:rPr lang="zh-CN" altLang="en-US" sz="1200" b="0" i="0" u="none" strike="noStrike" kern="1200" dirty="0">
                <a:solidFill>
                  <a:schemeClr val="tx1"/>
                </a:solidFill>
                <a:effectLst/>
                <a:latin typeface="+mn-lt"/>
                <a:ea typeface="+mn-ea"/>
                <a:cs typeface="+mn-cs"/>
              </a:rPr>
              <a:t> 这部分外部流量在业务上又称 </a:t>
            </a:r>
            <a:r>
              <a:rPr lang="en-GB" altLang="zh-CN" sz="1200" b="0" i="0" u="none" strike="noStrike" kern="1200" dirty="0">
                <a:solidFill>
                  <a:schemeClr val="tx1"/>
                </a:solidFill>
                <a:effectLst/>
                <a:latin typeface="+mn-lt"/>
                <a:ea typeface="+mn-ea"/>
                <a:cs typeface="+mn-cs"/>
              </a:rPr>
              <a:t>asp</a:t>
            </a:r>
            <a:r>
              <a:rPr lang="zh-CN" altLang="en-US" sz="1200" b="0" i="0" u="none" strike="noStrike" kern="1200" dirty="0">
                <a:solidFill>
                  <a:schemeClr val="tx1"/>
                </a:solidFill>
                <a:effectLst/>
                <a:latin typeface="+mn-lt"/>
                <a:ea typeface="+mn-ea"/>
                <a:cs typeface="+mn-cs"/>
              </a:rPr>
              <a:t>广告业务，是用户在站点上发起检索或点击请求，站点将检索</a:t>
            </a:r>
            <a:r>
              <a:rPr lang="en-GB" altLang="zh-CN" sz="1200" b="0" i="0" u="none" strike="noStrike" kern="1200" dirty="0">
                <a:solidFill>
                  <a:schemeClr val="tx1"/>
                </a:solidFill>
                <a:effectLst/>
                <a:latin typeface="+mn-lt"/>
                <a:ea typeface="+mn-ea"/>
                <a:cs typeface="+mn-cs"/>
              </a:rPr>
              <a:t>query</a:t>
            </a:r>
            <a:r>
              <a:rPr lang="zh-CN" altLang="en-US" sz="1200" b="0" i="0" u="none" strike="noStrike" kern="1200" dirty="0">
                <a:solidFill>
                  <a:schemeClr val="tx1"/>
                </a:solidFill>
                <a:effectLst/>
                <a:latin typeface="+mn-lt"/>
                <a:ea typeface="+mn-ea"/>
                <a:cs typeface="+mn-cs"/>
              </a:rPr>
              <a:t>发送给凤巢请求广告。目前外部流量在</a:t>
            </a:r>
            <a:r>
              <a:rPr lang="en-GB" altLang="zh-CN" sz="1200" b="0" i="0" u="none" strike="noStrike" kern="1200" dirty="0" err="1">
                <a:solidFill>
                  <a:schemeClr val="tx1"/>
                </a:solidFill>
                <a:effectLst/>
                <a:latin typeface="+mn-lt"/>
                <a:ea typeface="+mn-ea"/>
                <a:cs typeface="+mn-cs"/>
              </a:rPr>
              <a:t>ps</a:t>
            </a:r>
            <a:r>
              <a:rPr lang="zh-CN" altLang="en-US" sz="1200" b="0" i="0" u="none" strike="noStrike" kern="1200" dirty="0">
                <a:solidFill>
                  <a:schemeClr val="tx1"/>
                </a:solidFill>
                <a:effectLst/>
                <a:latin typeface="+mn-lt"/>
                <a:ea typeface="+mn-ea"/>
                <a:cs typeface="+mn-cs"/>
              </a:rPr>
              <a:t>的</a:t>
            </a:r>
            <a:r>
              <a:rPr lang="en-GB" altLang="zh-CN" sz="1200" b="0" i="0" u="none" strike="noStrike" kern="1200" dirty="0" err="1">
                <a:solidFill>
                  <a:schemeClr val="tx1"/>
                </a:solidFill>
                <a:effectLst/>
                <a:latin typeface="+mn-lt"/>
                <a:ea typeface="+mn-ea"/>
                <a:cs typeface="+mn-cs"/>
              </a:rPr>
              <a:t>bws</a:t>
            </a:r>
            <a:r>
              <a:rPr lang="zh-CN" altLang="en-US" sz="1200" b="0" i="0" u="none" strike="noStrike" kern="1200" dirty="0">
                <a:solidFill>
                  <a:schemeClr val="tx1"/>
                </a:solidFill>
                <a:effectLst/>
                <a:latin typeface="+mn-lt"/>
                <a:ea typeface="+mn-ea"/>
                <a:cs typeface="+mn-cs"/>
              </a:rPr>
              <a:t>模块一部分分给</a:t>
            </a:r>
            <a:r>
              <a:rPr lang="en-GB" altLang="zh-CN" sz="1200" b="0" i="0" u="none" strike="noStrike" kern="1200" dirty="0" err="1">
                <a:solidFill>
                  <a:schemeClr val="tx1"/>
                </a:solidFill>
                <a:effectLst/>
                <a:latin typeface="+mn-lt"/>
                <a:ea typeface="+mn-ea"/>
                <a:cs typeface="+mn-cs"/>
              </a:rPr>
              <a:t>ps</a:t>
            </a:r>
            <a:r>
              <a:rPr lang="en-GB"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一部分分给网盟端。 </a:t>
            </a:r>
          </a:p>
          <a:p>
            <a:r>
              <a:rPr lang="en-US" altLang="zh-CN" sz="1200" b="0" i="0" u="none" strike="noStrike" kern="1200" dirty="0">
                <a:solidFill>
                  <a:schemeClr val="tx1"/>
                </a:solidFill>
                <a:effectLst/>
                <a:latin typeface="+mn-lt"/>
                <a:ea typeface="+mn-ea"/>
                <a:cs typeface="+mn-cs"/>
              </a:rPr>
              <a:t>2. </a:t>
            </a:r>
            <a:r>
              <a:rPr lang="zh-CN" altLang="en-US" sz="1200" b="0" i="0" u="none" strike="noStrike" kern="1200" dirty="0">
                <a:solidFill>
                  <a:schemeClr val="tx1"/>
                </a:solidFill>
                <a:effectLst/>
                <a:latin typeface="+mn-lt"/>
                <a:ea typeface="+mn-ea"/>
                <a:cs typeface="+mn-cs"/>
              </a:rPr>
              <a:t>联盟流量：指浏览器、网站上嵌入搜索框这样的形式，跳转到百度页面的流量。 </a:t>
            </a:r>
          </a:p>
          <a:p>
            <a:r>
              <a:rPr lang="en-US" altLang="zh-CN" sz="1200" b="0" i="0" u="none" strike="noStrike" kern="1200" dirty="0">
                <a:solidFill>
                  <a:schemeClr val="tx1"/>
                </a:solidFill>
                <a:effectLst/>
                <a:latin typeface="+mn-lt"/>
                <a:ea typeface="+mn-ea"/>
                <a:cs typeface="+mn-cs"/>
              </a:rPr>
              <a:t>3. </a:t>
            </a:r>
            <a:r>
              <a:rPr lang="zh-CN" altLang="en-US" sz="1200" b="0" i="0" u="none" strike="noStrike" kern="1200" dirty="0">
                <a:solidFill>
                  <a:schemeClr val="tx1"/>
                </a:solidFill>
                <a:effectLst/>
                <a:latin typeface="+mn-lt"/>
                <a:ea typeface="+mn-ea"/>
                <a:cs typeface="+mn-cs"/>
              </a:rPr>
              <a:t>网盟流量：指</a:t>
            </a:r>
            <a:r>
              <a:rPr lang="en-GB" altLang="zh-CN" sz="1200" b="0" i="0" u="none" strike="noStrike" kern="1200" dirty="0" err="1">
                <a:solidFill>
                  <a:schemeClr val="tx1"/>
                </a:solidFill>
                <a:effectLst/>
                <a:latin typeface="+mn-lt"/>
                <a:ea typeface="+mn-ea"/>
                <a:cs typeface="+mn-cs"/>
              </a:rPr>
              <a:t>src</a:t>
            </a:r>
            <a:r>
              <a:rPr lang="en-GB" altLang="zh-CN" sz="1200" b="0" i="0" u="none" strike="noStrike" kern="1200" dirty="0">
                <a:solidFill>
                  <a:schemeClr val="tx1"/>
                </a:solidFill>
                <a:effectLst/>
                <a:latin typeface="+mn-lt"/>
                <a:ea typeface="+mn-ea"/>
                <a:cs typeface="+mn-cs"/>
              </a:rPr>
              <a:t>=508</a:t>
            </a:r>
            <a:r>
              <a:rPr lang="zh-CN" altLang="en-US" sz="1200" b="0" i="0" u="none" strike="noStrike" kern="1200" dirty="0">
                <a:solidFill>
                  <a:schemeClr val="tx1"/>
                </a:solidFill>
                <a:effectLst/>
                <a:latin typeface="+mn-lt"/>
                <a:ea typeface="+mn-ea"/>
                <a:cs typeface="+mn-cs"/>
              </a:rPr>
              <a:t>的流量，主要是在外部站点的广告位上出的凤巢广告。</a:t>
            </a:r>
          </a:p>
          <a:p>
            <a:r>
              <a:rPr lang="zh-CN" altLang="en-US" sz="1200" b="0" i="0" u="none" strike="noStrike" kern="1200" dirty="0">
                <a:solidFill>
                  <a:schemeClr val="tx1"/>
                </a:solidFill>
                <a:effectLst/>
                <a:latin typeface="+mn-lt"/>
                <a:ea typeface="+mn-ea"/>
                <a:cs typeface="+mn-cs"/>
              </a:rPr>
              <a:t>百意</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百青藤是百度联盟网盟推广业务，是相对于手百、贴吧、好看而言的外部流量。它通过人群定向、主题词定向等精确定位方式，将具有强竞争力的百度推广内容投放到联盟网站里相应的页面，为广告主带来曝光，并给网站主带来优质回报。</a:t>
            </a:r>
            <a:endParaRPr lang="en-US" altLang="zh-CN" sz="1200" b="0" i="0" u="none" strike="noStrike" kern="1200" dirty="0">
              <a:solidFill>
                <a:schemeClr val="tx1"/>
              </a:solidFill>
              <a:effectLst/>
              <a:latin typeface="+mn-lt"/>
              <a:ea typeface="+mn-ea"/>
              <a:cs typeface="+mn-cs"/>
            </a:endParaRPr>
          </a:p>
          <a:p>
            <a:endParaRPr lang="en-US" altLang="zh-CN"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200" dirty="0" err="1">
                <a:solidFill>
                  <a:srgbClr val="C00000"/>
                </a:solidFill>
              </a:rPr>
              <a:t>mate.black</a:t>
            </a:r>
            <a:r>
              <a:rPr lang="en-GB" altLang="zh-CN" sz="1200" dirty="0">
                <a:solidFill>
                  <a:srgbClr val="C00000"/>
                </a:solidFill>
              </a:rPr>
              <a:t>	</a:t>
            </a:r>
            <a:r>
              <a:rPr lang="zh-CN" altLang="en-US" sz="1200" dirty="0">
                <a:solidFill>
                  <a:srgbClr val="C00000"/>
                </a:solidFill>
              </a:rPr>
              <a:t>    联盟计费黑名单</a:t>
            </a:r>
            <a:endParaRPr kumimoji="1" lang="zh-CN" altLang="en-US" dirty="0"/>
          </a:p>
          <a:p>
            <a:r>
              <a:rPr lang="en-GB" altLang="zh-CN" dirty="0" err="1"/>
              <a:t>cpro_mateblack</a:t>
            </a:r>
            <a:r>
              <a:rPr lang="zh-CN" altLang="en-US" dirty="0"/>
              <a:t> 网盟计费名黑名单</a:t>
            </a:r>
            <a:endParaRPr lang="en-US" altLang="zh-CN"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35</a:t>
            </a:fld>
            <a:endParaRPr kumimoji="1"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Ac</a:t>
            </a:r>
            <a:r>
              <a:rPr kumimoji="1" lang="zh-CN" altLang="en-US" dirty="0"/>
              <a:t> </a:t>
            </a:r>
            <a:r>
              <a:rPr kumimoji="1" lang="en-US" altLang="zh-CN" dirty="0" err="1"/>
              <a:t>clk</a:t>
            </a:r>
            <a:r>
              <a:rPr kumimoji="1" lang="zh-CN" altLang="en-US" dirty="0"/>
              <a:t>   </a:t>
            </a:r>
            <a:r>
              <a:rPr kumimoji="1" lang="en-US" altLang="zh-CN" dirty="0"/>
              <a:t>direct(k)</a:t>
            </a:r>
            <a:r>
              <a:rPr kumimoji="1" lang="zh-CN" altLang="en-US" dirty="0"/>
              <a:t> </a:t>
            </a:r>
            <a:r>
              <a:rPr kumimoji="1" lang="en-US" altLang="zh-CN" dirty="0" err="1"/>
              <a:t>kfield</a:t>
            </a:r>
            <a:r>
              <a:rPr kumimoji="1" lang="en-US" altLang="zh-CN" dirty="0"/>
              <a:t>(k)</a:t>
            </a:r>
          </a:p>
          <a:p>
            <a:endParaRPr kumimoji="1" lang="en-US" altLang="zh-CN" dirty="0"/>
          </a:p>
          <a:p>
            <a:r>
              <a:rPr lang="zh-CN" altLang="en-US" sz="1200" b="0" i="0" u="none" strike="noStrike" kern="1200" dirty="0">
                <a:solidFill>
                  <a:schemeClr val="tx1"/>
                </a:solidFill>
                <a:effectLst/>
                <a:latin typeface="+mn-lt"/>
                <a:ea typeface="+mn-ea"/>
                <a:cs typeface="+mn-cs"/>
              </a:rPr>
              <a:t>微凤巢</a:t>
            </a:r>
            <a:r>
              <a:rPr lang="en-GB" altLang="zh-CN" sz="1200" b="0" i="0" u="none" strike="noStrike" kern="1200" dirty="0" err="1">
                <a:solidFill>
                  <a:schemeClr val="tx1"/>
                </a:solidFill>
                <a:effectLst/>
                <a:latin typeface="+mn-lt"/>
                <a:ea typeface="+mn-ea"/>
                <a:cs typeface="+mn-cs"/>
              </a:rPr>
              <a:t>ad_channel</a:t>
            </a:r>
            <a:endParaRPr lang="en-GB" altLang="zh-CN" sz="1200" b="0" i="0" u="none" strike="noStrike" kern="1200" dirty="0">
              <a:solidFill>
                <a:schemeClr val="tx1"/>
              </a:solidFill>
              <a:effectLst/>
              <a:latin typeface="+mn-lt"/>
              <a:ea typeface="+mn-ea"/>
              <a:cs typeface="+mn-cs"/>
            </a:endParaRPr>
          </a:p>
          <a:p>
            <a:endParaRPr kumimoji="1" lang="en-GB" altLang="zh-CN" sz="1200" b="0" i="0" u="none" strike="noStrike"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这个并不是针对作弊上的策略，</a:t>
            </a:r>
            <a:r>
              <a:rPr lang="zh-CN" altLang="en-US" sz="1200" kern="1200" dirty="0">
                <a:solidFill>
                  <a:schemeClr val="tx1"/>
                </a:solidFill>
                <a:effectLst/>
                <a:latin typeface="+mn-lt"/>
                <a:ea typeface="+mn-ea"/>
                <a:cs typeface="+mn-cs"/>
              </a:rPr>
              <a:t>过滤</a:t>
            </a:r>
            <a:r>
              <a:rPr lang="zh-CN" altLang="zh-CN" sz="1200" kern="1200" dirty="0">
                <a:solidFill>
                  <a:schemeClr val="tx1"/>
                </a:solidFill>
                <a:effectLst/>
                <a:latin typeface="+mn-lt"/>
                <a:ea typeface="+mn-ea"/>
                <a:cs typeface="+mn-cs"/>
              </a:rPr>
              <a:t>百度内部</a:t>
            </a:r>
            <a:r>
              <a:rPr lang="zh-CN" altLang="en-US" sz="1200" kern="1200" dirty="0">
                <a:solidFill>
                  <a:schemeClr val="tx1"/>
                </a:solidFill>
                <a:effectLst/>
                <a:latin typeface="+mn-lt"/>
                <a:ea typeface="+mn-ea"/>
                <a:cs typeface="+mn-cs"/>
              </a:rPr>
              <a:t>的一些</a:t>
            </a:r>
            <a:r>
              <a:rPr lang="en-US" altLang="zh-CN" sz="1200" kern="1200" dirty="0" err="1">
                <a:solidFill>
                  <a:schemeClr val="tx1"/>
                </a:solidFill>
                <a:effectLst/>
                <a:latin typeface="+mn-lt"/>
                <a:ea typeface="+mn-ea"/>
                <a:cs typeface="+mn-cs"/>
              </a:rPr>
              <a:t>userid</a:t>
            </a:r>
            <a:r>
              <a:rPr lang="zh-CN" altLang="en-US" sz="1200" kern="1200" dirty="0">
                <a:solidFill>
                  <a:schemeClr val="tx1"/>
                </a:solidFill>
                <a:effectLst/>
                <a:latin typeface="+mn-lt"/>
                <a:ea typeface="+mn-ea"/>
                <a:cs typeface="+mn-cs"/>
              </a:rPr>
              <a:t>，这些</a:t>
            </a:r>
            <a:r>
              <a:rPr lang="en-US" altLang="zh-CN" sz="1200" kern="1200" dirty="0">
                <a:solidFill>
                  <a:schemeClr val="tx1"/>
                </a:solidFill>
                <a:effectLst/>
                <a:latin typeface="+mn-lt"/>
                <a:ea typeface="+mn-ea"/>
                <a:cs typeface="+mn-cs"/>
              </a:rPr>
              <a:t>id</a:t>
            </a:r>
            <a:r>
              <a:rPr lang="zh-CN" altLang="en-US" sz="1200" kern="1200" dirty="0">
                <a:solidFill>
                  <a:schemeClr val="tx1"/>
                </a:solidFill>
                <a:effectLst/>
                <a:latin typeface="+mn-lt"/>
                <a:ea typeface="+mn-ea"/>
                <a:cs typeface="+mn-cs"/>
              </a:rPr>
              <a:t>是内部</a:t>
            </a:r>
            <a:r>
              <a:rPr lang="zh-CN" altLang="zh-CN" sz="1200" kern="1200" dirty="0">
                <a:solidFill>
                  <a:schemeClr val="tx1"/>
                </a:solidFill>
                <a:effectLst/>
                <a:latin typeface="+mn-lt"/>
                <a:ea typeface="+mn-ea"/>
                <a:cs typeface="+mn-cs"/>
              </a:rPr>
              <a:t>测试账号，对于这些账号我们不应该进行计费。</a:t>
            </a:r>
            <a:r>
              <a:rPr lang="zh-CN" altLang="zh-CN" dirty="0">
                <a:effectLst/>
              </a:rPr>
              <a:t> </a:t>
            </a:r>
            <a:endParaRPr lang="en-US" altLang="zh-CN" dirty="0">
              <a:effectLst/>
            </a:endParaRPr>
          </a:p>
          <a:p>
            <a:r>
              <a:rPr kumimoji="1" lang="en-US" altLang="zh-CN" dirty="0">
                <a:effectLst/>
              </a:rPr>
              <a:t>price&lt;10</a:t>
            </a:r>
            <a:r>
              <a:rPr kumimoji="1" lang="zh-CN" altLang="en-US" dirty="0">
                <a:effectLst/>
              </a:rPr>
              <a:t>可能是测试流量  出价没有小于</a:t>
            </a:r>
            <a:r>
              <a:rPr kumimoji="1" lang="en-US" altLang="zh-CN" dirty="0">
                <a:effectLst/>
              </a:rPr>
              <a:t>10</a:t>
            </a:r>
            <a:r>
              <a:rPr kumimoji="1" lang="zh-CN" altLang="en-US" dirty="0">
                <a:effectLst/>
              </a:rPr>
              <a:t>的</a:t>
            </a:r>
            <a:endParaRPr kumimoji="1" lang="en-US" altLang="zh-CN" dirty="0">
              <a:effectLst/>
            </a:endParaRPr>
          </a:p>
          <a:p>
            <a:endParaRPr kumimoji="1" lang="en-US" altLang="zh-CN" dirty="0">
              <a:effectLst/>
            </a:endParaRPr>
          </a:p>
          <a:p>
            <a:r>
              <a:rPr kumimoji="1" lang="en-US" altLang="zh-CN" dirty="0">
                <a:effectLst/>
              </a:rPr>
              <a:t>ac!=2</a:t>
            </a:r>
            <a:r>
              <a:rPr kumimoji="1" lang="zh-CN" altLang="en-US" dirty="0">
                <a:effectLst/>
              </a:rPr>
              <a:t> 小</a:t>
            </a:r>
            <a:r>
              <a:rPr lang="zh-CN" altLang="en-US" dirty="0"/>
              <a:t>微凤巢</a:t>
            </a:r>
            <a:r>
              <a:rPr lang="en-US" altLang="zh-CN" dirty="0" err="1"/>
              <a:t>ad_channal</a:t>
            </a:r>
            <a:endParaRPr kumimoji="1" lang="en-US" altLang="zh-CN" dirty="0">
              <a:effectLst/>
            </a:endParaRPr>
          </a:p>
          <a:p>
            <a:r>
              <a:rPr lang="zh-CN" altLang="en-US" sz="1200" b="0" i="0" kern="1200" dirty="0">
                <a:solidFill>
                  <a:schemeClr val="tx1"/>
                </a:solidFill>
                <a:effectLst/>
                <a:latin typeface="+mn-lt"/>
                <a:ea typeface="+mn-ea"/>
                <a:cs typeface="+mn-cs"/>
              </a:rPr>
              <a:t>微凤巢</a:t>
            </a:r>
            <a:r>
              <a:rPr lang="en-GB" altLang="zh-CN" sz="1200" b="0" i="0" kern="1200" dirty="0" err="1">
                <a:solidFill>
                  <a:schemeClr val="tx1"/>
                </a:solidFill>
                <a:effectLst/>
                <a:latin typeface="+mn-lt"/>
                <a:ea typeface="+mn-ea"/>
                <a:cs typeface="+mn-cs"/>
              </a:rPr>
              <a:t>ad_channel</a:t>
            </a:r>
            <a:r>
              <a:rPr lang="zh-CN" altLang="en-GB" sz="1200" b="0" i="0" kern="1200" dirty="0">
                <a:solidFill>
                  <a:schemeClr val="tx1"/>
                </a:solidFill>
                <a:effectLst/>
                <a:latin typeface="+mn-lt"/>
                <a:ea typeface="+mn-ea"/>
                <a:cs typeface="+mn-cs"/>
              </a:rPr>
              <a:t>配置</a:t>
            </a:r>
            <a:endParaRPr lang="en-GB" altLang="zh-CN" sz="1200" b="0" i="0" kern="1200" dirty="0">
              <a:solidFill>
                <a:schemeClr val="tx1"/>
              </a:solidFill>
              <a:effectLst/>
              <a:latin typeface="+mn-lt"/>
              <a:ea typeface="+mn-ea"/>
              <a:cs typeface="+mn-cs"/>
            </a:endParaRPr>
          </a:p>
          <a:p>
            <a:r>
              <a:rPr lang="en-US" altLang="zh-CN" sz="1200" kern="1200" dirty="0" err="1">
                <a:solidFill>
                  <a:schemeClr val="tx1"/>
                </a:solidFill>
                <a:effectLst/>
                <a:latin typeface="+mn-lt"/>
                <a:ea typeface="+mn-ea"/>
                <a:cs typeface="+mn-cs"/>
              </a:rPr>
              <a:t>Adchannel_fc_normal</a:t>
            </a:r>
            <a:r>
              <a:rPr lang="en-US" altLang="zh-CN" sz="1200" kern="1200" dirty="0">
                <a:solidFill>
                  <a:schemeClr val="tx1"/>
                </a:solidFill>
                <a:effectLst/>
                <a:latin typeface="+mn-lt"/>
                <a:ea typeface="+mn-ea"/>
                <a:cs typeface="+mn-cs"/>
              </a:rPr>
              <a:t> = 1 </a:t>
            </a:r>
            <a:r>
              <a:rPr lang="zh-CN" altLang="zh-CN" sz="1200" kern="1200" dirty="0">
                <a:solidFill>
                  <a:schemeClr val="tx1"/>
                </a:solidFill>
                <a:effectLst/>
                <a:latin typeface="+mn-lt"/>
                <a:ea typeface="+mn-ea"/>
                <a:cs typeface="+mn-cs"/>
              </a:rPr>
              <a:t>普通凤巢广告</a:t>
            </a:r>
          </a:p>
          <a:p>
            <a:r>
              <a:rPr lang="en-US" altLang="zh-CN" sz="1200" kern="1200" dirty="0" err="1">
                <a:solidFill>
                  <a:schemeClr val="tx1"/>
                </a:solidFill>
                <a:effectLst/>
                <a:latin typeface="+mn-lt"/>
                <a:ea typeface="+mn-ea"/>
                <a:cs typeface="+mn-cs"/>
              </a:rPr>
              <a:t>Adchannel_fc_normal</a:t>
            </a:r>
            <a:r>
              <a:rPr lang="en-US" altLang="zh-CN" sz="1200" kern="1200" dirty="0">
                <a:solidFill>
                  <a:schemeClr val="tx1"/>
                </a:solidFill>
                <a:effectLst/>
                <a:latin typeface="+mn-lt"/>
                <a:ea typeface="+mn-ea"/>
                <a:cs typeface="+mn-cs"/>
              </a:rPr>
              <a:t> = 2 </a:t>
            </a:r>
            <a:r>
              <a:rPr lang="zh-CN" altLang="zh-CN" sz="1200" kern="1200" dirty="0">
                <a:solidFill>
                  <a:schemeClr val="tx1"/>
                </a:solidFill>
                <a:effectLst/>
                <a:latin typeface="+mn-lt"/>
                <a:ea typeface="+mn-ea"/>
                <a:cs typeface="+mn-cs"/>
              </a:rPr>
              <a:t>小微凤巢广告</a:t>
            </a:r>
          </a:p>
          <a:p>
            <a:r>
              <a:rPr lang="en-US" altLang="zh-CN" sz="1200" kern="1200" dirty="0" err="1">
                <a:solidFill>
                  <a:schemeClr val="tx1"/>
                </a:solidFill>
                <a:effectLst/>
                <a:latin typeface="+mn-lt"/>
                <a:ea typeface="+mn-ea"/>
                <a:cs typeface="+mn-cs"/>
              </a:rPr>
              <a:t>Adchannel_fc_normal</a:t>
            </a:r>
            <a:r>
              <a:rPr lang="en-US" altLang="zh-CN" sz="1200" kern="1200" dirty="0">
                <a:solidFill>
                  <a:schemeClr val="tx1"/>
                </a:solidFill>
                <a:effectLst/>
                <a:latin typeface="+mn-lt"/>
                <a:ea typeface="+mn-ea"/>
                <a:cs typeface="+mn-cs"/>
              </a:rPr>
              <a:t> = 3 </a:t>
            </a:r>
            <a:r>
              <a:rPr lang="zh-CN" altLang="zh-CN" sz="1200" kern="1200" dirty="0">
                <a:solidFill>
                  <a:schemeClr val="tx1"/>
                </a:solidFill>
                <a:effectLst/>
                <a:latin typeface="+mn-lt"/>
                <a:ea typeface="+mn-ea"/>
                <a:cs typeface="+mn-cs"/>
              </a:rPr>
              <a:t>凤巢品牌广告</a:t>
            </a:r>
          </a:p>
          <a:p>
            <a:r>
              <a:rPr lang="en-US" altLang="zh-CN" sz="1200" kern="1200" dirty="0" err="1">
                <a:solidFill>
                  <a:schemeClr val="tx1"/>
                </a:solidFill>
                <a:effectLst/>
                <a:latin typeface="+mn-lt"/>
                <a:ea typeface="+mn-ea"/>
                <a:cs typeface="+mn-cs"/>
              </a:rPr>
              <a:t>Adchannel_fc_normal</a:t>
            </a:r>
            <a:r>
              <a:rPr lang="en-US" altLang="zh-CN" sz="1200" kern="1200" dirty="0">
                <a:solidFill>
                  <a:schemeClr val="tx1"/>
                </a:solidFill>
                <a:effectLst/>
                <a:latin typeface="+mn-lt"/>
                <a:ea typeface="+mn-ea"/>
                <a:cs typeface="+mn-cs"/>
              </a:rPr>
              <a:t> = 4 </a:t>
            </a:r>
            <a:r>
              <a:rPr lang="zh-CN" altLang="zh-CN" sz="1200" kern="1200" dirty="0">
                <a:solidFill>
                  <a:schemeClr val="tx1"/>
                </a:solidFill>
                <a:effectLst/>
                <a:latin typeface="+mn-lt"/>
                <a:ea typeface="+mn-ea"/>
                <a:cs typeface="+mn-cs"/>
              </a:rPr>
              <a:t>凤巢动态视频广告</a:t>
            </a:r>
          </a:p>
          <a:p>
            <a:r>
              <a:rPr lang="en-US" altLang="zh-CN" sz="1200" kern="1200" dirty="0" err="1">
                <a:solidFill>
                  <a:schemeClr val="tx1"/>
                </a:solidFill>
                <a:effectLst/>
                <a:latin typeface="+mn-lt"/>
                <a:ea typeface="+mn-ea"/>
                <a:cs typeface="+mn-cs"/>
              </a:rPr>
              <a:t>Adchannel_fc_normal</a:t>
            </a:r>
            <a:r>
              <a:rPr lang="en-US" altLang="zh-CN" sz="1200" kern="1200" dirty="0">
                <a:solidFill>
                  <a:schemeClr val="tx1"/>
                </a:solidFill>
                <a:effectLst/>
                <a:latin typeface="+mn-lt"/>
                <a:ea typeface="+mn-ea"/>
                <a:cs typeface="+mn-cs"/>
              </a:rPr>
              <a:t> = 5 </a:t>
            </a:r>
            <a:r>
              <a:rPr lang="zh-CN" altLang="zh-CN" sz="1200" kern="1200" dirty="0">
                <a:solidFill>
                  <a:schemeClr val="tx1"/>
                </a:solidFill>
                <a:effectLst/>
                <a:latin typeface="+mn-lt"/>
                <a:ea typeface="+mn-ea"/>
                <a:cs typeface="+mn-cs"/>
              </a:rPr>
              <a:t>门店营销广告</a:t>
            </a:r>
            <a:endParaRPr lang="en-US" altLang="zh-CN" sz="120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36</a:t>
            </a:fld>
            <a:endParaRPr kumimoji="1"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dirty="0" err="1"/>
              <a:t>Adb</a:t>
            </a:r>
            <a:r>
              <a:rPr kumimoji="1" lang="zh-CN" altLang="en-US" dirty="0"/>
              <a:t>  </a:t>
            </a:r>
            <a:r>
              <a:rPr kumimoji="1" lang="en-US" altLang="zh-CN" dirty="0" err="1"/>
              <a:t>clk</a:t>
            </a:r>
            <a:r>
              <a:rPr kumimoji="1" lang="zh-CN" altLang="en-US" dirty="0"/>
              <a:t>  </a:t>
            </a:r>
            <a:r>
              <a:rPr kumimoji="1" lang="en-US" altLang="zh-CN" dirty="0"/>
              <a:t>direct(k)</a:t>
            </a:r>
            <a:r>
              <a:rPr kumimoji="1" lang="zh-CN" altLang="en-US" dirty="0"/>
              <a:t> </a:t>
            </a:r>
            <a:r>
              <a:rPr kumimoji="1" lang="en-US" altLang="zh-CN" dirty="0" err="1"/>
              <a:t>kfield</a:t>
            </a:r>
            <a:r>
              <a:rPr kumimoji="1" lang="en-US" altLang="zh-CN" dirty="0"/>
              <a:t>(k)</a:t>
            </a:r>
            <a:r>
              <a:rPr kumimoji="1" lang="zh-CN" altLang="en-US" dirty="0"/>
              <a:t> </a:t>
            </a:r>
            <a:r>
              <a:rPr lang="en-US" altLang="zh-CN" sz="1200" b="0" i="0" kern="1200" dirty="0" err="1">
                <a:solidFill>
                  <a:schemeClr val="tx1"/>
                </a:solidFill>
                <a:effectLst/>
                <a:latin typeface="+mn-lt"/>
                <a:ea typeface="+mn-ea"/>
                <a:cs typeface="+mn-cs"/>
              </a:rPr>
              <a:t>Adb</a:t>
            </a:r>
            <a:r>
              <a:rPr lang="zh-CN" altLang="en-US" sz="1200" b="0" i="0" kern="1200" dirty="0">
                <a:solidFill>
                  <a:schemeClr val="tx1"/>
                </a:solidFill>
                <a:effectLst/>
                <a:latin typeface="+mn-lt"/>
                <a:ea typeface="+mn-ea"/>
                <a:cs typeface="+mn-cs"/>
              </a:rPr>
              <a:t>是一个用于标识反屏蔽流量的字段，</a:t>
            </a:r>
            <a:r>
              <a:rPr lang="en-US" altLang="zh-CN" sz="1200" b="0" i="0" kern="1200" dirty="0">
                <a:solidFill>
                  <a:schemeClr val="tx1"/>
                </a:solidFill>
                <a:effectLst/>
                <a:latin typeface="+mn-lt"/>
                <a:ea typeface="+mn-ea"/>
                <a:cs typeface="+mn-cs"/>
              </a:rPr>
              <a:t> 1</a:t>
            </a:r>
            <a:r>
              <a:rPr lang="zh-CN" altLang="en-US" sz="1200" b="0" i="0" kern="1200" dirty="0">
                <a:solidFill>
                  <a:schemeClr val="tx1"/>
                </a:solidFill>
                <a:effectLst/>
                <a:latin typeface="+mn-lt"/>
                <a:ea typeface="+mn-ea"/>
                <a:cs typeface="+mn-cs"/>
              </a:rPr>
              <a:t>：为反屏蔽流量（不过</a:t>
            </a:r>
            <a:r>
              <a:rPr lang="en-US" altLang="zh-CN" sz="1200" b="0" i="0" kern="1200" dirty="0">
                <a:solidFill>
                  <a:schemeClr val="tx1"/>
                </a:solidFill>
                <a:effectLst/>
                <a:latin typeface="+mn-lt"/>
                <a:ea typeface="+mn-ea"/>
                <a:cs typeface="+mn-cs"/>
              </a:rPr>
              <a:t>refer</a:t>
            </a:r>
            <a:r>
              <a:rPr lang="zh-CN" altLang="en-US" sz="1200" b="0" i="0" kern="1200" dirty="0">
                <a:solidFill>
                  <a:schemeClr val="tx1"/>
                </a:solidFill>
                <a:effectLst/>
                <a:latin typeface="+mn-lt"/>
                <a:ea typeface="+mn-ea"/>
                <a:cs typeface="+mn-cs"/>
              </a:rPr>
              <a:t>白名单策略）；</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或不存在：非反屏蔽流量  </a:t>
            </a:r>
            <a:endParaRPr lang="en-US" altLang="zh-CN" sz="1200" b="0" i="0" kern="1200" dirty="0">
              <a:solidFill>
                <a:schemeClr val="tx1"/>
              </a:solidFill>
              <a:effectLst/>
              <a:latin typeface="+mn-lt"/>
              <a:ea typeface="+mn-ea"/>
              <a:cs typeface="+mn-cs"/>
            </a:endParaRPr>
          </a:p>
          <a:p>
            <a:endParaRPr lang="en-US" altLang="zh-CN" sz="1200" b="0" i="0" u="none" strike="noStrike" kern="1200" dirty="0">
              <a:solidFill>
                <a:schemeClr val="tx1"/>
              </a:solidFill>
              <a:effectLst/>
              <a:latin typeface="+mn-lt"/>
              <a:ea typeface="+mn-ea"/>
              <a:cs typeface="+mn-cs"/>
            </a:endParaRPr>
          </a:p>
          <a:p>
            <a:endParaRPr lang="en-US" altLang="zh-CN" sz="1200" b="0" i="0" u="none" strike="noStrike" kern="1200" dirty="0">
              <a:solidFill>
                <a:schemeClr val="tx1"/>
              </a:solidFill>
              <a:effectLst/>
              <a:latin typeface="+mn-lt"/>
              <a:ea typeface="+mn-ea"/>
              <a:cs typeface="+mn-cs"/>
            </a:endParaRPr>
          </a:p>
          <a:p>
            <a:r>
              <a:rPr lang="zh-CN" altLang="en-US" sz="1200" b="0" i="0" u="none" strike="noStrike" kern="1200" dirty="0">
                <a:solidFill>
                  <a:schemeClr val="tx1"/>
                </a:solidFill>
                <a:effectLst/>
                <a:latin typeface="+mn-lt"/>
                <a:ea typeface="+mn-ea"/>
                <a:cs typeface="+mn-cs"/>
              </a:rPr>
              <a:t>反屏蔽流量：在百度推出广告后，当用户使用浏览器插件等方法来屏蔽广告时，百度让广告去正常展示的一种方式。</a:t>
            </a:r>
          </a:p>
          <a:p>
            <a:br>
              <a:rPr lang="zh-CN" altLang="en-US" dirty="0"/>
            </a:b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200" b="0" i="0" u="none" strike="noStrike" kern="1200" dirty="0">
                <a:solidFill>
                  <a:schemeClr val="tx1"/>
                </a:solidFill>
                <a:effectLst/>
                <a:latin typeface="+mn-lt"/>
                <a:ea typeface="+mn-ea"/>
                <a:cs typeface="+mn-cs"/>
              </a:rPr>
              <a:t>refer</a:t>
            </a:r>
            <a:r>
              <a:rPr lang="zh-CN" altLang="en-US" sz="1200" b="0" i="0" u="none" strike="noStrike" kern="1200" dirty="0">
                <a:solidFill>
                  <a:schemeClr val="tx1"/>
                </a:solidFill>
                <a:effectLst/>
                <a:latin typeface="+mn-lt"/>
                <a:ea typeface="+mn-ea"/>
                <a:cs typeface="+mn-cs"/>
              </a:rPr>
              <a:t>为空可能为正常，</a:t>
            </a:r>
            <a:r>
              <a:rPr lang="en-GB" altLang="zh-CN" sz="1200" b="0" i="0" u="none" strike="noStrike" kern="1200" dirty="0">
                <a:solidFill>
                  <a:schemeClr val="tx1"/>
                </a:solidFill>
                <a:effectLst/>
                <a:latin typeface="+mn-lt"/>
                <a:ea typeface="+mn-ea"/>
                <a:cs typeface="+mn-cs"/>
              </a:rPr>
              <a:t>refer</a:t>
            </a:r>
            <a:r>
              <a:rPr lang="zh-CN" altLang="en-US" sz="1200" b="0" i="0" u="none" strike="noStrike" kern="1200" dirty="0">
                <a:solidFill>
                  <a:schemeClr val="tx1"/>
                </a:solidFill>
                <a:effectLst/>
                <a:latin typeface="+mn-lt"/>
                <a:ea typeface="+mn-ea"/>
                <a:cs typeface="+mn-cs"/>
              </a:rPr>
              <a:t>为空，比如搜索框直接检索，直接打开加入书签的网址。</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37</a:t>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a:p>
            <a:r>
              <a:rPr lang="en-GB" altLang="zh-CN" sz="1200" b="0" i="0" kern="1200" dirty="0" err="1">
                <a:solidFill>
                  <a:schemeClr val="tx1"/>
                </a:solidFill>
                <a:effectLst/>
                <a:latin typeface="+mn-lt"/>
                <a:ea typeface="+mn-ea"/>
                <a:cs typeface="+mn-cs"/>
              </a:rPr>
              <a:t>ip.black</a:t>
            </a:r>
            <a:r>
              <a:rPr lang="zh-CN" altLang="en-US" sz="1200" b="0" i="0" kern="1200" dirty="0">
                <a:solidFill>
                  <a:schemeClr val="tx1"/>
                </a:solidFill>
                <a:effectLst/>
                <a:latin typeface="+mn-lt"/>
                <a:ea typeface="+mn-ea"/>
                <a:cs typeface="+mn-cs"/>
              </a:rPr>
              <a:t>文件内容？公司内部</a:t>
            </a:r>
            <a:r>
              <a:rPr lang="en-GB"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怎么判断？从哪获取的？</a:t>
            </a:r>
            <a:r>
              <a:rPr lang="en-US" altLang="zh-CN" sz="1200" b="0" i="0" kern="1200" dirty="0">
                <a:solidFill>
                  <a:schemeClr val="tx1"/>
                </a:solidFill>
                <a:effectLst/>
                <a:latin typeface="+mn-lt"/>
                <a:ea typeface="+mn-ea"/>
                <a:cs typeface="+mn-cs"/>
              </a:rPr>
              <a:t>14001</a:t>
            </a:r>
            <a:r>
              <a:rPr lang="zh-CN" altLang="en-US" sz="1200" b="0" i="0" kern="1200" dirty="0">
                <a:solidFill>
                  <a:schemeClr val="tx1"/>
                </a:solidFill>
                <a:effectLst/>
                <a:latin typeface="+mn-lt"/>
                <a:ea typeface="+mn-ea"/>
                <a:cs typeface="+mn-cs"/>
              </a:rPr>
              <a:t>白名单</a:t>
            </a:r>
            <a:r>
              <a:rPr lang="en-GB" altLang="zh-CN" sz="1200" b="0" i="0" kern="1200" dirty="0" err="1">
                <a:solidFill>
                  <a:schemeClr val="tx1"/>
                </a:solidFill>
                <a:effectLst/>
                <a:latin typeface="+mn-lt"/>
                <a:ea typeface="+mn-ea"/>
                <a:cs typeface="+mn-cs"/>
              </a:rPr>
              <a:t>cmatch</a:t>
            </a:r>
            <a:r>
              <a:rPr lang="zh-CN" altLang="en-US" sz="1200" b="0" i="0" kern="1200" dirty="0">
                <a:solidFill>
                  <a:schemeClr val="tx1"/>
                </a:solidFill>
                <a:effectLst/>
                <a:latin typeface="+mn-lt"/>
                <a:ea typeface="+mn-ea"/>
                <a:cs typeface="+mn-cs"/>
              </a:rPr>
              <a:t>为什么要豁免？</a:t>
            </a:r>
          </a:p>
          <a:p>
            <a:r>
              <a:rPr lang="zh-CN" altLang="en-US" sz="1200" b="0" i="0" kern="1200" dirty="0">
                <a:solidFill>
                  <a:schemeClr val="tx1"/>
                </a:solidFill>
                <a:effectLst/>
                <a:latin typeface="+mn-lt"/>
                <a:ea typeface="+mn-ea"/>
                <a:cs typeface="+mn-cs"/>
              </a:rPr>
              <a:t>答：</a:t>
            </a:r>
            <a:r>
              <a:rPr lang="en-GB" altLang="zh-CN" sz="1200" b="0" i="0" kern="1200" dirty="0" err="1">
                <a:solidFill>
                  <a:schemeClr val="tx1"/>
                </a:solidFill>
                <a:effectLst/>
                <a:latin typeface="+mn-lt"/>
                <a:ea typeface="+mn-ea"/>
                <a:cs typeface="+mn-cs"/>
              </a:rPr>
              <a:t>ip.black</a:t>
            </a:r>
            <a:r>
              <a:rPr lang="zh-CN" altLang="en-US" sz="1200" b="0" i="0" kern="1200" dirty="0">
                <a:solidFill>
                  <a:schemeClr val="tx1"/>
                </a:solidFill>
                <a:effectLst/>
                <a:latin typeface="+mn-lt"/>
                <a:ea typeface="+mn-ea"/>
                <a:cs typeface="+mn-cs"/>
              </a:rPr>
              <a:t>文件内容见附件</a:t>
            </a:r>
            <a:r>
              <a:rPr lang="en-GB" altLang="zh-CN" sz="1200" b="0" i="0" kern="1200" dirty="0" err="1">
                <a:solidFill>
                  <a:schemeClr val="tx1"/>
                </a:solidFill>
                <a:effectLst/>
                <a:latin typeface="+mn-lt"/>
                <a:ea typeface="+mn-ea"/>
                <a:cs typeface="+mn-cs"/>
              </a:rPr>
              <a:t>ipblack_seg.dat</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包括内部</a:t>
            </a:r>
            <a:r>
              <a:rPr lang="en-GB"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以及一些已知</a:t>
            </a:r>
            <a:r>
              <a:rPr lang="en-GB" altLang="zh-CN" sz="1200" b="0" i="0" kern="1200" dirty="0">
                <a:solidFill>
                  <a:schemeClr val="tx1"/>
                </a:solidFill>
                <a:effectLst/>
                <a:latin typeface="+mn-lt"/>
                <a:ea typeface="+mn-ea"/>
                <a:cs typeface="+mn-cs"/>
              </a:rPr>
              <a:t>IP</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其中公司内部</a:t>
            </a:r>
            <a:r>
              <a:rPr lang="en-GB"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从系统部获取。</a:t>
            </a:r>
          </a:p>
          <a:p>
            <a:r>
              <a:rPr lang="en-US" altLang="zh-CN" sz="1200" b="0" i="0" kern="1200" dirty="0">
                <a:solidFill>
                  <a:schemeClr val="tx1"/>
                </a:solidFill>
                <a:effectLst/>
                <a:latin typeface="+mn-lt"/>
                <a:ea typeface="+mn-ea"/>
                <a:cs typeface="+mn-cs"/>
              </a:rPr>
              <a:t>14001</a:t>
            </a:r>
            <a:r>
              <a:rPr lang="zh-CN" altLang="en-US" sz="1200" b="0" i="0" kern="1200" dirty="0">
                <a:solidFill>
                  <a:schemeClr val="tx1"/>
                </a:solidFill>
                <a:effectLst/>
                <a:latin typeface="+mn-lt"/>
                <a:ea typeface="+mn-ea"/>
                <a:cs typeface="+mn-cs"/>
              </a:rPr>
              <a:t>白名单</a:t>
            </a:r>
            <a:r>
              <a:rPr lang="en-GB" altLang="zh-CN" sz="1200" b="0" i="0" kern="1200" dirty="0" err="1">
                <a:solidFill>
                  <a:schemeClr val="tx1"/>
                </a:solidFill>
                <a:effectLst/>
                <a:latin typeface="+mn-lt"/>
                <a:ea typeface="+mn-ea"/>
                <a:cs typeface="+mn-cs"/>
              </a:rPr>
              <a:t>cmatch</a:t>
            </a:r>
            <a:r>
              <a:rPr lang="zh-CN" altLang="en-US" sz="1200" b="0" i="0" kern="1200" dirty="0">
                <a:solidFill>
                  <a:schemeClr val="tx1"/>
                </a:solidFill>
                <a:effectLst/>
                <a:latin typeface="+mn-lt"/>
                <a:ea typeface="+mn-ea"/>
                <a:cs typeface="+mn-cs"/>
              </a:rPr>
              <a:t>豁免是由业务驱动的，</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德雷克：点击是后端</a:t>
            </a:r>
            <a:r>
              <a:rPr lang="en-GB" altLang="zh-CN" sz="1200" b="0" i="0" kern="1200" dirty="0">
                <a:solidFill>
                  <a:schemeClr val="tx1"/>
                </a:solidFill>
                <a:effectLst/>
                <a:latin typeface="+mn-lt"/>
                <a:ea typeface="+mn-ea"/>
                <a:cs typeface="+mn-cs"/>
              </a:rPr>
              <a:t>server</a:t>
            </a:r>
            <a:r>
              <a:rPr lang="zh-CN" altLang="en-US" sz="1200" b="0" i="0" kern="1200" dirty="0">
                <a:solidFill>
                  <a:schemeClr val="tx1"/>
                </a:solidFill>
                <a:effectLst/>
                <a:latin typeface="+mn-lt"/>
                <a:ea typeface="+mn-ea"/>
                <a:cs typeface="+mn-cs"/>
              </a:rPr>
              <a:t>直接发起的，没有二跳</a:t>
            </a:r>
            <a:r>
              <a:rPr lang="en-GB" altLang="zh-CN" sz="1200" b="0" i="0" kern="1200" dirty="0">
                <a:solidFill>
                  <a:schemeClr val="tx1"/>
                </a:solidFill>
                <a:effectLst/>
                <a:latin typeface="+mn-lt"/>
                <a:ea typeface="+mn-ea"/>
                <a:cs typeface="+mn-cs"/>
              </a:rPr>
              <a:t>cookie</a:t>
            </a:r>
            <a:r>
              <a:rPr lang="zh-CN" altLang="en-US" sz="1200" b="0" i="0" kern="1200" dirty="0">
                <a:solidFill>
                  <a:schemeClr val="tx1"/>
                </a:solidFill>
                <a:effectLst/>
                <a:latin typeface="+mn-lt"/>
                <a:ea typeface="+mn-ea"/>
                <a:cs typeface="+mn-cs"/>
              </a:rPr>
              <a:t>点击。并且使用了百度代理</a:t>
            </a:r>
            <a:r>
              <a:rPr lang="en-GB" altLang="zh-CN" sz="1200" b="0" i="0" kern="1200" dirty="0" err="1">
                <a:solidFill>
                  <a:schemeClr val="tx1"/>
                </a:solidFill>
                <a:effectLst/>
                <a:latin typeface="+mn-lt"/>
                <a:ea typeface="+mn-ea"/>
                <a:cs typeface="+mn-cs"/>
              </a:rPr>
              <a:t>ip</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故需要进行</a:t>
            </a:r>
            <a:r>
              <a:rPr lang="en-GB" altLang="zh-CN" sz="1200" b="0" i="0" kern="1200" dirty="0" err="1">
                <a:solidFill>
                  <a:schemeClr val="tx1"/>
                </a:solidFill>
                <a:effectLst/>
                <a:latin typeface="+mn-lt"/>
                <a:ea typeface="+mn-ea"/>
                <a:cs typeface="+mn-cs"/>
              </a:rPr>
              <a:t>ip</a:t>
            </a:r>
            <a:r>
              <a:rPr lang="zh-CN" altLang="en-US" sz="1200" b="0" i="0" kern="1200" dirty="0">
                <a:solidFill>
                  <a:schemeClr val="tx1"/>
                </a:solidFill>
                <a:effectLst/>
                <a:latin typeface="+mn-lt"/>
                <a:ea typeface="+mn-ea"/>
                <a:cs typeface="+mn-cs"/>
              </a:rPr>
              <a:t>策略豁免以及关二跳</a:t>
            </a:r>
            <a:r>
              <a:rPr lang="en-GB" altLang="zh-CN" sz="1200" b="0" i="0" kern="1200" dirty="0">
                <a:solidFill>
                  <a:schemeClr val="tx1"/>
                </a:solidFill>
                <a:effectLst/>
                <a:latin typeface="+mn-lt"/>
                <a:ea typeface="+mn-ea"/>
                <a:cs typeface="+mn-cs"/>
              </a:rPr>
              <a:t>cookie</a:t>
            </a:r>
            <a:r>
              <a:rPr lang="zh-CN" altLang="en-GB"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涉及</a:t>
            </a:r>
            <a:r>
              <a:rPr lang="en-GB" altLang="zh-CN" sz="1200" b="0" i="0" kern="1200" dirty="0" err="1">
                <a:solidFill>
                  <a:schemeClr val="tx1"/>
                </a:solidFill>
                <a:effectLst/>
                <a:latin typeface="+mn-lt"/>
                <a:ea typeface="+mn-ea"/>
                <a:cs typeface="+mn-cs"/>
              </a:rPr>
              <a:t>cmatch</a:t>
            </a:r>
            <a:r>
              <a:rPr lang="zh-CN" altLang="en-US" sz="1200" b="0" i="0" kern="1200" dirty="0">
                <a:solidFill>
                  <a:schemeClr val="tx1"/>
                </a:solidFill>
                <a:effectLst/>
                <a:latin typeface="+mn-lt"/>
                <a:ea typeface="+mn-ea"/>
                <a:cs typeface="+mn-cs"/>
              </a:rPr>
              <a:t>如下：</a:t>
            </a:r>
          </a:p>
          <a:p>
            <a:r>
              <a:rPr lang="en-GB" altLang="zh-CN" sz="1200" b="0" i="0" kern="1200" dirty="0">
                <a:solidFill>
                  <a:schemeClr val="tx1"/>
                </a:solidFill>
                <a:effectLst/>
                <a:latin typeface="+mn-lt"/>
                <a:ea typeface="+mn-ea"/>
                <a:cs typeface="+mn-cs"/>
              </a:rPr>
              <a:t>l  </a:t>
            </a:r>
            <a:r>
              <a:rPr lang="en-GB" altLang="zh-CN" sz="1200" b="0" i="0" kern="1200" dirty="0" err="1">
                <a:solidFill>
                  <a:schemeClr val="tx1"/>
                </a:solidFill>
                <a:effectLst/>
                <a:latin typeface="+mn-lt"/>
                <a:ea typeface="+mn-ea"/>
                <a:cs typeface="+mn-cs"/>
              </a:rPr>
              <a:t>cmatch</a:t>
            </a:r>
            <a:r>
              <a:rPr lang="en-GB" altLang="zh-CN" sz="1200" b="0" i="0" kern="1200" dirty="0">
                <a:solidFill>
                  <a:schemeClr val="tx1"/>
                </a:solidFill>
                <a:effectLst/>
                <a:latin typeface="+mn-lt"/>
                <a:ea typeface="+mn-ea"/>
                <a:cs typeface="+mn-cs"/>
              </a:rPr>
              <a:t>=1152</a:t>
            </a:r>
            <a:r>
              <a:rPr lang="zh-CN" altLang="en-US" sz="1200" b="0" i="0" kern="1200" dirty="0">
                <a:solidFill>
                  <a:schemeClr val="tx1"/>
                </a:solidFill>
                <a:effectLst/>
                <a:latin typeface="+mn-lt"/>
                <a:ea typeface="+mn-ea"/>
                <a:cs typeface="+mn-cs"/>
              </a:rPr>
              <a:t>是目前线上凤巢广告投德雷克 </a:t>
            </a:r>
          </a:p>
          <a:p>
            <a:r>
              <a:rPr lang="en-GB" altLang="zh-CN" sz="1200" b="0" i="0" kern="1200" dirty="0">
                <a:solidFill>
                  <a:schemeClr val="tx1"/>
                </a:solidFill>
                <a:effectLst/>
                <a:latin typeface="+mn-lt"/>
                <a:ea typeface="+mn-ea"/>
                <a:cs typeface="+mn-cs"/>
              </a:rPr>
              <a:t>l  </a:t>
            </a:r>
            <a:r>
              <a:rPr lang="en-GB" altLang="zh-CN" sz="1200" b="0" i="0" kern="1200" dirty="0" err="1">
                <a:solidFill>
                  <a:schemeClr val="tx1"/>
                </a:solidFill>
                <a:effectLst/>
                <a:latin typeface="+mn-lt"/>
                <a:ea typeface="+mn-ea"/>
                <a:cs typeface="+mn-cs"/>
              </a:rPr>
              <a:t>cmatch</a:t>
            </a:r>
            <a:r>
              <a:rPr lang="en-GB" altLang="zh-CN" sz="1200" b="0" i="0" kern="1200" dirty="0">
                <a:solidFill>
                  <a:schemeClr val="tx1"/>
                </a:solidFill>
                <a:effectLst/>
                <a:latin typeface="+mn-lt"/>
                <a:ea typeface="+mn-ea"/>
                <a:cs typeface="+mn-cs"/>
              </a:rPr>
              <a:t>=1142</a:t>
            </a:r>
            <a:r>
              <a:rPr lang="zh-CN" altLang="en-US" sz="1200" b="0" i="0" kern="1200" dirty="0">
                <a:solidFill>
                  <a:schemeClr val="tx1"/>
                </a:solidFill>
                <a:effectLst/>
                <a:latin typeface="+mn-lt"/>
                <a:ea typeface="+mn-ea"/>
                <a:cs typeface="+mn-cs"/>
              </a:rPr>
              <a:t>是升级后凤巢广告投德雷克 </a:t>
            </a:r>
          </a:p>
          <a:p>
            <a:r>
              <a:rPr lang="en-GB" altLang="zh-CN" sz="1200" b="0" i="0" kern="1200" dirty="0">
                <a:solidFill>
                  <a:schemeClr val="tx1"/>
                </a:solidFill>
                <a:effectLst/>
                <a:latin typeface="+mn-lt"/>
                <a:ea typeface="+mn-ea"/>
                <a:cs typeface="+mn-cs"/>
              </a:rPr>
              <a:t>l  </a:t>
            </a:r>
            <a:r>
              <a:rPr lang="en-GB" altLang="zh-CN" sz="1200" b="0" i="0" kern="1200" dirty="0" err="1">
                <a:solidFill>
                  <a:schemeClr val="tx1"/>
                </a:solidFill>
                <a:effectLst/>
                <a:latin typeface="+mn-lt"/>
                <a:ea typeface="+mn-ea"/>
                <a:cs typeface="+mn-cs"/>
              </a:rPr>
              <a:t>cmatch</a:t>
            </a:r>
            <a:r>
              <a:rPr lang="en-GB" altLang="zh-CN" sz="1200" b="0" i="0" kern="1200" dirty="0">
                <a:solidFill>
                  <a:schemeClr val="tx1"/>
                </a:solidFill>
                <a:effectLst/>
                <a:latin typeface="+mn-lt"/>
                <a:ea typeface="+mn-ea"/>
                <a:cs typeface="+mn-cs"/>
              </a:rPr>
              <a:t>=711</a:t>
            </a:r>
            <a:r>
              <a:rPr lang="zh-CN" altLang="en-US" sz="1200" b="0" i="0" kern="1200" dirty="0">
                <a:solidFill>
                  <a:schemeClr val="tx1"/>
                </a:solidFill>
                <a:effectLst/>
                <a:latin typeface="+mn-lt"/>
                <a:ea typeface="+mn-ea"/>
                <a:cs typeface="+mn-cs"/>
              </a:rPr>
              <a:t>是百通广告投德雷克</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38</a:t>
            </a:fld>
            <a:endParaRPr kumimoji="1"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实现方式：</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39</a:t>
            </a:fld>
            <a:endParaRPr kumimoji="1"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Preclktime</a:t>
            </a:r>
            <a:r>
              <a:rPr kumimoji="1" lang="zh-CN" altLang="en-US" dirty="0"/>
              <a:t> </a:t>
            </a:r>
            <a:r>
              <a:rPr kumimoji="1" lang="en-US" altLang="zh-CN" dirty="0" err="1"/>
              <a:t>clk</a:t>
            </a:r>
            <a:r>
              <a:rPr kumimoji="1" lang="zh-CN" altLang="en-US" dirty="0"/>
              <a:t>  </a:t>
            </a:r>
            <a:r>
              <a:rPr kumimoji="1" lang="en-US" altLang="zh-CN" dirty="0"/>
              <a:t>reflection(</a:t>
            </a:r>
            <a:r>
              <a:rPr kumimoji="1" lang="en-US" altLang="zh-CN" dirty="0" err="1"/>
              <a:t>click_log_field.pre_click_time</a:t>
            </a:r>
            <a:r>
              <a:rPr kumimoji="1" lang="en-US" altLang="zh-CN" dirty="0"/>
              <a:t>)</a:t>
            </a:r>
          </a:p>
          <a:p>
            <a:r>
              <a:rPr kumimoji="1" lang="en-US" altLang="zh-CN" dirty="0"/>
              <a:t>Post</a:t>
            </a:r>
            <a:r>
              <a:rPr kumimoji="1" lang="zh-CN" altLang="en-US" dirty="0"/>
              <a:t>       </a:t>
            </a:r>
            <a:r>
              <a:rPr kumimoji="1" lang="en-US" altLang="zh-CN" dirty="0" err="1"/>
              <a:t>clk</a:t>
            </a:r>
            <a:r>
              <a:rPr kumimoji="1" lang="zh-CN" altLang="en-US" dirty="0"/>
              <a:t>  </a:t>
            </a:r>
            <a:r>
              <a:rPr lang="en-GB" altLang="zh-CN" sz="1200" b="0" i="0" u="none" strike="noStrike" kern="1200" dirty="0">
                <a:solidFill>
                  <a:schemeClr val="tx1"/>
                </a:solidFill>
                <a:effectLst/>
                <a:latin typeface="+mn-lt"/>
                <a:ea typeface="+mn-ea"/>
                <a:cs typeface="+mn-cs"/>
              </a:rPr>
              <a:t>reflection(</a:t>
            </a:r>
            <a:r>
              <a:rPr lang="en-GB" altLang="zh-CN" sz="1200" b="0" i="0" u="none" strike="noStrike" kern="1200" dirty="0" err="1">
                <a:solidFill>
                  <a:schemeClr val="tx1"/>
                </a:solidFill>
                <a:effectLst/>
                <a:latin typeface="+mn-lt"/>
                <a:ea typeface="+mn-ea"/>
                <a:cs typeface="+mn-cs"/>
              </a:rPr>
              <a:t>click_log_field.post</a:t>
            </a:r>
            <a:r>
              <a:rPr lang="en-GB" altLang="zh-CN" sz="1200" b="0" i="0" u="none" strike="noStrike" kern="1200" dirty="0">
                <a:solidFill>
                  <a:schemeClr val="tx1"/>
                </a:solidFill>
                <a:effectLst/>
                <a:latin typeface="+mn-lt"/>
                <a:ea typeface="+mn-ea"/>
                <a:cs typeface="+mn-cs"/>
              </a:rPr>
              <a:t>)</a:t>
            </a:r>
          </a:p>
          <a:p>
            <a:pPr fontAlgn="base"/>
            <a:r>
              <a:rPr lang="en-GB" altLang="zh-CN" sz="1200" b="0" kern="1200" dirty="0" err="1">
                <a:solidFill>
                  <a:schemeClr val="tx1"/>
                </a:solidFill>
                <a:effectLst/>
                <a:latin typeface="+mn-lt"/>
                <a:ea typeface="+mn-ea"/>
                <a:cs typeface="+mn-cs"/>
              </a:rPr>
              <a:t>cpv_beg</a:t>
            </a:r>
            <a:r>
              <a:rPr lang="zh-CN" altLang="en-US" sz="1200" b="0" kern="1200" dirty="0">
                <a:solidFill>
                  <a:schemeClr val="tx1"/>
                </a:solidFill>
                <a:effectLst/>
                <a:latin typeface="+mn-lt"/>
                <a:ea typeface="+mn-ea"/>
                <a:cs typeface="+mn-cs"/>
              </a:rPr>
              <a:t>   </a:t>
            </a:r>
            <a:r>
              <a:rPr lang="en-GB" altLang="zh-CN" sz="1200" b="0" kern="1200" dirty="0" err="1">
                <a:solidFill>
                  <a:schemeClr val="tx1"/>
                </a:solidFill>
                <a:effectLst/>
                <a:latin typeface="+mn-lt"/>
                <a:ea typeface="+mn-ea"/>
                <a:cs typeface="+mn-cs"/>
              </a:rPr>
              <a:t>click_level</a:t>
            </a:r>
            <a:r>
              <a:rPr lang="zh-CN" altLang="en-US" sz="1200" b="0" kern="1200" dirty="0">
                <a:solidFill>
                  <a:schemeClr val="tx1"/>
                </a:solidFill>
                <a:effectLst/>
                <a:latin typeface="+mn-lt"/>
                <a:ea typeface="+mn-ea"/>
                <a:cs typeface="+mn-cs"/>
              </a:rPr>
              <a:t>  </a:t>
            </a:r>
            <a:r>
              <a:rPr lang="en-GB" altLang="zh-CN" sz="1200" b="0" kern="1200" dirty="0">
                <a:solidFill>
                  <a:schemeClr val="tx1"/>
                </a:solidFill>
                <a:effectLst/>
                <a:latin typeface="+mn-lt"/>
                <a:ea typeface="+mn-ea"/>
                <a:cs typeface="+mn-cs"/>
              </a:rPr>
              <a:t>reflection(</a:t>
            </a:r>
            <a:r>
              <a:rPr lang="en-GB" altLang="zh-CN" sz="1200" b="0" kern="1200" dirty="0" err="1">
                <a:solidFill>
                  <a:schemeClr val="tx1"/>
                </a:solidFill>
                <a:effectLst/>
                <a:latin typeface="+mn-lt"/>
                <a:ea typeface="+mn-ea"/>
                <a:cs typeface="+mn-cs"/>
              </a:rPr>
              <a:t>click_log_field.post</a:t>
            </a:r>
            <a:r>
              <a:rPr lang="en-GB"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   </a:t>
            </a:r>
            <a:r>
              <a:rPr lang="en-GB" altLang="zh-CN" sz="1200" b="0" kern="1200" dirty="0" err="1">
                <a:solidFill>
                  <a:schemeClr val="tx1"/>
                </a:solidFill>
                <a:effectLst/>
                <a:latin typeface="+mn-lt"/>
                <a:ea typeface="+mn-ea"/>
                <a:cs typeface="+mn-cs"/>
              </a:rPr>
              <a:t>kvfield</a:t>
            </a:r>
            <a:r>
              <a:rPr lang="en-GB" altLang="zh-CN" sz="1200" b="0" kern="1200" dirty="0">
                <a:solidFill>
                  <a:schemeClr val="tx1"/>
                </a:solidFill>
                <a:effectLst/>
                <a:latin typeface="+mn-lt"/>
                <a:ea typeface="+mn-ea"/>
                <a:cs typeface="+mn-cs"/>
              </a:rPr>
              <a:t>(</a:t>
            </a:r>
            <a:r>
              <a:rPr lang="en-GB" altLang="zh-CN" sz="1200" b="0" kern="1200" dirty="0" err="1">
                <a:solidFill>
                  <a:schemeClr val="tx1"/>
                </a:solidFill>
                <a:effectLst/>
                <a:latin typeface="+mn-lt"/>
                <a:ea typeface="+mn-ea"/>
                <a:cs typeface="+mn-cs"/>
              </a:rPr>
              <a:t>st</a:t>
            </a:r>
            <a:r>
              <a:rPr lang="en-GB" altLang="zh-CN" sz="1200" b="0" kern="1200" dirty="0">
                <a:solidFill>
                  <a:schemeClr val="tx1"/>
                </a:solidFill>
                <a:effectLst/>
                <a:latin typeface="+mn-lt"/>
                <a:ea typeface="+mn-ea"/>
                <a:cs typeface="+mn-cs"/>
              </a:rPr>
              <a:t>;&amp;;=)</a:t>
            </a:r>
          </a:p>
          <a:p>
            <a:pPr fontAlgn="base"/>
            <a:r>
              <a:rPr lang="en-GB" altLang="zh-CN" sz="1200" b="0" kern="1200" dirty="0" err="1">
                <a:solidFill>
                  <a:schemeClr val="tx1"/>
                </a:solidFill>
                <a:effectLst/>
                <a:latin typeface="+mn-lt"/>
                <a:ea typeface="+mn-ea"/>
                <a:cs typeface="+mn-cs"/>
              </a:rPr>
              <a:t>cpv_end</a:t>
            </a:r>
            <a:r>
              <a:rPr lang="zh-CN" altLang="en-US" sz="1200" b="0" kern="1200" dirty="0">
                <a:solidFill>
                  <a:schemeClr val="tx1"/>
                </a:solidFill>
                <a:effectLst/>
                <a:latin typeface="+mn-lt"/>
                <a:ea typeface="+mn-ea"/>
                <a:cs typeface="+mn-cs"/>
              </a:rPr>
              <a:t>    </a:t>
            </a:r>
            <a:r>
              <a:rPr lang="en-GB" altLang="zh-CN" sz="1200" b="0" kern="1200" dirty="0" err="1">
                <a:solidFill>
                  <a:schemeClr val="tx1"/>
                </a:solidFill>
                <a:effectLst/>
                <a:latin typeface="+mn-lt"/>
                <a:ea typeface="+mn-ea"/>
                <a:cs typeface="+mn-cs"/>
              </a:rPr>
              <a:t>click_level</a:t>
            </a:r>
            <a:r>
              <a:rPr lang="zh-CN" altLang="en-US" sz="1200" b="0" kern="1200" dirty="0">
                <a:solidFill>
                  <a:schemeClr val="tx1"/>
                </a:solidFill>
                <a:effectLst/>
                <a:latin typeface="+mn-lt"/>
                <a:ea typeface="+mn-ea"/>
                <a:cs typeface="+mn-cs"/>
              </a:rPr>
              <a:t>  </a:t>
            </a:r>
            <a:r>
              <a:rPr lang="en-GB" altLang="zh-CN" sz="1200" b="0" kern="1200" dirty="0">
                <a:solidFill>
                  <a:schemeClr val="tx1"/>
                </a:solidFill>
                <a:effectLst/>
                <a:latin typeface="+mn-lt"/>
                <a:ea typeface="+mn-ea"/>
                <a:cs typeface="+mn-cs"/>
              </a:rPr>
              <a:t>reflection(</a:t>
            </a:r>
            <a:r>
              <a:rPr lang="en-GB" altLang="zh-CN" sz="1200" b="0" kern="1200" dirty="0" err="1">
                <a:solidFill>
                  <a:schemeClr val="tx1"/>
                </a:solidFill>
                <a:effectLst/>
                <a:latin typeface="+mn-lt"/>
                <a:ea typeface="+mn-ea"/>
                <a:cs typeface="+mn-cs"/>
              </a:rPr>
              <a:t>click_log_field.post</a:t>
            </a:r>
            <a:r>
              <a:rPr lang="en-GB"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   </a:t>
            </a:r>
            <a:r>
              <a:rPr lang="en-GB" altLang="zh-CN" sz="1200" b="0" kern="1200" dirty="0" err="1">
                <a:solidFill>
                  <a:schemeClr val="tx1"/>
                </a:solidFill>
                <a:effectLst/>
                <a:latin typeface="+mn-lt"/>
                <a:ea typeface="+mn-ea"/>
                <a:cs typeface="+mn-cs"/>
              </a:rPr>
              <a:t>kvfield</a:t>
            </a:r>
            <a:r>
              <a:rPr lang="en-GB" altLang="zh-CN" sz="1200" b="0" kern="1200" dirty="0">
                <a:solidFill>
                  <a:schemeClr val="tx1"/>
                </a:solidFill>
                <a:effectLst/>
                <a:latin typeface="+mn-lt"/>
                <a:ea typeface="+mn-ea"/>
                <a:cs typeface="+mn-cs"/>
              </a:rPr>
              <a:t>(et;&amp;;=)</a:t>
            </a:r>
          </a:p>
          <a:p>
            <a:pPr fontAlgn="base"/>
            <a:r>
              <a:rPr lang="en-GB" altLang="zh-CN" sz="1200" b="0" kern="1200" dirty="0" err="1">
                <a:solidFill>
                  <a:schemeClr val="tx1"/>
                </a:solidFill>
                <a:effectLst/>
                <a:latin typeface="+mn-lt"/>
                <a:ea typeface="+mn-ea"/>
                <a:cs typeface="+mn-cs"/>
              </a:rPr>
              <a:t>cpv_dur</a:t>
            </a:r>
            <a:r>
              <a:rPr lang="zh-CN" altLang="en-US" sz="1200" b="0" kern="1200" dirty="0">
                <a:solidFill>
                  <a:schemeClr val="tx1"/>
                </a:solidFill>
                <a:effectLst/>
                <a:latin typeface="+mn-lt"/>
                <a:ea typeface="+mn-ea"/>
                <a:cs typeface="+mn-cs"/>
              </a:rPr>
              <a:t>     </a:t>
            </a:r>
            <a:r>
              <a:rPr lang="en-GB" altLang="zh-CN" sz="1200" b="0" kern="1200" dirty="0" err="1">
                <a:solidFill>
                  <a:schemeClr val="tx1"/>
                </a:solidFill>
                <a:effectLst/>
                <a:latin typeface="+mn-lt"/>
                <a:ea typeface="+mn-ea"/>
                <a:cs typeface="+mn-cs"/>
              </a:rPr>
              <a:t>click_level</a:t>
            </a:r>
            <a:r>
              <a:rPr lang="zh-CN" altLang="en-US" sz="1200" b="0" kern="1200" dirty="0">
                <a:solidFill>
                  <a:schemeClr val="tx1"/>
                </a:solidFill>
                <a:effectLst/>
                <a:latin typeface="+mn-lt"/>
                <a:ea typeface="+mn-ea"/>
                <a:cs typeface="+mn-cs"/>
              </a:rPr>
              <a:t>  </a:t>
            </a:r>
            <a:r>
              <a:rPr lang="en-GB" altLang="zh-CN" sz="1200" b="0" kern="1200" dirty="0">
                <a:solidFill>
                  <a:schemeClr val="tx1"/>
                </a:solidFill>
                <a:effectLst/>
                <a:latin typeface="+mn-lt"/>
                <a:ea typeface="+mn-ea"/>
                <a:cs typeface="+mn-cs"/>
              </a:rPr>
              <a:t>reflection(</a:t>
            </a:r>
            <a:r>
              <a:rPr lang="en-GB" altLang="zh-CN" sz="1200" b="0" kern="1200" dirty="0" err="1">
                <a:solidFill>
                  <a:schemeClr val="tx1"/>
                </a:solidFill>
                <a:effectLst/>
                <a:latin typeface="+mn-lt"/>
                <a:ea typeface="+mn-ea"/>
                <a:cs typeface="+mn-cs"/>
              </a:rPr>
              <a:t>click_log_field.post</a:t>
            </a:r>
            <a:r>
              <a:rPr lang="en-GB"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  </a:t>
            </a:r>
            <a:r>
              <a:rPr lang="en-GB" altLang="zh-CN" sz="1200" b="0" kern="1200" dirty="0" err="1">
                <a:solidFill>
                  <a:schemeClr val="tx1"/>
                </a:solidFill>
                <a:effectLst/>
                <a:latin typeface="+mn-lt"/>
                <a:ea typeface="+mn-ea"/>
                <a:cs typeface="+mn-cs"/>
              </a:rPr>
              <a:t>kvfield</a:t>
            </a:r>
            <a:r>
              <a:rPr lang="en-GB" altLang="zh-CN" sz="1200" b="0" kern="1200" dirty="0">
                <a:solidFill>
                  <a:schemeClr val="tx1"/>
                </a:solidFill>
                <a:effectLst/>
                <a:latin typeface="+mn-lt"/>
                <a:ea typeface="+mn-ea"/>
                <a:cs typeface="+mn-cs"/>
              </a:rPr>
              <a:t>(dur;&amp;;=)</a:t>
            </a:r>
          </a:p>
          <a:p>
            <a:pPr fontAlgn="base"/>
            <a:r>
              <a:rPr lang="en-GB" altLang="zh-CN" sz="1200" b="0" kern="1200" dirty="0" err="1">
                <a:solidFill>
                  <a:schemeClr val="tx1"/>
                </a:solidFill>
                <a:effectLst/>
                <a:latin typeface="+mn-lt"/>
                <a:ea typeface="+mn-ea"/>
                <a:cs typeface="+mn-cs"/>
              </a:rPr>
              <a:t>cpv_sdur</a:t>
            </a:r>
            <a:r>
              <a:rPr lang="zh-CN" altLang="en-US" sz="1200" b="0" kern="1200" dirty="0">
                <a:solidFill>
                  <a:schemeClr val="tx1"/>
                </a:solidFill>
                <a:effectLst/>
                <a:latin typeface="+mn-lt"/>
                <a:ea typeface="+mn-ea"/>
                <a:cs typeface="+mn-cs"/>
              </a:rPr>
              <a:t>    </a:t>
            </a:r>
            <a:r>
              <a:rPr lang="en-GB" altLang="zh-CN" sz="1200" b="0" kern="1200" dirty="0" err="1">
                <a:solidFill>
                  <a:schemeClr val="tx1"/>
                </a:solidFill>
                <a:effectLst/>
                <a:latin typeface="+mn-lt"/>
                <a:ea typeface="+mn-ea"/>
                <a:cs typeface="+mn-cs"/>
              </a:rPr>
              <a:t>click_level</a:t>
            </a:r>
            <a:r>
              <a:rPr lang="zh-CN" altLang="en-US" sz="1200" b="0" kern="1200" dirty="0">
                <a:solidFill>
                  <a:schemeClr val="tx1"/>
                </a:solidFill>
                <a:effectLst/>
                <a:latin typeface="+mn-lt"/>
                <a:ea typeface="+mn-ea"/>
                <a:cs typeface="+mn-cs"/>
              </a:rPr>
              <a:t>   </a:t>
            </a:r>
            <a:r>
              <a:rPr lang="en-GB" altLang="zh-CN" sz="1200" b="0" kern="1200" dirty="0">
                <a:solidFill>
                  <a:schemeClr val="tx1"/>
                </a:solidFill>
                <a:effectLst/>
                <a:latin typeface="+mn-lt"/>
                <a:ea typeface="+mn-ea"/>
                <a:cs typeface="+mn-cs"/>
              </a:rPr>
              <a:t>reflection(</a:t>
            </a:r>
            <a:r>
              <a:rPr lang="en-GB" altLang="zh-CN" sz="1200" b="0" kern="1200" dirty="0" err="1">
                <a:solidFill>
                  <a:schemeClr val="tx1"/>
                </a:solidFill>
                <a:effectLst/>
                <a:latin typeface="+mn-lt"/>
                <a:ea typeface="+mn-ea"/>
                <a:cs typeface="+mn-cs"/>
              </a:rPr>
              <a:t>click_log_field.post</a:t>
            </a:r>
            <a:r>
              <a:rPr lang="en-GB"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  </a:t>
            </a:r>
            <a:r>
              <a:rPr lang="en-GB" altLang="zh-CN" sz="1200" b="0" kern="1200" dirty="0" err="1">
                <a:solidFill>
                  <a:schemeClr val="tx1"/>
                </a:solidFill>
                <a:effectLst/>
                <a:latin typeface="+mn-lt"/>
                <a:ea typeface="+mn-ea"/>
                <a:cs typeface="+mn-cs"/>
              </a:rPr>
              <a:t>kvfield</a:t>
            </a:r>
            <a:r>
              <a:rPr lang="en-GB" altLang="zh-CN" sz="1200" b="0" kern="1200" dirty="0">
                <a:solidFill>
                  <a:schemeClr val="tx1"/>
                </a:solidFill>
                <a:effectLst/>
                <a:latin typeface="+mn-lt"/>
                <a:ea typeface="+mn-ea"/>
                <a:cs typeface="+mn-cs"/>
              </a:rPr>
              <a:t>(</a:t>
            </a:r>
            <a:r>
              <a:rPr lang="en-GB" altLang="zh-CN" sz="1200" b="0" kern="1200" dirty="0" err="1">
                <a:solidFill>
                  <a:schemeClr val="tx1"/>
                </a:solidFill>
                <a:effectLst/>
                <a:latin typeface="+mn-lt"/>
                <a:ea typeface="+mn-ea"/>
                <a:cs typeface="+mn-cs"/>
              </a:rPr>
              <a:t>staytime</a:t>
            </a:r>
            <a:r>
              <a:rPr lang="en-GB" altLang="zh-CN" sz="1200" b="0" kern="1200" dirty="0">
                <a:solidFill>
                  <a:schemeClr val="tx1"/>
                </a:solidFill>
                <a:effectLst/>
                <a:latin typeface="+mn-lt"/>
                <a:ea typeface="+mn-ea"/>
                <a:cs typeface="+mn-cs"/>
              </a:rPr>
              <a:t>;&amp;;=)</a:t>
            </a:r>
          </a:p>
          <a:p>
            <a:r>
              <a:rPr lang="en-US" altLang="zh-CN" dirty="0"/>
              <a:t>original</a:t>
            </a:r>
            <a:r>
              <a:rPr lang="zh-CN" altLang="en-US" dirty="0"/>
              <a:t>是一种比较特殊的特征，其返回值就是日志在某一维度对象的值。</a:t>
            </a:r>
            <a:endParaRPr lang="en-US" altLang="zh-CN" dirty="0"/>
          </a:p>
          <a:p>
            <a:endParaRPr lang="en-US" altLang="zh-CN" dirty="0"/>
          </a:p>
          <a:p>
            <a:r>
              <a:rPr lang="en-US" altLang="zh-CN" dirty="0"/>
              <a:t>1106</a:t>
            </a:r>
            <a:r>
              <a:rPr lang="zh-CN" altLang="en-US" dirty="0"/>
              <a:t>特征的</a:t>
            </a:r>
            <a:r>
              <a:rPr lang="en-US" altLang="zh-CN" dirty="0" err="1"/>
              <a:t>carespace</a:t>
            </a:r>
            <a:r>
              <a:rPr lang="zh-CN" altLang="en-US" dirty="0"/>
              <a:t>大致是这个意思：凤巢广告或者原生广告</a:t>
            </a:r>
            <a:r>
              <a:rPr lang="en-US" altLang="zh-CN" dirty="0"/>
              <a:t>(</a:t>
            </a:r>
            <a:r>
              <a:rPr lang="zh-CN" altLang="en-US" sz="1200" b="0" i="0" kern="1200" dirty="0">
                <a:solidFill>
                  <a:schemeClr val="tx1"/>
                </a:solidFill>
                <a:effectLst/>
                <a:latin typeface="+mn-lt"/>
                <a:ea typeface="+mn-ea"/>
                <a:cs typeface="+mn-cs"/>
              </a:rPr>
              <a:t>贴吧视频 </a:t>
            </a:r>
            <a:r>
              <a:rPr lang="en-US" altLang="zh-CN" sz="1200" b="0" i="0" kern="1200" dirty="0">
                <a:solidFill>
                  <a:schemeClr val="tx1"/>
                </a:solidFill>
                <a:effectLst/>
                <a:latin typeface="+mn-lt"/>
                <a:ea typeface="+mn-ea"/>
                <a:cs typeface="+mn-cs"/>
              </a:rPr>
              <a:t>CPV</a:t>
            </a:r>
            <a:r>
              <a:rPr lang="zh-CN" altLang="en-US" sz="1200" b="0" i="0" kern="1200" dirty="0">
                <a:solidFill>
                  <a:schemeClr val="tx1"/>
                </a:solidFill>
                <a:effectLst/>
                <a:latin typeface="+mn-lt"/>
                <a:ea typeface="+mn-ea"/>
                <a:cs typeface="+mn-cs"/>
              </a:rPr>
              <a:t>计费</a:t>
            </a:r>
            <a:r>
              <a:rPr lang="en-US" altLang="zh-CN" dirty="0"/>
              <a:t>)post</a:t>
            </a:r>
            <a:r>
              <a:rPr lang="zh-CN" altLang="en-US" dirty="0"/>
              <a:t>、</a:t>
            </a:r>
            <a:r>
              <a:rPr lang="en-US" altLang="zh-CN" dirty="0" err="1"/>
              <a:t>cpv_dur</a:t>
            </a:r>
            <a:r>
              <a:rPr lang="zh-CN" altLang="en-US" dirty="0"/>
              <a:t>、</a:t>
            </a:r>
            <a:r>
              <a:rPr lang="en-US" altLang="zh-CN" dirty="0" err="1"/>
              <a:t>cpv_end</a:t>
            </a:r>
            <a:r>
              <a:rPr lang="zh-CN" altLang="en-US" dirty="0"/>
              <a:t>存在且</a:t>
            </a:r>
            <a:r>
              <a:rPr lang="en-US" altLang="zh-CN" dirty="0" err="1"/>
              <a:t>cpvdur</a:t>
            </a:r>
            <a:r>
              <a:rPr lang="en-US" altLang="zh-CN" baseline="0" dirty="0"/>
              <a:t> &gt;= 10000</a:t>
            </a:r>
            <a:r>
              <a:rPr lang="zh-CN" altLang="en-US" baseline="0" dirty="0"/>
              <a:t>、</a:t>
            </a:r>
            <a:r>
              <a:rPr lang="en-US" altLang="zh-CN" baseline="0" dirty="0" err="1"/>
              <a:t>cpv_end</a:t>
            </a:r>
            <a:r>
              <a:rPr lang="en-US" altLang="zh-CN" baseline="0" dirty="0"/>
              <a:t> &gt;= 10000 </a:t>
            </a:r>
            <a:r>
              <a:rPr lang="zh-CN" altLang="en-US" baseline="0" dirty="0"/>
              <a:t>或者原生广告</a:t>
            </a:r>
            <a:r>
              <a:rPr lang="en-US" altLang="zh-CN" baseline="0" dirty="0"/>
              <a:t>post</a:t>
            </a:r>
            <a:r>
              <a:rPr lang="zh-CN" altLang="en-US" baseline="0" dirty="0"/>
              <a:t>、</a:t>
            </a:r>
            <a:r>
              <a:rPr lang="en-US" altLang="zh-CN" baseline="0" dirty="0" err="1"/>
              <a:t>cpv_dur</a:t>
            </a:r>
            <a:r>
              <a:rPr lang="zh-CN" altLang="en-US" baseline="0" dirty="0"/>
              <a:t>、</a:t>
            </a:r>
            <a:r>
              <a:rPr lang="en-US" altLang="zh-CN" baseline="0" dirty="0" err="1"/>
              <a:t>cpv_end</a:t>
            </a:r>
            <a:r>
              <a:rPr lang="zh-CN" altLang="en-US" baseline="0" dirty="0"/>
              <a:t>字段存在且</a:t>
            </a:r>
            <a:r>
              <a:rPr lang="en-US" altLang="zh-CN" baseline="0" dirty="0" err="1"/>
              <a:t>cpv_dur</a:t>
            </a:r>
            <a:r>
              <a:rPr lang="en-US" altLang="zh-CN" baseline="0" dirty="0"/>
              <a:t> &lt; 10000</a:t>
            </a:r>
            <a:r>
              <a:rPr lang="zh-CN" altLang="en-US" baseline="0" dirty="0"/>
              <a:t>、</a:t>
            </a:r>
            <a:r>
              <a:rPr lang="en-US" altLang="zh-CN" baseline="0" dirty="0" err="1"/>
              <a:t>cpv_dur</a:t>
            </a:r>
            <a:r>
              <a:rPr lang="en-US" altLang="zh-CN" baseline="0" dirty="0"/>
              <a:t> == </a:t>
            </a:r>
            <a:r>
              <a:rPr lang="en-US" altLang="zh-CN" baseline="0" dirty="0" err="1"/>
              <a:t>cpv_end</a:t>
            </a:r>
            <a:r>
              <a:rPr lang="zh-CN" altLang="en-US" baseline="0" dirty="0"/>
              <a:t>的范围</a:t>
            </a:r>
            <a:endParaRPr lang="en-US" altLang="zh-CN" dirty="0"/>
          </a:p>
          <a:p>
            <a:endParaRPr lang="en-US" altLang="zh-CN" dirty="0"/>
          </a:p>
          <a:p>
            <a:r>
              <a:rPr lang="zh-CN" altLang="zh-CN" sz="1200" kern="1200" dirty="0">
                <a:solidFill>
                  <a:schemeClr val="tx1"/>
                </a:solidFill>
                <a:effectLst/>
                <a:latin typeface="+mn-lt"/>
                <a:ea typeface="+mn-ea"/>
                <a:cs typeface="+mn-cs"/>
              </a:rPr>
              <a:t>重复点击策略在</a:t>
            </a:r>
            <a:r>
              <a:rPr lang="en-US" altLang="zh-CN" sz="1200" kern="1200" dirty="0" err="1">
                <a:solidFill>
                  <a:schemeClr val="tx1"/>
                </a:solidFill>
                <a:effectLst/>
                <a:latin typeface="+mn-lt"/>
                <a:ea typeface="+mn-ea"/>
                <a:cs typeface="+mn-cs"/>
              </a:rPr>
              <a:t>dformat</a:t>
            </a:r>
            <a:r>
              <a:rPr lang="zh-CN" altLang="en-US" sz="1200" kern="1200" dirty="0">
                <a:solidFill>
                  <a:schemeClr val="tx1"/>
                </a:solidFill>
                <a:effectLst/>
                <a:latin typeface="+mn-lt"/>
                <a:ea typeface="+mn-ea"/>
                <a:cs typeface="+mn-cs"/>
              </a:rPr>
              <a:t>层</a:t>
            </a:r>
            <a:r>
              <a:rPr lang="zh-CN" altLang="zh-CN" sz="1200" kern="1200" dirty="0">
                <a:solidFill>
                  <a:schemeClr val="tx1"/>
                </a:solidFill>
                <a:effectLst/>
                <a:latin typeface="+mn-lt"/>
                <a:ea typeface="+mn-ea"/>
                <a:cs typeface="+mn-cs"/>
              </a:rPr>
              <a:t>，有</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秒的下限值是为了防止二跳点击的误过。而这部分点击将会在</a:t>
            </a:r>
            <a:r>
              <a:rPr lang="en-US" altLang="zh-CN" sz="1200" kern="1200" dirty="0" err="1">
                <a:solidFill>
                  <a:schemeClr val="tx1"/>
                </a:solidFill>
                <a:effectLst/>
                <a:latin typeface="+mn-lt"/>
                <a:ea typeface="+mn-ea"/>
                <a:cs typeface="+mn-cs"/>
              </a:rPr>
              <a:t>themis</a:t>
            </a:r>
            <a:r>
              <a:rPr lang="zh-CN" altLang="zh-CN" sz="1200" kern="1200" dirty="0">
                <a:solidFill>
                  <a:schemeClr val="tx1"/>
                </a:solidFill>
                <a:effectLst/>
                <a:latin typeface="+mn-lt"/>
                <a:ea typeface="+mn-ea"/>
                <a:cs typeface="+mn-cs"/>
              </a:rPr>
              <a:t>中处理</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原则上对于每条点击日志都会进行二跳，但是因为存在某些场景无法进行二跳，比如</a:t>
            </a:r>
            <a:r>
              <a:rPr lang="en-US" altLang="zh-CN" sz="1200" kern="1200" dirty="0">
                <a:solidFill>
                  <a:schemeClr val="tx1"/>
                </a:solidFill>
                <a:effectLst/>
                <a:latin typeface="+mn-lt"/>
                <a:ea typeface="+mn-ea"/>
                <a:cs typeface="+mn-cs"/>
              </a:rPr>
              <a:t>post</a:t>
            </a:r>
            <a:r>
              <a:rPr lang="zh-CN" altLang="en-US" sz="1200" kern="1200" dirty="0">
                <a:solidFill>
                  <a:schemeClr val="tx1"/>
                </a:solidFill>
                <a:effectLst/>
                <a:latin typeface="+mn-lt"/>
                <a:ea typeface="+mn-ea"/>
                <a:cs typeface="+mn-cs"/>
              </a:rPr>
              <a:t>请求的点击；所以这里会有一个二跳判断，对于特定场景（无法二跳但正常）不进行二跳。而进行二跳的目的是为了过滤掉一些比如爬虫的简单作弊。二跳：当</a:t>
            </a:r>
            <a:r>
              <a:rPr lang="en-US" altLang="zh-CN" sz="1200" kern="1200" dirty="0" err="1">
                <a:solidFill>
                  <a:schemeClr val="tx1"/>
                </a:solidFill>
                <a:effectLst/>
                <a:latin typeface="+mn-lt"/>
                <a:ea typeface="+mn-ea"/>
                <a:cs typeface="+mn-cs"/>
              </a:rPr>
              <a:t>rcv</a:t>
            </a:r>
            <a:r>
              <a:rPr lang="zh-CN" altLang="en-US" sz="1200" kern="1200" dirty="0">
                <a:solidFill>
                  <a:schemeClr val="tx1"/>
                </a:solidFill>
                <a:effectLst/>
                <a:latin typeface="+mn-lt"/>
                <a:ea typeface="+mn-ea"/>
                <a:cs typeface="+mn-cs"/>
              </a:rPr>
              <a:t>受到浏览器的点击</a:t>
            </a:r>
            <a:r>
              <a:rPr lang="en-US" altLang="zh-CN" sz="1200" kern="1200" dirty="0" err="1">
                <a:solidFill>
                  <a:schemeClr val="tx1"/>
                </a:solidFill>
                <a:effectLst/>
                <a:latin typeface="+mn-lt"/>
                <a:ea typeface="+mn-ea"/>
                <a:cs typeface="+mn-cs"/>
              </a:rPr>
              <a:t>url</a:t>
            </a:r>
            <a:r>
              <a:rPr lang="zh-CN" altLang="en-US" sz="1200" kern="1200" dirty="0">
                <a:solidFill>
                  <a:schemeClr val="tx1"/>
                </a:solidFill>
                <a:effectLst/>
                <a:latin typeface="+mn-lt"/>
                <a:ea typeface="+mn-ea"/>
                <a:cs typeface="+mn-cs"/>
              </a:rPr>
              <a:t>，会进行一次二跳判断，如果满足二跳，</a:t>
            </a:r>
            <a:r>
              <a:rPr lang="en-US" altLang="zh-CN" sz="1200" kern="1200" dirty="0" err="1">
                <a:solidFill>
                  <a:schemeClr val="tx1"/>
                </a:solidFill>
                <a:effectLst/>
                <a:latin typeface="+mn-lt"/>
                <a:ea typeface="+mn-ea"/>
                <a:cs typeface="+mn-cs"/>
              </a:rPr>
              <a:t>rcv</a:t>
            </a:r>
            <a:r>
              <a:rPr lang="zh-CN" altLang="en-US" sz="1200" kern="1200" dirty="0">
                <a:solidFill>
                  <a:schemeClr val="tx1"/>
                </a:solidFill>
                <a:effectLst/>
                <a:latin typeface="+mn-lt"/>
                <a:ea typeface="+mn-ea"/>
                <a:cs typeface="+mn-cs"/>
              </a:rPr>
              <a:t>会与浏览器再进行一次交互，并进行简单的反作弊判断（</a:t>
            </a:r>
            <a:r>
              <a:rPr lang="en-US" altLang="zh-CN" sz="1200" kern="1200" dirty="0" err="1">
                <a:solidFill>
                  <a:schemeClr val="tx1"/>
                </a:solidFill>
                <a:effectLst/>
                <a:latin typeface="+mn-lt"/>
                <a:ea typeface="+mn-ea"/>
                <a:cs typeface="+mn-cs"/>
              </a:rPr>
              <a:t>js</a:t>
            </a:r>
            <a:r>
              <a:rPr lang="zh-CN" altLang="en-US" sz="1200" kern="1200" dirty="0">
                <a:solidFill>
                  <a:schemeClr val="tx1"/>
                </a:solidFill>
                <a:effectLst/>
                <a:latin typeface="+mn-lt"/>
                <a:ea typeface="+mn-ea"/>
                <a:cs typeface="+mn-cs"/>
              </a:rPr>
              <a:t>反作弊），并更新</a:t>
            </a:r>
            <a:r>
              <a:rPr lang="en-US" altLang="zh-CN" sz="1200" kern="1200" dirty="0" err="1">
                <a:solidFill>
                  <a:schemeClr val="tx1"/>
                </a:solidFill>
                <a:effectLst/>
                <a:latin typeface="+mn-lt"/>
                <a:ea typeface="+mn-ea"/>
                <a:cs typeface="+mn-cs"/>
              </a:rPr>
              <a:t>shifen</a:t>
            </a:r>
            <a:r>
              <a:rPr lang="en-US" altLang="zh-CN" sz="1200" kern="1200" dirty="0">
                <a:solidFill>
                  <a:schemeClr val="tx1"/>
                </a:solidFill>
                <a:effectLst/>
                <a:latin typeface="+mn-lt"/>
                <a:ea typeface="+mn-ea"/>
                <a:cs typeface="+mn-cs"/>
              </a:rPr>
              <a:t> cookie</a:t>
            </a:r>
            <a:r>
              <a:rPr lang="zh-CN" altLang="en-US" sz="1200" kern="1200" dirty="0">
                <a:solidFill>
                  <a:schemeClr val="tx1"/>
                </a:solidFill>
                <a:effectLst/>
                <a:latin typeface="+mn-lt"/>
                <a:ea typeface="+mn-ea"/>
                <a:cs typeface="+mn-cs"/>
              </a:rPr>
              <a:t>，这导致了更新了两次</a:t>
            </a:r>
            <a:r>
              <a:rPr lang="en-US" altLang="zh-CN" sz="1200" kern="1200" dirty="0" err="1">
                <a:solidFill>
                  <a:schemeClr val="tx1"/>
                </a:solidFill>
                <a:effectLst/>
                <a:latin typeface="+mn-lt"/>
                <a:ea typeface="+mn-ea"/>
                <a:cs typeface="+mn-cs"/>
              </a:rPr>
              <a:t>shifen</a:t>
            </a:r>
            <a:r>
              <a:rPr lang="en-US" altLang="zh-CN" sz="1200" kern="1200" dirty="0">
                <a:solidFill>
                  <a:schemeClr val="tx1"/>
                </a:solidFill>
                <a:effectLst/>
                <a:latin typeface="+mn-lt"/>
                <a:ea typeface="+mn-ea"/>
                <a:cs typeface="+mn-cs"/>
              </a:rPr>
              <a:t> cookie</a:t>
            </a:r>
            <a:r>
              <a:rPr lang="zh-CN" altLang="en-US" sz="1200" kern="1200" dirty="0">
                <a:solidFill>
                  <a:schemeClr val="tx1"/>
                </a:solidFill>
                <a:effectLst/>
                <a:latin typeface="+mn-lt"/>
                <a:ea typeface="+mn-ea"/>
                <a:cs typeface="+mn-cs"/>
              </a:rPr>
              <a:t>，对于这种有其他策略进行处理：</a:t>
            </a:r>
            <a:r>
              <a:rPr lang="en-US" altLang="zh-CN" sz="1200" kern="1200" dirty="0">
                <a:solidFill>
                  <a:schemeClr val="tx1"/>
                </a:solidFill>
                <a:effectLst/>
                <a:latin typeface="+mn-lt"/>
                <a:ea typeface="+mn-ea"/>
                <a:cs typeface="+mn-cs"/>
              </a:rPr>
              <a:t>35101,383101</a:t>
            </a:r>
            <a:r>
              <a:rPr lang="zh-CN" altLang="en-US" sz="1200" kern="1200" dirty="0">
                <a:solidFill>
                  <a:schemeClr val="tx1"/>
                </a:solidFill>
                <a:effectLst/>
                <a:latin typeface="+mn-lt"/>
                <a:ea typeface="+mn-ea"/>
                <a:cs typeface="+mn-cs"/>
              </a:rPr>
              <a:t>等，在一定段长内，某一个维度（</a:t>
            </a:r>
            <a:r>
              <a:rPr lang="en-US" altLang="zh-CN" sz="1200" kern="1200" dirty="0" err="1">
                <a:solidFill>
                  <a:schemeClr val="tx1"/>
                </a:solidFill>
                <a:effectLst/>
                <a:latin typeface="+mn-lt"/>
                <a:ea typeface="+mn-ea"/>
                <a:cs typeface="+mn-cs"/>
              </a:rPr>
              <a:t>winfoid+url_sign+srchid</a:t>
            </a:r>
            <a:r>
              <a:rPr lang="zh-CN" altLang="en-US" sz="1200" kern="1200" dirty="0">
                <a:solidFill>
                  <a:schemeClr val="tx1"/>
                </a:solidFill>
                <a:effectLst/>
                <a:latin typeface="+mn-lt"/>
                <a:ea typeface="+mn-ea"/>
                <a:cs typeface="+mn-cs"/>
              </a:rPr>
              <a:t>）最多出现一次点击</a:t>
            </a:r>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40</a:t>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点展时间差计算的点击时间是指用户点击广告的时间还是打日志（</a:t>
            </a:r>
            <a:r>
              <a:rPr lang="en-GB" altLang="zh-CN" sz="1200" b="0" i="0" u="none" strike="noStrike" kern="1200" dirty="0">
                <a:solidFill>
                  <a:schemeClr val="tx1"/>
                </a:solidFill>
                <a:effectLst/>
                <a:latin typeface="+mn-lt"/>
                <a:ea typeface="+mn-ea"/>
                <a:cs typeface="+mn-cs"/>
              </a:rPr>
              <a:t>or </a:t>
            </a:r>
            <a:r>
              <a:rPr lang="zh-CN" altLang="en-US" sz="1200" b="0" i="0" u="none" strike="noStrike" kern="1200" dirty="0">
                <a:solidFill>
                  <a:schemeClr val="tx1"/>
                </a:solidFill>
                <a:effectLst/>
                <a:latin typeface="+mn-lt"/>
                <a:ea typeface="+mn-ea"/>
                <a:cs typeface="+mn-cs"/>
              </a:rPr>
              <a:t>进入</a:t>
            </a:r>
            <a:r>
              <a:rPr lang="en-GB" altLang="zh-CN" sz="1200" b="0" i="0" u="none" strike="noStrike" kern="1200" dirty="0" err="1">
                <a:solidFill>
                  <a:schemeClr val="tx1"/>
                </a:solidFill>
                <a:effectLst/>
                <a:latin typeface="+mn-lt"/>
                <a:ea typeface="+mn-ea"/>
                <a:cs typeface="+mn-cs"/>
              </a:rPr>
              <a:t>rcv</a:t>
            </a:r>
            <a:r>
              <a:rPr lang="zh-CN" altLang="en-US" sz="1200" b="0" i="0" u="none" strike="noStrike" kern="1200" dirty="0">
                <a:solidFill>
                  <a:schemeClr val="tx1"/>
                </a:solidFill>
                <a:effectLst/>
                <a:latin typeface="+mn-lt"/>
                <a:ea typeface="+mn-ea"/>
                <a:cs typeface="+mn-cs"/>
              </a:rPr>
              <a:t>时间？）时间</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昊林</a:t>
            </a:r>
          </a:p>
          <a:p>
            <a:r>
              <a:rPr lang="zh-CN" altLang="en-US" sz="1200" b="0" i="0" u="none" strike="noStrike" kern="1200" dirty="0">
                <a:solidFill>
                  <a:schemeClr val="tx1"/>
                </a:solidFill>
                <a:effectLst/>
                <a:latin typeface="+mn-lt"/>
                <a:ea typeface="+mn-ea"/>
                <a:cs typeface="+mn-cs"/>
              </a:rPr>
              <a:t>答：是进入</a:t>
            </a:r>
            <a:r>
              <a:rPr lang="en-GB" altLang="zh-CN" sz="1200" b="0" i="0" u="none" strike="noStrike" kern="1200" dirty="0" err="1">
                <a:solidFill>
                  <a:schemeClr val="tx1"/>
                </a:solidFill>
                <a:effectLst/>
                <a:latin typeface="+mn-lt"/>
                <a:ea typeface="+mn-ea"/>
                <a:cs typeface="+mn-cs"/>
              </a:rPr>
              <a:t>rcv</a:t>
            </a:r>
            <a:r>
              <a:rPr lang="zh-CN" altLang="en-US" sz="1200" b="0" i="0" u="none" strike="noStrike" kern="1200" dirty="0">
                <a:solidFill>
                  <a:schemeClr val="tx1"/>
                </a:solidFill>
                <a:effectLst/>
                <a:latin typeface="+mn-lt"/>
                <a:ea typeface="+mn-ea"/>
                <a:cs typeface="+mn-cs"/>
              </a:rPr>
              <a:t>的时间（</a:t>
            </a:r>
            <a:r>
              <a:rPr lang="en-GB" altLang="zh-CN" sz="1200" b="0" i="0" u="none" strike="noStrike" kern="1200" dirty="0" err="1">
                <a:solidFill>
                  <a:schemeClr val="tx1"/>
                </a:solidFill>
                <a:effectLst/>
                <a:latin typeface="+mn-lt"/>
                <a:ea typeface="+mn-ea"/>
                <a:cs typeface="+mn-cs"/>
              </a:rPr>
              <a:t>log_time</a:t>
            </a:r>
            <a:r>
              <a:rPr lang="zh-CN" altLang="en-GB" sz="1200" b="0" i="0" u="none" strike="noStrike" kern="1200" dirty="0">
                <a:solidFill>
                  <a:schemeClr val="tx1"/>
                </a:solidFill>
                <a:effectLst/>
                <a:latin typeface="+mn-lt"/>
                <a:ea typeface="+mn-ea"/>
                <a:cs typeface="+mn-cs"/>
              </a:rPr>
              <a:t>）</a:t>
            </a:r>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41</a:t>
            </a:fld>
            <a:endParaRPr kumimoji="1"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base"/>
            <a:r>
              <a:rPr lang="en-GB" altLang="zh-CN" sz="1200" b="0" kern="1200" dirty="0" err="1">
                <a:solidFill>
                  <a:schemeClr val="tx1"/>
                </a:solidFill>
                <a:effectLst/>
                <a:latin typeface="+mn-lt"/>
                <a:ea typeface="+mn-ea"/>
                <a:cs typeface="+mn-cs"/>
              </a:rPr>
              <a:t>ip_loc</a:t>
            </a:r>
            <a:endParaRPr lang="en-GB" altLang="zh-CN" sz="1200" b="0" kern="1200" dirty="0">
              <a:solidFill>
                <a:schemeClr val="tx1"/>
              </a:solidFill>
              <a:effectLst/>
              <a:latin typeface="+mn-lt"/>
              <a:ea typeface="+mn-ea"/>
              <a:cs typeface="+mn-cs"/>
            </a:endParaRPr>
          </a:p>
          <a:p>
            <a:pPr fontAlgn="base"/>
            <a:r>
              <a:rPr lang="en-GB" altLang="zh-CN" sz="1200" b="0" kern="1200" dirty="0" err="1">
                <a:solidFill>
                  <a:schemeClr val="tx1"/>
                </a:solidFill>
                <a:effectLst/>
                <a:latin typeface="+mn-lt"/>
                <a:ea typeface="+mn-ea"/>
                <a:cs typeface="+mn-cs"/>
              </a:rPr>
              <a:t>click_level</a:t>
            </a:r>
            <a:endParaRPr lang="en-GB" altLang="zh-CN" sz="1200" b="0" kern="1200" dirty="0">
              <a:solidFill>
                <a:schemeClr val="tx1"/>
              </a:solidFill>
              <a:effectLst/>
              <a:latin typeface="+mn-lt"/>
              <a:ea typeface="+mn-ea"/>
              <a:cs typeface="+mn-cs"/>
            </a:endParaRPr>
          </a:p>
          <a:p>
            <a:pPr fontAlgn="base"/>
            <a:r>
              <a:rPr lang="en-GB" altLang="zh-CN" sz="1200" b="0" kern="1200" dirty="0" err="1">
                <a:solidFill>
                  <a:schemeClr val="tx1"/>
                </a:solidFill>
                <a:effectLst/>
                <a:latin typeface="+mn-lt"/>
                <a:ea typeface="+mn-ea"/>
                <a:cs typeface="+mn-cs"/>
              </a:rPr>
              <a:t>location_consistence</a:t>
            </a:r>
            <a:r>
              <a:rPr lang="en-GB" altLang="zh-CN" sz="1200" b="0" kern="1200" dirty="0">
                <a:solidFill>
                  <a:schemeClr val="tx1"/>
                </a:solidFill>
                <a:effectLst/>
                <a:latin typeface="+mn-lt"/>
                <a:ea typeface="+mn-ea"/>
                <a:cs typeface="+mn-cs"/>
              </a:rPr>
              <a:t>(</a:t>
            </a:r>
            <a:r>
              <a:rPr lang="en-GB" altLang="zh-CN" sz="1200" b="0" kern="1200" dirty="0" err="1">
                <a:solidFill>
                  <a:schemeClr val="tx1"/>
                </a:solidFill>
                <a:effectLst/>
                <a:latin typeface="+mn-lt"/>
                <a:ea typeface="+mn-ea"/>
                <a:cs typeface="+mn-cs"/>
              </a:rPr>
              <a:t>ip</a:t>
            </a:r>
            <a:r>
              <a:rPr lang="en-GB" altLang="zh-CN" sz="1200" b="0" kern="1200" dirty="0">
                <a:solidFill>
                  <a:schemeClr val="tx1"/>
                </a:solidFill>
                <a:effectLst/>
                <a:latin typeface="+mn-lt"/>
                <a:ea typeface="+mn-ea"/>
                <a:cs typeface="+mn-cs"/>
              </a:rPr>
              <a:t>)</a:t>
            </a:r>
          </a:p>
          <a:p>
            <a:pPr fontAlgn="base"/>
            <a:endParaRPr lang="en-GB" altLang="zh-CN" sz="1200" b="0" kern="1200" dirty="0">
              <a:solidFill>
                <a:schemeClr val="tx1"/>
              </a:solidFill>
              <a:effectLst/>
              <a:latin typeface="+mn-lt"/>
              <a:ea typeface="+mn-ea"/>
              <a:cs typeface="+mn-cs"/>
            </a:endParaRPr>
          </a:p>
          <a:p>
            <a:pPr fontAlgn="base"/>
            <a:r>
              <a:rPr lang="en-GB" altLang="zh-CN" sz="1200" b="0" kern="1200" dirty="0" err="1">
                <a:solidFill>
                  <a:schemeClr val="tx1"/>
                </a:solidFill>
                <a:effectLst/>
                <a:latin typeface="+mn-lt"/>
                <a:ea typeface="+mn-ea"/>
                <a:cs typeface="+mn-cs"/>
              </a:rPr>
              <a:t>gps_loc</a:t>
            </a:r>
            <a:endParaRPr lang="en-GB" altLang="zh-CN" sz="1200" b="0" kern="1200" dirty="0">
              <a:solidFill>
                <a:schemeClr val="tx1"/>
              </a:solidFill>
              <a:effectLst/>
              <a:latin typeface="+mn-lt"/>
              <a:ea typeface="+mn-ea"/>
              <a:cs typeface="+mn-cs"/>
            </a:endParaRPr>
          </a:p>
          <a:p>
            <a:pPr fontAlgn="base"/>
            <a:r>
              <a:rPr lang="en-GB" altLang="zh-CN" sz="1200" b="0" kern="1200" dirty="0" err="1">
                <a:solidFill>
                  <a:schemeClr val="tx1"/>
                </a:solidFill>
                <a:effectLst/>
                <a:latin typeface="+mn-lt"/>
                <a:ea typeface="+mn-ea"/>
                <a:cs typeface="+mn-cs"/>
              </a:rPr>
              <a:t>click_level</a:t>
            </a:r>
            <a:endParaRPr lang="en-GB" altLang="zh-CN" sz="1200" b="0" kern="1200" dirty="0">
              <a:solidFill>
                <a:schemeClr val="tx1"/>
              </a:solidFill>
              <a:effectLst/>
              <a:latin typeface="+mn-lt"/>
              <a:ea typeface="+mn-ea"/>
              <a:cs typeface="+mn-cs"/>
            </a:endParaRPr>
          </a:p>
          <a:p>
            <a:pPr fontAlgn="base"/>
            <a:r>
              <a:rPr lang="en-GB" altLang="zh-CN" sz="1200" b="0" kern="1200" dirty="0" err="1">
                <a:solidFill>
                  <a:schemeClr val="tx1"/>
                </a:solidFill>
                <a:effectLst/>
                <a:latin typeface="+mn-lt"/>
                <a:ea typeface="+mn-ea"/>
                <a:cs typeface="+mn-cs"/>
              </a:rPr>
              <a:t>location_consistence</a:t>
            </a:r>
            <a:r>
              <a:rPr lang="en-GB" altLang="zh-CN" sz="1200" b="0" kern="1200" dirty="0">
                <a:solidFill>
                  <a:schemeClr val="tx1"/>
                </a:solidFill>
                <a:effectLst/>
                <a:latin typeface="+mn-lt"/>
                <a:ea typeface="+mn-ea"/>
                <a:cs typeface="+mn-cs"/>
              </a:rPr>
              <a:t>(</a:t>
            </a:r>
            <a:r>
              <a:rPr lang="en-GB" altLang="zh-CN" sz="1200" b="0" kern="1200" dirty="0" err="1">
                <a:solidFill>
                  <a:schemeClr val="tx1"/>
                </a:solidFill>
                <a:effectLst/>
                <a:latin typeface="+mn-lt"/>
                <a:ea typeface="+mn-ea"/>
                <a:cs typeface="+mn-cs"/>
              </a:rPr>
              <a:t>gps</a:t>
            </a:r>
            <a:r>
              <a:rPr lang="en-GB" altLang="zh-CN" sz="1200" b="0" kern="1200" dirty="0">
                <a:solidFill>
                  <a:schemeClr val="tx1"/>
                </a:solidFill>
                <a:effectLst/>
                <a:latin typeface="+mn-lt"/>
                <a:ea typeface="+mn-ea"/>
                <a:cs typeface="+mn-cs"/>
              </a:rPr>
              <a:t>)</a:t>
            </a:r>
          </a:p>
          <a:p>
            <a:r>
              <a:rPr kumimoji="1" lang="zh-CN" altLang="en-US" dirty="0"/>
              <a:t>后处理函数得到的字段</a:t>
            </a:r>
            <a:endParaRPr kumimoji="1"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t>点击的</a:t>
            </a:r>
            <a:r>
              <a:rPr lang="en-US" altLang="zh-CN" sz="1200" b="1" dirty="0" err="1"/>
              <a:t>ip_loc</a:t>
            </a:r>
            <a:r>
              <a:rPr lang="zh-CN" altLang="en-US" sz="1200" b="1" dirty="0"/>
              <a:t>来自点击日志的</a:t>
            </a:r>
            <a:r>
              <a:rPr lang="en-US" altLang="zh-CN" sz="1200" b="1" dirty="0" err="1"/>
              <a:t>xip</a:t>
            </a:r>
            <a:r>
              <a:rPr lang="en-US" altLang="zh-CN" sz="1200" b="1" dirty="0"/>
              <a:t>(</a:t>
            </a:r>
            <a:r>
              <a:rPr lang="zh-CN" altLang="en-US" sz="1200" b="1" dirty="0"/>
              <a:t>点击</a:t>
            </a:r>
            <a:r>
              <a:rPr lang="en-US" altLang="zh-CN" sz="1200" b="1" dirty="0" err="1"/>
              <a:t>ip</a:t>
            </a:r>
            <a:r>
              <a:rPr lang="zh-CN" altLang="en-US" sz="1200" b="1" dirty="0"/>
              <a:t>地域</a:t>
            </a:r>
            <a:r>
              <a:rPr lang="en-US" altLang="zh-CN" sz="1200" b="1" dirty="0"/>
              <a:t>),</a:t>
            </a:r>
            <a:r>
              <a:rPr lang="zh-CN" altLang="en-US" sz="1200" b="1" dirty="0"/>
              <a:t>点击的</a:t>
            </a:r>
            <a:r>
              <a:rPr lang="en-US" altLang="zh-CN" sz="1200" b="1" dirty="0" err="1"/>
              <a:t>gps_loc</a:t>
            </a:r>
            <a:r>
              <a:rPr lang="zh-CN" altLang="en-US" sz="1200" b="1" dirty="0"/>
              <a:t>来自点击表的</a:t>
            </a:r>
            <a:r>
              <a:rPr lang="en-GB" altLang="zh-CN" sz="1000" b="1" i="0" kern="1200" dirty="0" err="1">
                <a:solidFill>
                  <a:schemeClr val="tx1"/>
                </a:solidFill>
                <a:effectLst/>
                <a:latin typeface="+mn-lt"/>
                <a:ea typeface="+mn-ea"/>
                <a:cs typeface="+mn-cs"/>
              </a:rPr>
              <a:t>clk_gps</a:t>
            </a:r>
            <a:r>
              <a:rPr lang="en-US" altLang="zh-CN" sz="1000" b="1" i="0" kern="1200" dirty="0">
                <a:solidFill>
                  <a:schemeClr val="tx1"/>
                </a:solidFill>
                <a:effectLst/>
                <a:latin typeface="+mn-lt"/>
                <a:ea typeface="+mn-ea"/>
                <a:cs typeface="+mn-cs"/>
              </a:rPr>
              <a:t>(</a:t>
            </a:r>
            <a:r>
              <a:rPr lang="zh-CN" altLang="en-US" sz="1000" b="1" i="0" kern="1200" dirty="0">
                <a:solidFill>
                  <a:schemeClr val="tx1"/>
                </a:solidFill>
                <a:effectLst/>
                <a:latin typeface="+mn-lt"/>
                <a:ea typeface="+mn-ea"/>
                <a:cs typeface="+mn-cs"/>
              </a:rPr>
              <a:t>点击</a:t>
            </a:r>
            <a:r>
              <a:rPr lang="en-GB" altLang="zh-CN" sz="1000" b="1" i="0" kern="1200" dirty="0" err="1">
                <a:solidFill>
                  <a:schemeClr val="tx1"/>
                </a:solidFill>
                <a:effectLst/>
                <a:latin typeface="+mn-lt"/>
                <a:ea typeface="+mn-ea"/>
                <a:cs typeface="+mn-cs"/>
              </a:rPr>
              <a:t>gps</a:t>
            </a:r>
            <a:r>
              <a:rPr lang="en-GB" altLang="zh-CN" sz="1000" b="1" i="0" kern="1200" dirty="0">
                <a:solidFill>
                  <a:schemeClr val="tx1"/>
                </a:solidFill>
                <a:effectLst/>
                <a:latin typeface="+mn-lt"/>
                <a:ea typeface="+mn-ea"/>
                <a:cs typeface="+mn-cs"/>
              </a:rPr>
              <a:t>, </a:t>
            </a:r>
            <a:r>
              <a:rPr lang="zh-CN" altLang="en-US" sz="1000" b="1" i="0" kern="1200" dirty="0">
                <a:solidFill>
                  <a:schemeClr val="tx1"/>
                </a:solidFill>
                <a:effectLst/>
                <a:latin typeface="+mn-lt"/>
                <a:ea typeface="+mn-ea"/>
                <a:cs typeface="+mn-cs"/>
              </a:rPr>
              <a:t>来自于</a:t>
            </a:r>
            <a:r>
              <a:rPr lang="en-GB" altLang="zh-CN" sz="1000" b="1" i="0" kern="1200" dirty="0">
                <a:solidFill>
                  <a:schemeClr val="tx1"/>
                </a:solidFill>
                <a:effectLst/>
                <a:latin typeface="+mn-lt"/>
                <a:ea typeface="+mn-ea"/>
                <a:cs typeface="+mn-cs"/>
              </a:rPr>
              <a:t>cookie BAIDULOC</a:t>
            </a:r>
            <a:r>
              <a:rPr lang="en-US" altLang="zh-CN" sz="1000" b="1" i="0" kern="1200" dirty="0">
                <a:solidFill>
                  <a:schemeClr val="tx1"/>
                </a:solidFill>
                <a:effectLst/>
                <a:latin typeface="+mn-lt"/>
                <a:ea typeface="+mn-ea"/>
                <a:cs typeface="+mn-cs"/>
              </a:rPr>
              <a:t>)</a:t>
            </a:r>
            <a:endParaRPr lang="en-US" altLang="zh-CN" sz="1000" b="1" dirty="0">
              <a:cs typeface="宋体" charset="0"/>
            </a:endParaRPr>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42</a:t>
            </a:fld>
            <a:endParaRPr kumimoji="1"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43</a:t>
            </a:fld>
            <a:endParaRPr kumimoji="1"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实现方式：</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44</a:t>
            </a:fld>
            <a:endParaRPr kumimoji="1"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在网络环境不好的情况下，有些浏览器会重发无效点击，而因为该无效点击与正常点击的时间间隔较短，可能会出现在正常点击之前，这样会导致正常点击被过滤；所以这里根据</a:t>
            </a:r>
            <a:r>
              <a:rPr lang="en-GB" altLang="zh-CN" sz="1200" b="0" i="0" kern="1200" dirty="0">
                <a:solidFill>
                  <a:schemeClr val="tx1"/>
                </a:solidFill>
                <a:effectLst/>
                <a:latin typeface="+mn-lt"/>
                <a:ea typeface="+mn-ea"/>
                <a:cs typeface="+mn-cs"/>
              </a:rPr>
              <a:t>UA</a:t>
            </a:r>
            <a:r>
              <a:rPr lang="zh-CN" altLang="en-US" sz="1200" b="0" i="0" kern="1200" dirty="0">
                <a:solidFill>
                  <a:schemeClr val="tx1"/>
                </a:solidFill>
                <a:effectLst/>
                <a:latin typeface="+mn-lt"/>
                <a:ea typeface="+mn-ea"/>
                <a:cs typeface="+mn-cs"/>
              </a:rPr>
              <a:t>中包含‘</a:t>
            </a:r>
            <a:r>
              <a:rPr lang="en-GB" altLang="zh-CN" sz="1200" b="0" i="0" kern="1200" dirty="0" err="1">
                <a:solidFill>
                  <a:schemeClr val="tx1"/>
                </a:solidFill>
                <a:effectLst/>
                <a:latin typeface="+mn-lt"/>
                <a:ea typeface="+mn-ea"/>
                <a:cs typeface="+mn-cs"/>
              </a:rPr>
              <a:t>WinHttpRequest</a:t>
            </a:r>
            <a:r>
              <a:rPr lang="en-GB"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来将这部分无效点击过滤掉。</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GB" altLang="zh-CN" sz="1200" b="0" i="0" u="none" strike="noStrike" kern="1200" dirty="0" err="1">
                <a:solidFill>
                  <a:schemeClr val="tx1"/>
                </a:solidFill>
                <a:effectLst/>
                <a:latin typeface="+mn-lt"/>
                <a:ea typeface="+mn-ea"/>
                <a:cs typeface="+mn-cs"/>
              </a:rPr>
              <a:t>WinHttpRequest</a:t>
            </a:r>
            <a:r>
              <a:rPr lang="zh-CN" altLang="en-US" sz="1200" b="0" i="0" u="none" strike="noStrike" kern="1200" dirty="0">
                <a:solidFill>
                  <a:schemeClr val="tx1"/>
                </a:solidFill>
                <a:effectLst/>
                <a:latin typeface="+mn-lt"/>
                <a:ea typeface="+mn-ea"/>
                <a:cs typeface="+mn-cs"/>
              </a:rPr>
              <a:t>对象，是</a:t>
            </a:r>
            <a:r>
              <a:rPr lang="en-GB" altLang="zh-CN" sz="1200" b="0" i="0" u="none" strike="noStrike" kern="1200" dirty="0">
                <a:solidFill>
                  <a:schemeClr val="tx1"/>
                </a:solidFill>
                <a:effectLst/>
                <a:latin typeface="+mn-lt"/>
                <a:ea typeface="+mn-ea"/>
                <a:cs typeface="+mn-cs"/>
              </a:rPr>
              <a:t>msxml4.0</a:t>
            </a:r>
            <a:r>
              <a:rPr lang="zh-CN" altLang="en-US" sz="1200" b="0" i="0" u="none" strike="noStrike" kern="1200" dirty="0">
                <a:solidFill>
                  <a:schemeClr val="tx1"/>
                </a:solidFill>
                <a:effectLst/>
                <a:latin typeface="+mn-lt"/>
                <a:ea typeface="+mn-ea"/>
                <a:cs typeface="+mn-cs"/>
              </a:rPr>
              <a:t>的底层对象，用于在后台与服务器交换数据，现在所有的浏览器都支持，</a:t>
            </a:r>
            <a:r>
              <a:rPr lang="en-GB" altLang="zh-CN" sz="1200" b="0" i="0" u="none" strike="noStrike" kern="1200" dirty="0">
                <a:solidFill>
                  <a:schemeClr val="tx1"/>
                </a:solidFill>
                <a:effectLst/>
                <a:latin typeface="+mn-lt"/>
                <a:ea typeface="+mn-ea"/>
                <a:cs typeface="+mn-cs"/>
              </a:rPr>
              <a:t>http</a:t>
            </a:r>
            <a:r>
              <a:rPr lang="zh-CN" altLang="en-US" sz="1200" b="0" i="0" u="none" strike="noStrike" kern="1200" dirty="0">
                <a:solidFill>
                  <a:schemeClr val="tx1"/>
                </a:solidFill>
                <a:effectLst/>
                <a:latin typeface="+mn-lt"/>
                <a:ea typeface="+mn-ea"/>
                <a:cs typeface="+mn-cs"/>
              </a:rPr>
              <a:t>控件自带。现在还有少量过滤量。</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45</a:t>
            </a:fld>
            <a:endParaRPr kumimoji="1"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kern="1200" dirty="0">
                <a:solidFill>
                  <a:schemeClr val="tx1"/>
                </a:solidFill>
                <a:effectLst/>
                <a:latin typeface="+mn-lt"/>
                <a:ea typeface="+mn-ea"/>
                <a:cs typeface="+mn-cs"/>
              </a:rPr>
              <a:t>segment </a:t>
            </a:r>
            <a:r>
              <a:rPr lang="zh-CN" altLang="zh-CN" sz="1200" kern="1200" dirty="0">
                <a:solidFill>
                  <a:schemeClr val="tx1"/>
                </a:solidFill>
                <a:effectLst/>
                <a:latin typeface="+mn-lt"/>
                <a:ea typeface="+mn-ea"/>
                <a:cs typeface="+mn-cs"/>
              </a:rPr>
              <a:t>计算每一个维度对象的累积</a:t>
            </a:r>
            <a:r>
              <a:rPr lang="en-US" altLang="zh-CN" sz="1200" kern="1200" dirty="0" err="1">
                <a:solidFill>
                  <a:schemeClr val="tx1"/>
                </a:solidFill>
                <a:effectLst/>
                <a:latin typeface="+mn-lt"/>
                <a:ea typeface="+mn-ea"/>
                <a:cs typeface="+mn-cs"/>
              </a:rPr>
              <a:t>pv</a:t>
            </a:r>
            <a:r>
              <a:rPr lang="zh-CN" altLang="zh-CN" sz="1200" kern="1200" dirty="0">
                <a:solidFill>
                  <a:schemeClr val="tx1"/>
                </a:solidFill>
                <a:effectLst/>
                <a:latin typeface="+mn-lt"/>
                <a:ea typeface="+mn-ea"/>
                <a:cs typeface="+mn-cs"/>
              </a:rPr>
              <a:t>值</a:t>
            </a:r>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distinct</a:t>
            </a:r>
            <a:r>
              <a:rPr lang="zh-CN" altLang="zh-CN" sz="1200" kern="1200" dirty="0">
                <a:solidFill>
                  <a:schemeClr val="tx1"/>
                </a:solidFill>
                <a:effectLst/>
                <a:latin typeface="+mn-lt"/>
                <a:ea typeface="+mn-ea"/>
                <a:cs typeface="+mn-cs"/>
              </a:rPr>
              <a:t>计算每一个维度对象下子维度的种类数</a:t>
            </a:r>
            <a:r>
              <a:rPr lang="zh-CN" altLang="en-US"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sum_segment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计算每一个维度对象下子维度对象的求和</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46</a:t>
            </a:fld>
            <a:endParaRPr kumimoji="1"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zh-CN" altLang="en-US" dirty="0"/>
            </a:b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47</a:t>
            </a:fld>
            <a:endParaRPr kumimoji="1"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mn-ea"/>
                <a:ea typeface="+mn-ea"/>
              </a:rPr>
              <a:t>该策略的目的之一是为防止恶意消耗竞争对手。</a:t>
            </a:r>
            <a:endParaRPr lang="en-US" altLang="zh-CN" dirty="0"/>
          </a:p>
          <a:p>
            <a:endParaRPr lang="en-US" altLang="zh-CN" sz="1200" dirty="0"/>
          </a:p>
          <a:p>
            <a:r>
              <a:rPr kumimoji="1" lang="en-US" altLang="zh-CN" sz="1200" dirty="0" err="1"/>
              <a:t>Baiduid</a:t>
            </a:r>
            <a:r>
              <a:rPr kumimoji="1" lang="zh-CN" altLang="en-US" sz="1200" dirty="0"/>
              <a:t>种重：</a:t>
            </a:r>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由于生成函数有多个、可能出现</a:t>
            </a:r>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种重（既不同用户拥有同样的</a:t>
            </a:r>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现象）</a:t>
            </a:r>
          </a:p>
          <a:p>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种重的判定：可以根据同一</a:t>
            </a:r>
            <a:r>
              <a:rPr lang="en-GB" altLang="zh-CN" sz="1200" b="0" i="0" u="none" strike="noStrike" kern="1200" dirty="0" err="1">
                <a:solidFill>
                  <a:schemeClr val="tx1"/>
                </a:solidFill>
                <a:effectLst/>
                <a:latin typeface="+mn-lt"/>
                <a:ea typeface="+mn-ea"/>
                <a:cs typeface="+mn-cs"/>
              </a:rPr>
              <a:t>baiduid</a:t>
            </a:r>
            <a:r>
              <a:rPr lang="zh-CN" altLang="en-US" sz="1200" b="0" i="0" u="none" strike="noStrike" kern="1200" dirty="0">
                <a:solidFill>
                  <a:schemeClr val="tx1"/>
                </a:solidFill>
                <a:effectLst/>
                <a:latin typeface="+mn-lt"/>
                <a:ea typeface="+mn-ea"/>
                <a:cs typeface="+mn-cs"/>
              </a:rPr>
              <a:t>下的</a:t>
            </a:r>
            <a:r>
              <a:rPr lang="en-GB" altLang="zh-CN" sz="1200" b="0" i="0" u="none" strike="noStrike" kern="1200" dirty="0" err="1">
                <a:solidFill>
                  <a:schemeClr val="tx1"/>
                </a:solidFill>
                <a:effectLst/>
                <a:latin typeface="+mn-lt"/>
                <a:ea typeface="+mn-ea"/>
                <a:cs typeface="+mn-cs"/>
              </a:rPr>
              <a:t>ua</a:t>
            </a:r>
            <a:r>
              <a:rPr lang="zh-CN" altLang="en-GB" sz="1200" b="0" i="0" u="none" strike="noStrike" kern="1200" dirty="0">
                <a:solidFill>
                  <a:schemeClr val="tx1"/>
                </a:solidFill>
                <a:effectLst/>
                <a:latin typeface="+mn-lt"/>
                <a:ea typeface="+mn-ea"/>
                <a:cs typeface="+mn-cs"/>
              </a:rPr>
              <a:t>、</a:t>
            </a:r>
            <a:r>
              <a:rPr lang="en-GB" altLang="zh-CN" sz="1200" b="0" i="0" u="none" strike="noStrike" kern="1200" dirty="0" err="1">
                <a:solidFill>
                  <a:schemeClr val="tx1"/>
                </a:solidFill>
                <a:effectLst/>
                <a:latin typeface="+mn-lt"/>
                <a:ea typeface="+mn-ea"/>
                <a:cs typeface="+mn-cs"/>
              </a:rPr>
              <a:t>ip</a:t>
            </a:r>
            <a:r>
              <a:rPr lang="zh-CN" altLang="en-US" sz="1200" b="0" i="0" u="none" strike="noStrike" kern="1200" dirty="0">
                <a:solidFill>
                  <a:schemeClr val="tx1"/>
                </a:solidFill>
                <a:effectLst/>
                <a:latin typeface="+mn-lt"/>
                <a:ea typeface="+mn-ea"/>
                <a:cs typeface="+mn-cs"/>
              </a:rPr>
              <a:t>的个数和查询意图来判断。</a:t>
            </a:r>
          </a:p>
          <a:p>
            <a:r>
              <a:rPr lang="zh-CN" altLang="en-US" sz="1200" b="0" i="0" u="none" strike="noStrike" kern="1200" dirty="0">
                <a:solidFill>
                  <a:schemeClr val="tx1"/>
                </a:solidFill>
                <a:effectLst/>
                <a:latin typeface="+mn-lt"/>
                <a:ea typeface="+mn-ea"/>
                <a:cs typeface="+mn-cs"/>
              </a:rPr>
              <a:t>种重不是作弊，往往容易被判断为</a:t>
            </a:r>
            <a:r>
              <a:rPr lang="en-GB" altLang="zh-CN" sz="1200" b="0" i="0" u="none" strike="noStrike" kern="1200" dirty="0">
                <a:solidFill>
                  <a:schemeClr val="tx1"/>
                </a:solidFill>
                <a:effectLst/>
                <a:latin typeface="+mn-lt"/>
                <a:ea typeface="+mn-ea"/>
                <a:cs typeface="+mn-cs"/>
              </a:rPr>
              <a:t>bd</a:t>
            </a:r>
            <a:r>
              <a:rPr lang="zh-CN" altLang="en-US" sz="1200" b="0" i="0" u="none" strike="noStrike" kern="1200" dirty="0">
                <a:solidFill>
                  <a:schemeClr val="tx1"/>
                </a:solidFill>
                <a:effectLst/>
                <a:latin typeface="+mn-lt"/>
                <a:ea typeface="+mn-ea"/>
                <a:cs typeface="+mn-cs"/>
              </a:rPr>
              <a:t>下多点。但是</a:t>
            </a:r>
            <a:r>
              <a:rPr lang="en-GB" altLang="zh-CN" sz="1200" b="0" i="0" u="none" strike="noStrike" kern="1200" dirty="0" err="1">
                <a:solidFill>
                  <a:schemeClr val="tx1"/>
                </a:solidFill>
                <a:effectLst/>
                <a:latin typeface="+mn-lt"/>
                <a:ea typeface="+mn-ea"/>
                <a:cs typeface="+mn-cs"/>
              </a:rPr>
              <a:t>cntname</a:t>
            </a:r>
            <a:r>
              <a:rPr lang="zh-CN" altLang="en-GB" sz="1200" b="0" i="0" u="none" strike="noStrike" kern="1200" dirty="0">
                <a:solidFill>
                  <a:schemeClr val="tx1"/>
                </a:solidFill>
                <a:effectLst/>
                <a:latin typeface="+mn-lt"/>
                <a:ea typeface="+mn-ea"/>
                <a:cs typeface="+mn-cs"/>
              </a:rPr>
              <a:t>、</a:t>
            </a:r>
            <a:r>
              <a:rPr lang="en-GB" altLang="zh-CN" sz="1200" b="0" i="0" u="none" strike="noStrike" kern="1200" dirty="0">
                <a:solidFill>
                  <a:schemeClr val="tx1"/>
                </a:solidFill>
                <a:effectLst/>
                <a:latin typeface="+mn-lt"/>
                <a:ea typeface="+mn-ea"/>
                <a:cs typeface="+mn-cs"/>
              </a:rPr>
              <a:t>query</a:t>
            </a:r>
            <a:r>
              <a:rPr lang="zh-CN" altLang="en-US" sz="1200" b="0" i="0" u="none" strike="noStrike" kern="1200" dirty="0">
                <a:solidFill>
                  <a:schemeClr val="tx1"/>
                </a:solidFill>
                <a:effectLst/>
                <a:latin typeface="+mn-lt"/>
                <a:ea typeface="+mn-ea"/>
                <a:cs typeface="+mn-cs"/>
              </a:rPr>
              <a:t>都比较分散，也没有明显的骗分成嫌疑并且</a:t>
            </a:r>
            <a:r>
              <a:rPr lang="en-GB" altLang="zh-CN" sz="1200" b="0" i="0" u="none" strike="noStrike" kern="1200" dirty="0" err="1">
                <a:solidFill>
                  <a:schemeClr val="tx1"/>
                </a:solidFill>
                <a:effectLst/>
                <a:latin typeface="+mn-lt"/>
                <a:ea typeface="+mn-ea"/>
                <a:cs typeface="+mn-cs"/>
              </a:rPr>
              <a:t>ua</a:t>
            </a:r>
            <a:r>
              <a:rPr lang="zh-CN" altLang="en-US" sz="1200" b="0" i="0" u="none" strike="noStrike" kern="1200" dirty="0">
                <a:solidFill>
                  <a:schemeClr val="tx1"/>
                </a:solidFill>
                <a:effectLst/>
                <a:latin typeface="+mn-lt"/>
                <a:ea typeface="+mn-ea"/>
                <a:cs typeface="+mn-cs"/>
              </a:rPr>
              <a:t>与</a:t>
            </a:r>
            <a:r>
              <a:rPr lang="en-GB" altLang="zh-CN" sz="1200" b="0" i="0" u="none" strike="noStrike" kern="1200" dirty="0" err="1">
                <a:solidFill>
                  <a:schemeClr val="tx1"/>
                </a:solidFill>
                <a:effectLst/>
                <a:latin typeface="+mn-lt"/>
                <a:ea typeface="+mn-ea"/>
                <a:cs typeface="+mn-cs"/>
              </a:rPr>
              <a:t>ip</a:t>
            </a:r>
            <a:r>
              <a:rPr lang="zh-CN" altLang="en-US" sz="1200" b="0" i="0" u="none" strike="noStrike" kern="1200" dirty="0">
                <a:solidFill>
                  <a:schemeClr val="tx1"/>
                </a:solidFill>
                <a:effectLst/>
                <a:latin typeface="+mn-lt"/>
                <a:ea typeface="+mn-ea"/>
                <a:cs typeface="+mn-cs"/>
              </a:rPr>
              <a:t>十分分散，点击并无单点作弊特征，如单</a:t>
            </a:r>
            <a:r>
              <a:rPr lang="en-GB" altLang="zh-CN" sz="1200" b="0" i="0" u="none" strike="noStrike" kern="1200" dirty="0" err="1">
                <a:solidFill>
                  <a:schemeClr val="tx1"/>
                </a:solidFill>
                <a:effectLst/>
                <a:latin typeface="+mn-lt"/>
                <a:ea typeface="+mn-ea"/>
                <a:cs typeface="+mn-cs"/>
              </a:rPr>
              <a:t>ip</a:t>
            </a:r>
            <a:r>
              <a:rPr lang="zh-CN" altLang="en-US" sz="1200" b="0" i="0" u="none" strike="noStrike" kern="1200" dirty="0">
                <a:solidFill>
                  <a:schemeClr val="tx1"/>
                </a:solidFill>
                <a:effectLst/>
                <a:latin typeface="+mn-lt"/>
                <a:ea typeface="+mn-ea"/>
                <a:cs typeface="+mn-cs"/>
              </a:rPr>
              <a:t>下模拟机换</a:t>
            </a:r>
            <a:r>
              <a:rPr lang="en-GB" altLang="zh-CN" sz="1200" b="0" i="0" u="none" strike="noStrike" kern="1200" dirty="0" err="1">
                <a:solidFill>
                  <a:schemeClr val="tx1"/>
                </a:solidFill>
                <a:effectLst/>
                <a:latin typeface="+mn-lt"/>
                <a:ea typeface="+mn-ea"/>
                <a:cs typeface="+mn-cs"/>
              </a:rPr>
              <a:t>ua</a:t>
            </a:r>
            <a:r>
              <a:rPr lang="zh-CN" altLang="en-US" sz="1200" b="0" i="0" u="none" strike="noStrike" kern="1200" dirty="0">
                <a:solidFill>
                  <a:schemeClr val="tx1"/>
                </a:solidFill>
                <a:effectLst/>
                <a:latin typeface="+mn-lt"/>
                <a:ea typeface="+mn-ea"/>
                <a:cs typeface="+mn-cs"/>
              </a:rPr>
              <a:t>或单</a:t>
            </a:r>
            <a:r>
              <a:rPr lang="en-GB" altLang="zh-CN" sz="1200" b="0" i="0" u="none" strike="noStrike" kern="1200" dirty="0" err="1">
                <a:solidFill>
                  <a:schemeClr val="tx1"/>
                </a:solidFill>
                <a:effectLst/>
                <a:latin typeface="+mn-lt"/>
                <a:ea typeface="+mn-ea"/>
                <a:cs typeface="+mn-cs"/>
              </a:rPr>
              <a:t>ua</a:t>
            </a:r>
            <a:r>
              <a:rPr lang="zh-CN" altLang="en-US" sz="1200" b="0" i="0" u="none" strike="noStrike" kern="1200" dirty="0">
                <a:solidFill>
                  <a:schemeClr val="tx1"/>
                </a:solidFill>
                <a:effectLst/>
                <a:latin typeface="+mn-lt"/>
                <a:ea typeface="+mn-ea"/>
                <a:cs typeface="+mn-cs"/>
              </a:rPr>
              <a:t>切换</a:t>
            </a:r>
            <a:r>
              <a:rPr lang="en-GB" altLang="zh-CN" sz="1200" b="0" i="0" u="none" strike="noStrike" kern="1200" dirty="0" err="1">
                <a:solidFill>
                  <a:schemeClr val="tx1"/>
                </a:solidFill>
                <a:effectLst/>
                <a:latin typeface="+mn-lt"/>
                <a:ea typeface="+mn-ea"/>
                <a:cs typeface="+mn-cs"/>
              </a:rPr>
              <a:t>ip</a:t>
            </a:r>
            <a:r>
              <a:rPr lang="zh-CN" altLang="en-US" sz="1200" b="0" i="0" u="none" strike="noStrike" kern="1200" dirty="0">
                <a:solidFill>
                  <a:schemeClr val="tx1"/>
                </a:solidFill>
                <a:effectLst/>
                <a:latin typeface="+mn-lt"/>
                <a:ea typeface="+mn-ea"/>
                <a:cs typeface="+mn-cs"/>
              </a:rPr>
              <a:t>或者</a:t>
            </a:r>
            <a:r>
              <a:rPr lang="en-GB" altLang="zh-CN" sz="1200" b="0" i="0" u="none" strike="noStrike" kern="1200" dirty="0">
                <a:solidFill>
                  <a:schemeClr val="tx1"/>
                </a:solidFill>
                <a:effectLst/>
                <a:latin typeface="+mn-lt"/>
                <a:ea typeface="+mn-ea"/>
                <a:cs typeface="+mn-cs"/>
              </a:rPr>
              <a:t>ck</a:t>
            </a:r>
            <a:r>
              <a:rPr lang="zh-CN" altLang="en-US" sz="1200" b="0" i="0" u="none" strike="noStrike" kern="1200" dirty="0">
                <a:solidFill>
                  <a:schemeClr val="tx1"/>
                </a:solidFill>
                <a:effectLst/>
                <a:latin typeface="+mn-lt"/>
                <a:ea typeface="+mn-ea"/>
                <a:cs typeface="+mn-cs"/>
              </a:rPr>
              <a:t>域以及点展差新鲜度出现异常。</a:t>
            </a:r>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48</a:t>
            </a:fld>
            <a:endParaRPr kumimoji="1"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mn-ea"/>
                <a:ea typeface="+mn-ea"/>
              </a:rPr>
              <a:t>该策略的目的之一是为防止恶意消耗竞争对手。</a:t>
            </a:r>
            <a:endParaRPr lang="en-US" altLang="zh-CN" dirty="0"/>
          </a:p>
          <a:p>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t>但是</a:t>
            </a:r>
            <a:r>
              <a:rPr lang="en-US" altLang="zh-CN" sz="1200" dirty="0"/>
              <a:t>segment</a:t>
            </a:r>
            <a:r>
              <a:rPr lang="zh-CN" altLang="en-US" sz="1200" dirty="0"/>
              <a:t>不支持添加运算符，</a:t>
            </a:r>
            <a:r>
              <a:rPr lang="en-US" altLang="zh-CN" sz="1200" dirty="0"/>
              <a:t>threshold</a:t>
            </a:r>
            <a:r>
              <a:rPr lang="zh-CN" altLang="en-US" sz="1200" dirty="0"/>
              <a:t>支持添加比较运算符，默认是小于等于。</a:t>
            </a:r>
            <a:endParaRPr kumimoji="1" lang="zh-CN" altLang="en-US" dirty="0"/>
          </a:p>
          <a:p>
            <a:endParaRPr kumimoji="1" lang="en-US" altLang="zh-CN" dirty="0"/>
          </a:p>
          <a:p>
            <a:endParaRPr kumimoji="1" lang="en-US" altLang="zh-CN" dirty="0"/>
          </a:p>
          <a:p>
            <a:r>
              <a:rPr kumimoji="1" lang="en-GB" altLang="zh-CN" dirty="0"/>
              <a:t>threshold </a:t>
            </a:r>
            <a:r>
              <a:rPr kumimoji="1" lang="zh-CN" altLang="en-US" dirty="0"/>
              <a:t>可以 </a:t>
            </a:r>
            <a:r>
              <a:rPr kumimoji="1" lang="en-US" altLang="zh-CN" dirty="0"/>
              <a:t>&gt; </a:t>
            </a:r>
            <a:r>
              <a:rPr kumimoji="1" lang="zh-CN" altLang="en-US" dirty="0"/>
              <a:t>也可以 </a:t>
            </a:r>
            <a:r>
              <a:rPr kumimoji="1" lang="en-US" altLang="zh-CN" dirty="0"/>
              <a:t>&lt;  </a:t>
            </a:r>
            <a:r>
              <a:rPr kumimoji="1" lang="zh-CN" altLang="en-US" dirty="0"/>
              <a:t>，</a:t>
            </a:r>
            <a:r>
              <a:rPr kumimoji="1" lang="en-US" altLang="zh-CN" dirty="0"/>
              <a:t>&gt; </a:t>
            </a:r>
            <a:r>
              <a:rPr kumimoji="1" lang="zh-CN" altLang="en-US" dirty="0"/>
              <a:t>时，符号可省略，</a:t>
            </a:r>
            <a:r>
              <a:rPr kumimoji="1" lang="en-US" altLang="zh-CN" dirty="0"/>
              <a:t>&lt; </a:t>
            </a:r>
            <a:r>
              <a:rPr kumimoji="1" lang="zh-CN" altLang="en-US" dirty="0"/>
              <a:t>时不可省略，且符号和后面数字之间必须要有一个空格隔开</a:t>
            </a:r>
          </a:p>
          <a:p>
            <a:r>
              <a:rPr kumimoji="1" lang="zh-CN" altLang="en-US" dirty="0"/>
              <a:t>但</a:t>
            </a:r>
            <a:r>
              <a:rPr kumimoji="1" lang="en-GB" altLang="zh-CN" dirty="0"/>
              <a:t>segment</a:t>
            </a:r>
            <a:r>
              <a:rPr kumimoji="1" lang="zh-CN" altLang="en-US" dirty="0"/>
              <a:t>是段上限 只能 </a:t>
            </a:r>
            <a:r>
              <a:rPr kumimoji="1" lang="en-US" altLang="zh-CN" dirty="0"/>
              <a:t>&gt; </a:t>
            </a:r>
            <a:r>
              <a:rPr kumimoji="1" lang="zh-CN" altLang="en-US" dirty="0"/>
              <a:t>，可以忽略。</a:t>
            </a:r>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49</a:t>
            </a:fld>
            <a:endParaRPr kumimoji="1"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多规则特征，现在只列出其中一条规则</a:t>
            </a:r>
            <a:endParaRPr kumimoji="1"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这个策略主要是避免作弊这故意刷高付费的广告，影响广告主的收益。</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相比段比例：分子分母的</a:t>
            </a:r>
            <a:r>
              <a:rPr lang="en-US" altLang="zh-CN" dirty="0" err="1"/>
              <a:t>window_length</a:t>
            </a:r>
            <a:r>
              <a:rPr lang="zh-CN" altLang="en-US" dirty="0"/>
              <a:t>可以调整</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但他不能说配置</a:t>
            </a:r>
            <a:r>
              <a:rPr lang="en-US" altLang="zh-CN" dirty="0"/>
              <a:t>remain</a:t>
            </a:r>
            <a:r>
              <a:rPr lang="zh-CN" altLang="en-US" dirty="0"/>
              <a:t>等参数，所以二者不可以相互替代。</a:t>
            </a:r>
            <a:endParaRPr lang="en-US" altLang="zh-CN" dirty="0"/>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50</a:t>
            </a:fld>
            <a:endParaRPr kumimoji="1"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51</a:t>
            </a:fld>
            <a:endParaRPr kumimoji="1"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实现方式：</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52</a:t>
            </a:fld>
            <a:endParaRPr kumimoji="1"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Bd</a:t>
            </a:r>
            <a:r>
              <a:rPr kumimoji="1" lang="zh-CN" altLang="en-US" dirty="0"/>
              <a:t> </a:t>
            </a:r>
            <a:r>
              <a:rPr kumimoji="1" lang="en-US" altLang="zh-CN" dirty="0" err="1"/>
              <a:t>pv</a:t>
            </a:r>
            <a:r>
              <a:rPr kumimoji="1" lang="zh-CN" altLang="en-US" dirty="0"/>
              <a:t> </a:t>
            </a:r>
            <a:r>
              <a:rPr kumimoji="1" lang="en-US" altLang="zh-CN" dirty="0"/>
              <a:t>direct(bd)</a:t>
            </a:r>
          </a:p>
          <a:p>
            <a:r>
              <a:rPr kumimoji="1" lang="en-US" altLang="zh-CN" dirty="0" err="1"/>
              <a:t>Skip_person_info</a:t>
            </a:r>
            <a:r>
              <a:rPr kumimoji="1" lang="zh-CN" altLang="en-US" dirty="0"/>
              <a:t>   </a:t>
            </a:r>
            <a:r>
              <a:rPr kumimoji="1" lang="en-US" altLang="zh-CN" dirty="0" err="1"/>
              <a:t>pv</a:t>
            </a:r>
            <a:r>
              <a:rPr kumimoji="1" lang="zh-CN" altLang="en-US" dirty="0"/>
              <a:t> </a:t>
            </a:r>
            <a:r>
              <a:rPr lang="en-GB" altLang="zh-CN" sz="1200" b="0" i="0" u="none" strike="noStrike" kern="1200" dirty="0">
                <a:solidFill>
                  <a:schemeClr val="tx1"/>
                </a:solidFill>
                <a:effectLst/>
                <a:latin typeface="+mn-lt"/>
                <a:ea typeface="+mn-ea"/>
                <a:cs typeface="+mn-cs"/>
              </a:rPr>
              <a:t>reflection1(</a:t>
            </a:r>
            <a:r>
              <a:rPr lang="en-GB" altLang="zh-CN" sz="1200" b="0" i="0" u="none" strike="noStrike" kern="1200" dirty="0" err="1">
                <a:solidFill>
                  <a:schemeClr val="tx1"/>
                </a:solidFill>
                <a:effectLst/>
                <a:latin typeface="+mn-lt"/>
                <a:ea typeface="+mn-ea"/>
                <a:cs typeface="+mn-cs"/>
              </a:rPr>
              <a:t>asp_log_field.base_field.field_added_by_asp.skip_personal_info</a:t>
            </a:r>
            <a:r>
              <a:rPr lang="en-GB" altLang="zh-CN" sz="1200" b="0" i="0" u="none" strike="noStrike" kern="1200" dirty="0">
                <a:solidFill>
                  <a:schemeClr val="tx1"/>
                </a:solidFill>
                <a:effectLst/>
                <a:latin typeface="+mn-lt"/>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r>
              <a:rPr lang="zh-CN" altLang="en-US" dirty="0"/>
              <a:t>为什么说多段上限策略其实是跳段，我们需要从脚本中研究这一策略的计算逻辑。以正文</a:t>
            </a:r>
            <a:r>
              <a:rPr lang="en-US" altLang="zh-CN" dirty="0"/>
              <a:t>ppt</a:t>
            </a:r>
            <a:r>
              <a:rPr lang="zh-CN" altLang="en-US" dirty="0"/>
              <a:t>中的配置文件为例，我们仅仅需要统计</a:t>
            </a:r>
            <a:r>
              <a:rPr lang="en-US" altLang="zh-CN" dirty="0"/>
              <a:t>1</a:t>
            </a:r>
            <a:r>
              <a:rPr lang="zh-CN" altLang="en-US" dirty="0"/>
              <a:t>秒内的</a:t>
            </a:r>
            <a:r>
              <a:rPr lang="en-US" altLang="zh-CN" dirty="0" err="1"/>
              <a:t>ip</a:t>
            </a:r>
            <a:r>
              <a:rPr lang="zh-CN" altLang="en-US" dirty="0"/>
              <a:t>频数，而程序在进行特征累积的时候会保存</a:t>
            </a:r>
            <a:r>
              <a:rPr lang="en-US" altLang="zh-CN" dirty="0"/>
              <a:t>1800</a:t>
            </a:r>
            <a:r>
              <a:rPr lang="zh-CN" altLang="en-US" dirty="0"/>
              <a:t>秒长度的段，其中有</a:t>
            </a:r>
            <a:r>
              <a:rPr lang="en-US" altLang="zh-CN" dirty="0"/>
              <a:t>1800</a:t>
            </a:r>
            <a:r>
              <a:rPr lang="zh-CN" altLang="en-US" dirty="0"/>
              <a:t>个步，程序在遇到一个延迟的记录</a:t>
            </a:r>
            <a:r>
              <a:rPr lang="en-US" altLang="zh-CN" dirty="0"/>
              <a:t>(</a:t>
            </a:r>
            <a:r>
              <a:rPr lang="en-US" altLang="zh-CN" dirty="0" err="1"/>
              <a:t>FeatureValueProto</a:t>
            </a:r>
            <a:r>
              <a:rPr lang="zh-CN" altLang="en-US" dirty="0"/>
              <a:t>类型</a:t>
            </a:r>
            <a:r>
              <a:rPr lang="en-US" altLang="zh-CN" dirty="0"/>
              <a:t>)</a:t>
            </a:r>
            <a:r>
              <a:rPr lang="zh-CN" altLang="en-US" dirty="0"/>
              <a:t>后，会根据记录中的精确时间将这条日志划到其本应属于的时间步中，并加到这一步的统计量中，程序在最后返回的其实只是每一步的累积量而非段的累积量。</a:t>
            </a:r>
            <a:endParaRPr lang="en-US" altLang="zh-CN" dirty="0"/>
          </a:p>
          <a:p>
            <a:endParaRPr kumimoji="1" lang="en-US" altLang="zh-CN" dirty="0"/>
          </a:p>
          <a:p>
            <a:endParaRPr kumimoji="1" lang="en-US" altLang="zh-CN" dirty="0"/>
          </a:p>
          <a:p>
            <a:r>
              <a:rPr kumimoji="1" lang="en-US" altLang="zh-CN" dirty="0" err="1"/>
              <a:t>Skip_personal_info</a:t>
            </a:r>
            <a:r>
              <a:rPr kumimoji="1" lang="zh-CN" altLang="en-US" dirty="0"/>
              <a:t>：</a:t>
            </a:r>
            <a:r>
              <a:rPr lang="zh-CN" altLang="en-US" sz="1200" b="0" i="0" kern="1200" dirty="0">
                <a:solidFill>
                  <a:schemeClr val="tx1"/>
                </a:solidFill>
                <a:effectLst/>
                <a:latin typeface="+mn-lt"/>
                <a:ea typeface="+mn-ea"/>
                <a:cs typeface="+mn-cs"/>
              </a:rPr>
              <a:t>取值为</a:t>
            </a:r>
            <a:r>
              <a:rPr lang="en-US" altLang="zh-CN" sz="1200" b="0" i="0" kern="1200" dirty="0">
                <a:solidFill>
                  <a:schemeClr val="tx1"/>
                </a:solidFill>
                <a:effectLst/>
                <a:latin typeface="+mn-lt"/>
                <a:ea typeface="+mn-ea"/>
                <a:cs typeface="+mn-cs"/>
              </a:rPr>
              <a:t>0/1</a:t>
            </a:r>
            <a:r>
              <a:rPr lang="zh-CN" altLang="en-US" sz="1200" b="0" i="0" kern="1200" dirty="0">
                <a:solidFill>
                  <a:schemeClr val="tx1"/>
                </a:solidFill>
                <a:effectLst/>
                <a:latin typeface="+mn-lt"/>
                <a:ea typeface="+mn-ea"/>
                <a:cs typeface="+mn-cs"/>
              </a:rPr>
              <a:t>，</a:t>
            </a:r>
            <a:r>
              <a:rPr kumimoji="1" lang="zh-CN" altLang="en-US" dirty="0"/>
              <a:t>判断是否合理有效的</a:t>
            </a:r>
            <a:r>
              <a:rPr kumimoji="1" lang="en-US" altLang="zh-CN" dirty="0" err="1"/>
              <a:t>baiduid</a:t>
            </a:r>
            <a:r>
              <a:rPr kumimoji="1" lang="zh-CN" altLang="en-US" dirty="0"/>
              <a:t> </a:t>
            </a:r>
            <a:r>
              <a:rPr lang="en-GB"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红线计划，</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代表用户开启了隐私设置，在</a:t>
            </a:r>
            <a:r>
              <a:rPr lang="en-GB" altLang="zh-CN" sz="1200" b="0" i="0" kern="1200" dirty="0" err="1">
                <a:solidFill>
                  <a:schemeClr val="tx1"/>
                </a:solidFill>
                <a:effectLst/>
                <a:latin typeface="+mn-lt"/>
                <a:ea typeface="+mn-ea"/>
                <a:cs typeface="+mn-cs"/>
              </a:rPr>
              <a:t>skip_personal_info</a:t>
            </a:r>
            <a:r>
              <a:rPr lang="en-GB"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的情况下，不会给后端传</a:t>
            </a:r>
            <a:r>
              <a:rPr lang="en-GB" altLang="zh-CN" sz="1200" b="0" i="0" kern="1200" dirty="0" err="1">
                <a:solidFill>
                  <a:schemeClr val="tx1"/>
                </a:solidFill>
                <a:effectLst/>
                <a:latin typeface="+mn-lt"/>
                <a:ea typeface="+mn-ea"/>
                <a:cs typeface="+mn-cs"/>
              </a:rPr>
              <a:t>baiduid</a:t>
            </a:r>
            <a:r>
              <a:rPr lang="zh-CN" altLang="en-GB" sz="1200" b="0" i="0" kern="1200" dirty="0">
                <a:solidFill>
                  <a:schemeClr val="tx1"/>
                </a:solidFill>
                <a:effectLst/>
                <a:latin typeface="+mn-lt"/>
                <a:ea typeface="+mn-ea"/>
                <a:cs typeface="+mn-cs"/>
              </a:rPr>
              <a:t>、</a:t>
            </a:r>
            <a:r>
              <a:rPr lang="en-GB" altLang="zh-CN" sz="1200" b="0" i="0" kern="1200" dirty="0" err="1">
                <a:solidFill>
                  <a:schemeClr val="tx1"/>
                </a:solidFill>
                <a:effectLst/>
                <a:latin typeface="+mn-lt"/>
                <a:ea typeface="+mn-ea"/>
                <a:cs typeface="+mn-cs"/>
              </a:rPr>
              <a:t>uid</a:t>
            </a:r>
            <a:r>
              <a:rPr lang="zh-CN" altLang="en-GB" sz="1200" b="0" i="0" kern="1200" dirty="0">
                <a:solidFill>
                  <a:schemeClr val="tx1"/>
                </a:solidFill>
                <a:effectLst/>
                <a:latin typeface="+mn-lt"/>
                <a:ea typeface="+mn-ea"/>
                <a:cs typeface="+mn-cs"/>
              </a:rPr>
              <a:t>、</a:t>
            </a:r>
            <a:r>
              <a:rPr lang="en-GB" altLang="zh-CN" sz="1200" b="0" i="0" kern="1200" dirty="0" err="1">
                <a:solidFill>
                  <a:schemeClr val="tx1"/>
                </a:solidFill>
                <a:effectLst/>
                <a:latin typeface="+mn-lt"/>
                <a:ea typeface="+mn-ea"/>
                <a:cs typeface="+mn-cs"/>
              </a:rPr>
              <a:t>cuid</a:t>
            </a:r>
            <a:r>
              <a:rPr lang="en-GB" altLang="zh-CN" sz="1200" b="0" i="0" kern="1200" dirty="0">
                <a:solidFill>
                  <a:schemeClr val="tx1"/>
                </a:solidFill>
                <a:effectLst/>
                <a:latin typeface="+mn-lt"/>
                <a:ea typeface="+mn-ea"/>
                <a:cs typeface="+mn-cs"/>
              </a:rPr>
              <a:t> </a:t>
            </a:r>
            <a:r>
              <a:rPr kumimoji="1" lang="en-US" altLang="zh-CN" dirty="0" err="1"/>
              <a:t>NULLbd</a:t>
            </a:r>
            <a:r>
              <a:rPr kumimoji="1" lang="zh-CN" altLang="en-US" dirty="0"/>
              <a:t>。</a:t>
            </a:r>
            <a:endParaRPr kumimoji="1" lang="en-US" altLang="zh-CN" dirty="0"/>
          </a:p>
          <a:p>
            <a:r>
              <a:rPr kumimoji="1" lang="zh-CN" altLang="en-US" dirty="0"/>
              <a:t>大搜推行红线计划，对于部分开启了隐私保护的用户的检索日志将不再携带个人</a:t>
            </a:r>
            <a:r>
              <a:rPr kumimoji="1" lang="en-US" altLang="zh-CN" dirty="0"/>
              <a:t>id</a:t>
            </a:r>
            <a:r>
              <a:rPr kumimoji="1" lang="zh-CN" altLang="en-US" dirty="0"/>
              <a:t>信息，会造成一定的线上误过，因此调整线上及空</a:t>
            </a:r>
            <a:r>
              <a:rPr kumimoji="1" lang="en-US" altLang="zh-CN" dirty="0"/>
              <a:t>cookie</a:t>
            </a:r>
            <a:r>
              <a:rPr kumimoji="1" lang="zh-CN" altLang="en-US" dirty="0"/>
              <a:t>的检索策略，在相关策略中排出</a:t>
            </a:r>
            <a:r>
              <a:rPr kumimoji="1" lang="en-US" altLang="zh-CN" dirty="0" err="1"/>
              <a:t>Skip_personal_info</a:t>
            </a:r>
            <a:r>
              <a:rPr kumimoji="1" lang="en-US" altLang="zh-CN" dirty="0"/>
              <a:t>=1</a:t>
            </a:r>
            <a:r>
              <a:rPr kumimoji="1" lang="zh-CN" altLang="en-US" dirty="0"/>
              <a:t>的情况。</a:t>
            </a:r>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53</a:t>
            </a:fld>
            <a:endParaRPr kumimoji="1"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实现方式：</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54</a:t>
            </a:fld>
            <a:endParaRPr kumimoji="1"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实现方式：</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55</a:t>
            </a:fld>
            <a:endParaRPr kumimoji="1"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有些情况下，可能当前段的前一段没有累积量，但这并不影响计算，只需要用离当前段最近的有值历史段的统计量计算前一段的统计量即可。</a:t>
            </a:r>
            <a:endParaRPr lang="en-US" altLang="zh-CN" dirty="0"/>
          </a:p>
          <a:p>
            <a:endParaRPr lang="en-US" altLang="zh-CN" dirty="0"/>
          </a:p>
          <a:p>
            <a:r>
              <a:rPr lang="zh-CN" altLang="en-US" dirty="0"/>
              <a:t>知道这些信息后其实就知道特征值是怎么计算的了：</a:t>
            </a:r>
            <a:endParaRPr lang="en-US" altLang="zh-CN" dirty="0"/>
          </a:p>
          <a:p>
            <a:pPr marL="171450" indent="-171450">
              <a:buFontTx/>
              <a:buChar char="-"/>
            </a:pPr>
            <a:r>
              <a:rPr lang="zh-CN" altLang="en-US" dirty="0"/>
              <a:t>如果下一条日志在当前段中，直接对累积量累加即可</a:t>
            </a:r>
            <a:endParaRPr lang="en-US" altLang="zh-CN" dirty="0"/>
          </a:p>
          <a:p>
            <a:pPr marL="171450" indent="-171450">
              <a:buFontTx/>
              <a:buChar char="-"/>
            </a:pPr>
            <a:r>
              <a:rPr lang="zh-CN" altLang="en-US" dirty="0"/>
              <a:t>如果下一条日志在当前段的后面并且所处的段与当前段间距不超过</a:t>
            </a:r>
            <a:r>
              <a:rPr lang="en-US" altLang="zh-CN" dirty="0"/>
              <a:t>N</a:t>
            </a:r>
            <a:r>
              <a:rPr lang="zh-CN" altLang="en-US" dirty="0"/>
              <a:t>，则根据当前段的信息计算日志所在段并作为该段的前一段统计量，然后开始对该段的累积量计数</a:t>
            </a:r>
            <a:endParaRPr lang="en-US" altLang="zh-CN" dirty="0"/>
          </a:p>
          <a:p>
            <a:pPr marL="171450" indent="-171450">
              <a:buFontTx/>
              <a:buChar char="-"/>
            </a:pPr>
            <a:r>
              <a:rPr lang="zh-CN" altLang="en-US" dirty="0"/>
              <a:t>如果下一条日志所在段与当前段间距超过</a:t>
            </a:r>
            <a:r>
              <a:rPr lang="en-US" altLang="zh-CN" dirty="0"/>
              <a:t>N</a:t>
            </a:r>
            <a:r>
              <a:rPr lang="zh-CN" altLang="en-US" dirty="0"/>
              <a:t>，则将该段的历史影响量置</a:t>
            </a:r>
            <a:r>
              <a:rPr lang="en-US" altLang="zh-CN" dirty="0"/>
              <a:t>0</a:t>
            </a:r>
            <a:r>
              <a:rPr lang="zh-CN" altLang="en-US" dirty="0"/>
              <a:t>，并开始对该段的累积量计数</a:t>
            </a:r>
            <a:endParaRPr lang="en-US" altLang="zh-CN"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56</a:t>
            </a:fld>
            <a:endParaRPr kumimoji="1"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0" i="0" u="none" strike="noStrike" kern="1200" dirty="0">
                <a:solidFill>
                  <a:schemeClr val="dk1"/>
                </a:solidFill>
                <a:effectLst/>
                <a:latin typeface="+mn-lt"/>
                <a:ea typeface="+mn-ea"/>
                <a:cs typeface="+mn-cs"/>
              </a:rPr>
              <a:t>1</a:t>
            </a:r>
            <a:r>
              <a:rPr lang="zh-CN" altLang="en-US" sz="1200" b="0" i="0" u="none" strike="noStrike" kern="1200" dirty="0">
                <a:solidFill>
                  <a:schemeClr val="dk1"/>
                </a:solidFill>
                <a:effectLst/>
                <a:latin typeface="+mn-lt"/>
                <a:ea typeface="+mn-ea"/>
                <a:cs typeface="+mn-cs"/>
              </a:rPr>
              <a:t>、</a:t>
            </a:r>
            <a:r>
              <a:rPr lang="en-US" altLang="zh-CN" sz="1200" b="0" i="0" u="none" strike="noStrike" kern="1200" dirty="0">
                <a:solidFill>
                  <a:schemeClr val="dk1"/>
                </a:solidFill>
                <a:effectLst/>
                <a:latin typeface="+mn-lt"/>
                <a:ea typeface="+mn-ea"/>
                <a:cs typeface="+mn-cs"/>
              </a:rPr>
              <a:t>29</a:t>
            </a:r>
            <a:r>
              <a:rPr lang="zh-CN" altLang="en-US" sz="1200" b="0" i="0" u="none" strike="noStrike" kern="1200" dirty="0">
                <a:solidFill>
                  <a:schemeClr val="dk1"/>
                </a:solidFill>
                <a:effectLst/>
                <a:latin typeface="+mn-lt"/>
                <a:ea typeface="+mn-ea"/>
                <a:cs typeface="+mn-cs"/>
              </a:rPr>
              <a:t>（直通车）、</a:t>
            </a:r>
            <a:r>
              <a:rPr lang="en-US" altLang="zh-CN" sz="1200" b="0" i="0" u="none" strike="noStrike" kern="1200" dirty="0">
                <a:solidFill>
                  <a:schemeClr val="dk1"/>
                </a:solidFill>
                <a:effectLst/>
                <a:latin typeface="+mn-lt"/>
                <a:ea typeface="+mn-ea"/>
                <a:cs typeface="+mn-cs"/>
              </a:rPr>
              <a:t>33</a:t>
            </a:r>
            <a:r>
              <a:rPr lang="zh-CN" altLang="en-US" sz="1200" b="0" i="0" u="none" strike="noStrike" kern="1200" dirty="0">
                <a:solidFill>
                  <a:schemeClr val="dk1"/>
                </a:solidFill>
                <a:effectLst/>
                <a:latin typeface="+mn-lt"/>
                <a:ea typeface="+mn-ea"/>
                <a:cs typeface="+mn-cs"/>
              </a:rPr>
              <a:t>（聚屏</a:t>
            </a:r>
            <a:r>
              <a:rPr lang="en-GB" altLang="zh-CN" sz="1200" b="0" i="0" u="none" strike="noStrike" kern="1200" dirty="0" err="1">
                <a:solidFill>
                  <a:schemeClr val="dk1"/>
                </a:solidFill>
                <a:effectLst/>
                <a:latin typeface="+mn-lt"/>
                <a:ea typeface="+mn-ea"/>
                <a:cs typeface="+mn-cs"/>
              </a:rPr>
              <a:t>cpm</a:t>
            </a:r>
            <a:r>
              <a:rPr lang="zh-CN" altLang="en-GB" sz="1200" b="0" i="0" u="none" strike="noStrike" kern="1200" dirty="0">
                <a:solidFill>
                  <a:schemeClr val="dk1"/>
                </a:solidFill>
                <a:effectLst/>
                <a:latin typeface="+mn-lt"/>
                <a:ea typeface="+mn-ea"/>
                <a:cs typeface="+mn-cs"/>
              </a:rPr>
              <a:t>）、</a:t>
            </a:r>
            <a:r>
              <a:rPr lang="en-GB" altLang="zh-CN" sz="1200" b="0" i="0" u="none" strike="noStrike" kern="1200" dirty="0">
                <a:solidFill>
                  <a:schemeClr val="dk1"/>
                </a:solidFill>
                <a:effectLst/>
                <a:latin typeface="+mn-lt"/>
                <a:ea typeface="+mn-ea"/>
                <a:cs typeface="+mn-cs"/>
              </a:rPr>
              <a:t>34</a:t>
            </a:r>
            <a:r>
              <a:rPr lang="zh-CN" altLang="en-GB" sz="1200" b="0" i="0" u="none" strike="noStrike" kern="1200" dirty="0">
                <a:solidFill>
                  <a:schemeClr val="dk1"/>
                </a:solidFill>
                <a:effectLst/>
                <a:latin typeface="+mn-lt"/>
                <a:ea typeface="+mn-ea"/>
                <a:cs typeface="+mn-cs"/>
              </a:rPr>
              <a:t>（</a:t>
            </a:r>
            <a:r>
              <a:rPr lang="zh-CN" altLang="en-US" sz="1200" b="0" i="0" u="none" strike="noStrike" kern="1200" dirty="0">
                <a:solidFill>
                  <a:schemeClr val="dk1"/>
                </a:solidFill>
                <a:effectLst/>
                <a:latin typeface="+mn-lt"/>
                <a:ea typeface="+mn-ea"/>
                <a:cs typeface="+mn-cs"/>
              </a:rPr>
              <a:t>凤巢视频</a:t>
            </a:r>
            <a:r>
              <a:rPr lang="en-GB" altLang="zh-CN" sz="1200" b="0" i="0" u="none" strike="noStrike" kern="1200" dirty="0">
                <a:solidFill>
                  <a:schemeClr val="dk1"/>
                </a:solidFill>
                <a:effectLst/>
                <a:latin typeface="+mn-lt"/>
                <a:ea typeface="+mn-ea"/>
                <a:cs typeface="+mn-cs"/>
              </a:rPr>
              <a:t>logo</a:t>
            </a:r>
            <a:r>
              <a:rPr lang="zh-CN" altLang="en-GB" sz="1200" b="0" i="0" u="none" strike="noStrike" kern="1200" dirty="0">
                <a:solidFill>
                  <a:schemeClr val="dk1"/>
                </a:solidFill>
                <a:effectLst/>
                <a:latin typeface="+mn-lt"/>
                <a:ea typeface="+mn-ea"/>
                <a:cs typeface="+mn-cs"/>
              </a:rPr>
              <a:t>）、</a:t>
            </a:r>
            <a:r>
              <a:rPr lang="en-GB" altLang="zh-CN" sz="1200" b="0" i="0" u="none" strike="noStrike" kern="1200" dirty="0">
                <a:solidFill>
                  <a:schemeClr val="dk1"/>
                </a:solidFill>
                <a:effectLst/>
                <a:latin typeface="+mn-lt"/>
                <a:ea typeface="+mn-ea"/>
                <a:cs typeface="+mn-cs"/>
              </a:rPr>
              <a:t>36</a:t>
            </a:r>
            <a:r>
              <a:rPr lang="zh-CN" altLang="en-GB" sz="1200" b="0" i="0" u="none" strike="noStrike" kern="1200" dirty="0">
                <a:solidFill>
                  <a:schemeClr val="dk1"/>
                </a:solidFill>
                <a:effectLst/>
                <a:latin typeface="+mn-lt"/>
                <a:ea typeface="+mn-ea"/>
                <a:cs typeface="+mn-cs"/>
              </a:rPr>
              <a:t>（</a:t>
            </a:r>
            <a:r>
              <a:rPr lang="zh-CN" altLang="en-US" sz="1200" b="0" i="0" u="none" strike="noStrike" kern="1200" dirty="0">
                <a:solidFill>
                  <a:schemeClr val="dk1"/>
                </a:solidFill>
                <a:effectLst/>
                <a:latin typeface="+mn-lt"/>
                <a:ea typeface="+mn-ea"/>
                <a:cs typeface="+mn-cs"/>
              </a:rPr>
              <a:t>凤巢咨询闭环</a:t>
            </a:r>
            <a:r>
              <a:rPr lang="en-GB" altLang="zh-CN" sz="1200" b="0" i="0" u="none" strike="noStrike" kern="1200" dirty="0">
                <a:solidFill>
                  <a:schemeClr val="dk1"/>
                </a:solidFill>
                <a:effectLst/>
                <a:latin typeface="+mn-lt"/>
                <a:ea typeface="+mn-ea"/>
                <a:cs typeface="+mn-cs"/>
              </a:rPr>
              <a:t>CPA</a:t>
            </a:r>
            <a:r>
              <a:rPr lang="zh-CN" altLang="en-GB" sz="1200" b="0" i="0" u="none" strike="noStrike" kern="1200" dirty="0">
                <a:solidFill>
                  <a:schemeClr val="dk1"/>
                </a:solidFill>
                <a:effectLst/>
                <a:latin typeface="+mn-lt"/>
                <a:ea typeface="+mn-ea"/>
                <a:cs typeface="+mn-cs"/>
              </a:rPr>
              <a:t>）、</a:t>
            </a:r>
            <a:r>
              <a:rPr lang="en-GB" altLang="zh-CN" sz="1200" b="0" i="0" u="none" strike="noStrike" kern="1200" dirty="0">
                <a:solidFill>
                  <a:schemeClr val="dk1"/>
                </a:solidFill>
                <a:effectLst/>
                <a:latin typeface="+mn-lt"/>
                <a:ea typeface="+mn-ea"/>
                <a:cs typeface="+mn-cs"/>
              </a:rPr>
              <a:t>37</a:t>
            </a:r>
            <a:r>
              <a:rPr lang="zh-CN" altLang="en-GB" sz="1200" b="0" i="0" u="none" strike="noStrike" kern="1200" dirty="0">
                <a:solidFill>
                  <a:schemeClr val="dk1"/>
                </a:solidFill>
                <a:effectLst/>
                <a:latin typeface="+mn-lt"/>
                <a:ea typeface="+mn-ea"/>
                <a:cs typeface="+mn-cs"/>
              </a:rPr>
              <a:t>（</a:t>
            </a:r>
            <a:r>
              <a:rPr lang="en-GB" altLang="zh-CN" sz="1200" b="0" i="0" u="none" strike="noStrike" kern="1200" dirty="0">
                <a:solidFill>
                  <a:schemeClr val="dk1"/>
                </a:solidFill>
                <a:effectLst/>
                <a:latin typeface="+mn-lt"/>
                <a:ea typeface="+mn-ea"/>
                <a:cs typeface="+mn-cs"/>
              </a:rPr>
              <a:t>AA</a:t>
            </a:r>
            <a:r>
              <a:rPr lang="zh-CN" altLang="en-US" sz="1200" b="0" i="0" u="none" strike="noStrike" kern="1200" dirty="0">
                <a:solidFill>
                  <a:schemeClr val="dk1"/>
                </a:solidFill>
                <a:effectLst/>
                <a:latin typeface="+mn-lt"/>
                <a:ea typeface="+mn-ea"/>
                <a:cs typeface="+mn-cs"/>
              </a:rPr>
              <a:t>表单）</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57</a:t>
            </a:fld>
            <a:endParaRPr kumimoji="1"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实现方式：</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58</a:t>
            </a:fld>
            <a:endParaRPr kumimoji="1"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sz="1200" b="0" i="0" u="none" strike="noStrike" kern="1200" dirty="0">
                <a:solidFill>
                  <a:schemeClr val="tx1"/>
                </a:solidFill>
                <a:effectLst/>
                <a:latin typeface="+mn-lt"/>
                <a:ea typeface="+mn-ea"/>
                <a:cs typeface="+mn-cs"/>
              </a:rPr>
              <a:t>remain</a:t>
            </a:r>
            <a:r>
              <a:rPr lang="zh-CN" altLang="en-US" sz="1200" b="0" i="0" u="none" strike="noStrike" kern="1200" dirty="0">
                <a:solidFill>
                  <a:schemeClr val="tx1"/>
                </a:solidFill>
                <a:effectLst/>
                <a:latin typeface="+mn-lt"/>
                <a:ea typeface="+mn-ea"/>
                <a:cs typeface="+mn-cs"/>
              </a:rPr>
              <a:t>的作用是当维度对象在参考空间或过滤空间的累积量超出</a:t>
            </a:r>
            <a:r>
              <a:rPr lang="en-GB" altLang="zh-CN" sz="1200" b="0" i="0" u="none" strike="noStrike" kern="1200" dirty="0">
                <a:solidFill>
                  <a:schemeClr val="tx1"/>
                </a:solidFill>
                <a:effectLst/>
                <a:latin typeface="+mn-lt"/>
                <a:ea typeface="+mn-ea"/>
                <a:cs typeface="+mn-cs"/>
              </a:rPr>
              <a:t>remain</a:t>
            </a:r>
            <a:r>
              <a:rPr lang="zh-CN" altLang="en-US" sz="1200" b="0" i="0" u="none" strike="noStrike" kern="1200" dirty="0">
                <a:solidFill>
                  <a:schemeClr val="tx1"/>
                </a:solidFill>
                <a:effectLst/>
                <a:latin typeface="+mn-lt"/>
                <a:ea typeface="+mn-ea"/>
                <a:cs typeface="+mn-cs"/>
              </a:rPr>
              <a:t>值后才开始过滤</a:t>
            </a:r>
          </a:p>
          <a:p>
            <a:r>
              <a:rPr lang="en-GB" altLang="zh-CN" sz="1200" b="0" i="0" u="none" strike="noStrike" kern="1200" dirty="0" err="1">
                <a:solidFill>
                  <a:schemeClr val="tx1"/>
                </a:solidFill>
                <a:effectLst/>
                <a:latin typeface="+mn-lt"/>
                <a:ea typeface="+mn-ea"/>
                <a:cs typeface="+mn-cs"/>
              </a:rPr>
              <a:t>remain_numerator</a:t>
            </a:r>
            <a:r>
              <a:rPr lang="zh-CN" altLang="en-US" sz="1200" b="0" i="0" u="none" strike="noStrike" kern="1200" dirty="0">
                <a:solidFill>
                  <a:schemeClr val="tx1"/>
                </a:solidFill>
                <a:effectLst/>
                <a:latin typeface="+mn-lt"/>
                <a:ea typeface="+mn-ea"/>
                <a:cs typeface="+mn-cs"/>
              </a:rPr>
              <a:t>  </a:t>
            </a:r>
            <a:r>
              <a:rPr lang="en-GB" altLang="zh-CN" dirty="0" err="1"/>
              <a:t>remain_numerator</a:t>
            </a:r>
            <a:r>
              <a:rPr lang="en-GB" altLang="zh-CN" dirty="0"/>
              <a:t>=0</a:t>
            </a:r>
            <a:r>
              <a:rPr lang="zh-CN" altLang="en-US" dirty="0"/>
              <a:t>代表分母大于</a:t>
            </a:r>
            <a:r>
              <a:rPr lang="en-GB" altLang="zh-CN" dirty="0"/>
              <a:t>remain</a:t>
            </a:r>
            <a:r>
              <a:rPr lang="zh-CN" altLang="en-US" dirty="0"/>
              <a:t>才会计算</a:t>
            </a:r>
            <a:r>
              <a:rPr lang="en-GB" altLang="zh-CN" dirty="0"/>
              <a:t>ratio, </a:t>
            </a:r>
            <a:r>
              <a:rPr lang="en-GB" altLang="zh-CN" dirty="0" err="1"/>
              <a:t>remain_numerator</a:t>
            </a:r>
            <a:r>
              <a:rPr lang="en-GB" altLang="zh-CN" dirty="0"/>
              <a:t>=1</a:t>
            </a:r>
            <a:r>
              <a:rPr lang="zh-CN" altLang="en-US" dirty="0"/>
              <a:t>代表分子大于</a:t>
            </a:r>
            <a:r>
              <a:rPr lang="en-GB" altLang="zh-CN" dirty="0"/>
              <a:t>remain</a:t>
            </a:r>
            <a:r>
              <a:rPr lang="zh-CN" altLang="en-US" dirty="0"/>
              <a:t>才会计算</a:t>
            </a:r>
            <a:r>
              <a:rPr lang="en-GB" altLang="zh-CN" dirty="0"/>
              <a:t>ratio</a:t>
            </a:r>
            <a:endParaRPr lang="en-GB" altLang="zh-CN" sz="1200" b="0" i="0" u="none" strike="noStrike" kern="1200" dirty="0">
              <a:solidFill>
                <a:schemeClr val="tx1"/>
              </a:solidFill>
              <a:effectLst/>
              <a:latin typeface="+mn-lt"/>
              <a:ea typeface="+mn-ea"/>
              <a:cs typeface="+mn-cs"/>
            </a:endParaRPr>
          </a:p>
          <a:p>
            <a:r>
              <a:rPr lang="zh-CN" altLang="en-US" sz="1200" b="0" i="0" u="none" strike="noStrike" kern="1200" dirty="0">
                <a:solidFill>
                  <a:schemeClr val="tx1"/>
                </a:solidFill>
                <a:effectLst/>
                <a:latin typeface="+mn-lt"/>
                <a:ea typeface="+mn-ea"/>
                <a:cs typeface="+mn-cs"/>
              </a:rPr>
              <a:t>和</a:t>
            </a:r>
            <a:r>
              <a:rPr lang="en-GB" altLang="zh-CN" sz="1200" b="0" i="0" u="none" strike="noStrike" kern="1200" dirty="0" err="1">
                <a:solidFill>
                  <a:schemeClr val="tx1"/>
                </a:solidFill>
                <a:effectLst/>
                <a:latin typeface="+mn-lt"/>
                <a:ea typeface="+mn-ea"/>
                <a:cs typeface="+mn-cs"/>
              </a:rPr>
              <a:t>simple_ratio</a:t>
            </a:r>
            <a:r>
              <a:rPr lang="zh-CN" altLang="en-US" sz="1200" b="0" i="0" u="none" strike="noStrike" kern="1200" dirty="0">
                <a:solidFill>
                  <a:schemeClr val="tx1"/>
                </a:solidFill>
                <a:effectLst/>
                <a:latin typeface="+mn-lt"/>
                <a:ea typeface="+mn-ea"/>
                <a:cs typeface="+mn-cs"/>
              </a:rPr>
              <a:t>的区别在于先后关系，先判断分子或分母的累积大于</a:t>
            </a:r>
            <a:r>
              <a:rPr lang="en-GB" altLang="zh-CN" sz="1200" b="0" i="0" u="none" strike="noStrike" kern="1200" dirty="0">
                <a:solidFill>
                  <a:schemeClr val="tx1"/>
                </a:solidFill>
                <a:effectLst/>
                <a:latin typeface="+mn-lt"/>
                <a:ea typeface="+mn-ea"/>
                <a:cs typeface="+mn-cs"/>
              </a:rPr>
              <a:t>remain</a:t>
            </a:r>
            <a:r>
              <a:rPr lang="zh-CN" altLang="en-US" sz="1200" b="0" i="0" u="none" strike="noStrike" kern="1200" dirty="0">
                <a:solidFill>
                  <a:schemeClr val="tx1"/>
                </a:solidFill>
                <a:effectLst/>
                <a:latin typeface="+mn-lt"/>
                <a:ea typeface="+mn-ea"/>
                <a:cs typeface="+mn-cs"/>
              </a:rPr>
              <a:t>之后，才会更进一步来到策略部分做比例再跟阈值进行比较。</a:t>
            </a:r>
          </a:p>
          <a:p>
            <a:br>
              <a:rPr lang="zh-CN" altLang="en-US" dirty="0"/>
            </a:br>
            <a:r>
              <a:rPr lang="zh-CN" altLang="en-US" sz="1200" b="0" i="0" u="none" strike="noStrike" kern="1200" dirty="0">
                <a:solidFill>
                  <a:schemeClr val="tx1"/>
                </a:solidFill>
                <a:effectLst/>
                <a:latin typeface="+mn-lt"/>
                <a:ea typeface="+mn-ea"/>
                <a:cs typeface="+mn-cs"/>
              </a:rPr>
              <a:t>即在</a:t>
            </a:r>
            <a:r>
              <a:rPr lang="en-GB" altLang="zh-CN" sz="1200" b="0" i="0" u="none" strike="noStrike" kern="1200" dirty="0" err="1">
                <a:solidFill>
                  <a:schemeClr val="tx1"/>
                </a:solidFill>
                <a:effectLst/>
                <a:latin typeface="+mn-lt"/>
                <a:ea typeface="+mn-ea"/>
                <a:cs typeface="+mn-cs"/>
              </a:rPr>
              <a:t>feature.conf</a:t>
            </a:r>
            <a:r>
              <a:rPr lang="zh-CN" altLang="en-US" sz="1200" b="0" i="0" u="none" strike="noStrike" kern="1200" dirty="0">
                <a:solidFill>
                  <a:schemeClr val="tx1"/>
                </a:solidFill>
                <a:effectLst/>
                <a:latin typeface="+mn-lt"/>
                <a:ea typeface="+mn-ea"/>
                <a:cs typeface="+mn-cs"/>
              </a:rPr>
              <a:t>中判断分子</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分母的累积值是否大于</a:t>
            </a:r>
            <a:r>
              <a:rPr lang="en-GB" altLang="zh-CN" sz="1200" b="0" i="0" u="none" strike="noStrike" kern="1200" dirty="0">
                <a:solidFill>
                  <a:schemeClr val="tx1"/>
                </a:solidFill>
                <a:effectLst/>
                <a:latin typeface="+mn-lt"/>
                <a:ea typeface="+mn-ea"/>
                <a:cs typeface="+mn-cs"/>
              </a:rPr>
              <a:t>remain,</a:t>
            </a:r>
            <a:r>
              <a:rPr lang="zh-CN" altLang="en-US" sz="1200" b="0" i="0" u="none" strike="noStrike" kern="1200" dirty="0">
                <a:solidFill>
                  <a:schemeClr val="tx1"/>
                </a:solidFill>
                <a:effectLst/>
                <a:latin typeface="+mn-lt"/>
                <a:ea typeface="+mn-ea"/>
                <a:cs typeface="+mn-cs"/>
              </a:rPr>
              <a:t>然后把</a:t>
            </a:r>
            <a:r>
              <a:rPr lang="en-GB" altLang="zh-CN" sz="1200" b="0" i="0" u="none" strike="noStrike" kern="1200" dirty="0" err="1">
                <a:solidFill>
                  <a:schemeClr val="tx1"/>
                </a:solidFill>
                <a:effectLst/>
                <a:latin typeface="+mn-lt"/>
                <a:ea typeface="+mn-ea"/>
                <a:cs typeface="+mn-cs"/>
              </a:rPr>
              <a:t>fea.valid</a:t>
            </a:r>
            <a:r>
              <a:rPr lang="zh-CN" altLang="en-US" sz="1200" b="0" i="0" u="none" strike="noStrike" kern="1200" dirty="0">
                <a:solidFill>
                  <a:schemeClr val="tx1"/>
                </a:solidFill>
                <a:effectLst/>
                <a:latin typeface="+mn-lt"/>
                <a:ea typeface="+mn-ea"/>
                <a:cs typeface="+mn-cs"/>
              </a:rPr>
              <a:t>设置成</a:t>
            </a:r>
            <a:r>
              <a:rPr lang="en-GB" altLang="zh-CN" sz="1200" b="0" i="0" u="none" strike="noStrike" kern="1200" dirty="0">
                <a:solidFill>
                  <a:schemeClr val="tx1"/>
                </a:solidFill>
                <a:effectLst/>
                <a:latin typeface="+mn-lt"/>
                <a:ea typeface="+mn-ea"/>
                <a:cs typeface="+mn-cs"/>
              </a:rPr>
              <a:t>true</a:t>
            </a:r>
            <a:r>
              <a:rPr lang="zh-CN" altLang="en-US" sz="1200" b="0" i="0" u="none" strike="noStrike" kern="1200" dirty="0">
                <a:solidFill>
                  <a:schemeClr val="tx1"/>
                </a:solidFill>
                <a:effectLst/>
                <a:latin typeface="+mn-lt"/>
                <a:ea typeface="+mn-ea"/>
                <a:cs typeface="+mn-cs"/>
              </a:rPr>
              <a:t>或者</a:t>
            </a:r>
            <a:r>
              <a:rPr lang="en-GB" altLang="zh-CN" sz="1200" b="0" i="0" u="none" strike="noStrike" kern="1200" dirty="0">
                <a:solidFill>
                  <a:schemeClr val="tx1"/>
                </a:solidFill>
                <a:effectLst/>
                <a:latin typeface="+mn-lt"/>
                <a:ea typeface="+mn-ea"/>
                <a:cs typeface="+mn-cs"/>
              </a:rPr>
              <a:t>false,</a:t>
            </a:r>
            <a:r>
              <a:rPr lang="zh-CN" altLang="en-US" sz="1200" b="0" i="0" u="none" strike="noStrike" kern="1200" dirty="0">
                <a:solidFill>
                  <a:schemeClr val="tx1"/>
                </a:solidFill>
                <a:effectLst/>
                <a:latin typeface="+mn-lt"/>
                <a:ea typeface="+mn-ea"/>
                <a:cs typeface="+mn-cs"/>
              </a:rPr>
              <a:t>然后在</a:t>
            </a:r>
            <a:r>
              <a:rPr lang="en-GB" altLang="zh-CN" sz="1200" b="0" i="0" u="none" strike="noStrike" kern="1200" dirty="0" err="1">
                <a:solidFill>
                  <a:schemeClr val="tx1"/>
                </a:solidFill>
                <a:effectLst/>
                <a:latin typeface="+mn-lt"/>
                <a:ea typeface="+mn-ea"/>
                <a:cs typeface="+mn-cs"/>
              </a:rPr>
              <a:t>policy.conf</a:t>
            </a:r>
            <a:r>
              <a:rPr lang="zh-CN" altLang="en-US" sz="1200" b="0" i="0" u="none" strike="noStrike" kern="1200" dirty="0">
                <a:solidFill>
                  <a:schemeClr val="tx1"/>
                </a:solidFill>
                <a:effectLst/>
                <a:latin typeface="+mn-lt"/>
                <a:ea typeface="+mn-ea"/>
                <a:cs typeface="+mn-cs"/>
              </a:rPr>
              <a:t>中用</a:t>
            </a:r>
            <a:r>
              <a:rPr lang="en-GB" altLang="zh-CN" sz="1200" b="0" i="0" u="none" strike="noStrike" kern="1200" dirty="0" err="1">
                <a:solidFill>
                  <a:schemeClr val="tx1"/>
                </a:solidFill>
                <a:effectLst/>
                <a:latin typeface="+mn-lt"/>
                <a:ea typeface="+mn-ea"/>
                <a:cs typeface="+mn-cs"/>
              </a:rPr>
              <a:t>fea.valid</a:t>
            </a:r>
            <a:r>
              <a:rPr lang="zh-CN" altLang="en-GB"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因此以</a:t>
            </a:r>
            <a:r>
              <a:rPr lang="en-GB" altLang="zh-CN" sz="1200" b="0" i="0" u="none" strike="noStrike" kern="1200" dirty="0">
                <a:solidFill>
                  <a:schemeClr val="tx1"/>
                </a:solidFill>
                <a:effectLst/>
                <a:latin typeface="+mn-lt"/>
                <a:ea typeface="+mn-ea"/>
                <a:cs typeface="+mn-cs"/>
              </a:rPr>
              <a:t>feature</a:t>
            </a:r>
            <a:r>
              <a:rPr lang="zh-CN" altLang="en-US" sz="1200" b="0" i="0" u="none" strike="noStrike" kern="1200" dirty="0">
                <a:solidFill>
                  <a:schemeClr val="tx1"/>
                </a:solidFill>
                <a:effectLst/>
                <a:latin typeface="+mn-lt"/>
                <a:ea typeface="+mn-ea"/>
                <a:cs typeface="+mn-cs"/>
              </a:rPr>
              <a:t>中的</a:t>
            </a:r>
            <a:r>
              <a:rPr lang="en-GB" altLang="zh-CN" sz="1200" b="0" i="0" u="none" strike="noStrike" kern="1200" dirty="0">
                <a:solidFill>
                  <a:schemeClr val="tx1"/>
                </a:solidFill>
                <a:effectLst/>
                <a:latin typeface="+mn-lt"/>
                <a:ea typeface="+mn-ea"/>
                <a:cs typeface="+mn-cs"/>
              </a:rPr>
              <a:t>remain</a:t>
            </a:r>
            <a:r>
              <a:rPr lang="zh-CN" altLang="en-US" sz="1200" b="0" i="0" u="none" strike="noStrike" kern="1200" dirty="0">
                <a:solidFill>
                  <a:schemeClr val="tx1"/>
                </a:solidFill>
                <a:effectLst/>
                <a:latin typeface="+mn-lt"/>
                <a:ea typeface="+mn-ea"/>
                <a:cs typeface="+mn-cs"/>
              </a:rPr>
              <a:t>为准。</a:t>
            </a:r>
            <a:endParaRPr lang="en-US" altLang="zh-CN" sz="1200" b="0" i="0" u="none" strike="noStrike" kern="1200" dirty="0">
              <a:solidFill>
                <a:schemeClr val="tx1"/>
              </a:solidFill>
              <a:effectLst/>
              <a:latin typeface="+mn-lt"/>
              <a:ea typeface="+mn-ea"/>
              <a:cs typeface="+mn-cs"/>
            </a:endParaRPr>
          </a:p>
          <a:p>
            <a:endParaRPr kumimoji="1" lang="en-US" altLang="zh-CN" sz="1200" b="0" i="0" u="none" strike="noStrike" kern="1200" dirty="0">
              <a:solidFill>
                <a:schemeClr val="tx1"/>
              </a:solidFill>
              <a:effectLst/>
              <a:latin typeface="+mn-lt"/>
              <a:ea typeface="+mn-ea"/>
              <a:cs typeface="+mn-cs"/>
            </a:endParaRPr>
          </a:p>
          <a:p>
            <a:r>
              <a:rPr kumimoji="1" lang="en-US" altLang="zh-CN" dirty="0" err="1"/>
              <a:t>Partner_tag</a:t>
            </a:r>
            <a:r>
              <a:rPr kumimoji="1" lang="en-US" altLang="zh-CN" dirty="0"/>
              <a:t>:</a:t>
            </a:r>
            <a:r>
              <a:rPr kumimoji="1" lang="zh-CN" altLang="en-US" dirty="0"/>
              <a:t>更高维度的计费名，同一个公司只有一个</a:t>
            </a:r>
            <a:endParaRPr kumimoji="1" lang="en-US" altLang="zh-CN" dirty="0"/>
          </a:p>
          <a:p>
            <a:endParaRPr kumimoji="1" lang="en-US" altLang="zh-CN" dirty="0"/>
          </a:p>
          <a:p>
            <a:r>
              <a:rPr kumimoji="1" lang="zh-CN" altLang="en-US" dirty="0"/>
              <a:t>两个</a:t>
            </a:r>
            <a:r>
              <a:rPr kumimoji="1" lang="en-US" altLang="zh-CN" dirty="0"/>
              <a:t>remain</a:t>
            </a:r>
            <a:r>
              <a:rPr kumimoji="1" lang="zh-CN" altLang="en-US" dirty="0"/>
              <a:t>的区别？</a:t>
            </a:r>
            <a:endParaRPr kumimoji="1" lang="en-US" altLang="zh-CN" dirty="0"/>
          </a:p>
          <a:p>
            <a:r>
              <a:rPr lang="en-GB" altLang="zh-CN" sz="1200" b="1" i="0" kern="1200" dirty="0">
                <a:solidFill>
                  <a:schemeClr val="tx1"/>
                </a:solidFill>
                <a:effectLst/>
                <a:latin typeface="+mn-lt"/>
                <a:ea typeface="+mn-ea"/>
                <a:cs typeface="+mn-cs"/>
              </a:rPr>
              <a:t>[@feature]</a:t>
            </a:r>
            <a:r>
              <a:rPr lang="zh-CN" altLang="en-US" sz="1200" b="1" i="0" kern="1200" dirty="0">
                <a:solidFill>
                  <a:schemeClr val="tx1"/>
                </a:solidFill>
                <a:effectLst/>
                <a:latin typeface="+mn-lt"/>
                <a:ea typeface="+mn-ea"/>
                <a:cs typeface="+mn-cs"/>
              </a:rPr>
              <a:t>下的</a:t>
            </a:r>
            <a:r>
              <a:rPr lang="en-GB" altLang="zh-CN" sz="1200" b="1" i="0" kern="1200" dirty="0">
                <a:solidFill>
                  <a:schemeClr val="tx1"/>
                </a:solidFill>
                <a:effectLst/>
                <a:latin typeface="+mn-lt"/>
                <a:ea typeface="+mn-ea"/>
                <a:cs typeface="+mn-cs"/>
              </a:rPr>
              <a:t>remain</a:t>
            </a:r>
            <a:r>
              <a:rPr lang="zh-CN" altLang="en-US" sz="1200" b="1" i="0" kern="1200" dirty="0">
                <a:solidFill>
                  <a:schemeClr val="tx1"/>
                </a:solidFill>
                <a:effectLst/>
                <a:latin typeface="+mn-lt"/>
                <a:ea typeface="+mn-ea"/>
                <a:cs typeface="+mn-cs"/>
              </a:rPr>
              <a:t>是</a:t>
            </a:r>
            <a:r>
              <a:rPr lang="en-GB" altLang="zh-CN" sz="1200" b="1" i="0" kern="1200" dirty="0">
                <a:solidFill>
                  <a:schemeClr val="tx1"/>
                </a:solidFill>
                <a:effectLst/>
                <a:latin typeface="+mn-lt"/>
                <a:ea typeface="+mn-ea"/>
                <a:cs typeface="+mn-cs"/>
              </a:rPr>
              <a:t>accumulator</a:t>
            </a:r>
            <a:r>
              <a:rPr lang="zh-CN" altLang="en-US" sz="1200" b="1" i="0" kern="1200" dirty="0">
                <a:solidFill>
                  <a:schemeClr val="tx1"/>
                </a:solidFill>
                <a:effectLst/>
                <a:latin typeface="+mn-lt"/>
                <a:ea typeface="+mn-ea"/>
                <a:cs typeface="+mn-cs"/>
              </a:rPr>
              <a:t>进行特征累计时使用的</a:t>
            </a:r>
            <a:r>
              <a:rPr lang="zh-CN" altLang="en-US" sz="1200" b="0" i="0" kern="1200" dirty="0">
                <a:solidFill>
                  <a:schemeClr val="tx1"/>
                </a:solidFill>
                <a:effectLst/>
                <a:latin typeface="+mn-lt"/>
                <a:ea typeface="+mn-ea"/>
                <a:cs typeface="+mn-cs"/>
              </a:rPr>
              <a:t>，如</a:t>
            </a:r>
            <a:r>
              <a:rPr lang="en-GB" altLang="zh-CN" sz="1200" b="0" i="0" kern="1200" dirty="0" err="1">
                <a:solidFill>
                  <a:schemeClr val="tx1"/>
                </a:solidFill>
                <a:effectLst/>
                <a:latin typeface="+mn-lt"/>
                <a:ea typeface="+mn-ea"/>
                <a:cs typeface="+mn-cs"/>
              </a:rPr>
              <a:t>fea</a:t>
            </a:r>
            <a:r>
              <a:rPr lang="en-GB" altLang="zh-CN" sz="1200" b="0" i="0" kern="1200" dirty="0">
                <a:solidFill>
                  <a:schemeClr val="tx1"/>
                </a:solidFill>
                <a:effectLst/>
                <a:latin typeface="+mn-lt"/>
                <a:ea typeface="+mn-ea"/>
                <a:cs typeface="+mn-cs"/>
              </a:rPr>
              <a:t>-&gt;</a:t>
            </a:r>
            <a:r>
              <a:rPr lang="en-GB" altLang="zh-CN" sz="1200" b="0" i="0" kern="1200" dirty="0" err="1">
                <a:solidFill>
                  <a:schemeClr val="tx1"/>
                </a:solidFill>
                <a:effectLst/>
                <a:latin typeface="+mn-lt"/>
                <a:ea typeface="+mn-ea"/>
                <a:cs typeface="+mn-cs"/>
              </a:rPr>
              <a:t>set_valid</a:t>
            </a:r>
            <a:r>
              <a:rPr lang="en-GB" altLang="zh-CN" sz="1200" b="0" i="0" kern="1200" dirty="0">
                <a:solidFill>
                  <a:schemeClr val="tx1"/>
                </a:solidFill>
                <a:effectLst/>
                <a:latin typeface="+mn-lt"/>
                <a:ea typeface="+mn-ea"/>
                <a:cs typeface="+mn-cs"/>
              </a:rPr>
              <a:t>(_</a:t>
            </a:r>
            <a:r>
              <a:rPr lang="en-GB" altLang="zh-CN" sz="1200" b="0" i="0" kern="1200" dirty="0" err="1">
                <a:solidFill>
                  <a:schemeClr val="tx1"/>
                </a:solidFill>
                <a:effectLst/>
                <a:latin typeface="+mn-lt"/>
                <a:ea typeface="+mn-ea"/>
                <a:cs typeface="+mn-cs"/>
              </a:rPr>
              <a:t>remain_numerator</a:t>
            </a:r>
            <a:r>
              <a:rPr lang="en-GB" altLang="zh-CN" sz="1200" b="0" i="0" kern="1200" dirty="0">
                <a:solidFill>
                  <a:schemeClr val="tx1"/>
                </a:solidFill>
                <a:effectLst/>
                <a:latin typeface="+mn-lt"/>
                <a:ea typeface="+mn-ea"/>
                <a:cs typeface="+mn-cs"/>
              </a:rPr>
              <a:t> ? </a:t>
            </a:r>
            <a:r>
              <a:rPr lang="en-GB" altLang="zh-CN" sz="1200" b="0" i="0" kern="1200" dirty="0" err="1">
                <a:solidFill>
                  <a:schemeClr val="tx1"/>
                </a:solidFill>
                <a:effectLst/>
                <a:latin typeface="+mn-lt"/>
                <a:ea typeface="+mn-ea"/>
                <a:cs typeface="+mn-cs"/>
              </a:rPr>
              <a:t>fea</a:t>
            </a:r>
            <a:r>
              <a:rPr lang="en-GB" altLang="zh-CN" sz="1200" b="0" i="0" kern="1200" dirty="0">
                <a:solidFill>
                  <a:schemeClr val="tx1"/>
                </a:solidFill>
                <a:effectLst/>
                <a:latin typeface="+mn-lt"/>
                <a:ea typeface="+mn-ea"/>
                <a:cs typeface="+mn-cs"/>
              </a:rPr>
              <a:t>-&gt;</a:t>
            </a:r>
            <a:r>
              <a:rPr lang="en-GB" altLang="zh-CN" sz="1200" b="0" i="0" kern="1200" dirty="0" err="1">
                <a:solidFill>
                  <a:schemeClr val="tx1"/>
                </a:solidFill>
                <a:effectLst/>
                <a:latin typeface="+mn-lt"/>
                <a:ea typeface="+mn-ea"/>
                <a:cs typeface="+mn-cs"/>
              </a:rPr>
              <a:t>filter_count</a:t>
            </a:r>
            <a:r>
              <a:rPr lang="en-GB" altLang="zh-CN" sz="1200" b="0" i="0" kern="1200" dirty="0">
                <a:solidFill>
                  <a:schemeClr val="tx1"/>
                </a:solidFill>
                <a:effectLst/>
                <a:latin typeface="+mn-lt"/>
                <a:ea typeface="+mn-ea"/>
                <a:cs typeface="+mn-cs"/>
              </a:rPr>
              <a:t>() &gt; _remain : </a:t>
            </a:r>
            <a:r>
              <a:rPr lang="en-GB" altLang="zh-CN" sz="1200" b="0" i="0" kern="1200" dirty="0" err="1">
                <a:solidFill>
                  <a:schemeClr val="tx1"/>
                </a:solidFill>
                <a:effectLst/>
                <a:latin typeface="+mn-lt"/>
                <a:ea typeface="+mn-ea"/>
                <a:cs typeface="+mn-cs"/>
              </a:rPr>
              <a:t>fea</a:t>
            </a:r>
            <a:r>
              <a:rPr lang="en-GB" altLang="zh-CN" sz="1200" b="0" i="0" kern="1200" dirty="0">
                <a:solidFill>
                  <a:schemeClr val="tx1"/>
                </a:solidFill>
                <a:effectLst/>
                <a:latin typeface="+mn-lt"/>
                <a:ea typeface="+mn-ea"/>
                <a:cs typeface="+mn-cs"/>
              </a:rPr>
              <a:t>-&gt;</a:t>
            </a:r>
            <a:r>
              <a:rPr lang="en-GB" altLang="zh-CN" sz="1200" b="0" i="0" kern="1200" dirty="0" err="1">
                <a:solidFill>
                  <a:schemeClr val="tx1"/>
                </a:solidFill>
                <a:effectLst/>
                <a:latin typeface="+mn-lt"/>
                <a:ea typeface="+mn-ea"/>
                <a:cs typeface="+mn-cs"/>
              </a:rPr>
              <a:t>refer_count</a:t>
            </a:r>
            <a:r>
              <a:rPr lang="en-GB" altLang="zh-CN" sz="1200" b="0" i="0" kern="1200" dirty="0">
                <a:solidFill>
                  <a:schemeClr val="tx1"/>
                </a:solidFill>
                <a:effectLst/>
                <a:latin typeface="+mn-lt"/>
                <a:ea typeface="+mn-ea"/>
                <a:cs typeface="+mn-cs"/>
              </a:rPr>
              <a:t>() &gt; _remain)</a:t>
            </a:r>
            <a:r>
              <a:rPr lang="zh-CN" altLang="en-GB"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en-GB" altLang="zh-CN" sz="1200" b="1" i="0" kern="1200" dirty="0">
                <a:solidFill>
                  <a:schemeClr val="tx1"/>
                </a:solidFill>
                <a:effectLst/>
                <a:latin typeface="+mn-lt"/>
                <a:ea typeface="+mn-ea"/>
                <a:cs typeface="+mn-cs"/>
              </a:rPr>
              <a:t>[@policy]</a:t>
            </a:r>
            <a:r>
              <a:rPr lang="zh-CN" altLang="en-US" sz="1200" b="1" i="0" kern="1200" dirty="0">
                <a:solidFill>
                  <a:schemeClr val="tx1"/>
                </a:solidFill>
                <a:effectLst/>
                <a:latin typeface="+mn-lt"/>
                <a:ea typeface="+mn-ea"/>
                <a:cs typeface="+mn-cs"/>
              </a:rPr>
              <a:t>下的</a:t>
            </a:r>
            <a:r>
              <a:rPr lang="en-GB" altLang="zh-CN" sz="1200" b="1" i="0" kern="1200" dirty="0">
                <a:solidFill>
                  <a:schemeClr val="tx1"/>
                </a:solidFill>
                <a:effectLst/>
                <a:latin typeface="+mn-lt"/>
                <a:ea typeface="+mn-ea"/>
                <a:cs typeface="+mn-cs"/>
              </a:rPr>
              <a:t>remain</a:t>
            </a:r>
            <a:r>
              <a:rPr lang="zh-CN" altLang="en-US" sz="1200" b="1" i="0" kern="1200" dirty="0">
                <a:solidFill>
                  <a:schemeClr val="tx1"/>
                </a:solidFill>
                <a:effectLst/>
                <a:latin typeface="+mn-lt"/>
                <a:ea typeface="+mn-ea"/>
                <a:cs typeface="+mn-cs"/>
              </a:rPr>
              <a:t>是</a:t>
            </a:r>
            <a:r>
              <a:rPr lang="en-GB" altLang="zh-CN" sz="1200" b="1" i="0" kern="1200" dirty="0">
                <a:solidFill>
                  <a:schemeClr val="tx1"/>
                </a:solidFill>
                <a:effectLst/>
                <a:latin typeface="+mn-lt"/>
                <a:ea typeface="+mn-ea"/>
                <a:cs typeface="+mn-cs"/>
              </a:rPr>
              <a:t>policy</a:t>
            </a:r>
            <a:r>
              <a:rPr lang="zh-CN" altLang="en-US" sz="1200" b="1" i="0" kern="1200" dirty="0">
                <a:solidFill>
                  <a:schemeClr val="tx1"/>
                </a:solidFill>
                <a:effectLst/>
                <a:latin typeface="+mn-lt"/>
                <a:ea typeface="+mn-ea"/>
                <a:cs typeface="+mn-cs"/>
              </a:rPr>
              <a:t>策略层判断策略是否命中时使用的</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en-GB" altLang="zh-CN" sz="1200" b="0" i="0" u="none" strike="noStrike" kern="1200" dirty="0">
                <a:solidFill>
                  <a:schemeClr val="tx1"/>
                </a:solidFill>
                <a:effectLst/>
                <a:latin typeface="+mn-lt"/>
                <a:ea typeface="+mn-ea"/>
                <a:cs typeface="+mn-cs"/>
              </a:rPr>
              <a:t>remain</a:t>
            </a:r>
            <a:r>
              <a:rPr lang="zh-CN" altLang="en-US" sz="1200" b="0" i="0" u="none" strike="noStrike" kern="1200" dirty="0">
                <a:solidFill>
                  <a:schemeClr val="tx1"/>
                </a:solidFill>
                <a:effectLst/>
                <a:latin typeface="+mn-lt"/>
                <a:ea typeface="+mn-ea"/>
                <a:cs typeface="+mn-cs"/>
              </a:rPr>
              <a:t>在</a:t>
            </a:r>
            <a:r>
              <a:rPr lang="en-GB" altLang="zh-CN" sz="1200" b="0" i="0" u="none" strike="noStrike" kern="1200" dirty="0" err="1">
                <a:solidFill>
                  <a:schemeClr val="tx1"/>
                </a:solidFill>
                <a:effectLst/>
                <a:latin typeface="+mn-lt"/>
                <a:ea typeface="+mn-ea"/>
                <a:cs typeface="+mn-cs"/>
              </a:rPr>
              <a:t>feature.conf</a:t>
            </a:r>
            <a:r>
              <a:rPr lang="zh-CN" altLang="en-US" sz="1200" b="0" i="0" u="none" strike="noStrike" kern="1200" dirty="0">
                <a:solidFill>
                  <a:schemeClr val="tx1"/>
                </a:solidFill>
                <a:effectLst/>
                <a:latin typeface="+mn-lt"/>
                <a:ea typeface="+mn-ea"/>
                <a:cs typeface="+mn-cs"/>
              </a:rPr>
              <a:t>中配置，在</a:t>
            </a:r>
            <a:r>
              <a:rPr lang="en-GB" altLang="zh-CN" sz="1200" b="0" i="0" u="none" strike="noStrike" kern="1200" dirty="0" err="1">
                <a:solidFill>
                  <a:schemeClr val="tx1"/>
                </a:solidFill>
                <a:effectLst/>
                <a:latin typeface="+mn-lt"/>
                <a:ea typeface="+mn-ea"/>
                <a:cs typeface="+mn-cs"/>
              </a:rPr>
              <a:t>feature.conf</a:t>
            </a:r>
            <a:r>
              <a:rPr lang="zh-CN" altLang="en-US" sz="1200" b="0" i="0" u="none" strike="noStrike" kern="1200" dirty="0">
                <a:solidFill>
                  <a:schemeClr val="tx1"/>
                </a:solidFill>
                <a:effectLst/>
                <a:latin typeface="+mn-lt"/>
                <a:ea typeface="+mn-ea"/>
                <a:cs typeface="+mn-cs"/>
              </a:rPr>
              <a:t>中判断分子</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分母的累积值是否大于</a:t>
            </a:r>
            <a:r>
              <a:rPr lang="en-GB" altLang="zh-CN" sz="1200" b="0" i="0" u="none" strike="noStrike" kern="1200" dirty="0">
                <a:solidFill>
                  <a:schemeClr val="tx1"/>
                </a:solidFill>
                <a:effectLst/>
                <a:latin typeface="+mn-lt"/>
                <a:ea typeface="+mn-ea"/>
                <a:cs typeface="+mn-cs"/>
              </a:rPr>
              <a:t>remain,</a:t>
            </a:r>
            <a:r>
              <a:rPr lang="zh-CN" altLang="en-US" sz="1200" b="0" i="0" u="none" strike="noStrike" kern="1200" dirty="0">
                <a:solidFill>
                  <a:schemeClr val="tx1"/>
                </a:solidFill>
                <a:effectLst/>
                <a:latin typeface="+mn-lt"/>
                <a:ea typeface="+mn-ea"/>
                <a:cs typeface="+mn-cs"/>
              </a:rPr>
              <a:t>然后把</a:t>
            </a:r>
            <a:r>
              <a:rPr lang="en-GB" altLang="zh-CN" sz="1200" b="0" i="0" u="none" strike="noStrike" kern="1200" dirty="0" err="1">
                <a:solidFill>
                  <a:schemeClr val="tx1"/>
                </a:solidFill>
                <a:effectLst/>
                <a:latin typeface="+mn-lt"/>
                <a:ea typeface="+mn-ea"/>
                <a:cs typeface="+mn-cs"/>
              </a:rPr>
              <a:t>fea.valid</a:t>
            </a:r>
            <a:r>
              <a:rPr lang="zh-CN" altLang="en-US" sz="1200" b="0" i="0" u="none" strike="noStrike" kern="1200" dirty="0">
                <a:solidFill>
                  <a:schemeClr val="tx1"/>
                </a:solidFill>
                <a:effectLst/>
                <a:latin typeface="+mn-lt"/>
                <a:ea typeface="+mn-ea"/>
                <a:cs typeface="+mn-cs"/>
              </a:rPr>
              <a:t>设置成</a:t>
            </a:r>
            <a:r>
              <a:rPr lang="en-GB" altLang="zh-CN" sz="1200" b="0" i="0" u="none" strike="noStrike" kern="1200" dirty="0">
                <a:solidFill>
                  <a:schemeClr val="tx1"/>
                </a:solidFill>
                <a:effectLst/>
                <a:latin typeface="+mn-lt"/>
                <a:ea typeface="+mn-ea"/>
                <a:cs typeface="+mn-cs"/>
              </a:rPr>
              <a:t>true</a:t>
            </a:r>
            <a:r>
              <a:rPr lang="zh-CN" altLang="en-US" sz="1200" b="0" i="0" u="none" strike="noStrike" kern="1200" dirty="0">
                <a:solidFill>
                  <a:schemeClr val="tx1"/>
                </a:solidFill>
                <a:effectLst/>
                <a:latin typeface="+mn-lt"/>
                <a:ea typeface="+mn-ea"/>
                <a:cs typeface="+mn-cs"/>
              </a:rPr>
              <a:t>或者</a:t>
            </a:r>
            <a:r>
              <a:rPr lang="en-GB" altLang="zh-CN" sz="1200" b="0" i="0" u="none" strike="noStrike" kern="1200" dirty="0">
                <a:solidFill>
                  <a:schemeClr val="tx1"/>
                </a:solidFill>
                <a:effectLst/>
                <a:latin typeface="+mn-lt"/>
                <a:ea typeface="+mn-ea"/>
                <a:cs typeface="+mn-cs"/>
              </a:rPr>
              <a:t>false,</a:t>
            </a:r>
            <a:r>
              <a:rPr lang="zh-CN" altLang="en-US" sz="1200" b="0" i="0" u="none" strike="noStrike" kern="1200" dirty="0">
                <a:solidFill>
                  <a:schemeClr val="tx1"/>
                </a:solidFill>
                <a:effectLst/>
                <a:latin typeface="+mn-lt"/>
                <a:ea typeface="+mn-ea"/>
                <a:cs typeface="+mn-cs"/>
              </a:rPr>
              <a:t>然后在</a:t>
            </a:r>
            <a:r>
              <a:rPr lang="en-GB" altLang="zh-CN" sz="1200" b="0" i="0" u="none" strike="noStrike" kern="1200" dirty="0" err="1">
                <a:solidFill>
                  <a:schemeClr val="tx1"/>
                </a:solidFill>
                <a:effectLst/>
                <a:latin typeface="+mn-lt"/>
                <a:ea typeface="+mn-ea"/>
                <a:cs typeface="+mn-cs"/>
              </a:rPr>
              <a:t>policy.conf</a:t>
            </a:r>
            <a:r>
              <a:rPr lang="zh-CN" altLang="en-US" sz="1200" b="0" i="0" u="none" strike="noStrike" kern="1200" dirty="0">
                <a:solidFill>
                  <a:schemeClr val="tx1"/>
                </a:solidFill>
                <a:effectLst/>
                <a:latin typeface="+mn-lt"/>
                <a:ea typeface="+mn-ea"/>
                <a:cs typeface="+mn-cs"/>
              </a:rPr>
              <a:t>中用</a:t>
            </a:r>
            <a:r>
              <a:rPr lang="en-GB" altLang="zh-CN" sz="1200" b="0" i="0" u="none" strike="noStrike" kern="1200" dirty="0" err="1">
                <a:solidFill>
                  <a:schemeClr val="tx1"/>
                </a:solidFill>
                <a:effectLst/>
                <a:latin typeface="+mn-lt"/>
                <a:ea typeface="+mn-ea"/>
                <a:cs typeface="+mn-cs"/>
              </a:rPr>
              <a:t>fea.valid</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59</a:t>
            </a:fld>
            <a:endParaRPr kumimoji="1"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60</a:t>
            </a:fld>
            <a:endParaRPr kumimoji="1"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实现方式：</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61</a:t>
            </a:fld>
            <a:endParaRPr kumimoji="1"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实现方式：</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62</a:t>
            </a:fld>
            <a:endParaRPr kumimoji="1"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最多</a:t>
            </a:r>
            <a:r>
              <a:rPr kumimoji="1" lang="en-US" altLang="zh-CN" dirty="0"/>
              <a:t>10</a:t>
            </a:r>
            <a:r>
              <a:rPr kumimoji="1" lang="zh-CN" altLang="en-US" dirty="0"/>
              <a:t>个桶</a:t>
            </a:r>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63</a:t>
            </a:fld>
            <a:endParaRPr kumimoji="1"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分布异常策略包含两类距离函数，一类是局部距离，另一类是全局距离。</a:t>
            </a:r>
          </a:p>
          <a:p>
            <a:r>
              <a:rPr lang="zh-CN" altLang="en-US" sz="1200" b="0" i="0" u="none" strike="noStrike" kern="1200" dirty="0">
                <a:solidFill>
                  <a:schemeClr val="tx1"/>
                </a:solidFill>
                <a:effectLst/>
                <a:latin typeface="+mn-lt"/>
                <a:ea typeface="+mn-ea"/>
                <a:cs typeface="+mn-cs"/>
              </a:rPr>
              <a:t>局部距离：统计当前点击所在的第</a:t>
            </a:r>
            <a:r>
              <a:rPr lang="en-GB" altLang="zh-CN" sz="1200" b="0" i="0" u="none" strike="noStrike" kern="1200" dirty="0" err="1">
                <a:solidFill>
                  <a:schemeClr val="tx1"/>
                </a:solidFill>
                <a:effectLst/>
                <a:latin typeface="+mn-lt"/>
                <a:ea typeface="+mn-ea"/>
                <a:cs typeface="+mn-cs"/>
              </a:rPr>
              <a:t>i</a:t>
            </a:r>
            <a:r>
              <a:rPr lang="zh-CN" altLang="en-US" sz="1200" b="0" i="0" u="none" strike="noStrike" kern="1200" dirty="0">
                <a:solidFill>
                  <a:schemeClr val="tx1"/>
                </a:solidFill>
                <a:effectLst/>
                <a:latin typeface="+mn-lt"/>
                <a:ea typeface="+mn-ea"/>
                <a:cs typeface="+mn-cs"/>
              </a:rPr>
              <a:t>桶的概率与基准分布的相应桶的概率的差异，只考虑当前日志所在桶的差异。</a:t>
            </a:r>
          </a:p>
          <a:p>
            <a:pPr lvl="1"/>
            <a:r>
              <a:rPr lang="zh-CN" altLang="en-US" sz="1200" b="0" i="0" u="none" strike="noStrike" kern="1200" dirty="0">
                <a:solidFill>
                  <a:schemeClr val="tx1"/>
                </a:solidFill>
                <a:effectLst/>
                <a:latin typeface="+mn-lt"/>
                <a:ea typeface="+mn-ea"/>
                <a:cs typeface="+mn-cs"/>
              </a:rPr>
              <a:t>最大化差异度量（</a:t>
            </a:r>
            <a:r>
              <a:rPr lang="en-GB" altLang="zh-CN" sz="1200" b="0" i="0" u="none" strike="noStrike" kern="1200" dirty="0" err="1">
                <a:solidFill>
                  <a:schemeClr val="tx1"/>
                </a:solidFill>
                <a:effectLst/>
                <a:latin typeface="+mn-lt"/>
                <a:ea typeface="+mn-ea"/>
                <a:cs typeface="+mn-cs"/>
              </a:rPr>
              <a:t>max_diff</a:t>
            </a:r>
            <a:r>
              <a:rPr lang="zh-CN" altLang="en-GB" sz="1200" b="0" i="0" u="none" strike="noStrike" kern="1200" dirty="0">
                <a:solidFill>
                  <a:schemeClr val="tx1"/>
                </a:solidFill>
                <a:effectLst/>
                <a:latin typeface="+mn-lt"/>
                <a:ea typeface="+mn-ea"/>
                <a:cs typeface="+mn-cs"/>
              </a:rPr>
              <a:t>）</a:t>
            </a:r>
          </a:p>
          <a:p>
            <a:r>
              <a:rPr lang="zh-CN" altLang="en-US" sz="1200" b="0" i="0" u="none" strike="noStrike" kern="1200" dirty="0">
                <a:solidFill>
                  <a:schemeClr val="tx1"/>
                </a:solidFill>
                <a:effectLst/>
                <a:latin typeface="+mn-lt"/>
                <a:ea typeface="+mn-ea"/>
                <a:cs typeface="+mn-cs"/>
              </a:rPr>
              <a:t>全局距离：分布整体差异性，过滤全局流量。</a:t>
            </a:r>
          </a:p>
          <a:p>
            <a:pPr lvl="1"/>
            <a:r>
              <a:rPr lang="zh-CN" altLang="en-US" sz="1200" b="0" i="0" u="none" strike="noStrike" kern="1200" dirty="0">
                <a:solidFill>
                  <a:schemeClr val="tx1"/>
                </a:solidFill>
                <a:effectLst/>
                <a:latin typeface="+mn-lt"/>
                <a:ea typeface="+mn-ea"/>
                <a:cs typeface="+mn-cs"/>
              </a:rPr>
              <a:t>卡方距离（</a:t>
            </a:r>
            <a:r>
              <a:rPr lang="en-GB" altLang="zh-CN" sz="1200" b="0" i="0" u="none" strike="noStrike" kern="1200" dirty="0" err="1">
                <a:solidFill>
                  <a:schemeClr val="tx1"/>
                </a:solidFill>
                <a:effectLst/>
                <a:latin typeface="+mn-lt"/>
                <a:ea typeface="+mn-ea"/>
                <a:cs typeface="+mn-cs"/>
              </a:rPr>
              <a:t>chi_square_dis</a:t>
            </a:r>
            <a:r>
              <a:rPr lang="zh-CN" altLang="en-GB" sz="1200" b="0" i="0" u="none" strike="noStrike" kern="1200" dirty="0">
                <a:solidFill>
                  <a:schemeClr val="tx1"/>
                </a:solidFill>
                <a:effectLst/>
                <a:latin typeface="+mn-lt"/>
                <a:ea typeface="+mn-ea"/>
                <a:cs typeface="+mn-cs"/>
              </a:rPr>
              <a:t>）</a:t>
            </a:r>
          </a:p>
          <a:p>
            <a:pPr lvl="1"/>
            <a:r>
              <a:rPr lang="zh-CN" altLang="en-US" sz="1200" b="0" i="0" u="none" strike="noStrike" kern="1200" dirty="0">
                <a:solidFill>
                  <a:schemeClr val="tx1"/>
                </a:solidFill>
                <a:effectLst/>
                <a:latin typeface="+mn-lt"/>
                <a:ea typeface="+mn-ea"/>
                <a:cs typeface="+mn-cs"/>
              </a:rPr>
              <a:t>卡方检验（</a:t>
            </a:r>
            <a:r>
              <a:rPr lang="en-GB" altLang="zh-CN" sz="1200" b="0" i="0" u="none" strike="noStrike" kern="1200" dirty="0" err="1">
                <a:solidFill>
                  <a:schemeClr val="tx1"/>
                </a:solidFill>
                <a:effectLst/>
                <a:latin typeface="+mn-lt"/>
                <a:ea typeface="+mn-ea"/>
                <a:cs typeface="+mn-cs"/>
              </a:rPr>
              <a:t>chi_square_test</a:t>
            </a:r>
            <a:r>
              <a:rPr lang="zh-CN" altLang="en-GB" sz="1200" b="0" i="0" u="none" strike="noStrike" kern="1200" dirty="0">
                <a:solidFill>
                  <a:schemeClr val="tx1"/>
                </a:solidFill>
                <a:effectLst/>
                <a:latin typeface="+mn-lt"/>
                <a:ea typeface="+mn-ea"/>
                <a:cs typeface="+mn-cs"/>
              </a:rPr>
              <a:t>）</a:t>
            </a:r>
          </a:p>
          <a:p>
            <a:pPr lvl="1"/>
            <a:r>
              <a:rPr lang="en-GB" altLang="zh-CN" sz="1200" b="0" i="0" u="none" strike="noStrike" kern="1200" dirty="0">
                <a:solidFill>
                  <a:schemeClr val="tx1"/>
                </a:solidFill>
                <a:effectLst/>
                <a:latin typeface="+mn-lt"/>
                <a:ea typeface="+mn-ea"/>
                <a:cs typeface="+mn-cs"/>
              </a:rPr>
              <a:t>KL</a:t>
            </a:r>
            <a:r>
              <a:rPr lang="zh-CN" altLang="en-US" sz="1200" b="0" i="0" u="none" strike="noStrike" kern="1200" dirty="0">
                <a:solidFill>
                  <a:schemeClr val="tx1"/>
                </a:solidFill>
                <a:effectLst/>
                <a:latin typeface="+mn-lt"/>
                <a:ea typeface="+mn-ea"/>
                <a:cs typeface="+mn-cs"/>
              </a:rPr>
              <a:t>差异度（</a:t>
            </a:r>
            <a:r>
              <a:rPr lang="en-GB" altLang="zh-CN" sz="1200" b="0" i="0" u="none" strike="noStrike" kern="1200" dirty="0" err="1">
                <a:solidFill>
                  <a:schemeClr val="tx1"/>
                </a:solidFill>
                <a:effectLst/>
                <a:latin typeface="+mn-lt"/>
                <a:ea typeface="+mn-ea"/>
                <a:cs typeface="+mn-cs"/>
              </a:rPr>
              <a:t>kl_divergence</a:t>
            </a:r>
            <a:r>
              <a:rPr lang="zh-CN" altLang="en-GB" sz="1200" b="0" i="0" u="none" strike="noStrike" kern="1200" dirty="0">
                <a:solidFill>
                  <a:schemeClr val="tx1"/>
                </a:solidFill>
                <a:effectLst/>
                <a:latin typeface="+mn-lt"/>
                <a:ea typeface="+mn-ea"/>
                <a:cs typeface="+mn-cs"/>
              </a:rPr>
              <a:t>）</a:t>
            </a:r>
          </a:p>
          <a:p>
            <a:r>
              <a:rPr lang="zh-CN" altLang="en-US" sz="1200" b="0" i="0" u="none" strike="noStrike" kern="1200" dirty="0">
                <a:solidFill>
                  <a:schemeClr val="tx1"/>
                </a:solidFill>
                <a:effectLst/>
                <a:latin typeface="+mn-lt"/>
                <a:ea typeface="+mn-ea"/>
                <a:cs typeface="+mn-cs"/>
              </a:rPr>
              <a:t>一般而言最大化差异度量函数比较常用。从计算公式可知（略），它计算的是最大的桶的相对变化，当异常场景集中在某个桶的时候，适合用它来计算桶的距离。</a:t>
            </a:r>
          </a:p>
          <a:p>
            <a:r>
              <a:rPr lang="zh-CN" altLang="en-US" sz="1200" b="0" i="0" u="none" strike="noStrike" kern="1200" dirty="0">
                <a:solidFill>
                  <a:schemeClr val="tx1"/>
                </a:solidFill>
                <a:effectLst/>
                <a:latin typeface="+mn-lt"/>
                <a:ea typeface="+mn-ea"/>
                <a:cs typeface="+mn-cs"/>
              </a:rPr>
              <a:t>而对于整体异常明显、桶内异常分散的情况，则适合使用全局距离来计算。虽然三个距离函数的物理含义不一样，但是从阈值划分的角度来看其实三者差异不大，所以可以根据实际情况尝试几种全局距离函数，再选择最能准确描述异常的函数。</a:t>
            </a:r>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64</a:t>
            </a:fld>
            <a:endParaRPr kumimoji="1"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需要说明的是基准分布中所有桶的占比之和不一定为</a:t>
            </a:r>
            <a:r>
              <a:rPr lang="en-US" altLang="zh-CN" dirty="0"/>
              <a:t>1</a:t>
            </a:r>
            <a:r>
              <a:rPr lang="zh-CN" altLang="en-US" baseline="0" dirty="0"/>
              <a:t>， 通过将某个桶的占比调整大小，可以主动调节某个桶被过滤的难易程度。比如把</a:t>
            </a:r>
            <a:r>
              <a:rPr lang="en-US" altLang="zh-CN" baseline="0" dirty="0"/>
              <a:t>5</a:t>
            </a:r>
            <a:r>
              <a:rPr lang="zh-CN" altLang="en-US" baseline="0" dirty="0"/>
              <a:t>号桶的基准分布占比设置为</a:t>
            </a:r>
            <a:r>
              <a:rPr lang="en-US" altLang="zh-CN" baseline="0" dirty="0"/>
              <a:t>1</a:t>
            </a:r>
            <a:r>
              <a:rPr lang="zh-CN" altLang="en-US" baseline="0" dirty="0"/>
              <a:t>，那么这个桶就永远不会被策略命中。</a:t>
            </a:r>
            <a:endParaRPr lang="en-US" altLang="zh-CN" baseline="0" dirty="0"/>
          </a:p>
          <a:p>
            <a:endParaRPr lang="en-US" altLang="zh-CN" dirty="0"/>
          </a:p>
          <a:p>
            <a:pPr>
              <a:buFont typeface="Symbol" charset="2"/>
              <a:buChar char="-"/>
            </a:pPr>
            <a:r>
              <a:rPr lang="zh-CN" altLang="en-US" sz="1200" dirty="0"/>
              <a:t>局部距离：</a:t>
            </a:r>
            <a:r>
              <a:rPr lang="zh-CN" altLang="zh-CN" sz="1200" kern="1200" dirty="0">
                <a:latin typeface="Arial" panose="020B0604020202020204" pitchFamily="34" charset="0"/>
                <a:ea typeface="+mn-ea"/>
              </a:rPr>
              <a:t>统计当前点击所在的第</a:t>
            </a:r>
            <a:r>
              <a:rPr lang="en-US" altLang="zh-CN" sz="1200" kern="1200" dirty="0" err="1">
                <a:latin typeface="Arial" panose="020B0604020202020204" pitchFamily="34" charset="0"/>
                <a:ea typeface="+mn-ea"/>
              </a:rPr>
              <a:t>i</a:t>
            </a:r>
            <a:r>
              <a:rPr lang="zh-CN" altLang="zh-CN" sz="1200" kern="1200" dirty="0">
                <a:latin typeface="Arial" panose="020B0604020202020204" pitchFamily="34" charset="0"/>
                <a:ea typeface="+mn-ea"/>
              </a:rPr>
              <a:t>桶</a:t>
            </a:r>
            <a:r>
              <a:rPr lang="en-US" altLang="zh-CN" sz="1200" kern="1200" dirty="0">
                <a:latin typeface="Arial" panose="020B0604020202020204" pitchFamily="34" charset="0"/>
                <a:ea typeface="+mn-ea"/>
              </a:rPr>
              <a:t>(</a:t>
            </a:r>
            <a:r>
              <a:rPr lang="zh-CN" altLang="en-US" sz="1200" kern="1200" dirty="0">
                <a:latin typeface="Arial" panose="020B0604020202020204" pitchFamily="34" charset="0"/>
                <a:ea typeface="+mn-ea"/>
              </a:rPr>
              <a:t>差异最大的那个桶</a:t>
            </a:r>
            <a:r>
              <a:rPr lang="en-US" altLang="zh-CN" sz="1200" kern="1200" dirty="0">
                <a:latin typeface="Arial" panose="020B0604020202020204" pitchFamily="34" charset="0"/>
                <a:ea typeface="+mn-ea"/>
              </a:rPr>
              <a:t>)</a:t>
            </a:r>
            <a:r>
              <a:rPr lang="zh-CN" altLang="zh-CN" sz="1200" kern="1200" dirty="0">
                <a:latin typeface="Arial" panose="020B0604020202020204" pitchFamily="34" charset="0"/>
                <a:ea typeface="+mn-ea"/>
              </a:rPr>
              <a:t>的概率与基准分布的相应桶的概率的差异，只考虑当前日志所在桶的差异。</a:t>
            </a:r>
            <a:endParaRPr lang="en-US" altLang="zh-CN" sz="1200" kern="1200" dirty="0">
              <a:latin typeface="Arial" panose="020B0604020202020204" pitchFamily="34" charset="0"/>
              <a:ea typeface="+mn-ea"/>
            </a:endParaRPr>
          </a:p>
          <a:p>
            <a:pPr>
              <a:buFont typeface="Symbol" charset="2"/>
              <a:buChar char="-"/>
            </a:pPr>
            <a:r>
              <a:rPr lang="zh-CN" altLang="en-US" sz="1200" kern="1200" dirty="0">
                <a:latin typeface="+mn-ea"/>
              </a:rPr>
              <a:t>全局距离</a:t>
            </a:r>
            <a:r>
              <a:rPr lang="zh-CN" altLang="en-US" sz="1200" kern="1200" dirty="0">
                <a:latin typeface="Arial" panose="020B0604020202020204" pitchFamily="34" charset="0"/>
                <a:ea typeface="+mn-ea"/>
              </a:rPr>
              <a:t>：考虑</a:t>
            </a:r>
            <a:r>
              <a:rPr lang="zh-CN" altLang="zh-CN" sz="1200" kern="1200" dirty="0">
                <a:latin typeface="Arial" panose="020B0604020202020204" pitchFamily="34" charset="0"/>
                <a:ea typeface="+mn-ea"/>
              </a:rPr>
              <a:t>分布整体差异性，过滤全局流量</a:t>
            </a:r>
            <a:r>
              <a:rPr lang="zh-CN" altLang="en-US" sz="1400" kern="1200" dirty="0">
                <a:latin typeface="Arial" panose="020B0604020202020204" pitchFamily="34" charset="0"/>
                <a:ea typeface="+mn-ea"/>
              </a:rPr>
              <a:t>。</a:t>
            </a:r>
            <a:endParaRPr lang="en-US" altLang="zh-CN" sz="1200" kern="1200" dirty="0">
              <a:latin typeface="+mn-lt"/>
              <a:ea typeface="+mn-ea"/>
            </a:endParaRPr>
          </a:p>
          <a:p>
            <a:pPr>
              <a:buFont typeface="Symbol" charset="2"/>
              <a:buChar char="-"/>
            </a:pPr>
            <a:endParaRPr lang="en-US" altLang="zh-CN" dirty="0"/>
          </a:p>
          <a:p>
            <a:r>
              <a:rPr lang="zh-CN" altLang="en-US" dirty="0"/>
              <a:t>当前分布有些桶的占比小于基准分布中的占比，这些桶不会被策略命中，即使距离大于阈值。</a:t>
            </a:r>
            <a:endParaRPr lang="en-US" altLang="zh-CN" dirty="0"/>
          </a:p>
          <a:p>
            <a:endParaRPr lang="en-US" altLang="zh-CN" dirty="0"/>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effectLst/>
                <a:latin typeface="Arial" panose="020B0604020202020204" pitchFamily="34" charset="0"/>
                <a:ea typeface="宋体" pitchFamily="2" charset="-122"/>
                <a:cs typeface="+mn-cs"/>
              </a:rPr>
              <a:t>优点：</a:t>
            </a:r>
            <a:r>
              <a:rPr lang="zh-CN" altLang="zh-CN" sz="1200" kern="1200" dirty="0">
                <a:solidFill>
                  <a:schemeClr val="tx1"/>
                </a:solidFill>
                <a:effectLst/>
                <a:latin typeface="Arial" panose="020B0604020202020204" pitchFamily="34" charset="0"/>
                <a:ea typeface="宋体" pitchFamily="2" charset="-122"/>
                <a:cs typeface="+mn-cs"/>
              </a:rPr>
              <a:t>实现了分区间限制，更加细化，适用作弊点击分布在多个桶内的情况</a:t>
            </a:r>
            <a:r>
              <a:rPr lang="en-US" altLang="zh-CN" sz="1200" kern="1200" dirty="0">
                <a:solidFill>
                  <a:schemeClr val="tx1"/>
                </a:solidFill>
                <a:effectLst/>
                <a:latin typeface="Arial" panose="020B0604020202020204" pitchFamily="34" charset="0"/>
                <a:ea typeface="宋体" pitchFamily="2" charset="-122"/>
                <a:cs typeface="+mn-cs"/>
              </a:rPr>
              <a:t>(</a:t>
            </a:r>
            <a:r>
              <a:rPr lang="zh-CN" altLang="en-US" sz="1200" kern="1200" dirty="0">
                <a:solidFill>
                  <a:schemeClr val="tx1"/>
                </a:solidFill>
                <a:effectLst/>
                <a:latin typeface="Arial" panose="020B0604020202020204" pitchFamily="34" charset="0"/>
                <a:ea typeface="宋体" pitchFamily="2" charset="-122"/>
                <a:cs typeface="+mn-cs"/>
              </a:rPr>
              <a:t>在段中均匀分布</a:t>
            </a:r>
            <a:r>
              <a:rPr lang="en-US" altLang="zh-CN" sz="1200" kern="1200" dirty="0">
                <a:solidFill>
                  <a:schemeClr val="tx1"/>
                </a:solidFill>
                <a:effectLst/>
                <a:latin typeface="Arial" panose="020B0604020202020204" pitchFamily="34" charset="0"/>
                <a:ea typeface="宋体" pitchFamily="2" charset="-122"/>
                <a:cs typeface="+mn-cs"/>
              </a:rPr>
              <a:t>)</a:t>
            </a:r>
            <a:r>
              <a:rPr lang="zh-CN" altLang="zh-CN" sz="1200" kern="1200" dirty="0">
                <a:solidFill>
                  <a:schemeClr val="tx1"/>
                </a:solidFill>
                <a:effectLst/>
                <a:latin typeface="Arial" panose="020B0604020202020204" pitchFamily="34" charset="0"/>
                <a:ea typeface="宋体" pitchFamily="2" charset="-122"/>
                <a:cs typeface="+mn-cs"/>
              </a:rPr>
              <a:t>，跨桶攻击。</a:t>
            </a:r>
            <a:r>
              <a:rPr lang="zh-CN" altLang="zh-CN" dirty="0">
                <a:effectLst/>
              </a:rPr>
              <a:t> </a:t>
            </a:r>
            <a:endParaRPr lang="zh-CN" altLang="zh-CN" sz="1200" kern="1200" dirty="0">
              <a:solidFill>
                <a:schemeClr val="tx1"/>
              </a:solidFill>
              <a:effectLst/>
              <a:latin typeface="Arial" panose="020B0604020202020204" pitchFamily="34" charset="0"/>
              <a:ea typeface="宋体" pitchFamily="2" charset="-122"/>
              <a:cs typeface="+mn-cs"/>
            </a:endParaRPr>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65</a:t>
            </a:fld>
            <a:endParaRPr kumimoji="1"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Nttp</a:t>
            </a:r>
            <a:r>
              <a:rPr kumimoji="1" lang="zh-CN" altLang="en-US" dirty="0"/>
              <a:t>  </a:t>
            </a:r>
            <a:r>
              <a:rPr kumimoji="1" lang="en-US" altLang="zh-CN" dirty="0" err="1"/>
              <a:t>clk</a:t>
            </a:r>
            <a:r>
              <a:rPr kumimoji="1" lang="zh-CN" altLang="en-US" dirty="0"/>
              <a:t> </a:t>
            </a:r>
            <a:r>
              <a:rPr kumimoji="1" lang="en-US" altLang="zh-CN" dirty="0"/>
              <a:t>direct(k)</a:t>
            </a:r>
            <a:r>
              <a:rPr kumimoji="1" lang="zh-CN" altLang="en-US" dirty="0"/>
              <a:t> </a:t>
            </a:r>
            <a:r>
              <a:rPr kumimoji="1" lang="en-US" altLang="zh-CN" dirty="0" err="1"/>
              <a:t>kfield</a:t>
            </a:r>
            <a:r>
              <a:rPr kumimoji="1" lang="en-US" altLang="zh-CN" dirty="0"/>
              <a:t>(</a:t>
            </a:r>
            <a:r>
              <a:rPr kumimoji="1" lang="en-US" altLang="zh-CN" dirty="0" err="1"/>
              <a:t>nttp</a:t>
            </a:r>
            <a:r>
              <a:rPr kumimoji="1" lang="en-US" altLang="zh-CN" dirty="0"/>
              <a:t>)</a:t>
            </a:r>
          </a:p>
          <a:p>
            <a:endParaRPr kumimoji="1"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200" b="0" i="0" u="none" strike="noStrike" kern="1200" dirty="0" err="1">
                <a:solidFill>
                  <a:schemeClr val="tx1"/>
                </a:solidFill>
                <a:effectLst/>
                <a:latin typeface="+mn-lt"/>
                <a:ea typeface="+mn-ea"/>
                <a:cs typeface="+mn-cs"/>
              </a:rPr>
              <a:t>nttp</a:t>
            </a:r>
            <a:r>
              <a:rPr lang="en-GB" altLang="zh-CN" sz="1200" b="0" i="0" u="none" strike="noStrike" kern="1200" dirty="0">
                <a:solidFill>
                  <a:schemeClr val="tx1"/>
                </a:solidFill>
                <a:effectLst/>
                <a:latin typeface="+mn-lt"/>
                <a:ea typeface="+mn-ea"/>
                <a:cs typeface="+mn-cs"/>
              </a:rPr>
              <a:t> </a:t>
            </a:r>
            <a:r>
              <a:rPr lang="zh-CN" altLang="en-US" sz="1200" b="0" i="0" u="none" strike="noStrike" kern="1200" dirty="0">
                <a:solidFill>
                  <a:schemeClr val="tx1"/>
                </a:solidFill>
                <a:effectLst/>
                <a:latin typeface="+mn-lt"/>
                <a:ea typeface="+mn-ea"/>
                <a:cs typeface="+mn-cs"/>
              </a:rPr>
              <a:t>流量类型</a:t>
            </a:r>
            <a:r>
              <a:rPr lang="zh-CN" altLang="en-GB" sz="1200" b="0" i="0" u="none" strike="noStrike" kern="1200" dirty="0">
                <a:solidFill>
                  <a:schemeClr val="tx1"/>
                </a:solidFill>
                <a:effectLst/>
                <a:latin typeface="+mn-lt"/>
                <a:ea typeface="+mn-ea"/>
                <a:cs typeface="+mn-cs"/>
              </a:rPr>
              <a:t>：</a:t>
            </a:r>
            <a:r>
              <a:rPr lang="en-GB" altLang="zh-CN" sz="1200" b="0" i="0" u="none" strike="noStrike" kern="1200" dirty="0">
                <a:solidFill>
                  <a:schemeClr val="tx1"/>
                </a:solidFill>
                <a:effectLst/>
                <a:latin typeface="+mn-lt"/>
                <a:ea typeface="+mn-ea"/>
                <a:cs typeface="+mn-cs"/>
              </a:rPr>
              <a:t>0 </a:t>
            </a:r>
            <a:r>
              <a:rPr lang="zh-CN" altLang="en-GB"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无</a:t>
            </a:r>
            <a:r>
              <a:rPr lang="en-US" altLang="zh-CN"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异常），</a:t>
            </a:r>
            <a:r>
              <a:rPr lang="en-US" altLang="zh-CN" sz="1200" b="0" i="0" u="none" strike="noStrike" kern="12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a:t>
            </a:r>
            <a:r>
              <a:rPr lang="en-GB" altLang="zh-CN" sz="1200" b="0" i="0" u="none" strike="noStrike" kern="1200" dirty="0">
                <a:solidFill>
                  <a:schemeClr val="tx1"/>
                </a:solidFill>
                <a:effectLst/>
                <a:latin typeface="+mn-lt"/>
                <a:ea typeface="+mn-ea"/>
                <a:cs typeface="+mn-cs"/>
              </a:rPr>
              <a:t>pc</a:t>
            </a:r>
            <a:r>
              <a:rPr lang="zh-CN" altLang="en-US" sz="1200" b="0" i="0" u="none" strike="noStrike" kern="1200" dirty="0">
                <a:solidFill>
                  <a:schemeClr val="tx1"/>
                </a:solidFill>
                <a:effectLst/>
                <a:latin typeface="+mn-lt"/>
                <a:ea typeface="+mn-ea"/>
                <a:cs typeface="+mn-cs"/>
              </a:rPr>
              <a:t>端），</a:t>
            </a:r>
            <a:r>
              <a:rPr lang="en-US" altLang="zh-CN" sz="1200" b="0" i="0" u="none" strike="noStrike" kern="1200" dirty="0">
                <a:solidFill>
                  <a:schemeClr val="tx1"/>
                </a:solidFill>
                <a:effectLst/>
                <a:latin typeface="+mn-lt"/>
                <a:ea typeface="+mn-ea"/>
                <a:cs typeface="+mn-cs"/>
              </a:rPr>
              <a:t>2</a:t>
            </a:r>
            <a:r>
              <a:rPr lang="zh-CN" altLang="en-US" sz="1200" b="0" i="0" u="none" strike="noStrike" kern="1200" dirty="0">
                <a:solidFill>
                  <a:schemeClr val="tx1"/>
                </a:solidFill>
                <a:effectLst/>
                <a:latin typeface="+mn-lt"/>
                <a:ea typeface="+mn-ea"/>
                <a:cs typeface="+mn-cs"/>
              </a:rPr>
              <a:t>（</a:t>
            </a:r>
            <a:r>
              <a:rPr lang="en-GB" altLang="zh-CN" sz="1200" b="0" i="0" u="none" strike="noStrike" kern="1200" dirty="0" err="1">
                <a:solidFill>
                  <a:schemeClr val="tx1"/>
                </a:solidFill>
                <a:effectLst/>
                <a:latin typeface="+mn-lt"/>
                <a:ea typeface="+mn-ea"/>
                <a:cs typeface="+mn-cs"/>
              </a:rPr>
              <a:t>wap</a:t>
            </a:r>
            <a:r>
              <a:rPr lang="zh-CN" altLang="en-US" sz="1200" b="0" i="0" u="none" strike="noStrike" kern="1200" dirty="0">
                <a:solidFill>
                  <a:schemeClr val="tx1"/>
                </a:solidFill>
                <a:effectLst/>
                <a:latin typeface="+mn-lt"/>
                <a:ea typeface="+mn-ea"/>
                <a:cs typeface="+mn-cs"/>
              </a:rPr>
              <a:t>端），</a:t>
            </a:r>
            <a:r>
              <a:rPr lang="en-US" altLang="zh-CN" sz="1200" b="0" i="0" u="none" strike="noStrike" kern="1200" dirty="0">
                <a:solidFill>
                  <a:schemeClr val="tx1"/>
                </a:solidFill>
                <a:effectLst/>
                <a:latin typeface="+mn-lt"/>
                <a:ea typeface="+mn-ea"/>
                <a:cs typeface="+mn-cs"/>
              </a:rPr>
              <a:t>3</a:t>
            </a:r>
            <a:r>
              <a:rPr lang="zh-CN" altLang="en-US" sz="1200" b="0" i="0" u="none" strike="noStrike" kern="1200" dirty="0">
                <a:solidFill>
                  <a:schemeClr val="tx1"/>
                </a:solidFill>
                <a:effectLst/>
                <a:latin typeface="+mn-lt"/>
                <a:ea typeface="+mn-ea"/>
                <a:cs typeface="+mn-cs"/>
              </a:rPr>
              <a:t>（</a:t>
            </a:r>
            <a:r>
              <a:rPr lang="en-GB" altLang="zh-CN" sz="1200" b="0" i="0" u="none" strike="noStrike" kern="1200" dirty="0">
                <a:solidFill>
                  <a:schemeClr val="tx1"/>
                </a:solidFill>
                <a:effectLst/>
                <a:latin typeface="+mn-lt"/>
                <a:ea typeface="+mn-ea"/>
                <a:cs typeface="+mn-cs"/>
              </a:rPr>
              <a:t>app</a:t>
            </a:r>
            <a:r>
              <a:rPr lang="zh-CN" altLang="en-US" sz="1200" b="0" i="0" u="none" strike="noStrike" kern="1200" dirty="0">
                <a:solidFill>
                  <a:schemeClr val="tx1"/>
                </a:solidFill>
                <a:effectLst/>
                <a:latin typeface="+mn-lt"/>
                <a:ea typeface="+mn-ea"/>
                <a:cs typeface="+mn-cs"/>
              </a:rPr>
              <a:t>端）    仅用于一跳类产品线。</a:t>
            </a:r>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66</a:t>
            </a:fld>
            <a:endParaRPr kumimoji="1"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kumimoji="1" lang="zh-CN" altLang="en-US" sz="1200" kern="1200" dirty="0">
                <a:solidFill>
                  <a:schemeClr val="tx1"/>
                </a:solidFill>
                <a:latin typeface="Arial" panose="020B0604020202020204" pitchFamily="34" charset="0"/>
                <a:ea typeface="宋体" charset="0"/>
                <a:cs typeface="宋体" charset="0"/>
              </a:rPr>
              <a:t>实际上从分布特征的概念中可以看出，子维度对象应该是数值</a:t>
            </a:r>
            <a:endParaRPr kumimoji="1" lang="en-US" altLang="zh-CN" sz="1200" kern="1200" dirty="0">
              <a:solidFill>
                <a:schemeClr val="tx1"/>
              </a:solidFill>
              <a:latin typeface="Arial" panose="020B0604020202020204" pitchFamily="34" charset="0"/>
              <a:ea typeface="宋体" charset="0"/>
              <a:cs typeface="宋体" charset="0"/>
            </a:endParaRPr>
          </a:p>
          <a:p>
            <a:pPr marL="0" marR="0" indent="0" algn="l" defTabSz="914400" rtl="0" eaLnBrk="0" fontAlgn="base" latinLnBrk="0" hangingPunct="0">
              <a:lnSpc>
                <a:spcPct val="100000"/>
              </a:lnSpc>
              <a:spcBef>
                <a:spcPct val="30000"/>
              </a:spcBef>
              <a:spcAft>
                <a:spcPct val="0"/>
              </a:spcAft>
              <a:buClrTx/>
              <a:buSzTx/>
              <a:buFontTx/>
              <a:buNone/>
              <a:defRPr/>
            </a:pPr>
            <a:endParaRPr kumimoji="1" lang="en-US" altLang="zh-CN" sz="1200" kern="1200" dirty="0">
              <a:solidFill>
                <a:schemeClr val="tx1"/>
              </a:solidFill>
              <a:latin typeface="Arial" panose="020B0604020202020204" pitchFamily="34" charset="0"/>
              <a:ea typeface="宋体" charset="0"/>
              <a:cs typeface="宋体" charset="0"/>
            </a:endParaRPr>
          </a:p>
          <a:p>
            <a:pPr marL="0" marR="0" indent="0" algn="l" defTabSz="914400" rtl="0" eaLnBrk="0" fontAlgn="base" latinLnBrk="0" hangingPunct="0">
              <a:lnSpc>
                <a:spcPct val="100000"/>
              </a:lnSpc>
              <a:spcBef>
                <a:spcPct val="30000"/>
              </a:spcBef>
              <a:spcAft>
                <a:spcPct val="0"/>
              </a:spcAft>
              <a:buClrTx/>
              <a:buSzTx/>
              <a:buFontTx/>
              <a:buNone/>
              <a:defRPr/>
            </a:pPr>
            <a:r>
              <a:rPr kumimoji="1" lang="zh-CN" altLang="en-US" sz="1200" kern="1200" dirty="0">
                <a:solidFill>
                  <a:schemeClr val="tx1"/>
                </a:solidFill>
                <a:latin typeface="Arial" panose="020B0604020202020204" pitchFamily="34" charset="0"/>
                <a:ea typeface="宋体" charset="0"/>
                <a:cs typeface="宋体" charset="0"/>
              </a:rPr>
              <a:t> </a:t>
            </a:r>
            <a:r>
              <a:rPr kumimoji="1" lang="en-US" altLang="zh-CN" sz="1200" kern="1200" dirty="0" err="1">
                <a:solidFill>
                  <a:schemeClr val="tx1"/>
                </a:solidFill>
                <a:latin typeface="Arial" panose="020B0604020202020204" pitchFamily="34" charset="0"/>
                <a:ea typeface="宋体" charset="0"/>
                <a:cs typeface="宋体" charset="0"/>
              </a:rPr>
              <a:t>cur_count</a:t>
            </a:r>
            <a:r>
              <a:rPr kumimoji="1" lang="en-US" altLang="zh-CN" sz="1200" kern="1200" dirty="0">
                <a:solidFill>
                  <a:schemeClr val="tx1"/>
                </a:solidFill>
                <a:latin typeface="Arial" panose="020B0604020202020204" pitchFamily="34" charset="0"/>
                <a:ea typeface="宋体" charset="0"/>
                <a:cs typeface="宋体" charset="0"/>
              </a:rPr>
              <a:t>&lt;</a:t>
            </a:r>
            <a:r>
              <a:rPr kumimoji="1" lang="en-US" altLang="zh-CN" sz="1200" kern="1200" dirty="0" err="1">
                <a:solidFill>
                  <a:schemeClr val="tx1"/>
                </a:solidFill>
                <a:latin typeface="Arial" panose="020B0604020202020204" pitchFamily="34" charset="0"/>
                <a:ea typeface="宋体" charset="0"/>
                <a:cs typeface="宋体" charset="0"/>
              </a:rPr>
              <a:t>count_threshold</a:t>
            </a:r>
            <a:r>
              <a:rPr kumimoji="1" lang="zh-CN" altLang="en-US" sz="1200" kern="1200" dirty="0">
                <a:solidFill>
                  <a:schemeClr val="tx1"/>
                </a:solidFill>
                <a:latin typeface="Arial" panose="020B0604020202020204" pitchFamily="34" charset="0"/>
                <a:ea typeface="宋体" charset="0"/>
                <a:cs typeface="宋体" charset="0"/>
              </a:rPr>
              <a:t> 或者 </a:t>
            </a:r>
            <a:r>
              <a:rPr kumimoji="1" lang="en-US" altLang="zh-CN" sz="1200" kern="1200" baseline="0" dirty="0" err="1">
                <a:solidFill>
                  <a:schemeClr val="tx1"/>
                </a:solidFill>
                <a:latin typeface="Arial" panose="020B0604020202020204" pitchFamily="34" charset="0"/>
                <a:ea typeface="宋体" charset="0"/>
                <a:cs typeface="宋体" charset="0"/>
              </a:rPr>
              <a:t>pci</a:t>
            </a:r>
            <a:r>
              <a:rPr kumimoji="1" lang="en-US" altLang="zh-CN" sz="1200" kern="1200" baseline="0" dirty="0">
                <a:solidFill>
                  <a:schemeClr val="tx1"/>
                </a:solidFill>
                <a:latin typeface="Arial" panose="020B0604020202020204" pitchFamily="34" charset="0"/>
                <a:ea typeface="宋体" charset="0"/>
                <a:cs typeface="宋体" charset="0"/>
              </a:rPr>
              <a:t>&lt;</a:t>
            </a:r>
            <a:r>
              <a:rPr kumimoji="1" lang="en-US" altLang="zh-CN" sz="1200" kern="1200" baseline="0" dirty="0" err="1">
                <a:solidFill>
                  <a:schemeClr val="tx1"/>
                </a:solidFill>
                <a:latin typeface="Arial" panose="020B0604020202020204" pitchFamily="34" charset="0"/>
                <a:ea typeface="宋体" charset="0"/>
                <a:cs typeface="宋体" charset="0"/>
              </a:rPr>
              <a:t>pbi</a:t>
            </a:r>
            <a:r>
              <a:rPr kumimoji="1" lang="zh-CN" altLang="en-US" sz="1200" kern="1200" baseline="0" dirty="0">
                <a:solidFill>
                  <a:schemeClr val="tx1"/>
                </a:solidFill>
                <a:latin typeface="Arial" panose="020B0604020202020204" pitchFamily="34" charset="0"/>
                <a:ea typeface="宋体" charset="0"/>
                <a:cs typeface="宋体" charset="0"/>
              </a:rPr>
              <a:t>，不过滤</a:t>
            </a:r>
            <a:endParaRPr kumimoji="1" lang="en-US" altLang="zh-CN" sz="1200" kern="1200" baseline="0" dirty="0">
              <a:solidFill>
                <a:schemeClr val="tx1"/>
              </a:solidFill>
              <a:latin typeface="Arial" panose="020B0604020202020204" pitchFamily="34" charset="0"/>
              <a:ea typeface="宋体" charset="0"/>
              <a:cs typeface="宋体" charset="0"/>
            </a:endParaRPr>
          </a:p>
          <a:p>
            <a:pPr marL="0" marR="0" indent="0" algn="l" defTabSz="914400" rtl="0" eaLnBrk="0" fontAlgn="base" latinLnBrk="0" hangingPunct="0">
              <a:lnSpc>
                <a:spcPct val="100000"/>
              </a:lnSpc>
              <a:spcBef>
                <a:spcPct val="30000"/>
              </a:spcBef>
              <a:spcAft>
                <a:spcPct val="0"/>
              </a:spcAft>
              <a:buClrTx/>
              <a:buSzTx/>
              <a:buFontTx/>
              <a:buNone/>
              <a:defRPr/>
            </a:pPr>
            <a:endParaRPr kumimoji="1" lang="en-US" altLang="zh-CN" sz="1200" kern="1200" baseline="0" dirty="0">
              <a:solidFill>
                <a:schemeClr val="tx1"/>
              </a:solidFill>
              <a:latin typeface="Arial" panose="020B0604020202020204" pitchFamily="34" charset="0"/>
              <a:ea typeface="宋体" charset="0"/>
              <a:cs typeface="Times New Roman" panose="02020603050405020304" pitchFamily="18" charset="0"/>
            </a:endParaRPr>
          </a:p>
          <a:p>
            <a:pPr marL="0" marR="0" indent="0" algn="l" defTabSz="914400" rtl="0" eaLnBrk="0" fontAlgn="base" latinLnBrk="0" hangingPunct="0">
              <a:lnSpc>
                <a:spcPct val="100000"/>
              </a:lnSpc>
              <a:spcBef>
                <a:spcPct val="30000"/>
              </a:spcBef>
              <a:spcAft>
                <a:spcPct val="0"/>
              </a:spcAft>
              <a:buClrTx/>
              <a:buSzTx/>
              <a:buFontTx/>
              <a:buNone/>
              <a:defRPr/>
            </a:pPr>
            <a:r>
              <a:rPr kumimoji="1" lang="en-US" altLang="zh-CN" sz="1200" kern="1200" dirty="0" err="1">
                <a:solidFill>
                  <a:schemeClr val="tx1"/>
                </a:solidFill>
                <a:latin typeface="Arial" panose="020B0604020202020204" pitchFamily="34" charset="0"/>
                <a:ea typeface="宋体" charset="0"/>
                <a:cs typeface="宋体" charset="0"/>
              </a:rPr>
              <a:t>Simple_distribution</a:t>
            </a:r>
            <a:r>
              <a:rPr kumimoji="1" lang="zh-CN" altLang="en-US" sz="1200" kern="1200" dirty="0">
                <a:solidFill>
                  <a:schemeClr val="tx1"/>
                </a:solidFill>
                <a:latin typeface="Arial" panose="020B0604020202020204" pitchFamily="34" charset="0"/>
                <a:ea typeface="宋体" charset="0"/>
                <a:cs typeface="宋体" charset="0"/>
              </a:rPr>
              <a:t>的取值有以下两种情况</a:t>
            </a:r>
            <a:endParaRPr kumimoji="1" lang="en-US" altLang="zh-CN" sz="1200" kern="1200" dirty="0">
              <a:solidFill>
                <a:schemeClr val="tx1"/>
              </a:solidFill>
              <a:latin typeface="Arial" panose="020B0604020202020204" pitchFamily="34" charset="0"/>
              <a:ea typeface="宋体" charset="0"/>
              <a:cs typeface="宋体" charset="0"/>
            </a:endParaRPr>
          </a:p>
          <a:p>
            <a:pPr marL="0" marR="0" indent="0" algn="l" defTabSz="914400" rtl="0" eaLnBrk="0" fontAlgn="base" latinLnBrk="0" hangingPunct="0">
              <a:lnSpc>
                <a:spcPct val="100000"/>
              </a:lnSpc>
              <a:spcBef>
                <a:spcPct val="30000"/>
              </a:spcBef>
              <a:spcAft>
                <a:spcPct val="0"/>
              </a:spcAft>
              <a:buClrTx/>
              <a:buSzTx/>
              <a:buFontTx/>
              <a:buNone/>
              <a:defRPr/>
            </a:pPr>
            <a:r>
              <a:rPr kumimoji="1" lang="en-US" altLang="zh-CN" sz="1200" kern="1200" dirty="0">
                <a:solidFill>
                  <a:schemeClr val="tx1"/>
                </a:solidFill>
                <a:latin typeface="Arial" panose="020B0604020202020204" pitchFamily="34" charset="0"/>
                <a:ea typeface="宋体" charset="0"/>
                <a:cs typeface="宋体" charset="0"/>
              </a:rPr>
              <a:t>1,</a:t>
            </a:r>
            <a:r>
              <a:rPr kumimoji="1" lang="zh-CN" altLang="en-US" sz="1200" kern="1200" baseline="0" dirty="0">
                <a:solidFill>
                  <a:schemeClr val="tx1"/>
                </a:solidFill>
                <a:latin typeface="Arial" panose="020B0604020202020204" pitchFamily="34" charset="0"/>
                <a:ea typeface="宋体" charset="0"/>
                <a:cs typeface="宋体" charset="0"/>
              </a:rPr>
              <a:t> </a:t>
            </a:r>
            <a:r>
              <a:rPr kumimoji="1" lang="zh-CN" altLang="en-US" sz="1200" kern="1200" dirty="0">
                <a:solidFill>
                  <a:schemeClr val="tx1"/>
                </a:solidFill>
                <a:latin typeface="Arial" panose="020B0604020202020204" pitchFamily="34" charset="0"/>
                <a:ea typeface="宋体" charset="0"/>
                <a:cs typeface="宋体" charset="0"/>
              </a:rPr>
              <a:t>新公式，距离</a:t>
            </a:r>
            <a:r>
              <a:rPr kumimoji="1" lang="en-US" altLang="zh-CN" sz="1200" kern="1200" dirty="0">
                <a:solidFill>
                  <a:schemeClr val="tx1"/>
                </a:solidFill>
                <a:latin typeface="Arial" panose="020B0604020202020204" pitchFamily="34" charset="0"/>
                <a:ea typeface="宋体" charset="0"/>
                <a:cs typeface="宋体" charset="0"/>
              </a:rPr>
              <a:t>&gt;threshold</a:t>
            </a:r>
            <a:endParaRPr kumimoji="1" lang="zh-CN" altLang="en-US" sz="1200" kern="1200" baseline="0" dirty="0">
              <a:solidFill>
                <a:schemeClr val="tx1"/>
              </a:solidFill>
              <a:latin typeface="Arial" panose="020B0604020202020204" pitchFamily="34" charset="0"/>
              <a:ea typeface="宋体" charset="0"/>
              <a:cs typeface="宋体" charset="0"/>
            </a:endParaRPr>
          </a:p>
          <a:p>
            <a:pPr marL="0" marR="0" indent="0" algn="l" defTabSz="914400" rtl="0" eaLnBrk="0" fontAlgn="base" latinLnBrk="0" hangingPunct="0">
              <a:lnSpc>
                <a:spcPct val="100000"/>
              </a:lnSpc>
              <a:spcBef>
                <a:spcPct val="30000"/>
              </a:spcBef>
              <a:spcAft>
                <a:spcPct val="0"/>
              </a:spcAft>
              <a:buClrTx/>
              <a:buSzTx/>
              <a:buFontTx/>
              <a:buNone/>
              <a:defRPr/>
            </a:pPr>
            <a:r>
              <a:rPr kumimoji="1" lang="en-US" altLang="zh-CN" sz="1200" kern="1200" baseline="0" dirty="0">
                <a:solidFill>
                  <a:schemeClr val="tx1"/>
                </a:solidFill>
                <a:latin typeface="Arial" panose="020B0604020202020204" pitchFamily="34" charset="0"/>
                <a:ea typeface="宋体" charset="0"/>
                <a:cs typeface="宋体" charset="0"/>
              </a:rPr>
              <a:t>0</a:t>
            </a:r>
            <a:r>
              <a:rPr kumimoji="1" lang="zh-CN" altLang="en-US" sz="1200" kern="1200" baseline="0" dirty="0">
                <a:solidFill>
                  <a:schemeClr val="tx1"/>
                </a:solidFill>
                <a:latin typeface="Arial" panose="020B0604020202020204" pitchFamily="34" charset="0"/>
                <a:ea typeface="宋体" charset="0"/>
                <a:cs typeface="宋体" charset="0"/>
              </a:rPr>
              <a:t>，旧公式，引入</a:t>
            </a:r>
            <a:r>
              <a:rPr kumimoji="1" lang="en-US" altLang="zh-CN" sz="1200" kern="1200" baseline="0" dirty="0" err="1">
                <a:solidFill>
                  <a:schemeClr val="tx1"/>
                </a:solidFill>
                <a:latin typeface="Arial" panose="020B0604020202020204" pitchFamily="34" charset="0"/>
                <a:ea typeface="宋体" charset="0"/>
                <a:cs typeface="宋体" charset="0"/>
              </a:rPr>
              <a:t>B_value</a:t>
            </a:r>
            <a:endParaRPr kumimoji="1" lang="zh-CN" altLang="en-US" sz="1200" kern="1200" baseline="0" dirty="0">
              <a:solidFill>
                <a:schemeClr val="tx1"/>
              </a:solidFill>
              <a:latin typeface="Arial" panose="020B0604020202020204" pitchFamily="34" charset="0"/>
              <a:ea typeface="宋体" charset="0"/>
              <a:cs typeface="宋体" charset="0"/>
            </a:endParaRPr>
          </a:p>
          <a:p>
            <a:endParaRPr kumimoji="1" lang="en-US" altLang="zh-CN" dirty="0"/>
          </a:p>
          <a:p>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err="1">
                <a:latin typeface="+mn-ea"/>
                <a:ea typeface="+mn-ea"/>
                <a:cs typeface="宋体" charset="0"/>
              </a:rPr>
              <a:t>data_view</a:t>
            </a:r>
            <a:r>
              <a:rPr lang="zh-CN" altLang="en-US" sz="1200" dirty="0">
                <a:latin typeface="+mn-ea"/>
                <a:ea typeface="+mn-ea"/>
                <a:cs typeface="宋体" charset="0"/>
              </a:rPr>
              <a:t>和</a:t>
            </a:r>
            <a:r>
              <a:rPr lang="en-US" altLang="zh-CN" sz="1200" dirty="0" err="1">
                <a:latin typeface="+mn-ea"/>
                <a:ea typeface="+mn-ea"/>
                <a:cs typeface="宋体" charset="0"/>
              </a:rPr>
              <a:t>cumulate_view</a:t>
            </a:r>
            <a:r>
              <a:rPr lang="zh-CN" altLang="en-US" sz="1200" dirty="0">
                <a:latin typeface="+mn-ea"/>
                <a:ea typeface="+mn-ea"/>
                <a:cs typeface="宋体" charset="0"/>
              </a:rPr>
              <a:t>最多能写几个？</a:t>
            </a:r>
            <a:r>
              <a:rPr lang="en-US" altLang="zh-CN" sz="1200" b="1" dirty="0" err="1">
                <a:latin typeface="+mn-ea"/>
                <a:ea typeface="+mn-ea"/>
                <a:cs typeface="宋体" charset="0"/>
              </a:rPr>
              <a:t>cumulate_view</a:t>
            </a:r>
            <a:r>
              <a:rPr lang="zh-CN" altLang="en-US" sz="1200" b="1" dirty="0">
                <a:latin typeface="+mn-ea"/>
                <a:ea typeface="+mn-ea"/>
                <a:cs typeface="宋体" charset="0"/>
              </a:rPr>
              <a:t>只能写一个</a:t>
            </a:r>
            <a:r>
              <a:rPr lang="zh-CN" altLang="en-US" sz="1200" dirty="0">
                <a:latin typeface="+mn-ea"/>
                <a:ea typeface="+mn-ea"/>
                <a:cs typeface="宋体" charset="0"/>
              </a:rPr>
              <a:t>，</a:t>
            </a:r>
            <a:r>
              <a:rPr lang="en-US" altLang="zh-CN" sz="1200" dirty="0" err="1">
                <a:latin typeface="+mn-ea"/>
                <a:ea typeface="+mn-ea"/>
                <a:cs typeface="宋体" charset="0"/>
              </a:rPr>
              <a:t>data_view</a:t>
            </a:r>
            <a:r>
              <a:rPr lang="zh-CN" altLang="en-US" sz="1200" dirty="0">
                <a:latin typeface="+mn-ea"/>
                <a:ea typeface="+mn-ea"/>
                <a:cs typeface="宋体" charset="0"/>
              </a:rPr>
              <a:t>下值的个数必须要等于</a:t>
            </a:r>
            <a:r>
              <a:rPr lang="en-US" altLang="zh-CN" sz="1200" dirty="0">
                <a:latin typeface="+mn-ea"/>
                <a:ea typeface="+mn-ea"/>
                <a:cs typeface="宋体" charset="0"/>
              </a:rPr>
              <a:t>view</a:t>
            </a:r>
            <a:r>
              <a:rPr lang="zh-CN" altLang="en-US" sz="1200" dirty="0">
                <a:latin typeface="+mn-ea"/>
                <a:ea typeface="+mn-ea"/>
                <a:cs typeface="宋体" charset="0"/>
              </a:rPr>
              <a:t>下值的个数。</a:t>
            </a:r>
            <a:endParaRPr lang="en-US" altLang="zh-CN" sz="1200" dirty="0">
              <a:latin typeface="+mn-ea"/>
              <a:ea typeface="+mn-ea"/>
              <a:cs typeface="宋体" charset="0"/>
            </a:endParaRPr>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67</a:t>
            </a:fld>
            <a:endParaRPr kumimoji="1"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集中度策略和比例策略</a:t>
            </a:r>
          </a:p>
          <a:p>
            <a:r>
              <a:rPr lang="zh-CN" altLang="en-US" dirty="0"/>
              <a:t>如：某</a:t>
            </a:r>
            <a:r>
              <a:rPr lang="en-US" altLang="zh-CN" dirty="0" err="1"/>
              <a:t>userid</a:t>
            </a:r>
            <a:r>
              <a:rPr lang="zh-CN" altLang="en-US" dirty="0"/>
              <a:t>下，某</a:t>
            </a:r>
            <a:r>
              <a:rPr lang="en-US" altLang="zh-CN" dirty="0" err="1"/>
              <a:t>baiduid</a:t>
            </a:r>
            <a:r>
              <a:rPr lang="zh-CN" altLang="en-US" dirty="0"/>
              <a:t>占比过高（点击作弊），</a:t>
            </a:r>
            <a:r>
              <a:rPr lang="en-US" altLang="zh-CN" dirty="0"/>
              <a:t>filter</a:t>
            </a:r>
            <a:r>
              <a:rPr lang="zh-CN" altLang="en-US" dirty="0"/>
              <a:t>不易圈流量</a:t>
            </a:r>
          </a:p>
          <a:p>
            <a:endParaRPr lang="zh-CN" altLang="en-US" dirty="0"/>
          </a:p>
          <a:p>
            <a:r>
              <a:rPr lang="en-US" altLang="zh-CN" dirty="0"/>
              <a:t>Limit 1</a:t>
            </a:r>
            <a:r>
              <a:rPr lang="zh-CN" altLang="en-US" dirty="0"/>
              <a:t>：</a:t>
            </a:r>
            <a:r>
              <a:rPr lang="en-US" altLang="zh-CN" dirty="0"/>
              <a:t>top K</a:t>
            </a:r>
            <a:r>
              <a:rPr lang="zh-CN" altLang="en-US" dirty="0"/>
              <a:t>的</a:t>
            </a:r>
            <a:r>
              <a:rPr lang="en-US" altLang="zh-CN" dirty="0"/>
              <a:t>K</a:t>
            </a:r>
            <a:r>
              <a:rPr lang="zh-CN" altLang="en-US" dirty="0"/>
              <a:t>一般比较小，小于</a:t>
            </a:r>
            <a:r>
              <a:rPr lang="en-US" altLang="zh-CN" dirty="0"/>
              <a:t>100</a:t>
            </a:r>
          </a:p>
          <a:p>
            <a:r>
              <a:rPr lang="en-US" altLang="zh-CN" dirty="0"/>
              <a:t>Limit 2</a:t>
            </a:r>
            <a:r>
              <a:rPr lang="zh-CN" altLang="en-US" dirty="0"/>
              <a:t>：维度一般是比较宽的维度，也就是说独立对象数较多。原因是宽维度下才具备分布统计意义。</a:t>
            </a:r>
          </a:p>
          <a:p>
            <a:r>
              <a:rPr lang="en-US" altLang="zh-CN" dirty="0"/>
              <a:t>Limit 3</a:t>
            </a:r>
            <a:r>
              <a:rPr lang="zh-CN" altLang="en-US" dirty="0"/>
              <a:t>：子维度对象的频次分布一般具备长尾特征，即可能存在</a:t>
            </a:r>
            <a:r>
              <a:rPr lang="en-US" altLang="zh-CN" dirty="0"/>
              <a:t>50%</a:t>
            </a:r>
            <a:r>
              <a:rPr lang="zh-CN" altLang="en-US" dirty="0"/>
              <a:t>的子维度对象的频次占比都小于千分之一。</a:t>
            </a:r>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68</a:t>
            </a:fld>
            <a:endParaRPr kumimoji="1"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base"/>
            <a:br>
              <a:rPr lang="en-GB" altLang="zh-CN" sz="1200" b="0" kern="1200" dirty="0">
                <a:solidFill>
                  <a:schemeClr val="tx1"/>
                </a:solidFill>
                <a:effectLst/>
                <a:latin typeface="+mn-lt"/>
                <a:ea typeface="+mn-ea"/>
                <a:cs typeface="+mn-cs"/>
              </a:rPr>
            </a:br>
            <a:r>
              <a:rPr lang="en-GB" altLang="zh-CN" sz="1200" b="0" kern="1200" dirty="0" err="1">
                <a:solidFill>
                  <a:schemeClr val="tx1"/>
                </a:solidFill>
                <a:effectLst/>
                <a:latin typeface="+mn-lt"/>
                <a:ea typeface="+mn-ea"/>
                <a:cs typeface="+mn-cs"/>
              </a:rPr>
              <a:t>url_type</a:t>
            </a:r>
            <a:endParaRPr lang="en-GB" altLang="zh-CN" sz="1200" b="0" kern="1200" dirty="0">
              <a:solidFill>
                <a:schemeClr val="tx1"/>
              </a:solidFill>
              <a:effectLst/>
              <a:latin typeface="+mn-lt"/>
              <a:ea typeface="+mn-ea"/>
              <a:cs typeface="+mn-cs"/>
            </a:endParaRPr>
          </a:p>
          <a:p>
            <a:pPr fontAlgn="base"/>
            <a:r>
              <a:rPr lang="en-GB" altLang="zh-CN" sz="1200" b="0" kern="1200" dirty="0" err="1">
                <a:solidFill>
                  <a:schemeClr val="tx1"/>
                </a:solidFill>
                <a:effectLst/>
                <a:latin typeface="+mn-lt"/>
                <a:ea typeface="+mn-ea"/>
                <a:cs typeface="+mn-cs"/>
              </a:rPr>
              <a:t>pv_level</a:t>
            </a:r>
            <a:endParaRPr lang="en-GB" altLang="zh-CN" sz="1200" b="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defRPr/>
            </a:pPr>
            <a:r>
              <a:rPr lang="en-GB" altLang="zh-CN" sz="1200" b="0" kern="1200" dirty="0">
                <a:solidFill>
                  <a:schemeClr val="tx1"/>
                </a:solidFill>
                <a:effectLst/>
                <a:latin typeface="+mn-lt"/>
                <a:ea typeface="+mn-ea"/>
                <a:cs typeface="+mn-cs"/>
              </a:rPr>
              <a:t>direct(</a:t>
            </a:r>
            <a:r>
              <a:rPr lang="en-GB" altLang="zh-CN" sz="1200" b="0" kern="1200" dirty="0" err="1">
                <a:solidFill>
                  <a:schemeClr val="tx1"/>
                </a:solidFill>
                <a:effectLst/>
                <a:latin typeface="+mn-lt"/>
                <a:ea typeface="+mn-ea"/>
                <a:cs typeface="+mn-cs"/>
              </a:rPr>
              <a:t>url_type</a:t>
            </a:r>
            <a:r>
              <a:rPr lang="en-GB"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 </a:t>
            </a:r>
            <a:r>
              <a:rPr kumimoji="1" lang="en-US" altLang="zh-CN" dirty="0" err="1"/>
              <a:t>url_type</a:t>
            </a:r>
            <a:r>
              <a:rPr kumimoji="1" lang="en-US" altLang="zh-CN" dirty="0"/>
              <a:t>,</a:t>
            </a:r>
            <a:r>
              <a:rPr kumimoji="1" lang="zh-CN" altLang="en-US" dirty="0"/>
              <a:t> 表征此次检索，描述检索属性，特点，</a:t>
            </a:r>
            <a:r>
              <a:rPr kumimoji="1" lang="en-US" altLang="zh-CN" dirty="0" err="1"/>
              <a:t>url</a:t>
            </a:r>
            <a:r>
              <a:rPr kumimoji="1" lang="zh-CN" altLang="en-US" dirty="0"/>
              <a:t>后面多个域的取值拼接在一起的结果。</a:t>
            </a:r>
          </a:p>
          <a:p>
            <a:pPr fontAlgn="base"/>
            <a:endParaRPr lang="en-GB" altLang="zh-CN" sz="1200" b="0" kern="1200" dirty="0">
              <a:solidFill>
                <a:schemeClr val="tx1"/>
              </a:solidFill>
              <a:effectLst/>
              <a:latin typeface="+mn-lt"/>
              <a:ea typeface="+mn-ea"/>
              <a:cs typeface="+mn-cs"/>
            </a:endParaRPr>
          </a:p>
          <a:p>
            <a:pPr fontAlgn="base"/>
            <a:endParaRPr lang="en-GB" altLang="zh-CN" sz="1200" b="0" kern="1200" dirty="0">
              <a:solidFill>
                <a:schemeClr val="tx1"/>
              </a:solidFill>
              <a:effectLst/>
              <a:latin typeface="+mn-lt"/>
              <a:ea typeface="+mn-ea"/>
              <a:cs typeface="+mn-cs"/>
            </a:endParaRPr>
          </a:p>
          <a:p>
            <a:pPr fontAlgn="base"/>
            <a:r>
              <a:rPr lang="en-US" altLang="zh-CN" sz="1200" b="0" kern="1200" dirty="0" err="1">
                <a:solidFill>
                  <a:schemeClr val="tx1"/>
                </a:solidFill>
                <a:effectLst/>
                <a:latin typeface="+mn-lt"/>
                <a:ea typeface="+mn-ea"/>
                <a:cs typeface="+mn-cs"/>
              </a:rPr>
              <a:t>Url_sa</a:t>
            </a:r>
            <a:r>
              <a:rPr lang="zh-CN" altLang="en-US" sz="1200" b="0" kern="1200" dirty="0">
                <a:solidFill>
                  <a:schemeClr val="tx1"/>
                </a:solidFill>
                <a:effectLst/>
                <a:latin typeface="+mn-lt"/>
                <a:ea typeface="+mn-ea"/>
                <a:cs typeface="+mn-cs"/>
              </a:rPr>
              <a:t>  </a:t>
            </a:r>
            <a:r>
              <a:rPr lang="en-US" altLang="zh-CN" sz="1200" b="0" kern="1200" dirty="0" err="1">
                <a:solidFill>
                  <a:schemeClr val="tx1"/>
                </a:solidFill>
                <a:effectLst/>
                <a:latin typeface="+mn-lt"/>
                <a:ea typeface="+mn-ea"/>
                <a:cs typeface="+mn-cs"/>
              </a:rPr>
              <a:t>pv</a:t>
            </a:r>
            <a:r>
              <a:rPr lang="zh-CN" altLang="en-US" sz="1200" b="0" kern="1200" dirty="0">
                <a:solidFill>
                  <a:schemeClr val="tx1"/>
                </a:solidFill>
                <a:effectLst/>
                <a:latin typeface="+mn-lt"/>
                <a:ea typeface="+mn-ea"/>
                <a:cs typeface="+mn-cs"/>
              </a:rPr>
              <a:t> </a:t>
            </a:r>
            <a:r>
              <a:rPr lang="en-US" altLang="zh-CN" sz="1200" b="0" kern="1200" dirty="0">
                <a:solidFill>
                  <a:schemeClr val="tx1"/>
                </a:solidFill>
                <a:effectLst/>
                <a:latin typeface="+mn-lt"/>
                <a:ea typeface="+mn-ea"/>
                <a:cs typeface="+mn-cs"/>
              </a:rPr>
              <a:t>direct(</a:t>
            </a:r>
            <a:r>
              <a:rPr lang="en-US" altLang="zh-CN" sz="1200" b="0" kern="1200" dirty="0" err="1">
                <a:solidFill>
                  <a:schemeClr val="tx1"/>
                </a:solidFill>
                <a:effectLst/>
                <a:latin typeface="+mn-lt"/>
                <a:ea typeface="+mn-ea"/>
                <a:cs typeface="+mn-cs"/>
              </a:rPr>
              <a:t>url</a:t>
            </a:r>
            <a:r>
              <a:rPr lang="en-US" altLang="zh-CN" sz="1200" b="0" kern="1200" dirty="0">
                <a:solidFill>
                  <a:schemeClr val="tx1"/>
                </a:solidFill>
                <a:effectLst/>
                <a:latin typeface="+mn-lt"/>
                <a:ea typeface="+mn-ea"/>
                <a:cs typeface="+mn-cs"/>
              </a:rPr>
              <a:t>)</a:t>
            </a:r>
            <a:endParaRPr lang="en-GB" altLang="zh-CN" sz="1200" b="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69</a:t>
            </a:fld>
            <a:endParaRPr kumimoji="1"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实现方式：</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70</a:t>
            </a:fld>
            <a:endParaRPr kumimoji="1"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Srcid_list</a:t>
            </a:r>
            <a:r>
              <a:rPr kumimoji="1" lang="zh-CN" altLang="en-US" dirty="0"/>
              <a:t> </a:t>
            </a:r>
            <a:r>
              <a:rPr kumimoji="1" lang="en-US" altLang="zh-CN" dirty="0" err="1"/>
              <a:t>pv</a:t>
            </a:r>
            <a:r>
              <a:rPr kumimoji="1" lang="zh-CN" altLang="en-US" dirty="0"/>
              <a:t> </a:t>
            </a:r>
            <a:r>
              <a:rPr kumimoji="1" lang="en-US" altLang="zh-CN" dirty="0"/>
              <a:t>direct(</a:t>
            </a:r>
            <a:r>
              <a:rPr kumimoji="1" lang="en-US" altLang="zh-CN" dirty="0" err="1"/>
              <a:t>srcid_list</a:t>
            </a:r>
            <a:r>
              <a:rPr kumimoji="1" lang="en-US" altLang="zh-CN" dirty="0"/>
              <a:t>)</a:t>
            </a:r>
          </a:p>
          <a:p>
            <a:endParaRPr kumimoji="1" lang="en-US" altLang="zh-CN" dirty="0"/>
          </a:p>
          <a:p>
            <a:r>
              <a:rPr lang="en-GB" altLang="zh-CN" sz="1200" b="0" i="0" u="none" strike="noStrike" kern="1200" dirty="0" err="1">
                <a:solidFill>
                  <a:schemeClr val="tx1"/>
                </a:solidFill>
                <a:effectLst/>
                <a:latin typeface="+mn-lt"/>
                <a:ea typeface="+mn-ea"/>
                <a:cs typeface="+mn-cs"/>
              </a:rPr>
              <a:t>pre_feat_distance</a:t>
            </a:r>
            <a:r>
              <a:rPr lang="zh-CN" altLang="en-US" sz="1200" b="0" i="0" u="none" strike="noStrike" kern="1200" dirty="0">
                <a:solidFill>
                  <a:schemeClr val="tx1"/>
                </a:solidFill>
                <a:effectLst/>
                <a:latin typeface="+mn-lt"/>
                <a:ea typeface="+mn-ea"/>
                <a:cs typeface="+mn-cs"/>
              </a:rPr>
              <a:t>存储当前日志与其最近邻日志的坐标差（如果与当前日志坐标差在</a:t>
            </a:r>
            <a:r>
              <a:rPr lang="en-GB" altLang="zh-CN" sz="1200" b="0" i="0" u="none" strike="noStrike" kern="1200" dirty="0">
                <a:solidFill>
                  <a:schemeClr val="tx1"/>
                </a:solidFill>
                <a:effectLst/>
                <a:latin typeface="+mn-lt"/>
                <a:ea typeface="+mn-ea"/>
                <a:cs typeface="+mn-cs"/>
              </a:rPr>
              <a:t>range</a:t>
            </a:r>
            <a:r>
              <a:rPr lang="zh-CN" altLang="en-US" sz="1200" b="0" i="0" u="none" strike="noStrike" kern="1200" dirty="0">
                <a:solidFill>
                  <a:schemeClr val="tx1"/>
                </a:solidFill>
                <a:effectLst/>
                <a:latin typeface="+mn-lt"/>
                <a:ea typeface="+mn-ea"/>
                <a:cs typeface="+mn-cs"/>
              </a:rPr>
              <a:t>范围内的日志量不为空）或者是默认值（在</a:t>
            </a:r>
            <a:r>
              <a:rPr lang="en-GB" altLang="zh-CN" sz="1200" b="0" i="0" u="none" strike="noStrike" kern="1200" dirty="0">
                <a:solidFill>
                  <a:schemeClr val="tx1"/>
                </a:solidFill>
                <a:effectLst/>
                <a:latin typeface="+mn-lt"/>
                <a:ea typeface="+mn-ea"/>
                <a:cs typeface="+mn-cs"/>
              </a:rPr>
              <a:t>range</a:t>
            </a:r>
            <a:r>
              <a:rPr lang="zh-CN" altLang="en-US" sz="1200" b="0" i="0" u="none" strike="noStrike" kern="1200" dirty="0">
                <a:solidFill>
                  <a:schemeClr val="tx1"/>
                </a:solidFill>
                <a:effectLst/>
                <a:latin typeface="+mn-lt"/>
                <a:ea typeface="+mn-ea"/>
                <a:cs typeface="+mn-cs"/>
              </a:rPr>
              <a:t>范围内的日志量为空）。</a:t>
            </a:r>
            <a:r>
              <a:rPr lang="en-GB" altLang="zh-CN" sz="1200" b="0" i="0" u="none" strike="noStrike" kern="1200" dirty="0">
                <a:solidFill>
                  <a:schemeClr val="tx1"/>
                </a:solidFill>
                <a:effectLst/>
                <a:latin typeface="+mn-lt"/>
                <a:ea typeface="+mn-ea"/>
                <a:cs typeface="+mn-cs"/>
              </a:rPr>
              <a:t>Policy</a:t>
            </a:r>
            <a:r>
              <a:rPr lang="zh-CN" altLang="en-US" sz="1200" b="0" i="0" u="none" strike="noStrike" kern="1200" dirty="0">
                <a:solidFill>
                  <a:schemeClr val="tx1"/>
                </a:solidFill>
                <a:effectLst/>
                <a:latin typeface="+mn-lt"/>
                <a:ea typeface="+mn-ea"/>
                <a:cs typeface="+mn-cs"/>
              </a:rPr>
              <a:t>中判断与最近邻日志坐标差是否在阈值范围内有两个实现逻辑，其中一个是直接用</a:t>
            </a:r>
            <a:r>
              <a:rPr lang="en-GB" altLang="zh-CN" sz="1200" b="0" i="0" u="none" strike="noStrike" kern="1200" dirty="0" err="1">
                <a:solidFill>
                  <a:schemeClr val="tx1"/>
                </a:solidFill>
                <a:effectLst/>
                <a:latin typeface="+mn-lt"/>
                <a:ea typeface="+mn-ea"/>
                <a:cs typeface="+mn-cs"/>
              </a:rPr>
              <a:t>pre_feat_distance</a:t>
            </a:r>
            <a:r>
              <a:rPr lang="zh-CN" altLang="en-US" sz="1200" b="0" i="0" u="none" strike="noStrike" kern="1200" dirty="0">
                <a:solidFill>
                  <a:schemeClr val="tx1"/>
                </a:solidFill>
                <a:effectLst/>
                <a:latin typeface="+mn-lt"/>
                <a:ea typeface="+mn-ea"/>
                <a:cs typeface="+mn-cs"/>
              </a:rPr>
              <a:t>存储的</a:t>
            </a:r>
            <a:r>
              <a:rPr lang="en-GB" altLang="zh-CN" sz="1200" b="0" i="0" u="none" strike="noStrike" kern="1200" dirty="0">
                <a:solidFill>
                  <a:schemeClr val="tx1"/>
                </a:solidFill>
                <a:effectLst/>
                <a:latin typeface="+mn-lt"/>
                <a:ea typeface="+mn-ea"/>
                <a:cs typeface="+mn-cs"/>
              </a:rPr>
              <a:t>diff</a:t>
            </a:r>
            <a:r>
              <a:rPr lang="zh-CN" altLang="en-US" sz="1200" b="0" i="0" u="none" strike="noStrike" kern="1200" dirty="0">
                <a:solidFill>
                  <a:schemeClr val="tx1"/>
                </a:solidFill>
                <a:effectLst/>
                <a:latin typeface="+mn-lt"/>
                <a:ea typeface="+mn-ea"/>
                <a:cs typeface="+mn-cs"/>
              </a:rPr>
              <a:t>值与阈值区间比较。</a:t>
            </a:r>
          </a:p>
          <a:p>
            <a:endParaRPr lang="en-US" altLang="zh-CN" dirty="0"/>
          </a:p>
          <a:p>
            <a:endParaRPr lang="en-US" altLang="zh-CN" dirty="0"/>
          </a:p>
          <a:p>
            <a:r>
              <a:rPr lang="en-US" altLang="zh-CN" dirty="0" err="1"/>
              <a:t>Empty_file</a:t>
            </a:r>
            <a:r>
              <a:rPr lang="en-US" altLang="zh-CN" dirty="0"/>
              <a:t>:</a:t>
            </a:r>
            <a:r>
              <a:rPr lang="en-GB" altLang="zh-CN" sz="1200" b="0" i="0" u="none" strike="noStrike" kern="1200" dirty="0">
                <a:solidFill>
                  <a:schemeClr val="tx1"/>
                </a:solidFill>
                <a:effectLst/>
                <a:latin typeface="+mn-lt"/>
                <a:ea typeface="+mn-ea"/>
                <a:cs typeface="+mn-cs"/>
              </a:rPr>
              <a:t>App</a:t>
            </a:r>
            <a:r>
              <a:rPr lang="zh-CN" altLang="en-US" sz="1200" b="0" i="0" u="none" strike="noStrike" kern="1200" dirty="0">
                <a:solidFill>
                  <a:schemeClr val="tx1"/>
                </a:solidFill>
                <a:effectLst/>
                <a:latin typeface="+mn-lt"/>
                <a:ea typeface="+mn-ea"/>
                <a:cs typeface="+mn-cs"/>
              </a:rPr>
              <a:t>灰名单，是一个空文件。这个</a:t>
            </a:r>
            <a:r>
              <a:rPr lang="en-GB" altLang="zh-CN" sz="1200" b="0" i="0" u="none" strike="noStrike" kern="1200" dirty="0" err="1">
                <a:solidFill>
                  <a:schemeClr val="tx1"/>
                </a:solidFill>
                <a:effectLst/>
                <a:latin typeface="+mn-lt"/>
                <a:ea typeface="+mn-ea"/>
                <a:cs typeface="+mn-cs"/>
              </a:rPr>
              <a:t>empty_file</a:t>
            </a:r>
            <a:r>
              <a:rPr lang="zh-CN" altLang="en-US" sz="1200" b="0" i="0" u="none" strike="noStrike" kern="1200" dirty="0">
                <a:solidFill>
                  <a:schemeClr val="tx1"/>
                </a:solidFill>
                <a:effectLst/>
                <a:latin typeface="+mn-lt"/>
                <a:ea typeface="+mn-ea"/>
                <a:cs typeface="+mn-cs"/>
              </a:rPr>
              <a:t>是在</a:t>
            </a:r>
            <a:r>
              <a:rPr lang="en-GB" altLang="zh-CN" sz="1200" b="0" i="0" u="none" strike="noStrike" kern="1200" dirty="0" err="1">
                <a:solidFill>
                  <a:schemeClr val="tx1"/>
                </a:solidFill>
                <a:effectLst/>
                <a:latin typeface="+mn-lt"/>
                <a:ea typeface="+mn-ea"/>
                <a:cs typeface="+mn-cs"/>
              </a:rPr>
              <a:t>gray_file</a:t>
            </a:r>
            <a:r>
              <a:rPr lang="zh-CN" altLang="en-US" sz="1200" b="0" i="0" u="none" strike="noStrike" kern="1200" dirty="0">
                <a:solidFill>
                  <a:schemeClr val="tx1"/>
                </a:solidFill>
                <a:effectLst/>
                <a:latin typeface="+mn-lt"/>
                <a:ea typeface="+mn-ea"/>
                <a:cs typeface="+mn-cs"/>
              </a:rPr>
              <a:t>灰名单下配置的。这个配置是为了满足当时工程上的一种需求而做的，当时黑名单中的有些名字不需要命中，因此将它加到灰名单中，目前已经没有这种需求，但是为了适配工程上的配置，若需要配置</a:t>
            </a:r>
            <a:r>
              <a:rPr lang="en-GB" altLang="zh-CN" sz="1200" b="0" i="0" u="none" strike="noStrike" kern="1200" dirty="0" err="1">
                <a:solidFill>
                  <a:schemeClr val="tx1"/>
                </a:solidFill>
                <a:effectLst/>
                <a:latin typeface="+mn-lt"/>
                <a:ea typeface="+mn-ea"/>
                <a:cs typeface="+mn-cs"/>
              </a:rPr>
              <a:t>gray_file</a:t>
            </a:r>
            <a:r>
              <a:rPr lang="zh-CN" altLang="en-GB" sz="1200" b="0" i="0" u="none" strike="noStrike" kern="1200" dirty="0">
                <a:solidFill>
                  <a:schemeClr val="tx1"/>
                </a:solidFill>
                <a:effectLst/>
                <a:latin typeface="+mn-lt"/>
                <a:ea typeface="+mn-ea"/>
                <a:cs typeface="+mn-cs"/>
              </a:rPr>
              <a:t>，</a:t>
            </a:r>
            <a:r>
              <a:rPr lang="zh-CN" altLang="en-US" sz="1200" b="0" i="0" u="none" strike="noStrike" kern="1200" dirty="0">
                <a:solidFill>
                  <a:schemeClr val="tx1"/>
                </a:solidFill>
                <a:effectLst/>
                <a:latin typeface="+mn-lt"/>
                <a:ea typeface="+mn-ea"/>
                <a:cs typeface="+mn-cs"/>
              </a:rPr>
              <a:t>则用</a:t>
            </a:r>
            <a:r>
              <a:rPr lang="en-GB" altLang="zh-CN" sz="1200" b="0" i="0" u="none" strike="noStrike" kern="1200" dirty="0" err="1">
                <a:solidFill>
                  <a:schemeClr val="tx1"/>
                </a:solidFill>
                <a:effectLst/>
                <a:latin typeface="+mn-lt"/>
                <a:ea typeface="+mn-ea"/>
                <a:cs typeface="+mn-cs"/>
              </a:rPr>
              <a:t>empty_file</a:t>
            </a:r>
            <a:r>
              <a:rPr lang="zh-CN" altLang="en-US" sz="1200" b="0" i="0" u="none" strike="noStrike" kern="1200" dirty="0">
                <a:solidFill>
                  <a:schemeClr val="tx1"/>
                </a:solidFill>
                <a:effectLst/>
                <a:latin typeface="+mn-lt"/>
                <a:ea typeface="+mn-ea"/>
                <a:cs typeface="+mn-cs"/>
              </a:rPr>
              <a:t>文件配置。</a:t>
            </a:r>
            <a:br>
              <a:rPr lang="zh-CN" altLang="en-US" dirty="0"/>
            </a:b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71</a:t>
            </a:fld>
            <a:endParaRPr kumimoji="1"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实现方式：</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72</a:t>
            </a:fld>
            <a:endParaRPr kumimoji="1"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dirty="0" err="1"/>
              <a:t>Pn:page</a:t>
            </a:r>
            <a:r>
              <a:rPr kumimoji="1" lang="zh-CN" altLang="en-US" baseline="0" dirty="0"/>
              <a:t> </a:t>
            </a:r>
            <a:r>
              <a:rPr kumimoji="1" lang="en-US" altLang="zh-CN" baseline="0" dirty="0"/>
              <a:t>number,</a:t>
            </a:r>
            <a:r>
              <a:rPr kumimoji="1" lang="zh-CN" altLang="en-US" baseline="0" dirty="0"/>
              <a:t>第几页，首页从</a:t>
            </a:r>
            <a:r>
              <a:rPr kumimoji="1" lang="en-US" altLang="zh-CN" baseline="0" dirty="0"/>
              <a:t>0</a:t>
            </a:r>
            <a:r>
              <a:rPr kumimoji="1" lang="zh-CN" altLang="en-US" baseline="0" dirty="0"/>
              <a:t>开始，这一策略</a:t>
            </a:r>
            <a:r>
              <a:rPr kumimoji="1" lang="zh-CN" altLang="en-US" dirty="0"/>
              <a:t>处理的是</a:t>
            </a:r>
            <a:r>
              <a:rPr kumimoji="1" lang="en-US" altLang="zh-CN" dirty="0"/>
              <a:t>wise</a:t>
            </a:r>
            <a:r>
              <a:rPr kumimoji="1" lang="zh-CN" altLang="en-US" dirty="0"/>
              <a:t>端回翻类问题，其实不同频道都会有这一问题，也有相对应的策略，阈值是不同的。</a:t>
            </a:r>
            <a:endParaRPr lang="en-US" altLang="zh-CN" sz="1200" dirty="0">
              <a:solidFill>
                <a:srgbClr val="33CC33"/>
              </a:solidFill>
              <a:latin typeface="Times New Roman" panose="02020603050405020304" pitchFamily="18" charset="0"/>
              <a:cs typeface="Times New Roman" panose="02020603050405020304" pitchFamily="18" charset="0"/>
            </a:endParaRPr>
          </a:p>
          <a:p>
            <a:endParaRPr kumimoji="1" lang="zh-CN" altLang="en-US" b="1"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73</a:t>
            </a:fld>
            <a:endParaRPr kumimoji="1"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实现方式：</a:t>
            </a:r>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74</a:t>
            </a:fld>
            <a:endParaRPr kumimoji="1"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4025440-15E5-2644-90EE-6D169A986B07}" type="slidenum">
              <a:rPr kumimoji="1" lang="zh-CN" altLang="en-US" smtClean="0"/>
              <a:t>75</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456EFEC5-625B-CB41-914F-9AEB466A83E3}" type="datetimeFigureOut">
              <a:rPr kumimoji="1" lang="zh-CN" altLang="en-US" smtClean="0"/>
              <a:t>2022/8/9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01151D4-D05D-F543-B21D-C8EB557F57B5}"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456EFEC5-625B-CB41-914F-9AEB466A83E3}" type="datetimeFigureOut">
              <a:rPr kumimoji="1" lang="zh-CN" altLang="en-US" smtClean="0"/>
              <a:t>2022/8/9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01151D4-D05D-F543-B21D-C8EB557F57B5}"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456EFEC5-625B-CB41-914F-9AEB466A83E3}" type="datetimeFigureOut">
              <a:rPr kumimoji="1" lang="zh-CN" altLang="en-US" smtClean="0"/>
              <a:t>2022/8/9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01151D4-D05D-F543-B21D-C8EB557F57B5}"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456EFEC5-625B-CB41-914F-9AEB466A83E3}" type="datetimeFigureOut">
              <a:rPr kumimoji="1" lang="zh-CN" altLang="en-US" smtClean="0"/>
              <a:t>2022/8/9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01151D4-D05D-F543-B21D-C8EB557F57B5}"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456EFEC5-625B-CB41-914F-9AEB466A83E3}" type="datetimeFigureOut">
              <a:rPr kumimoji="1" lang="zh-CN" altLang="en-US" smtClean="0"/>
              <a:t>2022/8/9</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601151D4-D05D-F543-B21D-C8EB557F57B5}"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456EFEC5-625B-CB41-914F-9AEB466A83E3}" type="datetimeFigureOut">
              <a:rPr kumimoji="1" lang="zh-CN" altLang="en-US" smtClean="0"/>
              <a:t>2022/8/9</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601151D4-D05D-F543-B21D-C8EB557F57B5}"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56EFEC5-625B-CB41-914F-9AEB466A83E3}" type="datetimeFigureOut">
              <a:rPr kumimoji="1" lang="zh-CN" altLang="en-US" smtClean="0"/>
              <a:t>2022/8/9</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601151D4-D05D-F543-B21D-C8EB557F57B5}"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456EFEC5-625B-CB41-914F-9AEB466A83E3}" type="datetimeFigureOut">
              <a:rPr kumimoji="1" lang="zh-CN" altLang="en-US" smtClean="0"/>
              <a:t>2022/8/9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01151D4-D05D-F543-B21D-C8EB557F57B5}"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456EFEC5-625B-CB41-914F-9AEB466A83E3}" type="datetimeFigureOut">
              <a:rPr kumimoji="1" lang="zh-CN" altLang="en-US" smtClean="0"/>
              <a:t>2022/8/9</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601151D4-D05D-F543-B21D-C8EB557F57B5}"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456EFEC5-625B-CB41-914F-9AEB466A83E3}" type="datetimeFigureOut">
              <a:rPr kumimoji="1" lang="zh-CN" altLang="en-US" smtClean="0"/>
              <a:t>2022/8/9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01151D4-D05D-F543-B21D-C8EB557F57B5}"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456EFEC5-625B-CB41-914F-9AEB466A83E3}" type="datetimeFigureOut">
              <a:rPr kumimoji="1" lang="zh-CN" altLang="en-US" smtClean="0"/>
              <a:t>2022/8/9</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601151D4-D05D-F543-B21D-C8EB557F57B5}"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6EFEC5-625B-CB41-914F-9AEB466A83E3}" type="datetimeFigureOut">
              <a:rPr kumimoji="1" lang="zh-CN" altLang="en-US" smtClean="0"/>
              <a:t>2022/8/9</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1151D4-D05D-F543-B21D-C8EB557F57B5}"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tiff"/></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hyperlink" Target="http://m.baidu.com/xxxx.php" TargetMode="External"/><Relationship Id="rId4" Type="http://schemas.openxmlformats.org/officeDocument/2006/relationships/hyperlink" Target="http://www.baidu.com/xxxx.php"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
          <p:cNvSpPr/>
          <p:nvPr/>
        </p:nvSpPr>
        <p:spPr bwMode="auto">
          <a:xfrm>
            <a:off x="3611200" y="2498559"/>
            <a:ext cx="2340000" cy="180000"/>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13" name="Rectangle 2"/>
          <p:cNvSpPr/>
          <p:nvPr/>
        </p:nvSpPr>
        <p:spPr bwMode="auto">
          <a:xfrm>
            <a:off x="5951200" y="2498559"/>
            <a:ext cx="2340000" cy="180000"/>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14" name="Rectangle 4"/>
          <p:cNvSpPr txBox="1">
            <a:spLocks noChangeArrowheads="1"/>
          </p:cNvSpPr>
          <p:nvPr/>
        </p:nvSpPr>
        <p:spPr>
          <a:xfrm>
            <a:off x="3017981" y="1580447"/>
            <a:ext cx="5623252" cy="720080"/>
          </a:xfrm>
          <a:prstGeom prst="rect">
            <a:avLst/>
          </a:prstGeom>
          <a:solidFill>
            <a:srgbClr val="FFFFFF"/>
          </a:solidFill>
          <a:extLst>
            <a:ext uri="{91240B29-F687-4F45-9708-019B960494DF}">
              <a14:hiddenLine xmlns:a14="http://schemas.microsoft.com/office/drawing/2010/main" w="9525">
                <a:solidFill>
                  <a:srgbClr val="000000"/>
                </a:solidFill>
                <a:round/>
              </a14:hiddenLine>
            </a:ext>
          </a:extLst>
        </p:spPr>
        <p:txBody>
          <a:bodyPr vert="horz" lIns="126435" tIns="72248" rIns="126435" bIns="72248" rtlCol="0" anchor="t">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900"/>
              <a:t>策略串讲</a:t>
            </a:r>
            <a:endParaRPr lang="zh-CN" altLang="en-US" sz="4900" dirty="0">
              <a:ea typeface="宋体" pitchFamily="2" charset="-122"/>
            </a:endParaRPr>
          </a:p>
        </p:txBody>
      </p:sp>
      <p:sp>
        <p:nvSpPr>
          <p:cNvPr id="15" name="TextBox 1"/>
          <p:cNvSpPr txBox="1">
            <a:spLocks noChangeArrowheads="1"/>
          </p:cNvSpPr>
          <p:nvPr/>
        </p:nvSpPr>
        <p:spPr bwMode="auto">
          <a:xfrm>
            <a:off x="5217783" y="3429000"/>
            <a:ext cx="1466834" cy="930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a:defRPr sz="3600">
                <a:solidFill>
                  <a:srgbClr val="000000"/>
                </a:solidFill>
                <a:latin typeface="Helvetica Light" charset="0"/>
                <a:ea typeface="Helvetica Light" charset="0"/>
                <a:cs typeface="Helvetica Light" charset="0"/>
                <a:sym typeface="Helvetica Light" charset="0"/>
              </a:defRPr>
            </a:lvl1pPr>
            <a:lvl2pPr marL="742950" indent="-285750" eaLnBrk="0">
              <a:defRPr sz="3600">
                <a:solidFill>
                  <a:srgbClr val="000000"/>
                </a:solidFill>
                <a:latin typeface="Helvetica Light" charset="0"/>
                <a:ea typeface="Helvetica Light" charset="0"/>
                <a:cs typeface="Helvetica Light" charset="0"/>
                <a:sym typeface="Helvetica Light" charset="0"/>
              </a:defRPr>
            </a:lvl2pPr>
            <a:lvl3pPr marL="1143000" indent="-228600" eaLnBrk="0">
              <a:defRPr sz="3600">
                <a:solidFill>
                  <a:srgbClr val="000000"/>
                </a:solidFill>
                <a:latin typeface="Helvetica Light" charset="0"/>
                <a:ea typeface="Helvetica Light" charset="0"/>
                <a:cs typeface="Helvetica Light" charset="0"/>
                <a:sym typeface="Helvetica Light" charset="0"/>
              </a:defRPr>
            </a:lvl3pPr>
            <a:lvl4pPr marL="1600200" indent="-228600" eaLnBrk="0">
              <a:defRPr sz="3600">
                <a:solidFill>
                  <a:srgbClr val="000000"/>
                </a:solidFill>
                <a:latin typeface="Helvetica Light" charset="0"/>
                <a:ea typeface="Helvetica Light" charset="0"/>
                <a:cs typeface="Helvetica Light" charset="0"/>
                <a:sym typeface="Helvetica Light" charset="0"/>
              </a:defRPr>
            </a:lvl4pPr>
            <a:lvl5pPr marL="2057400" indent="-228600" eaLnBrk="0">
              <a:defRPr sz="3600">
                <a:solidFill>
                  <a:srgbClr val="000000"/>
                </a:solidFill>
                <a:latin typeface="Helvetica Light" charset="0"/>
                <a:ea typeface="Helvetica Light" charset="0"/>
                <a:cs typeface="Helvetica Light" charset="0"/>
                <a:sym typeface="Helvetica Light" charset="0"/>
              </a:defRPr>
            </a:lvl5pPr>
            <a:lvl6pPr marL="2514600" indent="-228600" algn="ctr" defTabSz="584200" eaLnBrk="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6pPr>
            <a:lvl7pPr marL="2971800" indent="-228600" algn="ctr" defTabSz="584200" eaLnBrk="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7pPr>
            <a:lvl8pPr marL="3429000" indent="-228600" algn="ctr" defTabSz="584200" eaLnBrk="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8pPr>
            <a:lvl9pPr marL="3886200" indent="-228600" algn="ctr" defTabSz="584200" eaLnBrk="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9pPr>
          </a:lstStyle>
          <a:p>
            <a:pPr algn="ctr" eaLnBrk="1"/>
            <a:r>
              <a:rPr lang="zh-CN" altLang="en-US" sz="2800" dirty="0">
                <a:latin typeface="微软雅黑" panose="020B0503020204020204" pitchFamily="34" charset="-122"/>
                <a:ea typeface="微软雅黑" panose="020B0503020204020204" pitchFamily="34" charset="-122"/>
              </a:rPr>
              <a:t>王宇航</a:t>
            </a:r>
            <a:endParaRPr lang="en-US" altLang="zh-CN" sz="2000" dirty="0">
              <a:latin typeface="微软雅黑" panose="020B0503020204020204" pitchFamily="34" charset="-122"/>
              <a:ea typeface="微软雅黑" panose="020B0503020204020204" pitchFamily="34" charset="-122"/>
            </a:endParaRPr>
          </a:p>
          <a:p>
            <a:pPr algn="ctr" eaLnBrk="1">
              <a:lnSpc>
                <a:spcPct val="150000"/>
              </a:lnSpc>
            </a:pPr>
            <a:r>
              <a:rPr lang="en-US" altLang="zh-CN" sz="2000" dirty="0">
                <a:latin typeface="微软雅黑" panose="020B0503020204020204" pitchFamily="34" charset="-122"/>
                <a:ea typeface="微软雅黑" panose="020B0503020204020204" pitchFamily="34" charset="-122"/>
              </a:rPr>
              <a:t>2021.08</a:t>
            </a:r>
          </a:p>
        </p:txBody>
      </p:sp>
      <p:pic>
        <p:nvPicPr>
          <p:cNvPr id="16" name="图片 15"/>
          <p:cNvPicPr>
            <a:picLocks noChangeAspect="1"/>
          </p:cNvPicPr>
          <p:nvPr/>
        </p:nvPicPr>
        <p:blipFill>
          <a:blip r:embed="rId3"/>
          <a:stretch>
            <a:fillRect/>
          </a:stretch>
        </p:blipFill>
        <p:spPr>
          <a:xfrm>
            <a:off x="9877707" y="5405439"/>
            <a:ext cx="1851657" cy="617219"/>
          </a:xfrm>
          <a:prstGeom prst="rect">
            <a:avLst/>
          </a:prstGeom>
        </p:spPr>
      </p:pic>
      <p:sp>
        <p:nvSpPr>
          <p:cNvPr id="17" name="Rectangle 1"/>
          <p:cNvSpPr/>
          <p:nvPr/>
        </p:nvSpPr>
        <p:spPr bwMode="auto">
          <a:xfrm>
            <a:off x="3611200" y="1202415"/>
            <a:ext cx="2340000" cy="180000"/>
          </a:xfrm>
          <a:prstGeom prst="rect">
            <a:avLst/>
          </a:prstGeom>
          <a:solidFill>
            <a:srgbClr val="2A4DFE"/>
          </a:solidFill>
          <a:ln>
            <a:noFill/>
          </a:ln>
          <a:effectLst/>
        </p:spPr>
        <p:txBody>
          <a:bodyPr lIns="72248" tIns="72248" rIns="72248" bIns="72248" anchor="ctr"/>
          <a:lstStyle/>
          <a:p>
            <a:pPr>
              <a:defRPr/>
            </a:pPr>
            <a:endParaRPr lang="zh-CN" altLang="en-US" dirty="0">
              <a:latin typeface="Helvetica Light" charset="0"/>
              <a:ea typeface="宋体" charset="0"/>
              <a:cs typeface="宋体" charset="0"/>
              <a:sym typeface="Helvetica Light" charset="0"/>
            </a:endParaRPr>
          </a:p>
        </p:txBody>
      </p:sp>
      <p:sp>
        <p:nvSpPr>
          <p:cNvPr id="18" name="Rectangle 2"/>
          <p:cNvSpPr/>
          <p:nvPr/>
        </p:nvSpPr>
        <p:spPr bwMode="auto">
          <a:xfrm>
            <a:off x="5951200" y="1202415"/>
            <a:ext cx="2340000" cy="180000"/>
          </a:xfrm>
          <a:prstGeom prst="rect">
            <a:avLst/>
          </a:prstGeom>
          <a:solidFill>
            <a:srgbClr val="FF0200"/>
          </a:solidFill>
          <a:ln>
            <a:noFill/>
          </a:ln>
          <a:effec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57647" y="3128682"/>
            <a:ext cx="3833553" cy="2893976"/>
          </a:xfrm>
        </p:spPr>
        <p:txBody>
          <a:bodyPr>
            <a:normAutofit/>
          </a:bodyPr>
          <a:lstStyle/>
          <a:p>
            <a:pPr>
              <a:lnSpc>
                <a:spcPct val="150000"/>
              </a:lnSpc>
            </a:pPr>
            <a:r>
              <a:rPr kumimoji="1" lang="zh-CN" altLang="en-US" dirty="0"/>
              <a:t>业务背景</a:t>
            </a:r>
            <a:endParaRPr kumimoji="1" lang="en-US" altLang="zh-CN" dirty="0"/>
          </a:p>
          <a:p>
            <a:pPr>
              <a:lnSpc>
                <a:spcPct val="150000"/>
              </a:lnSpc>
            </a:pPr>
            <a:r>
              <a:rPr kumimoji="1" lang="zh-CN" altLang="en-US" dirty="0"/>
              <a:t>系统框架和基本概念</a:t>
            </a:r>
            <a:endParaRPr kumimoji="1" lang="en-US" altLang="zh-CN" dirty="0"/>
          </a:p>
          <a:p>
            <a:pPr>
              <a:lnSpc>
                <a:spcPct val="150000"/>
              </a:lnSpc>
            </a:pPr>
            <a:r>
              <a:rPr kumimoji="1" lang="zh-CN" altLang="en-US" dirty="0"/>
              <a:t>策略及特征介绍</a:t>
            </a:r>
          </a:p>
        </p:txBody>
      </p:sp>
      <p:sp>
        <p:nvSpPr>
          <p:cNvPr id="4" name="Rectangle 1"/>
          <p:cNvSpPr/>
          <p:nvPr/>
        </p:nvSpPr>
        <p:spPr bwMode="auto">
          <a:xfrm>
            <a:off x="3611200" y="2498559"/>
            <a:ext cx="2340000" cy="180000"/>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5" name="Rectangle 2"/>
          <p:cNvSpPr/>
          <p:nvPr/>
        </p:nvSpPr>
        <p:spPr bwMode="auto">
          <a:xfrm>
            <a:off x="5951200" y="2498559"/>
            <a:ext cx="2340000" cy="180000"/>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4"/>
          <p:cNvSpPr txBox="1">
            <a:spLocks noChangeArrowheads="1"/>
          </p:cNvSpPr>
          <p:nvPr/>
        </p:nvSpPr>
        <p:spPr>
          <a:xfrm>
            <a:off x="3139574" y="1592070"/>
            <a:ext cx="5623252" cy="720080"/>
          </a:xfrm>
          <a:prstGeom prst="rect">
            <a:avLst/>
          </a:prstGeom>
          <a:solidFill>
            <a:srgbClr val="FFFFFF"/>
          </a:solidFill>
          <a:extLst>
            <a:ext uri="{91240B29-F687-4F45-9708-019B960494DF}">
              <a14:hiddenLine xmlns:a14="http://schemas.microsoft.com/office/drawing/2010/main" w="9525">
                <a:solidFill>
                  <a:srgbClr val="000000"/>
                </a:solidFill>
                <a:round/>
              </a14:hiddenLine>
            </a:ext>
          </a:extLst>
        </p:spPr>
        <p:txBody>
          <a:bodyPr vert="horz" lIns="126435" tIns="72248" rIns="126435" bIns="72248" rtlCol="0" anchor="t">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900" dirty="0"/>
              <a:t>目录</a:t>
            </a:r>
            <a:endParaRPr lang="zh-CN" altLang="en-US" sz="4900" dirty="0">
              <a:ea typeface="宋体" pitchFamily="2" charset="-122"/>
            </a:endParaRPr>
          </a:p>
        </p:txBody>
      </p:sp>
      <p:sp>
        <p:nvSpPr>
          <p:cNvPr id="7" name="Rectangle 1"/>
          <p:cNvSpPr/>
          <p:nvPr/>
        </p:nvSpPr>
        <p:spPr bwMode="auto">
          <a:xfrm>
            <a:off x="3611200" y="1202415"/>
            <a:ext cx="2340000" cy="180000"/>
          </a:xfrm>
          <a:prstGeom prst="rect">
            <a:avLst/>
          </a:prstGeom>
          <a:solidFill>
            <a:srgbClr val="2A4DFE"/>
          </a:solidFill>
          <a:ln>
            <a:noFill/>
          </a:ln>
          <a:effectLst/>
        </p:spPr>
        <p:txBody>
          <a:bodyPr lIns="72248" tIns="72248" rIns="72248" bIns="72248" anchor="ctr"/>
          <a:lstStyle/>
          <a:p>
            <a:pPr>
              <a:defRPr/>
            </a:pPr>
            <a:endParaRPr lang="zh-CN" altLang="en-US" dirty="0">
              <a:latin typeface="Helvetica Light" charset="0"/>
              <a:ea typeface="宋体" charset="0"/>
              <a:cs typeface="宋体" charset="0"/>
              <a:sym typeface="Helvetica Light" charset="0"/>
            </a:endParaRPr>
          </a:p>
        </p:txBody>
      </p:sp>
      <p:sp>
        <p:nvSpPr>
          <p:cNvPr id="8" name="Rectangle 2"/>
          <p:cNvSpPr/>
          <p:nvPr/>
        </p:nvSpPr>
        <p:spPr bwMode="auto">
          <a:xfrm>
            <a:off x="5951200" y="1202415"/>
            <a:ext cx="2340000" cy="180000"/>
          </a:xfrm>
          <a:prstGeom prst="rect">
            <a:avLst/>
          </a:prstGeom>
          <a:solidFill>
            <a:srgbClr val="FF0200"/>
          </a:solidFill>
          <a:ln>
            <a:noFill/>
          </a:ln>
          <a:effec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9" name="图片 8"/>
          <p:cNvPicPr>
            <a:picLocks noChangeAspect="1"/>
          </p:cNvPicPr>
          <p:nvPr/>
        </p:nvPicPr>
        <p:blipFill>
          <a:blip r:embed="rId3"/>
          <a:stretch>
            <a:fillRect/>
          </a:stretch>
        </p:blipFill>
        <p:spPr>
          <a:xfrm>
            <a:off x="9877707" y="5405439"/>
            <a:ext cx="1851657" cy="6172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
          <p:cNvSpPr/>
          <p:nvPr/>
        </p:nvSpPr>
        <p:spPr bwMode="auto">
          <a:xfrm>
            <a:off x="3611200" y="2498559"/>
            <a:ext cx="2340000" cy="180000"/>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13" name="Rectangle 2"/>
          <p:cNvSpPr/>
          <p:nvPr/>
        </p:nvSpPr>
        <p:spPr bwMode="auto">
          <a:xfrm>
            <a:off x="5951200" y="2498559"/>
            <a:ext cx="2340000" cy="180000"/>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14" name="Rectangle 4"/>
          <p:cNvSpPr txBox="1">
            <a:spLocks noChangeArrowheads="1"/>
          </p:cNvSpPr>
          <p:nvPr/>
        </p:nvSpPr>
        <p:spPr>
          <a:xfrm>
            <a:off x="3017981" y="1607342"/>
            <a:ext cx="5623252" cy="720080"/>
          </a:xfrm>
          <a:prstGeom prst="rect">
            <a:avLst/>
          </a:prstGeom>
          <a:solidFill>
            <a:srgbClr val="FFFFFF"/>
          </a:solidFill>
          <a:extLst>
            <a:ext uri="{91240B29-F687-4F45-9708-019B960494DF}">
              <a14:hiddenLine xmlns:a14="http://schemas.microsoft.com/office/drawing/2010/main" w="9525">
                <a:solidFill>
                  <a:srgbClr val="000000"/>
                </a:solidFill>
                <a:round/>
              </a14:hiddenLine>
            </a:ext>
          </a:extLst>
        </p:spPr>
        <p:txBody>
          <a:bodyPr vert="horz" lIns="126435" tIns="72248" rIns="126435" bIns="72248" rtlCol="0" anchor="t">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900" dirty="0">
                <a:latin typeface="宋体" panose="02010600030101010101" pitchFamily="2" charset="-122"/>
                <a:ea typeface="宋体" panose="02010600030101010101" pitchFamily="2" charset="-122"/>
              </a:rPr>
              <a:t>业务背景</a:t>
            </a:r>
          </a:p>
        </p:txBody>
      </p:sp>
      <p:pic>
        <p:nvPicPr>
          <p:cNvPr id="16" name="图片 15"/>
          <p:cNvPicPr>
            <a:picLocks noChangeAspect="1"/>
          </p:cNvPicPr>
          <p:nvPr/>
        </p:nvPicPr>
        <p:blipFill>
          <a:blip r:embed="rId3"/>
          <a:stretch>
            <a:fillRect/>
          </a:stretch>
        </p:blipFill>
        <p:spPr>
          <a:xfrm>
            <a:off x="9877707" y="5405439"/>
            <a:ext cx="1851657" cy="617219"/>
          </a:xfrm>
          <a:prstGeom prst="rect">
            <a:avLst/>
          </a:prstGeom>
        </p:spPr>
      </p:pic>
      <p:sp>
        <p:nvSpPr>
          <p:cNvPr id="17" name="Rectangle 1"/>
          <p:cNvSpPr/>
          <p:nvPr/>
        </p:nvSpPr>
        <p:spPr bwMode="auto">
          <a:xfrm>
            <a:off x="3611200" y="1202415"/>
            <a:ext cx="2340000" cy="180000"/>
          </a:xfrm>
          <a:prstGeom prst="rect">
            <a:avLst/>
          </a:prstGeom>
          <a:solidFill>
            <a:srgbClr val="2A4DFE"/>
          </a:solidFill>
          <a:ln>
            <a:noFill/>
          </a:ln>
          <a:effectLst/>
        </p:spPr>
        <p:txBody>
          <a:bodyPr lIns="72248" tIns="72248" rIns="72248" bIns="72248" anchor="ctr"/>
          <a:lstStyle/>
          <a:p>
            <a:pPr>
              <a:defRPr/>
            </a:pPr>
            <a:endParaRPr lang="zh-CN" altLang="en-US" dirty="0">
              <a:latin typeface="Helvetica Light" charset="0"/>
              <a:ea typeface="宋体" charset="0"/>
              <a:cs typeface="宋体" charset="0"/>
              <a:sym typeface="Helvetica Light" charset="0"/>
            </a:endParaRPr>
          </a:p>
        </p:txBody>
      </p:sp>
      <p:sp>
        <p:nvSpPr>
          <p:cNvPr id="18" name="Rectangle 2"/>
          <p:cNvSpPr/>
          <p:nvPr/>
        </p:nvSpPr>
        <p:spPr bwMode="auto">
          <a:xfrm>
            <a:off x="5951200" y="1202415"/>
            <a:ext cx="2340000" cy="180000"/>
          </a:xfrm>
          <a:prstGeom prst="rect">
            <a:avLst/>
          </a:prstGeom>
          <a:solidFill>
            <a:srgbClr val="FF0200"/>
          </a:solidFill>
          <a:ln>
            <a:noFill/>
          </a:ln>
          <a:effec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9" name="内容占位符 2"/>
          <p:cNvSpPr txBox="1"/>
          <p:nvPr/>
        </p:nvSpPr>
        <p:spPr>
          <a:xfrm>
            <a:off x="4457647" y="3128682"/>
            <a:ext cx="3833553" cy="289397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Arial" panose="020B0604020202020204" pitchFamily="34" charset="0"/>
              <a:buChar char="•"/>
            </a:pPr>
            <a:r>
              <a:rPr kumimoji="1" lang="zh-CN" altLang="en-US" dirty="0"/>
              <a:t>百度目前商业模式</a:t>
            </a:r>
            <a:endParaRPr kumimoji="1" lang="en-US" altLang="zh-CN" dirty="0"/>
          </a:p>
          <a:p>
            <a:pPr marL="342900" indent="-342900" algn="l">
              <a:lnSpc>
                <a:spcPct val="150000"/>
              </a:lnSpc>
              <a:buFont typeface="Arial" panose="020B0604020202020204" pitchFamily="34" charset="0"/>
              <a:buChar char="•"/>
            </a:pPr>
            <a:r>
              <a:rPr kumimoji="1" lang="zh-CN" altLang="en-US" dirty="0"/>
              <a:t>作弊</a:t>
            </a:r>
            <a:endParaRPr kumimoji="1" lang="en-US" altLang="zh-CN" dirty="0"/>
          </a:p>
          <a:p>
            <a:pPr marL="342900" indent="-342900" algn="l">
              <a:lnSpc>
                <a:spcPct val="150000"/>
              </a:lnSpc>
              <a:buFont typeface="Arial" panose="020B0604020202020204" pitchFamily="34" charset="0"/>
              <a:buChar char="•"/>
            </a:pPr>
            <a:r>
              <a:rPr kumimoji="1" lang="zh-CN" altLang="en-US" dirty="0"/>
              <a:t>作弊动机与反作弊意义</a:t>
            </a:r>
            <a:endParaRPr kumimoji="1" lang="en-US" altLang="zh-CN" dirty="0"/>
          </a:p>
          <a:p>
            <a:pPr algn="l">
              <a:lnSpc>
                <a:spcPct val="150000"/>
              </a:lnSpc>
            </a:pPr>
            <a:endParaRPr kumimoji="1"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业务背景</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百度目前商业模式</a:t>
            </a:r>
          </a:p>
        </p:txBody>
      </p:sp>
      <p:grpSp>
        <p:nvGrpSpPr>
          <p:cNvPr id="9" name="组合 8"/>
          <p:cNvGrpSpPr/>
          <p:nvPr/>
        </p:nvGrpSpPr>
        <p:grpSpPr>
          <a:xfrm>
            <a:off x="583446" y="2622367"/>
            <a:ext cx="4248472" cy="2263564"/>
            <a:chOff x="4797992" y="1505552"/>
            <a:chExt cx="4248472" cy="2263564"/>
          </a:xfrm>
        </p:grpSpPr>
        <p:graphicFrame>
          <p:nvGraphicFramePr>
            <p:cNvPr id="11" name="图示 10"/>
            <p:cNvGraphicFramePr/>
            <p:nvPr>
              <p:extLst>
                <p:ext uri="{D42A27DB-BD31-4B8C-83A1-F6EECF244321}">
                  <p14:modId xmlns:p14="http://schemas.microsoft.com/office/powerpoint/2010/main" val="3411414984"/>
                </p:ext>
              </p:extLst>
            </p:nvPr>
          </p:nvGraphicFramePr>
          <p:xfrm>
            <a:off x="4797992" y="1505552"/>
            <a:ext cx="4248472" cy="21602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文本框 11"/>
            <p:cNvSpPr txBox="1"/>
            <p:nvPr/>
          </p:nvSpPr>
          <p:spPr>
            <a:xfrm>
              <a:off x="7328777" y="2412332"/>
              <a:ext cx="1377696" cy="307777"/>
            </a:xfrm>
            <a:prstGeom prst="rect">
              <a:avLst/>
            </a:prstGeom>
            <a:noFill/>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rPr>
                <a:t>需求对接</a:t>
              </a:r>
            </a:p>
          </p:txBody>
        </p:sp>
        <p:sp>
          <p:nvSpPr>
            <p:cNvPr id="13" name="文本框 12"/>
            <p:cNvSpPr txBox="1"/>
            <p:nvPr/>
          </p:nvSpPr>
          <p:spPr>
            <a:xfrm>
              <a:off x="5138235" y="2410843"/>
              <a:ext cx="1377696" cy="307777"/>
            </a:xfrm>
            <a:prstGeom prst="rect">
              <a:avLst/>
            </a:prstGeom>
            <a:noFill/>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rPr>
                <a:t>广告投放</a:t>
              </a:r>
            </a:p>
          </p:txBody>
        </p:sp>
        <p:sp>
          <p:nvSpPr>
            <p:cNvPr id="14" name="文本框 13"/>
            <p:cNvSpPr txBox="1"/>
            <p:nvPr/>
          </p:nvSpPr>
          <p:spPr>
            <a:xfrm>
              <a:off x="6233379" y="3461339"/>
              <a:ext cx="1377696" cy="307777"/>
            </a:xfrm>
            <a:prstGeom prst="rect">
              <a:avLst/>
            </a:prstGeom>
            <a:noFill/>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rPr>
                <a:t>搜索服务</a:t>
              </a:r>
            </a:p>
          </p:txBody>
        </p:sp>
      </p:grpSp>
      <p:sp>
        <p:nvSpPr>
          <p:cNvPr id="15" name="文本框 14"/>
          <p:cNvSpPr txBox="1"/>
          <p:nvPr/>
        </p:nvSpPr>
        <p:spPr>
          <a:xfrm>
            <a:off x="5298141" y="1767827"/>
            <a:ext cx="5773271" cy="3424977"/>
          </a:xfrm>
          <a:prstGeom prst="rect">
            <a:avLst/>
          </a:prstGeom>
          <a:noFill/>
        </p:spPr>
        <p:txBody>
          <a:bodyPr wrap="square" rtlCol="0">
            <a:spAutoFit/>
          </a:bodyPr>
          <a:lstStyle/>
          <a:p>
            <a:pPr>
              <a:lnSpc>
                <a:spcPct val="150000"/>
              </a:lnSpc>
            </a:pPr>
            <a:r>
              <a:rPr kumimoji="1" lang="zh-CN" altLang="en-US" dirty="0"/>
              <a:t>特点：</a:t>
            </a:r>
            <a:endParaRPr kumimoji="1" lang="en-US" altLang="zh-CN" dirty="0"/>
          </a:p>
          <a:p>
            <a:pPr marL="285750" indent="-285750">
              <a:lnSpc>
                <a:spcPct val="150000"/>
              </a:lnSpc>
              <a:buFont typeface="Arial" panose="020B0604020202020204" pitchFamily="34" charset="0"/>
              <a:buChar char="•"/>
            </a:pPr>
            <a:r>
              <a:rPr kumimoji="1" lang="zh-CN" altLang="en-US" sz="1600" dirty="0"/>
              <a:t>三方参与：分别是广告主、百度、用户，一方面用户使用搜索引擎提供的搜索服务来获取自己想要的信息。另一方面广告主根据用户信息、喜好来投放广告信息。百度从中获取现金流，从而维护这个循环的良好运作。</a:t>
            </a:r>
            <a:endParaRPr kumimoji="1" lang="en-US" altLang="zh-CN" sz="1600" dirty="0"/>
          </a:p>
          <a:p>
            <a:pPr marL="285750" indent="-285750">
              <a:lnSpc>
                <a:spcPct val="150000"/>
              </a:lnSpc>
              <a:buFont typeface="Arial" panose="020B0604020202020204" pitchFamily="34" charset="0"/>
              <a:buChar char="•"/>
            </a:pPr>
            <a:r>
              <a:rPr kumimoji="1" lang="zh-CN" altLang="en-US" sz="1600" dirty="0"/>
              <a:t>凤巢商业模式：广告主竞拍关键词，广告根据竞拍价格及质量的综合考量按顺序展现在搜索结果页面中，广告每被点击一次，搜索引擎从广告主的资金池中扣费。</a:t>
            </a:r>
          </a:p>
          <a:p>
            <a:pPr>
              <a:lnSpc>
                <a:spcPct val="150000"/>
              </a:lnSpc>
            </a:pPr>
            <a:r>
              <a:rPr kumimoji="1" lang="en-US" altLang="zh-CN" sz="1600" dirty="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业务背景</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b="1" dirty="0"/>
              <a:t>作弊</a:t>
            </a:r>
          </a:p>
        </p:txBody>
      </p:sp>
      <p:sp>
        <p:nvSpPr>
          <p:cNvPr id="3" name="文本框 2"/>
          <p:cNvSpPr txBox="1"/>
          <p:nvPr/>
        </p:nvSpPr>
        <p:spPr>
          <a:xfrm>
            <a:off x="478988" y="1989279"/>
            <a:ext cx="5674658" cy="4478149"/>
          </a:xfrm>
          <a:prstGeom prst="rect">
            <a:avLst/>
          </a:prstGeom>
          <a:noFill/>
        </p:spPr>
        <p:txBody>
          <a:bodyPr wrap="square" rtlCol="0">
            <a:spAutoFit/>
          </a:bodyPr>
          <a:lstStyle/>
          <a:p>
            <a:pPr>
              <a:lnSpc>
                <a:spcPct val="150000"/>
              </a:lnSpc>
            </a:pPr>
            <a:r>
              <a:rPr kumimoji="1" lang="zh-CN" altLang="en-US" dirty="0"/>
              <a:t>检索</a:t>
            </a:r>
            <a:r>
              <a:rPr kumimoji="1" lang="en-US" altLang="zh-CN" dirty="0"/>
              <a:t>--&gt;</a:t>
            </a:r>
            <a:r>
              <a:rPr kumimoji="1" lang="zh-CN" altLang="en-US" dirty="0"/>
              <a:t>点击</a:t>
            </a:r>
            <a:r>
              <a:rPr kumimoji="1" lang="en-US" altLang="zh-CN" dirty="0"/>
              <a:t>--&gt;</a:t>
            </a:r>
            <a:r>
              <a:rPr kumimoji="1" lang="zh-CN" altLang="en-US" dirty="0"/>
              <a:t>转化</a:t>
            </a:r>
            <a:endParaRPr kumimoji="1" lang="en-US" altLang="zh-CN" dirty="0"/>
          </a:p>
          <a:p>
            <a:pPr marL="285750" indent="-285750">
              <a:lnSpc>
                <a:spcPct val="150000"/>
              </a:lnSpc>
              <a:buFont typeface="Wingdings" panose="05000000000000000000" pitchFamily="2" charset="2"/>
              <a:buChar char="Ø"/>
            </a:pPr>
            <a:r>
              <a:rPr lang="zh-CN" altLang="zh-CN" sz="1600" dirty="0">
                <a:latin typeface="微软雅黑" panose="020B0503020204020204" pitchFamily="34" charset="-122"/>
                <a:ea typeface="微软雅黑" panose="020B0503020204020204" pitchFamily="34" charset="-122"/>
              </a:rPr>
              <a:t>用户</a:t>
            </a:r>
            <a:r>
              <a:rPr lang="zh-CN" altLang="zh-CN" sz="1600" b="1" dirty="0">
                <a:solidFill>
                  <a:srgbClr val="0070C0"/>
                </a:solidFill>
                <a:latin typeface="微软雅黑" panose="020B0503020204020204" pitchFamily="34" charset="-122"/>
                <a:ea typeface="微软雅黑" panose="020B0503020204020204" pitchFamily="34" charset="-122"/>
              </a:rPr>
              <a:t>检索</a:t>
            </a:r>
            <a:r>
              <a:rPr lang="zh-CN" altLang="zh-CN" sz="1600" dirty="0">
                <a:latin typeface="微软雅黑" panose="020B0503020204020204" pitchFamily="34" charset="-122"/>
                <a:ea typeface="微软雅黑" panose="020B0503020204020204" pitchFamily="34" charset="-122"/>
              </a:rPr>
              <a:t>信息</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 </a:t>
            </a:r>
            <a:r>
              <a:rPr lang="zh-CN" altLang="zh-CN" sz="1600" dirty="0">
                <a:latin typeface="微软雅黑" panose="020B0503020204020204" pitchFamily="34" charset="-122"/>
                <a:ea typeface="微软雅黑" panose="020B0503020204020204" pitchFamily="34" charset="-122"/>
              </a:rPr>
              <a:t>凤巢系统根据用户检索的关键词决定</a:t>
            </a:r>
            <a:r>
              <a:rPr lang="zh-CN" altLang="zh-CN" sz="1600" b="1" dirty="0">
                <a:solidFill>
                  <a:srgbClr val="0070C0"/>
                </a:solidFill>
                <a:latin typeface="微软雅黑" panose="020B0503020204020204" pitchFamily="34" charset="-122"/>
                <a:ea typeface="微软雅黑" panose="020B0503020204020204" pitchFamily="34" charset="-122"/>
              </a:rPr>
              <a:t>广告投放</a:t>
            </a:r>
            <a:r>
              <a:rPr lang="zh-CN" altLang="zh-CN" sz="1600" dirty="0">
                <a:latin typeface="微软雅黑" panose="020B0503020204020204" pitchFamily="34" charset="-122"/>
                <a:ea typeface="微软雅黑" panose="020B0503020204020204" pitchFamily="34" charset="-122"/>
              </a:rPr>
              <a:t>与否及广告的</a:t>
            </a:r>
            <a:r>
              <a:rPr lang="zh-CN" altLang="zh-CN" sz="1600" b="1" dirty="0">
                <a:solidFill>
                  <a:srgbClr val="0070C0"/>
                </a:solidFill>
                <a:latin typeface="微软雅黑" panose="020B0503020204020204" pitchFamily="34" charset="-122"/>
                <a:ea typeface="微软雅黑" panose="020B0503020204020204" pitchFamily="34" charset="-122"/>
              </a:rPr>
              <a:t>投放量</a:t>
            </a:r>
            <a:r>
              <a:rPr lang="zh-CN" altLang="zh-CN" sz="1600" dirty="0">
                <a:latin typeface="微软雅黑" panose="020B0503020204020204" pitchFamily="34" charset="-122"/>
                <a:ea typeface="微软雅黑" panose="020B0503020204020204" pitchFamily="34" charset="-122"/>
              </a:rPr>
              <a:t>，与检索</a:t>
            </a:r>
            <a:r>
              <a:rPr lang="zh-CN" altLang="en-US" sz="1600" dirty="0">
                <a:latin typeface="微软雅黑" panose="020B0503020204020204" pitchFamily="34" charset="-122"/>
                <a:ea typeface="微软雅黑" panose="020B0503020204020204" pitchFamily="34" charset="-122"/>
              </a:rPr>
              <a:t>自然</a:t>
            </a:r>
            <a:r>
              <a:rPr lang="zh-CN" altLang="zh-CN" sz="1600" dirty="0">
                <a:latin typeface="微软雅黑" panose="020B0503020204020204" pitchFamily="34" charset="-122"/>
                <a:ea typeface="微软雅黑" panose="020B0503020204020204" pitchFamily="34" charset="-122"/>
              </a:rPr>
              <a:t>结果共同组成检索展示</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zh-CN" sz="1600" dirty="0">
                <a:latin typeface="微软雅黑" panose="020B0503020204020204" pitchFamily="34" charset="-122"/>
                <a:ea typeface="微软雅黑" panose="020B0503020204020204" pitchFamily="34" charset="-122"/>
              </a:rPr>
              <a:t>用户对检索出的结果进行选择性</a:t>
            </a:r>
            <a:r>
              <a:rPr lang="zh-CN" altLang="zh-CN" sz="1600" b="1" dirty="0">
                <a:solidFill>
                  <a:srgbClr val="0070C0"/>
                </a:solidFill>
                <a:latin typeface="微软雅黑" panose="020B0503020204020204" pitchFamily="34" charset="-122"/>
                <a:ea typeface="微软雅黑" panose="020B0503020204020204" pitchFamily="34" charset="-122"/>
              </a:rPr>
              <a:t>点击</a:t>
            </a:r>
            <a:r>
              <a:rPr lang="zh-CN" altLang="en-US" sz="1600" b="1" dirty="0">
                <a:solidFill>
                  <a:srgbClr val="0070C0"/>
                </a:solidFill>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 </a:t>
            </a:r>
            <a:r>
              <a:rPr lang="zh-CN" altLang="zh-CN" sz="1600" dirty="0">
                <a:latin typeface="微软雅黑" panose="020B0503020204020204" pitchFamily="34" charset="-122"/>
                <a:ea typeface="微软雅黑" panose="020B0503020204020204" pitchFamily="34" charset="-122"/>
              </a:rPr>
              <a:t>用户如果出现对广告的点击行为，广告主为用户的点击行为</a:t>
            </a:r>
            <a:r>
              <a:rPr lang="zh-CN" altLang="zh-CN" sz="1600" b="1" dirty="0">
                <a:solidFill>
                  <a:srgbClr val="0070C0"/>
                </a:solidFill>
                <a:latin typeface="微软雅黑" panose="020B0503020204020204" pitchFamily="34" charset="-122"/>
                <a:ea typeface="微软雅黑" panose="020B0503020204020204" pitchFamily="34" charset="-122"/>
              </a:rPr>
              <a:t>付费</a:t>
            </a:r>
            <a:r>
              <a:rPr lang="zh-CN" altLang="en-US" sz="1600" b="1" dirty="0">
                <a:solidFill>
                  <a:srgbClr val="0070C0"/>
                </a:solidFill>
                <a:latin typeface="微软雅黑" panose="020B0503020204020204" pitchFamily="34" charset="-122"/>
                <a:ea typeface="微软雅黑" panose="020B0503020204020204" pitchFamily="34" charset="-122"/>
              </a:rPr>
              <a:t>。</a:t>
            </a:r>
            <a:endParaRPr lang="en-US" altLang="zh-CN" sz="1600" b="1" dirty="0">
              <a:solidFill>
                <a:srgbClr val="0070C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用户完成广告点击后，进行电话咨询、表单提交、电商加购下单、</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app</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下载等点击后具体转化行为 </a:t>
            </a:r>
            <a:r>
              <a:rPr lang="en-US" altLang="zh-CN" sz="16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 实现电商购买类、线索收集类、应用下载类、或者</a:t>
            </a:r>
            <a:r>
              <a:rPr lang="zh-CN" altLang="en-US" sz="1600" dirty="0">
                <a:latin typeface="微软雅黑" panose="020B0503020204020204" pitchFamily="34" charset="-122"/>
                <a:ea typeface="微软雅黑" panose="020B0503020204020204" pitchFamily="34" charset="-122"/>
              </a:rPr>
              <a:t>深度页面访问类等类型的</a:t>
            </a:r>
            <a:r>
              <a:rPr lang="zh-CN" altLang="en-US" sz="1600" dirty="0"/>
              <a:t> </a:t>
            </a:r>
            <a:r>
              <a:rPr lang="zh-CN" altLang="en-US" sz="1600" b="1" dirty="0">
                <a:solidFill>
                  <a:srgbClr val="0070C0"/>
                </a:solidFill>
                <a:latin typeface="微软雅黑" panose="020B0503020204020204" pitchFamily="34" charset="-122"/>
                <a:ea typeface="微软雅黑" panose="020B0503020204020204" pitchFamily="34" charset="-122"/>
                <a:sym typeface="Wingdings" panose="05000000000000000000" pitchFamily="2" charset="2"/>
              </a:rPr>
              <a:t>转化</a:t>
            </a: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CN" sz="1600" dirty="0">
              <a:latin typeface="微软雅黑" panose="020B0503020204020204" pitchFamily="34" charset="-122"/>
              <a:ea typeface="微软雅黑" panose="020B0503020204020204" pitchFamily="34" charset="-122"/>
              <a:sym typeface="Wingdings" panose="05000000000000000000" pitchFamily="2" charset="2"/>
            </a:endParaRPr>
          </a:p>
          <a:p>
            <a:pPr>
              <a:lnSpc>
                <a:spcPct val="150000"/>
              </a:lnSpc>
            </a:pPr>
            <a:endParaRPr kumimoji="1" lang="en-US" altLang="zh-CN" sz="1600" dirty="0"/>
          </a:p>
          <a:p>
            <a:endParaRPr kumimoji="1" lang="zh-CN" altLang="en-US" dirty="0"/>
          </a:p>
        </p:txBody>
      </p:sp>
      <p:sp>
        <p:nvSpPr>
          <p:cNvPr id="4" name="文本框 3"/>
          <p:cNvSpPr txBox="1"/>
          <p:nvPr/>
        </p:nvSpPr>
        <p:spPr>
          <a:xfrm>
            <a:off x="6364942" y="2132714"/>
            <a:ext cx="5364422" cy="1947649"/>
          </a:xfrm>
          <a:prstGeom prst="rect">
            <a:avLst/>
          </a:prstGeom>
          <a:noFill/>
        </p:spPr>
        <p:txBody>
          <a:bodyPr wrap="square" rtlCol="0">
            <a:spAutoFit/>
          </a:bodyPr>
          <a:lstStyle/>
          <a:p>
            <a:pPr>
              <a:lnSpc>
                <a:spcPct val="150000"/>
              </a:lnSpc>
            </a:pPr>
            <a:r>
              <a:rPr kumimoji="1" lang="zh-CN" altLang="en-US" dirty="0"/>
              <a:t>作弊</a:t>
            </a:r>
            <a:endParaRPr kumimoji="1" lang="en-US" altLang="zh-CN" dirty="0"/>
          </a:p>
          <a:p>
            <a:pPr marL="285750" indent="-285750">
              <a:lnSpc>
                <a:spcPct val="150000"/>
              </a:lnSpc>
              <a:buFont typeface="Wingdings" panose="05000000000000000000" pitchFamily="2" charset="2"/>
              <a:buChar char="Ø"/>
            </a:pPr>
            <a:r>
              <a:rPr kumimoji="1" lang="zh-CN" altLang="en-US" sz="1600" dirty="0"/>
              <a:t>三个阶段：检索作弊、点击作弊、转化作弊</a:t>
            </a:r>
            <a:endParaRPr kumimoji="1" lang="en-US" altLang="zh-CN" sz="1600" dirty="0"/>
          </a:p>
          <a:p>
            <a:pPr marL="285750" indent="-285750">
              <a:lnSpc>
                <a:spcPct val="150000"/>
              </a:lnSpc>
              <a:buFont typeface="Wingdings" panose="05000000000000000000" pitchFamily="2" charset="2"/>
              <a:buChar char="Ø"/>
            </a:pPr>
            <a:r>
              <a:rPr kumimoji="1" lang="zh-CN" altLang="en-US" sz="1600" dirty="0"/>
              <a:t>定义：正常检索（点击）指百度网民拥有的正常范围内、因网民感兴趣、依据真实网民自身意图产生的检索（点击）。除此之外，都是作弊。</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业务背景</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b="1" dirty="0"/>
              <a:t>作弊动机与反作弊意义</a:t>
            </a:r>
          </a:p>
        </p:txBody>
      </p:sp>
      <p:sp>
        <p:nvSpPr>
          <p:cNvPr id="10" name="文本框 9"/>
          <p:cNvSpPr txBox="1"/>
          <p:nvPr/>
        </p:nvSpPr>
        <p:spPr>
          <a:xfrm>
            <a:off x="462636" y="2132714"/>
            <a:ext cx="4654559" cy="3418949"/>
          </a:xfrm>
          <a:prstGeom prst="rect">
            <a:avLst/>
          </a:prstGeom>
          <a:noFill/>
        </p:spPr>
        <p:txBody>
          <a:bodyPr wrap="square" rtlCol="0">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动机：</a:t>
            </a:r>
            <a:endParaRPr lang="en-US" altLang="zh-CN" dirty="0">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Ø"/>
            </a:pPr>
            <a:r>
              <a:rPr kumimoji="1" lang="zh-CN" altLang="en-US" sz="1600" dirty="0">
                <a:latin typeface="微软雅黑" panose="020B0503020204020204" pitchFamily="34" charset="-122"/>
                <a:ea typeface="微软雅黑" panose="020B0503020204020204" pitchFamily="34" charset="-122"/>
              </a:rPr>
              <a:t>检索作弊动机</a:t>
            </a:r>
            <a:r>
              <a:rPr kumimoji="1" lang="zh-CN" altLang="en-US" sz="1600" b="1"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网络信息采集，第三方评估机构评估</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检索结果排序</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a:t>
            </a:r>
            <a:r>
              <a:rPr kumimoji="1" lang="en-US" altLang="zh-CN" sz="1600" dirty="0">
                <a:latin typeface="微软雅黑" panose="020B0503020204020204" pitchFamily="34" charset="-122"/>
                <a:ea typeface="微软雅黑" panose="020B0503020204020204" pitchFamily="34" charset="-122"/>
              </a:rPr>
              <a:t>SEO</a:t>
            </a:r>
            <a:r>
              <a:rPr kumimoji="1" lang="zh-CN" altLang="en-US" sz="1600" dirty="0">
                <a:latin typeface="微软雅黑" panose="020B0503020204020204" pitchFamily="34" charset="-122"/>
                <a:ea typeface="微软雅黑" panose="020B0503020204020204" pitchFamily="34" charset="-122"/>
              </a:rPr>
              <a:t>优化</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搜索结果排序</a:t>
            </a:r>
            <a:r>
              <a:rPr kumimoji="1" lang="en-US" altLang="zh-CN" sz="1600"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，爬虫获取信息。</a:t>
            </a:r>
            <a:r>
              <a:rPr kumimoji="1" lang="en-US" altLang="zh-CN" sz="1600" dirty="0">
                <a:latin typeface="微软雅黑" panose="020B0503020204020204" pitchFamily="34" charset="-122"/>
                <a:ea typeface="微软雅黑" panose="020B0503020204020204" pitchFamily="34" charset="-122"/>
              </a:rPr>
              <a:t>CPM</a:t>
            </a:r>
            <a:r>
              <a:rPr kumimoji="1" lang="zh-CN" altLang="en-US" sz="1600" dirty="0">
                <a:latin typeface="微软雅黑" panose="020B0503020204020204" pitchFamily="34" charset="-122"/>
                <a:ea typeface="微软雅黑" panose="020B0503020204020204" pitchFamily="34" charset="-122"/>
              </a:rPr>
              <a:t>计费模式下的作弊，网络攻击前准备，刷榜，点击作弊掩护等。</a:t>
            </a:r>
            <a:endParaRPr kumimoji="1" lang="en-US" altLang="zh-CN"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kumimoji="1" lang="zh-CN" altLang="en-US" sz="1600" dirty="0">
                <a:latin typeface="微软雅黑" panose="020B0503020204020204" pitchFamily="34" charset="-122"/>
                <a:ea typeface="微软雅黑" panose="020B0503020204020204" pitchFamily="34" charset="-122"/>
              </a:rPr>
              <a:t>点击作弊动机</a:t>
            </a:r>
            <a:r>
              <a:rPr kumimoji="1" lang="zh-CN" altLang="en-US" sz="1600" b="1" dirty="0">
                <a:latin typeface="微软雅黑" panose="020B0503020204020204" pitchFamily="34" charset="-122"/>
                <a:ea typeface="微软雅黑" panose="020B0503020204020204" pitchFamily="34" charset="-122"/>
              </a:rPr>
              <a:t>：</a:t>
            </a:r>
            <a:r>
              <a:rPr kumimoji="1" lang="zh-CN" altLang="en-US" sz="1600" dirty="0">
                <a:latin typeface="微软雅黑" panose="020B0503020204020204" pitchFamily="34" charset="-122"/>
                <a:ea typeface="微软雅黑" panose="020B0503020204020204" pitchFamily="34" charset="-122"/>
              </a:rPr>
              <a:t>打击竞争对手，赚取不正当分成。</a:t>
            </a:r>
            <a:endParaRPr kumimoji="1" lang="en-US" altLang="zh-CN" sz="16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kumimoji="1" lang="zh-CN" altLang="en-US" sz="1600" dirty="0">
                <a:latin typeface="微软雅黑" panose="020B0503020204020204" pitchFamily="34" charset="-122"/>
                <a:ea typeface="微软雅黑" panose="020B0503020204020204" pitchFamily="34" charset="-122"/>
              </a:rPr>
              <a:t>转化作弊动机：消磨广告主，消耗广告主计费池，打击竞争对手。</a:t>
            </a:r>
          </a:p>
        </p:txBody>
      </p:sp>
      <p:sp>
        <p:nvSpPr>
          <p:cNvPr id="11" name="文本框 10"/>
          <p:cNvSpPr txBox="1"/>
          <p:nvPr/>
        </p:nvSpPr>
        <p:spPr>
          <a:xfrm>
            <a:off x="5337543" y="2192763"/>
            <a:ext cx="4654559" cy="3906006"/>
          </a:xfrm>
          <a:prstGeom prst="rect">
            <a:avLst/>
          </a:prstGeom>
          <a:noFill/>
        </p:spPr>
        <p:txBody>
          <a:bodyPr wrap="square" rtlCol="0">
            <a:spAutoFit/>
          </a:bodyPr>
          <a:lstStyle/>
          <a:p>
            <a:pPr algn="just">
              <a:lnSpc>
                <a:spcPct val="150000"/>
              </a:lnSpc>
            </a:pPr>
            <a:r>
              <a:rPr lang="zh-CN" altLang="en-US" sz="1600" dirty="0">
                <a:latin typeface="微软雅黑" panose="020B0503020204020204" pitchFamily="34" charset="-122"/>
                <a:ea typeface="微软雅黑" panose="020B0503020204020204" pitchFamily="34" charset="-122"/>
              </a:rPr>
              <a:t>反作弊的意义：</a:t>
            </a:r>
            <a:endParaRPr lang="en-US" altLang="zh-CN" sz="1600" dirty="0">
              <a:latin typeface="微软雅黑" panose="020B0503020204020204" pitchFamily="34" charset="-122"/>
              <a:ea typeface="微软雅黑" panose="020B0503020204020204" pitchFamily="34" charset="-122"/>
            </a:endParaRPr>
          </a:p>
          <a:p>
            <a:pPr marL="285750" lvl="0" indent="-285750" algn="just">
              <a:lnSpc>
                <a:spcPts val="3000"/>
              </a:lnSpc>
              <a:spcAft>
                <a:spcPts val="0"/>
              </a:spcAft>
              <a:buFont typeface="Wingdings" panose="05000000000000000000" pitchFamily="2" charset="2"/>
              <a:buChar char="Ø"/>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保护广告主在异常流量下的</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ROI</a:t>
            </a:r>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（投资回报率）</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稳定</a:t>
            </a:r>
          </a:p>
          <a:p>
            <a:pPr marL="285750" lvl="0" indent="-285750" algn="just">
              <a:lnSpc>
                <a:spcPts val="3000"/>
              </a:lnSpc>
              <a:spcAft>
                <a:spcPts val="0"/>
              </a:spcAft>
              <a:buFont typeface="Wingdings" panose="05000000000000000000" pitchFamily="2" charset="2"/>
              <a:buChar char="Ø"/>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维护流量合作过程中的百度利益</a:t>
            </a:r>
            <a:endPar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endParaRPr>
          </a:p>
          <a:p>
            <a:pPr lvl="0" algn="just">
              <a:lnSpc>
                <a:spcPts val="3000"/>
              </a:lnSpc>
              <a:spcAft>
                <a:spcPts val="0"/>
              </a:spcAft>
            </a:pPr>
            <a:endPar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85750" lvl="0" indent="-285750" algn="just">
              <a:lnSpc>
                <a:spcPts val="3000"/>
              </a:lnSpc>
              <a:spcAft>
                <a:spcPts val="0"/>
              </a:spcAft>
              <a:buFont typeface="Wingdings" panose="05000000000000000000" pitchFamily="2" charset="2"/>
              <a:buChar char="Ø"/>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为决策层决策提供精确纯净的</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KPI</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数据基础保障</a:t>
            </a:r>
          </a:p>
          <a:p>
            <a:pPr marL="285750" lvl="0" indent="-285750" algn="just">
              <a:lnSpc>
                <a:spcPts val="3000"/>
              </a:lnSpc>
              <a:spcAft>
                <a:spcPts val="0"/>
              </a:spcAft>
              <a:buFont typeface="Wingdings" panose="05000000000000000000" pitchFamily="2" charset="2"/>
              <a:buChar char="Ø"/>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为各下游提供稳定可靠的日志依赖，凤巢用滤后的数据预估</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CTR</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计算质量度进行广告排序</a:t>
            </a:r>
          </a:p>
          <a:p>
            <a:pPr marL="285750" lvl="0" indent="-285750" algn="just">
              <a:lnSpc>
                <a:spcPts val="3000"/>
              </a:lnSpc>
              <a:spcAft>
                <a:spcPts val="0"/>
              </a:spcAft>
              <a:buFont typeface="Wingdings" panose="05000000000000000000" pitchFamily="2" charset="2"/>
              <a:buChar char="Ø"/>
            </a:pP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模型训练，计算百度指数，进行流量分级</a:t>
            </a:r>
          </a:p>
          <a:p>
            <a:pPr marL="285750" indent="-285750" algn="just">
              <a:lnSpc>
                <a:spcPct val="150000"/>
              </a:lnSpc>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
          <p:cNvSpPr/>
          <p:nvPr/>
        </p:nvSpPr>
        <p:spPr bwMode="auto">
          <a:xfrm>
            <a:off x="3611200" y="2498559"/>
            <a:ext cx="2340000" cy="180000"/>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13" name="Rectangle 2"/>
          <p:cNvSpPr/>
          <p:nvPr/>
        </p:nvSpPr>
        <p:spPr bwMode="auto">
          <a:xfrm>
            <a:off x="5951200" y="2498559"/>
            <a:ext cx="2340000" cy="180000"/>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14" name="Rectangle 4"/>
          <p:cNvSpPr txBox="1">
            <a:spLocks noChangeArrowheads="1"/>
          </p:cNvSpPr>
          <p:nvPr/>
        </p:nvSpPr>
        <p:spPr>
          <a:xfrm>
            <a:off x="3139574" y="1688396"/>
            <a:ext cx="5623252" cy="720080"/>
          </a:xfrm>
          <a:prstGeom prst="rect">
            <a:avLst/>
          </a:prstGeom>
          <a:solidFill>
            <a:srgbClr val="FFFFFF"/>
          </a:solidFill>
          <a:extLst>
            <a:ext uri="{91240B29-F687-4F45-9708-019B960494DF}">
              <a14:hiddenLine xmlns:a14="http://schemas.microsoft.com/office/drawing/2010/main" w="9525">
                <a:solidFill>
                  <a:srgbClr val="000000"/>
                </a:solidFill>
                <a:round/>
              </a14:hiddenLine>
            </a:ext>
          </a:extLst>
        </p:spPr>
        <p:txBody>
          <a:bodyPr vert="horz" lIns="126435" tIns="72248" rIns="126435" bIns="72248" rtlCol="0" anchor="t">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900" dirty="0">
                <a:ea typeface="宋体" pitchFamily="2" charset="-122"/>
              </a:rPr>
              <a:t>系统框架以及基本概念</a:t>
            </a:r>
          </a:p>
        </p:txBody>
      </p:sp>
      <p:pic>
        <p:nvPicPr>
          <p:cNvPr id="16" name="图片 15"/>
          <p:cNvPicPr>
            <a:picLocks noChangeAspect="1"/>
          </p:cNvPicPr>
          <p:nvPr/>
        </p:nvPicPr>
        <p:blipFill>
          <a:blip r:embed="rId3"/>
          <a:stretch>
            <a:fillRect/>
          </a:stretch>
        </p:blipFill>
        <p:spPr>
          <a:xfrm>
            <a:off x="9877707" y="5405439"/>
            <a:ext cx="1851657" cy="617219"/>
          </a:xfrm>
          <a:prstGeom prst="rect">
            <a:avLst/>
          </a:prstGeom>
        </p:spPr>
      </p:pic>
      <p:sp>
        <p:nvSpPr>
          <p:cNvPr id="17" name="Rectangle 1"/>
          <p:cNvSpPr/>
          <p:nvPr/>
        </p:nvSpPr>
        <p:spPr bwMode="auto">
          <a:xfrm>
            <a:off x="3611200" y="1202415"/>
            <a:ext cx="2340000" cy="180000"/>
          </a:xfrm>
          <a:prstGeom prst="rect">
            <a:avLst/>
          </a:prstGeom>
          <a:solidFill>
            <a:srgbClr val="2A4DFE"/>
          </a:solidFill>
          <a:ln>
            <a:noFill/>
          </a:ln>
          <a:effectLst/>
        </p:spPr>
        <p:txBody>
          <a:bodyPr lIns="72248" tIns="72248" rIns="72248" bIns="72248" anchor="ctr"/>
          <a:lstStyle/>
          <a:p>
            <a:pPr>
              <a:defRPr/>
            </a:pPr>
            <a:endParaRPr lang="zh-CN" altLang="en-US" dirty="0">
              <a:latin typeface="Helvetica Light" charset="0"/>
              <a:ea typeface="宋体" charset="0"/>
              <a:cs typeface="宋体" charset="0"/>
              <a:sym typeface="Helvetica Light" charset="0"/>
            </a:endParaRPr>
          </a:p>
        </p:txBody>
      </p:sp>
      <p:sp>
        <p:nvSpPr>
          <p:cNvPr id="18" name="Rectangle 2"/>
          <p:cNvSpPr/>
          <p:nvPr/>
        </p:nvSpPr>
        <p:spPr bwMode="auto">
          <a:xfrm>
            <a:off x="5951200" y="1202415"/>
            <a:ext cx="2340000" cy="180000"/>
          </a:xfrm>
          <a:prstGeom prst="rect">
            <a:avLst/>
          </a:prstGeom>
          <a:solidFill>
            <a:srgbClr val="FF0200"/>
          </a:solidFill>
          <a:ln>
            <a:noFill/>
          </a:ln>
          <a:effec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9" name="内容占位符 2"/>
          <p:cNvSpPr txBox="1"/>
          <p:nvPr/>
        </p:nvSpPr>
        <p:spPr>
          <a:xfrm>
            <a:off x="4457647" y="3128682"/>
            <a:ext cx="3833553" cy="289397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Arial" panose="020B0604020202020204" pitchFamily="34" charset="0"/>
              <a:buChar char="•"/>
            </a:pPr>
            <a:r>
              <a:rPr kumimoji="1" lang="zh-CN" altLang="en-US" dirty="0"/>
              <a:t>反作弊系统框架</a:t>
            </a:r>
            <a:endParaRPr kumimoji="1" lang="en-US" altLang="zh-CN" dirty="0"/>
          </a:p>
          <a:p>
            <a:pPr marL="342900" indent="-342900" algn="l">
              <a:lnSpc>
                <a:spcPct val="150000"/>
              </a:lnSpc>
              <a:buFont typeface="Arial" panose="020B0604020202020204" pitchFamily="34" charset="0"/>
              <a:buChar char="•"/>
            </a:pPr>
            <a:r>
              <a:rPr kumimoji="1" lang="zh-CN" altLang="en-US" dirty="0"/>
              <a:t>基本概念</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反作弊系统框架</a:t>
            </a:r>
          </a:p>
        </p:txBody>
      </p:sp>
      <p:sp>
        <p:nvSpPr>
          <p:cNvPr id="4" name="文本框 3"/>
          <p:cNvSpPr txBox="1"/>
          <p:nvPr/>
        </p:nvSpPr>
        <p:spPr>
          <a:xfrm>
            <a:off x="500445" y="2018840"/>
            <a:ext cx="5354781" cy="3374065"/>
          </a:xfrm>
          <a:prstGeom prst="rect">
            <a:avLst/>
          </a:prstGeom>
          <a:noFill/>
        </p:spPr>
        <p:txBody>
          <a:bodyPr wrap="square" rtlCol="0">
            <a:spAutoFit/>
          </a:bodyPr>
          <a:lstStyle/>
          <a:p>
            <a:pPr>
              <a:lnSpc>
                <a:spcPct val="150000"/>
              </a:lnSpc>
            </a:pPr>
            <a:r>
              <a:rPr kumimoji="1" lang="zh-CN" altLang="en-US" dirty="0"/>
              <a:t>线上过滤系统</a:t>
            </a:r>
            <a:endParaRPr kumimoji="1" lang="en-US" altLang="zh-CN" dirty="0"/>
          </a:p>
          <a:p>
            <a:pPr marL="285750" indent="-285750">
              <a:lnSpc>
                <a:spcPct val="150000"/>
              </a:lnSpc>
              <a:buFont typeface="Wingdings" panose="05000000000000000000" pitchFamily="2" charset="2"/>
              <a:buChar char="Ø"/>
            </a:pPr>
            <a:r>
              <a:rPr kumimoji="1" lang="zh-CN" altLang="en-US" dirty="0"/>
              <a:t>实时过滤，</a:t>
            </a:r>
            <a:r>
              <a:rPr lang="zh-CN" altLang="en-US" dirty="0"/>
              <a:t>旨在当点击到达系统的第一时间判断当条点击是否无效，在该条点击到达计费系统前将其过滤，以保证无效点击对客户账户无影响。产生漏过再基于离线过滤返款。</a:t>
            </a:r>
            <a:endParaRPr lang="en-US" altLang="zh-CN" dirty="0"/>
          </a:p>
          <a:p>
            <a:pPr marL="285750" indent="-285750">
              <a:lnSpc>
                <a:spcPct val="150000"/>
              </a:lnSpc>
              <a:buFont typeface="Wingdings" panose="05000000000000000000" pitchFamily="2" charset="2"/>
              <a:buChar char="Ø"/>
            </a:pPr>
            <a:r>
              <a:rPr kumimoji="1" lang="zh-CN" altLang="en-US" dirty="0"/>
              <a:t>离线过滤，</a:t>
            </a:r>
            <a:r>
              <a:rPr lang="zh-CN" altLang="en-US" dirty="0"/>
              <a:t>离线过滤后的过滤返款按照返款的时效性又分为大离线返款（周级）和小离线返款（天级）。</a:t>
            </a:r>
            <a:endParaRPr kumimoji="1" lang="zh-CN" altLang="en-US" dirty="0"/>
          </a:p>
        </p:txBody>
      </p:sp>
      <p:pic>
        <p:nvPicPr>
          <p:cNvPr id="16" name="图片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9212" y="2410554"/>
            <a:ext cx="3464256" cy="3536576"/>
          </a:xfrm>
          <a:prstGeom prst="rect">
            <a:avLst/>
          </a:prstGeom>
        </p:spPr>
      </p:pic>
      <p:sp>
        <p:nvSpPr>
          <p:cNvPr id="17" name="文本框 16"/>
          <p:cNvSpPr txBox="1"/>
          <p:nvPr/>
        </p:nvSpPr>
        <p:spPr>
          <a:xfrm>
            <a:off x="6432035" y="1583161"/>
            <a:ext cx="5354781" cy="465577"/>
          </a:xfrm>
          <a:prstGeom prst="rect">
            <a:avLst/>
          </a:prstGeom>
          <a:noFill/>
        </p:spPr>
        <p:txBody>
          <a:bodyPr wrap="square" rtlCol="0">
            <a:spAutoFit/>
          </a:bodyPr>
          <a:lstStyle/>
          <a:p>
            <a:pPr>
              <a:lnSpc>
                <a:spcPct val="150000"/>
              </a:lnSpc>
            </a:pPr>
            <a:r>
              <a:rPr kumimoji="1" lang="zh-CN" altLang="en-US" dirty="0"/>
              <a:t>点击反作弊</a:t>
            </a:r>
            <a:endParaRPr kumimoji="1" lang="en-US" altLang="zh-CN" dirty="0"/>
          </a:p>
        </p:txBody>
      </p:sp>
      <p:sp>
        <p:nvSpPr>
          <p:cNvPr id="18" name="矩形 17"/>
          <p:cNvSpPr/>
          <p:nvPr/>
        </p:nvSpPr>
        <p:spPr>
          <a:xfrm>
            <a:off x="8738816" y="2254352"/>
            <a:ext cx="6096000" cy="1169551"/>
          </a:xfrm>
          <a:prstGeom prst="rect">
            <a:avLst/>
          </a:prstGeom>
        </p:spPr>
        <p:txBody>
          <a:bodyPr>
            <a:spAutoFit/>
          </a:bodyPr>
          <a:lstStyle/>
          <a:p>
            <a:pPr marL="285750" indent="-285750">
              <a:buFont typeface="Wingdings" panose="05000000000000000000" pitchFamily="2" charset="2"/>
              <a:buChar char="n"/>
            </a:pPr>
            <a:r>
              <a:rPr lang="zh-CN" altLang="en-US" sz="1400" dirty="0">
                <a:latin typeface="微软雅黑" panose="020B0503020204020204" pitchFamily="34" charset="-122"/>
                <a:ea typeface="微软雅黑" panose="020B0503020204020204" pitchFamily="34" charset="-122"/>
              </a:rPr>
              <a:t>多级过滤</a:t>
            </a:r>
            <a:endParaRPr lang="en-US" altLang="zh-CN" sz="1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n"/>
            </a:pPr>
            <a:endParaRPr lang="en-US" altLang="zh-CN" sz="1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n"/>
            </a:pPr>
            <a:r>
              <a:rPr lang="zh-CN" altLang="en-US" sz="1400" dirty="0">
                <a:latin typeface="微软雅黑" panose="020B0503020204020204" pitchFamily="34" charset="-122"/>
                <a:ea typeface="微软雅黑" panose="020B0503020204020204" pitchFamily="34" charset="-122"/>
              </a:rPr>
              <a:t>级内三层抽象</a:t>
            </a:r>
            <a:endParaRPr lang="en-US" altLang="zh-CN" sz="1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n"/>
            </a:pPr>
            <a:endParaRPr lang="zh-CN" altLang="en-US" sz="1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n"/>
            </a:pPr>
            <a:r>
              <a:rPr lang="zh-CN" altLang="en-US" sz="1400" dirty="0">
                <a:latin typeface="微软雅黑" panose="020B0503020204020204" pitchFamily="34" charset="-122"/>
                <a:ea typeface="微软雅黑" panose="020B0503020204020204" pitchFamily="34" charset="-122"/>
              </a:rPr>
              <a:t>过滤层级之间串行、层内并行</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反作弊系统框架</a:t>
            </a:r>
          </a:p>
        </p:txBody>
      </p:sp>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9130" y="2248253"/>
            <a:ext cx="3464256" cy="3536576"/>
          </a:xfrm>
          <a:prstGeom prst="rect">
            <a:avLst/>
          </a:prstGeom>
        </p:spPr>
      </p:pic>
      <p:sp>
        <p:nvSpPr>
          <p:cNvPr id="3" name="文本框 2"/>
          <p:cNvSpPr txBox="1"/>
          <p:nvPr/>
        </p:nvSpPr>
        <p:spPr>
          <a:xfrm>
            <a:off x="5271247" y="1617132"/>
            <a:ext cx="5827059" cy="4066562"/>
          </a:xfrm>
          <a:prstGeom prst="rect">
            <a:avLst/>
          </a:prstGeom>
          <a:noFill/>
        </p:spPr>
        <p:txBody>
          <a:bodyPr wrap="square" rtlCol="0">
            <a:spAutoFit/>
          </a:bodyPr>
          <a:lstStyle/>
          <a:p>
            <a:pPr>
              <a:lnSpc>
                <a:spcPct val="150000"/>
              </a:lnSpc>
            </a:pPr>
            <a:r>
              <a:rPr lang="en-GB" altLang="zh-CN" dirty="0" err="1"/>
              <a:t>dformat</a:t>
            </a:r>
            <a:r>
              <a:rPr lang="zh-CN" altLang="en-US" dirty="0"/>
              <a:t>层的策略包括简单策略和一些防御性的上限和比例策略防御性的策略只对大规模作弊才会生效。</a:t>
            </a:r>
            <a:r>
              <a:rPr lang="en-GB" altLang="zh-CN" dirty="0" err="1"/>
              <a:t>dformat</a:t>
            </a:r>
            <a:r>
              <a:rPr lang="zh-CN" altLang="en-US" dirty="0"/>
              <a:t>简单策略针对于单条日志，即使存在少量的统计类策略，但这部分策略一般步长比较小，比较容易加载历史信息。</a:t>
            </a:r>
            <a:endParaRPr lang="en-US" altLang="zh-CN" dirty="0"/>
          </a:p>
          <a:p>
            <a:endParaRPr lang="en-US" altLang="zh-CN" dirty="0"/>
          </a:p>
          <a:p>
            <a:pPr>
              <a:lnSpc>
                <a:spcPct val="150000"/>
              </a:lnSpc>
            </a:pPr>
            <a:r>
              <a:rPr lang="en-GB" altLang="zh-CN" dirty="0"/>
              <a:t>Themis</a:t>
            </a:r>
            <a:r>
              <a:rPr lang="zh-CN" altLang="en-US" dirty="0"/>
              <a:t>层则大部分都是统计类型的策略，其中也存在少量的简单类策略。事实上，这两个层级就是目前全部的过滤层级，通过串行的方式，</a:t>
            </a:r>
            <a:r>
              <a:rPr lang="en-GB" altLang="zh-CN" dirty="0"/>
              <a:t>Themis</a:t>
            </a:r>
            <a:r>
              <a:rPr lang="zh-CN" altLang="en-US" dirty="0"/>
              <a:t>层的输入是</a:t>
            </a:r>
            <a:r>
              <a:rPr lang="en-GB" altLang="zh-CN" dirty="0" err="1"/>
              <a:t>dformat</a:t>
            </a:r>
            <a:r>
              <a:rPr lang="zh-CN" altLang="en-US" dirty="0"/>
              <a:t>层的输出。</a:t>
            </a:r>
          </a:p>
          <a:p>
            <a:pPr>
              <a:lnSpc>
                <a:spcPct val="150000"/>
              </a:lnSpc>
            </a:pPr>
            <a:endParaRPr kumimoji="1" lang="zh-CN" altLang="en-US" dirty="0"/>
          </a:p>
        </p:txBody>
      </p:sp>
      <p:sp>
        <p:nvSpPr>
          <p:cNvPr id="10" name="文本框 9"/>
          <p:cNvSpPr txBox="1"/>
          <p:nvPr/>
        </p:nvSpPr>
        <p:spPr>
          <a:xfrm>
            <a:off x="6686450" y="5483639"/>
            <a:ext cx="3191257" cy="923330"/>
          </a:xfrm>
          <a:prstGeom prst="rect">
            <a:avLst/>
          </a:prstGeom>
          <a:noFill/>
        </p:spPr>
        <p:txBody>
          <a:bodyPr wrap="square" rtlCol="0">
            <a:spAutoFit/>
          </a:bodyPr>
          <a:lstStyle/>
          <a:p>
            <a:r>
              <a:rPr kumimoji="1" lang="zh-CN" altLang="en-US" dirty="0"/>
              <a:t>节省资源</a:t>
            </a:r>
            <a:endParaRPr kumimoji="1" lang="en-US" altLang="zh-CN" dirty="0"/>
          </a:p>
          <a:p>
            <a:r>
              <a:rPr kumimoji="1" lang="zh-CN" altLang="en-US" dirty="0"/>
              <a:t>策略不一样，过滤类型不一样</a:t>
            </a:r>
            <a:endParaRPr kumimoji="1" lang="en-US" altLang="zh-CN" dirty="0"/>
          </a:p>
          <a:p>
            <a:r>
              <a:rPr kumimoji="1" lang="zh-CN" altLang="en-US" dirty="0"/>
              <a:t>保证第二层的输入稳定</a:t>
            </a:r>
            <a:endParaRPr kumimoji="1"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反作弊系统框架</a:t>
            </a:r>
          </a:p>
        </p:txBody>
      </p:sp>
      <p:sp>
        <p:nvSpPr>
          <p:cNvPr id="13" name="矩形 12"/>
          <p:cNvSpPr/>
          <p:nvPr/>
        </p:nvSpPr>
        <p:spPr>
          <a:xfrm>
            <a:off x="5702567" y="1767827"/>
            <a:ext cx="4175140" cy="5278368"/>
          </a:xfrm>
          <a:prstGeom prst="rect">
            <a:avLst/>
          </a:prstGeom>
        </p:spPr>
        <p:txBody>
          <a:bodyPr wrap="square">
            <a:spAutoFit/>
          </a:bodyPr>
          <a:lstStyle/>
          <a:p>
            <a:pPr marL="342900" indent="-342900" fontAlgn="base">
              <a:spcBef>
                <a:spcPct val="20000"/>
              </a:spcBef>
              <a:spcAft>
                <a:spcPts val="600"/>
              </a:spcAft>
              <a:buSzPct val="120000"/>
              <a:buFont typeface="Wingdings" panose="05000000000000000000" pitchFamily="2" charset="2"/>
              <a:buChar char="n"/>
            </a:pPr>
            <a:r>
              <a:rPr kumimoji="1" lang="zh-CN" altLang="en-US" sz="2000" dirty="0">
                <a:solidFill>
                  <a:srgbClr val="FF0000"/>
                </a:solidFill>
                <a:latin typeface="Times New Roman" panose="02020603050405020304" pitchFamily="18" charset="0"/>
                <a:ea typeface="微软雅黑" panose="020B0503020204020204" pitchFamily="34" charset="-122"/>
              </a:rPr>
              <a:t>级内过滤逻辑分层</a:t>
            </a:r>
            <a:endParaRPr lang="en-US" altLang="zh-CN" dirty="0">
              <a:latin typeface="Times New Roman" panose="02020603050405020304" pitchFamily="18" charset="0"/>
              <a:ea typeface="微软雅黑" panose="020B0503020204020204" pitchFamily="34" charset="-122"/>
            </a:endParaRPr>
          </a:p>
          <a:p>
            <a:pPr marL="285750" indent="-285750">
              <a:lnSpc>
                <a:spcPct val="150000"/>
              </a:lnSpc>
              <a:buFont typeface="Arial" panose="020B0604020202020204" pitchFamily="34" charset="0"/>
              <a:buChar char="•"/>
            </a:pPr>
            <a:r>
              <a:rPr lang="zh-CN" altLang="en-US" b="1" dirty="0">
                <a:solidFill>
                  <a:srgbClr val="0070C0"/>
                </a:solidFill>
                <a:latin typeface="Times New Roman" panose="02020603050405020304" pitchFamily="18" charset="0"/>
                <a:ea typeface="微软雅黑" panose="020B0503020204020204" pitchFamily="34" charset="-122"/>
              </a:rPr>
              <a:t>数据层：</a:t>
            </a:r>
            <a:r>
              <a:rPr lang="zh-CN" altLang="en-US" dirty="0">
                <a:solidFill>
                  <a:srgbClr val="0070C0"/>
                </a:solidFill>
                <a:latin typeface="Times New Roman" panose="02020603050405020304" pitchFamily="18" charset="0"/>
                <a:ea typeface="微软雅黑" panose="020B0503020204020204" pitchFamily="34" charset="-122"/>
              </a:rPr>
              <a:t>读取日志</a:t>
            </a:r>
            <a:endParaRPr lang="en-US" altLang="zh-CN" dirty="0">
              <a:solidFill>
                <a:srgbClr val="0070C0"/>
              </a:solidFill>
              <a:latin typeface="Times New Roman" panose="02020603050405020304" pitchFamily="18" charset="0"/>
              <a:ea typeface="微软雅黑" panose="020B0503020204020204" pitchFamily="34" charset="-122"/>
            </a:endParaRPr>
          </a:p>
          <a:p>
            <a:pPr marL="285750" indent="-285750">
              <a:lnSpc>
                <a:spcPct val="150000"/>
              </a:lnSpc>
              <a:buFont typeface="Arial" panose="020B0604020202020204" pitchFamily="34" charset="0"/>
              <a:buChar char="•"/>
            </a:pPr>
            <a:r>
              <a:rPr lang="en-US" altLang="zh-CN" b="1" dirty="0">
                <a:solidFill>
                  <a:schemeClr val="accent2">
                    <a:lumMod val="75000"/>
                  </a:schemeClr>
                </a:solidFill>
                <a:latin typeface="Times New Roman" panose="02020603050405020304" pitchFamily="18" charset="0"/>
                <a:ea typeface="微软雅黑" panose="020B0503020204020204" pitchFamily="34" charset="-122"/>
              </a:rPr>
              <a:t>Extractor</a:t>
            </a:r>
            <a:r>
              <a:rPr lang="zh-CN" altLang="en-US" b="1" dirty="0">
                <a:solidFill>
                  <a:schemeClr val="accent2">
                    <a:lumMod val="75000"/>
                  </a:schemeClr>
                </a:solidFill>
                <a:latin typeface="Times New Roman" panose="02020603050405020304" pitchFamily="18" charset="0"/>
                <a:ea typeface="微软雅黑" panose="020B0503020204020204" pitchFamily="34" charset="-122"/>
              </a:rPr>
              <a:t>：</a:t>
            </a:r>
            <a:r>
              <a:rPr lang="zh-CN" altLang="en-US" dirty="0">
                <a:solidFill>
                  <a:schemeClr val="accent2">
                    <a:lumMod val="75000"/>
                  </a:schemeClr>
                </a:solidFill>
                <a:latin typeface="Times New Roman" panose="02020603050405020304" pitchFamily="18" charset="0"/>
                <a:ea typeface="微软雅黑" panose="020B0503020204020204" pitchFamily="34" charset="-122"/>
              </a:rPr>
              <a:t>抽取特征并分发</a:t>
            </a:r>
          </a:p>
          <a:p>
            <a:pPr marL="285750" indent="-285750">
              <a:lnSpc>
                <a:spcPct val="150000"/>
              </a:lnSpc>
              <a:buFont typeface="Arial" panose="020B0604020202020204" pitchFamily="34" charset="0"/>
              <a:buChar char="•"/>
            </a:pPr>
            <a:r>
              <a:rPr lang="en-US" altLang="zh-CN" b="1" dirty="0">
                <a:solidFill>
                  <a:schemeClr val="accent2">
                    <a:lumMod val="75000"/>
                  </a:schemeClr>
                </a:solidFill>
                <a:latin typeface="Times New Roman" panose="02020603050405020304" pitchFamily="18" charset="0"/>
                <a:ea typeface="微软雅黑" panose="020B0503020204020204" pitchFamily="34" charset="-122"/>
              </a:rPr>
              <a:t>Accumulator</a:t>
            </a:r>
            <a:r>
              <a:rPr lang="zh-CN" altLang="en-US" b="1" dirty="0">
                <a:solidFill>
                  <a:schemeClr val="accent2">
                    <a:lumMod val="75000"/>
                  </a:schemeClr>
                </a:solidFill>
                <a:latin typeface="Times New Roman" panose="02020603050405020304" pitchFamily="18" charset="0"/>
                <a:ea typeface="微软雅黑" panose="020B0503020204020204" pitchFamily="34" charset="-122"/>
              </a:rPr>
              <a:t>：</a:t>
            </a:r>
            <a:r>
              <a:rPr lang="zh-CN" altLang="en-US" dirty="0">
                <a:solidFill>
                  <a:schemeClr val="accent2">
                    <a:lumMod val="75000"/>
                  </a:schemeClr>
                </a:solidFill>
                <a:latin typeface="Times New Roman" panose="02020603050405020304" pitchFamily="18" charset="0"/>
                <a:ea typeface="微软雅黑" panose="020B0503020204020204" pitchFamily="34" charset="-122"/>
              </a:rPr>
              <a:t>累积统计特征</a:t>
            </a:r>
            <a:endParaRPr lang="en-US" altLang="zh-CN" dirty="0">
              <a:solidFill>
                <a:schemeClr val="accent2">
                  <a:lumMod val="75000"/>
                </a:schemeClr>
              </a:solidFill>
              <a:latin typeface="Times New Roman" panose="02020603050405020304" pitchFamily="18" charset="0"/>
              <a:ea typeface="微软雅黑" panose="020B0503020204020204" pitchFamily="34" charset="-122"/>
            </a:endParaRPr>
          </a:p>
          <a:p>
            <a:pPr marL="285750" indent="-285750">
              <a:lnSpc>
                <a:spcPct val="150000"/>
              </a:lnSpc>
              <a:buFont typeface="Arial" panose="020B0604020202020204" pitchFamily="34" charset="0"/>
              <a:buChar char="•"/>
            </a:pPr>
            <a:r>
              <a:rPr lang="en-US" altLang="zh-CN" b="1" dirty="0">
                <a:solidFill>
                  <a:schemeClr val="accent6">
                    <a:lumMod val="50000"/>
                  </a:schemeClr>
                </a:solidFill>
                <a:latin typeface="Times New Roman" panose="02020603050405020304" pitchFamily="18" charset="0"/>
                <a:ea typeface="微软雅黑" panose="020B0503020204020204" pitchFamily="34" charset="-122"/>
              </a:rPr>
              <a:t>Filter(Policy)</a:t>
            </a:r>
            <a:r>
              <a:rPr lang="zh-CN" altLang="en-US" b="1" dirty="0">
                <a:solidFill>
                  <a:schemeClr val="accent6">
                    <a:lumMod val="50000"/>
                  </a:schemeClr>
                </a:solidFill>
                <a:latin typeface="Times New Roman" panose="02020603050405020304" pitchFamily="18" charset="0"/>
                <a:ea typeface="微软雅黑" panose="020B0503020204020204" pitchFamily="34" charset="-122"/>
              </a:rPr>
              <a:t>：</a:t>
            </a:r>
            <a:r>
              <a:rPr lang="zh-CN" altLang="en-US" dirty="0">
                <a:solidFill>
                  <a:schemeClr val="accent6">
                    <a:lumMod val="50000"/>
                  </a:schemeClr>
                </a:solidFill>
                <a:latin typeface="Times New Roman" panose="02020603050405020304" pitchFamily="18" charset="0"/>
                <a:ea typeface="微软雅黑" panose="020B0503020204020204" pitchFamily="34" charset="-122"/>
              </a:rPr>
              <a:t>对策略判定输出（策略是否命中）</a:t>
            </a:r>
          </a:p>
          <a:p>
            <a:pPr marL="285750" indent="-285750">
              <a:lnSpc>
                <a:spcPct val="150000"/>
              </a:lnSpc>
              <a:buFont typeface="Arial" panose="020B0604020202020204" pitchFamily="34" charset="0"/>
              <a:buChar char="•"/>
            </a:pPr>
            <a:r>
              <a:rPr lang="en-US" altLang="zh-CN" b="1" dirty="0">
                <a:solidFill>
                  <a:schemeClr val="accent6">
                    <a:lumMod val="50000"/>
                  </a:schemeClr>
                </a:solidFill>
                <a:latin typeface="Times New Roman" panose="02020603050405020304" pitchFamily="18" charset="0"/>
                <a:ea typeface="微软雅黑" panose="020B0503020204020204" pitchFamily="34" charset="-122"/>
              </a:rPr>
              <a:t>Joiner(Judge)</a:t>
            </a:r>
            <a:r>
              <a:rPr lang="zh-CN" altLang="en-US" b="1" dirty="0">
                <a:solidFill>
                  <a:schemeClr val="accent6">
                    <a:lumMod val="50000"/>
                  </a:schemeClr>
                </a:solidFill>
                <a:latin typeface="Times New Roman" panose="02020603050405020304" pitchFamily="18" charset="0"/>
                <a:ea typeface="微软雅黑" panose="020B0503020204020204" pitchFamily="34" charset="-122"/>
              </a:rPr>
              <a:t>：</a:t>
            </a:r>
            <a:r>
              <a:rPr lang="zh-CN" altLang="en-US" dirty="0">
                <a:solidFill>
                  <a:schemeClr val="accent6">
                    <a:lumMod val="50000"/>
                  </a:schemeClr>
                </a:solidFill>
                <a:latin typeface="Times New Roman" panose="02020603050405020304" pitchFamily="18" charset="0"/>
                <a:ea typeface="微软雅黑" panose="020B0503020204020204" pitchFamily="34" charset="-122"/>
              </a:rPr>
              <a:t>对各个策略的判定结果进行加权求和，并根据阈值，输出</a:t>
            </a:r>
            <a:r>
              <a:rPr lang="en-US" altLang="zh-CN" dirty="0">
                <a:solidFill>
                  <a:schemeClr val="accent6">
                    <a:lumMod val="50000"/>
                  </a:schemeClr>
                </a:solidFill>
                <a:latin typeface="Times New Roman" panose="02020603050405020304" pitchFamily="18" charset="0"/>
                <a:ea typeface="微软雅黑" panose="020B0503020204020204" pitchFamily="34" charset="-122"/>
              </a:rPr>
              <a:t>normal</a:t>
            </a:r>
            <a:r>
              <a:rPr lang="zh-CN" altLang="en-US" dirty="0">
                <a:solidFill>
                  <a:schemeClr val="accent6">
                    <a:lumMod val="50000"/>
                  </a:schemeClr>
                </a:solidFill>
                <a:latin typeface="Times New Roman" panose="02020603050405020304" pitchFamily="18" charset="0"/>
                <a:ea typeface="微软雅黑" panose="020B0503020204020204" pitchFamily="34" charset="-122"/>
              </a:rPr>
              <a:t>／</a:t>
            </a:r>
            <a:r>
              <a:rPr lang="en-US" altLang="zh-CN" dirty="0">
                <a:solidFill>
                  <a:schemeClr val="accent6">
                    <a:lumMod val="50000"/>
                  </a:schemeClr>
                </a:solidFill>
                <a:latin typeface="Times New Roman" panose="02020603050405020304" pitchFamily="18" charset="0"/>
                <a:ea typeface="微软雅黑" panose="020B0503020204020204" pitchFamily="34" charset="-122"/>
              </a:rPr>
              <a:t>spam</a:t>
            </a:r>
          </a:p>
          <a:p>
            <a:pPr marL="285750" indent="-285750">
              <a:lnSpc>
                <a:spcPct val="150000"/>
              </a:lnSpc>
              <a:buFont typeface="Arial" panose="020B0604020202020204" pitchFamily="34" charset="0"/>
              <a:buChar char="•"/>
            </a:pPr>
            <a:r>
              <a:rPr lang="en-US" altLang="zh-CN" b="1" dirty="0">
                <a:latin typeface="Times New Roman" panose="02020603050405020304" pitchFamily="18" charset="0"/>
                <a:ea typeface="微软雅黑" panose="020B0503020204020204" pitchFamily="34" charset="-122"/>
              </a:rPr>
              <a:t>Merger</a:t>
            </a:r>
            <a:r>
              <a:rPr lang="zh-CN" altLang="en-US" b="1" dirty="0">
                <a:latin typeface="Times New Roman" panose="02020603050405020304" pitchFamily="18" charset="0"/>
                <a:ea typeface="微软雅黑" panose="020B0503020204020204" pitchFamily="34" charset="-122"/>
              </a:rPr>
              <a:t>：</a:t>
            </a:r>
            <a:r>
              <a:rPr lang="zh-CN" altLang="zh-CN" dirty="0">
                <a:latin typeface="Times New Roman" panose="02020603050405020304" pitchFamily="18" charset="0"/>
                <a:ea typeface="微软雅黑" panose="020B0503020204020204" pitchFamily="34" charset="-122"/>
              </a:rPr>
              <a:t>将原始日志和判定结果拼接，输出打上标记的原始日志</a:t>
            </a:r>
          </a:p>
          <a:p>
            <a:pPr marL="285750" indent="-285750">
              <a:lnSpc>
                <a:spcPct val="150000"/>
              </a:lnSpc>
              <a:buFont typeface="Arial" panose="020B0604020202020204" pitchFamily="34" charset="0"/>
              <a:buChar char="•"/>
            </a:pPr>
            <a:endParaRPr lang="zh-CN" altLang="en-US" sz="1600" dirty="0">
              <a:latin typeface="Times New Roman" panose="02020603050405020304" pitchFamily="18" charset="0"/>
              <a:ea typeface="微软雅黑" panose="020B0503020204020204" pitchFamily="34" charset="-122"/>
            </a:endParaRPr>
          </a:p>
          <a:p>
            <a:pPr marL="179705" indent="-179705"/>
            <a:endParaRPr lang="zh-CN" altLang="en-US" dirty="0">
              <a:latin typeface="Times New Roman" panose="02020603050405020304" pitchFamily="18" charset="0"/>
              <a:ea typeface="微软雅黑" panose="020B0503020204020204" pitchFamily="34" charset="-122"/>
            </a:endParaRPr>
          </a:p>
        </p:txBody>
      </p:sp>
      <p:sp>
        <p:nvSpPr>
          <p:cNvPr id="4" name="单圆角矩形 3"/>
          <p:cNvSpPr/>
          <p:nvPr/>
        </p:nvSpPr>
        <p:spPr>
          <a:xfrm>
            <a:off x="10140696" y="2295144"/>
            <a:ext cx="740664" cy="320040"/>
          </a:xfrm>
          <a:prstGeom prst="round1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t>数据层</a:t>
            </a:r>
          </a:p>
        </p:txBody>
      </p:sp>
      <p:cxnSp>
        <p:nvCxnSpPr>
          <p:cNvPr id="15" name="直线箭头连接符 14"/>
          <p:cNvCxnSpPr>
            <a:stCxn id="4" idx="2"/>
          </p:cNvCxnSpPr>
          <p:nvPr/>
        </p:nvCxnSpPr>
        <p:spPr>
          <a:xfrm>
            <a:off x="10511028" y="2615184"/>
            <a:ext cx="0" cy="270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单圆角矩形 17"/>
          <p:cNvSpPr/>
          <p:nvPr/>
        </p:nvSpPr>
        <p:spPr>
          <a:xfrm>
            <a:off x="10140696" y="2966932"/>
            <a:ext cx="740664" cy="320040"/>
          </a:xfrm>
          <a:prstGeom prst="round1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solidFill>
                  <a:schemeClr val="bg1"/>
                </a:solidFill>
              </a:rPr>
              <a:t>特征层</a:t>
            </a:r>
          </a:p>
        </p:txBody>
      </p:sp>
      <p:cxnSp>
        <p:nvCxnSpPr>
          <p:cNvPr id="19" name="直线箭头连接符 18"/>
          <p:cNvCxnSpPr>
            <a:stCxn id="18" idx="2"/>
          </p:cNvCxnSpPr>
          <p:nvPr/>
        </p:nvCxnSpPr>
        <p:spPr>
          <a:xfrm>
            <a:off x="10511028" y="3286972"/>
            <a:ext cx="0" cy="270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单圆角矩形 19"/>
          <p:cNvSpPr/>
          <p:nvPr/>
        </p:nvSpPr>
        <p:spPr>
          <a:xfrm>
            <a:off x="10140696" y="3637249"/>
            <a:ext cx="740664" cy="320040"/>
          </a:xfrm>
          <a:prstGeom prst="round1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t>过滤层</a:t>
            </a:r>
          </a:p>
        </p:txBody>
      </p:sp>
      <p:cxnSp>
        <p:nvCxnSpPr>
          <p:cNvPr id="21" name="直线箭头连接符 20"/>
          <p:cNvCxnSpPr>
            <a:stCxn id="20" idx="2"/>
          </p:cNvCxnSpPr>
          <p:nvPr/>
        </p:nvCxnSpPr>
        <p:spPr>
          <a:xfrm>
            <a:off x="10511028" y="3957289"/>
            <a:ext cx="0" cy="270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线箭头连接符 21"/>
          <p:cNvCxnSpPr/>
          <p:nvPr/>
        </p:nvCxnSpPr>
        <p:spPr>
          <a:xfrm>
            <a:off x="10511028" y="1970992"/>
            <a:ext cx="0" cy="270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871344" y="1303218"/>
            <a:ext cx="4355256" cy="5395268"/>
            <a:chOff x="-192074" y="1456420"/>
            <a:chExt cx="6094626" cy="7146760"/>
          </a:xfrm>
        </p:grpSpPr>
        <p:pic>
          <p:nvPicPr>
            <p:cNvPr id="24" name="图片 23"/>
            <p:cNvPicPr>
              <a:picLocks noChangeAspect="1"/>
            </p:cNvPicPr>
            <p:nvPr/>
          </p:nvPicPr>
          <p:blipFill>
            <a:blip r:embed="rId4"/>
            <a:stretch>
              <a:fillRect/>
            </a:stretch>
          </p:blipFill>
          <p:spPr>
            <a:xfrm>
              <a:off x="-23618" y="1456420"/>
              <a:ext cx="5846036" cy="6840760"/>
            </a:xfrm>
            <a:prstGeom prst="rect">
              <a:avLst/>
            </a:prstGeom>
          </p:spPr>
        </p:pic>
        <p:grpSp>
          <p:nvGrpSpPr>
            <p:cNvPr id="25" name="组合 24"/>
            <p:cNvGrpSpPr/>
            <p:nvPr/>
          </p:nvGrpSpPr>
          <p:grpSpPr>
            <a:xfrm>
              <a:off x="-192074" y="2012959"/>
              <a:ext cx="6094626" cy="6590221"/>
              <a:chOff x="-240298" y="2012959"/>
              <a:chExt cx="6094626" cy="6590221"/>
            </a:xfrm>
          </p:grpSpPr>
          <p:cxnSp>
            <p:nvCxnSpPr>
              <p:cNvPr id="26" name="直线连接符 25"/>
              <p:cNvCxnSpPr/>
              <p:nvPr/>
            </p:nvCxnSpPr>
            <p:spPr>
              <a:xfrm>
                <a:off x="2899401" y="2012959"/>
                <a:ext cx="29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线连接符 26"/>
              <p:cNvCxnSpPr/>
              <p:nvPr/>
            </p:nvCxnSpPr>
            <p:spPr>
              <a:xfrm flipV="1">
                <a:off x="5851401" y="2012959"/>
                <a:ext cx="0" cy="6336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线连接符 27"/>
              <p:cNvCxnSpPr/>
              <p:nvPr/>
            </p:nvCxnSpPr>
            <p:spPr>
              <a:xfrm>
                <a:off x="2758328" y="8349663"/>
                <a:ext cx="309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线箭头连接符 28"/>
              <p:cNvCxnSpPr/>
              <p:nvPr/>
            </p:nvCxnSpPr>
            <p:spPr>
              <a:xfrm>
                <a:off x="2758328" y="7991180"/>
                <a:ext cx="0" cy="61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p:cNvSpPr/>
              <p:nvPr/>
            </p:nvSpPr>
            <p:spPr>
              <a:xfrm>
                <a:off x="-240298" y="4153386"/>
                <a:ext cx="1211972" cy="10243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4200" rtl="0" eaLnBrk="1"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dirty="0">
                  <a:ln>
                    <a:noFill/>
                  </a:ln>
                  <a:solidFill>
                    <a:prstClr val="white"/>
                  </a:solidFill>
                  <a:effectLst/>
                  <a:uLnTx/>
                  <a:uFillTx/>
                  <a:latin typeface="Calibri"/>
                  <a:ea typeface="宋体" pitchFamily="2" charset="-122"/>
                  <a:cs typeface="+mn-cs"/>
                  <a:sym typeface="Helvetica Light" charset="0"/>
                </a:endParaRPr>
              </a:p>
            </p:txBody>
          </p:sp>
          <p:sp>
            <p:nvSpPr>
              <p:cNvPr id="33" name="文本框 32"/>
              <p:cNvSpPr txBox="1"/>
              <p:nvPr/>
            </p:nvSpPr>
            <p:spPr>
              <a:xfrm>
                <a:off x="378101" y="4153386"/>
                <a:ext cx="595035" cy="215444"/>
              </a:xfrm>
              <a:prstGeom prst="rect">
                <a:avLst/>
              </a:prstGeom>
              <a:noFill/>
            </p:spPr>
            <p:txBody>
              <a:bodyPr wrap="none" rtlCol="0">
                <a:spAutoFit/>
              </a:bodyPr>
              <a:lstStyle/>
              <a:p>
                <a:pPr marL="0" marR="0" lvl="0" indent="0" algn="ctr" defTabSz="584200" rtl="0" eaLnBrk="1" fontAlgn="base" latinLnBrk="0" hangingPunct="0">
                  <a:lnSpc>
                    <a:spcPct val="100000"/>
                  </a:lnSpc>
                  <a:spcBef>
                    <a:spcPct val="0"/>
                  </a:spcBef>
                  <a:spcAft>
                    <a:spcPct val="0"/>
                  </a:spcAft>
                  <a:buClrTx/>
                  <a:buSzTx/>
                  <a:buFontTx/>
                  <a:buNone/>
                  <a:defRPr/>
                </a:pPr>
                <a:r>
                  <a:rPr kumimoji="1" lang="zh-CN" altLang="en-US" sz="800" b="0" i="0" u="none" strike="noStrike" kern="1200" cap="none" spc="0" normalizeH="0" baseline="0" noProof="0" dirty="0">
                    <a:ln>
                      <a:noFill/>
                    </a:ln>
                    <a:solidFill>
                      <a:srgbClr val="000000"/>
                    </a:solidFill>
                    <a:effectLst/>
                    <a:uLnTx/>
                    <a:uFillTx/>
                    <a:latin typeface="Microsoft YaHei Light" panose="020B0502040204020203" pitchFamily="34" charset="-122"/>
                    <a:ea typeface="Microsoft YaHei Light" panose="020B0502040204020203" pitchFamily="34" charset="-122"/>
                    <a:sym typeface="Helvetica Light" charset="0"/>
                  </a:rPr>
                  <a:t>特征分发</a:t>
                </a: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反作弊系统框架</a:t>
            </a:r>
          </a:p>
        </p:txBody>
      </p:sp>
      <p:sp>
        <p:nvSpPr>
          <p:cNvPr id="30" name="内容占位符 2"/>
          <p:cNvSpPr>
            <a:spLocks noGrp="1"/>
          </p:cNvSpPr>
          <p:nvPr>
            <p:ph idx="1"/>
          </p:nvPr>
        </p:nvSpPr>
        <p:spPr>
          <a:xfrm>
            <a:off x="700358" y="2018840"/>
            <a:ext cx="9586642" cy="3824338"/>
          </a:xfrm>
        </p:spPr>
        <p:txBody>
          <a:bodyPr>
            <a:normAutofit/>
          </a:bodyPr>
          <a:lstStyle/>
          <a:p>
            <a:pPr>
              <a:spcAft>
                <a:spcPts val="855"/>
              </a:spcAft>
              <a:buClr>
                <a:schemeClr val="tx1"/>
              </a:buClr>
              <a:buSzPct val="120000"/>
              <a:buFont typeface="Wingdings" panose="05000000000000000000" pitchFamily="2" charset="2"/>
              <a:buChar char="l"/>
            </a:pPr>
            <a:r>
              <a:rPr lang="zh-CN" altLang="en-US" sz="2400" dirty="0"/>
              <a:t> 配置文件</a:t>
            </a:r>
            <a:endParaRPr lang="en-US" altLang="zh-CN" sz="2400" dirty="0"/>
          </a:p>
          <a:p>
            <a:pPr lvl="1">
              <a:buClr>
                <a:schemeClr val="tx1"/>
              </a:buClr>
              <a:buFont typeface="Wingdings" panose="05000000000000000000" pitchFamily="2" charset="2"/>
              <a:buChar char="l"/>
            </a:pPr>
            <a:r>
              <a:rPr lang="en-US" altLang="zh-CN" sz="1800" dirty="0" err="1"/>
              <a:t>record.conf</a:t>
            </a:r>
            <a:r>
              <a:rPr lang="en-US" altLang="zh-CN" sz="1800" dirty="0"/>
              <a:t> </a:t>
            </a:r>
            <a:r>
              <a:rPr lang="zh-CN" altLang="en-US" sz="1800" dirty="0"/>
              <a:t>：字段</a:t>
            </a:r>
            <a:r>
              <a:rPr lang="zh-CN" altLang="zh-CN" sz="1800" dirty="0"/>
              <a:t>抽取配置文件 </a:t>
            </a:r>
            <a:r>
              <a:rPr lang="zh-CN" altLang="en-US" sz="1800" dirty="0"/>
              <a:t>（提供日志格式、维度名、维度层级等信息，用于初始化）</a:t>
            </a:r>
            <a:endParaRPr lang="zh-CN" altLang="zh-CN" sz="1800" dirty="0"/>
          </a:p>
          <a:p>
            <a:pPr lvl="1">
              <a:buClr>
                <a:schemeClr val="tx1"/>
              </a:buClr>
              <a:buFont typeface="Wingdings" panose="05000000000000000000" pitchFamily="2" charset="2"/>
              <a:buChar char="l"/>
            </a:pPr>
            <a:r>
              <a:rPr lang="en-US" altLang="zh-CN" sz="1800" dirty="0" err="1"/>
              <a:t>dict.conf</a:t>
            </a:r>
            <a:r>
              <a:rPr lang="en-US" altLang="zh-CN" sz="1800" dirty="0"/>
              <a:t> </a:t>
            </a:r>
            <a:r>
              <a:rPr lang="zh-CN" altLang="en-US" sz="1800" dirty="0"/>
              <a:t>：</a:t>
            </a:r>
            <a:r>
              <a:rPr lang="zh-CN" altLang="zh-CN" sz="1800" dirty="0"/>
              <a:t>名单配置文件</a:t>
            </a:r>
            <a:r>
              <a:rPr lang="en-US" altLang="zh-CN" sz="1800" dirty="0"/>
              <a:t> </a:t>
            </a:r>
            <a:endParaRPr lang="zh-CN" altLang="zh-CN" sz="1800" dirty="0"/>
          </a:p>
          <a:p>
            <a:pPr lvl="1">
              <a:buClr>
                <a:schemeClr val="tx1"/>
              </a:buClr>
              <a:buFont typeface="Wingdings" panose="05000000000000000000" pitchFamily="2" charset="2"/>
              <a:buChar char="l"/>
            </a:pPr>
            <a:r>
              <a:rPr lang="en-US" altLang="zh-CN" sz="1800" dirty="0" err="1"/>
              <a:t>feature.conf</a:t>
            </a:r>
            <a:r>
              <a:rPr lang="en-US" altLang="zh-CN" sz="1800" dirty="0"/>
              <a:t> </a:t>
            </a:r>
            <a:r>
              <a:rPr lang="zh-CN" altLang="en-US" sz="1800" dirty="0"/>
              <a:t>：</a:t>
            </a:r>
            <a:r>
              <a:rPr lang="zh-CN" altLang="zh-CN" sz="1800" dirty="0"/>
              <a:t>特征配置文件</a:t>
            </a:r>
            <a:r>
              <a:rPr lang="en-US" altLang="zh-CN" sz="1800" dirty="0"/>
              <a:t> </a:t>
            </a:r>
          </a:p>
          <a:p>
            <a:pPr lvl="1">
              <a:buClr>
                <a:schemeClr val="tx1"/>
              </a:buClr>
              <a:buFont typeface="Wingdings" panose="05000000000000000000" pitchFamily="2" charset="2"/>
              <a:buChar char="l"/>
            </a:pPr>
            <a:r>
              <a:rPr lang="en-US" altLang="zh-CN" sz="1800" dirty="0" err="1"/>
              <a:t>policy.conf</a:t>
            </a:r>
            <a:r>
              <a:rPr lang="en-US" altLang="zh-CN" sz="1800" dirty="0"/>
              <a:t> </a:t>
            </a:r>
            <a:r>
              <a:rPr lang="zh-CN" altLang="en-US" sz="1800" dirty="0"/>
              <a:t>：</a:t>
            </a:r>
            <a:r>
              <a:rPr lang="zh-CN" altLang="zh-CN" sz="1800" dirty="0"/>
              <a:t>策略配置文件</a:t>
            </a:r>
            <a:r>
              <a:rPr lang="en-US" altLang="zh-CN" sz="1800" dirty="0"/>
              <a:t> </a:t>
            </a:r>
            <a:endParaRPr lang="zh-CN" altLang="zh-CN" sz="1800" dirty="0"/>
          </a:p>
          <a:p>
            <a:pPr lvl="1">
              <a:buClr>
                <a:schemeClr val="tx1"/>
              </a:buClr>
              <a:buFont typeface="Wingdings" panose="05000000000000000000" pitchFamily="2" charset="2"/>
              <a:buChar char="l"/>
            </a:pPr>
            <a:r>
              <a:rPr lang="en-US" altLang="zh-CN" sz="1800" dirty="0" err="1"/>
              <a:t>judge.conf</a:t>
            </a:r>
            <a:r>
              <a:rPr lang="zh-CN" altLang="en-US" sz="1800" dirty="0"/>
              <a:t>：</a:t>
            </a:r>
            <a:r>
              <a:rPr lang="en-US" altLang="zh-CN" sz="1800" dirty="0"/>
              <a:t> </a:t>
            </a:r>
            <a:r>
              <a:rPr lang="zh-CN" altLang="en-US" sz="1800" dirty="0"/>
              <a:t>过滤阈值，以及</a:t>
            </a:r>
            <a:r>
              <a:rPr lang="zh-CN" altLang="zh-CN" sz="1800" dirty="0"/>
              <a:t>所有策略权重配置文件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sp>
        <p:nvSpPr>
          <p:cNvPr id="16" name="文本框 15"/>
          <p:cNvSpPr txBox="1"/>
          <p:nvPr/>
        </p:nvSpPr>
        <p:spPr>
          <a:xfrm>
            <a:off x="612990" y="1869666"/>
            <a:ext cx="2516925" cy="3391121"/>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名词解释</a:t>
            </a:r>
            <a:endParaRPr kumimoji="1" lang="en-US" altLang="zh-CN" dirty="0">
              <a:latin typeface="微软雅黑" panose="020B0503020204020204" pitchFamily="34" charset="-122"/>
              <a:ea typeface="微软雅黑" panose="020B0503020204020204" pitchFamily="34" charset="-122"/>
            </a:endParaRPr>
          </a:p>
          <a:p>
            <a:pPr marL="391795" lvl="1" indent="-150495" algn="just" fontAlgn="base">
              <a:lnSpc>
                <a:spcPct val="150000"/>
              </a:lnSpc>
              <a:spcBef>
                <a:spcPct val="20000"/>
              </a:spcBef>
              <a:spcAft>
                <a:spcPct val="0"/>
              </a:spcAft>
              <a:buFont typeface="Apple Symbols" panose="02000000000000000000" pitchFamily="2" charset="-79"/>
              <a:buChar char="⎼"/>
            </a:pPr>
            <a:r>
              <a:rPr kumimoji="1" lang="zh-CN" altLang="en-US" sz="1600" dirty="0">
                <a:latin typeface="Times New Roman" panose="02020603050405020304" pitchFamily="18" charset="0"/>
                <a:ea typeface="微软雅黑" panose="020B0503020204020204" pitchFamily="34" charset="-122"/>
              </a:rPr>
              <a:t>维度</a:t>
            </a:r>
            <a:endParaRPr kumimoji="1" lang="en-US" altLang="zh-CN" sz="1600" dirty="0">
              <a:latin typeface="Times New Roman" panose="02020603050405020304" pitchFamily="18" charset="0"/>
              <a:ea typeface="微软雅黑" panose="020B0503020204020204" pitchFamily="34" charset="-122"/>
            </a:endParaRPr>
          </a:p>
          <a:p>
            <a:pPr marL="391795" lvl="1" indent="-150495" algn="just" fontAlgn="base">
              <a:lnSpc>
                <a:spcPct val="150000"/>
              </a:lnSpc>
              <a:spcBef>
                <a:spcPct val="20000"/>
              </a:spcBef>
              <a:spcAft>
                <a:spcPct val="0"/>
              </a:spcAft>
              <a:buFont typeface="Apple Symbols" panose="02000000000000000000" pitchFamily="2" charset="-79"/>
              <a:buChar char="⎼"/>
            </a:pPr>
            <a:r>
              <a:rPr kumimoji="1" lang="zh-CN" altLang="en-US" sz="1600" dirty="0">
                <a:latin typeface="Times New Roman" panose="02020603050405020304" pitchFamily="18" charset="0"/>
                <a:ea typeface="微软雅黑" panose="020B0503020204020204" pitchFamily="34" charset="-122"/>
              </a:rPr>
              <a:t>处理空间</a:t>
            </a:r>
            <a:endParaRPr kumimoji="1" lang="en-US" altLang="zh-CN" sz="1600" dirty="0">
              <a:latin typeface="Times New Roman" panose="02020603050405020304" pitchFamily="18" charset="0"/>
              <a:ea typeface="微软雅黑" panose="020B0503020204020204" pitchFamily="34" charset="-122"/>
            </a:endParaRPr>
          </a:p>
          <a:p>
            <a:pPr marL="391795" lvl="1" indent="-150495" algn="just" fontAlgn="base">
              <a:lnSpc>
                <a:spcPct val="150000"/>
              </a:lnSpc>
              <a:spcBef>
                <a:spcPct val="20000"/>
              </a:spcBef>
              <a:spcAft>
                <a:spcPct val="0"/>
              </a:spcAft>
              <a:buFont typeface="Apple Symbols" panose="02000000000000000000" pitchFamily="2" charset="-79"/>
              <a:buChar char="⎼"/>
            </a:pPr>
            <a:r>
              <a:rPr kumimoji="1" lang="zh-CN" altLang="en-US" sz="1600" dirty="0">
                <a:latin typeface="Times New Roman" panose="02020603050405020304" pitchFamily="18" charset="0"/>
                <a:ea typeface="微软雅黑" panose="020B0503020204020204" pitchFamily="34" charset="-122"/>
              </a:rPr>
              <a:t>条件表达式</a:t>
            </a:r>
            <a:endParaRPr kumimoji="1" lang="en-US" altLang="zh-CN" sz="1600" dirty="0">
              <a:latin typeface="Times New Roman" panose="02020603050405020304" pitchFamily="18" charset="0"/>
              <a:ea typeface="微软雅黑" panose="020B0503020204020204" pitchFamily="34" charset="-122"/>
            </a:endParaRPr>
          </a:p>
          <a:p>
            <a:pPr marL="391795" lvl="1" indent="-150495" algn="just" fontAlgn="base">
              <a:lnSpc>
                <a:spcPct val="150000"/>
              </a:lnSpc>
              <a:spcBef>
                <a:spcPct val="20000"/>
              </a:spcBef>
              <a:spcAft>
                <a:spcPct val="0"/>
              </a:spcAft>
              <a:buFont typeface="Apple Symbols" panose="02000000000000000000" pitchFamily="2" charset="-79"/>
              <a:buChar char="⎼"/>
            </a:pPr>
            <a:r>
              <a:rPr kumimoji="1" lang="zh-CN" altLang="en-US" sz="1600" dirty="0">
                <a:latin typeface="Times New Roman" panose="02020603050405020304" pitchFamily="18" charset="0"/>
                <a:ea typeface="微软雅黑" panose="020B0503020204020204" pitchFamily="34" charset="-122"/>
              </a:rPr>
              <a:t>段</a:t>
            </a:r>
            <a:endParaRPr kumimoji="1" lang="en-US" altLang="zh-CN" sz="1600" dirty="0">
              <a:latin typeface="Times New Roman" panose="02020603050405020304" pitchFamily="18" charset="0"/>
              <a:ea typeface="微软雅黑" panose="020B0503020204020204" pitchFamily="34" charset="-122"/>
            </a:endParaRPr>
          </a:p>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特征</a:t>
            </a:r>
            <a:endParaRPr kumimoji="1" lang="en-US" altLang="zh-CN" dirty="0">
              <a:latin typeface="微软雅黑" panose="020B0503020204020204" pitchFamily="34" charset="-122"/>
              <a:ea typeface="微软雅黑" panose="020B0503020204020204" pitchFamily="34" charset="-122"/>
            </a:endParaRPr>
          </a:p>
          <a:p>
            <a:pPr marL="391795" lvl="1" indent="-150495" algn="just" fontAlgn="base">
              <a:lnSpc>
                <a:spcPct val="150000"/>
              </a:lnSpc>
              <a:spcBef>
                <a:spcPct val="20000"/>
              </a:spcBef>
              <a:spcAft>
                <a:spcPct val="0"/>
              </a:spcAft>
              <a:buFont typeface="Apple Symbols" panose="02000000000000000000" pitchFamily="2" charset="-79"/>
              <a:buChar char="⎼"/>
            </a:pPr>
            <a:r>
              <a:rPr kumimoji="1" lang="zh-CN" altLang="en-US" sz="1600" dirty="0">
                <a:latin typeface="Times New Roman" panose="02020603050405020304" pitchFamily="18" charset="0"/>
                <a:ea typeface="微软雅黑" panose="020B0503020204020204" pitchFamily="34" charset="-122"/>
              </a:rPr>
              <a:t>基本特征</a:t>
            </a:r>
            <a:endParaRPr kumimoji="1" lang="en-US" altLang="zh-CN" sz="1600" dirty="0">
              <a:latin typeface="Times New Roman" panose="02020603050405020304" pitchFamily="18" charset="0"/>
              <a:ea typeface="微软雅黑" panose="020B0503020204020204" pitchFamily="34" charset="-122"/>
            </a:endParaRPr>
          </a:p>
          <a:p>
            <a:pPr marL="391795" lvl="1" indent="-150495" algn="just" fontAlgn="base">
              <a:lnSpc>
                <a:spcPct val="150000"/>
              </a:lnSpc>
              <a:spcBef>
                <a:spcPct val="20000"/>
              </a:spcBef>
              <a:spcAft>
                <a:spcPct val="0"/>
              </a:spcAft>
              <a:buFont typeface="Apple Symbols" panose="02000000000000000000" pitchFamily="2" charset="-79"/>
              <a:buChar char="⎼"/>
            </a:pPr>
            <a:r>
              <a:rPr kumimoji="1" lang="zh-CN" altLang="en-US" sz="1600" dirty="0">
                <a:latin typeface="Times New Roman" panose="02020603050405020304" pitchFamily="18" charset="0"/>
                <a:ea typeface="微软雅黑" panose="020B0503020204020204" pitchFamily="34" charset="-122"/>
              </a:rPr>
              <a:t>统计特征</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sp>
        <p:nvSpPr>
          <p:cNvPr id="16" name="文本框 15"/>
          <p:cNvSpPr txBox="1"/>
          <p:nvPr/>
        </p:nvSpPr>
        <p:spPr>
          <a:xfrm>
            <a:off x="612990" y="1869665"/>
            <a:ext cx="10542690" cy="4613892"/>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维度</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定义：</a:t>
            </a:r>
            <a:r>
              <a:rPr lang="zh-CN" altLang="zh-CN" kern="100" dirty="0">
                <a:latin typeface="Times New Roman" panose="02020603050405020304" pitchFamily="18" charset="0"/>
                <a:ea typeface="微软雅黑" panose="020B0503020204020204" pitchFamily="34" charset="-122"/>
                <a:cs typeface="Times New Roman" panose="02020603050405020304" pitchFamily="18" charset="0"/>
              </a:rPr>
              <a:t>形式是一个或多个属性</a:t>
            </a:r>
            <a:r>
              <a:rPr lang="en-US" altLang="zh-CN"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latin typeface="Times New Roman" panose="02020603050405020304" pitchFamily="18" charset="0"/>
                <a:ea typeface="微软雅黑" panose="020B0503020204020204" pitchFamily="34" charset="-122"/>
                <a:cs typeface="Times New Roman" panose="02020603050405020304" pitchFamily="18" charset="0"/>
              </a:rPr>
              <a:t>字段，反映了统计的粒度，表现在策略上就是“同一</a:t>
            </a:r>
            <a:r>
              <a:rPr lang="en-US" altLang="zh-CN"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latin typeface="Times New Roman" panose="02020603050405020304" pitchFamily="18" charset="0"/>
                <a:ea typeface="微软雅黑" panose="020B0503020204020204" pitchFamily="34" charset="-122"/>
                <a:cs typeface="Times New Roman" panose="02020603050405020304" pitchFamily="18" charset="0"/>
              </a:rPr>
              <a:t>下”</a:t>
            </a:r>
            <a:r>
              <a:rPr lang="zh-CN" altLang="en-US"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kern="100" dirty="0">
                <a:latin typeface="Times New Roman" panose="02020603050405020304" pitchFamily="18" charset="0"/>
                <a:ea typeface="微软雅黑" panose="020B0503020204020204" pitchFamily="34" charset="-122"/>
                <a:cs typeface="Times New Roman" panose="02020603050405020304" pitchFamily="18" charset="0"/>
              </a:rPr>
              <a:t>view</a:t>
            </a:r>
            <a:r>
              <a:rPr lang="zh-CN" altLang="en-US" kern="100" dirty="0">
                <a:latin typeface="Times New Roman" panose="02020603050405020304" pitchFamily="18" charset="0"/>
                <a:ea typeface="微软雅黑" panose="020B0503020204020204" pitchFamily="34" charset="-122"/>
                <a:cs typeface="Times New Roman" panose="02020603050405020304" pitchFamily="18" charset="0"/>
              </a:rPr>
              <a:t>）</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分类：</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基本维度：单一字段，例如</a:t>
            </a:r>
            <a:r>
              <a:rPr kumimoji="1" lang="en-US" altLang="zh-CN" dirty="0" err="1">
                <a:latin typeface="微软雅黑" panose="020B0503020204020204" pitchFamily="34" charset="-122"/>
                <a:ea typeface="微软雅黑" panose="020B0503020204020204" pitchFamily="34" charset="-122"/>
              </a:rPr>
              <a:t>baiduid</a:t>
            </a:r>
            <a:r>
              <a:rPr kumimoji="1" lang="zh-CN" altLang="en-US" dirty="0">
                <a:latin typeface="微软雅黑" panose="020B0503020204020204" pitchFamily="34" charset="-122"/>
                <a:ea typeface="微软雅黑" panose="020B0503020204020204" pitchFamily="34" charset="-122"/>
              </a:rPr>
              <a:t>、</a:t>
            </a:r>
            <a:r>
              <a:rPr kumimoji="1" lang="en-US" altLang="zh-CN" dirty="0" err="1">
                <a:latin typeface="微软雅黑" panose="020B0503020204020204" pitchFamily="34" charset="-122"/>
                <a:ea typeface="微软雅黑" panose="020B0503020204020204" pitchFamily="34" charset="-122"/>
              </a:rPr>
              <a:t>cntname</a:t>
            </a:r>
            <a:r>
              <a:rPr kumimoji="1" lang="zh-CN" altLang="en-US" dirty="0">
                <a:latin typeface="微软雅黑" panose="020B0503020204020204" pitchFamily="34" charset="-122"/>
                <a:ea typeface="微软雅黑" panose="020B0503020204020204" pitchFamily="34" charset="-122"/>
              </a:rPr>
              <a:t>等</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高级维度：</a:t>
            </a:r>
            <a:endParaRPr kumimoji="1" lang="en-US" altLang="zh-CN" dirty="0">
              <a:latin typeface="微软雅黑" panose="020B0503020204020204" pitchFamily="34" charset="-122"/>
              <a:ea typeface="微软雅黑" panose="020B0503020204020204" pitchFamily="34" charset="-122"/>
            </a:endParaRPr>
          </a:p>
          <a:p>
            <a:pPr lvl="1">
              <a:lnSpc>
                <a:spcPct val="150000"/>
              </a:lnSpc>
            </a:pPr>
            <a:r>
              <a:rPr kumimoji="1" lang="en-US" altLang="zh-CN" dirty="0">
                <a:latin typeface="微软雅黑" panose="020B0503020204020204" pitchFamily="34" charset="-122"/>
                <a:ea typeface="微软雅黑" panose="020B0503020204020204" pitchFamily="34" charset="-122"/>
              </a:rPr>
              <a:t>		community</a:t>
            </a:r>
            <a:r>
              <a:rPr kumimoji="1" lang="zh-CN" altLang="en-US" dirty="0">
                <a:latin typeface="微软雅黑" panose="020B0503020204020204" pitchFamily="34" charset="-122"/>
                <a:ea typeface="微软雅黑" panose="020B0503020204020204" pitchFamily="34" charset="-122"/>
              </a:rPr>
              <a:t>维度：基于同一</a:t>
            </a:r>
            <a:r>
              <a:rPr kumimoji="1" lang="en-US" altLang="zh-CN" dirty="0" err="1">
                <a:latin typeface="微软雅黑" panose="020B0503020204020204" pitchFamily="34" charset="-122"/>
                <a:ea typeface="微软雅黑" panose="020B0503020204020204" pitchFamily="34" charset="-122"/>
              </a:rPr>
              <a:t>baiduid</a:t>
            </a:r>
            <a:r>
              <a:rPr kumimoji="1" lang="zh-CN" altLang="en-US" dirty="0">
                <a:latin typeface="微软雅黑" panose="020B0503020204020204" pitchFamily="34" charset="-122"/>
                <a:ea typeface="微软雅黑" panose="020B0503020204020204" pitchFamily="34" charset="-122"/>
              </a:rPr>
              <a:t>，将几个相关联的</a:t>
            </a:r>
            <a:r>
              <a:rPr kumimoji="1" lang="en-US" altLang="zh-CN" dirty="0" err="1">
                <a:latin typeface="微软雅黑" panose="020B0503020204020204" pitchFamily="34" charset="-122"/>
                <a:ea typeface="微软雅黑" panose="020B0503020204020204" pitchFamily="34" charset="-122"/>
              </a:rPr>
              <a:t>cntname</a:t>
            </a:r>
            <a:r>
              <a:rPr kumimoji="1" lang="zh-CN" altLang="en-US" dirty="0">
                <a:latin typeface="微软雅黑" panose="020B0503020204020204" pitchFamily="34" charset="-122"/>
                <a:ea typeface="微软雅黑" panose="020B0503020204020204" pitchFamily="34" charset="-122"/>
              </a:rPr>
              <a:t>维度对象的流量聚合</a:t>
            </a:r>
            <a:r>
              <a:rPr kumimoji="1" lang="en-US" altLang="zh-CN" dirty="0">
                <a:latin typeface="微软雅黑" panose="020B0503020204020204" pitchFamily="34" charset="-122"/>
                <a:ea typeface="微软雅黑" panose="020B0503020204020204" pitchFamily="34" charset="-122"/>
              </a:rPr>
              <a:t>				</a:t>
            </a:r>
            <a:r>
              <a:rPr kumimoji="1" lang="zh-CN" altLang="en-US" dirty="0">
                <a:latin typeface="微软雅黑" panose="020B0503020204020204" pitchFamily="34" charset="-122"/>
                <a:ea typeface="微软雅黑" panose="020B0503020204020204" pitchFamily="34" charset="-122"/>
              </a:rPr>
              <a:t>起来。（常用于团伙作弊） </a:t>
            </a:r>
            <a:r>
              <a:rPr kumimoji="1" lang="en-US" altLang="zh-CN" dirty="0">
                <a:latin typeface="微软雅黑" panose="020B0503020204020204" pitchFamily="34" charset="-122"/>
                <a:ea typeface="微软雅黑" panose="020B0503020204020204" pitchFamily="34" charset="-122"/>
              </a:rPr>
              <a:t>		</a:t>
            </a:r>
          </a:p>
          <a:p>
            <a:pPr lvl="1">
              <a:lnSpc>
                <a:spcPct val="150000"/>
              </a:lnSpc>
            </a:pPr>
            <a:r>
              <a:rPr kumimoji="1" lang="en-US" altLang="zh-CN" dirty="0">
                <a:latin typeface="微软雅黑" panose="020B0503020204020204" pitchFamily="34" charset="-122"/>
                <a:ea typeface="微软雅黑" panose="020B0503020204020204" pitchFamily="34" charset="-122"/>
              </a:rPr>
              <a:t>		query</a:t>
            </a:r>
            <a:r>
              <a:rPr kumimoji="1" lang="zh-CN" altLang="en-US" dirty="0">
                <a:latin typeface="微软雅黑" panose="020B0503020204020204" pitchFamily="34" charset="-122"/>
                <a:ea typeface="微软雅黑" panose="020B0503020204020204" pitchFamily="34" charset="-122"/>
              </a:rPr>
              <a:t>分词维度：</a:t>
            </a:r>
            <a:r>
              <a:rPr kumimoji="1" lang="en-US" altLang="zh-CN" dirty="0">
                <a:latin typeface="微软雅黑" panose="020B0503020204020204" pitchFamily="34" charset="-122"/>
                <a:ea typeface="微软雅黑" panose="020B0503020204020204" pitchFamily="34" charset="-122"/>
              </a:rPr>
              <a:t>query</a:t>
            </a:r>
            <a:r>
              <a:rPr kumimoji="1" lang="zh-CN" altLang="en-US" dirty="0">
                <a:latin typeface="微软雅黑" panose="020B0503020204020204" pitchFamily="34" charset="-122"/>
                <a:ea typeface="微软雅黑" panose="020B0503020204020204" pitchFamily="34" charset="-122"/>
              </a:rPr>
              <a:t>不一样但场景一样，有着一样的关键词。</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维度对象：</a:t>
            </a:r>
            <a:endParaRPr kumimoji="1" lang="en-US" altLang="zh-CN" dirty="0">
              <a:latin typeface="微软雅黑" panose="020B0503020204020204" pitchFamily="34" charset="-122"/>
              <a:ea typeface="微软雅黑" panose="020B0503020204020204" pitchFamily="34" charset="-122"/>
            </a:endParaRPr>
          </a:p>
          <a:p>
            <a:pPr>
              <a:lnSpc>
                <a:spcPct val="150000"/>
              </a:lnSpc>
            </a:pPr>
            <a:r>
              <a:rPr kumimoji="1" lang="en-US" altLang="zh-CN" dirty="0">
                <a:latin typeface="微软雅黑" panose="020B0503020204020204" pitchFamily="34" charset="-122"/>
                <a:ea typeface="微软雅黑" panose="020B0503020204020204" pitchFamily="34" charset="-122"/>
              </a:rPr>
              <a:t>	</a:t>
            </a:r>
            <a:r>
              <a:rPr kumimoji="1" lang="zh-CN" altLang="en-US" dirty="0">
                <a:latin typeface="微软雅黑" panose="020B0503020204020204" pitchFamily="34" charset="-122"/>
                <a:ea typeface="微软雅黑" panose="020B0503020204020204" pitchFamily="34" charset="-122"/>
              </a:rPr>
              <a:t>值</a:t>
            </a:r>
            <a:endParaRPr lang="en-US" altLang="zh-CN" dirty="0">
              <a:latin typeface="微软雅黑" panose="020B0503020204020204" pitchFamily="34" charset="-122"/>
              <a:ea typeface="微软雅黑" panose="020B0503020204020204" pitchFamily="34" charset="-122"/>
            </a:endParaRPr>
          </a:p>
          <a:p>
            <a:pPr lvl="1">
              <a:lnSpc>
                <a:spcPct val="150000"/>
              </a:lnSpc>
            </a:pPr>
            <a:endParaRPr kumimoji="1"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sp>
        <p:nvSpPr>
          <p:cNvPr id="16" name="文本框 15"/>
          <p:cNvSpPr txBox="1"/>
          <p:nvPr/>
        </p:nvSpPr>
        <p:spPr>
          <a:xfrm>
            <a:off x="612990" y="1869666"/>
            <a:ext cx="9765450" cy="170540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处理空间</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定义：</a:t>
            </a:r>
            <a:r>
              <a:rPr lang="zh-CN" altLang="en-US" dirty="0">
                <a:latin typeface="微软雅黑" panose="020B0503020204020204" pitchFamily="34" charset="-122"/>
                <a:ea typeface="微软雅黑" panose="020B0503020204020204" pitchFamily="34" charset="-122"/>
              </a:rPr>
              <a:t>主要用来圈处理的流量范围。表现为条件表达式，即满足这些条件才计算特征。 例如，</a:t>
            </a:r>
            <a:r>
              <a:rPr lang="en-GB" altLang="zh-CN" dirty="0">
                <a:latin typeface="微软雅黑" panose="020B0503020204020204" pitchFamily="34" charset="-122"/>
                <a:ea typeface="微软雅黑" panose="020B0503020204020204" pitchFamily="34" charset="-122"/>
              </a:rPr>
              <a:t>care: ['</a:t>
            </a:r>
            <a:r>
              <a:rPr lang="en-GB" altLang="zh-CN" dirty="0" err="1">
                <a:latin typeface="微软雅黑" panose="020B0503020204020204" pitchFamily="34" charset="-122"/>
                <a:ea typeface="微软雅黑" panose="020B0503020204020204" pitchFamily="34" charset="-122"/>
              </a:rPr>
              <a:t>is_wireless</a:t>
            </a:r>
            <a:r>
              <a:rPr lang="en-GB" altLang="zh-CN" dirty="0">
                <a:latin typeface="微软雅黑" panose="020B0503020204020204" pitchFamily="34" charset="-122"/>
                <a:ea typeface="微软雅黑" panose="020B0503020204020204" pitchFamily="34" charset="-122"/>
              </a:rPr>
              <a:t>':='0']</a:t>
            </a:r>
            <a:r>
              <a:rPr lang="zh-CN" altLang="en-GB"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即只处理</a:t>
            </a:r>
            <a:r>
              <a:rPr lang="en-GB" altLang="zh-CN" dirty="0">
                <a:latin typeface="微软雅黑" panose="020B0503020204020204" pitchFamily="34" charset="-122"/>
                <a:ea typeface="微软雅黑" panose="020B0503020204020204" pitchFamily="34" charset="-122"/>
              </a:rPr>
              <a:t>pc</a:t>
            </a:r>
            <a:r>
              <a:rPr lang="zh-CN" altLang="en-US" dirty="0">
                <a:latin typeface="微软雅黑" panose="020B0503020204020204" pitchFamily="34" charset="-122"/>
                <a:ea typeface="微软雅黑" panose="020B0503020204020204" pitchFamily="34" charset="-122"/>
              </a:rPr>
              <a:t>端的流量。</a:t>
            </a:r>
            <a:r>
              <a:rPr lang="en-US" altLang="zh-CN" dirty="0">
                <a:latin typeface="微软雅黑" panose="020B0503020204020204" pitchFamily="34" charset="-122"/>
                <a:ea typeface="微软雅黑" panose="020B0503020204020204" pitchFamily="34" charset="-122"/>
              </a:rPr>
              <a:t>(care)</a:t>
            </a:r>
            <a:endParaRPr lang="en-US" altLang="zh-CN" b="1" dirty="0">
              <a:solidFill>
                <a:schemeClr val="accent2"/>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endParaRPr kumimoji="1"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sp>
        <p:nvSpPr>
          <p:cNvPr id="16" name="文本框 15"/>
          <p:cNvSpPr txBox="1"/>
          <p:nvPr/>
        </p:nvSpPr>
        <p:spPr>
          <a:xfrm>
            <a:off x="612990" y="1869666"/>
            <a:ext cx="5083722" cy="4613892"/>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条件表达式</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solidFill>
                  <a:prstClr val="black"/>
                </a:solidFill>
                <a:latin typeface="微软雅黑" panose="020B0503020204020204" pitchFamily="34" charset="-122"/>
                <a:ea typeface="微软雅黑" panose="020B0503020204020204" pitchFamily="34" charset="-122"/>
              </a:rPr>
              <a:t>每一条表达式都要使用中括号包含，比如</a:t>
            </a:r>
            <a:r>
              <a:rPr lang="en-US" altLang="zh-CN" dirty="0">
                <a:solidFill>
                  <a:prstClr val="black"/>
                </a:solidFill>
                <a:latin typeface="微软雅黑" panose="020B0503020204020204" pitchFamily="34" charset="-122"/>
                <a:ea typeface="微软雅黑" panose="020B0503020204020204" pitchFamily="34" charset="-122"/>
              </a:rPr>
              <a:t>['</a:t>
            </a:r>
            <a:r>
              <a:rPr lang="en-GB" altLang="zh-CN" dirty="0" err="1">
                <a:solidFill>
                  <a:prstClr val="black"/>
                </a:solidFill>
                <a:latin typeface="微软雅黑" panose="020B0503020204020204" pitchFamily="34" charset="-122"/>
                <a:ea typeface="微软雅黑" panose="020B0503020204020204" pitchFamily="34" charset="-122"/>
              </a:rPr>
              <a:t>cmatch</a:t>
            </a:r>
            <a:r>
              <a:rPr lang="en-GB" altLang="zh-CN" dirty="0">
                <a:solidFill>
                  <a:prstClr val="black"/>
                </a:solidFill>
                <a:latin typeface="微软雅黑" panose="020B0503020204020204" pitchFamily="34" charset="-122"/>
                <a:ea typeface="微软雅黑" panose="020B0503020204020204" pitchFamily="34" charset="-122"/>
              </a:rPr>
              <a:t>':=‘225</a:t>
            </a:r>
            <a:r>
              <a:rPr lang="en-US" altLang="zh-CN" dirty="0">
                <a:solidFill>
                  <a:prstClr val="black"/>
                </a:solidFill>
                <a:latin typeface="微软雅黑" panose="020B0503020204020204" pitchFamily="34" charset="-122"/>
                <a:ea typeface="微软雅黑" panose="020B0503020204020204" pitchFamily="34" charset="-122"/>
              </a:rPr>
              <a:t>’</a:t>
            </a:r>
            <a:r>
              <a:rPr lang="en-GB" altLang="zh-CN" dirty="0">
                <a:solidFill>
                  <a:prstClr val="black"/>
                </a:solidFill>
                <a:latin typeface="微软雅黑" panose="020B0503020204020204" pitchFamily="34" charset="-122"/>
                <a:ea typeface="微软雅黑" panose="020B0503020204020204" pitchFamily="34" charset="-122"/>
              </a:rPr>
              <a:t>]</a:t>
            </a:r>
          </a:p>
          <a:p>
            <a:pPr marL="285750" indent="-285750">
              <a:lnSpc>
                <a:spcPct val="150000"/>
              </a:lnSpc>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直接连接</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表示与，</a:t>
            </a: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表示或，</a:t>
            </a:r>
            <a:r>
              <a:rPr lang="zh-CN" altLang="en-US" dirty="0">
                <a:latin typeface="微软雅黑" panose="020B0503020204020204" pitchFamily="34" charset="-122"/>
                <a:ea typeface="微软雅黑" panose="020B0503020204020204" pitchFamily="34" charset="-122"/>
              </a:rPr>
              <a:t>或</a:t>
            </a:r>
            <a:r>
              <a:rPr lang="zh-CN" altLang="zh-CN" dirty="0">
                <a:latin typeface="微软雅黑" panose="020B0503020204020204" pitchFamily="34" charset="-122"/>
                <a:ea typeface="微软雅黑" panose="020B0503020204020204" pitchFamily="34" charset="-122"/>
              </a:rPr>
              <a:t>比与优先级小</a:t>
            </a:r>
            <a:r>
              <a:rPr lang="zh-CN" altLang="en-US" dirty="0">
                <a:latin typeface="微软雅黑" panose="020B0503020204020204" pitchFamily="34" charset="-122"/>
                <a:ea typeface="微软雅黑" panose="020B0503020204020204" pitchFamily="34" charset="-122"/>
              </a:rPr>
              <a:t>，每个</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内包含一个表达式，根据各表达式返回的</a:t>
            </a:r>
            <a:r>
              <a:rPr lang="en-US" altLang="zh-CN" dirty="0">
                <a:latin typeface="微软雅黑" panose="020B0503020204020204" pitchFamily="34" charset="-122"/>
                <a:ea typeface="微软雅黑" panose="020B0503020204020204" pitchFamily="34" charset="-122"/>
              </a:rPr>
              <a:t>Bool</a:t>
            </a:r>
            <a:r>
              <a:rPr lang="zh-CN" altLang="en-US" dirty="0">
                <a:latin typeface="微软雅黑" panose="020B0503020204020204" pitchFamily="34" charset="-122"/>
                <a:ea typeface="微软雅黑" panose="020B0503020204020204" pitchFamily="34" charset="-122"/>
              </a:rPr>
              <a:t>结果进行与或关系运算即可最终得到结果</a:t>
            </a:r>
            <a:endParaRPr lang="en-GB" altLang="zh-CN" dirty="0">
              <a:solidFill>
                <a:prstClr val="black"/>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dirty="0">
                <a:solidFill>
                  <a:prstClr val="black"/>
                </a:solidFill>
                <a:latin typeface="微软雅黑" panose="020B0503020204020204" pitchFamily="34" charset="-122"/>
                <a:ea typeface="微软雅黑" panose="020B0503020204020204" pitchFamily="34" charset="-122"/>
              </a:rPr>
              <a:t>每一条表达式分为左值、运算符和右值</a:t>
            </a:r>
            <a:r>
              <a:rPr lang="en-US" altLang="zh-CN"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rPr>
              <a:t>部分无</a:t>
            </a:r>
            <a:r>
              <a:rPr lang="en-US" altLang="zh-CN" dirty="0">
                <a:solidFill>
                  <a:prstClr val="black"/>
                </a:solidFill>
                <a:latin typeface="微软雅黑" panose="020B0503020204020204" pitchFamily="34" charset="-122"/>
                <a:ea typeface="微软雅黑" panose="020B0503020204020204" pitchFamily="34" charset="-122"/>
              </a:rPr>
              <a:t>)</a:t>
            </a:r>
            <a:r>
              <a:rPr lang="zh-CN" altLang="en-US" dirty="0">
                <a:solidFill>
                  <a:prstClr val="black"/>
                </a:solidFill>
                <a:latin typeface="微软雅黑" panose="020B0503020204020204" pitchFamily="34" charset="-122"/>
                <a:ea typeface="微软雅黑" panose="020B0503020204020204" pitchFamily="34" charset="-122"/>
              </a:rPr>
              <a:t>这三种对象，左值一般是日志的字段名，右值为常量，通过运算符判断两者之间需要进行什么计算。</a:t>
            </a:r>
          </a:p>
        </p:txBody>
      </p:sp>
      <p:graphicFrame>
        <p:nvGraphicFramePr>
          <p:cNvPr id="10" name="表格 9"/>
          <p:cNvGraphicFramePr>
            <a:graphicFrameLocks noGrp="1"/>
          </p:cNvGraphicFramePr>
          <p:nvPr/>
        </p:nvGraphicFramePr>
        <p:xfrm>
          <a:off x="6043265" y="1162817"/>
          <a:ext cx="5462017" cy="4101519"/>
        </p:xfrm>
        <a:graphic>
          <a:graphicData uri="http://schemas.openxmlformats.org/drawingml/2006/table">
            <a:tbl>
              <a:tblPr firstRow="1" firstCol="1">
                <a:tableStyleId>{5C22544A-7EE6-4342-B048-85BDC9FD1C3A}</a:tableStyleId>
              </a:tblPr>
              <a:tblGrid>
                <a:gridCol w="855348">
                  <a:extLst>
                    <a:ext uri="{9D8B030D-6E8A-4147-A177-3AD203B41FA5}">
                      <a16:colId xmlns:a16="http://schemas.microsoft.com/office/drawing/2014/main" val="20000"/>
                    </a:ext>
                  </a:extLst>
                </a:gridCol>
                <a:gridCol w="1932815">
                  <a:extLst>
                    <a:ext uri="{9D8B030D-6E8A-4147-A177-3AD203B41FA5}">
                      <a16:colId xmlns:a16="http://schemas.microsoft.com/office/drawing/2014/main" val="20001"/>
                    </a:ext>
                  </a:extLst>
                </a:gridCol>
                <a:gridCol w="2673854">
                  <a:extLst>
                    <a:ext uri="{9D8B030D-6E8A-4147-A177-3AD203B41FA5}">
                      <a16:colId xmlns:a16="http://schemas.microsoft.com/office/drawing/2014/main" val="20002"/>
                    </a:ext>
                  </a:extLst>
                </a:gridCol>
              </a:tblGrid>
              <a:tr h="300657">
                <a:tc>
                  <a:txBody>
                    <a:bodyPr/>
                    <a:lstStyle/>
                    <a:p>
                      <a:pPr algn="l" fontAlgn="t"/>
                      <a:r>
                        <a:rPr lang="zh-CN" altLang="en-US" sz="1050" dirty="0">
                          <a:effectLst/>
                          <a:latin typeface="微软雅黑" panose="020B0503020204020204" pitchFamily="34" charset="-122"/>
                          <a:ea typeface="微软雅黑" panose="020B0503020204020204" pitchFamily="34" charset="-122"/>
                        </a:rPr>
                        <a:t>运算符</a:t>
                      </a:r>
                      <a:endParaRPr lang="zh-CN" altLang="en-US" sz="1050" b="1" dirty="0">
                        <a:solidFill>
                          <a:srgbClr val="333333"/>
                        </a:solidFill>
                        <a:effectLst/>
                        <a:latin typeface="微软雅黑" panose="020B0503020204020204" pitchFamily="34" charset="-122"/>
                        <a:ea typeface="微软雅黑" panose="020B0503020204020204" pitchFamily="34" charset="-122"/>
                      </a:endParaRPr>
                    </a:p>
                  </a:txBody>
                  <a:tcPr marL="84815" marR="127222" marT="59370" marB="59370"/>
                </a:tc>
                <a:tc>
                  <a:txBody>
                    <a:bodyPr/>
                    <a:lstStyle/>
                    <a:p>
                      <a:pPr algn="l" fontAlgn="t"/>
                      <a:r>
                        <a:rPr lang="zh-CN" altLang="en-US" sz="1050" dirty="0">
                          <a:effectLst/>
                          <a:latin typeface="微软雅黑" panose="020B0503020204020204" pitchFamily="34" charset="-122"/>
                          <a:ea typeface="微软雅黑" panose="020B0503020204020204" pitchFamily="34" charset="-122"/>
                        </a:rPr>
                        <a:t>示例</a:t>
                      </a:r>
                      <a:endParaRPr lang="zh-CN" altLang="en-US" sz="1050" b="1" dirty="0">
                        <a:solidFill>
                          <a:srgbClr val="333333"/>
                        </a:solidFill>
                        <a:effectLst/>
                        <a:latin typeface="微软雅黑" panose="020B0503020204020204" pitchFamily="34" charset="-122"/>
                        <a:ea typeface="微软雅黑" panose="020B0503020204020204" pitchFamily="34" charset="-122"/>
                      </a:endParaRPr>
                    </a:p>
                  </a:txBody>
                  <a:tcPr marL="84815" marR="127222" marT="59370" marB="59370" anchor="ctr"/>
                </a:tc>
                <a:tc>
                  <a:txBody>
                    <a:bodyPr/>
                    <a:lstStyle/>
                    <a:p>
                      <a:pPr algn="l" fontAlgn="t"/>
                      <a:r>
                        <a:rPr lang="zh-CN" altLang="en-US" sz="1050" dirty="0">
                          <a:effectLst/>
                          <a:latin typeface="微软雅黑" panose="020B0503020204020204" pitchFamily="34" charset="-122"/>
                          <a:ea typeface="微软雅黑" panose="020B0503020204020204" pitchFamily="34" charset="-122"/>
                        </a:rPr>
                        <a:t>含义</a:t>
                      </a:r>
                      <a:endParaRPr lang="zh-CN" altLang="en-US" sz="1050" b="1" dirty="0">
                        <a:solidFill>
                          <a:srgbClr val="333333"/>
                        </a:solidFill>
                        <a:effectLst/>
                        <a:latin typeface="微软雅黑" panose="020B0503020204020204" pitchFamily="34" charset="-122"/>
                        <a:ea typeface="微软雅黑" panose="020B0503020204020204" pitchFamily="34" charset="-122"/>
                      </a:endParaRPr>
                    </a:p>
                  </a:txBody>
                  <a:tcPr marL="84815" marR="127222" marT="59370" marB="59370" anchor="ctr"/>
                </a:tc>
                <a:extLst>
                  <a:ext uri="{0D108BD9-81ED-4DB2-BD59-A6C34878D82A}">
                    <a16:rowId xmlns:a16="http://schemas.microsoft.com/office/drawing/2014/main" val="10000"/>
                  </a:ext>
                </a:extLst>
              </a:tr>
              <a:tr h="296380">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HA or NH</a:t>
                      </a:r>
                      <a:endParaRPr lang="en-GB" sz="1050" b="1"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sz="1050" dirty="0" err="1">
                          <a:effectLst/>
                          <a:latin typeface="Times New Roman" panose="02020603050405020304" pitchFamily="18" charset="0"/>
                          <a:ea typeface="微软雅黑" panose="020B0503020204020204" pitchFamily="34" charset="-122"/>
                          <a:cs typeface="Times New Roman" panose="02020603050405020304" pitchFamily="18" charset="0"/>
                        </a:rPr>
                        <a:t>baiduid’</a:t>
                      </a:r>
                      <a:r>
                        <a:rPr lang="en-GB" sz="1050" dirty="0" err="1">
                          <a:solidFill>
                            <a:schemeClr val="accent1"/>
                          </a:solidFill>
                          <a:effectLst/>
                          <a:latin typeface="Times New Roman" panose="02020603050405020304" pitchFamily="18" charset="0"/>
                          <a:ea typeface="微软雅黑" panose="020B0503020204020204" pitchFamily="34" charset="-122"/>
                          <a:cs typeface="Times New Roman" panose="02020603050405020304" pitchFamily="18" charset="0"/>
                        </a:rPr>
                        <a:t>NH</a:t>
                      </a:r>
                      <a:endParaRPr lang="en-GB" sz="1050" dirty="0">
                        <a:solidFill>
                          <a:schemeClr val="accen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tc>
                  <a:txBody>
                    <a:bodyPr/>
                    <a:lstStyle/>
                    <a:p>
                      <a:pPr algn="l" fontAlgn="t"/>
                      <a:r>
                        <a:rPr lang="zh-CN" altLang="en-US" sz="1050" dirty="0">
                          <a:effectLst/>
                          <a:latin typeface="微软雅黑" panose="020B0503020204020204" pitchFamily="34" charset="-122"/>
                          <a:ea typeface="微软雅黑" panose="020B0503020204020204" pitchFamily="34" charset="-122"/>
                        </a:rPr>
                        <a:t>维度值存在 </a:t>
                      </a:r>
                      <a:r>
                        <a:rPr lang="en-GB" sz="1050" dirty="0">
                          <a:effectLst/>
                          <a:latin typeface="微软雅黑" panose="020B0503020204020204" pitchFamily="34" charset="-122"/>
                          <a:ea typeface="微软雅黑" panose="020B0503020204020204" pitchFamily="34" charset="-122"/>
                        </a:rPr>
                        <a:t>or </a:t>
                      </a:r>
                      <a:r>
                        <a:rPr lang="zh-CN" altLang="en-US" sz="1050" dirty="0">
                          <a:effectLst/>
                          <a:latin typeface="微软雅黑" panose="020B0503020204020204" pitchFamily="34" charset="-122"/>
                          <a:ea typeface="微软雅黑" panose="020B0503020204020204" pitchFamily="34" charset="-122"/>
                        </a:rPr>
                        <a:t>不存在</a:t>
                      </a:r>
                    </a:p>
                  </a:txBody>
                  <a:tcPr marL="84815" marR="84815" marT="59370" marB="59370"/>
                </a:tc>
                <a:extLst>
                  <a:ext uri="{0D108BD9-81ED-4DB2-BD59-A6C34878D82A}">
                    <a16:rowId xmlns:a16="http://schemas.microsoft.com/office/drawing/2014/main" val="10001"/>
                  </a:ext>
                </a:extLst>
              </a:tr>
              <a:tr h="301752">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VA or IV</a:t>
                      </a:r>
                      <a:endParaRPr lang="en-GB" sz="1050" b="1"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sz="1050" dirty="0" err="1">
                          <a:effectLst/>
                          <a:latin typeface="Times New Roman" panose="02020603050405020304" pitchFamily="18" charset="0"/>
                          <a:ea typeface="微软雅黑" panose="020B0503020204020204" pitchFamily="34" charset="-122"/>
                          <a:cs typeface="Times New Roman" panose="02020603050405020304" pitchFamily="18" charset="0"/>
                        </a:rPr>
                        <a:t>cookie_fresh’</a:t>
                      </a:r>
                      <a:r>
                        <a:rPr lang="en-GB" sz="1050" dirty="0" err="1">
                          <a:solidFill>
                            <a:schemeClr val="accent1"/>
                          </a:solidFill>
                          <a:effectLst/>
                          <a:latin typeface="Times New Roman" panose="02020603050405020304" pitchFamily="18" charset="0"/>
                          <a:ea typeface="微软雅黑" panose="020B0503020204020204" pitchFamily="34" charset="-122"/>
                          <a:cs typeface="Times New Roman" panose="02020603050405020304" pitchFamily="18" charset="0"/>
                        </a:rPr>
                        <a:t>VA</a:t>
                      </a:r>
                      <a:endParaRPr lang="en-GB" sz="1050" dirty="0">
                        <a:solidFill>
                          <a:schemeClr val="accent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tc>
                  <a:txBody>
                    <a:bodyPr/>
                    <a:lstStyle/>
                    <a:p>
                      <a:pPr algn="l" fontAlgn="t"/>
                      <a:r>
                        <a:rPr lang="zh-CN" altLang="en-US" sz="1050" dirty="0">
                          <a:effectLst/>
                          <a:latin typeface="微软雅黑" panose="020B0503020204020204" pitchFamily="34" charset="-122"/>
                          <a:ea typeface="微软雅黑" panose="020B0503020204020204" pitchFamily="34" charset="-122"/>
                        </a:rPr>
                        <a:t>维度值合法 </a:t>
                      </a:r>
                      <a:r>
                        <a:rPr lang="en-GB" sz="1050" dirty="0">
                          <a:effectLst/>
                          <a:latin typeface="微软雅黑" panose="020B0503020204020204" pitchFamily="34" charset="-122"/>
                          <a:ea typeface="微软雅黑" panose="020B0503020204020204" pitchFamily="34" charset="-122"/>
                        </a:rPr>
                        <a:t>or </a:t>
                      </a:r>
                      <a:r>
                        <a:rPr lang="zh-CN" altLang="en-US" sz="1050" dirty="0">
                          <a:effectLst/>
                          <a:latin typeface="微软雅黑" panose="020B0503020204020204" pitchFamily="34" charset="-122"/>
                          <a:ea typeface="微软雅黑" panose="020B0503020204020204" pitchFamily="34" charset="-122"/>
                        </a:rPr>
                        <a:t>不合法</a:t>
                      </a:r>
                    </a:p>
                  </a:txBody>
                  <a:tcPr marL="84815" marR="84815" marT="59370" marB="59370"/>
                </a:tc>
                <a:extLst>
                  <a:ext uri="{0D108BD9-81ED-4DB2-BD59-A6C34878D82A}">
                    <a16:rowId xmlns:a16="http://schemas.microsoft.com/office/drawing/2014/main" val="10002"/>
                  </a:ext>
                </a:extLst>
              </a:tr>
              <a:tr h="292608">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IN or NI</a:t>
                      </a:r>
                      <a:endParaRPr lang="en-GB" sz="1050" b="1"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sz="1050" dirty="0" err="1">
                          <a:effectLst/>
                          <a:latin typeface="Times New Roman" panose="02020603050405020304" pitchFamily="18" charset="0"/>
                          <a:ea typeface="微软雅黑" panose="020B0503020204020204" pitchFamily="34" charset="-122"/>
                          <a:cs typeface="Times New Roman" panose="02020603050405020304" pitchFamily="18" charset="0"/>
                        </a:rPr>
                        <a:t>cnt’</a:t>
                      </a:r>
                      <a:r>
                        <a:rPr lang="en-GB" sz="1050" dirty="0" err="1">
                          <a:solidFill>
                            <a:schemeClr val="accent1"/>
                          </a:solidFill>
                          <a:effectLst/>
                          <a:latin typeface="Times New Roman" panose="02020603050405020304" pitchFamily="18" charset="0"/>
                          <a:ea typeface="微软雅黑" panose="020B0503020204020204" pitchFamily="34" charset="-122"/>
                          <a:cs typeface="Times New Roman" panose="02020603050405020304" pitchFamily="18" charset="0"/>
                        </a:rPr>
                        <a:t>IN</a:t>
                      </a:r>
                      <a:r>
                        <a:rPr lang="en-GB" sz="1050" dirty="0" err="1">
                          <a:effectLst/>
                          <a:latin typeface="Times New Roman" panose="02020603050405020304" pitchFamily="18" charset="0"/>
                          <a:ea typeface="微软雅黑" panose="020B0503020204020204" pitchFamily="34" charset="-122"/>
                          <a:cs typeface="Times New Roman" panose="02020603050405020304" pitchFamily="18" charset="0"/>
                        </a:rPr>
                        <a:t>‘cnt_file</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84815" marR="84815" marT="59370" marB="59370"/>
                </a:tc>
                <a:tc>
                  <a:txBody>
                    <a:bodyPr/>
                    <a:lstStyle/>
                    <a:p>
                      <a:pPr algn="l" fontAlgn="t"/>
                      <a:r>
                        <a:rPr lang="zh-CN" altLang="en-US" sz="1050" dirty="0">
                          <a:effectLst/>
                          <a:latin typeface="微软雅黑" panose="020B0503020204020204" pitchFamily="34" charset="-122"/>
                          <a:ea typeface="微软雅黑" panose="020B0503020204020204" pitchFamily="34" charset="-122"/>
                        </a:rPr>
                        <a:t>维度值</a:t>
                      </a:r>
                      <a:r>
                        <a:rPr lang="en-GB" sz="1050" dirty="0">
                          <a:effectLst/>
                          <a:latin typeface="微软雅黑" panose="020B0503020204020204" pitchFamily="34" charset="-122"/>
                          <a:ea typeface="微软雅黑" panose="020B0503020204020204" pitchFamily="34" charset="-122"/>
                        </a:rPr>
                        <a:t>in or not in</a:t>
                      </a:r>
                      <a:r>
                        <a:rPr lang="zh-CN" altLang="en-US" sz="1050" dirty="0">
                          <a:effectLst/>
                          <a:latin typeface="微软雅黑" panose="020B0503020204020204" pitchFamily="34" charset="-122"/>
                          <a:ea typeface="微软雅黑" panose="020B0503020204020204" pitchFamily="34" charset="-122"/>
                        </a:rPr>
                        <a:t>文件</a:t>
                      </a:r>
                    </a:p>
                  </a:txBody>
                  <a:tcPr marL="84815" marR="84815" marT="59370" marB="59370"/>
                </a:tc>
                <a:extLst>
                  <a:ext uri="{0D108BD9-81ED-4DB2-BD59-A6C34878D82A}">
                    <a16:rowId xmlns:a16="http://schemas.microsoft.com/office/drawing/2014/main" val="10003"/>
                  </a:ext>
                </a:extLst>
              </a:tr>
              <a:tr h="301752">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EQ or NE</a:t>
                      </a:r>
                      <a:endParaRPr lang="en-GB" sz="1050" b="1"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sz="1050" dirty="0" err="1">
                          <a:effectLst/>
                          <a:latin typeface="Times New Roman" panose="02020603050405020304" pitchFamily="18" charset="0"/>
                          <a:ea typeface="微软雅黑" panose="020B0503020204020204" pitchFamily="34" charset="-122"/>
                          <a:cs typeface="Times New Roman" panose="02020603050405020304" pitchFamily="18" charset="0"/>
                        </a:rPr>
                        <a:t>cmatch</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en-GB" sz="1050" dirty="0">
                          <a:solidFill>
                            <a:schemeClr val="accent1"/>
                          </a:solidFill>
                          <a:effectLst/>
                          <a:latin typeface="Times New Roman" panose="02020603050405020304" pitchFamily="18" charset="0"/>
                          <a:ea typeface="微软雅黑" panose="020B0503020204020204" pitchFamily="34" charset="-122"/>
                          <a:cs typeface="Times New Roman" panose="02020603050405020304" pitchFamily="18" charset="0"/>
                        </a:rPr>
                        <a:t>EQ</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en-GB" sz="1050" dirty="0" err="1">
                          <a:effectLst/>
                          <a:latin typeface="Times New Roman" panose="02020603050405020304" pitchFamily="18" charset="0"/>
                          <a:ea typeface="微软雅黑" panose="020B0503020204020204" pitchFamily="34" charset="-122"/>
                          <a:cs typeface="Times New Roman" panose="02020603050405020304" pitchFamily="18" charset="0"/>
                        </a:rPr>
                        <a:t>cmatch</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84815" marR="84815" marT="59370" marB="59370"/>
                </a:tc>
                <a:tc>
                  <a:txBody>
                    <a:bodyPr/>
                    <a:lstStyle/>
                    <a:p>
                      <a:pPr algn="l" fontAlgn="t"/>
                      <a:r>
                        <a:rPr lang="zh-CN" altLang="en-US" sz="1050" dirty="0">
                          <a:effectLst/>
                          <a:latin typeface="微软雅黑" panose="020B0503020204020204" pitchFamily="34" charset="-122"/>
                          <a:ea typeface="微软雅黑" panose="020B0503020204020204" pitchFamily="34" charset="-122"/>
                        </a:rPr>
                        <a:t>两个维度是否相等</a:t>
                      </a:r>
                    </a:p>
                  </a:txBody>
                  <a:tcPr marL="84815" marR="84815" marT="59370" marB="59370"/>
                </a:tc>
                <a:extLst>
                  <a:ext uri="{0D108BD9-81ED-4DB2-BD59-A6C34878D82A}">
                    <a16:rowId xmlns:a16="http://schemas.microsoft.com/office/drawing/2014/main" val="10004"/>
                  </a:ext>
                </a:extLst>
              </a:tr>
              <a:tr h="320040">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 or !~</a:t>
                      </a:r>
                      <a:endParaRPr lang="en-GB" sz="1050" b="1"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altLang="zh-CN" sz="1050" dirty="0" err="1">
                          <a:effectLst/>
                          <a:latin typeface="Times New Roman" panose="02020603050405020304" pitchFamily="18" charset="0"/>
                          <a:ea typeface="微软雅黑" panose="020B0503020204020204" pitchFamily="34" charset="-122"/>
                          <a:cs typeface="Times New Roman" panose="02020603050405020304" pitchFamily="18" charset="0"/>
                        </a:rPr>
                        <a:t>useragent</a:t>
                      </a:r>
                      <a:r>
                        <a:rPr lang="en-GB"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altLang="zh-CN" sz="1050" dirty="0">
                          <a:solidFill>
                            <a:schemeClr val="accen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GB"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altLang="zh-CN" sz="1050" dirty="0" err="1">
                          <a:effectLst/>
                          <a:latin typeface="Times New Roman" panose="02020603050405020304" pitchFamily="18" charset="0"/>
                          <a:ea typeface="微软雅黑" panose="020B0503020204020204" pitchFamily="34" charset="-122"/>
                          <a:cs typeface="Times New Roman" panose="02020603050405020304" pitchFamily="18" charset="0"/>
                        </a:rPr>
                        <a:t>WinHttpRequest</a:t>
                      </a:r>
                      <a:r>
                        <a:rPr lang="en-GB"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84815" marR="84815" marT="59370" marB="59370"/>
                </a:tc>
                <a:tc>
                  <a:txBody>
                    <a:bodyPr/>
                    <a:lstStyle/>
                    <a:p>
                      <a:pPr algn="l" fontAlgn="t"/>
                      <a:r>
                        <a:rPr lang="zh-CN" altLang="en-US" sz="1050" dirty="0">
                          <a:effectLst/>
                          <a:latin typeface="微软雅黑" panose="020B0503020204020204" pitchFamily="34" charset="-122"/>
                          <a:ea typeface="微软雅黑" panose="020B0503020204020204" pitchFamily="34" charset="-122"/>
                        </a:rPr>
                        <a:t>维度值是否匹配子字符串（右值支持多个）</a:t>
                      </a:r>
                    </a:p>
                  </a:txBody>
                  <a:tcPr marL="84815" marR="84815" marT="59370" marB="59370"/>
                </a:tc>
                <a:extLst>
                  <a:ext uri="{0D108BD9-81ED-4DB2-BD59-A6C34878D82A}">
                    <a16:rowId xmlns:a16="http://schemas.microsoft.com/office/drawing/2014/main" val="10005"/>
                  </a:ext>
                </a:extLst>
              </a:tr>
              <a:tr h="301752">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:C or !C</a:t>
                      </a:r>
                      <a:endParaRPr lang="en-GB" sz="1050" b="1"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tc>
                  <a:txBody>
                    <a:bodyPr/>
                    <a:lstStyle/>
                    <a:p>
                      <a:pPr algn="l" fontAlgn="t"/>
                      <a:r>
                        <a:rPr lang="en-US"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sz="1050" dirty="0" err="1">
                          <a:effectLst/>
                          <a:latin typeface="Times New Roman" panose="02020603050405020304" pitchFamily="18" charset="0"/>
                          <a:ea typeface="微软雅黑" panose="020B0503020204020204" pitchFamily="34" charset="-122"/>
                          <a:cs typeface="Times New Roman" panose="02020603050405020304" pitchFamily="18" charset="0"/>
                        </a:rPr>
                        <a:t>cmatch</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en-GB" sz="1050" dirty="0">
                          <a:solidFill>
                            <a:schemeClr val="accent1"/>
                          </a:solidFill>
                          <a:effectLst/>
                          <a:latin typeface="Times New Roman" panose="02020603050405020304" pitchFamily="18" charset="0"/>
                          <a:ea typeface="微软雅黑" panose="020B0503020204020204" pitchFamily="34" charset="-122"/>
                          <a:cs typeface="Times New Roman" panose="02020603050405020304" pitchFamily="18" charset="0"/>
                        </a:rPr>
                        <a:t>:C</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 ‘201</a:t>
                      </a:r>
                      <a:r>
                        <a:rPr lang="en-US" altLang="zh-CN" sz="1050" b="0" i="0" kern="1200" dirty="0">
                          <a:solidFill>
                            <a:schemeClr val="dk1"/>
                          </a:solidFill>
                          <a:effectLst/>
                          <a:latin typeface="+mn-lt"/>
                          <a:ea typeface="+mn-ea"/>
                          <a:cs typeface="+mn-cs"/>
                        </a:rPr>
                        <a:t>’,’</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204’</a:t>
                      </a:r>
                      <a:r>
                        <a:rPr lang="en-US"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en-GB" sz="105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tc>
                  <a:txBody>
                    <a:bodyPr/>
                    <a:lstStyle/>
                    <a:p>
                      <a:pPr marL="0" marR="0" indent="0" algn="l" defTabSz="914400" rtl="0" eaLnBrk="1" fontAlgn="t" latinLnBrk="0" hangingPunct="1">
                        <a:lnSpc>
                          <a:spcPct val="100000"/>
                        </a:lnSpc>
                        <a:spcBef>
                          <a:spcPts val="0"/>
                        </a:spcBef>
                        <a:spcAft>
                          <a:spcPts val="0"/>
                        </a:spcAft>
                        <a:buClrTx/>
                        <a:buSzTx/>
                        <a:buFontTx/>
                        <a:buNone/>
                        <a:defRPr/>
                      </a:pPr>
                      <a:r>
                        <a:rPr lang="zh-CN" altLang="en-US" sz="1050" dirty="0">
                          <a:effectLst/>
                          <a:latin typeface="微软雅黑" panose="020B0503020204020204" pitchFamily="34" charset="-122"/>
                          <a:ea typeface="微软雅黑" panose="020B0503020204020204" pitchFamily="34" charset="-122"/>
                        </a:rPr>
                        <a:t>维度值是否包含于</a:t>
                      </a:r>
                      <a:r>
                        <a:rPr lang="zh-CN" altLang="en-US" sz="1050" dirty="0">
                          <a:effectLst/>
                          <a:latin typeface="+mn-lt"/>
                          <a:ea typeface="微软雅黑" panose="020B0503020204020204" pitchFamily="34" charset="-122"/>
                        </a:rPr>
                        <a:t>右值</a:t>
                      </a:r>
                      <a:r>
                        <a:rPr lang="zh-CN" altLang="en-US" sz="1050" dirty="0">
                          <a:effectLst/>
                          <a:latin typeface="微软雅黑" panose="020B0503020204020204" pitchFamily="34" charset="-122"/>
                          <a:ea typeface="微软雅黑" panose="020B0503020204020204" pitchFamily="34" charset="-122"/>
                        </a:rPr>
                        <a:t>集合</a:t>
                      </a:r>
                      <a:endParaRPr lang="zh-CN" altLang="en-US" sz="105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extLst>
                  <a:ext uri="{0D108BD9-81ED-4DB2-BD59-A6C34878D82A}">
                    <a16:rowId xmlns:a16="http://schemas.microsoft.com/office/drawing/2014/main" val="10006"/>
                  </a:ext>
                </a:extLst>
              </a:tr>
              <a:tr h="274320">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 or !=</a:t>
                      </a:r>
                      <a:endParaRPr lang="en-GB" sz="1050" b="1"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sz="1050" dirty="0" err="1">
                          <a:effectLst/>
                          <a:latin typeface="Times New Roman" panose="02020603050405020304" pitchFamily="18" charset="0"/>
                          <a:ea typeface="微软雅黑" panose="020B0503020204020204" pitchFamily="34" charset="-122"/>
                          <a:cs typeface="Times New Roman" panose="02020603050405020304" pitchFamily="18" charset="0"/>
                        </a:rPr>
                        <a:t>cmatch</a:t>
                      </a:r>
                      <a:r>
                        <a:rPr lang="en-GB" sz="1050" dirty="0">
                          <a:solidFill>
                            <a:schemeClr val="accent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201’,’204’</a:t>
                      </a:r>
                    </a:p>
                  </a:txBody>
                  <a:tcPr marL="84815" marR="84815" marT="59370" marB="59370"/>
                </a:tc>
                <a:tc>
                  <a:txBody>
                    <a:bodyPr/>
                    <a:lstStyle/>
                    <a:p>
                      <a:pPr algn="l" fontAlgn="t"/>
                      <a:r>
                        <a:rPr lang="zh-CN" altLang="en-US" sz="1050" dirty="0">
                          <a:effectLst/>
                          <a:latin typeface="微软雅黑" panose="020B0503020204020204" pitchFamily="34" charset="-122"/>
                          <a:ea typeface="微软雅黑" panose="020B0503020204020204" pitchFamily="34" charset="-122"/>
                        </a:rPr>
                        <a:t>维度值等于 </a:t>
                      </a:r>
                      <a:r>
                        <a:rPr lang="en-GB" sz="1050" dirty="0">
                          <a:effectLst/>
                          <a:latin typeface="微软雅黑" panose="020B0503020204020204" pitchFamily="34" charset="-122"/>
                          <a:ea typeface="微软雅黑" panose="020B0503020204020204" pitchFamily="34" charset="-122"/>
                        </a:rPr>
                        <a:t>or </a:t>
                      </a:r>
                      <a:r>
                        <a:rPr lang="zh-CN" altLang="en-US" sz="1050" dirty="0">
                          <a:effectLst/>
                          <a:latin typeface="微软雅黑" panose="020B0503020204020204" pitchFamily="34" charset="-122"/>
                          <a:ea typeface="微软雅黑" panose="020B0503020204020204" pitchFamily="34" charset="-122"/>
                        </a:rPr>
                        <a:t>不等于右值</a:t>
                      </a:r>
                    </a:p>
                  </a:txBody>
                  <a:tcPr marL="84815" marR="84815" marT="59370" marB="59370"/>
                </a:tc>
                <a:extLst>
                  <a:ext uri="{0D108BD9-81ED-4DB2-BD59-A6C34878D82A}">
                    <a16:rowId xmlns:a16="http://schemas.microsoft.com/office/drawing/2014/main" val="10007"/>
                  </a:ext>
                </a:extLst>
              </a:tr>
              <a:tr h="315600">
                <a:tc>
                  <a:txBody>
                    <a:bodyPr/>
                    <a:lstStyle/>
                    <a:p>
                      <a:pPr algn="l" fontAlgn="t"/>
                      <a:r>
                        <a:rPr lang="en-US"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:&gt; :&lt; &gt;= &lt;=</a:t>
                      </a:r>
                      <a:endParaRPr lang="zh-CN" altLang="en-US" sz="1050" b="1"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tc>
                  <a:txBody>
                    <a:bodyPr/>
                    <a:lstStyle/>
                    <a:p>
                      <a:pPr algn="l" fontAlgn="t"/>
                      <a:r>
                        <a:rPr lang="en-US"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price’</a:t>
                      </a:r>
                      <a:r>
                        <a:rPr lang="en-GB" sz="1050" dirty="0">
                          <a:solidFill>
                            <a:schemeClr val="accent1"/>
                          </a:solidFill>
                          <a:effectLst/>
                          <a:latin typeface="Times New Roman" panose="02020603050405020304" pitchFamily="18" charset="0"/>
                          <a:ea typeface="微软雅黑" panose="020B0503020204020204" pitchFamily="34" charset="-122"/>
                          <a:cs typeface="Times New Roman" panose="02020603050405020304" pitchFamily="18" charset="0"/>
                        </a:rPr>
                        <a:t>:&lt;</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3000</a:t>
                      </a:r>
                    </a:p>
                  </a:txBody>
                  <a:tcPr marL="84815" marR="84815" marT="59370" marB="59370"/>
                </a:tc>
                <a:tc>
                  <a:txBody>
                    <a:bodyPr/>
                    <a:lstStyle/>
                    <a:p>
                      <a:pPr algn="l" fontAlgn="t"/>
                      <a:r>
                        <a:rPr lang="zh-CN" altLang="en-US" sz="1050" dirty="0">
                          <a:effectLst/>
                          <a:latin typeface="微软雅黑" panose="020B0503020204020204" pitchFamily="34" charset="-122"/>
                          <a:ea typeface="微软雅黑" panose="020B0503020204020204" pitchFamily="34" charset="-122"/>
                        </a:rPr>
                        <a:t>维度值大于</a:t>
                      </a:r>
                      <a:r>
                        <a:rPr lang="en-US" altLang="zh-CN" sz="1050" dirty="0">
                          <a:effectLst/>
                          <a:latin typeface="微软雅黑" panose="020B0503020204020204" pitchFamily="34" charset="-122"/>
                          <a:ea typeface="微软雅黑" panose="020B0503020204020204" pitchFamily="34" charset="-122"/>
                        </a:rPr>
                        <a:t>(</a:t>
                      </a:r>
                      <a:r>
                        <a:rPr lang="zh-CN" altLang="en-US" sz="1050" dirty="0">
                          <a:effectLst/>
                          <a:latin typeface="微软雅黑" panose="020B0503020204020204" pitchFamily="34" charset="-122"/>
                          <a:ea typeface="微软雅黑" panose="020B0503020204020204" pitchFamily="34" charset="-122"/>
                        </a:rPr>
                        <a:t>等于</a:t>
                      </a:r>
                      <a:r>
                        <a:rPr lang="en-US" altLang="zh-CN" sz="1050" dirty="0">
                          <a:effectLst/>
                          <a:latin typeface="微软雅黑" panose="020B0503020204020204" pitchFamily="34" charset="-122"/>
                          <a:ea typeface="微软雅黑" panose="020B0503020204020204" pitchFamily="34" charset="-122"/>
                        </a:rPr>
                        <a:t>) </a:t>
                      </a:r>
                      <a:r>
                        <a:rPr lang="en-GB" sz="1050" dirty="0">
                          <a:effectLst/>
                          <a:latin typeface="微软雅黑" panose="020B0503020204020204" pitchFamily="34" charset="-122"/>
                          <a:ea typeface="微软雅黑" panose="020B0503020204020204" pitchFamily="34" charset="-122"/>
                        </a:rPr>
                        <a:t>or </a:t>
                      </a:r>
                      <a:r>
                        <a:rPr lang="zh-CN" altLang="en-US" sz="1050" dirty="0">
                          <a:effectLst/>
                          <a:latin typeface="微软雅黑" panose="020B0503020204020204" pitchFamily="34" charset="-122"/>
                          <a:ea typeface="微软雅黑" panose="020B0503020204020204" pitchFamily="34" charset="-122"/>
                        </a:rPr>
                        <a:t>小于等于右值</a:t>
                      </a:r>
                    </a:p>
                  </a:txBody>
                  <a:tcPr marL="84815" marR="84815" marT="59370" marB="59370"/>
                </a:tc>
                <a:extLst>
                  <a:ext uri="{0D108BD9-81ED-4DB2-BD59-A6C34878D82A}">
                    <a16:rowId xmlns:a16="http://schemas.microsoft.com/office/drawing/2014/main" val="10008"/>
                  </a:ext>
                </a:extLst>
              </a:tr>
              <a:tr h="313358">
                <a:tc>
                  <a:txBody>
                    <a:bodyPr/>
                    <a:lstStyle/>
                    <a:p>
                      <a:pPr marL="0" marR="0" indent="0" algn="l" defTabSz="914400" rtl="0" eaLnBrk="1" fontAlgn="t" latinLnBrk="0" hangingPunct="1">
                        <a:lnSpc>
                          <a:spcPct val="100000"/>
                        </a:lnSpc>
                        <a:spcBef>
                          <a:spcPts val="0"/>
                        </a:spcBef>
                        <a:spcAft>
                          <a:spcPts val="0"/>
                        </a:spcAft>
                        <a:buClrTx/>
                        <a:buSzTx/>
                        <a:buFontTx/>
                        <a:buNone/>
                        <a:defRPr/>
                      </a:pPr>
                      <a:r>
                        <a:rPr lang="en-US"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5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or</a:t>
                      </a:r>
                      <a:r>
                        <a:rPr lang="zh-CN" altLang="en-US" sz="105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050" b="1"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tc>
                  <a:txBody>
                    <a:bodyPr/>
                    <a:lstStyle/>
                    <a:p>
                      <a:pPr algn="l" fontAlgn="t"/>
                      <a:r>
                        <a:rPr lang="en-US"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refer : </a:t>
                      </a:r>
                      <a:r>
                        <a:rPr lang="en-US" altLang="zh-CN" sz="1050" dirty="0">
                          <a:solidFill>
                            <a:schemeClr val="accent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marL="84815" marR="84815" marT="59370" marB="59370"/>
                </a:tc>
                <a:tc>
                  <a:txBody>
                    <a:bodyPr/>
                    <a:lstStyle/>
                    <a:p>
                      <a:pPr algn="l" fontAlgn="t"/>
                      <a:r>
                        <a:rPr lang="zh-CN" altLang="en-US" sz="1050" dirty="0">
                          <a:effectLst/>
                          <a:latin typeface="微软雅黑" panose="020B0503020204020204" pitchFamily="34" charset="-122"/>
                          <a:ea typeface="微软雅黑" panose="020B0503020204020204" pitchFamily="34" charset="-122"/>
                        </a:rPr>
                        <a:t>全集 与 空集</a:t>
                      </a:r>
                    </a:p>
                  </a:txBody>
                  <a:tcPr marL="84815" marR="84815" marT="59370" marB="59370"/>
                </a:tc>
                <a:extLst>
                  <a:ext uri="{0D108BD9-81ED-4DB2-BD59-A6C34878D82A}">
                    <a16:rowId xmlns:a16="http://schemas.microsoft.com/office/drawing/2014/main" val="10009"/>
                  </a:ext>
                </a:extLst>
              </a:tr>
              <a:tr h="1063180">
                <a:tc>
                  <a:txBody>
                    <a:bodyPr/>
                    <a:lstStyle/>
                    <a:p>
                      <a:pPr algn="l" fontAlgn="t"/>
                      <a:r>
                        <a:rPr lang="en-US" altLang="zh-CN" sz="1050" dirty="0">
                          <a:effectLst/>
                          <a:latin typeface="Times New Roman" panose="02020603050405020304" pitchFamily="18" charset="0"/>
                          <a:ea typeface="微软雅黑" panose="020B0503020204020204" pitchFamily="34" charset="-122"/>
                          <a:cs typeface="Times New Roman" panose="02020603050405020304" pitchFamily="18" charset="0"/>
                        </a:rPr>
                        <a:t>:&amp; :| !&amp; !|</a:t>
                      </a:r>
                      <a:endParaRPr lang="zh-CN" altLang="en-US" sz="1050" b="1"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84815" marR="84815" marT="59370" marB="59370"/>
                </a:tc>
                <a:tc>
                  <a:txBody>
                    <a:bodyPr/>
                    <a:lstStyle/>
                    <a:p>
                      <a:pPr algn="l" fontAlgn="t"/>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sz="1050" dirty="0" err="1">
                          <a:effectLst/>
                          <a:latin typeface="Times New Roman" panose="02020603050405020304" pitchFamily="18" charset="0"/>
                          <a:ea typeface="微软雅黑" panose="020B0503020204020204" pitchFamily="34" charset="-122"/>
                          <a:cs typeface="Times New Roman" panose="02020603050405020304" pitchFamily="18" charset="0"/>
                        </a:rPr>
                        <a:t>stat_flag</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GB" sz="1050" dirty="0">
                          <a:solidFill>
                            <a:schemeClr val="accent1"/>
                          </a:solidFill>
                          <a:effectLst/>
                          <a:latin typeface="Times New Roman" panose="02020603050405020304" pitchFamily="18" charset="0"/>
                          <a:ea typeface="微软雅黑" panose="020B0503020204020204" pitchFamily="34" charset="-122"/>
                          <a:cs typeface="Times New Roman" panose="02020603050405020304" pitchFamily="18" charset="0"/>
                        </a:rPr>
                        <a:t>:&amp;</a:t>
                      </a:r>
                      <a:r>
                        <a:rPr lang="en-GB" sz="1050" dirty="0">
                          <a:effectLst/>
                          <a:latin typeface="Times New Roman" panose="02020603050405020304" pitchFamily="18" charset="0"/>
                          <a:ea typeface="微软雅黑" panose="020B0503020204020204" pitchFamily="34" charset="-122"/>
                          <a:cs typeface="Times New Roman" panose="02020603050405020304" pitchFamily="18" charset="0"/>
                        </a:rPr>
                        <a:t>3300000000000000</a:t>
                      </a:r>
                    </a:p>
                  </a:txBody>
                  <a:tcPr marL="84815" marR="84815" marT="59370" marB="59370"/>
                </a:tc>
                <a:tc>
                  <a:txBody>
                    <a:bodyPr/>
                    <a:lstStyle/>
                    <a:p>
                      <a:pPr algn="l" fontAlgn="t"/>
                      <a:r>
                        <a:rPr lang="en-GB" sz="1050" dirty="0" err="1">
                          <a:effectLst/>
                          <a:latin typeface="微软雅黑" panose="020B0503020204020204" pitchFamily="34" charset="-122"/>
                          <a:ea typeface="微软雅黑" panose="020B0503020204020204" pitchFamily="34" charset="-122"/>
                        </a:rPr>
                        <a:t>stat_flag</a:t>
                      </a:r>
                      <a:r>
                        <a:rPr lang="zh-CN" altLang="en-US" sz="1050" dirty="0">
                          <a:effectLst/>
                          <a:latin typeface="微软雅黑" panose="020B0503020204020204" pitchFamily="34" charset="-122"/>
                          <a:ea typeface="微软雅黑" panose="020B0503020204020204" pitchFamily="34" charset="-122"/>
                        </a:rPr>
                        <a:t>专用</a:t>
                      </a:r>
                    </a:p>
                    <a:p>
                      <a:pPr marL="0" algn="l" fontAlgn="t"/>
                      <a:r>
                        <a:rPr lang="en-US" altLang="zh-CN" sz="1050" dirty="0">
                          <a:effectLst/>
                          <a:latin typeface="微软雅黑" panose="020B0503020204020204" pitchFamily="34" charset="-122"/>
                          <a:ea typeface="微软雅黑" panose="020B0503020204020204" pitchFamily="34" charset="-122"/>
                        </a:rPr>
                        <a:t>:&amp;---</a:t>
                      </a:r>
                      <a:r>
                        <a:rPr lang="zh-CN" altLang="en-US" sz="1050" dirty="0">
                          <a:effectLst/>
                          <a:latin typeface="微软雅黑" panose="020B0503020204020204" pitchFamily="34" charset="-122"/>
                          <a:ea typeface="微软雅黑" panose="020B0503020204020204" pitchFamily="34" charset="-122"/>
                        </a:rPr>
                        <a:t>右值不为</a:t>
                      </a:r>
                      <a:r>
                        <a:rPr lang="en-US" altLang="zh-CN" sz="1050" dirty="0">
                          <a:effectLst/>
                          <a:latin typeface="微软雅黑" panose="020B0503020204020204" pitchFamily="34" charset="-122"/>
                          <a:ea typeface="微软雅黑" panose="020B0503020204020204" pitchFamily="34" charset="-122"/>
                        </a:rPr>
                        <a:t>0</a:t>
                      </a:r>
                      <a:r>
                        <a:rPr lang="zh-CN" altLang="en-US" sz="1050" dirty="0">
                          <a:effectLst/>
                          <a:latin typeface="微软雅黑" panose="020B0503020204020204" pitchFamily="34" charset="-122"/>
                          <a:ea typeface="微软雅黑" panose="020B0503020204020204" pitchFamily="34" charset="-122"/>
                        </a:rPr>
                        <a:t>的特定位上，左值均为</a:t>
                      </a:r>
                      <a:r>
                        <a:rPr lang="en-US" altLang="zh-CN" sz="1050" dirty="0">
                          <a:effectLst/>
                          <a:latin typeface="微软雅黑" panose="020B0503020204020204" pitchFamily="34" charset="-122"/>
                          <a:ea typeface="微软雅黑" panose="020B0503020204020204" pitchFamily="34" charset="-122"/>
                        </a:rPr>
                        <a:t>1</a:t>
                      </a:r>
                      <a:endParaRPr lang="zh-CN" altLang="en-US" sz="1050" dirty="0">
                        <a:effectLst/>
                        <a:latin typeface="微软雅黑" panose="020B0503020204020204" pitchFamily="34" charset="-122"/>
                        <a:ea typeface="微软雅黑" panose="020B0503020204020204" pitchFamily="34" charset="-122"/>
                      </a:endParaRPr>
                    </a:p>
                    <a:p>
                      <a:pPr marL="0" algn="l" fontAlgn="t"/>
                      <a:r>
                        <a:rPr lang="en-US" altLang="zh-CN" sz="1050" dirty="0">
                          <a:effectLst/>
                          <a:latin typeface="微软雅黑" panose="020B0503020204020204" pitchFamily="34" charset="-122"/>
                          <a:ea typeface="微软雅黑" panose="020B0503020204020204" pitchFamily="34" charset="-122"/>
                        </a:rPr>
                        <a:t>:|---</a:t>
                      </a:r>
                      <a:r>
                        <a:rPr lang="zh-CN" altLang="en-US" sz="1050" dirty="0">
                          <a:effectLst/>
                          <a:latin typeface="微软雅黑" panose="020B0503020204020204" pitchFamily="34" charset="-122"/>
                          <a:ea typeface="微软雅黑" panose="020B0503020204020204" pitchFamily="34" charset="-122"/>
                        </a:rPr>
                        <a:t>右值不为</a:t>
                      </a:r>
                      <a:r>
                        <a:rPr lang="en-US" altLang="zh-CN" sz="1050" dirty="0">
                          <a:effectLst/>
                          <a:latin typeface="微软雅黑" panose="020B0503020204020204" pitchFamily="34" charset="-122"/>
                          <a:ea typeface="微软雅黑" panose="020B0503020204020204" pitchFamily="34" charset="-122"/>
                        </a:rPr>
                        <a:t>0</a:t>
                      </a:r>
                      <a:r>
                        <a:rPr lang="zh-CN" altLang="en-US" sz="1050" dirty="0">
                          <a:effectLst/>
                          <a:latin typeface="微软雅黑" panose="020B0503020204020204" pitchFamily="34" charset="-122"/>
                          <a:ea typeface="微软雅黑" panose="020B0503020204020204" pitchFamily="34" charset="-122"/>
                        </a:rPr>
                        <a:t>的特定位上，左值有个</a:t>
                      </a:r>
                      <a:r>
                        <a:rPr lang="en-US" altLang="zh-CN" sz="1050" dirty="0">
                          <a:effectLst/>
                          <a:latin typeface="微软雅黑" panose="020B0503020204020204" pitchFamily="34" charset="-122"/>
                          <a:ea typeface="微软雅黑" panose="020B0503020204020204" pitchFamily="34" charset="-122"/>
                        </a:rPr>
                        <a:t>1</a:t>
                      </a:r>
                      <a:r>
                        <a:rPr lang="zh-CN" altLang="en-US" sz="1050" dirty="0">
                          <a:effectLst/>
                          <a:latin typeface="微软雅黑" panose="020B0503020204020204" pitchFamily="34" charset="-122"/>
                          <a:ea typeface="微软雅黑" panose="020B0503020204020204" pitchFamily="34" charset="-122"/>
                        </a:rPr>
                        <a:t>位以上为</a:t>
                      </a:r>
                      <a:r>
                        <a:rPr lang="en-US" altLang="zh-CN" sz="1050" dirty="0">
                          <a:effectLst/>
                          <a:latin typeface="微软雅黑" panose="020B0503020204020204" pitchFamily="34" charset="-122"/>
                          <a:ea typeface="微软雅黑" panose="020B0503020204020204" pitchFamily="34" charset="-122"/>
                        </a:rPr>
                        <a:t>1</a:t>
                      </a:r>
                      <a:endParaRPr lang="zh-CN" altLang="en-US" sz="1050" dirty="0">
                        <a:effectLst/>
                        <a:latin typeface="微软雅黑" panose="020B0503020204020204" pitchFamily="34" charset="-122"/>
                        <a:ea typeface="微软雅黑" panose="020B0503020204020204" pitchFamily="34" charset="-122"/>
                      </a:endParaRPr>
                    </a:p>
                    <a:p>
                      <a:pPr marL="0" algn="l" fontAlgn="t"/>
                      <a:r>
                        <a:rPr lang="en-US" altLang="zh-CN" sz="1050" dirty="0">
                          <a:effectLst/>
                          <a:latin typeface="微软雅黑" panose="020B0503020204020204" pitchFamily="34" charset="-122"/>
                          <a:ea typeface="微软雅黑" panose="020B0503020204020204" pitchFamily="34" charset="-122"/>
                        </a:rPr>
                        <a:t>!&amp;---</a:t>
                      </a:r>
                      <a:r>
                        <a:rPr lang="zh-CN" altLang="en-US" sz="1050" dirty="0">
                          <a:effectLst/>
                          <a:latin typeface="微软雅黑" panose="020B0503020204020204" pitchFamily="34" charset="-122"/>
                          <a:ea typeface="微软雅黑" panose="020B0503020204020204" pitchFamily="34" charset="-122"/>
                        </a:rPr>
                        <a:t>右值不为</a:t>
                      </a:r>
                      <a:r>
                        <a:rPr lang="en-US" altLang="zh-CN" sz="1050" dirty="0">
                          <a:effectLst/>
                          <a:latin typeface="微软雅黑" panose="020B0503020204020204" pitchFamily="34" charset="-122"/>
                          <a:ea typeface="微软雅黑" panose="020B0503020204020204" pitchFamily="34" charset="-122"/>
                        </a:rPr>
                        <a:t>0</a:t>
                      </a:r>
                      <a:r>
                        <a:rPr lang="zh-CN" altLang="en-US" sz="1050" dirty="0">
                          <a:effectLst/>
                          <a:latin typeface="微软雅黑" panose="020B0503020204020204" pitchFamily="34" charset="-122"/>
                          <a:ea typeface="微软雅黑" panose="020B0503020204020204" pitchFamily="34" charset="-122"/>
                        </a:rPr>
                        <a:t>的特定位上，左值均为</a:t>
                      </a:r>
                      <a:r>
                        <a:rPr lang="en-US" altLang="zh-CN" sz="1050" dirty="0">
                          <a:effectLst/>
                          <a:latin typeface="微软雅黑" panose="020B0503020204020204" pitchFamily="34" charset="-122"/>
                          <a:ea typeface="微软雅黑" panose="020B0503020204020204" pitchFamily="34" charset="-122"/>
                        </a:rPr>
                        <a:t>0</a:t>
                      </a:r>
                      <a:endParaRPr lang="zh-CN" altLang="en-US" sz="1050" dirty="0">
                        <a:effectLst/>
                        <a:latin typeface="微软雅黑" panose="020B0503020204020204" pitchFamily="34" charset="-122"/>
                        <a:ea typeface="微软雅黑" panose="020B0503020204020204" pitchFamily="34" charset="-122"/>
                      </a:endParaRPr>
                    </a:p>
                    <a:p>
                      <a:pPr marL="0" algn="l" fontAlgn="t"/>
                      <a:r>
                        <a:rPr lang="en-US" altLang="zh-CN" sz="1050" dirty="0">
                          <a:effectLst/>
                          <a:latin typeface="微软雅黑" panose="020B0503020204020204" pitchFamily="34" charset="-122"/>
                          <a:ea typeface="微软雅黑" panose="020B0503020204020204" pitchFamily="34" charset="-122"/>
                        </a:rPr>
                        <a:t>!| ---</a:t>
                      </a:r>
                      <a:r>
                        <a:rPr lang="zh-CN" altLang="en-US" sz="1050" dirty="0">
                          <a:effectLst/>
                          <a:latin typeface="微软雅黑" panose="020B0503020204020204" pitchFamily="34" charset="-122"/>
                          <a:ea typeface="微软雅黑" panose="020B0503020204020204" pitchFamily="34" charset="-122"/>
                        </a:rPr>
                        <a:t>右值不为</a:t>
                      </a:r>
                      <a:r>
                        <a:rPr lang="en-US" altLang="zh-CN" sz="1050" dirty="0">
                          <a:effectLst/>
                          <a:latin typeface="微软雅黑" panose="020B0503020204020204" pitchFamily="34" charset="-122"/>
                          <a:ea typeface="微软雅黑" panose="020B0503020204020204" pitchFamily="34" charset="-122"/>
                        </a:rPr>
                        <a:t>0</a:t>
                      </a:r>
                      <a:r>
                        <a:rPr lang="zh-CN" altLang="en-US" sz="1050" dirty="0">
                          <a:effectLst/>
                          <a:latin typeface="微软雅黑" panose="020B0503020204020204" pitchFamily="34" charset="-122"/>
                          <a:ea typeface="微软雅黑" panose="020B0503020204020204" pitchFamily="34" charset="-122"/>
                        </a:rPr>
                        <a:t>的特定位上，左值不全是</a:t>
                      </a:r>
                      <a:r>
                        <a:rPr lang="en-US" altLang="zh-CN" sz="1050" dirty="0">
                          <a:effectLst/>
                          <a:latin typeface="微软雅黑" panose="020B0503020204020204" pitchFamily="34" charset="-122"/>
                          <a:ea typeface="微软雅黑" panose="020B0503020204020204" pitchFamily="34" charset="-122"/>
                        </a:rPr>
                        <a:t>1</a:t>
                      </a:r>
                      <a:endParaRPr lang="zh-CN" altLang="en-US" sz="1050" dirty="0">
                        <a:effectLst/>
                        <a:latin typeface="微软雅黑" panose="020B0503020204020204" pitchFamily="34" charset="-122"/>
                        <a:ea typeface="微软雅黑" panose="020B0503020204020204" pitchFamily="34" charset="-122"/>
                      </a:endParaRPr>
                    </a:p>
                  </a:txBody>
                  <a:tcPr marL="84815" marR="84815" marT="59370" marB="59370"/>
                </a:tc>
                <a:extLst>
                  <a:ext uri="{0D108BD9-81ED-4DB2-BD59-A6C34878D82A}">
                    <a16:rowId xmlns:a16="http://schemas.microsoft.com/office/drawing/2014/main" val="10010"/>
                  </a:ext>
                </a:extLst>
              </a:tr>
            </a:tbl>
          </a:graphicData>
        </a:graphic>
      </p:graphicFrame>
      <p:sp>
        <p:nvSpPr>
          <p:cNvPr id="3" name="文本框 2"/>
          <p:cNvSpPr txBox="1"/>
          <p:nvPr/>
        </p:nvSpPr>
        <p:spPr>
          <a:xfrm>
            <a:off x="5856514" y="5405439"/>
            <a:ext cx="4637315" cy="1477328"/>
          </a:xfrm>
          <a:prstGeom prst="rect">
            <a:avLst/>
          </a:prstGeom>
          <a:noFill/>
        </p:spPr>
        <p:txBody>
          <a:bodyPr wrap="square" rtlCol="0">
            <a:spAutoFit/>
          </a:bodyPr>
          <a:lstStyle/>
          <a:p>
            <a:r>
              <a:rPr kumimoji="1" lang="en-GB" altLang="zh-CN" sz="1200" dirty="0"/>
              <a:t>‘</a:t>
            </a:r>
            <a:r>
              <a:rPr kumimoji="1" lang="en-GB" altLang="zh-CN" sz="1200" dirty="0" err="1"/>
              <a:t>stat_flag</a:t>
            </a:r>
            <a:r>
              <a:rPr kumimoji="1" lang="en-GB" altLang="zh-CN" sz="1200" dirty="0"/>
              <a:t>’:&amp;3300000000000000</a:t>
            </a:r>
            <a:r>
              <a:rPr kumimoji="1" lang="zh-CN" altLang="en-GB" sz="1200" dirty="0"/>
              <a:t>，</a:t>
            </a:r>
            <a:r>
              <a:rPr kumimoji="1" lang="zh-CN" altLang="en-US" sz="1200" dirty="0"/>
              <a:t>其中</a:t>
            </a:r>
            <a:r>
              <a:rPr kumimoji="1" lang="en-US" altLang="zh-CN" sz="1200" dirty="0"/>
              <a:t>:&amp;</a:t>
            </a:r>
            <a:r>
              <a:rPr kumimoji="1" lang="zh-CN" altLang="en-US" sz="1200" dirty="0"/>
              <a:t>运算表示右值不为</a:t>
            </a:r>
            <a:r>
              <a:rPr kumimoji="1" lang="en-US" altLang="zh-CN" sz="1200" dirty="0"/>
              <a:t>0</a:t>
            </a:r>
            <a:r>
              <a:rPr kumimoji="1" lang="zh-CN" altLang="en-US" sz="1200" dirty="0"/>
              <a:t>的特定位上，左值均为</a:t>
            </a:r>
            <a:r>
              <a:rPr kumimoji="1" lang="en-US" altLang="zh-CN" sz="1200" dirty="0"/>
              <a:t>1</a:t>
            </a:r>
            <a:r>
              <a:rPr kumimoji="1" lang="zh-CN" altLang="en-US" sz="1200" dirty="0"/>
              <a:t>。 转化为</a:t>
            </a:r>
            <a:r>
              <a:rPr kumimoji="1" lang="en-US" altLang="zh-CN" sz="1200" dirty="0"/>
              <a:t>2</a:t>
            </a:r>
            <a:r>
              <a:rPr kumimoji="1" lang="zh-CN" altLang="en-US" sz="1200" dirty="0"/>
              <a:t>进制后，为</a:t>
            </a:r>
            <a:r>
              <a:rPr kumimoji="1" lang="en-US" altLang="zh-CN" sz="1200" dirty="0"/>
              <a:t>1</a:t>
            </a:r>
            <a:r>
              <a:rPr kumimoji="1" lang="zh-CN" altLang="en-US" sz="1200" dirty="0"/>
              <a:t>的位对应四种异常：</a:t>
            </a:r>
          </a:p>
          <a:p>
            <a:r>
              <a:rPr kumimoji="1" lang="en-US" altLang="zh-CN" sz="1200" dirty="0"/>
              <a:t>0</a:t>
            </a:r>
            <a:r>
              <a:rPr kumimoji="1" lang="en-GB" altLang="zh-CN" sz="1200" dirty="0"/>
              <a:t>x2000000000000000  ck</a:t>
            </a:r>
            <a:r>
              <a:rPr kumimoji="1" lang="zh-CN" altLang="en-US" sz="1200" dirty="0"/>
              <a:t>域不存在</a:t>
            </a:r>
          </a:p>
          <a:p>
            <a:r>
              <a:rPr kumimoji="1" lang="en-US" altLang="zh-CN" sz="1200" dirty="0"/>
              <a:t>0</a:t>
            </a:r>
            <a:r>
              <a:rPr kumimoji="1" lang="en-GB" altLang="zh-CN" sz="1200" dirty="0"/>
              <a:t>x1000000000000000  ck</a:t>
            </a:r>
            <a:r>
              <a:rPr kumimoji="1" lang="zh-CN" altLang="en-US" sz="1200" dirty="0"/>
              <a:t>域验证不通过</a:t>
            </a:r>
          </a:p>
          <a:p>
            <a:r>
              <a:rPr kumimoji="1" lang="en-US" altLang="zh-CN" sz="1200" dirty="0"/>
              <a:t>0</a:t>
            </a:r>
            <a:r>
              <a:rPr kumimoji="1" lang="en-GB" altLang="zh-CN" sz="1200" dirty="0"/>
              <a:t>x0200000000000000 ck</a:t>
            </a:r>
            <a:r>
              <a:rPr kumimoji="1" lang="zh-CN" altLang="en-US" sz="1200" dirty="0"/>
              <a:t>域，鼠标按下放开时间异常</a:t>
            </a:r>
          </a:p>
          <a:p>
            <a:r>
              <a:rPr kumimoji="1" lang="en-US" altLang="zh-CN" sz="1200" dirty="0"/>
              <a:t>0</a:t>
            </a:r>
            <a:r>
              <a:rPr kumimoji="1" lang="en-GB" altLang="zh-CN" sz="1200" dirty="0"/>
              <a:t>x0100000000000000 ck</a:t>
            </a:r>
            <a:r>
              <a:rPr kumimoji="1" lang="zh-CN" altLang="en-US" sz="1200" dirty="0"/>
              <a:t>域，</a:t>
            </a:r>
            <a:r>
              <a:rPr kumimoji="1" lang="en-GB" altLang="zh-CN" sz="1200" dirty="0" err="1"/>
              <a:t>cpro</a:t>
            </a:r>
            <a:r>
              <a:rPr kumimoji="1" lang="zh-CN" altLang="en-US" sz="1200" dirty="0"/>
              <a:t>中，鼠标移入坐标等于点击坐标</a:t>
            </a:r>
          </a:p>
          <a:p>
            <a:endParaRPr kumimoji="1"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grpSp>
        <p:nvGrpSpPr>
          <p:cNvPr id="9" name="组合 8">
            <a:extLst>
              <a:ext uri="{FF2B5EF4-FFF2-40B4-BE49-F238E27FC236}">
                <a16:creationId xmlns:a16="http://schemas.microsoft.com/office/drawing/2014/main" id="{A8E70C9E-CC5E-FC92-CC97-A6FF404D5C99}"/>
              </a:ext>
            </a:extLst>
          </p:cNvPr>
          <p:cNvGrpSpPr/>
          <p:nvPr/>
        </p:nvGrpSpPr>
        <p:grpSpPr>
          <a:xfrm>
            <a:off x="612990" y="1869666"/>
            <a:ext cx="11116374" cy="4198393"/>
            <a:chOff x="612990" y="1869666"/>
            <a:chExt cx="11116374" cy="4198393"/>
          </a:xfrm>
        </p:grpSpPr>
        <p:sp>
          <p:nvSpPr>
            <p:cNvPr id="16" name="文本框 15"/>
            <p:cNvSpPr txBox="1"/>
            <p:nvPr/>
          </p:nvSpPr>
          <p:spPr>
            <a:xfrm>
              <a:off x="612990" y="1869666"/>
              <a:ext cx="9783738" cy="419839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段</a:t>
              </a:r>
              <a:r>
                <a:rPr kumimoji="1" lang="en-US" altLang="zh-CN" dirty="0">
                  <a:latin typeface="微软雅黑" panose="020B0503020204020204" pitchFamily="34" charset="-122"/>
                  <a:ea typeface="微软雅黑" panose="020B0503020204020204" pitchFamily="34" charset="-122"/>
                </a:rPr>
                <a:t> window</a:t>
              </a: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定义：统计特征的计算区间</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类型</a:t>
              </a:r>
              <a:r>
                <a:rPr kumimoji="1" lang="en-US" altLang="zh-CN" dirty="0">
                  <a:latin typeface="微软雅黑" panose="020B0503020204020204" pitchFamily="34" charset="-122"/>
                  <a:ea typeface="微软雅黑" panose="020B0503020204020204" pitchFamily="34" charset="-122"/>
                </a:rPr>
                <a:t> window_type</a:t>
              </a:r>
              <a:r>
                <a:rPr kumimoji="1" lang="zh-CN" altLang="en-US" dirty="0">
                  <a:latin typeface="微软雅黑" panose="020B0503020204020204" pitchFamily="34" charset="-122"/>
                  <a:ea typeface="微软雅黑" panose="020B0503020204020204" pitchFamily="34" charset="-122"/>
                </a:rPr>
                <a:t>：</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时间</a:t>
              </a:r>
              <a:r>
                <a:rPr kumimoji="1" lang="en-US" altLang="zh-CN" dirty="0">
                  <a:latin typeface="微软雅黑" panose="020B0503020204020204" pitchFamily="34" charset="-122"/>
                  <a:ea typeface="微软雅黑" panose="020B0503020204020204" pitchFamily="34" charset="-122"/>
                </a:rPr>
                <a:t> time</a:t>
              </a:r>
              <a:r>
                <a:rPr kumimoji="1" lang="zh-CN" altLang="en-US" dirty="0">
                  <a:latin typeface="微软雅黑" panose="020B0503020204020204" pitchFamily="34" charset="-122"/>
                  <a:ea typeface="微软雅黑" panose="020B0503020204020204" pitchFamily="34" charset="-122"/>
                </a:rPr>
                <a:t>：一定时间内的，比如分、时、天</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流量</a:t>
              </a:r>
              <a:r>
                <a:rPr kumimoji="1" lang="en-US" altLang="zh-CN" dirty="0">
                  <a:latin typeface="微软雅黑" panose="020B0503020204020204" pitchFamily="34" charset="-122"/>
                  <a:ea typeface="微软雅黑" panose="020B0503020204020204" pitchFamily="34" charset="-122"/>
                </a:rPr>
                <a:t> pv</a:t>
              </a:r>
              <a:r>
                <a:rPr kumimoji="1" lang="zh-CN" altLang="en-US" dirty="0">
                  <a:latin typeface="微软雅黑" panose="020B0503020204020204" pitchFamily="34" charset="-122"/>
                  <a:ea typeface="微软雅黑" panose="020B0503020204020204" pitchFamily="34" charset="-122"/>
                </a:rPr>
                <a:t>：一定量，比如连续</a:t>
              </a:r>
              <a:r>
                <a:rPr kumimoji="1" lang="en-US" altLang="zh-CN" dirty="0">
                  <a:latin typeface="微软雅黑" panose="020B0503020204020204" pitchFamily="34" charset="-122"/>
                  <a:ea typeface="微软雅黑" panose="020B0503020204020204" pitchFamily="34" charset="-122"/>
                </a:rPr>
                <a:t>10000</a:t>
              </a:r>
              <a:r>
                <a:rPr kumimoji="1" lang="zh-CN" altLang="en-US" dirty="0">
                  <a:latin typeface="微软雅黑" panose="020B0503020204020204" pitchFamily="34" charset="-122"/>
                  <a:ea typeface="微软雅黑" panose="020B0503020204020204" pitchFamily="34" charset="-122"/>
                </a:rPr>
                <a:t>条日志</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段长</a:t>
              </a:r>
              <a:r>
                <a:rPr kumimoji="1" lang="en-US" altLang="zh-CN" dirty="0">
                  <a:latin typeface="微软雅黑" panose="020B0503020204020204" pitchFamily="34" charset="-122"/>
                  <a:ea typeface="微软雅黑" panose="020B0503020204020204" pitchFamily="34" charset="-122"/>
                </a:rPr>
                <a:t> window_length</a:t>
              </a:r>
              <a:r>
                <a:rPr kumimoji="1" lang="zh-CN" altLang="en-US" dirty="0">
                  <a:latin typeface="微软雅黑" panose="020B0503020204020204" pitchFamily="34" charset="-122"/>
                  <a:ea typeface="微软雅黑" panose="020B0503020204020204" pitchFamily="34" charset="-122"/>
                </a:rPr>
                <a:t>：一定长度的统计窗口</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步长</a:t>
              </a:r>
              <a:r>
                <a:rPr kumimoji="1" lang="en-US" altLang="zh-CN" dirty="0">
                  <a:latin typeface="微软雅黑" panose="020B0503020204020204" pitchFamily="34" charset="-122"/>
                  <a:ea typeface="微软雅黑" panose="020B0503020204020204" pitchFamily="34" charset="-122"/>
                </a:rPr>
                <a:t> step_length</a:t>
              </a:r>
              <a:r>
                <a:rPr kumimoji="1" lang="zh-CN" altLang="en-US" dirty="0">
                  <a:latin typeface="微软雅黑" panose="020B0503020204020204" pitchFamily="34" charset="-122"/>
                  <a:ea typeface="微软雅黑" panose="020B0503020204020204" pitchFamily="34" charset="-122"/>
                </a:rPr>
                <a:t>：段每次向后移动的距离</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段的类型：</a:t>
              </a:r>
            </a:p>
            <a:p>
              <a:pPr marL="742950" lvl="1"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跳段</a:t>
              </a:r>
              <a:r>
                <a:rPr kumimoji="1" lang="en-US" altLang="zh-CN" dirty="0">
                  <a:latin typeface="微软雅黑" panose="020B0503020204020204" pitchFamily="34" charset="-122"/>
                  <a:ea typeface="微软雅黑" panose="020B0503020204020204" pitchFamily="34" charset="-122"/>
                </a:rPr>
                <a:t> </a:t>
              </a:r>
              <a:r>
                <a:rPr kumimoji="1" lang="en-US" altLang="zh-CN" dirty="0" err="1">
                  <a:latin typeface="微软雅黑" panose="020B0503020204020204" pitchFamily="34" charset="-122"/>
                  <a:ea typeface="微软雅黑" panose="020B0503020204020204" pitchFamily="34" charset="-122"/>
                </a:rPr>
                <a:t>c</a:t>
              </a:r>
              <a:r>
                <a:rPr kumimoji="1" lang="en-US" altLang="zh-CN" dirty="0" err="1">
                  <a:latin typeface="微软雅黑" panose="020B0503020204020204" pitchFamily="34" charset="-122"/>
                  <a:ea typeface="微软雅黑" panose="020B0503020204020204" pitchFamily="34" charset="-122"/>
                  <a:sym typeface="+mn-ea"/>
                </a:rPr>
                <a:t>lick_mode</a:t>
              </a:r>
              <a:r>
                <a:rPr kumimoji="1" lang="zh-CN" altLang="en-US" dirty="0">
                  <a:latin typeface="微软雅黑" panose="020B0503020204020204" pitchFamily="34" charset="-122"/>
                  <a:ea typeface="微软雅黑" panose="020B0503020204020204" pitchFamily="34" charset="-122"/>
                  <a:sym typeface="+mn-ea"/>
                </a:rPr>
                <a:t> </a:t>
              </a:r>
              <a:r>
                <a:rPr kumimoji="1" lang="en-US" altLang="zh-CN" dirty="0">
                  <a:latin typeface="微软雅黑" panose="020B0503020204020204" pitchFamily="34" charset="-122"/>
                  <a:ea typeface="微软雅黑" panose="020B0503020204020204" pitchFamily="34" charset="-122"/>
                  <a:sym typeface="+mn-ea"/>
                </a:rPr>
                <a:t>==1</a:t>
              </a:r>
              <a:r>
                <a:rPr kumimoji="1" lang="zh-CN" altLang="en-US" dirty="0">
                  <a:latin typeface="微软雅黑" panose="020B0503020204020204" pitchFamily="34" charset="-122"/>
                  <a:ea typeface="微软雅黑" panose="020B0503020204020204" pitchFamily="34" charset="-122"/>
                </a:rPr>
                <a:t>：段与段之间不重叠，移动一个段长</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滑段</a:t>
              </a:r>
              <a:r>
                <a:rPr kumimoji="1" lang="en-US" altLang="zh-CN" dirty="0">
                  <a:latin typeface="微软雅黑" panose="020B0503020204020204" pitchFamily="34" charset="-122"/>
                  <a:ea typeface="微软雅黑" panose="020B0503020204020204" pitchFamily="34" charset="-122"/>
                </a:rPr>
                <a:t> </a:t>
              </a:r>
              <a:r>
                <a:rPr kumimoji="1" lang="en-US" altLang="zh-CN" dirty="0" err="1">
                  <a:latin typeface="微软雅黑" panose="020B0503020204020204" pitchFamily="34" charset="-122"/>
                  <a:ea typeface="微软雅黑" panose="020B0503020204020204" pitchFamily="34" charset="-122"/>
                </a:rPr>
                <a:t>c</a:t>
              </a:r>
              <a:r>
                <a:rPr kumimoji="1" lang="en-US" altLang="zh-CN" dirty="0" err="1">
                  <a:latin typeface="微软雅黑" panose="020B0503020204020204" pitchFamily="34" charset="-122"/>
                  <a:ea typeface="微软雅黑" panose="020B0503020204020204" pitchFamily="34" charset="-122"/>
                  <a:sym typeface="+mn-ea"/>
                </a:rPr>
                <a:t>lick_mode</a:t>
              </a:r>
              <a:r>
                <a:rPr kumimoji="1" lang="zh-CN" altLang="en-US" dirty="0">
                  <a:latin typeface="微软雅黑" panose="020B0503020204020204" pitchFamily="34" charset="-122"/>
                  <a:ea typeface="微软雅黑" panose="020B0503020204020204" pitchFamily="34" charset="-122"/>
                  <a:sym typeface="+mn-ea"/>
                </a:rPr>
                <a:t> </a:t>
              </a:r>
              <a:r>
                <a:rPr kumimoji="1" lang="en-US" altLang="zh-CN" dirty="0">
                  <a:latin typeface="微软雅黑" panose="020B0503020204020204" pitchFamily="34" charset="-122"/>
                  <a:ea typeface="微软雅黑" panose="020B0503020204020204" pitchFamily="34" charset="-122"/>
                  <a:sym typeface="+mn-ea"/>
                </a:rPr>
                <a:t>==0</a:t>
              </a:r>
              <a:r>
                <a:rPr kumimoji="1" lang="zh-CN" altLang="en-US" dirty="0">
                  <a:latin typeface="微软雅黑" panose="020B0503020204020204" pitchFamily="34" charset="-122"/>
                  <a:ea typeface="微软雅黑" panose="020B0503020204020204" pitchFamily="34" charset="-122"/>
                </a:rPr>
                <a:t>：</a:t>
              </a:r>
              <a:r>
                <a:rPr kumimoji="1" lang="zh-CN" altLang="zh-CN" dirty="0">
                  <a:latin typeface="微软雅黑" panose="020B0503020204020204" pitchFamily="34" charset="-122"/>
                  <a:ea typeface="微软雅黑" panose="020B0503020204020204" pitchFamily="34" charset="-122"/>
                </a:rPr>
                <a:t>将段分为小步，按步滑动</a:t>
              </a:r>
              <a:r>
                <a:rPr kumimoji="1" lang="zh-CN" altLang="en-US" dirty="0">
                  <a:latin typeface="微软雅黑" panose="020B0503020204020204" pitchFamily="34" charset="-122"/>
                  <a:ea typeface="微软雅黑" panose="020B0503020204020204" pitchFamily="34" charset="-122"/>
                </a:rPr>
                <a:t>一个步长，可以缓解段首漏过</a:t>
              </a:r>
              <a:endParaRPr kumimoji="1" lang="zh-CN" altLang="zh-CN"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4"/>
            <a:stretch>
              <a:fillRect/>
            </a:stretch>
          </p:blipFill>
          <p:spPr>
            <a:xfrm>
              <a:off x="6332499" y="1939925"/>
              <a:ext cx="5396865" cy="2978150"/>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grpSp>
        <p:nvGrpSpPr>
          <p:cNvPr id="9" name="组合 8">
            <a:extLst>
              <a:ext uri="{FF2B5EF4-FFF2-40B4-BE49-F238E27FC236}">
                <a16:creationId xmlns:a16="http://schemas.microsoft.com/office/drawing/2014/main" id="{A8E70C9E-CC5E-FC92-CC97-A6FF404D5C99}"/>
              </a:ext>
            </a:extLst>
          </p:cNvPr>
          <p:cNvGrpSpPr/>
          <p:nvPr/>
        </p:nvGrpSpPr>
        <p:grpSpPr>
          <a:xfrm>
            <a:off x="612990" y="1869666"/>
            <a:ext cx="11116374" cy="4198393"/>
            <a:chOff x="612990" y="1869666"/>
            <a:chExt cx="11116374" cy="4198393"/>
          </a:xfrm>
        </p:grpSpPr>
        <p:sp>
          <p:nvSpPr>
            <p:cNvPr id="16" name="文本框 15"/>
            <p:cNvSpPr txBox="1"/>
            <p:nvPr/>
          </p:nvSpPr>
          <p:spPr>
            <a:xfrm>
              <a:off x="612990" y="1869666"/>
              <a:ext cx="9783738" cy="419839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段</a:t>
              </a:r>
              <a:r>
                <a:rPr kumimoji="1" lang="en-US" altLang="zh-CN" dirty="0">
                  <a:latin typeface="微软雅黑" panose="020B0503020204020204" pitchFamily="34" charset="-122"/>
                  <a:ea typeface="微软雅黑" panose="020B0503020204020204" pitchFamily="34" charset="-122"/>
                </a:rPr>
                <a:t> window</a:t>
              </a: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定义：统计特征的计算区间</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类型</a:t>
              </a:r>
              <a:r>
                <a:rPr kumimoji="1" lang="en-US" altLang="zh-CN" dirty="0">
                  <a:latin typeface="微软雅黑" panose="020B0503020204020204" pitchFamily="34" charset="-122"/>
                  <a:ea typeface="微软雅黑" panose="020B0503020204020204" pitchFamily="34" charset="-122"/>
                </a:rPr>
                <a:t> window_type</a:t>
              </a:r>
              <a:r>
                <a:rPr kumimoji="1" lang="zh-CN" altLang="en-US" dirty="0">
                  <a:latin typeface="微软雅黑" panose="020B0503020204020204" pitchFamily="34" charset="-122"/>
                  <a:ea typeface="微软雅黑" panose="020B0503020204020204" pitchFamily="34" charset="-122"/>
                </a:rPr>
                <a:t>：</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时间</a:t>
              </a:r>
              <a:r>
                <a:rPr kumimoji="1" lang="en-US" altLang="zh-CN" dirty="0">
                  <a:latin typeface="微软雅黑" panose="020B0503020204020204" pitchFamily="34" charset="-122"/>
                  <a:ea typeface="微软雅黑" panose="020B0503020204020204" pitchFamily="34" charset="-122"/>
                </a:rPr>
                <a:t> time</a:t>
              </a:r>
              <a:r>
                <a:rPr kumimoji="1" lang="zh-CN" altLang="en-US" dirty="0">
                  <a:latin typeface="微软雅黑" panose="020B0503020204020204" pitchFamily="34" charset="-122"/>
                  <a:ea typeface="微软雅黑" panose="020B0503020204020204" pitchFamily="34" charset="-122"/>
                </a:rPr>
                <a:t>：一定时间内的，比如分、时、天</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流量</a:t>
              </a:r>
              <a:r>
                <a:rPr kumimoji="1" lang="en-US" altLang="zh-CN" dirty="0">
                  <a:latin typeface="微软雅黑" panose="020B0503020204020204" pitchFamily="34" charset="-122"/>
                  <a:ea typeface="微软雅黑" panose="020B0503020204020204" pitchFamily="34" charset="-122"/>
                </a:rPr>
                <a:t> pv</a:t>
              </a:r>
              <a:r>
                <a:rPr kumimoji="1" lang="zh-CN" altLang="en-US" dirty="0">
                  <a:latin typeface="微软雅黑" panose="020B0503020204020204" pitchFamily="34" charset="-122"/>
                  <a:ea typeface="微软雅黑" panose="020B0503020204020204" pitchFamily="34" charset="-122"/>
                </a:rPr>
                <a:t>：一定量，比如连续</a:t>
              </a:r>
              <a:r>
                <a:rPr kumimoji="1" lang="en-US" altLang="zh-CN" dirty="0">
                  <a:latin typeface="微软雅黑" panose="020B0503020204020204" pitchFamily="34" charset="-122"/>
                  <a:ea typeface="微软雅黑" panose="020B0503020204020204" pitchFamily="34" charset="-122"/>
                </a:rPr>
                <a:t>10000</a:t>
              </a:r>
              <a:r>
                <a:rPr kumimoji="1" lang="zh-CN" altLang="en-US" dirty="0">
                  <a:latin typeface="微软雅黑" panose="020B0503020204020204" pitchFamily="34" charset="-122"/>
                  <a:ea typeface="微软雅黑" panose="020B0503020204020204" pitchFamily="34" charset="-122"/>
                </a:rPr>
                <a:t>条日志</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段长</a:t>
              </a:r>
              <a:r>
                <a:rPr kumimoji="1" lang="en-US" altLang="zh-CN" dirty="0">
                  <a:latin typeface="微软雅黑" panose="020B0503020204020204" pitchFamily="34" charset="-122"/>
                  <a:ea typeface="微软雅黑" panose="020B0503020204020204" pitchFamily="34" charset="-122"/>
                </a:rPr>
                <a:t> window_length</a:t>
              </a:r>
              <a:r>
                <a:rPr kumimoji="1" lang="zh-CN" altLang="en-US" dirty="0">
                  <a:latin typeface="微软雅黑" panose="020B0503020204020204" pitchFamily="34" charset="-122"/>
                  <a:ea typeface="微软雅黑" panose="020B0503020204020204" pitchFamily="34" charset="-122"/>
                </a:rPr>
                <a:t>：一定长度的统计窗口</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步长</a:t>
              </a:r>
              <a:r>
                <a:rPr kumimoji="1" lang="en-US" altLang="zh-CN" dirty="0">
                  <a:latin typeface="微软雅黑" panose="020B0503020204020204" pitchFamily="34" charset="-122"/>
                  <a:ea typeface="微软雅黑" panose="020B0503020204020204" pitchFamily="34" charset="-122"/>
                </a:rPr>
                <a:t> step_length</a:t>
              </a:r>
              <a:r>
                <a:rPr kumimoji="1" lang="zh-CN" altLang="en-US" dirty="0">
                  <a:latin typeface="微软雅黑" panose="020B0503020204020204" pitchFamily="34" charset="-122"/>
                  <a:ea typeface="微软雅黑" panose="020B0503020204020204" pitchFamily="34" charset="-122"/>
                </a:rPr>
                <a:t>：段每次向后移动的距离</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段的类型：</a:t>
              </a:r>
            </a:p>
            <a:p>
              <a:pPr marL="742950" lvl="1"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跳段</a:t>
              </a:r>
              <a:r>
                <a:rPr kumimoji="1" lang="en-US" altLang="zh-CN" dirty="0">
                  <a:latin typeface="微软雅黑" panose="020B0503020204020204" pitchFamily="34" charset="-122"/>
                  <a:ea typeface="微软雅黑" panose="020B0503020204020204" pitchFamily="34" charset="-122"/>
                </a:rPr>
                <a:t> </a:t>
              </a:r>
              <a:r>
                <a:rPr kumimoji="1" lang="en-US" altLang="zh-CN" dirty="0" err="1">
                  <a:latin typeface="微软雅黑" panose="020B0503020204020204" pitchFamily="34" charset="-122"/>
                  <a:ea typeface="微软雅黑" panose="020B0503020204020204" pitchFamily="34" charset="-122"/>
                </a:rPr>
                <a:t>c</a:t>
              </a:r>
              <a:r>
                <a:rPr kumimoji="1" lang="en-US" altLang="zh-CN" dirty="0" err="1">
                  <a:latin typeface="微软雅黑" panose="020B0503020204020204" pitchFamily="34" charset="-122"/>
                  <a:ea typeface="微软雅黑" panose="020B0503020204020204" pitchFamily="34" charset="-122"/>
                  <a:sym typeface="+mn-ea"/>
                </a:rPr>
                <a:t>lick_mode</a:t>
              </a:r>
              <a:r>
                <a:rPr kumimoji="1" lang="zh-CN" altLang="en-US" dirty="0">
                  <a:latin typeface="微软雅黑" panose="020B0503020204020204" pitchFamily="34" charset="-122"/>
                  <a:ea typeface="微软雅黑" panose="020B0503020204020204" pitchFamily="34" charset="-122"/>
                  <a:sym typeface="+mn-ea"/>
                </a:rPr>
                <a:t> </a:t>
              </a:r>
              <a:r>
                <a:rPr kumimoji="1" lang="en-US" altLang="zh-CN" dirty="0">
                  <a:latin typeface="微软雅黑" panose="020B0503020204020204" pitchFamily="34" charset="-122"/>
                  <a:ea typeface="微软雅黑" panose="020B0503020204020204" pitchFamily="34" charset="-122"/>
                  <a:sym typeface="+mn-ea"/>
                </a:rPr>
                <a:t>==1</a:t>
              </a:r>
              <a:r>
                <a:rPr kumimoji="1" lang="zh-CN" altLang="en-US" dirty="0">
                  <a:latin typeface="微软雅黑" panose="020B0503020204020204" pitchFamily="34" charset="-122"/>
                  <a:ea typeface="微软雅黑" panose="020B0503020204020204" pitchFamily="34" charset="-122"/>
                </a:rPr>
                <a:t>：段与段之间不重叠，移动一个段长</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滑段</a:t>
              </a:r>
              <a:r>
                <a:rPr kumimoji="1" lang="en-US" altLang="zh-CN" dirty="0">
                  <a:latin typeface="微软雅黑" panose="020B0503020204020204" pitchFamily="34" charset="-122"/>
                  <a:ea typeface="微软雅黑" panose="020B0503020204020204" pitchFamily="34" charset="-122"/>
                </a:rPr>
                <a:t> </a:t>
              </a:r>
              <a:r>
                <a:rPr kumimoji="1" lang="en-US" altLang="zh-CN" dirty="0" err="1">
                  <a:latin typeface="微软雅黑" panose="020B0503020204020204" pitchFamily="34" charset="-122"/>
                  <a:ea typeface="微软雅黑" panose="020B0503020204020204" pitchFamily="34" charset="-122"/>
                </a:rPr>
                <a:t>c</a:t>
              </a:r>
              <a:r>
                <a:rPr kumimoji="1" lang="en-US" altLang="zh-CN" dirty="0" err="1">
                  <a:latin typeface="微软雅黑" panose="020B0503020204020204" pitchFamily="34" charset="-122"/>
                  <a:ea typeface="微软雅黑" panose="020B0503020204020204" pitchFamily="34" charset="-122"/>
                  <a:sym typeface="+mn-ea"/>
                </a:rPr>
                <a:t>lick_mode</a:t>
              </a:r>
              <a:r>
                <a:rPr kumimoji="1" lang="zh-CN" altLang="en-US" dirty="0">
                  <a:latin typeface="微软雅黑" panose="020B0503020204020204" pitchFamily="34" charset="-122"/>
                  <a:ea typeface="微软雅黑" panose="020B0503020204020204" pitchFamily="34" charset="-122"/>
                  <a:sym typeface="+mn-ea"/>
                </a:rPr>
                <a:t> </a:t>
              </a:r>
              <a:r>
                <a:rPr kumimoji="1" lang="en-US" altLang="zh-CN" dirty="0">
                  <a:latin typeface="微软雅黑" panose="020B0503020204020204" pitchFamily="34" charset="-122"/>
                  <a:ea typeface="微软雅黑" panose="020B0503020204020204" pitchFamily="34" charset="-122"/>
                  <a:sym typeface="+mn-ea"/>
                </a:rPr>
                <a:t>==0</a:t>
              </a:r>
              <a:r>
                <a:rPr kumimoji="1" lang="zh-CN" altLang="en-US" dirty="0">
                  <a:latin typeface="微软雅黑" panose="020B0503020204020204" pitchFamily="34" charset="-122"/>
                  <a:ea typeface="微软雅黑" panose="020B0503020204020204" pitchFamily="34" charset="-122"/>
                </a:rPr>
                <a:t>：</a:t>
              </a:r>
              <a:r>
                <a:rPr kumimoji="1" lang="zh-CN" altLang="zh-CN" dirty="0">
                  <a:latin typeface="微软雅黑" panose="020B0503020204020204" pitchFamily="34" charset="-122"/>
                  <a:ea typeface="微软雅黑" panose="020B0503020204020204" pitchFamily="34" charset="-122"/>
                </a:rPr>
                <a:t>将段分为小步，按步滑动</a:t>
              </a:r>
              <a:r>
                <a:rPr kumimoji="1" lang="zh-CN" altLang="en-US" dirty="0">
                  <a:latin typeface="微软雅黑" panose="020B0503020204020204" pitchFamily="34" charset="-122"/>
                  <a:ea typeface="微软雅黑" panose="020B0503020204020204" pitchFamily="34" charset="-122"/>
                </a:rPr>
                <a:t>一个步长，可以缓解段首漏过</a:t>
              </a:r>
              <a:endParaRPr kumimoji="1" lang="zh-CN" altLang="zh-CN"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4"/>
            <a:stretch>
              <a:fillRect/>
            </a:stretch>
          </p:blipFill>
          <p:spPr>
            <a:xfrm>
              <a:off x="6332499" y="1939925"/>
              <a:ext cx="5396865" cy="2978150"/>
            </a:xfrm>
            <a:prstGeom prst="rect">
              <a:avLst/>
            </a:prstGeom>
          </p:spPr>
        </p:pic>
      </p:grpSp>
    </p:spTree>
    <p:extLst>
      <p:ext uri="{BB962C8B-B14F-4D97-AF65-F5344CB8AC3E}">
        <p14:creationId xmlns:p14="http://schemas.microsoft.com/office/powerpoint/2010/main" val="421426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sp>
        <p:nvSpPr>
          <p:cNvPr id="16" name="文本框 15"/>
          <p:cNvSpPr txBox="1"/>
          <p:nvPr/>
        </p:nvSpPr>
        <p:spPr>
          <a:xfrm>
            <a:off x="612990" y="1869666"/>
            <a:ext cx="9783738" cy="419839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段</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基于段的策略过滤的一般过程</a:t>
            </a:r>
            <a:endParaRPr kumimoji="1" lang="en-US" altLang="zh-CN" dirty="0">
              <a:latin typeface="微软雅黑" panose="020B0503020204020204" pitchFamily="34" charset="-122"/>
              <a:ea typeface="微软雅黑" panose="020B0503020204020204" pitchFamily="34" charset="-122"/>
            </a:endParaRPr>
          </a:p>
          <a:p>
            <a:pPr>
              <a:lnSpc>
                <a:spcPct val="150000"/>
              </a:lnSpc>
            </a:pP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段首漏过</a:t>
            </a:r>
            <a:endParaRPr kumimoji="1"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宋体" charset="0"/>
              </a:rPr>
              <a:t>某些策略会导致位于段首的日志产生漏过现象。比如必须到达累积阈值特征才生效，那么累积阈值之前的就都不过滤，会产生漏过现象。</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株连误过</a:t>
            </a:r>
            <a:endParaRPr kumimoji="1"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cs typeface="宋体" charset="0"/>
              </a:rPr>
              <a:t>某些策略会导致位于超出阈值部分的日志产生误过现象。</a:t>
            </a:r>
            <a:r>
              <a:rPr lang="zh-CN" altLang="zh-CN" dirty="0">
                <a:latin typeface="微软雅黑" panose="020B0503020204020204" pitchFamily="34" charset="-122"/>
                <a:ea typeface="微软雅黑" panose="020B0503020204020204" pitchFamily="34" charset="-122"/>
              </a:rPr>
              <a:t>比如过滤策略是超过阈值的部分过滤，则位于段后面的在阈值外的部分</a:t>
            </a:r>
            <a:r>
              <a:rPr lang="zh-CN" altLang="en-US" dirty="0">
                <a:latin typeface="微软雅黑" panose="020B0503020204020204" pitchFamily="34" charset="-122"/>
                <a:ea typeface="微软雅黑" panose="020B0503020204020204" pitchFamily="34" charset="-122"/>
              </a:rPr>
              <a:t>也会</a:t>
            </a:r>
            <a:r>
              <a:rPr lang="zh-CN" altLang="zh-CN" dirty="0">
                <a:latin typeface="微软雅黑" panose="020B0503020204020204" pitchFamily="34" charset="-122"/>
                <a:ea typeface="微软雅黑" panose="020B0503020204020204" pitchFamily="34" charset="-122"/>
              </a:rPr>
              <a:t>全过滤，这就会产生误过现象。 </a:t>
            </a:r>
            <a:endParaRPr lang="zh-CN" altLang="en-US" dirty="0">
              <a:latin typeface="微软雅黑" panose="020B0503020204020204" pitchFamily="34" charset="-122"/>
              <a:ea typeface="微软雅黑" panose="020B0503020204020204" pitchFamily="34" charset="-122"/>
            </a:endParaRPr>
          </a:p>
          <a:p>
            <a:pPr>
              <a:lnSpc>
                <a:spcPct val="150000"/>
              </a:lnSpc>
            </a:pPr>
            <a:endParaRPr kumimoji="1" lang="en-US" altLang="zh-CN" dirty="0">
              <a:latin typeface="微软雅黑" panose="020B0503020204020204" pitchFamily="34" charset="-122"/>
              <a:ea typeface="微软雅黑" panose="020B0503020204020204" pitchFamily="34" charset="-122"/>
            </a:endParaRPr>
          </a:p>
        </p:txBody>
      </p:sp>
      <p:sp>
        <p:nvSpPr>
          <p:cNvPr id="24" name="矩形 23"/>
          <p:cNvSpPr/>
          <p:nvPr/>
        </p:nvSpPr>
        <p:spPr>
          <a:xfrm>
            <a:off x="5059040" y="2639556"/>
            <a:ext cx="1826392" cy="249948"/>
          </a:xfrm>
          <a:prstGeom prst="rect">
            <a:avLst/>
          </a:prstGeom>
          <a:solidFill>
            <a:srgbClr val="0070C0"/>
          </a:solidFill>
          <a:ln w="15875" cap="flat" cmpd="sng" algn="ctr">
            <a:solidFill>
              <a:srgbClr val="1CADE4">
                <a:shade val="50000"/>
              </a:srgbClr>
            </a:solidFill>
            <a:prstDash val="solid"/>
          </a:ln>
          <a:effectLst/>
        </p:spPr>
        <p:txBody>
          <a:bodyPr rtlCol="0" anchor="ctr"/>
          <a:lstStyle/>
          <a:p>
            <a:pPr defTabSz="457200" fontAlgn="auto" hangingPunct="1">
              <a:spcBef>
                <a:spcPts val="0"/>
              </a:spcBef>
              <a:spcAft>
                <a:spcPts val="0"/>
              </a:spcAft>
            </a:pPr>
            <a:endParaRPr lang="zh-CN" altLang="en-US" sz="2400" kern="0">
              <a:solidFill>
                <a:prstClr val="white"/>
              </a:solidFill>
              <a:latin typeface="微软雅黑" panose="020B0503020204020204" pitchFamily="34" charset="-122"/>
              <a:ea typeface="微软雅黑" panose="020B0503020204020204" pitchFamily="34" charset="-122"/>
            </a:endParaRPr>
          </a:p>
        </p:txBody>
      </p:sp>
      <p:sp>
        <p:nvSpPr>
          <p:cNvPr id="25" name="右箭头 24"/>
          <p:cNvSpPr/>
          <p:nvPr/>
        </p:nvSpPr>
        <p:spPr>
          <a:xfrm rot="5400000" flipV="1">
            <a:off x="6650765" y="2334796"/>
            <a:ext cx="420623" cy="487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26" name="文本框 25"/>
          <p:cNvSpPr txBox="1"/>
          <p:nvPr/>
        </p:nvSpPr>
        <p:spPr>
          <a:xfrm>
            <a:off x="5821058" y="1559796"/>
            <a:ext cx="2988319" cy="369332"/>
          </a:xfrm>
          <a:prstGeom prst="rect">
            <a:avLst/>
          </a:prstGeom>
          <a:noFill/>
        </p:spPr>
        <p:txBody>
          <a:bodyPr wrap="none" rtlCol="0">
            <a:spAutoFit/>
          </a:bodyPr>
          <a:lstStyle/>
          <a:p>
            <a:r>
              <a:rPr kumimoji="1" lang="zh-CN" altLang="en-US" dirty="0"/>
              <a:t>累计特征达到阈值开始过滤</a:t>
            </a:r>
          </a:p>
        </p:txBody>
      </p:sp>
      <p:sp>
        <p:nvSpPr>
          <p:cNvPr id="27" name="矩形 26"/>
          <p:cNvSpPr/>
          <p:nvPr/>
        </p:nvSpPr>
        <p:spPr>
          <a:xfrm>
            <a:off x="6885431" y="2631101"/>
            <a:ext cx="3389433" cy="249948"/>
          </a:xfrm>
          <a:prstGeom prst="rect">
            <a:avLst/>
          </a:prstGeom>
          <a:solidFill>
            <a:srgbClr val="FF0000"/>
          </a:solidFill>
          <a:ln w="15875" cap="flat" cmpd="sng" algn="ctr">
            <a:solidFill>
              <a:srgbClr val="1CADE4">
                <a:shade val="50000"/>
              </a:srgbClr>
            </a:solidFill>
            <a:prstDash val="solid"/>
          </a:ln>
          <a:effectLst/>
        </p:spPr>
        <p:txBody>
          <a:bodyPr rtlCol="0" anchor="ctr"/>
          <a:lstStyle/>
          <a:p>
            <a:pPr defTabSz="457200" fontAlgn="auto" hangingPunct="1">
              <a:spcBef>
                <a:spcPts val="0"/>
              </a:spcBef>
              <a:spcAft>
                <a:spcPts val="0"/>
              </a:spcAft>
            </a:pPr>
            <a:endParaRPr lang="zh-CN" altLang="en-US" sz="2400" kern="0">
              <a:solidFill>
                <a:prstClr val="white"/>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5382476" y="2259318"/>
            <a:ext cx="877163" cy="369332"/>
          </a:xfrm>
          <a:prstGeom prst="rect">
            <a:avLst/>
          </a:prstGeom>
          <a:noFill/>
        </p:spPr>
        <p:txBody>
          <a:bodyPr wrap="none" rtlCol="0">
            <a:spAutoFit/>
          </a:bodyPr>
          <a:lstStyle/>
          <a:p>
            <a:r>
              <a:rPr kumimoji="1" lang="zh-CN" altLang="en-US" dirty="0"/>
              <a:t>阈值前</a:t>
            </a:r>
          </a:p>
        </p:txBody>
      </p:sp>
      <p:sp>
        <p:nvSpPr>
          <p:cNvPr id="29" name="文本框 28"/>
          <p:cNvSpPr txBox="1"/>
          <p:nvPr/>
        </p:nvSpPr>
        <p:spPr>
          <a:xfrm>
            <a:off x="7880521" y="2253314"/>
            <a:ext cx="877163" cy="369332"/>
          </a:xfrm>
          <a:prstGeom prst="rect">
            <a:avLst/>
          </a:prstGeom>
          <a:noFill/>
        </p:spPr>
        <p:txBody>
          <a:bodyPr wrap="none" rtlCol="0">
            <a:spAutoFit/>
          </a:bodyPr>
          <a:lstStyle/>
          <a:p>
            <a:r>
              <a:rPr kumimoji="1" lang="zh-CN" altLang="en-US" dirty="0"/>
              <a:t>阈值后</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sp>
        <p:nvSpPr>
          <p:cNvPr id="16" name="文本框 15"/>
          <p:cNvSpPr txBox="1"/>
          <p:nvPr/>
        </p:nvSpPr>
        <p:spPr>
          <a:xfrm>
            <a:off x="612990" y="1869666"/>
            <a:ext cx="11255922" cy="4662815"/>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特征</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定义：</a:t>
            </a:r>
            <a:r>
              <a:rPr lang="zh-CN" altLang="en-US" dirty="0">
                <a:latin typeface="微软雅黑" panose="020B0503020204020204" pitchFamily="34" charset="-122"/>
                <a:ea typeface="微软雅黑" panose="020B0503020204020204" pitchFamily="34" charset="-122"/>
                <a:cs typeface="宋体" charset="0"/>
              </a:rPr>
              <a:t>在反作弊的系统中，特征是从日志的某些维度中提取出来，用于区分一条日志作弊与否的信息。</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分类：</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基本特征：基于</a:t>
            </a:r>
            <a:r>
              <a:rPr kumimoji="1" lang="zh-CN" altLang="en-US" b="1" dirty="0">
                <a:latin typeface="微软雅黑" panose="020B0503020204020204" pitchFamily="34" charset="-122"/>
                <a:ea typeface="微软雅黑" panose="020B0503020204020204" pitchFamily="34" charset="-122"/>
              </a:rPr>
              <a:t>单条</a:t>
            </a:r>
            <a:r>
              <a:rPr kumimoji="1" lang="zh-CN" altLang="en-US" dirty="0">
                <a:latin typeface="微软雅黑" panose="020B0503020204020204" pitchFamily="34" charset="-122"/>
                <a:ea typeface="微软雅黑" panose="020B0503020204020204" pitchFamily="34" charset="-122"/>
              </a:rPr>
              <a:t>日志采集的特征</a:t>
            </a:r>
            <a:endParaRPr kumimoji="1"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err="1"/>
              <a:t>baiduid</a:t>
            </a:r>
            <a:r>
              <a:rPr lang="zh-CN" altLang="en-US" dirty="0"/>
              <a:t>新鲜度         </a:t>
            </a:r>
            <a:r>
              <a:rPr lang="en-US" altLang="zh-CN" dirty="0" err="1"/>
              <a:t>shifen</a:t>
            </a:r>
            <a:r>
              <a:rPr lang="zh-CN" altLang="en-US" dirty="0"/>
              <a:t> </a:t>
            </a:r>
            <a:r>
              <a:rPr lang="en-US" altLang="zh-CN" dirty="0"/>
              <a:t>cookie</a:t>
            </a:r>
            <a:r>
              <a:rPr lang="zh-CN" altLang="en-US" dirty="0"/>
              <a:t>        点展时间差               </a:t>
            </a:r>
            <a:r>
              <a:rPr lang="en-US" altLang="zh-CN" dirty="0"/>
              <a:t>ck</a:t>
            </a:r>
            <a:r>
              <a:rPr lang="zh-CN" altLang="en-US" dirty="0"/>
              <a:t>特征</a:t>
            </a:r>
            <a:endParaRPr lang="en-US" altLang="zh-CN" dirty="0"/>
          </a:p>
          <a:p>
            <a:pPr marL="285750"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统计特征：基于</a:t>
            </a:r>
            <a:r>
              <a:rPr kumimoji="1" lang="zh-CN" altLang="en-US" b="1" dirty="0">
                <a:latin typeface="微软雅黑" panose="020B0503020204020204" pitchFamily="34" charset="-122"/>
                <a:ea typeface="微软雅黑" panose="020B0503020204020204" pitchFamily="34" charset="-122"/>
              </a:rPr>
              <a:t>多条</a:t>
            </a:r>
            <a:r>
              <a:rPr kumimoji="1" lang="zh-CN" altLang="en-US" dirty="0">
                <a:latin typeface="微软雅黑" panose="020B0503020204020204" pitchFamily="34" charset="-122"/>
                <a:ea typeface="微软雅黑" panose="020B0503020204020204" pitchFamily="34" charset="-122"/>
              </a:rPr>
              <a:t>日志进行统计的特征</a:t>
            </a:r>
          </a:p>
          <a:p>
            <a:pPr fontAlgn="ctr">
              <a:lnSpc>
                <a:spcPct val="150000"/>
              </a:lnSpc>
            </a:pPr>
            <a:r>
              <a:rPr lang="zh-CN" altLang="zh-CN" dirty="0"/>
              <a:t>频次累积特征 </a:t>
            </a:r>
            <a:r>
              <a:rPr lang="en-US" altLang="zh-CN" dirty="0"/>
              <a:t>segment</a:t>
            </a:r>
            <a:r>
              <a:rPr lang="zh-CN" altLang="en-US" dirty="0"/>
              <a:t>                               </a:t>
            </a:r>
            <a:r>
              <a:rPr lang="zh-CN" altLang="zh-CN" dirty="0"/>
              <a:t>分布特征 </a:t>
            </a:r>
            <a:r>
              <a:rPr lang="en-US" altLang="zh-CN" dirty="0"/>
              <a:t>distribution</a:t>
            </a:r>
            <a:r>
              <a:rPr lang="zh-CN" altLang="en-US" dirty="0"/>
              <a:t>              </a:t>
            </a:r>
            <a:r>
              <a:rPr lang="zh-CN" altLang="zh-CN" dirty="0"/>
              <a:t>值累积特征 </a:t>
            </a:r>
            <a:r>
              <a:rPr lang="en-US" altLang="zh-CN" dirty="0" err="1"/>
              <a:t>sum_segment</a:t>
            </a:r>
            <a:endParaRPr lang="zh-CN" altLang="zh-CN" dirty="0"/>
          </a:p>
          <a:p>
            <a:pPr fontAlgn="ctr">
              <a:lnSpc>
                <a:spcPct val="150000"/>
              </a:lnSpc>
            </a:pPr>
            <a:r>
              <a:rPr lang="zh-CN" altLang="zh-CN" dirty="0"/>
              <a:t>数目分布特征 </a:t>
            </a:r>
            <a:r>
              <a:rPr lang="en-US" altLang="zh-CN" dirty="0" err="1"/>
              <a:t>count_distribution</a:t>
            </a:r>
            <a:r>
              <a:rPr lang="zh-CN" altLang="en-US" dirty="0"/>
              <a:t>                </a:t>
            </a:r>
            <a:r>
              <a:rPr lang="zh-CN" altLang="zh-CN" dirty="0"/>
              <a:t>多段累积特征 </a:t>
            </a:r>
            <a:r>
              <a:rPr lang="en-US" altLang="zh-CN" dirty="0" err="1"/>
              <a:t>multi_seg</a:t>
            </a:r>
            <a:r>
              <a:rPr lang="zh-CN" altLang="en-US" dirty="0"/>
              <a:t>          </a:t>
            </a:r>
            <a:r>
              <a:rPr lang="zh-CN" altLang="zh-CN" dirty="0"/>
              <a:t>去重数目分布</a:t>
            </a:r>
            <a:r>
              <a:rPr lang="en-US" altLang="zh-CN" dirty="0" err="1"/>
              <a:t>distinct_distribution</a:t>
            </a:r>
            <a:endParaRPr lang="zh-CN" altLang="zh-CN" dirty="0"/>
          </a:p>
          <a:p>
            <a:pPr fontAlgn="ctr">
              <a:lnSpc>
                <a:spcPct val="150000"/>
              </a:lnSpc>
            </a:pPr>
            <a:r>
              <a:rPr lang="zh-CN" altLang="zh-CN" dirty="0"/>
              <a:t>自动黑名单数目特征 </a:t>
            </a:r>
            <a:r>
              <a:rPr lang="en-US" altLang="zh-CN" dirty="0" err="1"/>
              <a:t>auto_segment</a:t>
            </a:r>
            <a:r>
              <a:rPr lang="zh-CN" altLang="en-US" dirty="0"/>
              <a:t>           </a:t>
            </a:r>
            <a:r>
              <a:rPr lang="zh-CN" altLang="zh-CN" dirty="0"/>
              <a:t>去重数目特征 </a:t>
            </a:r>
            <a:r>
              <a:rPr lang="en-US" altLang="zh-CN" dirty="0"/>
              <a:t>distinct</a:t>
            </a:r>
            <a:r>
              <a:rPr lang="zh-CN" altLang="en-US" dirty="0"/>
              <a:t>              </a:t>
            </a:r>
            <a:r>
              <a:rPr lang="zh-CN" altLang="zh-CN" dirty="0"/>
              <a:t>比例特征 </a:t>
            </a:r>
            <a:r>
              <a:rPr lang="en-US" altLang="zh-CN" dirty="0"/>
              <a:t>ratio</a:t>
            </a:r>
            <a:endParaRPr lang="zh-CN" altLang="zh-CN" dirty="0"/>
          </a:p>
          <a:p>
            <a:pPr fontAlgn="ctr">
              <a:lnSpc>
                <a:spcPct val="150000"/>
              </a:lnSpc>
            </a:pPr>
            <a:r>
              <a:rPr lang="zh-CN" altLang="zh-CN" dirty="0"/>
              <a:t>名单特征 </a:t>
            </a:r>
            <a:r>
              <a:rPr lang="en-US" altLang="zh-CN" dirty="0" err="1"/>
              <a:t>file_dict</a:t>
            </a:r>
            <a:r>
              <a:rPr lang="zh-CN" altLang="en-US" dirty="0"/>
              <a:t>                                        </a:t>
            </a:r>
            <a:r>
              <a:rPr lang="zh-CN" altLang="zh-CN" dirty="0"/>
              <a:t>自动黑名单比例特征 </a:t>
            </a:r>
            <a:r>
              <a:rPr lang="en-US" altLang="zh-CN" dirty="0" err="1"/>
              <a:t>auto_ratio</a:t>
            </a:r>
            <a:endParaRPr lang="zh-CN" altLang="zh-CN" dirty="0"/>
          </a:p>
          <a:p>
            <a:pPr fontAlgn="ctr">
              <a:lnSpc>
                <a:spcPct val="150000"/>
              </a:lnSpc>
            </a:pPr>
            <a:r>
              <a:rPr lang="zh-CN" altLang="zh-CN" dirty="0"/>
              <a:t>处理空间特征 </a:t>
            </a:r>
            <a:r>
              <a:rPr lang="en-US" altLang="zh-CN" dirty="0" err="1"/>
              <a:t>carespace</a:t>
            </a:r>
            <a:r>
              <a:rPr lang="zh-CN" altLang="en-US" dirty="0"/>
              <a:t>                             </a:t>
            </a:r>
            <a:r>
              <a:rPr lang="zh-CN" altLang="zh-CN" dirty="0"/>
              <a:t>集中度特征 </a:t>
            </a:r>
            <a:r>
              <a:rPr lang="en-US" altLang="zh-CN" dirty="0"/>
              <a:t>concentration</a:t>
            </a:r>
            <a:r>
              <a:rPr lang="zh-CN" altLang="en-US" dirty="0"/>
              <a:t>       </a:t>
            </a:r>
            <a:r>
              <a:rPr lang="zh-CN" altLang="zh-CN" dirty="0"/>
              <a:t>时差特征 </a:t>
            </a:r>
            <a:r>
              <a:rPr lang="en-US" altLang="zh-CN" dirty="0" err="1"/>
              <a:t>timediff</a:t>
            </a:r>
            <a:endParaRPr lang="zh-CN"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sp>
        <p:nvSpPr>
          <p:cNvPr id="16" name="文本框 15"/>
          <p:cNvSpPr txBox="1"/>
          <p:nvPr/>
        </p:nvSpPr>
        <p:spPr>
          <a:xfrm>
            <a:off x="612990" y="1869666"/>
            <a:ext cx="11255922" cy="3789564"/>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dirty="0"/>
              <a:t>基本特征：</a:t>
            </a:r>
            <a:r>
              <a:rPr lang="en-US" altLang="zh-CN" dirty="0" err="1"/>
              <a:t>baiduid</a:t>
            </a:r>
            <a:r>
              <a:rPr lang="zh-CN" altLang="en-US" dirty="0"/>
              <a:t>新鲜度</a:t>
            </a:r>
            <a:endParaRPr lang="en-US" altLang="zh-CN" dirty="0"/>
          </a:p>
          <a:p>
            <a:pPr marL="285750" indent="-285750">
              <a:lnSpc>
                <a:spcPct val="150000"/>
              </a:lnSpc>
              <a:buFont typeface="Wingdings" panose="05000000000000000000" pitchFamily="2" charset="2"/>
              <a:buChar char="l"/>
            </a:pPr>
            <a:r>
              <a:rPr lang="en-US" altLang="zh-CN" dirty="0" err="1"/>
              <a:t>baiduid</a:t>
            </a:r>
            <a:r>
              <a:rPr lang="zh-CN" altLang="en-US" dirty="0"/>
              <a:t>：新用户访问百度产品后，将根据用户当前</a:t>
            </a:r>
            <a:r>
              <a:rPr lang="en-GB" altLang="zh-CN" dirty="0" err="1"/>
              <a:t>clientip</a:t>
            </a:r>
            <a:r>
              <a:rPr lang="en-GB" altLang="zh-CN" dirty="0"/>
              <a:t> + </a:t>
            </a:r>
            <a:r>
              <a:rPr lang="en-GB" altLang="zh-CN" dirty="0" err="1"/>
              <a:t>reqtime</a:t>
            </a:r>
            <a:r>
              <a:rPr lang="en-GB" altLang="zh-CN" dirty="0"/>
              <a:t> + rand + checksum (</a:t>
            </a:r>
            <a:r>
              <a:rPr lang="zh-CN" altLang="en-US" dirty="0"/>
              <a:t>校验值</a:t>
            </a:r>
            <a:r>
              <a:rPr lang="en-US" altLang="zh-CN" dirty="0"/>
              <a:t>) </a:t>
            </a:r>
            <a:r>
              <a:rPr lang="zh-CN" altLang="en-GB" dirty="0"/>
              <a:t>，</a:t>
            </a:r>
            <a:r>
              <a:rPr lang="zh-CN" altLang="en-US" dirty="0"/>
              <a:t>生成一个</a:t>
            </a:r>
            <a:r>
              <a:rPr lang="en-US" altLang="zh-CN" dirty="0"/>
              <a:t>32</a:t>
            </a:r>
            <a:r>
              <a:rPr lang="zh-CN" altLang="en-US" dirty="0"/>
              <a:t>位的字符串，存在本地</a:t>
            </a:r>
            <a:r>
              <a:rPr lang="en-GB" altLang="zh-CN" dirty="0"/>
              <a:t>cookie</a:t>
            </a:r>
            <a:r>
              <a:rPr lang="zh-CN" altLang="en-US" dirty="0"/>
              <a:t>中，也被叫做</a:t>
            </a:r>
            <a:r>
              <a:rPr lang="en-GB" altLang="zh-CN" dirty="0" err="1"/>
              <a:t>baiduid</a:t>
            </a:r>
            <a:r>
              <a:rPr lang="zh-CN" altLang="en-GB" dirty="0"/>
              <a:t>。</a:t>
            </a:r>
            <a:r>
              <a:rPr lang="zh-CN" altLang="en-US" dirty="0"/>
              <a:t>用户不清缓存的情况下，</a:t>
            </a:r>
            <a:r>
              <a:rPr lang="en-GB" altLang="zh-CN" dirty="0" err="1"/>
              <a:t>baiduid</a:t>
            </a:r>
            <a:r>
              <a:rPr lang="zh-CN" altLang="en-US" dirty="0"/>
              <a:t>保持不变，因此可用来唯一标识用户。</a:t>
            </a:r>
            <a:endParaRPr lang="en-US" altLang="zh-CN" dirty="0"/>
          </a:p>
          <a:p>
            <a:pPr marL="285750" indent="-285750">
              <a:lnSpc>
                <a:spcPct val="150000"/>
              </a:lnSpc>
              <a:buFont typeface="Wingdings" panose="05000000000000000000" pitchFamily="2" charset="2"/>
              <a:buChar char="l"/>
            </a:pPr>
            <a:r>
              <a:rPr lang="en-US" altLang="zh-CN" dirty="0" err="1"/>
              <a:t>baiduid</a:t>
            </a:r>
            <a:r>
              <a:rPr lang="zh-CN" altLang="en-US" dirty="0"/>
              <a:t>新鲜度：当前的点击或者检索时间减去浏览器</a:t>
            </a:r>
            <a:r>
              <a:rPr lang="en-GB" altLang="zh-CN" dirty="0" err="1"/>
              <a:t>baiduid</a:t>
            </a:r>
            <a:r>
              <a:rPr lang="zh-CN" altLang="en-US" dirty="0"/>
              <a:t>生成的时间。</a:t>
            </a:r>
            <a:endParaRPr lang="en-US" altLang="zh-CN" dirty="0"/>
          </a:p>
          <a:p>
            <a:pPr marL="285750" indent="-285750">
              <a:lnSpc>
                <a:spcPct val="150000"/>
              </a:lnSpc>
              <a:buFont typeface="Wingdings" panose="05000000000000000000" pitchFamily="2" charset="2"/>
              <a:buChar char="l"/>
            </a:pPr>
            <a:r>
              <a:rPr lang="zh-CN" altLang="en-US" dirty="0"/>
              <a:t>应用</a:t>
            </a:r>
            <a:endParaRPr lang="en-US" altLang="zh-CN" dirty="0"/>
          </a:p>
          <a:p>
            <a:pPr marL="742950" lvl="1" indent="-285750">
              <a:lnSpc>
                <a:spcPct val="150000"/>
              </a:lnSpc>
              <a:buFont typeface="Wingdings" panose="05000000000000000000" pitchFamily="2" charset="2"/>
              <a:buChar char="l"/>
            </a:pPr>
            <a:r>
              <a:rPr lang="zh-CN" altLang="en-US" dirty="0"/>
              <a:t>常见作弊表现为清</a:t>
            </a:r>
            <a:r>
              <a:rPr lang="en-GB" altLang="zh-CN" dirty="0"/>
              <a:t>cookie</a:t>
            </a:r>
            <a:r>
              <a:rPr lang="zh-CN" altLang="en-GB" dirty="0"/>
              <a:t>，</a:t>
            </a:r>
            <a:r>
              <a:rPr lang="zh-CN" altLang="en-US" dirty="0"/>
              <a:t>在特征上表现为</a:t>
            </a:r>
            <a:r>
              <a:rPr lang="en-GB" altLang="zh-CN" b="1" dirty="0" err="1">
                <a:solidFill>
                  <a:srgbClr val="0070C0"/>
                </a:solidFill>
              </a:rPr>
              <a:t>baiduid</a:t>
            </a:r>
            <a:r>
              <a:rPr lang="zh-CN" altLang="en-US" b="1" dirty="0">
                <a:solidFill>
                  <a:srgbClr val="0070C0"/>
                </a:solidFill>
              </a:rPr>
              <a:t>新鲜度较小</a:t>
            </a:r>
            <a:r>
              <a:rPr lang="zh-CN" altLang="en-US" dirty="0"/>
              <a:t>。</a:t>
            </a:r>
            <a:endParaRPr lang="en-US" altLang="zh-CN" dirty="0"/>
          </a:p>
          <a:p>
            <a:pPr marL="742950" lvl="1" indent="-285750">
              <a:lnSpc>
                <a:spcPct val="150000"/>
              </a:lnSpc>
              <a:buFont typeface="Wingdings" panose="05000000000000000000" pitchFamily="2" charset="2"/>
              <a:buChar char="l"/>
            </a:pPr>
            <a:r>
              <a:rPr lang="zh-CN" altLang="en-US" dirty="0"/>
              <a:t>但是，网吧计费名下，新</a:t>
            </a:r>
            <a:r>
              <a:rPr lang="en-GB" altLang="zh-CN" dirty="0"/>
              <a:t>cookie</a:t>
            </a:r>
            <a:r>
              <a:rPr lang="zh-CN" altLang="en-US" dirty="0"/>
              <a:t>比例高。这是因为退出登陆后，系统清了缓存。同理，重装系统时因为系统清了缓存，装机词、以及相关</a:t>
            </a:r>
            <a:r>
              <a:rPr lang="en-GB" altLang="zh-CN" dirty="0" err="1"/>
              <a:t>userid</a:t>
            </a:r>
            <a:r>
              <a:rPr lang="zh-CN" altLang="en-GB" dirty="0"/>
              <a:t>，</a:t>
            </a:r>
            <a:r>
              <a:rPr lang="zh-CN" altLang="en-US" dirty="0"/>
              <a:t>新</a:t>
            </a:r>
            <a:r>
              <a:rPr lang="en-GB" altLang="zh-CN" dirty="0"/>
              <a:t>cookie</a:t>
            </a:r>
            <a:r>
              <a:rPr lang="zh-CN" altLang="en-US" dirty="0"/>
              <a:t>比例也偏高。</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sp>
        <p:nvSpPr>
          <p:cNvPr id="16" name="文本框 15"/>
          <p:cNvSpPr txBox="1"/>
          <p:nvPr/>
        </p:nvSpPr>
        <p:spPr>
          <a:xfrm>
            <a:off x="612990" y="1869666"/>
            <a:ext cx="11255922" cy="129657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dirty="0"/>
              <a:t>基本特征：点展时间差</a:t>
            </a:r>
            <a:endParaRPr lang="en-US" altLang="zh-CN" dirty="0"/>
          </a:p>
          <a:p>
            <a:pPr marL="742950" lvl="1" indent="-285750">
              <a:lnSpc>
                <a:spcPct val="150000"/>
              </a:lnSpc>
              <a:buFont typeface="Wingdings" panose="05000000000000000000" pitchFamily="2" charset="2"/>
              <a:buChar char="l"/>
            </a:pPr>
            <a:r>
              <a:rPr lang="zh-CN" altLang="en-US" dirty="0"/>
              <a:t>广告从搜索展现到最后点击的时间差</a:t>
            </a:r>
            <a:endParaRPr lang="en-US" altLang="zh-CN" dirty="0"/>
          </a:p>
          <a:p>
            <a:pPr marL="742950" lvl="1" indent="-285750">
              <a:lnSpc>
                <a:spcPct val="150000"/>
              </a:lnSpc>
              <a:buFont typeface="Wingdings" panose="05000000000000000000" pitchFamily="2" charset="2"/>
              <a:buChar char="l"/>
            </a:pPr>
            <a:r>
              <a:rPr lang="zh-CN" altLang="en-US" dirty="0"/>
              <a:t>点展时间差与广告样式、展现位置相关</a:t>
            </a:r>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sp>
        <p:nvSpPr>
          <p:cNvPr id="16" name="文本框 15"/>
          <p:cNvSpPr txBox="1"/>
          <p:nvPr/>
        </p:nvSpPr>
        <p:spPr>
          <a:xfrm>
            <a:off x="612990" y="1869666"/>
            <a:ext cx="11255922" cy="129657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dirty="0"/>
              <a:t>基本特征：</a:t>
            </a:r>
            <a:r>
              <a:rPr lang="en-US" altLang="zh-CN" dirty="0"/>
              <a:t>ck</a:t>
            </a:r>
            <a:r>
              <a:rPr lang="zh-CN" altLang="en-US" dirty="0"/>
              <a:t>特征</a:t>
            </a:r>
            <a:endParaRPr lang="en-US" altLang="zh-CN" dirty="0"/>
          </a:p>
          <a:p>
            <a:pPr marL="285750" indent="-285750">
              <a:lnSpc>
                <a:spcPct val="150000"/>
              </a:lnSpc>
              <a:buFont typeface="Wingdings" panose="05000000000000000000" pitchFamily="2" charset="2"/>
              <a:buChar char="l"/>
            </a:pPr>
            <a:r>
              <a:rPr lang="zh-CN" altLang="en-US" dirty="0"/>
              <a:t>描述鼠标点击行为，反映了网民浏览器前端行为特征集合，搜索引擎利用</a:t>
            </a:r>
            <a:r>
              <a:rPr lang="en-US" altLang="zh-CN" dirty="0" err="1"/>
              <a:t>js</a:t>
            </a:r>
            <a:r>
              <a:rPr lang="zh-CN" altLang="en-US" dirty="0"/>
              <a:t>记录，将其信息加载点击</a:t>
            </a:r>
            <a:r>
              <a:rPr lang="en-US" altLang="zh-CN" dirty="0" err="1"/>
              <a:t>url</a:t>
            </a:r>
            <a:r>
              <a:rPr lang="zh-CN" altLang="en-US" dirty="0"/>
              <a:t>串中给后端供后端使用。</a:t>
            </a:r>
            <a:endParaRPr lang="en-US" altLang="zh-CN" dirty="0"/>
          </a:p>
        </p:txBody>
      </p:sp>
      <p:graphicFrame>
        <p:nvGraphicFramePr>
          <p:cNvPr id="9" name="表格 8"/>
          <p:cNvGraphicFramePr>
            <a:graphicFrameLocks noGrp="1"/>
          </p:cNvGraphicFramePr>
          <p:nvPr/>
        </p:nvGraphicFramePr>
        <p:xfrm>
          <a:off x="3057426" y="2868719"/>
          <a:ext cx="3241774" cy="3026669"/>
        </p:xfrm>
        <a:graphic>
          <a:graphicData uri="http://schemas.openxmlformats.org/drawingml/2006/table">
            <a:tbl>
              <a:tblPr firstRow="1" bandRow="1">
                <a:tableStyleId>{69012ECD-51FC-41F1-AA8D-1B2483CD663E}</a:tableStyleId>
              </a:tblPr>
              <a:tblGrid>
                <a:gridCol w="570060">
                  <a:extLst>
                    <a:ext uri="{9D8B030D-6E8A-4147-A177-3AD203B41FA5}">
                      <a16:colId xmlns:a16="http://schemas.microsoft.com/office/drawing/2014/main" val="20000"/>
                    </a:ext>
                  </a:extLst>
                </a:gridCol>
                <a:gridCol w="2671714">
                  <a:extLst>
                    <a:ext uri="{9D8B030D-6E8A-4147-A177-3AD203B41FA5}">
                      <a16:colId xmlns:a16="http://schemas.microsoft.com/office/drawing/2014/main" val="20001"/>
                    </a:ext>
                  </a:extLst>
                </a:gridCol>
              </a:tblGrid>
              <a:tr h="285949">
                <a:tc>
                  <a:txBody>
                    <a:bodyPr/>
                    <a:lstStyle/>
                    <a:p>
                      <a:pPr algn="ctr"/>
                      <a:r>
                        <a:rPr lang="zh-CN" altLang="en-US" sz="900" dirty="0"/>
                        <a:t>字段</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tc>
                  <a:txBody>
                    <a:bodyPr/>
                    <a:lstStyle/>
                    <a:p>
                      <a:pPr algn="ctr"/>
                      <a:r>
                        <a:rPr lang="zh-CN" altLang="en-US" sz="900" dirty="0"/>
                        <a:t>解释</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extLst>
                  <a:ext uri="{0D108BD9-81ED-4DB2-BD59-A6C34878D82A}">
                    <a16:rowId xmlns:a16="http://schemas.microsoft.com/office/drawing/2014/main" val="10000"/>
                  </a:ext>
                </a:extLst>
              </a:tr>
              <a:tr h="342590">
                <a:tc>
                  <a:txBody>
                    <a:bodyPr/>
                    <a:lstStyle/>
                    <a:p>
                      <a:pPr algn="ctr"/>
                      <a:r>
                        <a:rPr lang="en-US" altLang="zh-CN" sz="900" dirty="0"/>
                        <a:t>ck0</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tc>
                  <a:txBody>
                    <a:bodyPr/>
                    <a:lstStyle/>
                    <a:p>
                      <a:pPr algn="ctr"/>
                      <a:r>
                        <a:rPr lang="zh-CN" altLang="en-US" sz="900" dirty="0"/>
                        <a:t>校验</a:t>
                      </a:r>
                      <a:r>
                        <a:rPr lang="en-US" altLang="zh-CN" sz="900" dirty="0"/>
                        <a:t>CRC</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extLst>
                  <a:ext uri="{0D108BD9-81ED-4DB2-BD59-A6C34878D82A}">
                    <a16:rowId xmlns:a16="http://schemas.microsoft.com/office/drawing/2014/main" val="10001"/>
                  </a:ext>
                </a:extLst>
              </a:tr>
              <a:tr h="342590">
                <a:tc>
                  <a:txBody>
                    <a:bodyPr/>
                    <a:lstStyle/>
                    <a:p>
                      <a:pPr algn="ctr"/>
                      <a:r>
                        <a:rPr lang="en-US" altLang="zh-CN" sz="900" dirty="0"/>
                        <a:t>ck1</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tc>
                  <a:txBody>
                    <a:bodyPr/>
                    <a:lstStyle/>
                    <a:p>
                      <a:pPr algn="ctr"/>
                      <a:r>
                        <a:rPr lang="zh-CN" altLang="en-US" sz="900" dirty="0"/>
                        <a:t>鼠标在广告区域移动次数</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extLst>
                  <a:ext uri="{0D108BD9-81ED-4DB2-BD59-A6C34878D82A}">
                    <a16:rowId xmlns:a16="http://schemas.microsoft.com/office/drawing/2014/main" val="10002"/>
                  </a:ext>
                </a:extLst>
              </a:tr>
              <a:tr h="342590">
                <a:tc>
                  <a:txBody>
                    <a:bodyPr/>
                    <a:lstStyle/>
                    <a:p>
                      <a:pPr algn="ctr"/>
                      <a:r>
                        <a:rPr lang="en-US" altLang="zh-CN" sz="900" dirty="0"/>
                        <a:t>ck2</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tc>
                  <a:txBody>
                    <a:bodyPr/>
                    <a:lstStyle/>
                    <a:p>
                      <a:pPr algn="ctr"/>
                      <a:r>
                        <a:rPr lang="zh-CN" altLang="en-US" sz="900" dirty="0"/>
                        <a:t>按下弹起时间差</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extLst>
                  <a:ext uri="{0D108BD9-81ED-4DB2-BD59-A6C34878D82A}">
                    <a16:rowId xmlns:a16="http://schemas.microsoft.com/office/drawing/2014/main" val="10003"/>
                  </a:ext>
                </a:extLst>
              </a:tr>
              <a:tr h="342590">
                <a:tc>
                  <a:txBody>
                    <a:bodyPr/>
                    <a:lstStyle/>
                    <a:p>
                      <a:pPr algn="ctr"/>
                      <a:r>
                        <a:rPr lang="en-US" altLang="zh-CN" sz="900" dirty="0"/>
                        <a:t>ck3</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tc>
                  <a:txBody>
                    <a:bodyPr/>
                    <a:lstStyle/>
                    <a:p>
                      <a:pPr algn="ctr"/>
                      <a:r>
                        <a:rPr lang="zh-CN" altLang="en-US" sz="900" dirty="0"/>
                        <a:t>点击事件点击</a:t>
                      </a:r>
                      <a:r>
                        <a:rPr lang="en-US" altLang="zh-CN" sz="900" dirty="0"/>
                        <a:t>X</a:t>
                      </a:r>
                      <a:r>
                        <a:rPr lang="zh-CN" altLang="en-US" sz="900" dirty="0"/>
                        <a:t>坐标</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extLst>
                  <a:ext uri="{0D108BD9-81ED-4DB2-BD59-A6C34878D82A}">
                    <a16:rowId xmlns:a16="http://schemas.microsoft.com/office/drawing/2014/main" val="10004"/>
                  </a:ext>
                </a:extLst>
              </a:tr>
              <a:tr h="342590">
                <a:tc>
                  <a:txBody>
                    <a:bodyPr/>
                    <a:lstStyle/>
                    <a:p>
                      <a:pPr algn="ctr"/>
                      <a:r>
                        <a:rPr lang="en-US" altLang="zh-CN" sz="900" dirty="0"/>
                        <a:t>ck4</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tc>
                  <a:txBody>
                    <a:bodyPr/>
                    <a:lstStyle/>
                    <a:p>
                      <a:pPr algn="ctr"/>
                      <a:r>
                        <a:rPr lang="zh-CN" altLang="en-US" sz="900" dirty="0"/>
                        <a:t>点击事件点击</a:t>
                      </a:r>
                      <a:r>
                        <a:rPr lang="en-US" altLang="zh-CN" sz="900" dirty="0"/>
                        <a:t>Y</a:t>
                      </a:r>
                      <a:r>
                        <a:rPr lang="zh-CN" altLang="en-US" sz="900" dirty="0"/>
                        <a:t>坐标</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extLst>
                  <a:ext uri="{0D108BD9-81ED-4DB2-BD59-A6C34878D82A}">
                    <a16:rowId xmlns:a16="http://schemas.microsoft.com/office/drawing/2014/main" val="10005"/>
                  </a:ext>
                </a:extLst>
              </a:tr>
              <a:tr h="342590">
                <a:tc>
                  <a:txBody>
                    <a:bodyPr/>
                    <a:lstStyle/>
                    <a:p>
                      <a:pPr algn="ctr"/>
                      <a:r>
                        <a:rPr lang="en-US" altLang="zh-CN" sz="900" dirty="0"/>
                        <a:t>ck5</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tc>
                  <a:txBody>
                    <a:bodyPr/>
                    <a:lstStyle/>
                    <a:p>
                      <a:pPr algn="ctr"/>
                      <a:r>
                        <a:rPr lang="zh-CN" altLang="en-US" sz="900" dirty="0"/>
                        <a:t>鼠标首次移入广告区域的</a:t>
                      </a:r>
                      <a:r>
                        <a:rPr lang="en-US" altLang="zh-CN" sz="900" dirty="0"/>
                        <a:t>x</a:t>
                      </a:r>
                      <a:r>
                        <a:rPr lang="zh-CN" altLang="en-US" sz="900" dirty="0"/>
                        <a:t>坐标</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extLst>
                  <a:ext uri="{0D108BD9-81ED-4DB2-BD59-A6C34878D82A}">
                    <a16:rowId xmlns:a16="http://schemas.microsoft.com/office/drawing/2014/main" val="10006"/>
                  </a:ext>
                </a:extLst>
              </a:tr>
              <a:tr h="342590">
                <a:tc>
                  <a:txBody>
                    <a:bodyPr/>
                    <a:lstStyle/>
                    <a:p>
                      <a:pPr algn="ctr"/>
                      <a:r>
                        <a:rPr lang="en-US" altLang="zh-CN" sz="900" dirty="0"/>
                        <a:t>ck6</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tc>
                  <a:txBody>
                    <a:bodyPr/>
                    <a:lstStyle/>
                    <a:p>
                      <a:pPr algn="ctr"/>
                      <a:r>
                        <a:rPr lang="zh-CN" altLang="en-US" sz="900" dirty="0"/>
                        <a:t>鼠标首次移入广告区域的</a:t>
                      </a:r>
                      <a:r>
                        <a:rPr lang="en-US" altLang="zh-CN" sz="900" dirty="0"/>
                        <a:t>y</a:t>
                      </a:r>
                      <a:r>
                        <a:rPr lang="zh-CN" altLang="en-US" sz="900" dirty="0"/>
                        <a:t>坐标</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extLst>
                  <a:ext uri="{0D108BD9-81ED-4DB2-BD59-A6C34878D82A}">
                    <a16:rowId xmlns:a16="http://schemas.microsoft.com/office/drawing/2014/main" val="10007"/>
                  </a:ext>
                </a:extLst>
              </a:tr>
              <a:tr h="342590">
                <a:tc>
                  <a:txBody>
                    <a:bodyPr/>
                    <a:lstStyle/>
                    <a:p>
                      <a:pPr algn="ctr"/>
                      <a:r>
                        <a:rPr lang="en-US" altLang="zh-CN" sz="900" dirty="0"/>
                        <a:t>ck7</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tc>
                  <a:txBody>
                    <a:bodyPr/>
                    <a:lstStyle/>
                    <a:p>
                      <a:pPr algn="ctr"/>
                      <a:r>
                        <a:rPr lang="zh-CN" altLang="en-US" sz="900" dirty="0"/>
                        <a:t>鼠标移入广告区域到点击的时间间隔</a:t>
                      </a:r>
                      <a:endParaRPr lang="zh-CN" altLang="en-US" sz="900" dirty="0">
                        <a:latin typeface="微软雅黑" panose="020B0503020204020204" pitchFamily="34" charset="-122"/>
                        <a:ea typeface="微软雅黑" panose="020B0503020204020204" pitchFamily="34" charset="-122"/>
                      </a:endParaRPr>
                    </a:p>
                  </a:txBody>
                  <a:tcPr marL="75667" marR="75667" marT="37833" marB="37833" anchor="ctr"/>
                </a:tc>
                <a:extLst>
                  <a:ext uri="{0D108BD9-81ED-4DB2-BD59-A6C34878D82A}">
                    <a16:rowId xmlns:a16="http://schemas.microsoft.com/office/drawing/2014/main" val="10008"/>
                  </a:ext>
                </a:extLst>
              </a:tr>
            </a:tbl>
          </a:graphicData>
        </a:graphic>
      </p:graphicFrame>
      <p:graphicFrame>
        <p:nvGraphicFramePr>
          <p:cNvPr id="11" name="表格 10"/>
          <p:cNvGraphicFramePr>
            <a:graphicFrameLocks noGrp="1"/>
          </p:cNvGraphicFramePr>
          <p:nvPr/>
        </p:nvGraphicFramePr>
        <p:xfrm>
          <a:off x="6454748" y="2868719"/>
          <a:ext cx="3342415" cy="3026664"/>
        </p:xfrm>
        <a:graphic>
          <a:graphicData uri="http://schemas.openxmlformats.org/drawingml/2006/table">
            <a:tbl>
              <a:tblPr firstRow="1" bandRow="1">
                <a:tableStyleId>{69012ECD-51FC-41F1-AA8D-1B2483CD663E}</a:tableStyleId>
              </a:tblPr>
              <a:tblGrid>
                <a:gridCol w="736465">
                  <a:extLst>
                    <a:ext uri="{9D8B030D-6E8A-4147-A177-3AD203B41FA5}">
                      <a16:colId xmlns:a16="http://schemas.microsoft.com/office/drawing/2014/main" val="20000"/>
                    </a:ext>
                  </a:extLst>
                </a:gridCol>
                <a:gridCol w="2605950">
                  <a:extLst>
                    <a:ext uri="{9D8B030D-6E8A-4147-A177-3AD203B41FA5}">
                      <a16:colId xmlns:a16="http://schemas.microsoft.com/office/drawing/2014/main" val="20001"/>
                    </a:ext>
                  </a:extLst>
                </a:gridCol>
              </a:tblGrid>
              <a:tr h="252222">
                <a:tc>
                  <a:txBody>
                    <a:bodyPr/>
                    <a:lstStyle/>
                    <a:p>
                      <a:pPr algn="ctr"/>
                      <a:r>
                        <a:rPr lang="zh-CN" altLang="en-US" sz="900" dirty="0"/>
                        <a:t>字段</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tc>
                  <a:txBody>
                    <a:bodyPr/>
                    <a:lstStyle/>
                    <a:p>
                      <a:pPr algn="ctr"/>
                      <a:r>
                        <a:rPr lang="zh-CN" altLang="en-US" sz="900" dirty="0"/>
                        <a:t>解释</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extLst>
                  <a:ext uri="{0D108BD9-81ED-4DB2-BD59-A6C34878D82A}">
                    <a16:rowId xmlns:a16="http://schemas.microsoft.com/office/drawing/2014/main" val="10000"/>
                  </a:ext>
                </a:extLst>
              </a:tr>
              <a:tr h="252222">
                <a:tc>
                  <a:txBody>
                    <a:bodyPr/>
                    <a:lstStyle/>
                    <a:p>
                      <a:pPr algn="ctr"/>
                      <a:r>
                        <a:rPr lang="en-US" altLang="zh-CN" sz="900" dirty="0"/>
                        <a:t>ck0</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tc>
                  <a:txBody>
                    <a:bodyPr/>
                    <a:lstStyle/>
                    <a:p>
                      <a:pPr algn="ctr"/>
                      <a:r>
                        <a:rPr lang="zh-CN" altLang="en-US" sz="900" dirty="0"/>
                        <a:t>校验</a:t>
                      </a:r>
                      <a:r>
                        <a:rPr lang="en-US" altLang="zh-CN" sz="900" dirty="0"/>
                        <a:t>CRC</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extLst>
                  <a:ext uri="{0D108BD9-81ED-4DB2-BD59-A6C34878D82A}">
                    <a16:rowId xmlns:a16="http://schemas.microsoft.com/office/drawing/2014/main" val="10001"/>
                  </a:ext>
                </a:extLst>
              </a:tr>
              <a:tr h="252222">
                <a:tc>
                  <a:txBody>
                    <a:bodyPr/>
                    <a:lstStyle/>
                    <a:p>
                      <a:pPr algn="ctr"/>
                      <a:r>
                        <a:rPr lang="en-US" altLang="zh-CN" sz="900" dirty="0"/>
                        <a:t>ck1</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tc>
                  <a:txBody>
                    <a:bodyPr/>
                    <a:lstStyle/>
                    <a:p>
                      <a:pPr algn="ctr"/>
                      <a:r>
                        <a:rPr lang="zh-CN" altLang="en-US" sz="900" dirty="0"/>
                        <a:t>按下弹起时间差</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extLst>
                  <a:ext uri="{0D108BD9-81ED-4DB2-BD59-A6C34878D82A}">
                    <a16:rowId xmlns:a16="http://schemas.microsoft.com/office/drawing/2014/main" val="10002"/>
                  </a:ext>
                </a:extLst>
              </a:tr>
              <a:tr h="252222">
                <a:tc>
                  <a:txBody>
                    <a:bodyPr/>
                    <a:lstStyle/>
                    <a:p>
                      <a:pPr algn="ctr"/>
                      <a:r>
                        <a:rPr lang="en-US" altLang="zh-CN" sz="900" dirty="0"/>
                        <a:t>ck2</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tc>
                  <a:txBody>
                    <a:bodyPr/>
                    <a:lstStyle/>
                    <a:p>
                      <a:pPr algn="ctr"/>
                      <a:r>
                        <a:rPr lang="en-US" altLang="zh-CN" sz="900" dirty="0"/>
                        <a:t>touch</a:t>
                      </a:r>
                      <a:r>
                        <a:rPr lang="zh-CN" altLang="en-US" sz="900" dirty="0"/>
                        <a:t>事件点击</a:t>
                      </a:r>
                      <a:r>
                        <a:rPr lang="en-US" altLang="zh-CN" sz="900" dirty="0"/>
                        <a:t>X</a:t>
                      </a:r>
                      <a:r>
                        <a:rPr lang="zh-CN" altLang="en-US" sz="900" dirty="0"/>
                        <a:t>坐标</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extLst>
                  <a:ext uri="{0D108BD9-81ED-4DB2-BD59-A6C34878D82A}">
                    <a16:rowId xmlns:a16="http://schemas.microsoft.com/office/drawing/2014/main" val="10003"/>
                  </a:ext>
                </a:extLst>
              </a:tr>
              <a:tr h="252222">
                <a:tc>
                  <a:txBody>
                    <a:bodyPr/>
                    <a:lstStyle/>
                    <a:p>
                      <a:pPr algn="ctr"/>
                      <a:r>
                        <a:rPr lang="en-US" altLang="zh-CN" sz="900" dirty="0"/>
                        <a:t>ck3</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dirty="0"/>
                        <a:t>touch</a:t>
                      </a:r>
                      <a:r>
                        <a:rPr lang="zh-CN" altLang="en-US" sz="900" dirty="0"/>
                        <a:t>事件点击</a:t>
                      </a:r>
                      <a:r>
                        <a:rPr lang="en-US" altLang="zh-CN" sz="900" dirty="0"/>
                        <a:t>Y</a:t>
                      </a:r>
                      <a:r>
                        <a:rPr lang="zh-CN" altLang="en-US" sz="900" dirty="0"/>
                        <a:t>坐标</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extLst>
                  <a:ext uri="{0D108BD9-81ED-4DB2-BD59-A6C34878D82A}">
                    <a16:rowId xmlns:a16="http://schemas.microsoft.com/office/drawing/2014/main" val="10004"/>
                  </a:ext>
                </a:extLst>
              </a:tr>
              <a:tr h="252222">
                <a:tc>
                  <a:txBody>
                    <a:bodyPr/>
                    <a:lstStyle/>
                    <a:p>
                      <a:pPr algn="ctr"/>
                      <a:r>
                        <a:rPr lang="en-US" altLang="zh-CN" sz="900" dirty="0"/>
                        <a:t>ck4</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tc>
                  <a:txBody>
                    <a:bodyPr/>
                    <a:lstStyle/>
                    <a:p>
                      <a:pPr algn="ctr"/>
                      <a:r>
                        <a:rPr lang="zh-CN" altLang="en-US" sz="900" dirty="0"/>
                        <a:t>样式宽度</a:t>
                      </a:r>
                      <a:r>
                        <a:rPr lang="en-US" altLang="zh-CN" sz="900" dirty="0"/>
                        <a:t>(</a:t>
                      </a:r>
                      <a:r>
                        <a:rPr lang="zh-CN" altLang="en-US" sz="900" dirty="0"/>
                        <a:t>广告展现宽度</a:t>
                      </a:r>
                      <a:r>
                        <a:rPr lang="en-US" altLang="zh-CN" sz="900" dirty="0"/>
                        <a:t>)</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extLst>
                  <a:ext uri="{0D108BD9-81ED-4DB2-BD59-A6C34878D82A}">
                    <a16:rowId xmlns:a16="http://schemas.microsoft.com/office/drawing/2014/main" val="10005"/>
                  </a:ext>
                </a:extLst>
              </a:tr>
              <a:tr h="252222">
                <a:tc>
                  <a:txBody>
                    <a:bodyPr/>
                    <a:lstStyle/>
                    <a:p>
                      <a:pPr algn="ctr"/>
                      <a:r>
                        <a:rPr lang="en-US" altLang="zh-CN" sz="900" dirty="0"/>
                        <a:t>ck5</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tc>
                  <a:txBody>
                    <a:bodyPr/>
                    <a:lstStyle/>
                    <a:p>
                      <a:pPr algn="ctr"/>
                      <a:r>
                        <a:rPr lang="zh-CN" altLang="en-US" sz="900" dirty="0"/>
                        <a:t>样式高度</a:t>
                      </a:r>
                      <a:r>
                        <a:rPr lang="en-US" altLang="zh-CN" sz="900" dirty="0"/>
                        <a:t>(</a:t>
                      </a:r>
                      <a:r>
                        <a:rPr lang="zh-CN" altLang="en-US" sz="900" dirty="0"/>
                        <a:t>广告展现高度</a:t>
                      </a:r>
                      <a:r>
                        <a:rPr lang="en-US" altLang="zh-CN" sz="900" dirty="0"/>
                        <a:t>)</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extLst>
                  <a:ext uri="{0D108BD9-81ED-4DB2-BD59-A6C34878D82A}">
                    <a16:rowId xmlns:a16="http://schemas.microsoft.com/office/drawing/2014/main" val="10006"/>
                  </a:ext>
                </a:extLst>
              </a:tr>
              <a:tr h="252222">
                <a:tc>
                  <a:txBody>
                    <a:bodyPr/>
                    <a:lstStyle/>
                    <a:p>
                      <a:pPr algn="ctr"/>
                      <a:r>
                        <a:rPr lang="en-US" altLang="zh-CN" sz="900" dirty="0"/>
                        <a:t>ck6</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tc>
                  <a:txBody>
                    <a:bodyPr/>
                    <a:lstStyle/>
                    <a:p>
                      <a:pPr algn="ctr"/>
                      <a:r>
                        <a:rPr lang="zh-CN" altLang="en-US" sz="900" dirty="0"/>
                        <a:t>用户在屏幕内的触屏滑动次数</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extLst>
                  <a:ext uri="{0D108BD9-81ED-4DB2-BD59-A6C34878D82A}">
                    <a16:rowId xmlns:a16="http://schemas.microsoft.com/office/drawing/2014/main" val="10007"/>
                  </a:ext>
                </a:extLst>
              </a:tr>
              <a:tr h="252222">
                <a:tc>
                  <a:txBody>
                    <a:bodyPr/>
                    <a:lstStyle/>
                    <a:p>
                      <a:pPr algn="ctr"/>
                      <a:r>
                        <a:rPr lang="en-US" altLang="zh-CN" sz="900" dirty="0"/>
                        <a:t>ck7</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tc>
                  <a:txBody>
                    <a:bodyPr/>
                    <a:lstStyle/>
                    <a:p>
                      <a:pPr algn="ctr"/>
                      <a:r>
                        <a:rPr lang="zh-CN" altLang="en-US" sz="900" dirty="0"/>
                        <a:t>用户在屏幕内的触屏滑动的总时间</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extLst>
                  <a:ext uri="{0D108BD9-81ED-4DB2-BD59-A6C34878D82A}">
                    <a16:rowId xmlns:a16="http://schemas.microsoft.com/office/drawing/2014/main" val="10008"/>
                  </a:ext>
                </a:extLst>
              </a:tr>
              <a:tr h="252222">
                <a:tc>
                  <a:txBody>
                    <a:bodyPr/>
                    <a:lstStyle/>
                    <a:p>
                      <a:pPr algn="ctr"/>
                      <a:r>
                        <a:rPr lang="en-US" altLang="zh-CN" sz="900" dirty="0"/>
                        <a:t>ck8</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tc>
                  <a:txBody>
                    <a:bodyPr/>
                    <a:lstStyle/>
                    <a:p>
                      <a:pPr algn="ctr"/>
                      <a:r>
                        <a:rPr lang="en-US" altLang="zh-CN" sz="900" dirty="0"/>
                        <a:t>touch</a:t>
                      </a:r>
                      <a:r>
                        <a:rPr lang="zh-CN" altLang="en-US" sz="900" dirty="0"/>
                        <a:t>到</a:t>
                      </a:r>
                      <a:r>
                        <a:rPr lang="en-US" altLang="zh-CN" sz="900" dirty="0"/>
                        <a:t>click</a:t>
                      </a:r>
                      <a:r>
                        <a:rPr lang="zh-CN" altLang="en-US" sz="900" dirty="0"/>
                        <a:t>的时间差</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extLst>
                  <a:ext uri="{0D108BD9-81ED-4DB2-BD59-A6C34878D82A}">
                    <a16:rowId xmlns:a16="http://schemas.microsoft.com/office/drawing/2014/main" val="10009"/>
                  </a:ext>
                </a:extLst>
              </a:tr>
              <a:tr h="252222">
                <a:tc>
                  <a:txBody>
                    <a:bodyPr/>
                    <a:lstStyle/>
                    <a:p>
                      <a:pPr algn="ctr"/>
                      <a:r>
                        <a:rPr lang="en-US" altLang="zh-CN" sz="900" dirty="0"/>
                        <a:t>ck9</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tc>
                  <a:txBody>
                    <a:bodyPr/>
                    <a:lstStyle/>
                    <a:p>
                      <a:pPr algn="ctr"/>
                      <a:r>
                        <a:rPr lang="en-US" altLang="zh-CN" sz="900" dirty="0"/>
                        <a:t>click</a:t>
                      </a:r>
                      <a:r>
                        <a:rPr lang="zh-CN" altLang="en-US" sz="900" dirty="0"/>
                        <a:t>事件</a:t>
                      </a:r>
                      <a:r>
                        <a:rPr lang="en-US" altLang="zh-CN" sz="900" dirty="0"/>
                        <a:t>x</a:t>
                      </a:r>
                      <a:r>
                        <a:rPr lang="zh-CN" altLang="en-US" sz="900" dirty="0"/>
                        <a:t>坐标</a:t>
                      </a:r>
                      <a:r>
                        <a:rPr lang="en-US" altLang="zh-CN" sz="900" dirty="0"/>
                        <a:t>(</a:t>
                      </a:r>
                      <a:r>
                        <a:rPr lang="zh-CN" altLang="en-US" sz="900" dirty="0"/>
                        <a:t>几乎等于</a:t>
                      </a:r>
                      <a:r>
                        <a:rPr lang="en-US" altLang="zh-CN" sz="900" dirty="0"/>
                        <a:t>ck2)</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extLst>
                  <a:ext uri="{0D108BD9-81ED-4DB2-BD59-A6C34878D82A}">
                    <a16:rowId xmlns:a16="http://schemas.microsoft.com/office/drawing/2014/main" val="10010"/>
                  </a:ext>
                </a:extLst>
              </a:tr>
              <a:tr h="252222">
                <a:tc>
                  <a:txBody>
                    <a:bodyPr/>
                    <a:lstStyle/>
                    <a:p>
                      <a:pPr algn="ctr"/>
                      <a:r>
                        <a:rPr lang="en-US" altLang="zh-CN" sz="900" dirty="0"/>
                        <a:t>ck10</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tc>
                  <a:txBody>
                    <a:bodyPr/>
                    <a:lstStyle/>
                    <a:p>
                      <a:pPr algn="ctr"/>
                      <a:r>
                        <a:rPr lang="en-US" altLang="zh-CN" sz="900" dirty="0"/>
                        <a:t>click</a:t>
                      </a:r>
                      <a:r>
                        <a:rPr lang="zh-CN" altLang="en-US" sz="900" dirty="0"/>
                        <a:t>事件</a:t>
                      </a:r>
                      <a:r>
                        <a:rPr lang="en-US" altLang="zh-CN" sz="900" dirty="0"/>
                        <a:t>y</a:t>
                      </a:r>
                      <a:r>
                        <a:rPr lang="zh-CN" altLang="en-US" sz="900" dirty="0"/>
                        <a:t>坐标</a:t>
                      </a:r>
                      <a:r>
                        <a:rPr lang="en-US" altLang="zh-CN" sz="900" dirty="0"/>
                        <a:t>(</a:t>
                      </a:r>
                      <a:r>
                        <a:rPr lang="zh-CN" altLang="en-US" sz="900" dirty="0"/>
                        <a:t>几乎等于</a:t>
                      </a:r>
                      <a:r>
                        <a:rPr lang="en-US" altLang="zh-CN" sz="900" dirty="0"/>
                        <a:t>ck3)</a:t>
                      </a:r>
                      <a:endParaRPr lang="zh-CN" altLang="en-US" sz="900" dirty="0">
                        <a:latin typeface="微软雅黑" panose="020B0503020204020204" pitchFamily="34" charset="-122"/>
                        <a:ea typeface="微软雅黑" panose="020B0503020204020204" pitchFamily="34" charset="-122"/>
                      </a:endParaRPr>
                    </a:p>
                  </a:txBody>
                  <a:tcPr marL="78016" marR="78016" marT="39008" marB="39008" anchor="ctr"/>
                </a:tc>
                <a:extLst>
                  <a:ext uri="{0D108BD9-81ED-4DB2-BD59-A6C34878D82A}">
                    <a16:rowId xmlns:a16="http://schemas.microsoft.com/office/drawing/2014/main" val="10011"/>
                  </a:ext>
                </a:extLst>
              </a:tr>
            </a:tbl>
          </a:graphicData>
        </a:graphic>
      </p:graphicFrame>
      <p:sp>
        <p:nvSpPr>
          <p:cNvPr id="3" name="文本框 2"/>
          <p:cNvSpPr txBox="1"/>
          <p:nvPr/>
        </p:nvSpPr>
        <p:spPr>
          <a:xfrm>
            <a:off x="1056641" y="6022658"/>
            <a:ext cx="8107679" cy="646331"/>
          </a:xfrm>
          <a:prstGeom prst="rect">
            <a:avLst/>
          </a:prstGeom>
          <a:noFill/>
        </p:spPr>
        <p:txBody>
          <a:bodyPr wrap="square" rtlCol="0">
            <a:spAutoFit/>
          </a:bodyPr>
          <a:lstStyle/>
          <a:p>
            <a:pPr lvl="2">
              <a:buClr>
                <a:srgbClr val="0070C0"/>
              </a:buClr>
              <a:buFont typeface="Wingdings" panose="05000000000000000000" pitchFamily="2" charset="2"/>
              <a:buChar char="l"/>
            </a:pPr>
            <a:r>
              <a:rPr lang="zh-CN" altLang="en-US" dirty="0"/>
              <a:t>用户点击时，</a:t>
            </a:r>
            <a:r>
              <a:rPr lang="en-GB" altLang="zh-CN" dirty="0"/>
              <a:t>ck</a:t>
            </a:r>
            <a:r>
              <a:rPr lang="zh-CN" altLang="en-US" dirty="0"/>
              <a:t>域会自动根据用户的点击行为进行更新，</a:t>
            </a:r>
            <a:endParaRPr lang="en-US" altLang="zh-CN" dirty="0"/>
          </a:p>
          <a:p>
            <a:pPr lvl="2">
              <a:buClr>
                <a:srgbClr val="0070C0"/>
              </a:buClr>
            </a:pPr>
            <a:r>
              <a:rPr lang="zh-CN" altLang="en-US" dirty="0"/>
              <a:t>如果日志中</a:t>
            </a:r>
            <a:r>
              <a:rPr lang="en-GB" altLang="zh-CN" dirty="0"/>
              <a:t>ck2</a:t>
            </a:r>
            <a:r>
              <a:rPr lang="zh-CN" altLang="en-GB" dirty="0"/>
              <a:t>，</a:t>
            </a:r>
            <a:r>
              <a:rPr lang="en-GB" altLang="zh-CN" dirty="0"/>
              <a:t>ck3</a:t>
            </a:r>
            <a:r>
              <a:rPr lang="zh-CN" altLang="en-GB" dirty="0"/>
              <a:t>，</a:t>
            </a:r>
            <a:r>
              <a:rPr lang="en-GB" altLang="zh-CN" dirty="0"/>
              <a:t>ck4</a:t>
            </a:r>
            <a:r>
              <a:rPr lang="zh-CN" altLang="en-US" dirty="0"/>
              <a:t>全部为</a:t>
            </a:r>
            <a:r>
              <a:rPr lang="en-US" altLang="zh-CN" dirty="0"/>
              <a:t>0</a:t>
            </a:r>
            <a:r>
              <a:rPr lang="zh-CN" altLang="en-US" dirty="0"/>
              <a:t>，极有可能是作弊日志。</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sp>
        <p:nvSpPr>
          <p:cNvPr id="16" name="文本框 15"/>
          <p:cNvSpPr txBox="1"/>
          <p:nvPr/>
        </p:nvSpPr>
        <p:spPr>
          <a:xfrm>
            <a:off x="612990" y="1869666"/>
            <a:ext cx="11255922" cy="4620560"/>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dirty="0"/>
              <a:t>基本特征：</a:t>
            </a:r>
            <a:r>
              <a:rPr lang="en-US" altLang="zh-CN" dirty="0"/>
              <a:t>ck</a:t>
            </a:r>
            <a:r>
              <a:rPr lang="zh-CN" altLang="en-US" dirty="0"/>
              <a:t>特征</a:t>
            </a:r>
            <a:endParaRPr lang="en-US" altLang="zh-CN" dirty="0"/>
          </a:p>
          <a:p>
            <a:pPr marL="285750" indent="-285750">
              <a:lnSpc>
                <a:spcPct val="150000"/>
              </a:lnSpc>
              <a:buFont typeface="Wingdings" panose="05000000000000000000" pitchFamily="2" charset="2"/>
              <a:buChar char="l"/>
            </a:pPr>
            <a:r>
              <a:rPr lang="en-US" altLang="zh-CN" dirty="0" err="1"/>
              <a:t>url</a:t>
            </a:r>
            <a:r>
              <a:rPr lang="zh-CN" altLang="en-US" dirty="0"/>
              <a:t>点击串：接入方检索端构造指定格式的点击</a:t>
            </a:r>
            <a:r>
              <a:rPr lang="en-GB" altLang="zh-CN" dirty="0" err="1"/>
              <a:t>url</a:t>
            </a:r>
            <a:r>
              <a:rPr lang="zh-CN" altLang="en-US" dirty="0"/>
              <a:t>提供给用户，用户点击后点击信息由</a:t>
            </a:r>
            <a:r>
              <a:rPr lang="en-GB" altLang="zh-CN" dirty="0"/>
              <a:t>anti </a:t>
            </a:r>
            <a:r>
              <a:rPr lang="en-GB" altLang="zh-CN" dirty="0" err="1"/>
              <a:t>rcv</a:t>
            </a:r>
            <a:r>
              <a:rPr lang="zh-CN" altLang="en-US" dirty="0"/>
              <a:t>接受并跳转到广告主页面。这里面，点击信息即为点击串。</a:t>
            </a:r>
            <a:endParaRPr lang="en-US" altLang="zh-CN" dirty="0"/>
          </a:p>
          <a:p>
            <a:pPr marL="285750" indent="-285750">
              <a:lnSpc>
                <a:spcPct val="150000"/>
              </a:lnSpc>
              <a:buFont typeface="Wingdings" panose="05000000000000000000" pitchFamily="2" charset="2"/>
              <a:buChar char="l"/>
            </a:pPr>
            <a:r>
              <a:rPr lang="en-US" altLang="zh-CN" dirty="0" err="1"/>
              <a:t>rcv</a:t>
            </a:r>
            <a:r>
              <a:rPr lang="zh-CN" altLang="en-US" dirty="0"/>
              <a:t>所需要点击</a:t>
            </a:r>
            <a:r>
              <a:rPr lang="en-US" altLang="zh-CN" dirty="0" err="1"/>
              <a:t>url</a:t>
            </a:r>
            <a:r>
              <a:rPr lang="zh-CN" altLang="en-US" dirty="0"/>
              <a:t>构造的格式为：</a:t>
            </a:r>
            <a:endParaRPr lang="en-US" altLang="zh-CN" dirty="0"/>
          </a:p>
          <a:p>
            <a:pPr marL="742950" lvl="1" indent="-285750">
              <a:lnSpc>
                <a:spcPct val="150000"/>
              </a:lnSpc>
              <a:buFont typeface="Wingdings" panose="05000000000000000000" pitchFamily="2" charset="2"/>
              <a:buChar char="l"/>
            </a:pPr>
            <a:r>
              <a:rPr lang="en-US" altLang="zh-CN" dirty="0"/>
              <a:t>pc</a:t>
            </a:r>
            <a:r>
              <a:rPr lang="zh-CN" altLang="en-US" dirty="0"/>
              <a:t>：</a:t>
            </a:r>
            <a:r>
              <a:rPr lang="en-GB" altLang="zh-CN" dirty="0">
                <a:latin typeface="Times New Roman" panose="02020603050405020304" pitchFamily="18" charset="0"/>
                <a:cs typeface="Times New Roman" panose="02020603050405020304" pitchFamily="18" charset="0"/>
                <a:hlinkClick r:id="rId4"/>
              </a:rPr>
              <a:t> http://www.baidu.com/xxxx.php</a:t>
            </a:r>
            <a:r>
              <a:rPr lang="en-GB" altLang="zh-CN" dirty="0">
                <a:latin typeface="Times New Roman" panose="02020603050405020304" pitchFamily="18" charset="0"/>
                <a:cs typeface="Times New Roman" panose="02020603050405020304" pitchFamily="18" charset="0"/>
              </a:rPr>
              <a:t>? </a:t>
            </a:r>
            <a:r>
              <a:rPr lang="en-GB" altLang="zh-CN" dirty="0" err="1">
                <a:latin typeface="Times New Roman" panose="02020603050405020304" pitchFamily="18" charset="0"/>
                <a:cs typeface="Times New Roman" panose="02020603050405020304" pitchFamily="18" charset="0"/>
              </a:rPr>
              <a:t>url</a:t>
            </a:r>
            <a:r>
              <a:rPr lang="en-GB" altLang="zh-CN" dirty="0">
                <a:latin typeface="Times New Roman" panose="02020603050405020304" pitchFamily="18" charset="0"/>
                <a:cs typeface="Times New Roman" panose="02020603050405020304" pitchFamily="18" charset="0"/>
              </a:rPr>
              <a:t>=</a:t>
            </a:r>
            <a:r>
              <a:rPr lang="en-GB" altLang="zh-CN" dirty="0" err="1">
                <a:latin typeface="Times New Roman" panose="02020603050405020304" pitchFamily="18" charset="0"/>
                <a:cs typeface="Times New Roman" panose="02020603050405020304" pitchFamily="18" charset="0"/>
              </a:rPr>
              <a:t>iii.jjjj.kkk&amp;ck</a:t>
            </a:r>
            <a:r>
              <a:rPr lang="en-GB" altLang="zh-CN" dirty="0">
                <a:latin typeface="Times New Roman" panose="02020603050405020304" pitchFamily="18" charset="0"/>
                <a:cs typeface="Times New Roman" panose="02020603050405020304" pitchFamily="18" charset="0"/>
              </a:rPr>
              <a:t>=xxx </a:t>
            </a:r>
            <a:r>
              <a:rPr lang="en-GB" altLang="zh-CN" dirty="0">
                <a:solidFill>
                  <a:srgbClr val="FF0000"/>
                </a:solidFill>
                <a:latin typeface="Times New Roman" panose="02020603050405020304" pitchFamily="18" charset="0"/>
                <a:cs typeface="Times New Roman" panose="02020603050405020304" pitchFamily="18" charset="0"/>
              </a:rPr>
              <a:t>&amp;us=xxx</a:t>
            </a:r>
            <a:endParaRPr lang="en-US" altLang="zh-CN" dirty="0"/>
          </a:p>
          <a:p>
            <a:pPr marL="742950" lvl="1" indent="-285750">
              <a:lnSpc>
                <a:spcPct val="150000"/>
              </a:lnSpc>
              <a:buFont typeface="Wingdings" panose="05000000000000000000" pitchFamily="2" charset="2"/>
              <a:buChar char="l"/>
            </a:pPr>
            <a:r>
              <a:rPr lang="en-US" altLang="zh-CN" dirty="0"/>
              <a:t>wise</a:t>
            </a:r>
            <a:r>
              <a:rPr lang="zh-CN" altLang="en-US" dirty="0"/>
              <a:t>：</a:t>
            </a:r>
            <a:r>
              <a:rPr lang="en-GB" altLang="zh-CN" dirty="0">
                <a:latin typeface="Times New Roman" panose="02020603050405020304" pitchFamily="18" charset="0"/>
                <a:cs typeface="Times New Roman" panose="02020603050405020304" pitchFamily="18" charset="0"/>
                <a:hlinkClick r:id="rId5"/>
              </a:rPr>
              <a:t>http://m.baidu.com/xxxx.php</a:t>
            </a:r>
            <a:r>
              <a:rPr lang="en-GB" altLang="zh-CN" dirty="0">
                <a:latin typeface="Times New Roman" panose="02020603050405020304" pitchFamily="18" charset="0"/>
                <a:cs typeface="Times New Roman" panose="02020603050405020304" pitchFamily="18" charset="0"/>
              </a:rPr>
              <a:t>? </a:t>
            </a:r>
            <a:r>
              <a:rPr lang="en-GB" altLang="zh-CN" dirty="0" err="1">
                <a:latin typeface="Times New Roman" panose="02020603050405020304" pitchFamily="18" charset="0"/>
                <a:cs typeface="Times New Roman" panose="02020603050405020304" pitchFamily="18" charset="0"/>
              </a:rPr>
              <a:t>url</a:t>
            </a:r>
            <a:r>
              <a:rPr lang="en-GB" altLang="zh-CN" dirty="0">
                <a:latin typeface="Times New Roman" panose="02020603050405020304" pitchFamily="18" charset="0"/>
                <a:cs typeface="Times New Roman" panose="02020603050405020304" pitchFamily="18" charset="0"/>
              </a:rPr>
              <a:t>=</a:t>
            </a:r>
            <a:r>
              <a:rPr lang="en-GB" altLang="zh-CN" dirty="0" err="1">
                <a:latin typeface="Times New Roman" panose="02020603050405020304" pitchFamily="18" charset="0"/>
                <a:cs typeface="Times New Roman" panose="02020603050405020304" pitchFamily="18" charset="0"/>
              </a:rPr>
              <a:t>iii.jjjj.kkk&amp;ck</a:t>
            </a:r>
            <a:r>
              <a:rPr lang="en-GB" altLang="zh-CN" dirty="0">
                <a:latin typeface="Times New Roman" panose="02020603050405020304" pitchFamily="18" charset="0"/>
                <a:cs typeface="Times New Roman" panose="02020603050405020304" pitchFamily="18" charset="0"/>
              </a:rPr>
              <a:t>=xxx </a:t>
            </a:r>
            <a:r>
              <a:rPr lang="en-GB" altLang="zh-CN" dirty="0">
                <a:solidFill>
                  <a:srgbClr val="FF0000"/>
                </a:solidFill>
                <a:latin typeface="Times New Roman" panose="02020603050405020304" pitchFamily="18" charset="0"/>
                <a:cs typeface="Times New Roman" panose="02020603050405020304" pitchFamily="18" charset="0"/>
              </a:rPr>
              <a:t>&amp;us=xxx</a:t>
            </a:r>
          </a:p>
          <a:p>
            <a:pPr lvl="3">
              <a:lnSpc>
                <a:spcPct val="150000"/>
              </a:lnSpc>
              <a:buClr>
                <a:srgbClr val="0070C0"/>
              </a:buClr>
              <a:buFont typeface="Wingdings" panose="05000000000000000000" pitchFamily="2" charset="2"/>
              <a:buChar char="Ø"/>
            </a:pPr>
            <a:r>
              <a:rPr lang="en-US" altLang="zh-CN" dirty="0" err="1"/>
              <a:t>i</a:t>
            </a:r>
            <a:r>
              <a:rPr lang="zh-CN" altLang="en-US" dirty="0"/>
              <a:t>域：加密，</a:t>
            </a:r>
            <a:r>
              <a:rPr lang="en-US" altLang="zh-CN" dirty="0"/>
              <a:t>base64</a:t>
            </a:r>
            <a:r>
              <a:rPr lang="zh-CN" altLang="en-US" dirty="0"/>
              <a:t>编码，主要包含点击价格，关键字</a:t>
            </a:r>
            <a:r>
              <a:rPr lang="en-US" altLang="zh-CN" dirty="0"/>
              <a:t>id</a:t>
            </a:r>
            <a:r>
              <a:rPr lang="zh-CN" altLang="en-US" dirty="0"/>
              <a:t>，展现时间，</a:t>
            </a:r>
            <a:r>
              <a:rPr lang="en-US" altLang="zh-CN" dirty="0" err="1"/>
              <a:t>userid</a:t>
            </a:r>
            <a:r>
              <a:rPr lang="zh-CN" altLang="en-US" dirty="0"/>
              <a:t>等计费信息。</a:t>
            </a:r>
          </a:p>
          <a:p>
            <a:pPr lvl="3">
              <a:lnSpc>
                <a:spcPct val="150000"/>
              </a:lnSpc>
              <a:buClr>
                <a:srgbClr val="0070C0"/>
              </a:buClr>
              <a:buFont typeface="Wingdings" panose="05000000000000000000" pitchFamily="2" charset="2"/>
              <a:buChar char="Ø"/>
            </a:pPr>
            <a:r>
              <a:rPr lang="en-US" altLang="zh-CN" dirty="0"/>
              <a:t>j</a:t>
            </a:r>
            <a:r>
              <a:rPr lang="zh-CN" altLang="en-US" dirty="0"/>
              <a:t>域：压缩，</a:t>
            </a:r>
            <a:r>
              <a:rPr lang="en-US" altLang="zh-CN" dirty="0"/>
              <a:t>base64</a:t>
            </a:r>
            <a:r>
              <a:rPr lang="zh-CN" altLang="en-US" dirty="0"/>
              <a:t>编码，主要包含跳转</a:t>
            </a:r>
            <a:r>
              <a:rPr lang="en-US" altLang="zh-CN" dirty="0" err="1"/>
              <a:t>url</a:t>
            </a:r>
            <a:r>
              <a:rPr lang="zh-CN" altLang="en-US" dirty="0"/>
              <a:t>，计费名。</a:t>
            </a:r>
          </a:p>
          <a:p>
            <a:pPr lvl="3">
              <a:lnSpc>
                <a:spcPct val="150000"/>
              </a:lnSpc>
              <a:buClr>
                <a:srgbClr val="0070C0"/>
              </a:buClr>
              <a:buFont typeface="Wingdings" panose="05000000000000000000" pitchFamily="2" charset="2"/>
              <a:buChar char="Ø"/>
            </a:pPr>
            <a:r>
              <a:rPr lang="en-US" altLang="zh-CN" dirty="0"/>
              <a:t>k</a:t>
            </a:r>
            <a:r>
              <a:rPr lang="zh-CN" altLang="en-US" dirty="0"/>
              <a:t>域：</a:t>
            </a:r>
            <a:r>
              <a:rPr lang="en-US" altLang="zh-CN" dirty="0"/>
              <a:t>base64</a:t>
            </a:r>
            <a:r>
              <a:rPr lang="zh-CN" altLang="en-US" dirty="0"/>
              <a:t>编码，主要包含检索词等数据。</a:t>
            </a:r>
            <a:endParaRPr lang="en-US" altLang="zh-CN" dirty="0"/>
          </a:p>
          <a:p>
            <a:pPr lvl="3">
              <a:lnSpc>
                <a:spcPct val="150000"/>
              </a:lnSpc>
              <a:buClr>
                <a:srgbClr val="0070C0"/>
              </a:buClr>
              <a:buFont typeface="Wingdings" panose="05000000000000000000" pitchFamily="2" charset="2"/>
              <a:buChar char="Ø"/>
            </a:pPr>
            <a:r>
              <a:rPr lang="en-US" altLang="zh-CN" dirty="0"/>
              <a:t>ck</a:t>
            </a:r>
            <a:r>
              <a:rPr lang="zh-CN" altLang="en-US" dirty="0"/>
              <a:t>域：鼠标点击和用户行为信息。</a:t>
            </a:r>
            <a:endParaRPr lang="en-US" altLang="zh-CN" dirty="0"/>
          </a:p>
          <a:p>
            <a:pPr lvl="3">
              <a:lnSpc>
                <a:spcPct val="150000"/>
              </a:lnSpc>
              <a:buClr>
                <a:srgbClr val="0070C0"/>
              </a:buClr>
              <a:buFont typeface="Wingdings" panose="05000000000000000000" pitchFamily="2" charset="2"/>
              <a:buChar char="Ø"/>
            </a:pPr>
            <a:r>
              <a:rPr lang="en-GB" altLang="zh-CN" dirty="0"/>
              <a:t>us</a:t>
            </a:r>
            <a:r>
              <a:rPr lang="zh-CN" altLang="en-US" dirty="0"/>
              <a:t>域：扩展字段非必须信息。</a:t>
            </a:r>
            <a:endParaRPr lang="en-US"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sp>
        <p:nvSpPr>
          <p:cNvPr id="16" name="文本框 15"/>
          <p:cNvSpPr txBox="1"/>
          <p:nvPr/>
        </p:nvSpPr>
        <p:spPr>
          <a:xfrm>
            <a:off x="612990" y="1869666"/>
            <a:ext cx="11255922" cy="5036059"/>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dirty="0"/>
              <a:t>基本特征：</a:t>
            </a:r>
            <a:r>
              <a:rPr lang="en-US" altLang="zh-CN" dirty="0" err="1"/>
              <a:t>shifen</a:t>
            </a:r>
            <a:r>
              <a:rPr lang="zh-CN" altLang="en-US" dirty="0"/>
              <a:t> </a:t>
            </a:r>
            <a:r>
              <a:rPr lang="en-US" altLang="zh-CN" dirty="0"/>
              <a:t>cookie</a:t>
            </a:r>
          </a:p>
          <a:p>
            <a:pPr marL="285750" indent="-285750">
              <a:lnSpc>
                <a:spcPct val="150000"/>
              </a:lnSpc>
              <a:buFont typeface="Wingdings" panose="05000000000000000000" pitchFamily="2" charset="2"/>
              <a:buChar char="l"/>
            </a:pPr>
            <a:r>
              <a:rPr lang="en-US" altLang="zh-CN" dirty="0" err="1"/>
              <a:t>shifen</a:t>
            </a:r>
            <a:r>
              <a:rPr lang="zh-CN" altLang="en-US" dirty="0"/>
              <a:t> </a:t>
            </a:r>
            <a:r>
              <a:rPr lang="en-US" altLang="zh-CN" dirty="0"/>
              <a:t>cookie</a:t>
            </a:r>
          </a:p>
          <a:p>
            <a:pPr marL="800100" lvl="1" indent="-342900">
              <a:lnSpc>
                <a:spcPct val="150000"/>
              </a:lnSpc>
              <a:buFont typeface="Wingdings" panose="05000000000000000000" pitchFamily="2" charset="2"/>
              <a:buChar char="Ø"/>
            </a:pPr>
            <a:r>
              <a:rPr lang="zh-CN" altLang="en-US" dirty="0"/>
              <a:t>定义：在百度域下，用户每点击一个不同的广告，都会在前端浏览器种上一个</a:t>
            </a:r>
            <a:r>
              <a:rPr lang="en-US" altLang="zh-CN" dirty="0" err="1"/>
              <a:t>shifencookie</a:t>
            </a:r>
            <a:r>
              <a:rPr lang="zh-CN" altLang="en-US" dirty="0"/>
              <a:t>用来唯一标识。</a:t>
            </a:r>
            <a:endParaRPr lang="en-US" altLang="zh-CN" dirty="0"/>
          </a:p>
          <a:p>
            <a:pPr marL="800100" lvl="1" indent="-342900">
              <a:lnSpc>
                <a:spcPct val="150000"/>
              </a:lnSpc>
              <a:buFont typeface="Wingdings" panose="05000000000000000000" pitchFamily="2" charset="2"/>
              <a:buChar char="Ø"/>
            </a:pPr>
            <a:r>
              <a:rPr lang="zh-CN" altLang="en-US" dirty="0"/>
              <a:t>格式：</a:t>
            </a:r>
            <a:r>
              <a:rPr lang="en-US" altLang="zh-CN" dirty="0" err="1"/>
              <a:t>shifen</a:t>
            </a:r>
            <a:r>
              <a:rPr lang="en-US" altLang="zh-CN" dirty="0"/>
              <a:t>[key]=value,</a:t>
            </a:r>
            <a:r>
              <a:rPr lang="zh-CN" altLang="en-US" dirty="0"/>
              <a:t>其中</a:t>
            </a:r>
            <a:r>
              <a:rPr lang="en-US" altLang="zh-CN" dirty="0"/>
              <a:t>key</a:t>
            </a:r>
            <a:r>
              <a:rPr lang="zh-CN" altLang="en-US" dirty="0"/>
              <a:t>为 </a:t>
            </a:r>
            <a:r>
              <a:rPr lang="en-US" altLang="zh-CN" dirty="0" err="1"/>
              <a:t>winfoid+url_sign</a:t>
            </a:r>
            <a:r>
              <a:rPr lang="en-US" altLang="zh-CN" dirty="0"/>
              <a:t>,</a:t>
            </a:r>
            <a:r>
              <a:rPr lang="zh-CN" altLang="en-US" dirty="0"/>
              <a:t>可以用来唯一标识一条广告，</a:t>
            </a:r>
            <a:r>
              <a:rPr lang="en-US" altLang="zh-CN" dirty="0"/>
              <a:t>value</a:t>
            </a:r>
            <a:r>
              <a:rPr lang="zh-CN" altLang="en-US" dirty="0"/>
              <a:t>为最近一次点击该广告的时间。</a:t>
            </a:r>
            <a:endParaRPr lang="en-US" altLang="zh-CN" dirty="0"/>
          </a:p>
          <a:p>
            <a:pPr marL="800100" lvl="1" indent="-342900">
              <a:lnSpc>
                <a:spcPct val="150000"/>
              </a:lnSpc>
              <a:buFont typeface="Wingdings" panose="05000000000000000000" pitchFamily="2" charset="2"/>
              <a:buChar char="Ø"/>
            </a:pPr>
            <a:r>
              <a:rPr lang="zh-CN" altLang="en-US" dirty="0"/>
              <a:t>更新逻辑：每次点击广告时，会将当前的</a:t>
            </a:r>
            <a:r>
              <a:rPr lang="en-US" altLang="zh-CN" dirty="0" err="1"/>
              <a:t>shifencookie</a:t>
            </a:r>
            <a:r>
              <a:rPr lang="zh-CN" altLang="en-US" dirty="0"/>
              <a:t>传给后端，然后再修改</a:t>
            </a:r>
            <a:r>
              <a:rPr lang="en-US" altLang="zh-CN" dirty="0" err="1"/>
              <a:t>shifen</a:t>
            </a:r>
            <a:r>
              <a:rPr lang="zh-CN" altLang="en-US" dirty="0"/>
              <a:t>的</a:t>
            </a:r>
            <a:r>
              <a:rPr lang="en-US" altLang="zh-CN" dirty="0"/>
              <a:t>value</a:t>
            </a:r>
          </a:p>
          <a:p>
            <a:pPr marL="800100" lvl="1" indent="-342900">
              <a:lnSpc>
                <a:spcPct val="150000"/>
              </a:lnSpc>
              <a:buFont typeface="Wingdings" panose="05000000000000000000" pitchFamily="2" charset="2"/>
              <a:buChar char="Ø"/>
            </a:pPr>
            <a:r>
              <a:rPr lang="zh-CN" altLang="en-US" dirty="0"/>
              <a:t>清除逻辑：</a:t>
            </a:r>
            <a:r>
              <a:rPr lang="en-US" altLang="zh-CN" dirty="0"/>
              <a:t>pc</a:t>
            </a:r>
            <a:r>
              <a:rPr lang="zh-CN" altLang="en-US" dirty="0"/>
              <a:t>端，关闭浏览器即清除</a:t>
            </a:r>
            <a:endParaRPr lang="en-US" altLang="zh-CN" dirty="0"/>
          </a:p>
          <a:p>
            <a:pPr lvl="1">
              <a:lnSpc>
                <a:spcPct val="150000"/>
              </a:lnSpc>
            </a:pPr>
            <a:r>
              <a:rPr lang="en-US" altLang="zh-CN" dirty="0"/>
              <a:t>		wise</a:t>
            </a:r>
            <a:r>
              <a:rPr lang="zh-CN" altLang="en-US" dirty="0"/>
              <a:t>端，预设</a:t>
            </a:r>
            <a:r>
              <a:rPr lang="en-US" altLang="zh-CN" dirty="0"/>
              <a:t>30</a:t>
            </a:r>
            <a:r>
              <a:rPr lang="zh-CN" altLang="en-US" dirty="0"/>
              <a:t>分钟最长等待期</a:t>
            </a:r>
            <a:endParaRPr lang="en-US" altLang="zh-CN" dirty="0"/>
          </a:p>
          <a:p>
            <a:pPr marL="285750" indent="-285750">
              <a:lnSpc>
                <a:spcPct val="150000"/>
              </a:lnSpc>
              <a:buFont typeface="Wingdings" panose="05000000000000000000" pitchFamily="2" charset="2"/>
              <a:buChar char="l"/>
            </a:pPr>
            <a:r>
              <a:rPr lang="zh-CN" altLang="en-US" dirty="0"/>
              <a:t>应用点</a:t>
            </a:r>
            <a:endParaRPr lang="en-US" altLang="zh-CN" dirty="0"/>
          </a:p>
          <a:p>
            <a:pPr marL="742950" lvl="1" indent="-285750">
              <a:lnSpc>
                <a:spcPct val="150000"/>
              </a:lnSpc>
              <a:buFont typeface="Wingdings" panose="05000000000000000000" pitchFamily="2" charset="2"/>
              <a:buChar char="Ø"/>
            </a:pPr>
            <a:r>
              <a:rPr lang="zh-CN" altLang="en-US" dirty="0"/>
              <a:t>重复点击</a:t>
            </a:r>
            <a:endParaRPr lang="en-US" altLang="zh-CN" dirty="0"/>
          </a:p>
          <a:p>
            <a:pPr marL="742950" lvl="1" indent="-285750">
              <a:lnSpc>
                <a:spcPct val="150000"/>
              </a:lnSpc>
              <a:buFont typeface="Wingdings" panose="05000000000000000000" pitchFamily="2" charset="2"/>
              <a:buChar char="Ø"/>
            </a:pPr>
            <a:r>
              <a:rPr lang="zh-CN" altLang="en-US" dirty="0"/>
              <a:t>标识点击广告数目过多</a:t>
            </a:r>
            <a:endParaRPr lang="en-US" altLang="zh-C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sp>
        <p:nvSpPr>
          <p:cNvPr id="9" name="内容占位符 2"/>
          <p:cNvSpPr>
            <a:spLocks noGrp="1"/>
          </p:cNvSpPr>
          <p:nvPr>
            <p:ph idx="1"/>
          </p:nvPr>
        </p:nvSpPr>
        <p:spPr>
          <a:xfrm>
            <a:off x="762081" y="1782769"/>
            <a:ext cx="4409359" cy="4721222"/>
          </a:xfrm>
          <a:ln w="12700">
            <a:solidFill>
              <a:srgbClr val="0070C0"/>
            </a:solidFill>
            <a:prstDash val="dashDot"/>
          </a:ln>
        </p:spPr>
        <p:txBody>
          <a:bodyPr>
            <a:normAutofit lnSpcReduction="10000"/>
          </a:bodyPr>
          <a:lstStyle/>
          <a:p>
            <a:pPr>
              <a:buClr>
                <a:srgbClr val="0070C0"/>
              </a:buClr>
              <a:buFont typeface="Wingdings" panose="05000000000000000000" pitchFamily="2" charset="2"/>
              <a:buChar char="n"/>
            </a:pPr>
            <a:r>
              <a:rPr lang="zh-CN" altLang="en-US" sz="2000" dirty="0">
                <a:sym typeface="Helvetica Light" charset="0"/>
              </a:rPr>
              <a:t>数目特征</a:t>
            </a:r>
            <a:r>
              <a:rPr lang="en-US" altLang="zh-CN" sz="2000" dirty="0">
                <a:sym typeface="Helvetica Light" charset="0"/>
              </a:rPr>
              <a:t>segment</a:t>
            </a:r>
          </a:p>
          <a:p>
            <a:pPr marL="400050" lvl="1" indent="0">
              <a:buClr>
                <a:srgbClr val="0070C0"/>
              </a:buClr>
              <a:buNone/>
            </a:pPr>
            <a:r>
              <a:rPr lang="zh-CN" altLang="en-US" sz="1800" dirty="0">
                <a:sym typeface="Helvetica Light" charset="0"/>
              </a:rPr>
              <a:t>在一定段长内，某个维度对象在某一个处理空间下出现的次数。</a:t>
            </a:r>
            <a:endParaRPr lang="en-US" altLang="zh-CN" sz="1800" dirty="0">
              <a:sym typeface="Helvetica Light" charset="0"/>
            </a:endParaRPr>
          </a:p>
          <a:p>
            <a:pPr marL="400050" lvl="1" indent="0">
              <a:buClr>
                <a:srgbClr val="0070C0"/>
              </a:buClr>
              <a:buNone/>
            </a:pPr>
            <a:endParaRPr lang="zh-CN" altLang="en-US" sz="18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自动黑名单数目特征</a:t>
            </a:r>
            <a:r>
              <a:rPr lang="en-US" altLang="zh-CN" sz="2000" dirty="0" err="1">
                <a:sym typeface="Helvetica Light" charset="0"/>
              </a:rPr>
              <a:t>auto_segment</a:t>
            </a:r>
            <a:endParaRPr lang="en-US" altLang="zh-CN" sz="2000" dirty="0">
              <a:sym typeface="Helvetica Light" charset="0"/>
            </a:endParaRPr>
          </a:p>
          <a:p>
            <a:pPr marL="400050" lvl="1" indent="0">
              <a:buClr>
                <a:srgbClr val="0070C0"/>
              </a:buClr>
              <a:buNone/>
            </a:pPr>
            <a:r>
              <a:rPr lang="zh-CN" altLang="en-US" sz="1800" dirty="0">
                <a:sym typeface="Helvetica Light" charset="0"/>
              </a:rPr>
              <a:t>在一定段长内，某个维度对象历史段累积的数目与本段累积的数目和。</a:t>
            </a:r>
            <a:endParaRPr lang="en-US" altLang="zh-CN" sz="1800" dirty="0">
              <a:sym typeface="Helvetica Light" charset="0"/>
            </a:endParaRPr>
          </a:p>
          <a:p>
            <a:pPr marL="400050" lvl="1" indent="0">
              <a:buClr>
                <a:srgbClr val="0070C0"/>
              </a:buClr>
              <a:buNone/>
            </a:pPr>
            <a:endParaRPr lang="zh-CN" altLang="en-US" sz="18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子数目特征</a:t>
            </a:r>
            <a:r>
              <a:rPr lang="en-US" altLang="zh-CN" sz="2000" dirty="0" err="1">
                <a:sym typeface="Helvetica Light" charset="0"/>
              </a:rPr>
              <a:t>sum_segment</a:t>
            </a:r>
            <a:endParaRPr lang="en-US" altLang="zh-CN" sz="2000" dirty="0">
              <a:sym typeface="Helvetica Light" charset="0"/>
            </a:endParaRPr>
          </a:p>
          <a:p>
            <a:pPr marL="400050" lvl="1" indent="0">
              <a:buClr>
                <a:srgbClr val="0070C0"/>
              </a:buClr>
              <a:buNone/>
            </a:pPr>
            <a:r>
              <a:rPr lang="zh-CN" altLang="en-US" sz="1800" dirty="0">
                <a:sym typeface="Helvetica Light" charset="0"/>
              </a:rPr>
              <a:t>在一定段长内，计算每一个维度对象下子维度对象的求和。</a:t>
            </a:r>
            <a:endParaRPr lang="en-US" altLang="zh-CN" sz="1800" dirty="0">
              <a:sym typeface="Helvetica Light" charset="0"/>
            </a:endParaRPr>
          </a:p>
          <a:p>
            <a:pPr marL="400050" lvl="1" indent="0">
              <a:buClr>
                <a:srgbClr val="0070C0"/>
              </a:buClr>
              <a:buNone/>
            </a:pPr>
            <a:endParaRPr lang="zh-CN" altLang="en-US" sz="18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多段累积特征</a:t>
            </a:r>
            <a:r>
              <a:rPr lang="en-US" altLang="zh-CN" sz="2000" dirty="0" err="1">
                <a:sym typeface="Helvetica Light" charset="0"/>
              </a:rPr>
              <a:t>multi_seg</a:t>
            </a:r>
            <a:endParaRPr lang="en-US" altLang="zh-CN" sz="2000" dirty="0">
              <a:sym typeface="Helvetica Light" charset="0"/>
            </a:endParaRPr>
          </a:p>
          <a:p>
            <a:pPr marL="400050" lvl="1" indent="0">
              <a:buClr>
                <a:srgbClr val="0070C0"/>
              </a:buClr>
              <a:buNone/>
            </a:pPr>
            <a:r>
              <a:rPr lang="zh-CN" altLang="en-US" sz="1800" dirty="0">
                <a:sym typeface="Helvetica Light" charset="0"/>
              </a:rPr>
              <a:t>缓存多个段内，某个维度对象在某一个处理空间下出现的次数。</a:t>
            </a:r>
          </a:p>
          <a:p>
            <a:pPr>
              <a:buClr>
                <a:srgbClr val="0070C0"/>
              </a:buClr>
              <a:buFont typeface="Wingdings" panose="05000000000000000000" pitchFamily="2" charset="2"/>
              <a:buChar char="n"/>
            </a:pPr>
            <a:endParaRPr lang="en-US" altLang="zh-CN" sz="2800" dirty="0">
              <a:sym typeface="Helvetica Light" charset="0"/>
            </a:endParaRPr>
          </a:p>
        </p:txBody>
      </p:sp>
      <p:sp>
        <p:nvSpPr>
          <p:cNvPr id="10" name="内容占位符 2"/>
          <p:cNvSpPr txBox="1"/>
          <p:nvPr/>
        </p:nvSpPr>
        <p:spPr bwMode="auto">
          <a:xfrm>
            <a:off x="5244817" y="1767828"/>
            <a:ext cx="4707811" cy="4721222"/>
          </a:xfrm>
          <a:prstGeom prst="rect">
            <a:avLst/>
          </a:prstGeom>
          <a:noFill/>
          <a:ln w="12700">
            <a:solidFill>
              <a:srgbClr val="C00000"/>
            </a:solidFill>
            <a:prstDash val="dashDot"/>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微软雅黑" panose="020B0503020204020204" pitchFamily="34" charset="-122"/>
                <a:ea typeface="微软雅黑" panose="020B0503020204020204" pitchFamily="34" charset="-122"/>
                <a:cs typeface="宋体" charset="0"/>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defTabSz="914400">
              <a:buClr>
                <a:srgbClr val="0070C0"/>
              </a:buClr>
              <a:buFont typeface="Wingdings" panose="05000000000000000000" pitchFamily="2" charset="2"/>
              <a:buChar char="n"/>
            </a:pPr>
            <a:r>
              <a:rPr lang="zh-CN" altLang="en-US" sz="2000" dirty="0">
                <a:latin typeface="+mn-lt"/>
                <a:ea typeface="+mn-ea"/>
                <a:cs typeface="+mn-cs"/>
              </a:rPr>
              <a:t>分布特征</a:t>
            </a:r>
            <a:r>
              <a:rPr lang="en-US" altLang="zh-CN" sz="2000" dirty="0">
                <a:latin typeface="+mn-lt"/>
                <a:ea typeface="+mn-ea"/>
                <a:cs typeface="+mn-cs"/>
              </a:rPr>
              <a:t>distribution</a:t>
            </a:r>
          </a:p>
          <a:p>
            <a:pPr marL="400050" lvl="1" indent="0" defTabSz="914400">
              <a:buClr>
                <a:srgbClr val="0070C0"/>
              </a:buClr>
              <a:buNone/>
            </a:pPr>
            <a:r>
              <a:rPr lang="zh-CN" altLang="en-US" sz="2000" dirty="0">
                <a:latin typeface="+mn-lt"/>
                <a:ea typeface="+mn-ea"/>
              </a:rPr>
              <a:t>在一定段长内，主维度对象下，子维度对象的流量分布。需要预先划分区间</a:t>
            </a:r>
            <a:r>
              <a:rPr lang="en-US" altLang="zh-CN" sz="2000" dirty="0">
                <a:latin typeface="+mn-lt"/>
                <a:ea typeface="+mn-ea"/>
              </a:rPr>
              <a:t>/</a:t>
            </a:r>
            <a:r>
              <a:rPr lang="zh-CN" altLang="en-US" sz="2000" dirty="0">
                <a:latin typeface="+mn-lt"/>
                <a:ea typeface="+mn-ea"/>
              </a:rPr>
              <a:t>桶，统计落在该桶中的占比。</a:t>
            </a:r>
          </a:p>
          <a:p>
            <a:pPr lvl="0" defTabSz="914400">
              <a:buClr>
                <a:srgbClr val="0070C0"/>
              </a:buClr>
              <a:buFont typeface="Wingdings" panose="05000000000000000000" pitchFamily="2" charset="2"/>
              <a:buChar char="n"/>
            </a:pPr>
            <a:endParaRPr lang="zh-CN" altLang="en-US" sz="2000" dirty="0">
              <a:latin typeface="+mn-lt"/>
              <a:ea typeface="+mn-ea"/>
              <a:cs typeface="+mn-cs"/>
            </a:endParaRPr>
          </a:p>
          <a:p>
            <a:pPr lvl="0" defTabSz="914400">
              <a:buClr>
                <a:srgbClr val="0070C0"/>
              </a:buClr>
              <a:buFont typeface="Wingdings" panose="05000000000000000000" pitchFamily="2" charset="2"/>
              <a:buChar char="n"/>
            </a:pPr>
            <a:r>
              <a:rPr lang="zh-CN" altLang="en-US" sz="2000" dirty="0">
                <a:latin typeface="+mn-lt"/>
                <a:ea typeface="+mn-ea"/>
                <a:cs typeface="+mn-cs"/>
              </a:rPr>
              <a:t>数目分布特征</a:t>
            </a:r>
            <a:r>
              <a:rPr lang="en-US" altLang="zh-CN" sz="2000" dirty="0" err="1">
                <a:latin typeface="+mn-lt"/>
                <a:ea typeface="+mn-ea"/>
                <a:cs typeface="+mn-cs"/>
              </a:rPr>
              <a:t>count_distribution</a:t>
            </a:r>
            <a:endParaRPr lang="en-US" altLang="zh-CN" sz="2000" dirty="0">
              <a:latin typeface="+mn-lt"/>
              <a:ea typeface="+mn-ea"/>
              <a:cs typeface="+mn-cs"/>
            </a:endParaRPr>
          </a:p>
          <a:p>
            <a:pPr marL="400050" lvl="1" indent="0" defTabSz="914400">
              <a:buClr>
                <a:srgbClr val="0070C0"/>
              </a:buClr>
              <a:buNone/>
            </a:pPr>
            <a:r>
              <a:rPr lang="zh-CN" altLang="en-US" sz="2000" dirty="0">
                <a:latin typeface="+mn-lt"/>
                <a:ea typeface="+mn-ea"/>
              </a:rPr>
              <a:t>在一定段长内，主维度对象下，子维度对象的频次分布。</a:t>
            </a:r>
          </a:p>
          <a:p>
            <a:pPr marL="0" lvl="0" indent="0" defTabSz="914400">
              <a:buClr>
                <a:srgbClr val="0070C0"/>
              </a:buClr>
              <a:buNone/>
            </a:pPr>
            <a:endParaRPr lang="zh-CN" altLang="en-US" sz="2000" dirty="0">
              <a:latin typeface="+mn-lt"/>
              <a:ea typeface="+mn-ea"/>
              <a:cs typeface="+mn-cs"/>
            </a:endParaRPr>
          </a:p>
          <a:p>
            <a:pPr lvl="0" defTabSz="914400">
              <a:buClr>
                <a:srgbClr val="0070C0"/>
              </a:buClr>
              <a:buFont typeface="Wingdings" panose="05000000000000000000" pitchFamily="2" charset="2"/>
              <a:buChar char="n"/>
            </a:pPr>
            <a:r>
              <a:rPr lang="zh-CN" altLang="en-US" sz="2000" dirty="0">
                <a:latin typeface="+mn-lt"/>
                <a:ea typeface="+mn-ea"/>
                <a:cs typeface="+mn-cs"/>
              </a:rPr>
              <a:t>去重数目分布特征</a:t>
            </a:r>
            <a:r>
              <a:rPr lang="en-US" altLang="zh-CN" sz="2000" dirty="0" err="1">
                <a:latin typeface="+mn-lt"/>
                <a:ea typeface="+mn-ea"/>
                <a:cs typeface="+mn-cs"/>
              </a:rPr>
              <a:t>distinct_distribution</a:t>
            </a:r>
            <a:endParaRPr lang="en-US" altLang="zh-CN" sz="2000" dirty="0">
              <a:latin typeface="+mn-lt"/>
              <a:ea typeface="+mn-ea"/>
              <a:cs typeface="+mn-cs"/>
            </a:endParaRPr>
          </a:p>
          <a:p>
            <a:pPr marL="400050" lvl="1" indent="0" defTabSz="914400">
              <a:buClr>
                <a:srgbClr val="0070C0"/>
              </a:buClr>
              <a:buNone/>
            </a:pPr>
            <a:r>
              <a:rPr lang="zh-CN" altLang="en-US" sz="2000" dirty="0">
                <a:latin typeface="+mn-lt"/>
                <a:ea typeface="+mn-ea"/>
              </a:rPr>
              <a:t>在一定段长内，主维度对象下单个二级维度对象中出现的三级维度对象的种类分布情况。</a:t>
            </a:r>
            <a:endParaRPr lang="en-US" altLang="zh-CN" sz="2000" dirty="0">
              <a:latin typeface="+mn-lt"/>
              <a:ea typeface="+mn-ea"/>
              <a:sym typeface="Helvetica Light"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系统框架以及基本概念</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基本概念</a:t>
            </a:r>
          </a:p>
        </p:txBody>
      </p:sp>
      <p:sp>
        <p:nvSpPr>
          <p:cNvPr id="3" name="文本框 2"/>
          <p:cNvSpPr txBox="1"/>
          <p:nvPr/>
        </p:nvSpPr>
        <p:spPr>
          <a:xfrm>
            <a:off x="426720" y="3302000"/>
            <a:ext cx="184731" cy="369332"/>
          </a:xfrm>
          <a:prstGeom prst="rect">
            <a:avLst/>
          </a:prstGeom>
          <a:noFill/>
        </p:spPr>
        <p:txBody>
          <a:bodyPr wrap="none" rtlCol="0">
            <a:spAutoFit/>
          </a:bodyPr>
          <a:lstStyle/>
          <a:p>
            <a:endParaRPr kumimoji="1" lang="zh-CN" altLang="en-US" dirty="0"/>
          </a:p>
        </p:txBody>
      </p:sp>
      <p:sp>
        <p:nvSpPr>
          <p:cNvPr id="12" name="内容占位符 2"/>
          <p:cNvSpPr>
            <a:spLocks noGrp="1"/>
          </p:cNvSpPr>
          <p:nvPr>
            <p:ph idx="1"/>
          </p:nvPr>
        </p:nvSpPr>
        <p:spPr>
          <a:xfrm>
            <a:off x="1624925" y="1767827"/>
            <a:ext cx="9025145" cy="4901914"/>
          </a:xfrm>
          <a:ln w="12700">
            <a:solidFill>
              <a:srgbClr val="0070C0"/>
            </a:solidFill>
            <a:prstDash val="dashDot"/>
          </a:ln>
        </p:spPr>
        <p:txBody>
          <a:bodyPr anchor="ctr">
            <a:normAutofit lnSpcReduction="10000"/>
          </a:bodyPr>
          <a:lstStyle/>
          <a:p>
            <a:pPr>
              <a:buClr>
                <a:srgbClr val="0070C0"/>
              </a:buClr>
              <a:buFont typeface="Wingdings" panose="05000000000000000000" pitchFamily="2" charset="2"/>
              <a:buChar char="n"/>
            </a:pPr>
            <a:r>
              <a:rPr lang="zh-CN" altLang="en-US" sz="2000" dirty="0">
                <a:sym typeface="Helvetica Light" charset="0"/>
              </a:rPr>
              <a:t>比例特征</a:t>
            </a:r>
            <a:r>
              <a:rPr lang="en-GB" altLang="zh-CN" sz="2000" dirty="0">
                <a:sym typeface="Helvetica Light" charset="0"/>
              </a:rPr>
              <a:t>ratio</a:t>
            </a:r>
          </a:p>
          <a:p>
            <a:pPr marL="400050" lvl="1" indent="0">
              <a:buClr>
                <a:srgbClr val="0070C0"/>
              </a:buClr>
              <a:buNone/>
            </a:pPr>
            <a:r>
              <a:rPr lang="zh-CN" altLang="en-US" sz="1800" dirty="0">
                <a:sym typeface="Helvetica Light" charset="0"/>
              </a:rPr>
              <a:t>在一定段长内，同一维度对象下两个不同的数目特征相除</a:t>
            </a:r>
            <a:r>
              <a:rPr lang="en-US" altLang="zh-CN" sz="1800" dirty="0">
                <a:sym typeface="Helvetica Light" charset="0"/>
              </a:rPr>
              <a:t>(</a:t>
            </a:r>
            <a:r>
              <a:rPr lang="en-GB" altLang="zh-CN" sz="1800" dirty="0">
                <a:sym typeface="Helvetica Light" charset="0"/>
              </a:rPr>
              <a:t>filter/refer)</a:t>
            </a:r>
            <a:r>
              <a:rPr lang="zh-CN" altLang="en-US" sz="1800" dirty="0">
                <a:sym typeface="Helvetica Light" charset="0"/>
              </a:rPr>
              <a:t>得到的比例值。</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自动黑名单比例特征</a:t>
            </a:r>
            <a:r>
              <a:rPr lang="en-GB" altLang="zh-CN" sz="2000" dirty="0" err="1">
                <a:sym typeface="Helvetica Light" charset="0"/>
              </a:rPr>
              <a:t>auto_ratio</a:t>
            </a:r>
            <a:endParaRPr lang="en-GB" altLang="zh-CN" sz="2000" dirty="0">
              <a:sym typeface="Helvetica Light" charset="0"/>
            </a:endParaRPr>
          </a:p>
          <a:p>
            <a:pPr marL="400050" lvl="1" indent="0">
              <a:buClr>
                <a:srgbClr val="0070C0"/>
              </a:buClr>
              <a:buNone/>
            </a:pPr>
            <a:r>
              <a:rPr lang="zh-CN" altLang="en-US" sz="1800" dirty="0">
                <a:sym typeface="Helvetica Light" charset="0"/>
              </a:rPr>
              <a:t>在一定段长内，某维度对象下两个数目特征相除得到的比例值。</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去重数目特征</a:t>
            </a:r>
            <a:r>
              <a:rPr lang="en-GB" altLang="zh-CN" sz="2000" dirty="0">
                <a:sym typeface="Helvetica Light" charset="0"/>
              </a:rPr>
              <a:t>distinct</a:t>
            </a:r>
          </a:p>
          <a:p>
            <a:pPr marL="400050" lvl="1" indent="0">
              <a:buClr>
                <a:srgbClr val="0070C0"/>
              </a:buClr>
              <a:buNone/>
            </a:pPr>
            <a:r>
              <a:rPr lang="zh-CN" altLang="en-US" sz="1800" dirty="0">
                <a:sym typeface="Helvetica Light" charset="0"/>
              </a:rPr>
              <a:t>在一定段长内，某一个主维度对象下，子维度对象的种类。</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名单特征</a:t>
            </a:r>
            <a:r>
              <a:rPr lang="en-GB" altLang="zh-CN" sz="2000" dirty="0" err="1">
                <a:sym typeface="Helvetica Light" charset="0"/>
              </a:rPr>
              <a:t>file_dict</a:t>
            </a:r>
            <a:endParaRPr lang="en-GB" altLang="zh-CN" sz="2000" dirty="0">
              <a:sym typeface="Helvetica Light" charset="0"/>
            </a:endParaRPr>
          </a:p>
          <a:p>
            <a:pPr marL="400050" lvl="1" indent="0">
              <a:buClr>
                <a:srgbClr val="0070C0"/>
              </a:buClr>
              <a:buNone/>
            </a:pPr>
            <a:r>
              <a:rPr lang="en-GB" altLang="zh-CN" sz="1800" dirty="0" err="1">
                <a:sym typeface="Helvetica Light" charset="0"/>
              </a:rPr>
              <a:t>file_key</a:t>
            </a:r>
            <a:r>
              <a:rPr lang="zh-CN" altLang="en-US" sz="1800" dirty="0">
                <a:sym typeface="Helvetica Light" charset="0"/>
              </a:rPr>
              <a:t>来自于</a:t>
            </a:r>
            <a:r>
              <a:rPr lang="en-GB" altLang="zh-CN" sz="1800" dirty="0" err="1">
                <a:sym typeface="Helvetica Light" charset="0"/>
              </a:rPr>
              <a:t>dict.conf</a:t>
            </a:r>
            <a:r>
              <a:rPr lang="zh-CN" altLang="en-GB" sz="1800" dirty="0">
                <a:sym typeface="Helvetica Light" charset="0"/>
              </a:rPr>
              <a:t>，</a:t>
            </a:r>
            <a:r>
              <a:rPr lang="zh-CN" altLang="en-US" sz="1800" dirty="0">
                <a:sym typeface="Helvetica Light" charset="0"/>
              </a:rPr>
              <a:t>主要和黑名单白名单和灰名单策略相关。</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处理空间特征</a:t>
            </a:r>
            <a:r>
              <a:rPr lang="en-GB" altLang="zh-CN" sz="2000" dirty="0" err="1">
                <a:sym typeface="Helvetica Light" charset="0"/>
              </a:rPr>
              <a:t>carespace</a:t>
            </a:r>
            <a:endParaRPr lang="en-GB" altLang="zh-CN" sz="2000" dirty="0">
              <a:sym typeface="Helvetica Light" charset="0"/>
            </a:endParaRPr>
          </a:p>
          <a:p>
            <a:pPr marL="400050" lvl="1" indent="0">
              <a:buClr>
                <a:srgbClr val="0070C0"/>
              </a:buClr>
              <a:buNone/>
            </a:pPr>
            <a:r>
              <a:rPr lang="zh-CN" altLang="en-US" sz="1800" dirty="0">
                <a:sym typeface="Helvetica Light" charset="0"/>
              </a:rPr>
              <a:t>判断流量是否满足</a:t>
            </a:r>
            <a:r>
              <a:rPr lang="en-GB" altLang="zh-CN" sz="1800" dirty="0">
                <a:sym typeface="Helvetica Light" charset="0"/>
              </a:rPr>
              <a:t>condition</a:t>
            </a:r>
            <a:r>
              <a:rPr lang="zh-CN" altLang="en-GB" sz="1800" dirty="0">
                <a:sym typeface="Helvetica Light" charset="0"/>
              </a:rPr>
              <a:t>。</a:t>
            </a:r>
            <a:endParaRPr lang="zh-CN" altLang="en-GB"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时差特征</a:t>
            </a:r>
            <a:r>
              <a:rPr lang="en-GB" altLang="zh-CN" sz="2000" dirty="0" err="1">
                <a:sym typeface="Helvetica Light" charset="0"/>
              </a:rPr>
              <a:t>timediff</a:t>
            </a:r>
            <a:endParaRPr lang="en-GB" altLang="zh-CN" sz="2000" dirty="0">
              <a:sym typeface="Helvetica Light" charset="0"/>
            </a:endParaRPr>
          </a:p>
          <a:p>
            <a:pPr marL="400050" lvl="1" indent="0">
              <a:buClr>
                <a:srgbClr val="0070C0"/>
              </a:buClr>
              <a:buNone/>
            </a:pPr>
            <a:r>
              <a:rPr lang="zh-CN" altLang="en-US" sz="1800" dirty="0">
                <a:sym typeface="Helvetica Light" charset="0"/>
              </a:rPr>
              <a:t>在一定段长内，同一维度对象的时间差。</a:t>
            </a:r>
            <a:endParaRPr lang="zh-CN" altLang="en-US" sz="2000" dirty="0">
              <a:sym typeface="Helvetica Light" charset="0"/>
            </a:endParaRPr>
          </a:p>
          <a:p>
            <a:pPr>
              <a:buClr>
                <a:srgbClr val="0070C0"/>
              </a:buClr>
              <a:buFont typeface="Wingdings" panose="05000000000000000000" pitchFamily="2" charset="2"/>
              <a:buChar char="n"/>
            </a:pPr>
            <a:r>
              <a:rPr lang="zh-CN" altLang="en-US" sz="2000" dirty="0">
                <a:sym typeface="Helvetica Light" charset="0"/>
              </a:rPr>
              <a:t>集中度特征</a:t>
            </a:r>
            <a:r>
              <a:rPr lang="en-GB" altLang="zh-CN" sz="2000" dirty="0">
                <a:sym typeface="Helvetica Light" charset="0"/>
              </a:rPr>
              <a:t>concentration</a:t>
            </a:r>
          </a:p>
          <a:p>
            <a:pPr marL="400050" lvl="1" indent="0">
              <a:buClr>
                <a:srgbClr val="0070C0"/>
              </a:buClr>
              <a:buNone/>
            </a:pPr>
            <a:r>
              <a:rPr lang="zh-CN" altLang="en-US" sz="1800" dirty="0">
                <a:sym typeface="Helvetica Light" charset="0"/>
              </a:rPr>
              <a:t>主维度下的子维度对象的频次</a:t>
            </a:r>
            <a:r>
              <a:rPr lang="en-GB" altLang="zh-CN" sz="1800" dirty="0">
                <a:sym typeface="Helvetica Light" charset="0"/>
              </a:rPr>
              <a:t>Top K</a:t>
            </a:r>
            <a:r>
              <a:rPr lang="zh-CN" altLang="en-US" sz="1800" dirty="0">
                <a:sym typeface="Helvetica Light" charset="0"/>
              </a:rPr>
              <a:t>的频次占比。</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
          <p:cNvSpPr/>
          <p:nvPr/>
        </p:nvSpPr>
        <p:spPr bwMode="auto">
          <a:xfrm>
            <a:off x="3611200" y="2498559"/>
            <a:ext cx="2340000" cy="180000"/>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13" name="Rectangle 2"/>
          <p:cNvSpPr/>
          <p:nvPr/>
        </p:nvSpPr>
        <p:spPr bwMode="auto">
          <a:xfrm>
            <a:off x="5951200" y="2498559"/>
            <a:ext cx="2340000" cy="180000"/>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14" name="Rectangle 4"/>
          <p:cNvSpPr txBox="1">
            <a:spLocks noChangeArrowheads="1"/>
          </p:cNvSpPr>
          <p:nvPr/>
        </p:nvSpPr>
        <p:spPr>
          <a:xfrm>
            <a:off x="3139574" y="1688396"/>
            <a:ext cx="5623252" cy="720080"/>
          </a:xfrm>
          <a:prstGeom prst="rect">
            <a:avLst/>
          </a:prstGeom>
          <a:solidFill>
            <a:srgbClr val="FFFFFF"/>
          </a:solidFill>
          <a:extLst>
            <a:ext uri="{91240B29-F687-4F45-9708-019B960494DF}">
              <a14:hiddenLine xmlns:a14="http://schemas.microsoft.com/office/drawing/2010/main" w="9525">
                <a:solidFill>
                  <a:srgbClr val="000000"/>
                </a:solidFill>
                <a:round/>
              </a14:hiddenLine>
            </a:ext>
          </a:extLst>
        </p:spPr>
        <p:txBody>
          <a:bodyPr vert="horz" lIns="126435" tIns="72248" rIns="126435" bIns="72248" rtlCol="0" anchor="t">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900" dirty="0">
                <a:ea typeface="宋体" pitchFamily="2" charset="-122"/>
              </a:rPr>
              <a:t>策略及特征介绍</a:t>
            </a:r>
          </a:p>
        </p:txBody>
      </p:sp>
      <p:pic>
        <p:nvPicPr>
          <p:cNvPr id="16" name="图片 15"/>
          <p:cNvPicPr>
            <a:picLocks noChangeAspect="1"/>
          </p:cNvPicPr>
          <p:nvPr/>
        </p:nvPicPr>
        <p:blipFill>
          <a:blip r:embed="rId3"/>
          <a:stretch>
            <a:fillRect/>
          </a:stretch>
        </p:blipFill>
        <p:spPr>
          <a:xfrm>
            <a:off x="9877707" y="5405439"/>
            <a:ext cx="1851657" cy="617219"/>
          </a:xfrm>
          <a:prstGeom prst="rect">
            <a:avLst/>
          </a:prstGeom>
        </p:spPr>
      </p:pic>
      <p:sp>
        <p:nvSpPr>
          <p:cNvPr id="17" name="Rectangle 1"/>
          <p:cNvSpPr/>
          <p:nvPr/>
        </p:nvSpPr>
        <p:spPr bwMode="auto">
          <a:xfrm>
            <a:off x="3611200" y="1202415"/>
            <a:ext cx="2340000" cy="180000"/>
          </a:xfrm>
          <a:prstGeom prst="rect">
            <a:avLst/>
          </a:prstGeom>
          <a:solidFill>
            <a:srgbClr val="2A4DFE"/>
          </a:solidFill>
          <a:ln>
            <a:noFill/>
          </a:ln>
          <a:effectLst/>
        </p:spPr>
        <p:txBody>
          <a:bodyPr lIns="72248" tIns="72248" rIns="72248" bIns="72248" anchor="ctr"/>
          <a:lstStyle/>
          <a:p>
            <a:pPr>
              <a:defRPr/>
            </a:pPr>
            <a:endParaRPr lang="zh-CN" altLang="en-US" dirty="0">
              <a:latin typeface="Helvetica Light" charset="0"/>
              <a:ea typeface="宋体" charset="0"/>
              <a:cs typeface="宋体" charset="0"/>
              <a:sym typeface="Helvetica Light" charset="0"/>
            </a:endParaRPr>
          </a:p>
        </p:txBody>
      </p:sp>
      <p:sp>
        <p:nvSpPr>
          <p:cNvPr id="18" name="Rectangle 2"/>
          <p:cNvSpPr/>
          <p:nvPr/>
        </p:nvSpPr>
        <p:spPr bwMode="auto">
          <a:xfrm>
            <a:off x="5951200" y="1202415"/>
            <a:ext cx="2340000" cy="180000"/>
          </a:xfrm>
          <a:prstGeom prst="rect">
            <a:avLst/>
          </a:prstGeom>
          <a:solidFill>
            <a:srgbClr val="FF0200"/>
          </a:solidFill>
          <a:ln>
            <a:noFill/>
          </a:ln>
          <a:effec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9" name="内容占位符 2"/>
          <p:cNvSpPr txBox="1"/>
          <p:nvPr/>
        </p:nvSpPr>
        <p:spPr>
          <a:xfrm>
            <a:off x="4457647" y="3128682"/>
            <a:ext cx="3833553" cy="289397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Arial" panose="020B0604020202020204" pitchFamily="34" charset="0"/>
              <a:buChar char="•"/>
            </a:pPr>
            <a:r>
              <a:rPr kumimoji="1" lang="zh-CN" altLang="en-US" dirty="0"/>
              <a:t>基本规范</a:t>
            </a:r>
            <a:endParaRPr kumimoji="1" lang="en-US" altLang="zh-CN" dirty="0"/>
          </a:p>
          <a:p>
            <a:pPr marL="342900" indent="-342900" algn="l">
              <a:lnSpc>
                <a:spcPct val="150000"/>
              </a:lnSpc>
              <a:buFont typeface="Arial" panose="020B0604020202020204" pitchFamily="34" charset="0"/>
              <a:buChar char="•"/>
            </a:pPr>
            <a:r>
              <a:rPr kumimoji="1" lang="zh-CN" altLang="en-US" dirty="0"/>
              <a:t>简单类策略</a:t>
            </a:r>
            <a:endParaRPr kumimoji="1" lang="en-US" altLang="zh-CN" dirty="0"/>
          </a:p>
          <a:p>
            <a:pPr marL="342900" indent="-342900" algn="l">
              <a:lnSpc>
                <a:spcPct val="150000"/>
              </a:lnSpc>
              <a:buFont typeface="Arial" panose="020B0604020202020204" pitchFamily="34" charset="0"/>
              <a:buChar char="•"/>
            </a:pPr>
            <a:r>
              <a:rPr kumimoji="1" lang="zh-CN" altLang="en-US" dirty="0"/>
              <a:t>统计类策略</a:t>
            </a:r>
            <a:endParaRPr kumimoji="1"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8676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dirty="0"/>
              <a:t> </a:t>
            </a:r>
            <a:r>
              <a:rPr kumimoji="1" lang="zh-CN" altLang="en-US" b="1" dirty="0"/>
              <a:t>基本规范</a:t>
            </a:r>
          </a:p>
        </p:txBody>
      </p:sp>
      <p:sp>
        <p:nvSpPr>
          <p:cNvPr id="16" name="文本框 15"/>
          <p:cNvSpPr txBox="1"/>
          <p:nvPr/>
        </p:nvSpPr>
        <p:spPr>
          <a:xfrm>
            <a:off x="612990" y="1869666"/>
            <a:ext cx="4809402" cy="3598229"/>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分类</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简单策略：</a:t>
            </a:r>
            <a:r>
              <a:rPr lang="zh-CN" altLang="en-US" dirty="0">
                <a:latin typeface="微软雅黑" panose="020B0503020204020204" pitchFamily="34" charset="-122"/>
                <a:ea typeface="微软雅黑" panose="020B0503020204020204" pitchFamily="34" charset="-122"/>
              </a:rPr>
              <a:t>简单、针对单条日志处理、不统计、不保存状态。</a:t>
            </a:r>
            <a:endParaRPr lang="en-US" altLang="zh-CN" dirty="0">
              <a:latin typeface="微软雅黑" panose="020B0503020204020204" pitchFamily="34" charset="-122"/>
              <a:ea typeface="微软雅黑" panose="020B0503020204020204" pitchFamily="34" charset="-122"/>
            </a:endParaRPr>
          </a:p>
          <a:p>
            <a:pPr>
              <a:lnSpc>
                <a:spcPct val="150000"/>
              </a:lnSpc>
            </a:pPr>
            <a:r>
              <a:rPr kumimoji="1" lang="en-US" altLang="zh-CN" sz="1400" dirty="0">
                <a:latin typeface="微软雅黑" panose="020B0503020204020204" pitchFamily="34" charset="-122"/>
                <a:ea typeface="微软雅黑" panose="020B0503020204020204" pitchFamily="34" charset="-122"/>
              </a:rPr>
              <a:t>	</a:t>
            </a:r>
            <a:r>
              <a:rPr kumimoji="1" lang="zh-CN" altLang="en-US" sz="1400" dirty="0">
                <a:latin typeface="微软雅黑" panose="020B0503020204020204" pitchFamily="34" charset="-122"/>
                <a:ea typeface="微软雅黑" panose="020B0503020204020204" pitchFamily="34" charset="-122"/>
              </a:rPr>
              <a:t>例如：处理空间类策略、名单类策略</a:t>
            </a:r>
            <a:endParaRPr kumimoji="1" lang="en-US" altLang="zh-CN" sz="14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dirty="0">
                <a:latin typeface="微软雅黑" panose="020B0503020204020204" pitchFamily="34" charset="-122"/>
                <a:ea typeface="微软雅黑" panose="020B0503020204020204" pitchFamily="34" charset="-122"/>
              </a:rPr>
              <a:t>统计策略：</a:t>
            </a:r>
            <a:r>
              <a:rPr lang="zh-CN" altLang="en-US" dirty="0">
                <a:latin typeface="微软雅黑" panose="020B0503020204020204" pitchFamily="34" charset="-122"/>
                <a:ea typeface="微软雅黑" panose="020B0503020204020204" pitchFamily="34" charset="-122"/>
              </a:rPr>
              <a:t>统计一段时间内的点击，对某些维度累计判断，需要保存状态。</a:t>
            </a:r>
            <a:endParaRPr lang="en-US" altLang="zh-CN" dirty="0">
              <a:latin typeface="微软雅黑" panose="020B0503020204020204" pitchFamily="34" charset="-122"/>
              <a:ea typeface="微软雅黑" panose="020B0503020204020204" pitchFamily="34" charset="-122"/>
            </a:endParaRPr>
          </a:p>
          <a:p>
            <a:pPr>
              <a:lnSpc>
                <a:spcPct val="150000"/>
              </a:lnSpc>
            </a:pPr>
            <a:r>
              <a:rPr kumimoji="1" lang="en-US" altLang="zh-CN" sz="1400" dirty="0">
                <a:latin typeface="微软雅黑" panose="020B0503020204020204" pitchFamily="34" charset="-122"/>
                <a:ea typeface="微软雅黑" panose="020B0503020204020204" pitchFamily="34" charset="-122"/>
              </a:rPr>
              <a:t>	</a:t>
            </a:r>
            <a:r>
              <a:rPr kumimoji="1" lang="zh-CN" altLang="en-US" sz="1400" dirty="0">
                <a:latin typeface="微软雅黑" panose="020B0503020204020204" pitchFamily="34" charset="-122"/>
                <a:ea typeface="微软雅黑" panose="020B0503020204020204" pitchFamily="34" charset="-122"/>
              </a:rPr>
              <a:t>例如：段上限策略、段比例策略、分布异常策</a:t>
            </a:r>
            <a:r>
              <a:rPr kumimoji="1" lang="en-US" altLang="zh-CN" sz="1400" dirty="0">
                <a:latin typeface="微软雅黑" panose="020B0503020204020204" pitchFamily="34" charset="-122"/>
                <a:ea typeface="微软雅黑" panose="020B0503020204020204" pitchFamily="34" charset="-122"/>
              </a:rPr>
              <a:t>	</a:t>
            </a:r>
            <a:r>
              <a:rPr kumimoji="1" lang="zh-CN" altLang="en-US" sz="1400" dirty="0">
                <a:latin typeface="微软雅黑" panose="020B0503020204020204" pitchFamily="34" charset="-122"/>
                <a:ea typeface="微软雅黑" panose="020B0503020204020204" pitchFamily="34" charset="-122"/>
              </a:rPr>
              <a:t>略、段上限自动黑名单策略等</a:t>
            </a:r>
            <a:endParaRPr kumimoji="1" lang="en-US" altLang="zh-CN" sz="1400" dirty="0">
              <a:latin typeface="微软雅黑" panose="020B0503020204020204" pitchFamily="34" charset="-122"/>
              <a:ea typeface="微软雅黑" panose="020B0503020204020204" pitchFamily="34" charset="-122"/>
            </a:endParaRPr>
          </a:p>
          <a:p>
            <a:pPr>
              <a:lnSpc>
                <a:spcPct val="150000"/>
              </a:lnSpc>
            </a:pPr>
            <a:endParaRPr kumimoji="1" lang="en-US" altLang="zh-CN" dirty="0">
              <a:latin typeface="微软雅黑" panose="020B0503020204020204" pitchFamily="34" charset="-122"/>
              <a:ea typeface="微软雅黑" panose="020B0503020204020204" pitchFamily="34" charset="-122"/>
            </a:endParaRPr>
          </a:p>
        </p:txBody>
      </p:sp>
      <p:sp>
        <p:nvSpPr>
          <p:cNvPr id="9" name="文本框 8"/>
          <p:cNvSpPr txBox="1"/>
          <p:nvPr/>
        </p:nvSpPr>
        <p:spPr>
          <a:xfrm>
            <a:off x="6096000" y="1869665"/>
            <a:ext cx="4809402" cy="874407"/>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编号</a:t>
            </a:r>
            <a:endParaRPr kumimoji="1" lang="en-US" altLang="zh-CN" dirty="0">
              <a:latin typeface="微软雅黑" panose="020B0503020204020204" pitchFamily="34" charset="-122"/>
              <a:ea typeface="微软雅黑" panose="020B0503020204020204" pitchFamily="34" charset="-122"/>
            </a:endParaRPr>
          </a:p>
          <a:p>
            <a:pPr>
              <a:lnSpc>
                <a:spcPct val="150000"/>
              </a:lnSpc>
            </a:pPr>
            <a:endParaRPr kumimoji="1" lang="en-US" altLang="zh-CN" dirty="0">
              <a:latin typeface="微软雅黑" panose="020B0503020204020204" pitchFamily="34" charset="-122"/>
              <a:ea typeface="微软雅黑" panose="020B0503020204020204" pitchFamily="34" charset="-122"/>
            </a:endParaRPr>
          </a:p>
        </p:txBody>
      </p:sp>
      <p:graphicFrame>
        <p:nvGraphicFramePr>
          <p:cNvPr id="10" name="表格 9"/>
          <p:cNvGraphicFramePr>
            <a:graphicFrameLocks noGrp="1"/>
          </p:cNvGraphicFramePr>
          <p:nvPr/>
        </p:nvGraphicFramePr>
        <p:xfrm>
          <a:off x="7122459" y="1166405"/>
          <a:ext cx="4456551" cy="4301490"/>
        </p:xfrm>
        <a:graphic>
          <a:graphicData uri="http://schemas.openxmlformats.org/drawingml/2006/table">
            <a:tbl>
              <a:tblPr firstRow="1">
                <a:tableStyleId>{B301B821-A1FF-4177-AEE7-76D212191A09}</a:tableStyleId>
              </a:tblPr>
              <a:tblGrid>
                <a:gridCol w="726053">
                  <a:extLst>
                    <a:ext uri="{9D8B030D-6E8A-4147-A177-3AD203B41FA5}">
                      <a16:colId xmlns:a16="http://schemas.microsoft.com/office/drawing/2014/main" val="20000"/>
                    </a:ext>
                  </a:extLst>
                </a:gridCol>
                <a:gridCol w="578207">
                  <a:extLst>
                    <a:ext uri="{9D8B030D-6E8A-4147-A177-3AD203B41FA5}">
                      <a16:colId xmlns:a16="http://schemas.microsoft.com/office/drawing/2014/main" val="20001"/>
                    </a:ext>
                  </a:extLst>
                </a:gridCol>
                <a:gridCol w="3152291">
                  <a:extLst>
                    <a:ext uri="{9D8B030D-6E8A-4147-A177-3AD203B41FA5}">
                      <a16:colId xmlns:a16="http://schemas.microsoft.com/office/drawing/2014/main" val="20002"/>
                    </a:ext>
                  </a:extLst>
                </a:gridCol>
              </a:tblGrid>
              <a:tr h="342440">
                <a:tc>
                  <a:txBody>
                    <a:bodyPr/>
                    <a:lstStyle/>
                    <a:p>
                      <a:pPr algn="l" fontAlgn="t"/>
                      <a:r>
                        <a:rPr lang="zh-CN" altLang="en-US" sz="1400" dirty="0">
                          <a:effectLst/>
                        </a:rPr>
                        <a:t>位别</a:t>
                      </a:r>
                      <a:endParaRPr lang="zh-CN" altLang="en-US" sz="1400" b="1" dirty="0">
                        <a:solidFill>
                          <a:srgbClr val="333333"/>
                        </a:solidFill>
                        <a:effectLst/>
                        <a:latin typeface="微软雅黑" panose="020B0503020204020204" pitchFamily="34" charset="-122"/>
                        <a:ea typeface="微软雅黑" panose="020B0503020204020204" pitchFamily="34" charset="-122"/>
                      </a:endParaRPr>
                    </a:p>
                  </a:txBody>
                  <a:tcPr marL="95250" marR="95250" marT="66675" marB="66675"/>
                </a:tc>
                <a:tc>
                  <a:txBody>
                    <a:bodyPr/>
                    <a:lstStyle/>
                    <a:p>
                      <a:pPr algn="l" fontAlgn="t"/>
                      <a:r>
                        <a:rPr lang="zh-CN" altLang="en-US" sz="1400">
                          <a:effectLst/>
                        </a:rPr>
                        <a:t>位次</a:t>
                      </a:r>
                      <a:endParaRPr lang="zh-CN" altLang="en-US" sz="1400" b="1">
                        <a:solidFill>
                          <a:srgbClr val="333333"/>
                        </a:solidFill>
                        <a:effectLst/>
                        <a:latin typeface="微软雅黑" panose="020B0503020204020204" pitchFamily="34" charset="-122"/>
                        <a:ea typeface="微软雅黑" panose="020B0503020204020204" pitchFamily="34" charset="-122"/>
                      </a:endParaRPr>
                    </a:p>
                  </a:txBody>
                  <a:tcPr marL="95250" marR="95250" marT="66675" marB="66675"/>
                </a:tc>
                <a:tc>
                  <a:txBody>
                    <a:bodyPr/>
                    <a:lstStyle/>
                    <a:p>
                      <a:pPr algn="l" fontAlgn="t"/>
                      <a:r>
                        <a:rPr lang="zh-CN" altLang="en-US" sz="1400" dirty="0">
                          <a:effectLst/>
                        </a:rPr>
                        <a:t>策略类型</a:t>
                      </a:r>
                      <a:endParaRPr lang="zh-CN" altLang="en-US" sz="1400" b="1" dirty="0">
                        <a:solidFill>
                          <a:srgbClr val="333333"/>
                        </a:solidFill>
                        <a:effectLst/>
                        <a:latin typeface="微软雅黑" panose="020B0503020204020204" pitchFamily="34" charset="-122"/>
                        <a:ea typeface="微软雅黑" panose="020B0503020204020204" pitchFamily="34" charset="-122"/>
                      </a:endParaRPr>
                    </a:p>
                  </a:txBody>
                  <a:tcPr marL="95250" marR="95250" marT="66675" marB="66675"/>
                </a:tc>
                <a:extLst>
                  <a:ext uri="{0D108BD9-81ED-4DB2-BD59-A6C34878D82A}">
                    <a16:rowId xmlns:a16="http://schemas.microsoft.com/office/drawing/2014/main" val="10000"/>
                  </a:ext>
                </a:extLst>
              </a:tr>
              <a:tr h="342440">
                <a:tc rowSpan="8">
                  <a:txBody>
                    <a:bodyPr/>
                    <a:lstStyle/>
                    <a:p>
                      <a:pPr algn="l" fontAlgn="t"/>
                      <a:r>
                        <a:rPr lang="zh-CN" altLang="en-US" sz="1400" dirty="0">
                          <a:effectLst/>
                        </a:rPr>
                        <a:t>最高位</a:t>
                      </a:r>
                      <a:endParaRPr lang="zh-CN" altLang="en-US" sz="1400" dirty="0">
                        <a:effectLst/>
                        <a:latin typeface="微软雅黑" panose="020B0503020204020204" pitchFamily="34" charset="-122"/>
                        <a:ea typeface="微软雅黑" panose="020B0503020204020204" pitchFamily="34" charset="-122"/>
                      </a:endParaRPr>
                    </a:p>
                  </a:txBody>
                  <a:tcPr marL="95250" marR="95250" marT="66675" marB="66675" anchor="ctr">
                    <a:lnR w="12700" cap="flat" cmpd="sng" algn="ctr">
                      <a:solidFill>
                        <a:srgbClr val="0070C0"/>
                      </a:solidFill>
                      <a:prstDash val="solid"/>
                      <a:round/>
                      <a:headEnd type="none" w="med" len="med"/>
                      <a:tailEnd type="none" w="med" len="med"/>
                    </a:lnR>
                  </a:tcPr>
                </a:tc>
                <a:tc>
                  <a:txBody>
                    <a:bodyPr/>
                    <a:lstStyle/>
                    <a:p>
                      <a:pPr algn="l" fontAlgn="t"/>
                      <a:r>
                        <a:rPr lang="en-US" altLang="zh-CN" sz="1600" dirty="0">
                          <a:effectLst/>
                        </a:rPr>
                        <a:t>1</a:t>
                      </a:r>
                      <a:endParaRPr lang="zh-CN" altLang="en-US" sz="1600" dirty="0">
                        <a:effectLst/>
                        <a:latin typeface="微软雅黑" panose="020B0503020204020204" pitchFamily="34" charset="-122"/>
                        <a:ea typeface="微软雅黑" panose="020B0503020204020204" pitchFamily="34" charset="-122"/>
                      </a:endParaRPr>
                    </a:p>
                  </a:txBody>
                  <a:tcPr marL="95250" marR="95250" marT="66675" marB="66675">
                    <a:lnL w="12700" cap="flat" cmpd="sng" algn="ctr">
                      <a:solidFill>
                        <a:srgbClr val="0070C0"/>
                      </a:solidFill>
                      <a:prstDash val="solid"/>
                      <a:round/>
                      <a:headEnd type="none" w="med" len="med"/>
                      <a:tailEnd type="none" w="med" len="med"/>
                    </a:lnL>
                  </a:tcPr>
                </a:tc>
                <a:tc>
                  <a:txBody>
                    <a:bodyPr/>
                    <a:lstStyle/>
                    <a:p>
                      <a:pPr algn="l" fontAlgn="t"/>
                      <a:r>
                        <a:rPr lang="zh-CN" altLang="en-US" sz="1600" dirty="0">
                          <a:effectLst/>
                        </a:rPr>
                        <a:t>简单策略</a:t>
                      </a:r>
                      <a:endParaRPr lang="zh-CN" altLang="en-US" sz="1600" dirty="0">
                        <a:effectLst/>
                        <a:latin typeface="微软雅黑" panose="020B0503020204020204" pitchFamily="34" charset="-122"/>
                        <a:ea typeface="微软雅黑" panose="020B0503020204020204" pitchFamily="34" charset="-122"/>
                      </a:endParaRPr>
                    </a:p>
                  </a:txBody>
                  <a:tcPr marL="95250" marR="95250" marT="66675" marB="66675"/>
                </a:tc>
                <a:extLst>
                  <a:ext uri="{0D108BD9-81ED-4DB2-BD59-A6C34878D82A}">
                    <a16:rowId xmlns:a16="http://schemas.microsoft.com/office/drawing/2014/main" val="10001"/>
                  </a:ext>
                </a:extLst>
              </a:tr>
              <a:tr h="342440">
                <a:tc vMerge="1">
                  <a:txBody>
                    <a:bodyPr/>
                    <a:lstStyle/>
                    <a:p>
                      <a:endParaRPr lang="zh-CN"/>
                    </a:p>
                  </a:txBody>
                  <a:tcPr/>
                </a:tc>
                <a:tc>
                  <a:txBody>
                    <a:bodyPr/>
                    <a:lstStyle/>
                    <a:p>
                      <a:pPr algn="l" fontAlgn="t"/>
                      <a:r>
                        <a:rPr lang="en-US" altLang="zh-CN" sz="1600" dirty="0">
                          <a:effectLst/>
                        </a:rPr>
                        <a:t>2</a:t>
                      </a:r>
                      <a:endParaRPr lang="zh-CN" altLang="en-US" sz="1600" dirty="0">
                        <a:effectLst/>
                        <a:latin typeface="微软雅黑" panose="020B0503020204020204" pitchFamily="34" charset="-122"/>
                        <a:ea typeface="微软雅黑" panose="020B0503020204020204" pitchFamily="34" charset="-122"/>
                      </a:endParaRPr>
                    </a:p>
                  </a:txBody>
                  <a:tcPr marL="95250" marR="95250" marT="66675" marB="66675">
                    <a:lnL w="12700" cap="flat" cmpd="sng" algn="ctr">
                      <a:solidFill>
                        <a:srgbClr val="0070C0"/>
                      </a:solidFill>
                      <a:prstDash val="solid"/>
                      <a:round/>
                      <a:headEnd type="none" w="med" len="med"/>
                      <a:tailEnd type="none" w="med" len="med"/>
                    </a:lnL>
                  </a:tcPr>
                </a:tc>
                <a:tc>
                  <a:txBody>
                    <a:bodyPr/>
                    <a:lstStyle/>
                    <a:p>
                      <a:pPr algn="l" fontAlgn="t"/>
                      <a:r>
                        <a:rPr lang="en-GB" sz="1600" dirty="0" err="1">
                          <a:effectLst/>
                        </a:rPr>
                        <a:t>acp</a:t>
                      </a:r>
                      <a:r>
                        <a:rPr lang="zh-CN" altLang="en-US" sz="1600" dirty="0">
                          <a:effectLst/>
                        </a:rPr>
                        <a:t>策略</a:t>
                      </a:r>
                      <a:endParaRPr lang="zh-CN" altLang="en-US" sz="1600" dirty="0">
                        <a:effectLst/>
                        <a:latin typeface="微软雅黑" panose="020B0503020204020204" pitchFamily="34" charset="-122"/>
                        <a:ea typeface="微软雅黑" panose="020B0503020204020204" pitchFamily="34" charset="-122"/>
                      </a:endParaRPr>
                    </a:p>
                  </a:txBody>
                  <a:tcPr marL="95250" marR="95250" marT="66675" marB="66675"/>
                </a:tc>
                <a:extLst>
                  <a:ext uri="{0D108BD9-81ED-4DB2-BD59-A6C34878D82A}">
                    <a16:rowId xmlns:a16="http://schemas.microsoft.com/office/drawing/2014/main" val="10002"/>
                  </a:ext>
                </a:extLst>
              </a:tr>
              <a:tr h="342440">
                <a:tc vMerge="1">
                  <a:txBody>
                    <a:bodyPr/>
                    <a:lstStyle/>
                    <a:p>
                      <a:endParaRPr lang="zh-CN"/>
                    </a:p>
                  </a:txBody>
                  <a:tcPr/>
                </a:tc>
                <a:tc>
                  <a:txBody>
                    <a:bodyPr/>
                    <a:lstStyle/>
                    <a:p>
                      <a:pPr algn="l" fontAlgn="t"/>
                      <a:r>
                        <a:rPr lang="en-US" altLang="zh-CN" sz="1600" dirty="0">
                          <a:effectLst/>
                        </a:rPr>
                        <a:t>3</a:t>
                      </a:r>
                      <a:endParaRPr lang="zh-CN" altLang="en-US" sz="1600" dirty="0">
                        <a:effectLst/>
                        <a:latin typeface="微软雅黑" panose="020B0503020204020204" pitchFamily="34" charset="-122"/>
                        <a:ea typeface="微软雅黑" panose="020B0503020204020204" pitchFamily="34" charset="-122"/>
                      </a:endParaRPr>
                    </a:p>
                  </a:txBody>
                  <a:tcPr marL="95250" marR="95250" marT="66675" marB="66675">
                    <a:lnL w="12700" cap="flat" cmpd="sng" algn="ctr">
                      <a:solidFill>
                        <a:srgbClr val="0070C0"/>
                      </a:solidFill>
                      <a:prstDash val="solid"/>
                      <a:round/>
                      <a:headEnd type="none" w="med" len="med"/>
                      <a:tailEnd type="none" w="med" len="med"/>
                    </a:lnL>
                  </a:tcPr>
                </a:tc>
                <a:tc>
                  <a:txBody>
                    <a:bodyPr/>
                    <a:lstStyle/>
                    <a:p>
                      <a:pPr algn="l" fontAlgn="t"/>
                      <a:r>
                        <a:rPr lang="zh-CN" altLang="en-US" sz="1600" dirty="0">
                          <a:effectLst/>
                        </a:rPr>
                        <a:t>段上限策略</a:t>
                      </a:r>
                      <a:endParaRPr lang="zh-CN" altLang="en-US" sz="1600" dirty="0">
                        <a:effectLst/>
                        <a:latin typeface="微软雅黑" panose="020B0503020204020204" pitchFamily="34" charset="-122"/>
                        <a:ea typeface="微软雅黑" panose="020B0503020204020204" pitchFamily="34" charset="-122"/>
                      </a:endParaRPr>
                    </a:p>
                  </a:txBody>
                  <a:tcPr marL="95250" marR="95250" marT="66675" marB="66675"/>
                </a:tc>
                <a:extLst>
                  <a:ext uri="{0D108BD9-81ED-4DB2-BD59-A6C34878D82A}">
                    <a16:rowId xmlns:a16="http://schemas.microsoft.com/office/drawing/2014/main" val="10003"/>
                  </a:ext>
                </a:extLst>
              </a:tr>
              <a:tr h="342440">
                <a:tc vMerge="1">
                  <a:txBody>
                    <a:bodyPr/>
                    <a:lstStyle/>
                    <a:p>
                      <a:endParaRPr lang="zh-CN"/>
                    </a:p>
                  </a:txBody>
                  <a:tcPr/>
                </a:tc>
                <a:tc>
                  <a:txBody>
                    <a:bodyPr/>
                    <a:lstStyle/>
                    <a:p>
                      <a:pPr algn="l" fontAlgn="t"/>
                      <a:r>
                        <a:rPr lang="en-US" altLang="zh-CN" sz="1600">
                          <a:effectLst/>
                        </a:rPr>
                        <a:t>4</a:t>
                      </a:r>
                      <a:endParaRPr lang="zh-CN" altLang="en-US" sz="1600">
                        <a:effectLst/>
                        <a:latin typeface="微软雅黑" panose="020B0503020204020204" pitchFamily="34" charset="-122"/>
                        <a:ea typeface="微软雅黑" panose="020B0503020204020204" pitchFamily="34" charset="-122"/>
                      </a:endParaRPr>
                    </a:p>
                  </a:txBody>
                  <a:tcPr marL="95250" marR="95250" marT="66675" marB="66675">
                    <a:lnL w="12700" cap="flat" cmpd="sng" algn="ctr">
                      <a:solidFill>
                        <a:srgbClr val="0070C0"/>
                      </a:solidFill>
                      <a:prstDash val="solid"/>
                      <a:round/>
                      <a:headEnd type="none" w="med" len="med"/>
                      <a:tailEnd type="none" w="med" len="med"/>
                    </a:lnL>
                  </a:tcPr>
                </a:tc>
                <a:tc>
                  <a:txBody>
                    <a:bodyPr/>
                    <a:lstStyle/>
                    <a:p>
                      <a:pPr algn="l" fontAlgn="t"/>
                      <a:r>
                        <a:rPr lang="zh-CN" altLang="en-US" sz="1600" dirty="0">
                          <a:effectLst/>
                        </a:rPr>
                        <a:t>段比例策略</a:t>
                      </a:r>
                      <a:endParaRPr lang="zh-CN" altLang="en-US" sz="1600" dirty="0">
                        <a:effectLst/>
                        <a:latin typeface="微软雅黑" panose="020B0503020204020204" pitchFamily="34" charset="-122"/>
                        <a:ea typeface="微软雅黑" panose="020B0503020204020204" pitchFamily="34" charset="-122"/>
                      </a:endParaRPr>
                    </a:p>
                  </a:txBody>
                  <a:tcPr marL="95250" marR="95250" marT="66675" marB="66675"/>
                </a:tc>
                <a:extLst>
                  <a:ext uri="{0D108BD9-81ED-4DB2-BD59-A6C34878D82A}">
                    <a16:rowId xmlns:a16="http://schemas.microsoft.com/office/drawing/2014/main" val="10004"/>
                  </a:ext>
                </a:extLst>
              </a:tr>
              <a:tr h="342440">
                <a:tc vMerge="1">
                  <a:txBody>
                    <a:bodyPr/>
                    <a:lstStyle/>
                    <a:p>
                      <a:endParaRPr lang="zh-CN"/>
                    </a:p>
                  </a:txBody>
                  <a:tcPr/>
                </a:tc>
                <a:tc>
                  <a:txBody>
                    <a:bodyPr/>
                    <a:lstStyle/>
                    <a:p>
                      <a:pPr algn="l" fontAlgn="t"/>
                      <a:r>
                        <a:rPr lang="en-US" altLang="zh-CN" sz="1600">
                          <a:effectLst/>
                        </a:rPr>
                        <a:t>5</a:t>
                      </a:r>
                      <a:endParaRPr lang="zh-CN" altLang="en-US" sz="1600">
                        <a:effectLst/>
                        <a:latin typeface="微软雅黑" panose="020B0503020204020204" pitchFamily="34" charset="-122"/>
                        <a:ea typeface="微软雅黑" panose="020B0503020204020204" pitchFamily="34" charset="-122"/>
                      </a:endParaRPr>
                    </a:p>
                  </a:txBody>
                  <a:tcPr marL="95250" marR="95250" marT="66675" marB="66675">
                    <a:lnL w="12700" cap="flat" cmpd="sng" algn="ctr">
                      <a:solidFill>
                        <a:srgbClr val="0070C0"/>
                      </a:solidFill>
                      <a:prstDash val="solid"/>
                      <a:round/>
                      <a:headEnd type="none" w="med" len="med"/>
                      <a:tailEnd type="none" w="med" len="med"/>
                    </a:lnL>
                  </a:tcPr>
                </a:tc>
                <a:tc>
                  <a:txBody>
                    <a:bodyPr/>
                    <a:lstStyle/>
                    <a:p>
                      <a:pPr algn="l" fontAlgn="t"/>
                      <a:r>
                        <a:rPr lang="zh-CN" altLang="en-US" sz="1600">
                          <a:effectLst/>
                        </a:rPr>
                        <a:t>分布异常策略</a:t>
                      </a:r>
                      <a:endParaRPr lang="zh-CN" altLang="en-US" sz="1600">
                        <a:effectLst/>
                        <a:latin typeface="微软雅黑" panose="020B0503020204020204" pitchFamily="34" charset="-122"/>
                        <a:ea typeface="微软雅黑" panose="020B0503020204020204" pitchFamily="34" charset="-122"/>
                      </a:endParaRPr>
                    </a:p>
                  </a:txBody>
                  <a:tcPr marL="95250" marR="95250" marT="66675" marB="66675"/>
                </a:tc>
                <a:extLst>
                  <a:ext uri="{0D108BD9-81ED-4DB2-BD59-A6C34878D82A}">
                    <a16:rowId xmlns:a16="http://schemas.microsoft.com/office/drawing/2014/main" val="10005"/>
                  </a:ext>
                </a:extLst>
              </a:tr>
              <a:tr h="342440">
                <a:tc vMerge="1">
                  <a:txBody>
                    <a:bodyPr/>
                    <a:lstStyle/>
                    <a:p>
                      <a:endParaRPr lang="zh-CN"/>
                    </a:p>
                  </a:txBody>
                  <a:tcPr/>
                </a:tc>
                <a:tc>
                  <a:txBody>
                    <a:bodyPr/>
                    <a:lstStyle/>
                    <a:p>
                      <a:pPr algn="l" fontAlgn="t"/>
                      <a:r>
                        <a:rPr lang="en-US" altLang="zh-CN" sz="1600">
                          <a:effectLst/>
                        </a:rPr>
                        <a:t>6</a:t>
                      </a:r>
                      <a:endParaRPr lang="zh-CN" altLang="en-US" sz="1600">
                        <a:effectLst/>
                        <a:latin typeface="微软雅黑" panose="020B0503020204020204" pitchFamily="34" charset="-122"/>
                        <a:ea typeface="微软雅黑" panose="020B0503020204020204" pitchFamily="34" charset="-122"/>
                      </a:endParaRPr>
                    </a:p>
                  </a:txBody>
                  <a:tcPr marL="95250" marR="95250" marT="66675" marB="66675">
                    <a:lnL w="12700" cap="flat" cmpd="sng" algn="ctr">
                      <a:solidFill>
                        <a:srgbClr val="0070C0"/>
                      </a:solidFill>
                      <a:prstDash val="solid"/>
                      <a:round/>
                      <a:headEnd type="none" w="med" len="med"/>
                      <a:tailEnd type="none" w="med" len="med"/>
                    </a:lnL>
                  </a:tcPr>
                </a:tc>
                <a:tc>
                  <a:txBody>
                    <a:bodyPr/>
                    <a:lstStyle/>
                    <a:p>
                      <a:pPr algn="l" fontAlgn="t"/>
                      <a:r>
                        <a:rPr lang="zh-CN" altLang="en-US" sz="1600" dirty="0">
                          <a:effectLst/>
                        </a:rPr>
                        <a:t>自动黑名单策略</a:t>
                      </a:r>
                      <a:endParaRPr lang="zh-CN" altLang="en-US" sz="1600" dirty="0">
                        <a:effectLst/>
                        <a:latin typeface="微软雅黑" panose="020B0503020204020204" pitchFamily="34" charset="-122"/>
                        <a:ea typeface="微软雅黑" panose="020B0503020204020204" pitchFamily="34" charset="-122"/>
                      </a:endParaRPr>
                    </a:p>
                  </a:txBody>
                  <a:tcPr marL="95250" marR="95250" marT="66675" marB="66675"/>
                </a:tc>
                <a:extLst>
                  <a:ext uri="{0D108BD9-81ED-4DB2-BD59-A6C34878D82A}">
                    <a16:rowId xmlns:a16="http://schemas.microsoft.com/office/drawing/2014/main" val="10006"/>
                  </a:ext>
                </a:extLst>
              </a:tr>
              <a:tr h="342440">
                <a:tc vMerge="1">
                  <a:txBody>
                    <a:bodyPr/>
                    <a:lstStyle/>
                    <a:p>
                      <a:endParaRPr lang="zh-CN"/>
                    </a:p>
                  </a:txBody>
                  <a:tcPr/>
                </a:tc>
                <a:tc>
                  <a:txBody>
                    <a:bodyPr/>
                    <a:lstStyle/>
                    <a:p>
                      <a:pPr algn="l" fontAlgn="t"/>
                      <a:r>
                        <a:rPr lang="en-US" altLang="zh-CN" sz="1600">
                          <a:effectLst/>
                        </a:rPr>
                        <a:t>7</a:t>
                      </a:r>
                      <a:endParaRPr lang="zh-CN" altLang="en-US" sz="1600">
                        <a:effectLst/>
                        <a:latin typeface="微软雅黑" panose="020B0503020204020204" pitchFamily="34" charset="-122"/>
                        <a:ea typeface="微软雅黑" panose="020B0503020204020204" pitchFamily="34" charset="-122"/>
                      </a:endParaRPr>
                    </a:p>
                  </a:txBody>
                  <a:tcPr marL="95250" marR="95250" marT="66675" marB="66675">
                    <a:lnL w="12700" cap="flat" cmpd="sng" algn="ctr">
                      <a:solidFill>
                        <a:srgbClr val="0070C0"/>
                      </a:solidFill>
                      <a:prstDash val="solid"/>
                      <a:round/>
                      <a:headEnd type="none" w="med" len="med"/>
                      <a:tailEnd type="none" w="med" len="med"/>
                    </a:lnL>
                  </a:tcPr>
                </a:tc>
                <a:tc>
                  <a:txBody>
                    <a:bodyPr/>
                    <a:lstStyle/>
                    <a:p>
                      <a:pPr algn="l" fontAlgn="t"/>
                      <a:r>
                        <a:rPr lang="zh-CN" altLang="en-US" sz="1600" dirty="0">
                          <a:effectLst/>
                        </a:rPr>
                        <a:t>多特征策略</a:t>
                      </a:r>
                      <a:endParaRPr lang="zh-CN" altLang="en-US" sz="1600" dirty="0">
                        <a:effectLst/>
                        <a:latin typeface="微软雅黑" panose="020B0503020204020204" pitchFamily="34" charset="-122"/>
                        <a:ea typeface="微软雅黑" panose="020B0503020204020204" pitchFamily="34" charset="-122"/>
                      </a:endParaRPr>
                    </a:p>
                  </a:txBody>
                  <a:tcPr marL="95250" marR="95250" marT="66675" marB="66675"/>
                </a:tc>
                <a:extLst>
                  <a:ext uri="{0D108BD9-81ED-4DB2-BD59-A6C34878D82A}">
                    <a16:rowId xmlns:a16="http://schemas.microsoft.com/office/drawing/2014/main" val="10007"/>
                  </a:ext>
                </a:extLst>
              </a:tr>
              <a:tr h="342440">
                <a:tc vMerge="1">
                  <a:txBody>
                    <a:bodyPr/>
                    <a:lstStyle/>
                    <a:p>
                      <a:endParaRPr lang="zh-CN"/>
                    </a:p>
                  </a:txBody>
                  <a:tcPr/>
                </a:tc>
                <a:tc>
                  <a:txBody>
                    <a:bodyPr/>
                    <a:lstStyle/>
                    <a:p>
                      <a:pPr algn="l" fontAlgn="t"/>
                      <a:r>
                        <a:rPr lang="en-US" altLang="zh-CN" sz="1600">
                          <a:effectLst/>
                        </a:rPr>
                        <a:t>9</a:t>
                      </a:r>
                      <a:endParaRPr lang="zh-CN" altLang="en-US" sz="1600">
                        <a:effectLst/>
                        <a:latin typeface="微软雅黑" panose="020B0503020204020204" pitchFamily="34" charset="-122"/>
                        <a:ea typeface="微软雅黑" panose="020B0503020204020204" pitchFamily="34" charset="-122"/>
                      </a:endParaRPr>
                    </a:p>
                  </a:txBody>
                  <a:tcPr marL="95250" marR="95250" marT="66675" marB="66675">
                    <a:lnL w="12700" cap="flat" cmpd="sng" algn="ctr">
                      <a:solidFill>
                        <a:srgbClr val="0070C0"/>
                      </a:solidFill>
                      <a:prstDash val="solid"/>
                      <a:round/>
                      <a:headEnd type="none" w="med" len="med"/>
                      <a:tailEnd type="none" w="med" len="med"/>
                    </a:lnL>
                  </a:tcPr>
                </a:tc>
                <a:tc>
                  <a:txBody>
                    <a:bodyPr/>
                    <a:lstStyle/>
                    <a:p>
                      <a:pPr algn="l" fontAlgn="t"/>
                      <a:r>
                        <a:rPr lang="zh-CN" altLang="en-US" sz="1600">
                          <a:effectLst/>
                        </a:rPr>
                        <a:t>模型策略</a:t>
                      </a:r>
                      <a:endParaRPr lang="zh-CN" altLang="en-US" sz="1600">
                        <a:effectLst/>
                        <a:latin typeface="微软雅黑" panose="020B0503020204020204" pitchFamily="34" charset="-122"/>
                        <a:ea typeface="微软雅黑" panose="020B0503020204020204" pitchFamily="34" charset="-122"/>
                      </a:endParaRPr>
                    </a:p>
                  </a:txBody>
                  <a:tcPr marL="95250" marR="95250" marT="66675" marB="66675"/>
                </a:tc>
                <a:extLst>
                  <a:ext uri="{0D108BD9-81ED-4DB2-BD59-A6C34878D82A}">
                    <a16:rowId xmlns:a16="http://schemas.microsoft.com/office/drawing/2014/main" val="10008"/>
                  </a:ext>
                </a:extLst>
              </a:tr>
              <a:tr h="323987">
                <a:tc>
                  <a:txBody>
                    <a:bodyPr/>
                    <a:lstStyle/>
                    <a:p>
                      <a:pPr algn="l" fontAlgn="t"/>
                      <a:r>
                        <a:rPr lang="zh-CN" altLang="en-US" sz="1400" dirty="0">
                          <a:effectLst/>
                        </a:rPr>
                        <a:t>中间位</a:t>
                      </a:r>
                      <a:endParaRPr lang="zh-CN" altLang="en-US" sz="1400" dirty="0">
                        <a:effectLst/>
                        <a:latin typeface="微软雅黑" panose="020B0503020204020204" pitchFamily="34" charset="-122"/>
                        <a:ea typeface="微软雅黑" panose="020B0503020204020204" pitchFamily="34" charset="-122"/>
                      </a:endParaRPr>
                    </a:p>
                  </a:txBody>
                  <a:tcPr marL="95250" marR="95250" marT="66675" marB="66675">
                    <a:lnR w="12700" cap="flat" cmpd="sng" algn="ctr">
                      <a:solidFill>
                        <a:srgbClr val="0070C0"/>
                      </a:solidFill>
                      <a:prstDash val="solid"/>
                      <a:round/>
                      <a:headEnd type="none" w="med" len="med"/>
                      <a:tailEnd type="none" w="med" len="med"/>
                    </a:lnR>
                  </a:tcPr>
                </a:tc>
                <a:tc>
                  <a:txBody>
                    <a:bodyPr/>
                    <a:lstStyle/>
                    <a:p>
                      <a:pPr algn="l" fontAlgn="t"/>
                      <a:r>
                        <a:rPr lang="zh-CN" altLang="en-US" sz="1600">
                          <a:effectLst/>
                        </a:rPr>
                        <a:t>*</a:t>
                      </a:r>
                      <a:endParaRPr lang="zh-CN" altLang="en-US" sz="1600">
                        <a:effectLst/>
                        <a:latin typeface="微软雅黑" panose="020B0503020204020204" pitchFamily="34" charset="-122"/>
                        <a:ea typeface="微软雅黑" panose="020B0503020204020204" pitchFamily="34" charset="-122"/>
                      </a:endParaRPr>
                    </a:p>
                  </a:txBody>
                  <a:tcPr marL="95250" marR="95250" marT="66675" marB="66675">
                    <a:lnL w="12700" cap="flat" cmpd="sng" algn="ctr">
                      <a:solidFill>
                        <a:srgbClr val="0070C0"/>
                      </a:solidFill>
                      <a:prstDash val="solid"/>
                      <a:round/>
                      <a:headEnd type="none" w="med" len="med"/>
                      <a:tailEnd type="none" w="med" len="med"/>
                    </a:lnL>
                  </a:tcPr>
                </a:tc>
                <a:tc>
                  <a:txBody>
                    <a:bodyPr/>
                    <a:lstStyle/>
                    <a:p>
                      <a:pPr algn="l" fontAlgn="t"/>
                      <a:r>
                        <a:rPr lang="zh-CN" altLang="en-US" sz="1600">
                          <a:effectLst/>
                        </a:rPr>
                        <a:t>策略序号</a:t>
                      </a:r>
                      <a:endParaRPr lang="zh-CN" altLang="en-US" sz="1600">
                        <a:effectLst/>
                        <a:latin typeface="微软雅黑" panose="020B0503020204020204" pitchFamily="34" charset="-122"/>
                        <a:ea typeface="微软雅黑" panose="020B0503020204020204" pitchFamily="34" charset="-122"/>
                      </a:endParaRPr>
                    </a:p>
                  </a:txBody>
                  <a:tcPr marL="95250" marR="95250" marT="66675" marB="66675"/>
                </a:tc>
                <a:extLst>
                  <a:ext uri="{0D108BD9-81ED-4DB2-BD59-A6C34878D82A}">
                    <a16:rowId xmlns:a16="http://schemas.microsoft.com/office/drawing/2014/main" val="10009"/>
                  </a:ext>
                </a:extLst>
              </a:tr>
              <a:tr h="434808">
                <a:tc>
                  <a:txBody>
                    <a:bodyPr/>
                    <a:lstStyle/>
                    <a:p>
                      <a:pPr algn="l" fontAlgn="t"/>
                      <a:r>
                        <a:rPr lang="zh-CN" altLang="en-US" sz="1400" dirty="0">
                          <a:effectLst/>
                        </a:rPr>
                        <a:t>最低位</a:t>
                      </a:r>
                      <a:endParaRPr lang="zh-CN" altLang="en-US" sz="1400" dirty="0">
                        <a:effectLst/>
                        <a:latin typeface="微软雅黑" panose="020B0503020204020204" pitchFamily="34" charset="-122"/>
                        <a:ea typeface="微软雅黑" panose="020B0503020204020204" pitchFamily="34" charset="-122"/>
                      </a:endParaRPr>
                    </a:p>
                  </a:txBody>
                  <a:tcPr marL="95250" marR="95250" marT="66675" marB="66675">
                    <a:lnR w="12700" cap="flat" cmpd="sng" algn="ctr">
                      <a:solidFill>
                        <a:srgbClr val="0070C0"/>
                      </a:solidFill>
                      <a:prstDash val="solid"/>
                      <a:round/>
                      <a:headEnd type="none" w="med" len="med"/>
                      <a:tailEnd type="none" w="med" len="med"/>
                    </a:lnR>
                  </a:tcPr>
                </a:tc>
                <a:tc>
                  <a:txBody>
                    <a:bodyPr/>
                    <a:lstStyle/>
                    <a:p>
                      <a:pPr algn="l" fontAlgn="t"/>
                      <a:r>
                        <a:rPr lang="zh-CN" altLang="en-US" sz="1600">
                          <a:effectLst/>
                        </a:rPr>
                        <a:t>*</a:t>
                      </a:r>
                      <a:endParaRPr lang="zh-CN" altLang="en-US" sz="1600">
                        <a:effectLst/>
                        <a:latin typeface="微软雅黑" panose="020B0503020204020204" pitchFamily="34" charset="-122"/>
                        <a:ea typeface="微软雅黑" panose="020B0503020204020204" pitchFamily="34" charset="-122"/>
                      </a:endParaRPr>
                    </a:p>
                  </a:txBody>
                  <a:tcPr marL="95250" marR="95250" marT="66675" marB="66675">
                    <a:lnL w="12700" cap="flat" cmpd="sng" algn="ctr">
                      <a:solidFill>
                        <a:srgbClr val="0070C0"/>
                      </a:solidFill>
                      <a:prstDash val="solid"/>
                      <a:round/>
                      <a:headEnd type="none" w="med" len="med"/>
                      <a:tailEnd type="none" w="med" len="med"/>
                    </a:lnL>
                  </a:tcPr>
                </a:tc>
                <a:tc>
                  <a:txBody>
                    <a:bodyPr/>
                    <a:lstStyle/>
                    <a:p>
                      <a:pPr algn="l" fontAlgn="t"/>
                      <a:r>
                        <a:rPr lang="zh-CN" altLang="en-US" sz="1600" dirty="0">
                          <a:effectLst/>
                        </a:rPr>
                        <a:t>和</a:t>
                      </a:r>
                      <a:r>
                        <a:rPr lang="en-GB" sz="1600" dirty="0" err="1">
                          <a:effectLst/>
                        </a:rPr>
                        <a:t>accessid</a:t>
                      </a:r>
                      <a:r>
                        <a:rPr lang="zh-CN" altLang="en-US" sz="1600" dirty="0">
                          <a:effectLst/>
                        </a:rPr>
                        <a:t>保持一致</a:t>
                      </a:r>
                    </a:p>
                    <a:p>
                      <a:pPr algn="l" fontAlgn="t"/>
                      <a:r>
                        <a:rPr lang="en-US" altLang="zh-CN" sz="1200" dirty="0">
                          <a:effectLst/>
                        </a:rPr>
                        <a:t>1-&gt;</a:t>
                      </a:r>
                      <a:r>
                        <a:rPr lang="zh-CN" altLang="en-US" sz="1200" dirty="0">
                          <a:effectLst/>
                        </a:rPr>
                        <a:t>凤巢，</a:t>
                      </a:r>
                      <a:r>
                        <a:rPr lang="en-US" altLang="zh-CN" sz="1200" dirty="0">
                          <a:effectLst/>
                        </a:rPr>
                        <a:t>2-&gt;</a:t>
                      </a:r>
                      <a:r>
                        <a:rPr lang="zh-CN" altLang="en-US" sz="1200" dirty="0">
                          <a:effectLst/>
                        </a:rPr>
                        <a:t>网盟</a:t>
                      </a:r>
                      <a:r>
                        <a:rPr lang="en-GB" sz="1200" dirty="0">
                          <a:effectLst/>
                        </a:rPr>
                        <a:t>cpro，4-&gt;</a:t>
                      </a:r>
                      <a:r>
                        <a:rPr lang="zh-CN" altLang="en-US" sz="1200" dirty="0">
                          <a:effectLst/>
                        </a:rPr>
                        <a:t>知心  </a:t>
                      </a:r>
                      <a:r>
                        <a:rPr lang="en-US" altLang="zh-CN" sz="1200" dirty="0">
                          <a:effectLst/>
                        </a:rPr>
                        <a:t>7-&gt;</a:t>
                      </a:r>
                      <a:r>
                        <a:rPr lang="zh-CN" altLang="en-US" sz="1200" dirty="0">
                          <a:effectLst/>
                        </a:rPr>
                        <a:t>秋实</a:t>
                      </a:r>
                      <a:endParaRPr lang="zh-CN" altLang="en-US" sz="1200" dirty="0">
                        <a:effectLst/>
                        <a:latin typeface="微软雅黑" panose="020B0503020204020204" pitchFamily="34" charset="-122"/>
                        <a:ea typeface="微软雅黑" panose="020B0503020204020204" pitchFamily="34" charset="-122"/>
                      </a:endParaRPr>
                    </a:p>
                  </a:txBody>
                  <a:tcPr marL="95250" marR="95250" marT="66675" marB="66675"/>
                </a:tc>
                <a:extLst>
                  <a:ext uri="{0D108BD9-81ED-4DB2-BD59-A6C34878D82A}">
                    <a16:rowId xmlns:a16="http://schemas.microsoft.com/office/drawing/2014/main" val="10010"/>
                  </a:ext>
                </a:extLst>
              </a:tr>
            </a:tbl>
          </a:graphicData>
        </a:graphic>
      </p:graphicFrame>
      <p:sp>
        <p:nvSpPr>
          <p:cNvPr id="3" name="文本框 2"/>
          <p:cNvSpPr txBox="1"/>
          <p:nvPr/>
        </p:nvSpPr>
        <p:spPr>
          <a:xfrm>
            <a:off x="6276548" y="5543747"/>
            <a:ext cx="3529584" cy="646331"/>
          </a:xfrm>
          <a:prstGeom prst="rect">
            <a:avLst/>
          </a:prstGeom>
          <a:noFill/>
        </p:spPr>
        <p:txBody>
          <a:bodyPr wrap="square" rtlCol="0">
            <a:spAutoFit/>
          </a:bodyPr>
          <a:lstStyle/>
          <a:p>
            <a:r>
              <a:rPr kumimoji="1" lang="zh-CN" altLang="en-US" dirty="0"/>
              <a:t>例如：</a:t>
            </a:r>
            <a:r>
              <a:rPr kumimoji="1" lang="en-US" altLang="zh-CN" dirty="0"/>
              <a:t>10001</a:t>
            </a:r>
            <a:r>
              <a:rPr kumimoji="1" lang="zh-CN" altLang="en-US" dirty="0"/>
              <a:t>就表示该策略为针对凤巢的简单策略，序号</a:t>
            </a:r>
            <a:r>
              <a:rPr kumimoji="1" lang="en-US" altLang="zh-CN" dirty="0"/>
              <a:t>000</a:t>
            </a:r>
            <a:endParaRPr kumimoji="1"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b="1" dirty="0"/>
              <a:t>策略规范</a:t>
            </a:r>
          </a:p>
        </p:txBody>
      </p:sp>
      <p:sp>
        <p:nvSpPr>
          <p:cNvPr id="16" name="文本框 15"/>
          <p:cNvSpPr txBox="1"/>
          <p:nvPr/>
        </p:nvSpPr>
        <p:spPr>
          <a:xfrm>
            <a:off x="612990" y="1869666"/>
            <a:ext cx="10583330" cy="3921395"/>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规则策略</a:t>
            </a:r>
            <a:r>
              <a:rPr kumimoji="1" lang="en-US" altLang="zh-CN" dirty="0" err="1">
                <a:latin typeface="微软雅黑" panose="020B0503020204020204" pitchFamily="34" charset="-122"/>
                <a:ea typeface="微软雅黑" panose="020B0503020204020204" pitchFamily="34" charset="-122"/>
              </a:rPr>
              <a:t>policy_type</a:t>
            </a:r>
            <a:r>
              <a:rPr kumimoji="1" lang="zh-CN" altLang="en-US" dirty="0">
                <a:latin typeface="微软雅黑" panose="020B0503020204020204" pitchFamily="34" charset="-122"/>
                <a:ea typeface="微软雅黑" panose="020B0503020204020204" pitchFamily="34" charset="-122"/>
              </a:rPr>
              <a:t> </a:t>
            </a:r>
            <a:r>
              <a:rPr kumimoji="1" lang="en-US" altLang="zh-CN"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 </a:t>
            </a:r>
            <a:r>
              <a:rPr kumimoji="1" lang="en-US" altLang="zh-CN" dirty="0">
                <a:latin typeface="微软雅黑" panose="020B0503020204020204" pitchFamily="34" charset="-122"/>
                <a:ea typeface="微软雅黑" panose="020B0503020204020204" pitchFamily="34" charset="-122"/>
              </a:rPr>
              <a:t>rule</a:t>
            </a:r>
          </a:p>
          <a:p>
            <a:pPr marL="1828800" lvl="3" indent="-457200">
              <a:lnSpc>
                <a:spcPct val="150000"/>
              </a:lnSpc>
              <a:buClr>
                <a:srgbClr val="0070C0"/>
              </a:buClr>
              <a:buFont typeface="+mj-ea"/>
              <a:buAutoNum type="circleNumDbPlain"/>
            </a:pPr>
            <a:r>
              <a:rPr lang="zh-CN" altLang="en-US" sz="1600" dirty="0"/>
              <a:t>频次规则：适用于</a:t>
            </a:r>
            <a:r>
              <a:rPr lang="en-GB" altLang="zh-CN" sz="1600" dirty="0"/>
              <a:t>segment</a:t>
            </a:r>
            <a:r>
              <a:rPr lang="zh-CN" altLang="en-GB" sz="1600" dirty="0"/>
              <a:t>、</a:t>
            </a:r>
            <a:r>
              <a:rPr lang="en-GB" altLang="zh-CN" sz="1600" dirty="0" err="1"/>
              <a:t>auto_segment</a:t>
            </a:r>
            <a:r>
              <a:rPr lang="zh-CN" altLang="en-GB" sz="1600" dirty="0"/>
              <a:t>、</a:t>
            </a:r>
            <a:r>
              <a:rPr lang="en-GB" altLang="zh-CN" sz="1600" dirty="0"/>
              <a:t>multi-segment</a:t>
            </a:r>
            <a:r>
              <a:rPr lang="zh-CN" altLang="en-GB" sz="1600" dirty="0"/>
              <a:t>、</a:t>
            </a:r>
            <a:r>
              <a:rPr lang="en-GB" altLang="zh-CN" sz="1600" dirty="0" err="1"/>
              <a:t>sum_segment</a:t>
            </a:r>
            <a:r>
              <a:rPr lang="zh-CN" altLang="en-US" sz="1600" dirty="0"/>
              <a:t>和</a:t>
            </a:r>
            <a:r>
              <a:rPr lang="en-GB" altLang="zh-CN" sz="1600" dirty="0"/>
              <a:t>distinct</a:t>
            </a:r>
            <a:r>
              <a:rPr lang="zh-CN" altLang="en-US" sz="1600" dirty="0"/>
              <a:t>特征。</a:t>
            </a:r>
            <a:endParaRPr lang="en-US" altLang="zh-CN" sz="1600" dirty="0">
              <a:solidFill>
                <a:srgbClr val="FF0000"/>
              </a:solidFill>
            </a:endParaRPr>
          </a:p>
          <a:p>
            <a:pPr marL="1828800" lvl="3" indent="-457200">
              <a:lnSpc>
                <a:spcPct val="150000"/>
              </a:lnSpc>
              <a:buClr>
                <a:srgbClr val="0070C0"/>
              </a:buClr>
              <a:buFont typeface="+mj-ea"/>
              <a:buAutoNum type="circleNumDbPlain"/>
            </a:pPr>
            <a:r>
              <a:rPr lang="zh-CN" altLang="en-US" sz="1600" dirty="0"/>
              <a:t>比例规则：适用于</a:t>
            </a:r>
            <a:r>
              <a:rPr lang="en-GB" altLang="zh-CN" sz="1600" dirty="0"/>
              <a:t>ratio</a:t>
            </a:r>
            <a:r>
              <a:rPr lang="zh-CN" altLang="en-US" sz="1600" dirty="0"/>
              <a:t>和</a:t>
            </a:r>
            <a:r>
              <a:rPr lang="en-GB" altLang="zh-CN" sz="1600" dirty="0"/>
              <a:t>concentration</a:t>
            </a:r>
            <a:r>
              <a:rPr lang="zh-CN" altLang="en-US" sz="1600" dirty="0"/>
              <a:t>两个特征。 </a:t>
            </a:r>
            <a:endParaRPr lang="en-US" altLang="zh-CN" sz="1600" dirty="0"/>
          </a:p>
          <a:p>
            <a:pPr marL="1828800" lvl="3" indent="-457200">
              <a:lnSpc>
                <a:spcPct val="150000"/>
              </a:lnSpc>
              <a:buClr>
                <a:srgbClr val="0070C0"/>
              </a:buClr>
              <a:buFont typeface="+mj-ea"/>
              <a:buAutoNum type="circleNumDbPlain"/>
            </a:pPr>
            <a:r>
              <a:rPr lang="zh-CN" altLang="en-US" sz="1600" dirty="0"/>
              <a:t>分布规则：适用于</a:t>
            </a:r>
            <a:r>
              <a:rPr lang="zh-CN" altLang="en-US" sz="1600" b="1" dirty="0"/>
              <a:t>值分布、频次分布和独立量分布</a:t>
            </a:r>
            <a:r>
              <a:rPr lang="zh-CN" altLang="en-US" sz="1600" dirty="0"/>
              <a:t>，当前桶概率大于基础概率才算命中，如果当前同概率小于基准概率，分布再偏也不命中。</a:t>
            </a:r>
            <a:endParaRPr lang="en-US" altLang="zh-CN" sz="1600" dirty="0"/>
          </a:p>
          <a:p>
            <a:pPr marL="1828800" lvl="3" indent="-457200">
              <a:lnSpc>
                <a:spcPct val="150000"/>
              </a:lnSpc>
              <a:buClr>
                <a:srgbClr val="0070C0"/>
              </a:buClr>
              <a:buFont typeface="+mj-ea"/>
              <a:buAutoNum type="circleNumDbPlain"/>
            </a:pPr>
            <a:r>
              <a:rPr lang="zh-CN" altLang="en-US" sz="1600" dirty="0"/>
              <a:t>布尔规则：适用于词表和</a:t>
            </a:r>
            <a:r>
              <a:rPr lang="en-GB" altLang="zh-CN" sz="1600" dirty="0" err="1"/>
              <a:t>carespace</a:t>
            </a:r>
            <a:r>
              <a:rPr lang="zh-CN" altLang="en-US" sz="1600" dirty="0"/>
              <a:t>特征。 </a:t>
            </a:r>
            <a:endParaRPr lang="en-US" altLang="zh-CN" sz="1600" dirty="0"/>
          </a:p>
          <a:p>
            <a:pPr marL="1828800" lvl="3" indent="-457200">
              <a:lnSpc>
                <a:spcPct val="150000"/>
              </a:lnSpc>
              <a:buClr>
                <a:srgbClr val="0070C0"/>
              </a:buClr>
              <a:buFont typeface="+mj-ea"/>
              <a:buAutoNum type="circleNumDbPlain"/>
            </a:pPr>
            <a:r>
              <a:rPr lang="zh-CN" altLang="en-US" sz="1600" dirty="0"/>
              <a:t>复合规则：支持特征加减乘除运算，运算结果与阈值比较。</a:t>
            </a:r>
            <a:endParaRPr lang="en-US" altLang="zh-CN" sz="1600" dirty="0"/>
          </a:p>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模型策略</a:t>
            </a:r>
            <a:r>
              <a:rPr kumimoji="1" lang="en-US" altLang="zh-CN" dirty="0" err="1">
                <a:latin typeface="微软雅黑" panose="020B0503020204020204" pitchFamily="34" charset="-122"/>
                <a:ea typeface="微软雅黑" panose="020B0503020204020204" pitchFamily="34" charset="-122"/>
              </a:rPr>
              <a:t>policy_type</a:t>
            </a:r>
            <a:r>
              <a:rPr kumimoji="1" lang="zh-CN" altLang="en-US" dirty="0">
                <a:latin typeface="微软雅黑" panose="020B0503020204020204" pitchFamily="34" charset="-122"/>
                <a:ea typeface="微软雅黑" panose="020B0503020204020204" pitchFamily="34" charset="-122"/>
              </a:rPr>
              <a:t> </a:t>
            </a:r>
            <a:r>
              <a:rPr kumimoji="1" lang="en-US" altLang="zh-CN"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 </a:t>
            </a:r>
            <a:r>
              <a:rPr kumimoji="1" lang="en-US" altLang="zh-CN" dirty="0" err="1">
                <a:latin typeface="微软雅黑" panose="020B0503020204020204" pitchFamily="34" charset="-122"/>
                <a:ea typeface="微软雅黑" panose="020B0503020204020204" pitchFamily="34" charset="-122"/>
              </a:rPr>
              <a:t>lr</a:t>
            </a:r>
            <a:r>
              <a:rPr kumimoji="1" lang="en-US" altLang="zh-CN" dirty="0">
                <a:latin typeface="微软雅黑" panose="020B0503020204020204" pitchFamily="34" charset="-122"/>
                <a:ea typeface="微软雅黑" panose="020B0503020204020204" pitchFamily="34" charset="-122"/>
              </a:rPr>
              <a:t>/</a:t>
            </a:r>
            <a:r>
              <a:rPr kumimoji="1" lang="en-US" altLang="zh-CN" dirty="0" err="1">
                <a:latin typeface="微软雅黑" panose="020B0503020204020204" pitchFamily="34" charset="-122"/>
                <a:ea typeface="微软雅黑" panose="020B0503020204020204" pitchFamily="34" charset="-122"/>
              </a:rPr>
              <a:t>dnn</a:t>
            </a:r>
            <a:r>
              <a:rPr kumimoji="1" lang="en-US" altLang="zh-CN" dirty="0">
                <a:latin typeface="微软雅黑" panose="020B0503020204020204" pitchFamily="34" charset="-122"/>
                <a:ea typeface="微软雅黑" panose="020B0503020204020204" pitchFamily="34" charset="-122"/>
              </a:rPr>
              <a:t>/</a:t>
            </a:r>
            <a:r>
              <a:rPr kumimoji="1" lang="en-US" altLang="zh-CN" dirty="0" err="1">
                <a:latin typeface="微软雅黑" panose="020B0503020204020204" pitchFamily="34" charset="-122"/>
                <a:ea typeface="微软雅黑" panose="020B0503020204020204" pitchFamily="34" charset="-122"/>
              </a:rPr>
              <a:t>gbdt</a:t>
            </a:r>
            <a:endParaRPr kumimoji="1" lang="en-US" altLang="zh-CN" dirty="0">
              <a:latin typeface="微软雅黑" panose="020B0503020204020204" pitchFamily="34" charset="-122"/>
              <a:ea typeface="微软雅黑" panose="020B0503020204020204" pitchFamily="34" charset="-122"/>
            </a:endParaRPr>
          </a:p>
          <a:p>
            <a:pPr>
              <a:lnSpc>
                <a:spcPct val="150000"/>
              </a:lnSpc>
            </a:pPr>
            <a:r>
              <a:rPr kumimoji="1" lang="en-US" altLang="zh-CN" dirty="0">
                <a:latin typeface="微软雅黑" panose="020B0503020204020204" pitchFamily="34" charset="-122"/>
                <a:ea typeface="微软雅黑" panose="020B0503020204020204" pitchFamily="34" charset="-122"/>
              </a:rPr>
              <a:t>	</a:t>
            </a:r>
            <a:r>
              <a:rPr lang="zh-CN" altLang="en-US" dirty="0"/>
              <a:t>模型策略分</a:t>
            </a:r>
            <a:r>
              <a:rPr lang="en-GB" altLang="zh-CN" dirty="0" err="1"/>
              <a:t>lr</a:t>
            </a:r>
            <a:r>
              <a:rPr lang="zh-CN" altLang="en-GB" dirty="0"/>
              <a:t>、</a:t>
            </a:r>
            <a:r>
              <a:rPr lang="en-GB" altLang="zh-CN" dirty="0" err="1"/>
              <a:t>dnn</a:t>
            </a:r>
            <a:r>
              <a:rPr lang="zh-CN" altLang="en-US" dirty="0"/>
              <a:t>和</a:t>
            </a:r>
            <a:r>
              <a:rPr lang="en-GB" altLang="zh-CN" dirty="0" err="1"/>
              <a:t>gbdt</a:t>
            </a:r>
            <a:r>
              <a:rPr lang="zh-CN" altLang="en-US" dirty="0"/>
              <a:t>三种，同时模型策略内部也可以引用若干规则。</a:t>
            </a:r>
            <a:endParaRPr lang="en-GB" altLang="zh-CN" dirty="0">
              <a:solidFill>
                <a:prstClr val="black"/>
              </a:solidFill>
            </a:endParaRPr>
          </a:p>
          <a:p>
            <a:pPr>
              <a:lnSpc>
                <a:spcPct val="150000"/>
              </a:lnSpc>
            </a:pPr>
            <a:endParaRPr kumimoji="1"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b="1" dirty="0"/>
              <a:t>简单策略</a:t>
            </a:r>
          </a:p>
        </p:txBody>
      </p:sp>
      <p:sp>
        <p:nvSpPr>
          <p:cNvPr id="16" name="文本框 15"/>
          <p:cNvSpPr txBox="1"/>
          <p:nvPr/>
        </p:nvSpPr>
        <p:spPr>
          <a:xfrm>
            <a:off x="612990" y="1869666"/>
            <a:ext cx="10583330" cy="2120902"/>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简单策略处理一般流程</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l"/>
            </a:pP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endParaRPr kumimoji="1" lang="en-US" altLang="zh-CN" dirty="0">
              <a:latin typeface="微软雅黑" panose="020B0503020204020204" pitchFamily="34" charset="-122"/>
              <a:ea typeface="微软雅黑" panose="020B0503020204020204" pitchFamily="34" charset="-122"/>
            </a:endParaRPr>
          </a:p>
        </p:txBody>
      </p:sp>
      <p:sp>
        <p:nvSpPr>
          <p:cNvPr id="9" name="矩形 8"/>
          <p:cNvSpPr/>
          <p:nvPr/>
        </p:nvSpPr>
        <p:spPr>
          <a:xfrm>
            <a:off x="3265028" y="3301107"/>
            <a:ext cx="1007769" cy="386699"/>
          </a:xfrm>
          <a:prstGeom prst="rect">
            <a:avLst/>
          </a:prstGeom>
          <a:solidFill>
            <a:srgbClr val="0070C0"/>
          </a:solidFill>
          <a:ln w="15875" cap="flat" cmpd="sng" algn="ctr">
            <a:solidFill>
              <a:srgbClr val="1CADE4">
                <a:shade val="50000"/>
              </a:srgb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care</a:t>
            </a:r>
            <a:endParaRPr kumimoji="0" lang="zh-CN" altLang="en-US"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矩形 9"/>
          <p:cNvSpPr/>
          <p:nvPr/>
        </p:nvSpPr>
        <p:spPr>
          <a:xfrm>
            <a:off x="5051906" y="2727851"/>
            <a:ext cx="1505774" cy="386699"/>
          </a:xfrm>
          <a:prstGeom prst="rect">
            <a:avLst/>
          </a:prstGeom>
          <a:solidFill>
            <a:srgbClr val="0070C0"/>
          </a:solidFill>
          <a:ln w="15875" cap="flat" cmpd="sng" algn="ctr">
            <a:solidFill>
              <a:srgbClr val="1CADE4">
                <a:shade val="50000"/>
              </a:srgb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r>
              <a:rPr kumimoji="0" lang="zh-CN" altLang="en-US"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名单</a:t>
            </a:r>
          </a:p>
        </p:txBody>
      </p:sp>
      <p:sp>
        <p:nvSpPr>
          <p:cNvPr id="11" name="矩形 10"/>
          <p:cNvSpPr/>
          <p:nvPr/>
        </p:nvSpPr>
        <p:spPr>
          <a:xfrm>
            <a:off x="5028799" y="3931136"/>
            <a:ext cx="1505774" cy="386699"/>
          </a:xfrm>
          <a:prstGeom prst="rect">
            <a:avLst/>
          </a:prstGeom>
          <a:solidFill>
            <a:srgbClr val="0070C0"/>
          </a:solidFill>
          <a:ln w="15875" cap="flat" cmpd="sng" algn="ctr">
            <a:solidFill>
              <a:srgbClr val="1CADE4">
                <a:shade val="50000"/>
              </a:srgbClr>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condition</a:t>
            </a:r>
            <a:endParaRPr kumimoji="0" lang="zh-CN" altLang="en-US"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cxnSp>
        <p:nvCxnSpPr>
          <p:cNvPr id="12" name="肘形连接符 11"/>
          <p:cNvCxnSpPr>
            <a:stCxn id="9" idx="3"/>
            <a:endCxn id="10" idx="1"/>
          </p:cNvCxnSpPr>
          <p:nvPr/>
        </p:nvCxnSpPr>
        <p:spPr>
          <a:xfrm flipV="1">
            <a:off x="4272797" y="2921201"/>
            <a:ext cx="779109" cy="573256"/>
          </a:xfrm>
          <a:prstGeom prst="bentConnector3">
            <a:avLst>
              <a:gd name="adj1" fmla="val 50000"/>
            </a:avLst>
          </a:prstGeom>
          <a:noFill/>
          <a:ln w="12700" cap="flat" cmpd="sng" algn="ctr">
            <a:solidFill>
              <a:srgbClr val="0070C0"/>
            </a:solidFill>
            <a:prstDash val="solid"/>
            <a:tailEnd type="triangle"/>
          </a:ln>
          <a:effectLst/>
        </p:spPr>
      </p:cxnSp>
      <p:cxnSp>
        <p:nvCxnSpPr>
          <p:cNvPr id="13" name="肘形连接符 12"/>
          <p:cNvCxnSpPr/>
          <p:nvPr/>
        </p:nvCxnSpPr>
        <p:spPr>
          <a:xfrm rot="16200000" flipH="1">
            <a:off x="4525157" y="3623959"/>
            <a:ext cx="635691" cy="365361"/>
          </a:xfrm>
          <a:prstGeom prst="bentConnector2">
            <a:avLst/>
          </a:prstGeom>
          <a:noFill/>
          <a:ln w="12700" cap="flat" cmpd="sng" algn="ctr">
            <a:solidFill>
              <a:srgbClr val="0070C0"/>
            </a:solidFill>
            <a:prstDash val="solid"/>
            <a:tailEnd type="triangle"/>
          </a:ln>
          <a:effectLst/>
        </p:spPr>
      </p:cxnSp>
      <p:sp>
        <p:nvSpPr>
          <p:cNvPr id="14" name="文本框 13"/>
          <p:cNvSpPr txBox="1"/>
          <p:nvPr/>
        </p:nvSpPr>
        <p:spPr>
          <a:xfrm>
            <a:off x="6899733" y="2709803"/>
            <a:ext cx="1467068" cy="400110"/>
          </a:xfrm>
          <a:prstGeom prst="rect">
            <a:avLst/>
          </a:prstGeom>
          <a:noFill/>
        </p:spPr>
        <p:txBody>
          <a:bodyPr wrap="none" rtlCol="0">
            <a:spAutoFit/>
          </a:bodyPr>
          <a:lstStyle/>
          <a:p>
            <a:pPr algn="l" defTabSz="457200" fontAlgn="auto" hangingPunct="1">
              <a:spcBef>
                <a:spcPts val="0"/>
              </a:spcBef>
              <a:spcAft>
                <a:spcPts val="0"/>
              </a:spcAft>
            </a:pPr>
            <a:r>
              <a:rPr lang="zh-CN" altLang="en-US" sz="2000" dirty="0">
                <a:solidFill>
                  <a:prstClr val="black"/>
                </a:solidFill>
                <a:latin typeface="微软雅黑" panose="020B0503020204020204" pitchFamily="34" charset="-122"/>
                <a:ea typeface="微软雅黑" panose="020B0503020204020204" pitchFamily="34" charset="-122"/>
                <a:cs typeface="+mn-cs"/>
              </a:rPr>
              <a:t>名单类策略</a:t>
            </a:r>
          </a:p>
        </p:txBody>
      </p:sp>
      <p:sp>
        <p:nvSpPr>
          <p:cNvPr id="15" name="文本框 14"/>
          <p:cNvSpPr txBox="1"/>
          <p:nvPr/>
        </p:nvSpPr>
        <p:spPr>
          <a:xfrm>
            <a:off x="6769519" y="3933993"/>
            <a:ext cx="1980029" cy="400110"/>
          </a:xfrm>
          <a:prstGeom prst="rect">
            <a:avLst/>
          </a:prstGeom>
          <a:noFill/>
        </p:spPr>
        <p:txBody>
          <a:bodyPr wrap="none" rtlCol="0">
            <a:spAutoFit/>
          </a:bodyPr>
          <a:lstStyle/>
          <a:p>
            <a:pPr algn="l" defTabSz="457200" fontAlgn="auto" hangingPunct="1">
              <a:spcBef>
                <a:spcPts val="0"/>
              </a:spcBef>
              <a:spcAft>
                <a:spcPts val="0"/>
              </a:spcAft>
            </a:pPr>
            <a:r>
              <a:rPr lang="zh-CN" altLang="en-US" sz="2000" dirty="0">
                <a:solidFill>
                  <a:prstClr val="black"/>
                </a:solidFill>
                <a:latin typeface="微软雅黑" panose="020B0503020204020204" pitchFamily="34" charset="-122"/>
                <a:ea typeface="微软雅黑" panose="020B0503020204020204" pitchFamily="34" charset="-122"/>
                <a:cs typeface="+mn-cs"/>
              </a:rPr>
              <a:t>处理空间类策略</a:t>
            </a:r>
          </a:p>
        </p:txBody>
      </p:sp>
      <p:sp>
        <p:nvSpPr>
          <p:cNvPr id="17" name="圆角矩形 16"/>
          <p:cNvSpPr/>
          <p:nvPr/>
        </p:nvSpPr>
        <p:spPr>
          <a:xfrm>
            <a:off x="1739200" y="3268550"/>
            <a:ext cx="898996" cy="451814"/>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4200" rtl="0" eaLnBrk="1" fontAlgn="base" latinLnBrk="0" hangingPunct="0">
              <a:lnSpc>
                <a:spcPct val="100000"/>
              </a:lnSpc>
              <a:spcBef>
                <a:spcPct val="0"/>
              </a:spcBef>
              <a:spcAft>
                <a:spcPct val="0"/>
              </a:spcAft>
              <a:buClrTx/>
              <a:buSzTx/>
              <a:buFontTx/>
              <a:buNone/>
              <a:defRPr/>
            </a:pPr>
            <a:r>
              <a:rPr kumimoji="1" lang="zh-CN" altLang="en-US"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Helvetica Light" charset="0"/>
              </a:rPr>
              <a:t>日志</a:t>
            </a:r>
          </a:p>
        </p:txBody>
      </p:sp>
      <p:cxnSp>
        <p:nvCxnSpPr>
          <p:cNvPr id="18" name="直线箭头连接符 17"/>
          <p:cNvCxnSpPr>
            <a:stCxn id="17" idx="3"/>
            <a:endCxn id="9" idx="1"/>
          </p:cNvCxnSpPr>
          <p:nvPr/>
        </p:nvCxnSpPr>
        <p:spPr>
          <a:xfrm>
            <a:off x="2638196" y="3494457"/>
            <a:ext cx="6268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1972654" y="4765089"/>
            <a:ext cx="7664278" cy="738664"/>
          </a:xfrm>
          <a:prstGeom prst="rect">
            <a:avLst/>
          </a:prstGeom>
          <a:noFill/>
        </p:spPr>
        <p:txBody>
          <a:bodyPr wrap="none" rtlCol="0">
            <a:spAutoFit/>
          </a:bodyPr>
          <a:lstStyle/>
          <a:p>
            <a:pPr marL="285750" indent="-285750" algn="l" defTabSz="457200" fontAlgn="auto" hangingPunct="1">
              <a:spcBef>
                <a:spcPts val="0"/>
              </a:spcBef>
              <a:spcAft>
                <a:spcPts val="0"/>
              </a:spcAft>
              <a:buFont typeface="Wingdings" panose="05000000000000000000" pitchFamily="2" charset="2"/>
              <a:buChar char="u"/>
            </a:pPr>
            <a:r>
              <a:rPr lang="zh-CN" altLang="en-US" dirty="0">
                <a:solidFill>
                  <a:prstClr val="black"/>
                </a:solidFill>
                <a:latin typeface="微软雅黑" panose="020B0503020204020204" pitchFamily="34" charset="-122"/>
                <a:ea typeface="微软雅黑" panose="020B0503020204020204" pitchFamily="34" charset="-122"/>
                <a:cs typeface="+mn-cs"/>
              </a:rPr>
              <a:t>判断该日志指定</a:t>
            </a:r>
            <a:r>
              <a:rPr lang="en-GB" altLang="zh-CN" dirty="0">
                <a:solidFill>
                  <a:prstClr val="black"/>
                </a:solidFill>
                <a:latin typeface="微软雅黑" panose="020B0503020204020204" pitchFamily="34" charset="-122"/>
                <a:ea typeface="微软雅黑" panose="020B0503020204020204" pitchFamily="34" charset="-122"/>
                <a:cs typeface="+mn-cs"/>
              </a:rPr>
              <a:t>view</a:t>
            </a:r>
            <a:r>
              <a:rPr lang="zh-CN" altLang="en-US" dirty="0">
                <a:solidFill>
                  <a:prstClr val="black"/>
                </a:solidFill>
                <a:latin typeface="微软雅黑" panose="020B0503020204020204" pitchFamily="34" charset="-122"/>
                <a:ea typeface="微软雅黑" panose="020B0503020204020204" pitchFamily="34" charset="-122"/>
                <a:cs typeface="+mn-cs"/>
              </a:rPr>
              <a:t>下的特征是否满足条件，该特征不需要进行累计。</a:t>
            </a:r>
          </a:p>
          <a:p>
            <a:pPr algn="l" defTabSz="457200" fontAlgn="auto" hangingPunct="1">
              <a:spcBef>
                <a:spcPts val="0"/>
              </a:spcBef>
              <a:spcAft>
                <a:spcPts val="0"/>
              </a:spcAft>
            </a:pPr>
            <a:endParaRPr lang="zh-CN" altLang="en-US" sz="2400" dirty="0">
              <a:solidFill>
                <a:prstClr val="black"/>
              </a:solidFill>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4188095" cy="369332"/>
          </a:xfrm>
          <a:prstGeom prst="rect">
            <a:avLst/>
          </a:prstGeom>
          <a:noFill/>
        </p:spPr>
        <p:txBody>
          <a:bodyPr wrap="square" rtlCol="0">
            <a:spAutoFit/>
          </a:bodyPr>
          <a:lstStyle/>
          <a:p>
            <a:r>
              <a:rPr kumimoji="1" lang="zh-CN" altLang="en-US" b="1" dirty="0"/>
              <a:t>简单策略：名单类策略</a:t>
            </a:r>
          </a:p>
        </p:txBody>
      </p:sp>
      <p:sp>
        <p:nvSpPr>
          <p:cNvPr id="16" name="文本框 15"/>
          <p:cNvSpPr txBox="1"/>
          <p:nvPr/>
        </p:nvSpPr>
        <p:spPr>
          <a:xfrm>
            <a:off x="612990" y="1842772"/>
            <a:ext cx="10583330" cy="4619085"/>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名单类策略分类</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黑名单策略：</a:t>
            </a:r>
            <a:r>
              <a:rPr lang="zh-CN" altLang="en-US" dirty="0"/>
              <a:t>在满足处理空间的日志中，维度对象与黑名单文件匹配上的日志会被</a:t>
            </a:r>
            <a:r>
              <a:rPr lang="en-GB" altLang="zh-CN" dirty="0"/>
              <a:t>hit</a:t>
            </a:r>
            <a:r>
              <a:rPr lang="zh-CN" altLang="en-GB" dirty="0"/>
              <a:t>。</a:t>
            </a:r>
            <a:endParaRPr lang="en-US" altLang="zh-CN" dirty="0"/>
          </a:p>
          <a:p>
            <a:pPr marL="742950" lvl="1"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白名单策略：</a:t>
            </a:r>
            <a:r>
              <a:rPr lang="zh-CN" altLang="en-US" dirty="0"/>
              <a:t>在满足处理空间的日志中，维度对象与白名单文件不匹配的日志会被</a:t>
            </a:r>
            <a:r>
              <a:rPr lang="en-GB" altLang="zh-CN" dirty="0"/>
              <a:t>hit</a:t>
            </a:r>
            <a:r>
              <a:rPr lang="zh-CN" altLang="en-US" dirty="0"/>
              <a:t>。</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灰名单策略：</a:t>
            </a:r>
            <a:r>
              <a:rPr lang="zh-CN" altLang="en-US" dirty="0"/>
              <a:t>维度对象在灰名单里则自定义阈值。</a:t>
            </a:r>
            <a:endParaRPr kumimoji="1"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可用特征</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kumimoji="1" lang="zh-CN" altLang="en-US" dirty="0">
                <a:latin typeface="微软雅黑" panose="020B0503020204020204" pitchFamily="34" charset="-122"/>
                <a:ea typeface="微软雅黑" panose="020B0503020204020204" pitchFamily="34" charset="-122"/>
              </a:rPr>
              <a:t>名单特征：</a:t>
            </a:r>
            <a:r>
              <a:rPr lang="en-US" altLang="zh-CN" dirty="0" err="1"/>
              <a:t>file_dict</a:t>
            </a:r>
            <a:endParaRPr lang="en-US" altLang="zh-CN" dirty="0"/>
          </a:p>
          <a:p>
            <a:pPr marL="285750"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词表文件匹配类型</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kumimoji="1" lang="en-US" altLang="zh-CN" dirty="0">
                <a:latin typeface="微软雅黑" panose="020B0503020204020204" pitchFamily="34" charset="-122"/>
                <a:ea typeface="微软雅黑" panose="020B0503020204020204" pitchFamily="34" charset="-122"/>
              </a:rPr>
              <a:t>multicolumn:</a:t>
            </a:r>
            <a:r>
              <a:rPr lang="zh-CN" altLang="en-US" dirty="0"/>
              <a:t>全串匹配，词表文件可以是多列</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kumimoji="1" lang="en-US" altLang="zh-CN" dirty="0" err="1">
                <a:latin typeface="微软雅黑" panose="020B0503020204020204" pitchFamily="34" charset="-122"/>
                <a:ea typeface="微软雅黑" panose="020B0503020204020204" pitchFamily="34" charset="-122"/>
              </a:rPr>
              <a:t>ipmap</a:t>
            </a:r>
            <a:r>
              <a:rPr kumimoji="1" lang="en-US" altLang="zh-CN" dirty="0">
                <a:latin typeface="微软雅黑" panose="020B0503020204020204" pitchFamily="34" charset="-122"/>
                <a:ea typeface="微软雅黑" panose="020B0503020204020204" pitchFamily="34" charset="-122"/>
              </a:rPr>
              <a:t>:</a:t>
            </a:r>
            <a:r>
              <a:rPr lang="zh-CN" altLang="en-US" dirty="0"/>
              <a:t>查询</a:t>
            </a:r>
            <a:r>
              <a:rPr lang="en-GB" altLang="zh-CN" dirty="0" err="1"/>
              <a:t>ip</a:t>
            </a:r>
            <a:r>
              <a:rPr lang="zh-CN" altLang="en-US" dirty="0"/>
              <a:t>是否位于词表文件的</a:t>
            </a:r>
            <a:r>
              <a:rPr lang="en-GB" altLang="zh-CN" dirty="0" err="1"/>
              <a:t>ip</a:t>
            </a:r>
            <a:r>
              <a:rPr lang="zh-CN" altLang="en-US" dirty="0"/>
              <a:t>段中，要求文件</a:t>
            </a:r>
            <a:r>
              <a:rPr lang="en-US" altLang="zh-CN" dirty="0"/>
              <a:t>4</a:t>
            </a:r>
            <a:r>
              <a:rPr lang="zh-CN" altLang="en-US" dirty="0"/>
              <a:t>列，用</a:t>
            </a:r>
            <a:r>
              <a:rPr lang="en-US" altLang="zh-CN" dirty="0"/>
              <a:t>\</a:t>
            </a:r>
            <a:r>
              <a:rPr lang="en-GB" altLang="zh-CN" dirty="0"/>
              <a:t>t</a:t>
            </a:r>
            <a:r>
              <a:rPr lang="zh-CN" altLang="en-US" dirty="0"/>
              <a:t>分隔，分别是</a:t>
            </a:r>
            <a:r>
              <a:rPr lang="en-GB" altLang="zh-CN" dirty="0" err="1"/>
              <a:t>ip</a:t>
            </a:r>
            <a:r>
              <a:rPr lang="zh-CN" altLang="en-US" dirty="0"/>
              <a:t>段起始</a:t>
            </a:r>
            <a:r>
              <a:rPr lang="en-US" altLang="zh-CN" dirty="0"/>
              <a:t>(</a:t>
            </a:r>
            <a:r>
              <a:rPr lang="en-GB" altLang="zh-CN" dirty="0"/>
              <a:t>sip)</a:t>
            </a:r>
            <a:r>
              <a:rPr lang="zh-CN" altLang="en-GB" dirty="0"/>
              <a:t>，</a:t>
            </a:r>
            <a:r>
              <a:rPr lang="en-GB" altLang="zh-CN" dirty="0" err="1"/>
              <a:t>ip</a:t>
            </a:r>
            <a:r>
              <a:rPr lang="zh-CN" altLang="en-US" dirty="0"/>
              <a:t>段终点</a:t>
            </a:r>
            <a:r>
              <a:rPr lang="en-US" altLang="zh-CN" dirty="0"/>
              <a:t>(</a:t>
            </a:r>
            <a:r>
              <a:rPr lang="en-GB" altLang="zh-CN" dirty="0" err="1"/>
              <a:t>eid</a:t>
            </a:r>
            <a:r>
              <a:rPr lang="en-GB" altLang="zh-CN" dirty="0"/>
              <a:t>)</a:t>
            </a:r>
            <a:r>
              <a:rPr lang="zh-CN" altLang="en-GB" dirty="0"/>
              <a:t>，</a:t>
            </a:r>
            <a:r>
              <a:rPr lang="en-GB" altLang="zh-CN" dirty="0" err="1"/>
              <a:t>pid</a:t>
            </a:r>
            <a:r>
              <a:rPr lang="en-GB" altLang="zh-CN" dirty="0"/>
              <a:t>(</a:t>
            </a:r>
            <a:r>
              <a:rPr lang="zh-CN" altLang="en-US" dirty="0"/>
              <a:t>省份</a:t>
            </a:r>
            <a:r>
              <a:rPr lang="en-GB" altLang="zh-CN" dirty="0"/>
              <a:t>id),  </a:t>
            </a:r>
            <a:r>
              <a:rPr lang="en-GB" altLang="zh-CN" dirty="0" err="1"/>
              <a:t>cid</a:t>
            </a:r>
            <a:r>
              <a:rPr lang="en-GB" altLang="zh-CN" dirty="0"/>
              <a:t>(city</a:t>
            </a:r>
            <a:r>
              <a:rPr lang="zh-CN" altLang="en-US" dirty="0"/>
              <a:t>的</a:t>
            </a:r>
            <a:r>
              <a:rPr lang="en-GB" altLang="zh-CN" dirty="0"/>
              <a:t>id)</a:t>
            </a:r>
            <a:r>
              <a:rPr lang="zh-CN" altLang="en-GB" dirty="0"/>
              <a:t>。</a:t>
            </a:r>
            <a:endParaRPr kumimoji="1" lang="en-US" altLang="zh-CN" dirty="0">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pitchFamily="2" charset="2"/>
              <a:buChar char="Ø"/>
            </a:pPr>
            <a:r>
              <a:rPr kumimoji="1" lang="en-US" altLang="zh-CN" dirty="0" err="1">
                <a:latin typeface="微软雅黑" panose="020B0503020204020204" pitchFamily="34" charset="-122"/>
                <a:ea typeface="微软雅黑" panose="020B0503020204020204" pitchFamily="34" charset="-122"/>
              </a:rPr>
              <a:t>str_match</a:t>
            </a:r>
            <a:r>
              <a:rPr kumimoji="1" lang="en-US" altLang="zh-CN" dirty="0">
                <a:latin typeface="微软雅黑" panose="020B0503020204020204" pitchFamily="34" charset="-122"/>
                <a:ea typeface="微软雅黑" panose="020B0503020204020204" pitchFamily="34" charset="-122"/>
              </a:rPr>
              <a:t>:</a:t>
            </a:r>
            <a:r>
              <a:rPr lang="zh-CN" altLang="en-US" dirty="0"/>
              <a:t>多模匹配或者叫子串匹配，对列数无要求。</a:t>
            </a:r>
            <a:endParaRPr kumimoji="1"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5323263" cy="369332"/>
          </a:xfrm>
          <a:prstGeom prst="rect">
            <a:avLst/>
          </a:prstGeom>
          <a:noFill/>
        </p:spPr>
        <p:txBody>
          <a:bodyPr wrap="square" rtlCol="0">
            <a:spAutoFit/>
          </a:bodyPr>
          <a:lstStyle/>
          <a:p>
            <a:r>
              <a:rPr kumimoji="1" lang="zh-CN" altLang="en-US" b="1" dirty="0"/>
              <a:t>简单策略：名单类策略</a:t>
            </a:r>
            <a:r>
              <a:rPr kumimoji="1" lang="en-US" altLang="zh-CN" b="1" dirty="0"/>
              <a:t>_</a:t>
            </a:r>
            <a:r>
              <a:rPr kumimoji="1" lang="en-US" altLang="zh-CN" b="1" dirty="0" err="1"/>
              <a:t>ip</a:t>
            </a:r>
            <a:r>
              <a:rPr kumimoji="1" lang="zh-CN" altLang="en-US" b="1" dirty="0"/>
              <a:t>黑名单策略</a:t>
            </a:r>
          </a:p>
        </p:txBody>
      </p:sp>
      <p:sp>
        <p:nvSpPr>
          <p:cNvPr id="16" name="文本框 15"/>
          <p:cNvSpPr txBox="1"/>
          <p:nvPr/>
        </p:nvSpPr>
        <p:spPr>
          <a:xfrm>
            <a:off x="5873545" y="1334941"/>
            <a:ext cx="4929990" cy="5444888"/>
          </a:xfrm>
          <a:prstGeom prst="rect">
            <a:avLst/>
          </a:prstGeom>
          <a:noFill/>
        </p:spPr>
        <p:txBody>
          <a:bodyPr wrap="square" rtlCol="0">
            <a:spAutoFit/>
          </a:bodyPr>
          <a:lstStyle/>
          <a:p>
            <a:pPr marL="285750" lvl="2"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业务场景：主要针对公司内部流量以及一些已知作弊来源的流量进行过滤。例如：点击</a:t>
            </a:r>
            <a:r>
              <a:rPr kumimoji="1" lang="en-GB" altLang="zh-CN" dirty="0" err="1">
                <a:latin typeface="微软雅黑" panose="020B0503020204020204" pitchFamily="34" charset="-122"/>
                <a:ea typeface="微软雅黑" panose="020B0503020204020204" pitchFamily="34" charset="-122"/>
              </a:rPr>
              <a:t>ip</a:t>
            </a:r>
            <a:r>
              <a:rPr kumimoji="1" lang="zh-CN" altLang="en-US" dirty="0">
                <a:latin typeface="微软雅黑" panose="020B0503020204020204" pitchFamily="34" charset="-122"/>
                <a:ea typeface="微软雅黑" panose="020B0503020204020204" pitchFamily="34" charset="-122"/>
              </a:rPr>
              <a:t>黑名单</a:t>
            </a:r>
            <a:r>
              <a:rPr kumimoji="1" lang="en-US" altLang="zh-CN" dirty="0">
                <a:latin typeface="微软雅黑" panose="020B0503020204020204" pitchFamily="34" charset="-122"/>
                <a:ea typeface="微软雅黑" panose="020B0503020204020204" pitchFamily="34" charset="-122"/>
              </a:rPr>
              <a:t>(14001)</a:t>
            </a:r>
          </a:p>
          <a:p>
            <a:pPr marL="285750" lvl="2"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参数说明：</a:t>
            </a:r>
            <a:r>
              <a:rPr lang="en-GB" altLang="zh-CN" u="sng" dirty="0" err="1"/>
              <a:t>dict_type</a:t>
            </a:r>
            <a:r>
              <a:rPr lang="en-GB" altLang="zh-CN" u="sng" dirty="0"/>
              <a:t>:</a:t>
            </a:r>
            <a:r>
              <a:rPr lang="zh-CN" altLang="en-US" u="sng" dirty="0"/>
              <a:t> </a:t>
            </a:r>
            <a:r>
              <a:rPr lang="en-GB" altLang="zh-CN" u="sng" dirty="0" err="1"/>
              <a:t>ipmap</a:t>
            </a:r>
            <a:r>
              <a:rPr lang="zh-CN" altLang="en-GB" dirty="0"/>
              <a:t>，</a:t>
            </a:r>
            <a:r>
              <a:rPr lang="en-GB" altLang="zh-CN" dirty="0" err="1"/>
              <a:t>ipmap</a:t>
            </a:r>
            <a:r>
              <a:rPr lang="zh-CN" altLang="en-US" dirty="0"/>
              <a:t>类型的词表类型往往对应的文件类型也是</a:t>
            </a:r>
            <a:r>
              <a:rPr lang="en-GB" altLang="zh-CN" dirty="0" err="1"/>
              <a:t>ipmap</a:t>
            </a:r>
            <a:r>
              <a:rPr lang="zh-CN" altLang="en-GB" dirty="0"/>
              <a:t>，</a:t>
            </a:r>
            <a:r>
              <a:rPr lang="zh-CN" altLang="en-US" dirty="0"/>
              <a:t>其中每一行就是一个</a:t>
            </a:r>
            <a:r>
              <a:rPr lang="en-GB" altLang="zh-CN" dirty="0" err="1"/>
              <a:t>ip</a:t>
            </a:r>
            <a:r>
              <a:rPr lang="zh-CN" altLang="en-US" dirty="0"/>
              <a:t>段，查找时主要看日志的</a:t>
            </a:r>
            <a:r>
              <a:rPr lang="en-GB" altLang="zh-CN" dirty="0" err="1"/>
              <a:t>ip</a:t>
            </a:r>
            <a:r>
              <a:rPr lang="zh-CN" altLang="en-US" dirty="0"/>
              <a:t>是否位于任意一行的</a:t>
            </a:r>
            <a:r>
              <a:rPr lang="en-GB" altLang="zh-CN" dirty="0" err="1"/>
              <a:t>ip</a:t>
            </a:r>
            <a:r>
              <a:rPr lang="zh-CN" altLang="en-US" dirty="0"/>
              <a:t>段中</a:t>
            </a:r>
            <a:r>
              <a:rPr lang="en-US" altLang="zh-CN" dirty="0"/>
              <a:t>(</a:t>
            </a:r>
            <a:r>
              <a:rPr lang="en-GB" altLang="zh-CN" dirty="0"/>
              <a:t>sip – </a:t>
            </a:r>
            <a:r>
              <a:rPr lang="en-GB" altLang="zh-CN" dirty="0" err="1"/>
              <a:t>eip</a:t>
            </a:r>
            <a:r>
              <a:rPr lang="zh-CN" altLang="en-US" dirty="0"/>
              <a:t>组成的</a:t>
            </a:r>
            <a:r>
              <a:rPr lang="en-GB" altLang="zh-CN" dirty="0" err="1"/>
              <a:t>ip</a:t>
            </a:r>
            <a:r>
              <a:rPr lang="zh-CN" altLang="en-US" dirty="0"/>
              <a:t>段</a:t>
            </a:r>
            <a:r>
              <a:rPr lang="en-US" altLang="zh-CN" dirty="0"/>
              <a:t>)</a:t>
            </a:r>
            <a:r>
              <a:rPr lang="zh-CN" altLang="en-US" dirty="0"/>
              <a:t>。</a:t>
            </a:r>
            <a:endParaRPr lang="en-US" altLang="zh-CN" dirty="0"/>
          </a:p>
          <a:p>
            <a:pPr marL="285750" lvl="2"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格式：</a:t>
            </a:r>
            <a:r>
              <a:rPr lang="zh-CN" altLang="en-US" dirty="0"/>
              <a:t>四列，</a:t>
            </a:r>
            <a:r>
              <a:rPr lang="en-US" altLang="zh-CN" dirty="0"/>
              <a:t>\t</a:t>
            </a:r>
            <a:r>
              <a:rPr lang="zh-CN" altLang="en-US" dirty="0"/>
              <a:t>分隔，分别是</a:t>
            </a:r>
            <a:r>
              <a:rPr lang="en-US" altLang="zh-CN" dirty="0" err="1"/>
              <a:t>ip</a:t>
            </a:r>
            <a:r>
              <a:rPr lang="zh-CN" altLang="en-US" dirty="0"/>
              <a:t>段起始</a:t>
            </a:r>
            <a:r>
              <a:rPr lang="en-US" altLang="zh-CN" dirty="0"/>
              <a:t>(sip)</a:t>
            </a:r>
            <a:r>
              <a:rPr lang="zh-CN" altLang="en-US" dirty="0"/>
              <a:t>，</a:t>
            </a:r>
            <a:r>
              <a:rPr lang="en-US" altLang="zh-CN" dirty="0" err="1"/>
              <a:t>ip</a:t>
            </a:r>
            <a:r>
              <a:rPr lang="zh-CN" altLang="en-US" dirty="0"/>
              <a:t>段终点</a:t>
            </a:r>
            <a:r>
              <a:rPr lang="en-US" altLang="zh-CN" dirty="0"/>
              <a:t>(</a:t>
            </a:r>
            <a:r>
              <a:rPr lang="en-US" altLang="zh-CN" dirty="0" err="1"/>
              <a:t>eip</a:t>
            </a:r>
            <a:r>
              <a:rPr lang="en-US" altLang="zh-CN" dirty="0"/>
              <a:t>)</a:t>
            </a:r>
            <a:r>
              <a:rPr lang="zh-CN" altLang="en-US" dirty="0"/>
              <a:t>，省份</a:t>
            </a:r>
            <a:r>
              <a:rPr lang="en-US" altLang="zh-CN" dirty="0"/>
              <a:t>id (</a:t>
            </a:r>
            <a:r>
              <a:rPr lang="en-US" altLang="zh-CN" dirty="0" err="1"/>
              <a:t>pid</a:t>
            </a:r>
            <a:r>
              <a:rPr lang="en-US" altLang="zh-CN" dirty="0"/>
              <a:t>),  </a:t>
            </a:r>
            <a:r>
              <a:rPr lang="zh-CN" altLang="en-US" dirty="0"/>
              <a:t>城市</a:t>
            </a:r>
            <a:r>
              <a:rPr lang="en-US" altLang="zh-CN" dirty="0"/>
              <a:t>id (</a:t>
            </a:r>
            <a:r>
              <a:rPr lang="en-US" altLang="zh-CN" dirty="0" err="1"/>
              <a:t>cid</a:t>
            </a:r>
            <a:r>
              <a:rPr lang="en-US" altLang="zh-CN" dirty="0"/>
              <a:t>)</a:t>
            </a:r>
            <a:r>
              <a:rPr lang="zh-CN" altLang="en-US" dirty="0"/>
              <a:t>。</a:t>
            </a:r>
            <a:r>
              <a:rPr lang="en-US" altLang="zh-CN" dirty="0" err="1"/>
              <a:t>ip</a:t>
            </a:r>
            <a:r>
              <a:rPr lang="zh-CN" altLang="en-US" dirty="0"/>
              <a:t>段左闭右开，</a:t>
            </a:r>
            <a:r>
              <a:rPr lang="en-US" altLang="zh-CN" dirty="0"/>
              <a:t>sip </a:t>
            </a:r>
            <a:r>
              <a:rPr lang="zh-CN" altLang="en-US" dirty="0"/>
              <a:t>升序，</a:t>
            </a:r>
            <a:r>
              <a:rPr lang="en-US" altLang="zh-CN" dirty="0" err="1"/>
              <a:t>eip</a:t>
            </a:r>
            <a:r>
              <a:rPr lang="zh-CN" altLang="en-US" dirty="0"/>
              <a:t>升序。</a:t>
            </a:r>
            <a:endParaRPr kumimoji="1" lang="en-US" altLang="zh-CN" dirty="0">
              <a:latin typeface="微软雅黑" panose="020B0503020204020204" pitchFamily="34" charset="-122"/>
              <a:ea typeface="微软雅黑" panose="020B0503020204020204" pitchFamily="34" charset="-122"/>
            </a:endParaRPr>
          </a:p>
          <a:p>
            <a:pPr marL="0" lvl="2">
              <a:lnSpc>
                <a:spcPct val="150000"/>
              </a:lnSpc>
            </a:pPr>
            <a:endParaRPr kumimoji="1" lang="en-US" altLang="zh-CN" dirty="0">
              <a:latin typeface="微软雅黑" panose="020B0503020204020204" pitchFamily="34" charset="-122"/>
              <a:ea typeface="微软雅黑" panose="020B0503020204020204" pitchFamily="34" charset="-122"/>
            </a:endParaRPr>
          </a:p>
          <a:p>
            <a:pPr marL="285750" lvl="2" indent="-285750">
              <a:lnSpc>
                <a:spcPct val="150000"/>
              </a:lnSpc>
              <a:buFont typeface="Wingdings" panose="05000000000000000000" pitchFamily="2" charset="2"/>
              <a:buChar char="l"/>
            </a:pPr>
            <a:endParaRPr kumimoji="1" lang="en-US" altLang="zh-CN" dirty="0">
              <a:latin typeface="微软雅黑" panose="020B0503020204020204" pitchFamily="34" charset="-122"/>
              <a:ea typeface="微软雅黑" panose="020B0503020204020204" pitchFamily="34" charset="-122"/>
            </a:endParaRPr>
          </a:p>
        </p:txBody>
      </p:sp>
      <p:sp>
        <p:nvSpPr>
          <p:cNvPr id="4" name="文本框 3"/>
          <p:cNvSpPr txBox="1"/>
          <p:nvPr/>
        </p:nvSpPr>
        <p:spPr>
          <a:xfrm>
            <a:off x="462636" y="1978515"/>
            <a:ext cx="5902661" cy="4801314"/>
          </a:xfrm>
          <a:prstGeom prst="rect">
            <a:avLst/>
          </a:prstGeom>
          <a:noFill/>
        </p:spPr>
        <p:txBody>
          <a:bodyPr wrap="square" rtlCol="0">
            <a:spAutoFit/>
          </a:bodyPr>
          <a:lstStyle/>
          <a:p>
            <a:r>
              <a:rPr lang="en-GB" altLang="zh-CN" dirty="0"/>
              <a:t>[@policy]</a:t>
            </a:r>
          </a:p>
          <a:p>
            <a:r>
              <a:rPr lang="en-GB" altLang="zh-CN" dirty="0" err="1"/>
              <a:t>policy_type</a:t>
            </a:r>
            <a:r>
              <a:rPr lang="en-GB" altLang="zh-CN" dirty="0"/>
              <a:t> : rule</a:t>
            </a:r>
          </a:p>
          <a:p>
            <a:r>
              <a:rPr lang="en-GB" altLang="zh-CN" dirty="0" err="1"/>
              <a:t>policy_id</a:t>
            </a:r>
            <a:r>
              <a:rPr lang="en-GB" altLang="zh-CN" dirty="0"/>
              <a:t> : 14001</a:t>
            </a:r>
          </a:p>
          <a:p>
            <a:r>
              <a:rPr lang="en-GB" altLang="zh-CN" dirty="0"/>
              <a:t>[.@rule]</a:t>
            </a:r>
          </a:p>
          <a:p>
            <a:r>
              <a:rPr lang="en-GB" altLang="zh-CN" dirty="0" err="1"/>
              <a:t>feature_id</a:t>
            </a:r>
            <a:r>
              <a:rPr lang="en-GB" altLang="zh-CN" dirty="0"/>
              <a:t> : 14001</a:t>
            </a:r>
          </a:p>
          <a:p>
            <a:r>
              <a:rPr lang="en-GB" altLang="zh-CN" dirty="0" err="1"/>
              <a:t>rule_type</a:t>
            </a:r>
            <a:r>
              <a:rPr lang="en-GB" altLang="zh-CN" dirty="0"/>
              <a:t> : </a:t>
            </a:r>
            <a:r>
              <a:rPr lang="en-GB" altLang="zh-CN" dirty="0" err="1"/>
              <a:t>boolean</a:t>
            </a:r>
            <a:endParaRPr lang="en-GB" altLang="zh-CN" dirty="0"/>
          </a:p>
          <a:p>
            <a:r>
              <a:rPr lang="en-GB" altLang="zh-CN" dirty="0">
                <a:solidFill>
                  <a:srgbClr val="C00000"/>
                </a:solidFill>
              </a:rPr>
              <a:t>condition : true</a:t>
            </a:r>
          </a:p>
          <a:p>
            <a:r>
              <a:rPr lang="en-GB" altLang="zh-CN" dirty="0"/>
              <a:t> </a:t>
            </a:r>
          </a:p>
          <a:p>
            <a:r>
              <a:rPr lang="en-GB" altLang="zh-CN" dirty="0"/>
              <a:t>[@feature]</a:t>
            </a:r>
          </a:p>
          <a:p>
            <a:r>
              <a:rPr lang="en-GB" altLang="zh-CN" dirty="0" err="1"/>
              <a:t>feature_id</a:t>
            </a:r>
            <a:r>
              <a:rPr lang="en-GB" altLang="zh-CN" dirty="0"/>
              <a:t> : 14001</a:t>
            </a:r>
          </a:p>
          <a:p>
            <a:r>
              <a:rPr lang="en-GB" altLang="zh-CN" dirty="0" err="1"/>
              <a:t>view_level</a:t>
            </a:r>
            <a:r>
              <a:rPr lang="en-GB" altLang="zh-CN" dirty="0"/>
              <a:t> : </a:t>
            </a:r>
            <a:r>
              <a:rPr lang="en-GB" altLang="zh-CN" dirty="0" err="1"/>
              <a:t>click_level</a:t>
            </a:r>
            <a:endParaRPr lang="en-GB" altLang="zh-CN" dirty="0"/>
          </a:p>
          <a:p>
            <a:r>
              <a:rPr lang="en-GB" altLang="zh-CN" dirty="0" err="1">
                <a:solidFill>
                  <a:srgbClr val="C00000"/>
                </a:solidFill>
              </a:rPr>
              <a:t>feature_type</a:t>
            </a:r>
            <a:r>
              <a:rPr lang="en-GB" altLang="zh-CN" dirty="0">
                <a:solidFill>
                  <a:srgbClr val="C00000"/>
                </a:solidFill>
              </a:rPr>
              <a:t> : </a:t>
            </a:r>
            <a:r>
              <a:rPr lang="en-GB" altLang="zh-CN" dirty="0" err="1">
                <a:solidFill>
                  <a:srgbClr val="C00000"/>
                </a:solidFill>
              </a:rPr>
              <a:t>file_dict</a:t>
            </a:r>
            <a:endParaRPr lang="en-GB" altLang="zh-CN" dirty="0">
              <a:solidFill>
                <a:srgbClr val="C00000"/>
              </a:solidFill>
            </a:endParaRPr>
          </a:p>
          <a:p>
            <a:r>
              <a:rPr lang="en-GB" altLang="zh-CN" dirty="0" err="1">
                <a:solidFill>
                  <a:srgbClr val="C00000"/>
                </a:solidFill>
              </a:rPr>
              <a:t>file_key</a:t>
            </a:r>
            <a:r>
              <a:rPr lang="en-GB" altLang="zh-CN" dirty="0">
                <a:solidFill>
                  <a:srgbClr val="C00000"/>
                </a:solidFill>
              </a:rPr>
              <a:t> : </a:t>
            </a:r>
            <a:r>
              <a:rPr lang="en-GB" altLang="zh-CN" dirty="0" err="1">
                <a:solidFill>
                  <a:srgbClr val="C00000"/>
                </a:solidFill>
              </a:rPr>
              <a:t>ip.black</a:t>
            </a:r>
            <a:endParaRPr lang="en-GB" altLang="zh-CN" dirty="0">
              <a:solidFill>
                <a:srgbClr val="C00000"/>
              </a:solidFill>
            </a:endParaRPr>
          </a:p>
          <a:p>
            <a:r>
              <a:rPr lang="en-GB" altLang="zh-CN" dirty="0" err="1">
                <a:solidFill>
                  <a:srgbClr val="C00000"/>
                </a:solidFill>
              </a:rPr>
              <a:t>dict_type</a:t>
            </a:r>
            <a:r>
              <a:rPr lang="en-GB" altLang="zh-CN" dirty="0">
                <a:solidFill>
                  <a:srgbClr val="C00000"/>
                </a:solidFill>
              </a:rPr>
              <a:t> : </a:t>
            </a:r>
            <a:r>
              <a:rPr lang="en-GB" altLang="zh-CN" dirty="0" err="1">
                <a:solidFill>
                  <a:srgbClr val="C00000"/>
                </a:solidFill>
              </a:rPr>
              <a:t>ipmap</a:t>
            </a:r>
            <a:endParaRPr lang="en-GB" altLang="zh-CN" dirty="0">
              <a:solidFill>
                <a:srgbClr val="C00000"/>
              </a:solidFill>
            </a:endParaRPr>
          </a:p>
          <a:p>
            <a:r>
              <a:rPr lang="en-GB" altLang="zh-CN" dirty="0"/>
              <a:t>care : ['</a:t>
            </a:r>
            <a:r>
              <a:rPr lang="en-GB" altLang="zh-CN" dirty="0" err="1"/>
              <a:t>click_ip_type</a:t>
            </a:r>
            <a:r>
              <a:rPr lang="en-GB" altLang="zh-CN" dirty="0"/>
              <a:t>':='4']['cmatch'NI'</a:t>
            </a:r>
            <a:r>
              <a:rPr lang="en-GB" altLang="zh-CN" dirty="0">
                <a:solidFill>
                  <a:srgbClr val="C00000"/>
                </a:solidFill>
              </a:rPr>
              <a:t>14001.whitecmatch</a:t>
            </a:r>
            <a:r>
              <a:rPr lang="en-GB" altLang="zh-CN" dirty="0"/>
              <a:t>']</a:t>
            </a:r>
          </a:p>
          <a:p>
            <a:r>
              <a:rPr lang="en-GB" altLang="zh-CN" dirty="0"/>
              <a:t>view : </a:t>
            </a:r>
            <a:r>
              <a:rPr lang="en-GB" altLang="zh-CN" dirty="0" err="1"/>
              <a:t>clkip</a:t>
            </a:r>
            <a:endParaRPr lang="en-GB" altLang="zh-CN" dirty="0"/>
          </a:p>
          <a:p>
            <a:endParaRPr kumimoji="1" lang="zh-CN" altLang="en-US" dirty="0"/>
          </a:p>
        </p:txBody>
      </p:sp>
      <p:pic>
        <p:nvPicPr>
          <p:cNvPr id="10" name="图片 9"/>
          <p:cNvPicPr/>
          <p:nvPr/>
        </p:nvPicPr>
        <p:blipFill>
          <a:blip r:embed="rId4">
            <a:extLst>
              <a:ext uri="{28A0092B-C50C-407E-A947-70E740481C1C}">
                <a14:useLocalDpi xmlns:a14="http://schemas.microsoft.com/office/drawing/2010/main" val="0"/>
              </a:ext>
            </a:extLst>
          </a:blip>
          <a:srcRect/>
          <a:stretch>
            <a:fillRect/>
          </a:stretch>
        </p:blipFill>
        <p:spPr bwMode="auto">
          <a:xfrm>
            <a:off x="9619129" y="5591500"/>
            <a:ext cx="1990165" cy="109501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5323263" cy="646331"/>
          </a:xfrm>
          <a:prstGeom prst="rect">
            <a:avLst/>
          </a:prstGeom>
          <a:noFill/>
        </p:spPr>
        <p:txBody>
          <a:bodyPr wrap="square" rtlCol="0">
            <a:spAutoFit/>
          </a:bodyPr>
          <a:lstStyle/>
          <a:p>
            <a:r>
              <a:rPr kumimoji="1" lang="zh-CN" altLang="en-US" b="1" dirty="0"/>
              <a:t>简单策略：名单类策略</a:t>
            </a:r>
            <a:r>
              <a:rPr kumimoji="1" lang="en-US" altLang="zh-CN" b="1" dirty="0"/>
              <a:t>_UA</a:t>
            </a:r>
            <a:r>
              <a:rPr kumimoji="1" lang="zh-CN" altLang="en-US" b="1" dirty="0"/>
              <a:t>黑名单类策略</a:t>
            </a:r>
            <a:r>
              <a:rPr kumimoji="1" lang="en-US" altLang="zh-CN" b="1" dirty="0"/>
              <a:t>(10009)</a:t>
            </a:r>
          </a:p>
          <a:p>
            <a:endParaRPr kumimoji="1" lang="zh-CN" altLang="en-US" b="1" dirty="0"/>
          </a:p>
        </p:txBody>
      </p:sp>
      <p:sp>
        <p:nvSpPr>
          <p:cNvPr id="16" name="文本框 15"/>
          <p:cNvSpPr txBox="1"/>
          <p:nvPr/>
        </p:nvSpPr>
        <p:spPr>
          <a:xfrm>
            <a:off x="5397018" y="1341402"/>
            <a:ext cx="5735749" cy="5860387"/>
          </a:xfrm>
          <a:prstGeom prst="rect">
            <a:avLst/>
          </a:prstGeom>
          <a:noFill/>
        </p:spPr>
        <p:txBody>
          <a:bodyPr wrap="square" rtlCol="0">
            <a:spAutoFit/>
          </a:bodyPr>
          <a:lstStyle/>
          <a:p>
            <a:pPr marL="285750" lvl="2"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业务场景：</a:t>
            </a:r>
            <a:r>
              <a:rPr kumimoji="1" lang="en-GB" altLang="zh-CN" dirty="0">
                <a:latin typeface="微软雅黑" panose="020B0503020204020204" pitchFamily="34" charset="-122"/>
                <a:ea typeface="微软雅黑" panose="020B0503020204020204" pitchFamily="34" charset="-122"/>
              </a:rPr>
              <a:t>UA(</a:t>
            </a:r>
            <a:r>
              <a:rPr kumimoji="1" lang="en-GB" altLang="zh-CN" dirty="0" err="1">
                <a:latin typeface="微软雅黑" panose="020B0503020204020204" pitchFamily="34" charset="-122"/>
                <a:ea typeface="微软雅黑" panose="020B0503020204020204" pitchFamily="34" charset="-122"/>
              </a:rPr>
              <a:t>UserAgent</a:t>
            </a:r>
            <a:r>
              <a:rPr kumimoji="1" lang="en-GB" altLang="zh-CN" dirty="0">
                <a:latin typeface="微软雅黑" panose="020B0503020204020204" pitchFamily="34" charset="-122"/>
                <a:ea typeface="微软雅黑" panose="020B0503020204020204" pitchFamily="34" charset="-122"/>
              </a:rPr>
              <a:t>)</a:t>
            </a:r>
            <a:r>
              <a:rPr kumimoji="1" lang="zh-CN" altLang="en-US" dirty="0">
                <a:latin typeface="微软雅黑" panose="020B0503020204020204" pitchFamily="34" charset="-122"/>
                <a:ea typeface="微软雅黑" panose="020B0503020204020204" pitchFamily="34" charset="-122"/>
              </a:rPr>
              <a:t>中包含有关客户端的信息，包括用户使用的操作系统及版本、</a:t>
            </a:r>
            <a:r>
              <a:rPr kumimoji="1" lang="en-GB" altLang="zh-CN" dirty="0">
                <a:latin typeface="微软雅黑" panose="020B0503020204020204" pitchFamily="34" charset="-122"/>
                <a:ea typeface="微软雅黑" panose="020B0503020204020204" pitchFamily="34" charset="-122"/>
              </a:rPr>
              <a:t>CPU</a:t>
            </a:r>
            <a:r>
              <a:rPr kumimoji="1" lang="zh-CN" altLang="en-US" dirty="0">
                <a:latin typeface="微软雅黑" panose="020B0503020204020204" pitchFamily="34" charset="-122"/>
                <a:ea typeface="微软雅黑" panose="020B0503020204020204" pitchFamily="34" charset="-122"/>
              </a:rPr>
              <a:t>类型、浏览器版本等，一般作弊爬虫会在</a:t>
            </a:r>
            <a:r>
              <a:rPr kumimoji="1" lang="en-GB" altLang="zh-CN" dirty="0">
                <a:latin typeface="微软雅黑" panose="020B0503020204020204" pitchFamily="34" charset="-122"/>
                <a:ea typeface="微软雅黑" panose="020B0503020204020204" pitchFamily="34" charset="-122"/>
              </a:rPr>
              <a:t>UA</a:t>
            </a:r>
            <a:r>
              <a:rPr kumimoji="1" lang="zh-CN" altLang="en-US" dirty="0">
                <a:latin typeface="微软雅黑" panose="020B0503020204020204" pitchFamily="34" charset="-122"/>
                <a:ea typeface="微软雅黑" panose="020B0503020204020204" pitchFamily="34" charset="-122"/>
              </a:rPr>
              <a:t>中包含</a:t>
            </a:r>
            <a:r>
              <a:rPr kumimoji="1" lang="en-GB" altLang="zh-CN" dirty="0">
                <a:latin typeface="微软雅黑" panose="020B0503020204020204" pitchFamily="34" charset="-122"/>
                <a:ea typeface="微软雅黑" panose="020B0503020204020204" pitchFamily="34" charset="-122"/>
              </a:rPr>
              <a:t>python</a:t>
            </a:r>
            <a:r>
              <a:rPr kumimoji="1" lang="zh-CN" altLang="en-GB" dirty="0">
                <a:latin typeface="微软雅黑" panose="020B0503020204020204" pitchFamily="34" charset="-122"/>
                <a:ea typeface="微软雅黑" panose="020B0503020204020204" pitchFamily="34" charset="-122"/>
              </a:rPr>
              <a:t>、</a:t>
            </a:r>
            <a:r>
              <a:rPr kumimoji="1" lang="en-GB" altLang="zh-CN" dirty="0">
                <a:latin typeface="微软雅黑" panose="020B0503020204020204" pitchFamily="34" charset="-122"/>
                <a:ea typeface="微软雅黑" panose="020B0503020204020204" pitchFamily="34" charset="-122"/>
              </a:rPr>
              <a:t>Java</a:t>
            </a:r>
            <a:r>
              <a:rPr kumimoji="1" lang="zh-CN" altLang="en-GB" dirty="0">
                <a:latin typeface="微软雅黑" panose="020B0503020204020204" pitchFamily="34" charset="-122"/>
                <a:ea typeface="微软雅黑" panose="020B0503020204020204" pitchFamily="34" charset="-122"/>
              </a:rPr>
              <a:t>、</a:t>
            </a:r>
            <a:r>
              <a:rPr kumimoji="1" lang="en-GB" altLang="zh-CN" dirty="0">
                <a:latin typeface="微软雅黑" panose="020B0503020204020204" pitchFamily="34" charset="-122"/>
                <a:ea typeface="微软雅黑" panose="020B0503020204020204" pitchFamily="34" charset="-122"/>
              </a:rPr>
              <a:t>spider</a:t>
            </a:r>
            <a:r>
              <a:rPr kumimoji="1" lang="zh-CN" altLang="en-US" dirty="0">
                <a:latin typeface="微软雅黑" panose="020B0503020204020204" pitchFamily="34" charset="-122"/>
                <a:ea typeface="微软雅黑" panose="020B0503020204020204" pitchFamily="34" charset="-122"/>
              </a:rPr>
              <a:t>等字段，因此可以根据</a:t>
            </a:r>
            <a:r>
              <a:rPr kumimoji="1" lang="en-GB" altLang="zh-CN" dirty="0">
                <a:latin typeface="微软雅黑" panose="020B0503020204020204" pitchFamily="34" charset="-122"/>
                <a:ea typeface="微软雅黑" panose="020B0503020204020204" pitchFamily="34" charset="-122"/>
              </a:rPr>
              <a:t>UA</a:t>
            </a:r>
            <a:r>
              <a:rPr kumimoji="1" lang="zh-CN" altLang="en-US" dirty="0">
                <a:latin typeface="微软雅黑" panose="020B0503020204020204" pitchFamily="34" charset="-122"/>
                <a:ea typeface="微软雅黑" panose="020B0503020204020204" pitchFamily="34" charset="-122"/>
              </a:rPr>
              <a:t>进行过滤。例如：凤巢</a:t>
            </a:r>
            <a:r>
              <a:rPr kumimoji="1" lang="en-GB" altLang="zh-CN" dirty="0">
                <a:latin typeface="微软雅黑" panose="020B0503020204020204" pitchFamily="34" charset="-122"/>
                <a:ea typeface="微软雅黑" panose="020B0503020204020204" pitchFamily="34" charset="-122"/>
              </a:rPr>
              <a:t>UA</a:t>
            </a:r>
            <a:r>
              <a:rPr kumimoji="1" lang="zh-CN" altLang="en-US" dirty="0">
                <a:latin typeface="微软雅黑" panose="020B0503020204020204" pitchFamily="34" charset="-122"/>
                <a:ea typeface="微软雅黑" panose="020B0503020204020204" pitchFamily="34" charset="-122"/>
              </a:rPr>
              <a:t>黑名单（</a:t>
            </a:r>
            <a:r>
              <a:rPr kumimoji="1" lang="en-US" altLang="zh-CN" dirty="0">
                <a:latin typeface="微软雅黑" panose="020B0503020204020204" pitchFamily="34" charset="-122"/>
                <a:ea typeface="微软雅黑" panose="020B0503020204020204" pitchFamily="34" charset="-122"/>
              </a:rPr>
              <a:t>1801</a:t>
            </a:r>
            <a:r>
              <a:rPr kumimoji="1" lang="zh-CN" altLang="en-US" dirty="0">
                <a:latin typeface="微软雅黑" panose="020B0503020204020204" pitchFamily="34" charset="-122"/>
                <a:ea typeface="微软雅黑" panose="020B0503020204020204" pitchFamily="34" charset="-122"/>
              </a:rPr>
              <a:t>），原生广告</a:t>
            </a:r>
            <a:r>
              <a:rPr kumimoji="1" lang="en-GB" altLang="zh-CN" dirty="0">
                <a:latin typeface="微软雅黑" panose="020B0503020204020204" pitchFamily="34" charset="-122"/>
                <a:ea typeface="微软雅黑" panose="020B0503020204020204" pitchFamily="34" charset="-122"/>
              </a:rPr>
              <a:t>UA</a:t>
            </a:r>
            <a:r>
              <a:rPr kumimoji="1" lang="zh-CN" altLang="en-US" dirty="0">
                <a:latin typeface="微软雅黑" panose="020B0503020204020204" pitchFamily="34" charset="-122"/>
                <a:ea typeface="微软雅黑" panose="020B0503020204020204" pitchFamily="34" charset="-122"/>
              </a:rPr>
              <a:t>黑名单（</a:t>
            </a:r>
            <a:r>
              <a:rPr kumimoji="1" lang="en-US" altLang="zh-CN" dirty="0">
                <a:latin typeface="微软雅黑" panose="020B0503020204020204" pitchFamily="34" charset="-122"/>
                <a:ea typeface="微软雅黑" panose="020B0503020204020204" pitchFamily="34" charset="-122"/>
              </a:rPr>
              <a:t>1701</a:t>
            </a:r>
            <a:r>
              <a:rPr kumimoji="1" lang="zh-CN" altLang="en-US" dirty="0">
                <a:latin typeface="微软雅黑" panose="020B0503020204020204" pitchFamily="34" charset="-122"/>
                <a:ea typeface="微软雅黑" panose="020B0503020204020204" pitchFamily="34" charset="-122"/>
              </a:rPr>
              <a:t>）</a:t>
            </a:r>
            <a:endParaRPr kumimoji="1" lang="en-US" altLang="zh-CN" dirty="0">
              <a:latin typeface="微软雅黑" panose="020B0503020204020204" pitchFamily="34" charset="-122"/>
              <a:ea typeface="微软雅黑" panose="020B0503020204020204" pitchFamily="34" charset="-122"/>
            </a:endParaRPr>
          </a:p>
          <a:p>
            <a:pPr marL="285750" lvl="2"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参数说明：</a:t>
            </a:r>
            <a:r>
              <a:rPr lang="en-GB" altLang="zh-CN" u="sng" dirty="0" err="1"/>
              <a:t>dict_type</a:t>
            </a:r>
            <a:r>
              <a:rPr lang="en-GB" altLang="zh-CN" u="sng" dirty="0"/>
              <a:t>:</a:t>
            </a:r>
            <a:r>
              <a:rPr lang="zh-CN" altLang="en-US" u="sng" dirty="0"/>
              <a:t> </a:t>
            </a:r>
            <a:r>
              <a:rPr lang="en-GB" altLang="zh-CN" u="sng" dirty="0"/>
              <a:t>str</a:t>
            </a:r>
            <a:r>
              <a:rPr lang="en-US" altLang="zh-CN" u="sng" dirty="0"/>
              <a:t>_match</a:t>
            </a:r>
            <a:r>
              <a:rPr lang="zh-CN" altLang="en-GB" dirty="0"/>
              <a:t>，</a:t>
            </a:r>
            <a:r>
              <a:rPr lang="en-GB" altLang="zh-CN" dirty="0" err="1"/>
              <a:t>str_match</a:t>
            </a:r>
            <a:r>
              <a:rPr lang="zh-CN" altLang="en-US" dirty="0"/>
              <a:t>子串匹配往往对应的文件类型也是</a:t>
            </a:r>
            <a:r>
              <a:rPr lang="en-GB" altLang="zh-CN" dirty="0" err="1"/>
              <a:t>str_match</a:t>
            </a:r>
            <a:r>
              <a:rPr lang="zh-CN" altLang="en-GB" dirty="0"/>
              <a:t>，</a:t>
            </a:r>
            <a:r>
              <a:rPr lang="zh-CN" altLang="en-US" dirty="0"/>
              <a:t>匹配时只要日志</a:t>
            </a:r>
            <a:r>
              <a:rPr lang="en-GB" altLang="zh-CN" dirty="0" err="1"/>
              <a:t>ua</a:t>
            </a:r>
            <a:r>
              <a:rPr lang="zh-CN" altLang="en-US" dirty="0"/>
              <a:t>字段中包含文件中任意一个子字符串，就认为日志被命中。</a:t>
            </a:r>
            <a:endParaRPr lang="en-US" altLang="zh-CN" dirty="0"/>
          </a:p>
          <a:p>
            <a:pPr marL="285750" lvl="2"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格式：</a:t>
            </a:r>
            <a:r>
              <a:rPr lang="zh-CN" altLang="en-US" dirty="0"/>
              <a:t>两列或者一列，</a:t>
            </a:r>
            <a:r>
              <a:rPr lang="en-US" altLang="zh-CN" dirty="0"/>
              <a:t>\</a:t>
            </a:r>
            <a:r>
              <a:rPr lang="en-GB" altLang="zh-CN" dirty="0"/>
              <a:t>t</a:t>
            </a:r>
            <a:r>
              <a:rPr lang="zh-CN" altLang="en-US" dirty="0"/>
              <a:t>分割，两列时，第一列是子字符串，第二列是属性，一列时就是子字符串。</a:t>
            </a:r>
          </a:p>
          <a:p>
            <a:pPr marL="0" lvl="2">
              <a:lnSpc>
                <a:spcPct val="150000"/>
              </a:lnSpc>
            </a:pPr>
            <a:endParaRPr kumimoji="1" lang="en-US" altLang="zh-CN" dirty="0">
              <a:latin typeface="微软雅黑" panose="020B0503020204020204" pitchFamily="34" charset="-122"/>
              <a:ea typeface="微软雅黑" panose="020B0503020204020204" pitchFamily="34" charset="-122"/>
            </a:endParaRPr>
          </a:p>
          <a:p>
            <a:pPr marL="285750" lvl="2" indent="-285750">
              <a:lnSpc>
                <a:spcPct val="150000"/>
              </a:lnSpc>
              <a:buFont typeface="Wingdings" panose="05000000000000000000" pitchFamily="2" charset="2"/>
              <a:buChar char="l"/>
            </a:pPr>
            <a:endParaRPr kumimoji="1" lang="en-US" altLang="zh-CN" dirty="0">
              <a:latin typeface="微软雅黑" panose="020B0503020204020204" pitchFamily="34" charset="-122"/>
              <a:ea typeface="微软雅黑" panose="020B0503020204020204" pitchFamily="34" charset="-122"/>
            </a:endParaRPr>
          </a:p>
        </p:txBody>
      </p:sp>
      <p:sp>
        <p:nvSpPr>
          <p:cNvPr id="4" name="文本框 3"/>
          <p:cNvSpPr txBox="1"/>
          <p:nvPr/>
        </p:nvSpPr>
        <p:spPr>
          <a:xfrm>
            <a:off x="462637" y="1870939"/>
            <a:ext cx="4010750" cy="4801314"/>
          </a:xfrm>
          <a:prstGeom prst="rect">
            <a:avLst/>
          </a:prstGeom>
          <a:noFill/>
        </p:spPr>
        <p:txBody>
          <a:bodyPr wrap="square" rtlCol="0">
            <a:spAutoFit/>
          </a:bodyPr>
          <a:lstStyle/>
          <a:p>
            <a:pPr lvl="0" defTabSz="584200" fontAlgn="base" hangingPunct="0">
              <a:spcBef>
                <a:spcPct val="0"/>
              </a:spcBef>
              <a:spcAft>
                <a:spcPct val="0"/>
              </a:spcAft>
              <a:defRPr/>
            </a:pPr>
            <a:r>
              <a:rPr lang="en-GB" altLang="zh-CN" dirty="0">
                <a:solidFill>
                  <a:srgbClr val="000000"/>
                </a:solidFill>
                <a:latin typeface="Helvetica Light" charset="0"/>
                <a:sym typeface="Helvetica Light" charset="0"/>
              </a:rPr>
              <a:t>[@policy]</a:t>
            </a:r>
          </a:p>
          <a:p>
            <a:pPr lvl="0" defTabSz="584200" fontAlgn="base" hangingPunct="0">
              <a:spcBef>
                <a:spcPct val="0"/>
              </a:spcBef>
              <a:spcAft>
                <a:spcPct val="0"/>
              </a:spcAft>
              <a:defRPr/>
            </a:pPr>
            <a:r>
              <a:rPr lang="en-GB" altLang="zh-CN" dirty="0" err="1">
                <a:solidFill>
                  <a:srgbClr val="000000"/>
                </a:solidFill>
                <a:latin typeface="Helvetica Light" charset="0"/>
                <a:sym typeface="Helvetica Light" charset="0"/>
              </a:rPr>
              <a:t>policy_type</a:t>
            </a:r>
            <a:r>
              <a:rPr lang="en-GB" altLang="zh-CN" dirty="0">
                <a:solidFill>
                  <a:srgbClr val="000000"/>
                </a:solidFill>
                <a:latin typeface="Helvetica Light" charset="0"/>
                <a:sym typeface="Helvetica Light" charset="0"/>
              </a:rPr>
              <a:t> : rule</a:t>
            </a:r>
          </a:p>
          <a:p>
            <a:pPr lvl="0" defTabSz="584200" fontAlgn="base" hangingPunct="0">
              <a:spcBef>
                <a:spcPct val="0"/>
              </a:spcBef>
              <a:spcAft>
                <a:spcPct val="0"/>
              </a:spcAft>
              <a:defRPr/>
            </a:pPr>
            <a:r>
              <a:rPr lang="en-GB" altLang="zh-CN" dirty="0" err="1">
                <a:solidFill>
                  <a:srgbClr val="000000"/>
                </a:solidFill>
                <a:latin typeface="Helvetica Light" charset="0"/>
                <a:sym typeface="Helvetica Light" charset="0"/>
              </a:rPr>
              <a:t>policy_id</a:t>
            </a:r>
            <a:r>
              <a:rPr lang="en-GB" altLang="zh-CN" dirty="0">
                <a:solidFill>
                  <a:srgbClr val="000000"/>
                </a:solidFill>
                <a:latin typeface="Helvetica Light" charset="0"/>
                <a:sym typeface="Helvetica Light" charset="0"/>
              </a:rPr>
              <a:t> : 1701</a:t>
            </a:r>
          </a:p>
          <a:p>
            <a:pPr lvl="0" defTabSz="584200" fontAlgn="base" hangingPunct="0">
              <a:spcBef>
                <a:spcPct val="0"/>
              </a:spcBef>
              <a:spcAft>
                <a:spcPct val="0"/>
              </a:spcAft>
              <a:defRPr/>
            </a:pPr>
            <a:r>
              <a:rPr lang="en-GB" altLang="zh-CN" dirty="0">
                <a:solidFill>
                  <a:srgbClr val="000000"/>
                </a:solidFill>
                <a:latin typeface="Helvetica Light" charset="0"/>
                <a:sym typeface="Helvetica Light" charset="0"/>
              </a:rPr>
              <a:t>[.@rule]</a:t>
            </a:r>
          </a:p>
          <a:p>
            <a:pPr lvl="0" defTabSz="584200" fontAlgn="base" hangingPunct="0">
              <a:spcBef>
                <a:spcPct val="0"/>
              </a:spcBef>
              <a:spcAft>
                <a:spcPct val="0"/>
              </a:spcAft>
              <a:defRPr/>
            </a:pPr>
            <a:r>
              <a:rPr lang="en-GB" altLang="zh-CN" dirty="0" err="1">
                <a:solidFill>
                  <a:srgbClr val="000000"/>
                </a:solidFill>
                <a:latin typeface="Helvetica Light" charset="0"/>
                <a:sym typeface="Helvetica Light" charset="0"/>
              </a:rPr>
              <a:t>feature_id</a:t>
            </a:r>
            <a:r>
              <a:rPr lang="en-GB" altLang="zh-CN" dirty="0">
                <a:solidFill>
                  <a:srgbClr val="000000"/>
                </a:solidFill>
                <a:latin typeface="Helvetica Light" charset="0"/>
                <a:sym typeface="Helvetica Light" charset="0"/>
              </a:rPr>
              <a:t> : 1701</a:t>
            </a:r>
          </a:p>
          <a:p>
            <a:pPr lvl="0" defTabSz="584200" fontAlgn="base" hangingPunct="0">
              <a:spcBef>
                <a:spcPct val="0"/>
              </a:spcBef>
              <a:spcAft>
                <a:spcPct val="0"/>
              </a:spcAft>
              <a:defRPr/>
            </a:pPr>
            <a:r>
              <a:rPr lang="en-GB" altLang="zh-CN" dirty="0" err="1">
                <a:solidFill>
                  <a:srgbClr val="000000"/>
                </a:solidFill>
                <a:latin typeface="Helvetica Light" charset="0"/>
                <a:sym typeface="Helvetica Light" charset="0"/>
              </a:rPr>
              <a:t>rule_type</a:t>
            </a:r>
            <a:r>
              <a:rPr lang="en-GB" altLang="zh-CN" dirty="0">
                <a:solidFill>
                  <a:srgbClr val="000000"/>
                </a:solidFill>
                <a:latin typeface="Helvetica Light" charset="0"/>
                <a:sym typeface="Helvetica Light" charset="0"/>
              </a:rPr>
              <a:t> : </a:t>
            </a:r>
            <a:r>
              <a:rPr lang="en-GB" altLang="zh-CN" dirty="0" err="1">
                <a:solidFill>
                  <a:srgbClr val="000000"/>
                </a:solidFill>
                <a:latin typeface="Helvetica Light" charset="0"/>
                <a:sym typeface="Helvetica Light" charset="0"/>
              </a:rPr>
              <a:t>boolean</a:t>
            </a:r>
            <a:endParaRPr lang="en-GB" altLang="zh-CN" dirty="0">
              <a:solidFill>
                <a:srgbClr val="000000"/>
              </a:solidFill>
              <a:latin typeface="Helvetica Light" charset="0"/>
              <a:sym typeface="Helvetica Light" charset="0"/>
            </a:endParaRPr>
          </a:p>
          <a:p>
            <a:pPr lvl="0" defTabSz="584200" fontAlgn="base" hangingPunct="0">
              <a:spcBef>
                <a:spcPct val="0"/>
              </a:spcBef>
              <a:spcAft>
                <a:spcPct val="0"/>
              </a:spcAft>
              <a:defRPr/>
            </a:pPr>
            <a:r>
              <a:rPr lang="en-GB" altLang="zh-CN" dirty="0">
                <a:solidFill>
                  <a:srgbClr val="000000"/>
                </a:solidFill>
                <a:latin typeface="Helvetica Light" charset="0"/>
                <a:sym typeface="Helvetica Light" charset="0"/>
              </a:rPr>
              <a:t>condition : true</a:t>
            </a:r>
          </a:p>
          <a:p>
            <a:pPr lvl="0" defTabSz="584200" fontAlgn="base" hangingPunct="0">
              <a:spcBef>
                <a:spcPct val="0"/>
              </a:spcBef>
              <a:spcAft>
                <a:spcPct val="0"/>
              </a:spcAft>
              <a:defRPr/>
            </a:pPr>
            <a:r>
              <a:rPr lang="en-GB" altLang="zh-CN" dirty="0">
                <a:solidFill>
                  <a:srgbClr val="000000"/>
                </a:solidFill>
                <a:latin typeface="Helvetica Light" charset="0"/>
                <a:sym typeface="Helvetica Light" charset="0"/>
              </a:rPr>
              <a:t> </a:t>
            </a:r>
          </a:p>
          <a:p>
            <a:pPr lvl="0" defTabSz="584200" fontAlgn="base" hangingPunct="0">
              <a:spcBef>
                <a:spcPct val="0"/>
              </a:spcBef>
              <a:spcAft>
                <a:spcPct val="0"/>
              </a:spcAft>
              <a:defRPr/>
            </a:pPr>
            <a:r>
              <a:rPr lang="en-GB" altLang="zh-CN" dirty="0">
                <a:solidFill>
                  <a:srgbClr val="000000"/>
                </a:solidFill>
                <a:latin typeface="Helvetica Light" charset="0"/>
                <a:sym typeface="Helvetica Light" charset="0"/>
              </a:rPr>
              <a:t>[@feature]</a:t>
            </a:r>
          </a:p>
          <a:p>
            <a:pPr lvl="0" defTabSz="584200" fontAlgn="base" hangingPunct="0">
              <a:spcBef>
                <a:spcPct val="0"/>
              </a:spcBef>
              <a:spcAft>
                <a:spcPct val="0"/>
              </a:spcAft>
              <a:defRPr/>
            </a:pPr>
            <a:r>
              <a:rPr lang="en-GB" altLang="zh-CN" dirty="0" err="1">
                <a:solidFill>
                  <a:srgbClr val="000000"/>
                </a:solidFill>
                <a:latin typeface="Helvetica Light" charset="0"/>
                <a:sym typeface="Helvetica Light" charset="0"/>
              </a:rPr>
              <a:t>feature_id</a:t>
            </a:r>
            <a:r>
              <a:rPr lang="en-GB" altLang="zh-CN" dirty="0">
                <a:solidFill>
                  <a:srgbClr val="000000"/>
                </a:solidFill>
                <a:latin typeface="Helvetica Light" charset="0"/>
                <a:sym typeface="Helvetica Light" charset="0"/>
              </a:rPr>
              <a:t> : 1701</a:t>
            </a:r>
          </a:p>
          <a:p>
            <a:pPr lvl="0" defTabSz="584200" fontAlgn="base" hangingPunct="0">
              <a:spcBef>
                <a:spcPct val="0"/>
              </a:spcBef>
              <a:spcAft>
                <a:spcPct val="0"/>
              </a:spcAft>
              <a:defRPr/>
            </a:pPr>
            <a:r>
              <a:rPr lang="en-GB" altLang="zh-CN" dirty="0" err="1">
                <a:solidFill>
                  <a:srgbClr val="000000"/>
                </a:solidFill>
                <a:latin typeface="Helvetica Light" charset="0"/>
                <a:sym typeface="Helvetica Light" charset="0"/>
              </a:rPr>
              <a:t>view_level</a:t>
            </a:r>
            <a:r>
              <a:rPr lang="en-GB" altLang="zh-CN" dirty="0">
                <a:solidFill>
                  <a:srgbClr val="000000"/>
                </a:solidFill>
                <a:latin typeface="Helvetica Light" charset="0"/>
                <a:sym typeface="Helvetica Light" charset="0"/>
              </a:rPr>
              <a:t> : </a:t>
            </a:r>
            <a:r>
              <a:rPr lang="en-GB" altLang="zh-CN" dirty="0" err="1">
                <a:solidFill>
                  <a:srgbClr val="000000"/>
                </a:solidFill>
                <a:latin typeface="Helvetica Light" charset="0"/>
                <a:sym typeface="Helvetica Light" charset="0"/>
              </a:rPr>
              <a:t>click_level</a:t>
            </a:r>
            <a:endParaRPr lang="en-GB" altLang="zh-CN" dirty="0">
              <a:solidFill>
                <a:srgbClr val="000000"/>
              </a:solidFill>
              <a:latin typeface="Helvetica Light" charset="0"/>
              <a:sym typeface="Helvetica Light" charset="0"/>
            </a:endParaRPr>
          </a:p>
          <a:p>
            <a:pPr lvl="0" defTabSz="584200" fontAlgn="base" hangingPunct="0">
              <a:spcBef>
                <a:spcPct val="0"/>
              </a:spcBef>
              <a:spcAft>
                <a:spcPct val="0"/>
              </a:spcAft>
              <a:defRPr/>
            </a:pPr>
            <a:r>
              <a:rPr lang="en-GB" altLang="zh-CN" dirty="0" err="1">
                <a:solidFill>
                  <a:srgbClr val="C00000"/>
                </a:solidFill>
                <a:latin typeface="Helvetica Light" charset="0"/>
                <a:sym typeface="Helvetica Light" charset="0"/>
              </a:rPr>
              <a:t>feature_type</a:t>
            </a:r>
            <a:r>
              <a:rPr lang="en-GB" altLang="zh-CN" dirty="0">
                <a:solidFill>
                  <a:srgbClr val="C00000"/>
                </a:solidFill>
                <a:latin typeface="Helvetica Light" charset="0"/>
                <a:sym typeface="Helvetica Light" charset="0"/>
              </a:rPr>
              <a:t> : </a:t>
            </a:r>
            <a:r>
              <a:rPr lang="en-GB" altLang="zh-CN" dirty="0" err="1">
                <a:solidFill>
                  <a:srgbClr val="C00000"/>
                </a:solidFill>
                <a:latin typeface="Helvetica Light" charset="0"/>
                <a:sym typeface="Helvetica Light" charset="0"/>
              </a:rPr>
              <a:t>file_dict</a:t>
            </a:r>
            <a:endParaRPr lang="en-GB" altLang="zh-CN" dirty="0">
              <a:solidFill>
                <a:srgbClr val="C00000"/>
              </a:solidFill>
              <a:latin typeface="Helvetica Light" charset="0"/>
              <a:sym typeface="Helvetica Light" charset="0"/>
            </a:endParaRPr>
          </a:p>
          <a:p>
            <a:pPr lvl="0" defTabSz="584200" fontAlgn="base" hangingPunct="0">
              <a:spcBef>
                <a:spcPct val="0"/>
              </a:spcBef>
              <a:spcAft>
                <a:spcPct val="0"/>
              </a:spcAft>
              <a:defRPr/>
            </a:pPr>
            <a:r>
              <a:rPr lang="en-GB" altLang="zh-CN" dirty="0" err="1">
                <a:solidFill>
                  <a:srgbClr val="C00000"/>
                </a:solidFill>
                <a:latin typeface="Helvetica Light" charset="0"/>
                <a:sym typeface="Helvetica Light" charset="0"/>
              </a:rPr>
              <a:t>file_key</a:t>
            </a:r>
            <a:r>
              <a:rPr lang="en-GB" altLang="zh-CN" dirty="0">
                <a:solidFill>
                  <a:srgbClr val="C00000"/>
                </a:solidFill>
                <a:latin typeface="Helvetica Light" charset="0"/>
                <a:sym typeface="Helvetica Light" charset="0"/>
              </a:rPr>
              <a:t> : </a:t>
            </a:r>
            <a:r>
              <a:rPr lang="en-GB" altLang="zh-CN" dirty="0" err="1">
                <a:solidFill>
                  <a:srgbClr val="C00000"/>
                </a:solidFill>
                <a:latin typeface="Helvetica Light" charset="0"/>
                <a:sym typeface="Helvetica Light" charset="0"/>
              </a:rPr>
              <a:t>ua_spider.black</a:t>
            </a:r>
            <a:endParaRPr lang="en-GB" altLang="zh-CN" dirty="0">
              <a:solidFill>
                <a:srgbClr val="C00000"/>
              </a:solidFill>
              <a:latin typeface="Helvetica Light" charset="0"/>
              <a:sym typeface="Helvetica Light" charset="0"/>
            </a:endParaRPr>
          </a:p>
          <a:p>
            <a:pPr lvl="0" defTabSz="584200" fontAlgn="base" hangingPunct="0">
              <a:spcBef>
                <a:spcPct val="0"/>
              </a:spcBef>
              <a:spcAft>
                <a:spcPct val="0"/>
              </a:spcAft>
              <a:defRPr/>
            </a:pPr>
            <a:r>
              <a:rPr lang="en-GB" altLang="zh-CN" dirty="0" err="1">
                <a:solidFill>
                  <a:srgbClr val="C00000"/>
                </a:solidFill>
                <a:latin typeface="Helvetica Light" charset="0"/>
                <a:sym typeface="Helvetica Light" charset="0"/>
              </a:rPr>
              <a:t>dict_type</a:t>
            </a:r>
            <a:r>
              <a:rPr lang="en-GB" altLang="zh-CN" dirty="0">
                <a:solidFill>
                  <a:srgbClr val="C00000"/>
                </a:solidFill>
                <a:latin typeface="Helvetica Light" charset="0"/>
                <a:sym typeface="Helvetica Light" charset="0"/>
              </a:rPr>
              <a:t> : </a:t>
            </a:r>
            <a:r>
              <a:rPr lang="en-GB" altLang="zh-CN" dirty="0" err="1">
                <a:solidFill>
                  <a:srgbClr val="C00000"/>
                </a:solidFill>
                <a:latin typeface="Helvetica Light" charset="0"/>
                <a:sym typeface="Helvetica Light" charset="0"/>
              </a:rPr>
              <a:t>str_match</a:t>
            </a:r>
            <a:endParaRPr lang="en-GB" altLang="zh-CN" dirty="0">
              <a:solidFill>
                <a:srgbClr val="C00000"/>
              </a:solidFill>
              <a:latin typeface="Helvetica Light" charset="0"/>
              <a:sym typeface="Helvetica Light" charset="0"/>
            </a:endParaRPr>
          </a:p>
          <a:p>
            <a:pPr lvl="0" defTabSz="584200" fontAlgn="base" hangingPunct="0">
              <a:spcBef>
                <a:spcPct val="0"/>
              </a:spcBef>
              <a:spcAft>
                <a:spcPct val="0"/>
              </a:spcAft>
              <a:defRPr/>
            </a:pPr>
            <a:r>
              <a:rPr lang="en-GB" altLang="zh-CN" dirty="0">
                <a:solidFill>
                  <a:srgbClr val="000000"/>
                </a:solidFill>
                <a:latin typeface="Helvetica Light" charset="0"/>
                <a:sym typeface="Helvetica Light" charset="0"/>
              </a:rPr>
              <a:t>care : ['</a:t>
            </a:r>
            <a:r>
              <a:rPr lang="en-GB" altLang="zh-CN" dirty="0" err="1">
                <a:solidFill>
                  <a:srgbClr val="000000"/>
                </a:solidFill>
                <a:latin typeface="Helvetica Light" charset="0"/>
                <a:sym typeface="Helvetica Light" charset="0"/>
              </a:rPr>
              <a:t>accessid</a:t>
            </a:r>
            <a:r>
              <a:rPr lang="en-GB" altLang="zh-CN" dirty="0">
                <a:solidFill>
                  <a:srgbClr val="000000"/>
                </a:solidFill>
                <a:latin typeface="Helvetica Light" charset="0"/>
                <a:sym typeface="Helvetica Light" charset="0"/>
              </a:rPr>
              <a:t>':='1']</a:t>
            </a:r>
          </a:p>
          <a:p>
            <a:pPr lvl="0" defTabSz="584200" fontAlgn="base" hangingPunct="0">
              <a:spcBef>
                <a:spcPct val="0"/>
              </a:spcBef>
              <a:spcAft>
                <a:spcPct val="0"/>
              </a:spcAft>
              <a:defRPr/>
            </a:pPr>
            <a:r>
              <a:rPr lang="en-GB" altLang="zh-CN" dirty="0">
                <a:solidFill>
                  <a:srgbClr val="000000"/>
                </a:solidFill>
                <a:latin typeface="Helvetica Light" charset="0"/>
                <a:sym typeface="Helvetica Light" charset="0"/>
              </a:rPr>
              <a:t>view : </a:t>
            </a:r>
            <a:r>
              <a:rPr lang="en-GB" altLang="zh-CN" dirty="0" err="1">
                <a:solidFill>
                  <a:srgbClr val="000000"/>
                </a:solidFill>
                <a:latin typeface="Helvetica Light" charset="0"/>
                <a:sym typeface="Helvetica Light" charset="0"/>
              </a:rPr>
              <a:t>useragent</a:t>
            </a:r>
            <a:endParaRPr lang="en-GB" altLang="zh-CN" dirty="0">
              <a:solidFill>
                <a:srgbClr val="000000"/>
              </a:solidFill>
              <a:latin typeface="Helvetica Light" charset="0"/>
              <a:sym typeface="Helvetica Light" charset="0"/>
            </a:endParaRPr>
          </a:p>
          <a:p>
            <a:endParaRPr kumimoji="1"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5735749" cy="646331"/>
          </a:xfrm>
          <a:prstGeom prst="rect">
            <a:avLst/>
          </a:prstGeom>
          <a:noFill/>
        </p:spPr>
        <p:txBody>
          <a:bodyPr wrap="square" rtlCol="0">
            <a:spAutoFit/>
          </a:bodyPr>
          <a:lstStyle/>
          <a:p>
            <a:r>
              <a:rPr kumimoji="1" lang="zh-CN" altLang="en-US" b="1" dirty="0"/>
              <a:t>简单策略：名单类策略</a:t>
            </a:r>
            <a:r>
              <a:rPr kumimoji="1" lang="en-US" altLang="zh-CN" b="1" dirty="0"/>
              <a:t>_</a:t>
            </a:r>
            <a:r>
              <a:rPr kumimoji="1" lang="zh-CN" altLang="en-US" b="1" dirty="0"/>
              <a:t>组合维度黑名单类策略</a:t>
            </a:r>
            <a:r>
              <a:rPr kumimoji="1" lang="en-US" altLang="zh-CN" b="1" dirty="0"/>
              <a:t>(37791)</a:t>
            </a:r>
          </a:p>
          <a:p>
            <a:endParaRPr kumimoji="1" lang="zh-CN" altLang="en-US" b="1" dirty="0"/>
          </a:p>
        </p:txBody>
      </p:sp>
      <p:sp>
        <p:nvSpPr>
          <p:cNvPr id="16" name="文本框 15"/>
          <p:cNvSpPr txBox="1"/>
          <p:nvPr/>
        </p:nvSpPr>
        <p:spPr>
          <a:xfrm>
            <a:off x="4635583" y="1721660"/>
            <a:ext cx="5735749" cy="4613892"/>
          </a:xfrm>
          <a:prstGeom prst="rect">
            <a:avLst/>
          </a:prstGeom>
          <a:noFill/>
        </p:spPr>
        <p:txBody>
          <a:bodyPr wrap="square" rtlCol="0">
            <a:spAutoFit/>
          </a:bodyPr>
          <a:lstStyle/>
          <a:p>
            <a:pPr marL="285750" lvl="2"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业务场景：不同维度之间存在关联，如像一些</a:t>
            </a:r>
            <a:r>
              <a:rPr kumimoji="1" lang="en-GB" altLang="zh-CN" dirty="0" err="1">
                <a:latin typeface="微软雅黑" panose="020B0503020204020204" pitchFamily="34" charset="-122"/>
                <a:ea typeface="微软雅黑" panose="020B0503020204020204" pitchFamily="34" charset="-122"/>
              </a:rPr>
              <a:t>baiduid</a:t>
            </a:r>
            <a:r>
              <a:rPr kumimoji="1" lang="zh-CN" altLang="en-US" dirty="0">
                <a:latin typeface="微软雅黑" panose="020B0503020204020204" pitchFamily="34" charset="-122"/>
                <a:ea typeface="微软雅黑" panose="020B0503020204020204" pitchFamily="34" charset="-122"/>
              </a:rPr>
              <a:t>点击</a:t>
            </a:r>
            <a:r>
              <a:rPr kumimoji="1" lang="en-GB" altLang="zh-CN" dirty="0" err="1">
                <a:latin typeface="微软雅黑" panose="020B0503020204020204" pitchFamily="34" charset="-122"/>
                <a:ea typeface="微软雅黑" panose="020B0503020204020204" pitchFamily="34" charset="-122"/>
              </a:rPr>
              <a:t>userid</a:t>
            </a:r>
            <a:r>
              <a:rPr kumimoji="1" lang="zh-CN" altLang="en-US" dirty="0">
                <a:latin typeface="微软雅黑" panose="020B0503020204020204" pitchFamily="34" charset="-122"/>
                <a:ea typeface="微软雅黑" panose="020B0503020204020204" pitchFamily="34" charset="-122"/>
              </a:rPr>
              <a:t>次数过多等，这很有可能是广告主的作弊手段（消耗竞争对手预算），可以利用黑名单进行过滤。</a:t>
            </a:r>
          </a:p>
          <a:p>
            <a:pPr marL="285750" lvl="2"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参数说明：</a:t>
            </a:r>
            <a:r>
              <a:rPr lang="en-GB" altLang="zh-CN" u="sng" dirty="0" err="1"/>
              <a:t>dict_type</a:t>
            </a:r>
            <a:r>
              <a:rPr lang="en-GB" altLang="zh-CN" u="sng" dirty="0"/>
              <a:t>:</a:t>
            </a:r>
            <a:r>
              <a:rPr lang="zh-CN" altLang="en-US" u="sng" dirty="0"/>
              <a:t> </a:t>
            </a:r>
            <a:r>
              <a:rPr lang="en-GB" altLang="zh-CN" dirty="0"/>
              <a:t>multicolumn, multicolumn</a:t>
            </a:r>
            <a:r>
              <a:rPr lang="zh-CN" altLang="en-US" dirty="0"/>
              <a:t>全串匹配是默认的词表类型。对应的文件类型是</a:t>
            </a:r>
            <a:r>
              <a:rPr lang="en-US" altLang="zh-CN" dirty="0">
                <a:cs typeface="宋体" charset="0"/>
              </a:rPr>
              <a:t>mcf</a:t>
            </a:r>
            <a:r>
              <a:rPr lang="zh-CN" altLang="en-US" dirty="0">
                <a:cs typeface="宋体" charset="0"/>
              </a:rPr>
              <a:t>。</a:t>
            </a:r>
            <a:endParaRPr lang="en-US" altLang="zh-CN" dirty="0"/>
          </a:p>
          <a:p>
            <a:pPr marL="285750" lvl="2"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格式：</a:t>
            </a:r>
            <a:r>
              <a:rPr lang="zh-CN" altLang="en-US" dirty="0"/>
              <a:t>单列或多列，中间用</a:t>
            </a:r>
            <a:r>
              <a:rPr lang="en-US" altLang="zh-CN" dirty="0"/>
              <a:t>\</a:t>
            </a:r>
            <a:r>
              <a:rPr lang="en-GB" altLang="zh-CN" dirty="0"/>
              <a:t>t</a:t>
            </a:r>
            <a:r>
              <a:rPr lang="zh-CN" altLang="en-US" dirty="0"/>
              <a:t>分割，匹配方式是全串匹配，默认以全部列</a:t>
            </a:r>
            <a:r>
              <a:rPr lang="en-US" altLang="zh-CN" dirty="0"/>
              <a:t>(</a:t>
            </a:r>
            <a:r>
              <a:rPr lang="zh-CN" altLang="en-US" dirty="0"/>
              <a:t>使用下划线连接起来</a:t>
            </a:r>
            <a:r>
              <a:rPr lang="en-US" altLang="zh-CN" dirty="0"/>
              <a:t>)</a:t>
            </a:r>
            <a:r>
              <a:rPr lang="zh-CN" altLang="en-US" dirty="0"/>
              <a:t>为</a:t>
            </a:r>
            <a:r>
              <a:rPr lang="en-GB" altLang="zh-CN" dirty="0"/>
              <a:t>key</a:t>
            </a:r>
            <a:r>
              <a:rPr lang="zh-CN" altLang="en-GB" dirty="0"/>
              <a:t>，</a:t>
            </a:r>
            <a:r>
              <a:rPr lang="zh-CN" altLang="en-US" dirty="0"/>
              <a:t>如果配置了参数</a:t>
            </a:r>
            <a:r>
              <a:rPr lang="en-GB" altLang="zh-CN" dirty="0"/>
              <a:t>column</a:t>
            </a:r>
            <a:r>
              <a:rPr lang="zh-CN" altLang="en-GB" dirty="0"/>
              <a:t>，</a:t>
            </a:r>
            <a:r>
              <a:rPr lang="zh-CN" altLang="en-US" dirty="0"/>
              <a:t>则以第</a:t>
            </a:r>
            <a:r>
              <a:rPr lang="en-GB" altLang="zh-CN" dirty="0"/>
              <a:t>column</a:t>
            </a:r>
            <a:r>
              <a:rPr lang="zh-CN" altLang="en-US" dirty="0"/>
              <a:t>列为</a:t>
            </a:r>
            <a:r>
              <a:rPr lang="en-GB" altLang="zh-CN" dirty="0"/>
              <a:t>key</a:t>
            </a:r>
            <a:r>
              <a:rPr lang="zh-CN" altLang="en-GB" dirty="0"/>
              <a:t>，</a:t>
            </a:r>
            <a:r>
              <a:rPr lang="zh-CN" altLang="en-US" dirty="0"/>
              <a:t>并将这些</a:t>
            </a:r>
            <a:r>
              <a:rPr lang="en-GB" altLang="zh-CN" dirty="0"/>
              <a:t>key</a:t>
            </a:r>
            <a:r>
              <a:rPr lang="zh-CN" altLang="en-US" dirty="0"/>
              <a:t>与日志的维度值全串比较。</a:t>
            </a:r>
          </a:p>
          <a:p>
            <a:pPr marL="285750" lvl="2" indent="-285750">
              <a:lnSpc>
                <a:spcPct val="150000"/>
              </a:lnSpc>
              <a:buFont typeface="Wingdings" panose="05000000000000000000" pitchFamily="2" charset="2"/>
              <a:buChar char="l"/>
            </a:pPr>
            <a:endParaRPr kumimoji="1" lang="en-US" altLang="zh-CN" dirty="0">
              <a:latin typeface="微软雅黑" panose="020B0503020204020204" pitchFamily="34" charset="-122"/>
              <a:ea typeface="微软雅黑" panose="020B0503020204020204" pitchFamily="34" charset="-122"/>
            </a:endParaRPr>
          </a:p>
        </p:txBody>
      </p:sp>
      <p:sp>
        <p:nvSpPr>
          <p:cNvPr id="4" name="文本框 3"/>
          <p:cNvSpPr txBox="1"/>
          <p:nvPr/>
        </p:nvSpPr>
        <p:spPr>
          <a:xfrm>
            <a:off x="462637" y="1870939"/>
            <a:ext cx="4010750" cy="5078313"/>
          </a:xfrm>
          <a:prstGeom prst="rect">
            <a:avLst/>
          </a:prstGeom>
          <a:noFill/>
        </p:spPr>
        <p:txBody>
          <a:bodyPr wrap="square" rtlCol="0">
            <a:spAutoFit/>
          </a:bodyPr>
          <a:lstStyle/>
          <a:p>
            <a:r>
              <a:rPr lang="en-GB" altLang="zh-CN" dirty="0"/>
              <a:t>[@policy]</a:t>
            </a:r>
          </a:p>
          <a:p>
            <a:r>
              <a:rPr lang="en-GB" altLang="zh-CN" dirty="0" err="1"/>
              <a:t>policy_type</a:t>
            </a:r>
            <a:r>
              <a:rPr lang="en-GB" altLang="zh-CN" dirty="0"/>
              <a:t> : rule</a:t>
            </a:r>
          </a:p>
          <a:p>
            <a:r>
              <a:rPr lang="en-GB" altLang="zh-CN" dirty="0" err="1"/>
              <a:t>policy_id</a:t>
            </a:r>
            <a:r>
              <a:rPr lang="en-GB" altLang="zh-CN" dirty="0"/>
              <a:t> : 37991</a:t>
            </a:r>
          </a:p>
          <a:p>
            <a:r>
              <a:rPr lang="en-GB" altLang="zh-CN" dirty="0"/>
              <a:t>[.@rule]</a:t>
            </a:r>
          </a:p>
          <a:p>
            <a:r>
              <a:rPr lang="en-GB" altLang="zh-CN" dirty="0" err="1"/>
              <a:t>feature_id</a:t>
            </a:r>
            <a:r>
              <a:rPr lang="en-GB" altLang="zh-CN" dirty="0"/>
              <a:t> : 37991</a:t>
            </a:r>
          </a:p>
          <a:p>
            <a:r>
              <a:rPr lang="en-GB" altLang="zh-CN" dirty="0" err="1"/>
              <a:t>rule_type</a:t>
            </a:r>
            <a:r>
              <a:rPr lang="en-GB" altLang="zh-CN" dirty="0"/>
              <a:t> : </a:t>
            </a:r>
            <a:r>
              <a:rPr lang="en-GB" altLang="zh-CN" dirty="0" err="1"/>
              <a:t>boolean</a:t>
            </a:r>
            <a:endParaRPr lang="en-GB" altLang="zh-CN" dirty="0"/>
          </a:p>
          <a:p>
            <a:r>
              <a:rPr lang="en-GB" altLang="zh-CN" dirty="0"/>
              <a:t>condition : true</a:t>
            </a:r>
          </a:p>
          <a:p>
            <a:r>
              <a:rPr lang="en-GB" altLang="zh-CN" dirty="0"/>
              <a:t> </a:t>
            </a:r>
          </a:p>
          <a:p>
            <a:r>
              <a:rPr lang="en-GB" altLang="zh-CN" dirty="0"/>
              <a:t>[@feature]</a:t>
            </a:r>
          </a:p>
          <a:p>
            <a:r>
              <a:rPr lang="en-GB" altLang="zh-CN" dirty="0" err="1"/>
              <a:t>feature_id</a:t>
            </a:r>
            <a:r>
              <a:rPr lang="en-GB" altLang="zh-CN" dirty="0"/>
              <a:t> : 37991</a:t>
            </a:r>
          </a:p>
          <a:p>
            <a:r>
              <a:rPr lang="en-GB" altLang="zh-CN" dirty="0" err="1"/>
              <a:t>view_level</a:t>
            </a:r>
            <a:r>
              <a:rPr lang="en-GB" altLang="zh-CN" dirty="0"/>
              <a:t> : </a:t>
            </a:r>
            <a:r>
              <a:rPr lang="en-GB" altLang="zh-CN" dirty="0" err="1"/>
              <a:t>click_level</a:t>
            </a:r>
            <a:endParaRPr lang="en-GB" altLang="zh-CN" dirty="0"/>
          </a:p>
          <a:p>
            <a:r>
              <a:rPr lang="en-GB" altLang="zh-CN" dirty="0" err="1">
                <a:solidFill>
                  <a:srgbClr val="C00000"/>
                </a:solidFill>
              </a:rPr>
              <a:t>feature_type</a:t>
            </a:r>
            <a:r>
              <a:rPr lang="en-GB" altLang="zh-CN" dirty="0">
                <a:solidFill>
                  <a:srgbClr val="C00000"/>
                </a:solidFill>
              </a:rPr>
              <a:t> : </a:t>
            </a:r>
            <a:r>
              <a:rPr lang="en-GB" altLang="zh-CN" dirty="0" err="1">
                <a:solidFill>
                  <a:srgbClr val="C00000"/>
                </a:solidFill>
              </a:rPr>
              <a:t>file_dict</a:t>
            </a:r>
            <a:endParaRPr lang="en-GB" altLang="zh-CN" dirty="0">
              <a:solidFill>
                <a:srgbClr val="C00000"/>
              </a:solidFill>
            </a:endParaRPr>
          </a:p>
          <a:p>
            <a:r>
              <a:rPr lang="en-GB" altLang="zh-CN" dirty="0" err="1">
                <a:solidFill>
                  <a:srgbClr val="C00000"/>
                </a:solidFill>
              </a:rPr>
              <a:t>file_key</a:t>
            </a:r>
            <a:r>
              <a:rPr lang="en-GB" altLang="zh-CN" dirty="0">
                <a:solidFill>
                  <a:srgbClr val="C00000"/>
                </a:solidFill>
              </a:rPr>
              <a:t> : 3991.black_userid_baiduid</a:t>
            </a:r>
          </a:p>
          <a:p>
            <a:r>
              <a:rPr lang="en-GB" altLang="zh-CN" dirty="0"/>
              <a:t>care : ['</a:t>
            </a:r>
            <a:r>
              <a:rPr lang="en-GB" altLang="zh-CN" dirty="0" err="1"/>
              <a:t>is_wireless</a:t>
            </a:r>
            <a:r>
              <a:rPr lang="en-GB" altLang="zh-CN" dirty="0"/>
              <a:t>':='0']['</a:t>
            </a:r>
            <a:r>
              <a:rPr lang="en-GB" altLang="zh-CN" dirty="0" err="1"/>
              <a:t>accessid</a:t>
            </a:r>
            <a:r>
              <a:rPr lang="en-GB" altLang="zh-CN" dirty="0"/>
              <a:t>':='1','31','37','1001','1002','1003','1004']</a:t>
            </a:r>
          </a:p>
          <a:p>
            <a:r>
              <a:rPr lang="en-GB" altLang="zh-CN" dirty="0"/>
              <a:t>view : </a:t>
            </a:r>
            <a:r>
              <a:rPr lang="en-GB" altLang="zh-CN" dirty="0" err="1"/>
              <a:t>userid,baiduid</a:t>
            </a:r>
            <a:endParaRPr kumimoji="1" lang="en-US" altLang="zh-CN" dirty="0">
              <a:solidFill>
                <a:srgbClr val="000000"/>
              </a:solidFill>
              <a:latin typeface="Helvetica Light" charset="0"/>
              <a:sym typeface="Helvetica Light" charset="0"/>
            </a:endParaRPr>
          </a:p>
          <a:p>
            <a:endParaRPr kumimoji="1"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5735749" cy="646331"/>
          </a:xfrm>
          <a:prstGeom prst="rect">
            <a:avLst/>
          </a:prstGeom>
          <a:noFill/>
        </p:spPr>
        <p:txBody>
          <a:bodyPr wrap="square" rtlCol="0">
            <a:spAutoFit/>
          </a:bodyPr>
          <a:lstStyle/>
          <a:p>
            <a:r>
              <a:rPr kumimoji="1" lang="zh-CN" altLang="en-US" b="1" dirty="0"/>
              <a:t>简单策略：名单类策略</a:t>
            </a:r>
            <a:r>
              <a:rPr kumimoji="1" lang="en-US" altLang="zh-CN" b="1" dirty="0"/>
              <a:t>_</a:t>
            </a:r>
            <a:r>
              <a:rPr kumimoji="1" lang="zh-CN" altLang="en-US" b="1" dirty="0"/>
              <a:t>计费名黑名单类策略</a:t>
            </a:r>
            <a:r>
              <a:rPr kumimoji="1" lang="en-US" altLang="zh-CN" b="1" dirty="0"/>
              <a:t>(130)</a:t>
            </a:r>
          </a:p>
          <a:p>
            <a:endParaRPr kumimoji="1" lang="zh-CN" altLang="en-US" b="1" dirty="0"/>
          </a:p>
        </p:txBody>
      </p:sp>
      <p:sp>
        <p:nvSpPr>
          <p:cNvPr id="16" name="文本框 15"/>
          <p:cNvSpPr txBox="1"/>
          <p:nvPr/>
        </p:nvSpPr>
        <p:spPr>
          <a:xfrm>
            <a:off x="4635583" y="1721660"/>
            <a:ext cx="5735749" cy="1705403"/>
          </a:xfrm>
          <a:prstGeom prst="rect">
            <a:avLst/>
          </a:prstGeom>
          <a:noFill/>
        </p:spPr>
        <p:txBody>
          <a:bodyPr wrap="square" rtlCol="0">
            <a:spAutoFit/>
          </a:bodyPr>
          <a:lstStyle/>
          <a:p>
            <a:pPr marL="285750" lvl="2"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业务场景：由封禁系统产生的计费名黑名单，会不时的进行更新。对于这些作弊严重的计费名，加入黑名单，不进行计费。 </a:t>
            </a:r>
          </a:p>
          <a:p>
            <a:pPr marL="0" lvl="2">
              <a:lnSpc>
                <a:spcPct val="150000"/>
              </a:lnSpc>
            </a:pPr>
            <a:endParaRPr kumimoji="1" lang="en-US" altLang="zh-CN" dirty="0">
              <a:latin typeface="微软雅黑" panose="020B0503020204020204" pitchFamily="34" charset="-122"/>
              <a:ea typeface="微软雅黑" panose="020B0503020204020204" pitchFamily="34" charset="-122"/>
            </a:endParaRPr>
          </a:p>
        </p:txBody>
      </p:sp>
      <p:sp>
        <p:nvSpPr>
          <p:cNvPr id="4" name="文本框 3"/>
          <p:cNvSpPr txBox="1"/>
          <p:nvPr/>
        </p:nvSpPr>
        <p:spPr>
          <a:xfrm>
            <a:off x="462636" y="1870939"/>
            <a:ext cx="5023763" cy="5078313"/>
          </a:xfrm>
          <a:prstGeom prst="rect">
            <a:avLst/>
          </a:prstGeom>
          <a:noFill/>
        </p:spPr>
        <p:txBody>
          <a:bodyPr wrap="square" rtlCol="0">
            <a:spAutoFit/>
          </a:bodyPr>
          <a:lstStyle/>
          <a:p>
            <a:pPr lvl="0"/>
            <a:r>
              <a:rPr lang="en-GB" altLang="zh-CN" dirty="0"/>
              <a:t>[@policy]</a:t>
            </a:r>
          </a:p>
          <a:p>
            <a:pPr lvl="0"/>
            <a:r>
              <a:rPr lang="en-GB" altLang="zh-CN" dirty="0" err="1"/>
              <a:t>policy_type</a:t>
            </a:r>
            <a:r>
              <a:rPr lang="en-GB" altLang="zh-CN" dirty="0"/>
              <a:t> : rule</a:t>
            </a:r>
          </a:p>
          <a:p>
            <a:pPr lvl="0"/>
            <a:r>
              <a:rPr lang="en-GB" altLang="zh-CN" dirty="0" err="1"/>
              <a:t>policy_id</a:t>
            </a:r>
            <a:r>
              <a:rPr lang="en-GB" altLang="zh-CN" dirty="0"/>
              <a:t> : 130</a:t>
            </a:r>
          </a:p>
          <a:p>
            <a:pPr lvl="0"/>
            <a:r>
              <a:rPr lang="en-GB" altLang="zh-CN" dirty="0"/>
              <a:t>[.@rule]</a:t>
            </a:r>
          </a:p>
          <a:p>
            <a:pPr lvl="0"/>
            <a:r>
              <a:rPr lang="en-GB" altLang="zh-CN" dirty="0" err="1"/>
              <a:t>feature_id</a:t>
            </a:r>
            <a:r>
              <a:rPr lang="en-GB" altLang="zh-CN" dirty="0"/>
              <a:t> : 130</a:t>
            </a:r>
          </a:p>
          <a:p>
            <a:pPr lvl="0"/>
            <a:r>
              <a:rPr lang="en-GB" altLang="zh-CN" dirty="0" err="1"/>
              <a:t>rule_type</a:t>
            </a:r>
            <a:r>
              <a:rPr lang="en-GB" altLang="zh-CN" dirty="0"/>
              <a:t> : </a:t>
            </a:r>
            <a:r>
              <a:rPr lang="en-GB" altLang="zh-CN" dirty="0" err="1"/>
              <a:t>boolean</a:t>
            </a:r>
            <a:endParaRPr lang="en-GB" altLang="zh-CN" dirty="0"/>
          </a:p>
          <a:p>
            <a:pPr lvl="0"/>
            <a:r>
              <a:rPr lang="en-GB" altLang="zh-CN" dirty="0"/>
              <a:t>condition : true</a:t>
            </a:r>
          </a:p>
          <a:p>
            <a:pPr lvl="0"/>
            <a:r>
              <a:rPr lang="en-GB" altLang="zh-CN" dirty="0"/>
              <a:t> </a:t>
            </a:r>
          </a:p>
          <a:p>
            <a:pPr lvl="0"/>
            <a:r>
              <a:rPr lang="en-GB" altLang="zh-CN" dirty="0"/>
              <a:t>[@feature]</a:t>
            </a:r>
          </a:p>
          <a:p>
            <a:pPr lvl="0"/>
            <a:r>
              <a:rPr lang="en-GB" altLang="zh-CN" dirty="0" err="1"/>
              <a:t>feature_id</a:t>
            </a:r>
            <a:r>
              <a:rPr lang="en-GB" altLang="zh-CN" dirty="0"/>
              <a:t> : 130</a:t>
            </a:r>
          </a:p>
          <a:p>
            <a:pPr lvl="0"/>
            <a:r>
              <a:rPr lang="en-GB" altLang="zh-CN" dirty="0" err="1"/>
              <a:t>view_level</a:t>
            </a:r>
            <a:r>
              <a:rPr lang="en-GB" altLang="zh-CN" dirty="0"/>
              <a:t> : </a:t>
            </a:r>
            <a:r>
              <a:rPr lang="en-GB" altLang="zh-CN" dirty="0" err="1"/>
              <a:t>click_level</a:t>
            </a:r>
            <a:endParaRPr lang="en-GB" altLang="zh-CN" dirty="0"/>
          </a:p>
          <a:p>
            <a:pPr lvl="0"/>
            <a:r>
              <a:rPr lang="en-GB" altLang="zh-CN" dirty="0" err="1"/>
              <a:t>feature_type</a:t>
            </a:r>
            <a:r>
              <a:rPr lang="en-GB" altLang="zh-CN" dirty="0"/>
              <a:t> : </a:t>
            </a:r>
            <a:r>
              <a:rPr lang="en-GB" altLang="zh-CN" dirty="0" err="1"/>
              <a:t>carespace</a:t>
            </a:r>
            <a:endParaRPr lang="en-GB" altLang="zh-CN" dirty="0"/>
          </a:p>
          <a:p>
            <a:pPr lvl="0"/>
            <a:r>
              <a:rPr lang="en-GB" altLang="zh-CN" dirty="0"/>
              <a:t>care : ['</a:t>
            </a:r>
            <a:r>
              <a:rPr lang="en-GB" altLang="zh-CN" dirty="0" err="1"/>
              <a:t>accessid</a:t>
            </a:r>
            <a:r>
              <a:rPr lang="en-GB" altLang="zh-CN" dirty="0"/>
              <a:t>':='1','3','4','8','21','23','24','25','27','28','29','31','30','36','37','1001','1002','1003','1004</a:t>
            </a:r>
            <a:r>
              <a:rPr lang="en-GB" altLang="zh-CN" dirty="0">
                <a:solidFill>
                  <a:srgbClr val="C00000"/>
                </a:solidFill>
              </a:rPr>
              <a:t>']['</a:t>
            </a:r>
            <a:r>
              <a:rPr lang="en-GB" altLang="zh-CN" dirty="0" err="1">
                <a:solidFill>
                  <a:srgbClr val="C00000"/>
                </a:solidFill>
              </a:rPr>
              <a:t>cntname'IN'mate.black</a:t>
            </a:r>
            <a:r>
              <a:rPr lang="en-GB" altLang="zh-CN" dirty="0">
                <a:solidFill>
                  <a:srgbClr val="C00000"/>
                </a:solidFill>
              </a:rPr>
              <a:t>']</a:t>
            </a:r>
          </a:p>
          <a:p>
            <a:pPr lvl="0"/>
            <a:r>
              <a:rPr lang="en-GB" altLang="zh-CN" dirty="0"/>
              <a:t>view : </a:t>
            </a:r>
            <a:r>
              <a:rPr lang="en-GB" altLang="zh-CN" dirty="0" err="1"/>
              <a:t>cntname</a:t>
            </a:r>
            <a:endParaRPr lang="en-GB" altLang="zh-CN" dirty="0"/>
          </a:p>
          <a:p>
            <a:endParaRPr kumimoji="1" lang="zh-CN" altLang="en-US" dirty="0"/>
          </a:p>
        </p:txBody>
      </p:sp>
      <p:sp>
        <p:nvSpPr>
          <p:cNvPr id="3" name="矩形 2"/>
          <p:cNvSpPr/>
          <p:nvPr/>
        </p:nvSpPr>
        <p:spPr>
          <a:xfrm>
            <a:off x="4455457" y="3041677"/>
            <a:ext cx="6096000" cy="954107"/>
          </a:xfrm>
          <a:prstGeom prst="rect">
            <a:avLst/>
          </a:prstGeom>
        </p:spPr>
        <p:txBody>
          <a:bodyPr>
            <a:spAutoFit/>
          </a:bodyPr>
          <a:lstStyle/>
          <a:p>
            <a:pPr lvl="2">
              <a:buClr>
                <a:srgbClr val="0070C0"/>
              </a:buClr>
              <a:buFont typeface="Wingdings" panose="05000000000000000000" pitchFamily="2" charset="2"/>
              <a:buChar char="l"/>
            </a:pPr>
            <a:endParaRPr lang="zh-CN" altLang="en-US" sz="1600" dirty="0"/>
          </a:p>
          <a:p>
            <a:pPr lvl="3">
              <a:buClr>
                <a:srgbClr val="0070C0"/>
              </a:buClr>
            </a:pPr>
            <a:r>
              <a:rPr lang="zh-CN" altLang="en-US" sz="2000" dirty="0"/>
              <a:t>联盟计费名黑名单</a:t>
            </a:r>
            <a:r>
              <a:rPr lang="en-US" altLang="zh-CN" sz="2000" dirty="0"/>
              <a:t>(130)</a:t>
            </a:r>
          </a:p>
          <a:p>
            <a:pPr lvl="3">
              <a:buClr>
                <a:srgbClr val="0070C0"/>
              </a:buClr>
            </a:pPr>
            <a:r>
              <a:rPr lang="zh-CN" altLang="en-US" sz="2000" dirty="0"/>
              <a:t>网盟计费名黑名单</a:t>
            </a:r>
            <a:r>
              <a:rPr lang="en-US" altLang="zh-CN" sz="2000" dirty="0"/>
              <a:t>(1132)</a:t>
            </a:r>
          </a:p>
        </p:txBody>
      </p:sp>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3010" y="4617164"/>
            <a:ext cx="2324223" cy="1850264"/>
          </a:xfrm>
          <a:prstGeom prst="rect">
            <a:avLst/>
          </a:prstGeom>
          <a:ln>
            <a:solidFill>
              <a:schemeClr val="tx1">
                <a:lumMod val="50000"/>
                <a:lumOff val="50000"/>
              </a:schemeClr>
            </a:solid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5735749" cy="646331"/>
          </a:xfrm>
          <a:prstGeom prst="rect">
            <a:avLst/>
          </a:prstGeom>
          <a:noFill/>
        </p:spPr>
        <p:txBody>
          <a:bodyPr wrap="square" rtlCol="0">
            <a:spAutoFit/>
          </a:bodyPr>
          <a:lstStyle/>
          <a:p>
            <a:r>
              <a:rPr kumimoji="1" lang="zh-CN" altLang="en-US" b="1" dirty="0"/>
              <a:t>简单策略：名单类策略</a:t>
            </a:r>
            <a:r>
              <a:rPr kumimoji="1" lang="en-US" altLang="zh-CN" b="1" dirty="0"/>
              <a:t>_</a:t>
            </a:r>
            <a:r>
              <a:rPr kumimoji="1" lang="en-US" altLang="zh-CN" b="1" dirty="0" err="1"/>
              <a:t>userid</a:t>
            </a:r>
            <a:r>
              <a:rPr kumimoji="1" lang="zh-CN" altLang="en-US" b="1" dirty="0"/>
              <a:t>黑名单类策略</a:t>
            </a:r>
            <a:r>
              <a:rPr kumimoji="1" lang="en-US" altLang="zh-CN" b="1" dirty="0"/>
              <a:t>(1231)</a:t>
            </a:r>
          </a:p>
          <a:p>
            <a:endParaRPr kumimoji="1" lang="zh-CN" altLang="en-US" b="1" dirty="0"/>
          </a:p>
        </p:txBody>
      </p:sp>
      <p:sp>
        <p:nvSpPr>
          <p:cNvPr id="16" name="文本框 15"/>
          <p:cNvSpPr txBox="1"/>
          <p:nvPr/>
        </p:nvSpPr>
        <p:spPr>
          <a:xfrm>
            <a:off x="4635583" y="1721660"/>
            <a:ext cx="5735749" cy="1705403"/>
          </a:xfrm>
          <a:prstGeom prst="rect">
            <a:avLst/>
          </a:prstGeom>
          <a:noFill/>
        </p:spPr>
        <p:txBody>
          <a:bodyPr wrap="square" rtlCol="0">
            <a:spAutoFit/>
          </a:bodyPr>
          <a:lstStyle/>
          <a:p>
            <a:pPr marL="285750" lvl="2"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业务场景：过滤内部</a:t>
            </a:r>
            <a:r>
              <a:rPr kumimoji="1" lang="en-US" altLang="zh-CN" dirty="0" err="1">
                <a:latin typeface="微软雅黑" panose="020B0503020204020204" pitchFamily="34" charset="-122"/>
                <a:ea typeface="微软雅黑" panose="020B0503020204020204" pitchFamily="34" charset="-122"/>
              </a:rPr>
              <a:t>userid</a:t>
            </a:r>
            <a:r>
              <a:rPr kumimoji="1" lang="zh-CN" altLang="en-US" dirty="0">
                <a:latin typeface="微软雅黑" panose="020B0503020204020204" pitchFamily="34" charset="-122"/>
                <a:ea typeface="微软雅黑" panose="020B0503020204020204" pitchFamily="34" charset="-122"/>
              </a:rPr>
              <a:t>不进行计费，如果点击价格过小（小于最低点击价格），则过滤该条点击，可能是广告的误投放造成的。 </a:t>
            </a:r>
          </a:p>
          <a:p>
            <a:pPr marL="0" lvl="2">
              <a:lnSpc>
                <a:spcPct val="150000"/>
              </a:lnSpc>
            </a:pPr>
            <a:endParaRPr kumimoji="1" lang="en-US" altLang="zh-CN" dirty="0">
              <a:latin typeface="微软雅黑" panose="020B0503020204020204" pitchFamily="34" charset="-122"/>
              <a:ea typeface="微软雅黑" panose="020B0503020204020204" pitchFamily="34" charset="-122"/>
            </a:endParaRPr>
          </a:p>
        </p:txBody>
      </p:sp>
      <p:sp>
        <p:nvSpPr>
          <p:cNvPr id="4" name="文本框 3"/>
          <p:cNvSpPr txBox="1"/>
          <p:nvPr/>
        </p:nvSpPr>
        <p:spPr>
          <a:xfrm>
            <a:off x="462636" y="1870939"/>
            <a:ext cx="5023763" cy="5078313"/>
          </a:xfrm>
          <a:prstGeom prst="rect">
            <a:avLst/>
          </a:prstGeom>
          <a:noFill/>
        </p:spPr>
        <p:txBody>
          <a:bodyPr wrap="square" rtlCol="0">
            <a:spAutoFit/>
          </a:bodyPr>
          <a:lstStyle/>
          <a:p>
            <a:pPr lvl="0"/>
            <a:r>
              <a:rPr lang="en-GB" altLang="zh-CN" dirty="0"/>
              <a:t>[@policy]</a:t>
            </a:r>
          </a:p>
          <a:p>
            <a:pPr lvl="0"/>
            <a:r>
              <a:rPr lang="en-GB" altLang="zh-CN" dirty="0" err="1"/>
              <a:t>policy_type</a:t>
            </a:r>
            <a:r>
              <a:rPr lang="en-GB" altLang="zh-CN" dirty="0"/>
              <a:t> : rule</a:t>
            </a:r>
          </a:p>
          <a:p>
            <a:pPr lvl="0"/>
            <a:r>
              <a:rPr lang="en-GB" altLang="zh-CN" dirty="0" err="1"/>
              <a:t>policy_id</a:t>
            </a:r>
            <a:r>
              <a:rPr lang="en-GB" altLang="zh-CN" dirty="0"/>
              <a:t> : 1231</a:t>
            </a:r>
          </a:p>
          <a:p>
            <a:pPr lvl="0"/>
            <a:r>
              <a:rPr lang="en-GB" altLang="zh-CN" dirty="0"/>
              <a:t>[.@rule]</a:t>
            </a:r>
          </a:p>
          <a:p>
            <a:pPr lvl="0"/>
            <a:r>
              <a:rPr lang="en-GB" altLang="zh-CN" dirty="0" err="1"/>
              <a:t>feature_id</a:t>
            </a:r>
            <a:r>
              <a:rPr lang="en-GB" altLang="zh-CN" dirty="0"/>
              <a:t> : 1231</a:t>
            </a:r>
          </a:p>
          <a:p>
            <a:pPr lvl="0"/>
            <a:r>
              <a:rPr lang="en-GB" altLang="zh-CN" dirty="0" err="1"/>
              <a:t>rule_type</a:t>
            </a:r>
            <a:r>
              <a:rPr lang="en-GB" altLang="zh-CN" dirty="0"/>
              <a:t> : </a:t>
            </a:r>
            <a:r>
              <a:rPr lang="en-GB" altLang="zh-CN" dirty="0" err="1"/>
              <a:t>boolean</a:t>
            </a:r>
            <a:endParaRPr lang="en-GB" altLang="zh-CN" dirty="0"/>
          </a:p>
          <a:p>
            <a:pPr lvl="0"/>
            <a:r>
              <a:rPr lang="en-GB" altLang="zh-CN" dirty="0"/>
              <a:t>condition : true</a:t>
            </a:r>
          </a:p>
          <a:p>
            <a:pPr lvl="0"/>
            <a:r>
              <a:rPr lang="en-GB" altLang="zh-CN" dirty="0"/>
              <a:t> </a:t>
            </a:r>
          </a:p>
          <a:p>
            <a:pPr lvl="0"/>
            <a:r>
              <a:rPr lang="en-GB" altLang="zh-CN" dirty="0"/>
              <a:t>[@feature]</a:t>
            </a:r>
          </a:p>
          <a:p>
            <a:pPr lvl="0"/>
            <a:r>
              <a:rPr lang="en-GB" altLang="zh-CN" dirty="0" err="1"/>
              <a:t>feature_id</a:t>
            </a:r>
            <a:r>
              <a:rPr lang="en-GB" altLang="zh-CN" dirty="0"/>
              <a:t> : 1231</a:t>
            </a:r>
          </a:p>
          <a:p>
            <a:pPr lvl="0"/>
            <a:r>
              <a:rPr lang="en-GB" altLang="zh-CN" dirty="0" err="1"/>
              <a:t>view_level</a:t>
            </a:r>
            <a:r>
              <a:rPr lang="en-GB" altLang="zh-CN" dirty="0"/>
              <a:t> : </a:t>
            </a:r>
            <a:r>
              <a:rPr lang="en-GB" altLang="zh-CN" dirty="0" err="1"/>
              <a:t>click_level</a:t>
            </a:r>
            <a:endParaRPr lang="en-GB" altLang="zh-CN" dirty="0"/>
          </a:p>
          <a:p>
            <a:pPr lvl="0"/>
            <a:r>
              <a:rPr lang="en-GB" altLang="zh-CN" dirty="0" err="1"/>
              <a:t>feature_type</a:t>
            </a:r>
            <a:r>
              <a:rPr lang="en-GB" altLang="zh-CN" dirty="0"/>
              <a:t> : </a:t>
            </a:r>
            <a:r>
              <a:rPr lang="en-GB" altLang="zh-CN" dirty="0" err="1"/>
              <a:t>carespace</a:t>
            </a:r>
            <a:endParaRPr lang="en-GB" altLang="zh-CN" dirty="0"/>
          </a:p>
          <a:p>
            <a:pPr lvl="0"/>
            <a:r>
              <a:rPr lang="en-GB" altLang="zh-CN" dirty="0"/>
              <a:t>condition : </a:t>
            </a:r>
            <a:r>
              <a:rPr lang="en-GB" altLang="zh-CN" dirty="0">
                <a:solidFill>
                  <a:srgbClr val="C00000"/>
                </a:solidFill>
              </a:rPr>
              <a:t>['</a:t>
            </a:r>
            <a:r>
              <a:rPr lang="en-GB" altLang="zh-CN" dirty="0" err="1">
                <a:solidFill>
                  <a:srgbClr val="C00000"/>
                </a:solidFill>
              </a:rPr>
              <a:t>userid'IN'userign.dat</a:t>
            </a:r>
            <a:r>
              <a:rPr lang="en-GB" altLang="zh-CN" dirty="0">
                <a:solidFill>
                  <a:srgbClr val="C00000"/>
                </a:solidFill>
              </a:rPr>
              <a:t>']</a:t>
            </a:r>
            <a:r>
              <a:rPr lang="en-GB" altLang="zh-CN" dirty="0"/>
              <a:t>||['price':&lt;10]</a:t>
            </a:r>
          </a:p>
          <a:p>
            <a:pPr lvl="0"/>
            <a:r>
              <a:rPr lang="en-GB" altLang="zh-CN" dirty="0"/>
              <a:t>care : ['</a:t>
            </a:r>
            <a:r>
              <a:rPr lang="en-GB" altLang="zh-CN" dirty="0" err="1"/>
              <a:t>accessid</a:t>
            </a:r>
            <a:r>
              <a:rPr lang="en-GB" altLang="zh-CN" dirty="0"/>
              <a:t>':='3','4','24','25']||['</a:t>
            </a:r>
            <a:r>
              <a:rPr lang="en-GB" altLang="zh-CN" dirty="0" err="1"/>
              <a:t>accessid</a:t>
            </a:r>
            <a:r>
              <a:rPr lang="en-GB" altLang="zh-CN" dirty="0"/>
              <a:t>':='1','29','31','36','37']['ac'!='2']['</a:t>
            </a:r>
            <a:r>
              <a:rPr lang="en-GB" altLang="zh-CN" dirty="0" err="1"/>
              <a:t>cmatch'NI'low_price_cmatch</a:t>
            </a:r>
            <a:r>
              <a:rPr lang="en-GB" altLang="zh-CN" dirty="0"/>
              <a:t>']</a:t>
            </a:r>
          </a:p>
          <a:p>
            <a:pPr lvl="0"/>
            <a:r>
              <a:rPr lang="en-GB" altLang="zh-CN" dirty="0"/>
              <a:t>view : </a:t>
            </a:r>
            <a:r>
              <a:rPr lang="en-GB" altLang="zh-CN" dirty="0" err="1"/>
              <a:t>accessid</a:t>
            </a:r>
            <a:endParaRPr lang="en-GB" altLang="zh-CN" dirty="0"/>
          </a:p>
          <a:p>
            <a:endParaRPr kumimoji="1"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5735749" cy="646331"/>
          </a:xfrm>
          <a:prstGeom prst="rect">
            <a:avLst/>
          </a:prstGeom>
          <a:noFill/>
        </p:spPr>
        <p:txBody>
          <a:bodyPr wrap="square" rtlCol="0">
            <a:spAutoFit/>
          </a:bodyPr>
          <a:lstStyle/>
          <a:p>
            <a:r>
              <a:rPr kumimoji="1" lang="zh-CN" altLang="en-US" b="1" dirty="0"/>
              <a:t>简单策略：名单类策略</a:t>
            </a:r>
            <a:r>
              <a:rPr kumimoji="1" lang="en-US" altLang="zh-CN" b="1" dirty="0"/>
              <a:t>_</a:t>
            </a:r>
            <a:r>
              <a:rPr kumimoji="1" lang="zh-CN" altLang="en-US" b="1" dirty="0"/>
              <a:t>白名单类策略</a:t>
            </a:r>
            <a:r>
              <a:rPr kumimoji="1" lang="en-US" altLang="zh-CN" b="1" dirty="0"/>
              <a:t>(151)</a:t>
            </a:r>
          </a:p>
          <a:p>
            <a:endParaRPr kumimoji="1" lang="zh-CN" altLang="en-US" b="1" dirty="0"/>
          </a:p>
        </p:txBody>
      </p:sp>
      <p:sp>
        <p:nvSpPr>
          <p:cNvPr id="16" name="文本框 15"/>
          <p:cNvSpPr txBox="1"/>
          <p:nvPr/>
        </p:nvSpPr>
        <p:spPr>
          <a:xfrm>
            <a:off x="5644113" y="1639599"/>
            <a:ext cx="5735749" cy="4198393"/>
          </a:xfrm>
          <a:prstGeom prst="rect">
            <a:avLst/>
          </a:prstGeom>
          <a:noFill/>
        </p:spPr>
        <p:txBody>
          <a:bodyPr wrap="square" rtlCol="0">
            <a:spAutoFit/>
          </a:bodyPr>
          <a:lstStyle/>
          <a:p>
            <a:pPr marL="285750" lvl="2"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业务场景：</a:t>
            </a:r>
            <a:r>
              <a:rPr lang="zh-CN" altLang="en-US" dirty="0"/>
              <a:t>对于在白名单策略，在处理空间的日志不进行过滤，不在的进行过滤；不在白名单，说明没有与百度进行合作，不应该进行计费。此外对于</a:t>
            </a:r>
            <a:r>
              <a:rPr lang="en-GB" altLang="zh-CN" dirty="0"/>
              <a:t>refer</a:t>
            </a:r>
            <a:r>
              <a:rPr lang="zh-CN" altLang="en-US" dirty="0"/>
              <a:t>为空不过滤。</a:t>
            </a:r>
            <a:endParaRPr lang="en-US" altLang="zh-CN" dirty="0"/>
          </a:p>
          <a:p>
            <a:pPr marL="285750" lvl="2" indent="-285750">
              <a:lnSpc>
                <a:spcPct val="150000"/>
              </a:lnSpc>
              <a:buFont typeface="Wingdings" panose="05000000000000000000" pitchFamily="2" charset="2"/>
              <a:buChar char="l"/>
            </a:pPr>
            <a:r>
              <a:rPr kumimoji="1" lang="zh-CN" altLang="en-US" dirty="0">
                <a:latin typeface="微软雅黑" panose="020B0503020204020204" pitchFamily="34" charset="-122"/>
                <a:ea typeface="微软雅黑" panose="020B0503020204020204" pitchFamily="34" charset="-122"/>
              </a:rPr>
              <a:t>参数说明 ：</a:t>
            </a:r>
            <a:r>
              <a:rPr lang="en-US" altLang="zh-CN" dirty="0"/>
              <a:t>refer</a:t>
            </a:r>
            <a:r>
              <a:rPr lang="zh-CN" altLang="en-US" dirty="0"/>
              <a:t>字段表示检索来源主域，可以理解为检索时所在网站的网址，例如</a:t>
            </a:r>
            <a:r>
              <a:rPr lang="en-US" altLang="zh-CN" dirty="0"/>
              <a:t>www.hao123.com</a:t>
            </a:r>
            <a:r>
              <a:rPr lang="zh-CN" altLang="en-US" dirty="0"/>
              <a:t>等，如果日志的</a:t>
            </a:r>
            <a:r>
              <a:rPr lang="en-US" altLang="zh-CN" dirty="0"/>
              <a:t>refer</a:t>
            </a:r>
            <a:r>
              <a:rPr lang="zh-CN" altLang="en-US" dirty="0"/>
              <a:t>值不在白名单中，说明根本没有合作，不满足规范，不应计费，例如作弊流量构造作弊器。</a:t>
            </a:r>
            <a:endParaRPr lang="en-US" altLang="zh-CN" dirty="0"/>
          </a:p>
          <a:p>
            <a:pPr marL="285750" lvl="2" indent="-285750">
              <a:lnSpc>
                <a:spcPct val="150000"/>
              </a:lnSpc>
              <a:buFont typeface="Wingdings" panose="05000000000000000000" pitchFamily="2" charset="2"/>
              <a:buChar char="l"/>
            </a:pPr>
            <a:endParaRPr kumimoji="1" lang="zh-CN" altLang="en-US" dirty="0">
              <a:latin typeface="微软雅黑" panose="020B0503020204020204" pitchFamily="34" charset="-122"/>
              <a:ea typeface="微软雅黑" panose="020B0503020204020204" pitchFamily="34" charset="-122"/>
            </a:endParaRPr>
          </a:p>
          <a:p>
            <a:pPr marL="0" lvl="2">
              <a:lnSpc>
                <a:spcPct val="150000"/>
              </a:lnSpc>
            </a:pPr>
            <a:endParaRPr kumimoji="1" lang="en-US" altLang="zh-CN" dirty="0">
              <a:latin typeface="微软雅黑" panose="020B0503020204020204" pitchFamily="34" charset="-122"/>
              <a:ea typeface="微软雅黑" panose="020B0503020204020204" pitchFamily="34" charset="-122"/>
            </a:endParaRPr>
          </a:p>
        </p:txBody>
      </p:sp>
      <p:sp>
        <p:nvSpPr>
          <p:cNvPr id="4" name="文本框 3"/>
          <p:cNvSpPr txBox="1"/>
          <p:nvPr/>
        </p:nvSpPr>
        <p:spPr>
          <a:xfrm>
            <a:off x="247837" y="1721660"/>
            <a:ext cx="10792552" cy="5355312"/>
          </a:xfrm>
          <a:prstGeom prst="rect">
            <a:avLst/>
          </a:prstGeom>
          <a:noFill/>
        </p:spPr>
        <p:txBody>
          <a:bodyPr wrap="square" rtlCol="0">
            <a:spAutoFit/>
          </a:bodyPr>
          <a:lstStyle/>
          <a:p>
            <a:pPr lvl="0"/>
            <a:r>
              <a:rPr lang="en-GB" altLang="zh-CN" dirty="0"/>
              <a:t>[@policy]</a:t>
            </a:r>
          </a:p>
          <a:p>
            <a:pPr lvl="0"/>
            <a:r>
              <a:rPr lang="en-GB" altLang="zh-CN" dirty="0" err="1"/>
              <a:t>policy_type</a:t>
            </a:r>
            <a:r>
              <a:rPr lang="en-GB" altLang="zh-CN" dirty="0"/>
              <a:t> : rule</a:t>
            </a:r>
          </a:p>
          <a:p>
            <a:pPr lvl="0"/>
            <a:r>
              <a:rPr lang="en-GB" altLang="zh-CN" dirty="0" err="1"/>
              <a:t>policy_id</a:t>
            </a:r>
            <a:r>
              <a:rPr lang="en-GB" altLang="zh-CN" dirty="0"/>
              <a:t> : 151</a:t>
            </a:r>
          </a:p>
          <a:p>
            <a:pPr lvl="0"/>
            <a:r>
              <a:rPr lang="en-GB" altLang="zh-CN" dirty="0"/>
              <a:t>[.@rule]</a:t>
            </a:r>
          </a:p>
          <a:p>
            <a:pPr lvl="0"/>
            <a:r>
              <a:rPr lang="en-GB" altLang="zh-CN" dirty="0" err="1"/>
              <a:t>feature_id</a:t>
            </a:r>
            <a:r>
              <a:rPr lang="en-GB" altLang="zh-CN" dirty="0"/>
              <a:t> : 151</a:t>
            </a:r>
          </a:p>
          <a:p>
            <a:pPr lvl="0"/>
            <a:r>
              <a:rPr lang="en-GB" altLang="zh-CN" dirty="0" err="1"/>
              <a:t>rule_type</a:t>
            </a:r>
            <a:r>
              <a:rPr lang="en-GB" altLang="zh-CN" dirty="0"/>
              <a:t> : </a:t>
            </a:r>
            <a:r>
              <a:rPr lang="en-GB" altLang="zh-CN" dirty="0" err="1"/>
              <a:t>boolean</a:t>
            </a:r>
            <a:endParaRPr lang="en-GB" altLang="zh-CN" dirty="0"/>
          </a:p>
          <a:p>
            <a:pPr lvl="0"/>
            <a:r>
              <a:rPr lang="en-GB" altLang="zh-CN" dirty="0">
                <a:solidFill>
                  <a:srgbClr val="C00000"/>
                </a:solidFill>
              </a:rPr>
              <a:t>condition : false</a:t>
            </a:r>
          </a:p>
          <a:p>
            <a:pPr lvl="0"/>
            <a:r>
              <a:rPr lang="en-GB" altLang="zh-CN" dirty="0"/>
              <a:t> </a:t>
            </a:r>
          </a:p>
          <a:p>
            <a:pPr lvl="0"/>
            <a:r>
              <a:rPr lang="en-GB" altLang="zh-CN" dirty="0"/>
              <a:t>[@feature]</a:t>
            </a:r>
          </a:p>
          <a:p>
            <a:pPr lvl="0"/>
            <a:r>
              <a:rPr lang="en-GB" altLang="zh-CN" dirty="0" err="1"/>
              <a:t>feature_id</a:t>
            </a:r>
            <a:r>
              <a:rPr lang="en-GB" altLang="zh-CN" dirty="0"/>
              <a:t> : 151</a:t>
            </a:r>
          </a:p>
          <a:p>
            <a:pPr lvl="0"/>
            <a:r>
              <a:rPr lang="en-GB" altLang="zh-CN" dirty="0" err="1"/>
              <a:t>view_level</a:t>
            </a:r>
            <a:r>
              <a:rPr lang="en-GB" altLang="zh-CN" dirty="0"/>
              <a:t> : </a:t>
            </a:r>
            <a:r>
              <a:rPr lang="en-GB" altLang="zh-CN" dirty="0" err="1"/>
              <a:t>click_level</a:t>
            </a:r>
            <a:endParaRPr lang="en-GB" altLang="zh-CN" dirty="0"/>
          </a:p>
          <a:p>
            <a:pPr lvl="0"/>
            <a:r>
              <a:rPr lang="en-GB" altLang="zh-CN" dirty="0" err="1">
                <a:solidFill>
                  <a:srgbClr val="C00000"/>
                </a:solidFill>
              </a:rPr>
              <a:t>feature_type</a:t>
            </a:r>
            <a:r>
              <a:rPr lang="en-GB" altLang="zh-CN" dirty="0">
                <a:solidFill>
                  <a:srgbClr val="C00000"/>
                </a:solidFill>
              </a:rPr>
              <a:t> : </a:t>
            </a:r>
            <a:r>
              <a:rPr lang="en-GB" altLang="zh-CN" dirty="0" err="1">
                <a:solidFill>
                  <a:srgbClr val="C00000"/>
                </a:solidFill>
              </a:rPr>
              <a:t>file_dict</a:t>
            </a:r>
            <a:endParaRPr lang="en-GB" altLang="zh-CN" dirty="0">
              <a:solidFill>
                <a:srgbClr val="C00000"/>
              </a:solidFill>
            </a:endParaRPr>
          </a:p>
          <a:p>
            <a:pPr lvl="0"/>
            <a:r>
              <a:rPr lang="en-GB" altLang="zh-CN" dirty="0" err="1">
                <a:solidFill>
                  <a:srgbClr val="C00000"/>
                </a:solidFill>
              </a:rPr>
              <a:t>file_key</a:t>
            </a:r>
            <a:r>
              <a:rPr lang="en-GB" altLang="zh-CN" dirty="0">
                <a:solidFill>
                  <a:srgbClr val="C00000"/>
                </a:solidFill>
              </a:rPr>
              <a:t> : </a:t>
            </a:r>
            <a:r>
              <a:rPr lang="en-GB" altLang="zh-CN" dirty="0" err="1">
                <a:solidFill>
                  <a:srgbClr val="C00000"/>
                </a:solidFill>
              </a:rPr>
              <a:t>fc_refer.white</a:t>
            </a:r>
            <a:endParaRPr lang="en-GB" altLang="zh-CN" dirty="0">
              <a:solidFill>
                <a:srgbClr val="C00000"/>
              </a:solidFill>
            </a:endParaRPr>
          </a:p>
          <a:p>
            <a:pPr lvl="0"/>
            <a:r>
              <a:rPr lang="en-GB" altLang="zh-CN" dirty="0" err="1">
                <a:solidFill>
                  <a:srgbClr val="C00000"/>
                </a:solidFill>
              </a:rPr>
              <a:t>dict_type</a:t>
            </a:r>
            <a:r>
              <a:rPr lang="en-GB" altLang="zh-CN" dirty="0">
                <a:solidFill>
                  <a:srgbClr val="C00000"/>
                </a:solidFill>
              </a:rPr>
              <a:t> : </a:t>
            </a:r>
            <a:r>
              <a:rPr lang="en-GB" altLang="zh-CN" dirty="0" err="1">
                <a:solidFill>
                  <a:srgbClr val="C00000"/>
                </a:solidFill>
              </a:rPr>
              <a:t>str_match</a:t>
            </a:r>
            <a:endParaRPr lang="en-GB" altLang="zh-CN" dirty="0">
              <a:solidFill>
                <a:srgbClr val="C00000"/>
              </a:solidFill>
            </a:endParaRPr>
          </a:p>
          <a:p>
            <a:pPr lvl="0"/>
            <a:r>
              <a:rPr lang="en-GB" altLang="zh-CN" dirty="0"/>
              <a:t>care : ['</a:t>
            </a:r>
            <a:r>
              <a:rPr lang="en-GB" altLang="zh-CN" dirty="0" err="1"/>
              <a:t>accessid</a:t>
            </a:r>
            <a:r>
              <a:rPr lang="en-GB" altLang="zh-CN" dirty="0"/>
              <a:t>':='1','3','4','8','21','22','24','25','27','29','31','36','37','1001','1002','1003','1004']['refer'!=''][</a:t>
            </a:r>
            <a:r>
              <a:rPr lang="en-GB" altLang="zh-CN" dirty="0">
                <a:solidFill>
                  <a:srgbClr val="C00000"/>
                </a:solidFill>
              </a:rPr>
              <a:t>'</a:t>
            </a:r>
            <a:r>
              <a:rPr lang="en-GB" altLang="zh-CN" dirty="0" err="1">
                <a:solidFill>
                  <a:srgbClr val="C00000"/>
                </a:solidFill>
              </a:rPr>
              <a:t>cmatch'NI'refer.whitecmatch</a:t>
            </a:r>
            <a:r>
              <a:rPr lang="en-GB" altLang="zh-CN" dirty="0">
                <a:solidFill>
                  <a:srgbClr val="C00000"/>
                </a:solidFill>
              </a:rPr>
              <a:t>'</a:t>
            </a:r>
            <a:r>
              <a:rPr lang="en-GB" altLang="zh-CN" dirty="0"/>
              <a:t>]||['refer'!=''][</a:t>
            </a:r>
            <a:r>
              <a:rPr lang="en-GB" altLang="zh-CN" dirty="0">
                <a:solidFill>
                  <a:srgbClr val="C00000"/>
                </a:solidFill>
              </a:rPr>
              <a:t>'</a:t>
            </a:r>
            <a:r>
              <a:rPr lang="en-GB" altLang="zh-CN" dirty="0" err="1">
                <a:solidFill>
                  <a:srgbClr val="C00000"/>
                </a:solidFill>
              </a:rPr>
              <a:t>cmatch'IN'refer.whitecmatch</a:t>
            </a:r>
            <a:r>
              <a:rPr lang="en-GB" altLang="zh-CN" dirty="0">
                <a:solidFill>
                  <a:srgbClr val="C00000"/>
                </a:solidFill>
              </a:rPr>
              <a:t>'</a:t>
            </a:r>
            <a:r>
              <a:rPr lang="en-GB" altLang="zh-CN" dirty="0"/>
              <a:t>]['</a:t>
            </a:r>
            <a:r>
              <a:rPr lang="en-GB" altLang="zh-CN" dirty="0" err="1"/>
              <a:t>adb</a:t>
            </a:r>
            <a:r>
              <a:rPr lang="en-GB" altLang="zh-CN" dirty="0"/>
              <a:t>'!='1']</a:t>
            </a:r>
          </a:p>
          <a:p>
            <a:pPr lvl="0"/>
            <a:r>
              <a:rPr lang="en-GB" altLang="zh-CN" dirty="0"/>
              <a:t>view : refer</a:t>
            </a:r>
          </a:p>
          <a:p>
            <a:endParaRPr kumimoji="1"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5735749" cy="646331"/>
          </a:xfrm>
          <a:prstGeom prst="rect">
            <a:avLst/>
          </a:prstGeom>
          <a:noFill/>
        </p:spPr>
        <p:txBody>
          <a:bodyPr wrap="square" rtlCol="0">
            <a:spAutoFit/>
          </a:bodyPr>
          <a:lstStyle/>
          <a:p>
            <a:r>
              <a:rPr kumimoji="1" lang="zh-CN" altLang="en-US" b="1" dirty="0"/>
              <a:t>简单策略：名单类策略</a:t>
            </a:r>
            <a:endParaRPr kumimoji="1" lang="en-US" altLang="zh-CN" b="1" dirty="0"/>
          </a:p>
          <a:p>
            <a:endParaRPr kumimoji="1" lang="zh-CN" altLang="en-US" b="1" dirty="0"/>
          </a:p>
        </p:txBody>
      </p:sp>
      <p:sp>
        <p:nvSpPr>
          <p:cNvPr id="9" name="内容占位符 2"/>
          <p:cNvSpPr>
            <a:spLocks noGrp="1"/>
          </p:cNvSpPr>
          <p:nvPr>
            <p:ph idx="1"/>
          </p:nvPr>
        </p:nvSpPr>
        <p:spPr>
          <a:xfrm>
            <a:off x="405184" y="2093071"/>
            <a:ext cx="11095426" cy="4058606"/>
          </a:xfrm>
        </p:spPr>
        <p:txBody>
          <a:bodyPr/>
          <a:lstStyle/>
          <a:p>
            <a:pPr lvl="1">
              <a:lnSpc>
                <a:spcPct val="150000"/>
              </a:lnSpc>
              <a:buClr>
                <a:schemeClr val="tx1"/>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黑名单策略与白名单策略的区别</a:t>
            </a:r>
          </a:p>
          <a:p>
            <a:pPr lvl="2">
              <a:lnSpc>
                <a:spcPct val="150000"/>
              </a:lnSpc>
              <a:buClr>
                <a:srgbClr val="0070C0"/>
              </a:buClr>
              <a:buFont typeface="Wingdings" panose="05000000000000000000" pitchFamily="2" charset="2"/>
              <a:buChar char="l"/>
            </a:pPr>
            <a:r>
              <a:rPr lang="zh-CN" altLang="en-US" dirty="0"/>
              <a:t>白名单类策略和黑名单类策略的区别并不在文件的起名上，而是通过</a:t>
            </a:r>
            <a:r>
              <a:rPr lang="en-GB" altLang="zh-CN" dirty="0"/>
              <a:t>policy</a:t>
            </a:r>
            <a:r>
              <a:rPr lang="zh-CN" altLang="en-US" dirty="0"/>
              <a:t>配置文件中</a:t>
            </a:r>
            <a:r>
              <a:rPr lang="en-GB" altLang="zh-CN" dirty="0"/>
              <a:t>condition</a:t>
            </a:r>
            <a:r>
              <a:rPr lang="zh-CN" altLang="en-US" dirty="0"/>
              <a:t>这一参数的值来决定。</a:t>
            </a:r>
          </a:p>
          <a:p>
            <a:pPr lvl="2">
              <a:lnSpc>
                <a:spcPct val="150000"/>
              </a:lnSpc>
              <a:buClr>
                <a:srgbClr val="0070C0"/>
              </a:buClr>
              <a:buFont typeface="Wingdings" panose="05000000000000000000" pitchFamily="2" charset="2"/>
              <a:buChar char="l"/>
            </a:pPr>
            <a:r>
              <a:rPr lang="en-GB" altLang="zh-CN" dirty="0"/>
              <a:t>feature</a:t>
            </a:r>
            <a:r>
              <a:rPr lang="zh-CN" altLang="en-US" dirty="0"/>
              <a:t>抽取返回的结果总是值匹配词表文件的结果，匹配成功则返回</a:t>
            </a:r>
            <a:r>
              <a:rPr lang="en-GB" altLang="zh-CN" dirty="0"/>
              <a:t>true</a:t>
            </a:r>
            <a:r>
              <a:rPr lang="zh-CN" altLang="en-GB" dirty="0"/>
              <a:t>，</a:t>
            </a:r>
            <a:r>
              <a:rPr lang="zh-CN" altLang="en-US" dirty="0"/>
              <a:t>失败则为</a:t>
            </a:r>
            <a:r>
              <a:rPr lang="en-GB" altLang="zh-CN" dirty="0"/>
              <a:t>false</a:t>
            </a:r>
            <a:r>
              <a:rPr lang="zh-CN" altLang="en-GB" dirty="0"/>
              <a:t>，</a:t>
            </a:r>
            <a:r>
              <a:rPr lang="zh-CN" altLang="en-US" dirty="0"/>
              <a:t>然后与</a:t>
            </a:r>
            <a:r>
              <a:rPr lang="en-GB" altLang="zh-CN" dirty="0"/>
              <a:t>policy</a:t>
            </a:r>
            <a:r>
              <a:rPr lang="zh-CN" altLang="en-US" dirty="0"/>
              <a:t>中的</a:t>
            </a:r>
            <a:r>
              <a:rPr lang="en-GB" altLang="zh-CN" dirty="0"/>
              <a:t>condition</a:t>
            </a:r>
            <a:r>
              <a:rPr lang="zh-CN" altLang="en-US" dirty="0"/>
              <a:t>参数进行比较，一致则命中，不一致则不命中。</a:t>
            </a:r>
          </a:p>
          <a:p>
            <a:pPr lvl="2">
              <a:lnSpc>
                <a:spcPct val="150000"/>
              </a:lnSpc>
              <a:buClr>
                <a:srgbClr val="0070C0"/>
              </a:buClr>
              <a:buFont typeface="Wingdings" panose="05000000000000000000" pitchFamily="2" charset="2"/>
              <a:buChar char="l"/>
            </a:pPr>
            <a:r>
              <a:rPr lang="zh-CN" altLang="en-US" dirty="0"/>
              <a:t>白名单策略的</a:t>
            </a:r>
            <a:r>
              <a:rPr lang="en-GB" altLang="zh-CN" dirty="0"/>
              <a:t>policy</a:t>
            </a:r>
            <a:r>
              <a:rPr lang="zh-CN" altLang="en-US" dirty="0"/>
              <a:t>文件</a:t>
            </a:r>
            <a:r>
              <a:rPr lang="en-GB" altLang="zh-CN" dirty="0"/>
              <a:t>condition</a:t>
            </a:r>
            <a:r>
              <a:rPr lang="zh-CN" altLang="en-US" dirty="0"/>
              <a:t>参数一般为</a:t>
            </a:r>
            <a:r>
              <a:rPr lang="en-GB" altLang="zh-CN" dirty="0"/>
              <a:t>false</a:t>
            </a:r>
            <a:r>
              <a:rPr lang="zh-CN" altLang="en-GB" dirty="0"/>
              <a:t>，</a:t>
            </a:r>
            <a:r>
              <a:rPr lang="zh-CN" altLang="en-US" dirty="0"/>
              <a:t>黑名单则为</a:t>
            </a:r>
            <a:r>
              <a:rPr lang="en-GB" altLang="zh-CN" dirty="0"/>
              <a:t>true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5735749" cy="646331"/>
          </a:xfrm>
          <a:prstGeom prst="rect">
            <a:avLst/>
          </a:prstGeom>
          <a:noFill/>
        </p:spPr>
        <p:txBody>
          <a:bodyPr wrap="square" rtlCol="0">
            <a:spAutoFit/>
          </a:bodyPr>
          <a:lstStyle/>
          <a:p>
            <a:r>
              <a:rPr kumimoji="1" lang="zh-CN" altLang="en-US" b="1" dirty="0"/>
              <a:t>简单策略：处理空间类策略</a:t>
            </a:r>
            <a:endParaRPr kumimoji="1" lang="en-US" altLang="zh-CN" b="1" dirty="0"/>
          </a:p>
          <a:p>
            <a:endParaRPr kumimoji="1" lang="zh-CN" altLang="en-US" b="1" dirty="0"/>
          </a:p>
        </p:txBody>
      </p:sp>
      <p:sp>
        <p:nvSpPr>
          <p:cNvPr id="10" name="内容占位符 2"/>
          <p:cNvSpPr>
            <a:spLocks noGrp="1"/>
          </p:cNvSpPr>
          <p:nvPr>
            <p:ph idx="1"/>
          </p:nvPr>
        </p:nvSpPr>
        <p:spPr>
          <a:xfrm>
            <a:off x="0" y="1721660"/>
            <a:ext cx="11914094" cy="5136340"/>
          </a:xfrm>
        </p:spPr>
        <p:txBody>
          <a:bodyPr/>
          <a:lstStyle/>
          <a:p>
            <a:pPr lvl="1">
              <a:lnSpc>
                <a:spcPct val="150000"/>
              </a:lnSpc>
              <a:buClr>
                <a:schemeClr val="tx1"/>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处理空间类策略</a:t>
            </a:r>
          </a:p>
          <a:p>
            <a:pPr lvl="2">
              <a:lnSpc>
                <a:spcPct val="150000"/>
              </a:lnSpc>
              <a:buClr>
                <a:srgbClr val="0070C0"/>
              </a:buClr>
              <a:buFont typeface="Wingdings" panose="05000000000000000000" pitchFamily="2" charset="2"/>
              <a:buChar char="l"/>
            </a:pPr>
            <a:r>
              <a:rPr lang="zh-CN" altLang="en-US" dirty="0"/>
              <a:t>主要通过业务规则进行单个日志的过滤，使用处理空间圈定流量后通过</a:t>
            </a:r>
            <a:r>
              <a:rPr lang="en-GB" altLang="zh-CN" dirty="0"/>
              <a:t>condition</a:t>
            </a:r>
            <a:r>
              <a:rPr lang="zh-CN" altLang="en-US" dirty="0"/>
              <a:t>表达式决定特征的输出值，最后将特征的输出值与</a:t>
            </a:r>
            <a:r>
              <a:rPr lang="en-GB" altLang="zh-CN" dirty="0"/>
              <a:t>policy</a:t>
            </a:r>
            <a:r>
              <a:rPr lang="zh-CN" altLang="en-US" dirty="0"/>
              <a:t>文件</a:t>
            </a:r>
            <a:r>
              <a:rPr lang="en-GB" altLang="zh-CN" dirty="0"/>
              <a:t>condition</a:t>
            </a:r>
            <a:r>
              <a:rPr lang="zh-CN" altLang="en-US" dirty="0"/>
              <a:t>字段进行比较决定策略是否命中。</a:t>
            </a:r>
          </a:p>
          <a:p>
            <a:pPr lvl="1">
              <a:lnSpc>
                <a:spcPct val="150000"/>
              </a:lnSpc>
              <a:buClr>
                <a:schemeClr val="tx1"/>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可用特征</a:t>
            </a:r>
          </a:p>
          <a:p>
            <a:pPr lvl="2">
              <a:lnSpc>
                <a:spcPct val="150000"/>
              </a:lnSpc>
              <a:buClr>
                <a:srgbClr val="0070C0"/>
              </a:buClr>
              <a:buFont typeface="Wingdings" panose="05000000000000000000" pitchFamily="2" charset="2"/>
              <a:buChar char="l"/>
            </a:pPr>
            <a:r>
              <a:rPr lang="zh-CN" altLang="en-US" dirty="0">
                <a:cs typeface="宋体" charset="0"/>
              </a:rPr>
              <a:t>处理空间类特征 </a:t>
            </a:r>
            <a:r>
              <a:rPr lang="en-US" altLang="zh-CN" dirty="0" err="1">
                <a:cs typeface="宋体" charset="0"/>
              </a:rPr>
              <a:t>carespace</a:t>
            </a:r>
            <a:endParaRPr lang="en-GB" altLang="zh-CN" dirty="0"/>
          </a:p>
          <a:p>
            <a:pPr lvl="1">
              <a:lnSpc>
                <a:spcPct val="150000"/>
              </a:lnSpc>
              <a:buClr>
                <a:schemeClr val="tx1"/>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相关参数</a:t>
            </a:r>
          </a:p>
          <a:p>
            <a:pPr lvl="2">
              <a:lnSpc>
                <a:spcPct val="150000"/>
              </a:lnSpc>
              <a:buClr>
                <a:srgbClr val="0070C0"/>
              </a:buClr>
              <a:buFont typeface="Wingdings" panose="05000000000000000000" pitchFamily="2" charset="2"/>
              <a:buChar char="l"/>
            </a:pPr>
            <a:r>
              <a:rPr lang="en-GB" altLang="zh-CN" dirty="0"/>
              <a:t>feature</a:t>
            </a:r>
            <a:r>
              <a:rPr lang="zh-CN" altLang="en-US" dirty="0"/>
              <a:t>配置中参数</a:t>
            </a:r>
            <a:r>
              <a:rPr lang="en-GB" altLang="zh-CN" dirty="0"/>
              <a:t>condition</a:t>
            </a:r>
            <a:r>
              <a:rPr lang="zh-CN" altLang="en-US" dirty="0"/>
              <a:t>配置约束表达式，规则与</a:t>
            </a:r>
            <a:r>
              <a:rPr lang="en-GB" altLang="zh-CN" dirty="0"/>
              <a:t>care</a:t>
            </a:r>
            <a:r>
              <a:rPr lang="zh-CN" altLang="en-US" dirty="0"/>
              <a:t>表达式相同</a:t>
            </a:r>
          </a:p>
          <a:p>
            <a:pPr lvl="2">
              <a:lnSpc>
                <a:spcPct val="150000"/>
              </a:lnSpc>
              <a:buClr>
                <a:srgbClr val="0070C0"/>
              </a:buClr>
              <a:buFont typeface="Wingdings" panose="05000000000000000000" pitchFamily="2" charset="2"/>
              <a:buChar char="l"/>
            </a:pPr>
            <a:r>
              <a:rPr lang="en-GB" altLang="zh-CN" dirty="0"/>
              <a:t>policy</a:t>
            </a:r>
            <a:r>
              <a:rPr lang="zh-CN" altLang="en-US" dirty="0"/>
              <a:t>配置中参数</a:t>
            </a:r>
            <a:r>
              <a:rPr lang="en-GB" altLang="zh-CN" dirty="0"/>
              <a:t>condition</a:t>
            </a:r>
            <a:r>
              <a:rPr lang="zh-CN" altLang="en-US" dirty="0"/>
              <a:t>配置是否满足约束的结果</a:t>
            </a:r>
            <a:r>
              <a:rPr lang="en-US" altLang="zh-CN" dirty="0"/>
              <a:t>(</a:t>
            </a:r>
            <a:r>
              <a:rPr lang="en-GB" altLang="zh-CN" dirty="0"/>
              <a:t>true/false)</a:t>
            </a:r>
          </a:p>
          <a:p>
            <a:pPr marL="914400" lvl="2" indent="0" algn="ctr">
              <a:lnSpc>
                <a:spcPct val="150000"/>
              </a:lnSpc>
              <a:buClr>
                <a:srgbClr val="0070C0"/>
              </a:buClr>
              <a:buNone/>
            </a:pPr>
            <a:r>
              <a:rPr lang="en-GB" altLang="zh-CN" dirty="0"/>
              <a:t>*hit = !(</a:t>
            </a:r>
            <a:r>
              <a:rPr lang="en-GB" altLang="zh-CN" dirty="0" err="1"/>
              <a:t>fea.condition</a:t>
            </a:r>
            <a:r>
              <a:rPr lang="en-GB" altLang="zh-CN" dirty="0"/>
              <a:t>() ^ _con)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5735749" cy="646331"/>
          </a:xfrm>
          <a:prstGeom prst="rect">
            <a:avLst/>
          </a:prstGeom>
          <a:noFill/>
        </p:spPr>
        <p:txBody>
          <a:bodyPr wrap="square" rtlCol="0">
            <a:spAutoFit/>
          </a:bodyPr>
          <a:lstStyle/>
          <a:p>
            <a:r>
              <a:rPr kumimoji="1" lang="zh-CN" altLang="en-US" b="1" dirty="0"/>
              <a:t>简单策略：处理空间类策略</a:t>
            </a:r>
            <a:r>
              <a:rPr kumimoji="1" lang="en-US" altLang="zh-CN" b="1" dirty="0"/>
              <a:t>_</a:t>
            </a:r>
            <a:r>
              <a:rPr kumimoji="1" lang="zh-CN" altLang="en-US" b="1" dirty="0"/>
              <a:t>重复点击过滤策略（</a:t>
            </a:r>
            <a:r>
              <a:rPr kumimoji="1" lang="en-US" altLang="zh-CN" b="1" dirty="0"/>
              <a:t>1101</a:t>
            </a:r>
            <a:r>
              <a:rPr kumimoji="1" lang="zh-CN" altLang="en-US" b="1" dirty="0"/>
              <a:t>）</a:t>
            </a:r>
            <a:endParaRPr kumimoji="1" lang="en-US" altLang="zh-CN" b="1" dirty="0"/>
          </a:p>
          <a:p>
            <a:endParaRPr kumimoji="1" lang="zh-CN" altLang="en-US" b="1" dirty="0"/>
          </a:p>
        </p:txBody>
      </p:sp>
      <p:sp>
        <p:nvSpPr>
          <p:cNvPr id="10" name="内容占位符 2"/>
          <p:cNvSpPr>
            <a:spLocks noGrp="1"/>
          </p:cNvSpPr>
          <p:nvPr>
            <p:ph idx="1"/>
          </p:nvPr>
        </p:nvSpPr>
        <p:spPr>
          <a:xfrm>
            <a:off x="0" y="1740463"/>
            <a:ext cx="11914094" cy="5136340"/>
          </a:xfrm>
        </p:spPr>
        <p:txBody>
          <a:bodyPr>
            <a:normAutofit/>
          </a:bodyPr>
          <a:lstStyle/>
          <a:p>
            <a:pPr lvl="1">
              <a:lnSpc>
                <a:spcPct val="150000"/>
              </a:lnSpc>
              <a:buClr>
                <a:schemeClr val="tx1"/>
              </a:buClr>
              <a:buFont typeface="Wingdings" panose="05000000000000000000" pitchFamily="2" charset="2"/>
              <a:buChar char="l"/>
            </a:pPr>
            <a:r>
              <a:rPr lang="zh-CN" altLang="en-GB" sz="2000" dirty="0"/>
              <a:t>业务</a:t>
            </a:r>
            <a:r>
              <a:rPr lang="zh-CN" altLang="en-US" sz="2000" dirty="0"/>
              <a:t>场景：为了保护广告主的广告投放效果，过滤掉一些短时间内的重复点击</a:t>
            </a:r>
            <a:endParaRPr lang="en-US" altLang="zh-CN" sz="2000" dirty="0"/>
          </a:p>
          <a:p>
            <a:pPr lvl="1">
              <a:lnSpc>
                <a:spcPct val="150000"/>
              </a:lnSpc>
              <a:buClr>
                <a:schemeClr val="tx1"/>
              </a:buClr>
              <a:buFont typeface="Wingdings" panose="05000000000000000000" pitchFamily="2" charset="2"/>
              <a:buChar char="l"/>
            </a:pPr>
            <a:r>
              <a:rPr lang="zh-CN" altLang="en-US" sz="2000" dirty="0"/>
              <a:t>参数说明：</a:t>
            </a:r>
            <a:r>
              <a:rPr lang="en-US" altLang="zh-CN" sz="2000" dirty="0"/>
              <a:t>1101</a:t>
            </a:r>
            <a:r>
              <a:rPr lang="zh-CN" altLang="en-US" sz="2000" dirty="0"/>
              <a:t>策略是一种多特征策略，与</a:t>
            </a:r>
            <a:r>
              <a:rPr lang="en-US" altLang="zh-CN" sz="2000" dirty="0" err="1"/>
              <a:t>policy.condition</a:t>
            </a:r>
            <a:r>
              <a:rPr lang="zh-CN" altLang="en-US" sz="2000" dirty="0"/>
              <a:t>进行比较的是多个特征值的与运算结果。</a:t>
            </a:r>
            <a:endParaRPr lang="en-GB" altLang="zh-CN" sz="2000" dirty="0"/>
          </a:p>
        </p:txBody>
      </p:sp>
      <p:sp>
        <p:nvSpPr>
          <p:cNvPr id="9" name="文本框 8"/>
          <p:cNvSpPr txBox="1"/>
          <p:nvPr/>
        </p:nvSpPr>
        <p:spPr>
          <a:xfrm>
            <a:off x="185323" y="2654963"/>
            <a:ext cx="3212565" cy="4431983"/>
          </a:xfrm>
          <a:prstGeom prst="rect">
            <a:avLst/>
          </a:prstGeom>
          <a:solidFill>
            <a:schemeClr val="bg1">
              <a:lumMod val="95000"/>
              <a:alpha val="20000"/>
            </a:schemeClr>
          </a:solidFill>
          <a:ln>
            <a:solidFill>
              <a:schemeClr val="tx1">
                <a:lumMod val="50000"/>
                <a:lumOff val="50000"/>
              </a:schemeClr>
            </a:solidFill>
          </a:ln>
        </p:spPr>
        <p:txBody>
          <a:bodyPr wrap="square" rtlCol="0">
            <a:spAutoFit/>
          </a:bodyPr>
          <a:lstStyle/>
          <a:p>
            <a:pPr lvl="0" algn="l"/>
            <a:r>
              <a:rPr lang="en-GB" altLang="zh-CN" sz="1600" dirty="0"/>
              <a:t>[@policy]</a:t>
            </a:r>
          </a:p>
          <a:p>
            <a:pPr lvl="0" algn="l"/>
            <a:r>
              <a:rPr lang="en-GB" altLang="zh-CN" sz="1600" dirty="0" err="1"/>
              <a:t>policy_type</a:t>
            </a:r>
            <a:r>
              <a:rPr lang="en-GB" altLang="zh-CN" sz="1600" dirty="0"/>
              <a:t> : rule</a:t>
            </a:r>
          </a:p>
          <a:p>
            <a:pPr lvl="0" algn="l"/>
            <a:r>
              <a:rPr lang="en-GB" altLang="zh-CN" sz="1600" dirty="0" err="1"/>
              <a:t>policy_id</a:t>
            </a:r>
            <a:r>
              <a:rPr lang="en-GB" altLang="zh-CN" sz="1600" dirty="0"/>
              <a:t> : 1101</a:t>
            </a:r>
          </a:p>
          <a:p>
            <a:pPr lvl="0" algn="l"/>
            <a:r>
              <a:rPr lang="en-GB" altLang="zh-CN" sz="1600" dirty="0"/>
              <a:t>[.@rule]</a:t>
            </a:r>
          </a:p>
          <a:p>
            <a:pPr lvl="0" algn="l"/>
            <a:r>
              <a:rPr lang="en-GB" altLang="zh-CN" sz="1600" dirty="0"/>
              <a:t>threshold : &lt; 600</a:t>
            </a:r>
          </a:p>
          <a:p>
            <a:pPr lvl="0" algn="l"/>
            <a:r>
              <a:rPr lang="en-GB" altLang="zh-CN" sz="1600" dirty="0" err="1"/>
              <a:t>feature_id</a:t>
            </a:r>
            <a:r>
              <a:rPr lang="en-GB" altLang="zh-CN" sz="1600" dirty="0"/>
              <a:t> : 11011</a:t>
            </a:r>
          </a:p>
          <a:p>
            <a:pPr lvl="0" algn="l"/>
            <a:r>
              <a:rPr lang="en-GB" altLang="zh-CN" sz="1600" dirty="0" err="1"/>
              <a:t>rule_type</a:t>
            </a:r>
            <a:r>
              <a:rPr lang="en-GB" altLang="zh-CN" sz="1600" dirty="0"/>
              <a:t> : combine</a:t>
            </a:r>
          </a:p>
          <a:p>
            <a:pPr lvl="0" algn="l"/>
            <a:r>
              <a:rPr lang="en-GB" altLang="zh-CN" sz="1600" dirty="0"/>
              <a:t>expression : 1102 - 1101</a:t>
            </a:r>
          </a:p>
          <a:p>
            <a:pPr lvl="0" algn="l"/>
            <a:r>
              <a:rPr lang="en-GB" altLang="zh-CN" sz="1600" dirty="0"/>
              <a:t>[.@rule]</a:t>
            </a:r>
          </a:p>
          <a:p>
            <a:pPr lvl="0" algn="l"/>
            <a:r>
              <a:rPr lang="en-GB" altLang="zh-CN" sz="1600" dirty="0"/>
              <a:t>threshold : &gt; 5</a:t>
            </a:r>
          </a:p>
          <a:p>
            <a:pPr lvl="0" algn="l"/>
            <a:r>
              <a:rPr lang="en-GB" altLang="zh-CN" sz="1600" dirty="0" err="1"/>
              <a:t>feature_id</a:t>
            </a:r>
            <a:r>
              <a:rPr lang="en-GB" altLang="zh-CN" sz="1600" dirty="0"/>
              <a:t> : 11012</a:t>
            </a:r>
          </a:p>
          <a:p>
            <a:pPr lvl="0" algn="l"/>
            <a:r>
              <a:rPr lang="en-GB" altLang="zh-CN" sz="1600" dirty="0" err="1"/>
              <a:t>rule_type</a:t>
            </a:r>
            <a:r>
              <a:rPr lang="en-GB" altLang="zh-CN" sz="1600" dirty="0"/>
              <a:t> : combine</a:t>
            </a:r>
          </a:p>
          <a:p>
            <a:pPr lvl="0" algn="l"/>
            <a:r>
              <a:rPr lang="en-GB" altLang="zh-CN" sz="1600" dirty="0"/>
              <a:t>expression : 1102 - 1101</a:t>
            </a:r>
          </a:p>
          <a:p>
            <a:pPr lvl="0" algn="l"/>
            <a:r>
              <a:rPr lang="en-GB" altLang="zh-CN" sz="1600" dirty="0"/>
              <a:t>[.@rule]</a:t>
            </a:r>
          </a:p>
          <a:p>
            <a:pPr lvl="0" algn="l"/>
            <a:r>
              <a:rPr lang="en-GB" altLang="zh-CN" sz="1600" dirty="0" err="1"/>
              <a:t>feature_id</a:t>
            </a:r>
            <a:r>
              <a:rPr lang="en-GB" altLang="zh-CN" sz="1600" dirty="0"/>
              <a:t> : 1106</a:t>
            </a:r>
          </a:p>
          <a:p>
            <a:pPr lvl="0" algn="l"/>
            <a:r>
              <a:rPr lang="en-GB" altLang="zh-CN" sz="1600" dirty="0" err="1"/>
              <a:t>rule_type</a:t>
            </a:r>
            <a:r>
              <a:rPr lang="en-GB" altLang="zh-CN" sz="1600" dirty="0"/>
              <a:t> : </a:t>
            </a:r>
            <a:r>
              <a:rPr lang="en-GB" altLang="zh-CN" sz="1600" dirty="0" err="1"/>
              <a:t>boolean</a:t>
            </a:r>
            <a:endParaRPr lang="en-GB" altLang="zh-CN" sz="1600" dirty="0"/>
          </a:p>
          <a:p>
            <a:pPr lvl="0" algn="l"/>
            <a:r>
              <a:rPr lang="en-GB" altLang="zh-CN" sz="1600" dirty="0"/>
              <a:t>condition : true</a:t>
            </a:r>
          </a:p>
        </p:txBody>
      </p:sp>
      <p:sp>
        <p:nvSpPr>
          <p:cNvPr id="11" name="矩形 10"/>
          <p:cNvSpPr/>
          <p:nvPr/>
        </p:nvSpPr>
        <p:spPr>
          <a:xfrm>
            <a:off x="3448099" y="2814785"/>
            <a:ext cx="2647902" cy="3693319"/>
          </a:xfrm>
          <a:prstGeom prst="rect">
            <a:avLst/>
          </a:prstGeom>
          <a:solidFill>
            <a:schemeClr val="bg1">
              <a:lumMod val="95000"/>
              <a:alpha val="20000"/>
            </a:schemeClr>
          </a:solidFill>
          <a:ln>
            <a:solidFill>
              <a:schemeClr val="tx1">
                <a:lumMod val="50000"/>
                <a:lumOff val="50000"/>
              </a:schemeClr>
            </a:solidFill>
          </a:ln>
        </p:spPr>
        <p:txBody>
          <a:bodyPr wrap="square" rtlCol="0">
            <a:spAutoFit/>
          </a:bodyPr>
          <a:lstStyle/>
          <a:p>
            <a:pPr algn="l"/>
            <a:r>
              <a:rPr lang="en-GB" altLang="zh-CN" dirty="0"/>
              <a:t>[@feature]</a:t>
            </a:r>
          </a:p>
          <a:p>
            <a:pPr algn="l"/>
            <a:r>
              <a:rPr lang="en-GB" altLang="zh-CN" dirty="0" err="1"/>
              <a:t>feature_id</a:t>
            </a:r>
            <a:r>
              <a:rPr lang="en-GB" altLang="zh-CN" dirty="0"/>
              <a:t> : 1101</a:t>
            </a:r>
          </a:p>
          <a:p>
            <a:pPr algn="l"/>
            <a:r>
              <a:rPr lang="en-GB" altLang="zh-CN" dirty="0" err="1"/>
              <a:t>view_level</a:t>
            </a:r>
            <a:r>
              <a:rPr lang="en-GB" altLang="zh-CN" dirty="0"/>
              <a:t> : </a:t>
            </a:r>
            <a:r>
              <a:rPr lang="en-GB" altLang="zh-CN" dirty="0" err="1"/>
              <a:t>click_level</a:t>
            </a:r>
            <a:endParaRPr lang="en-GB" altLang="zh-CN" dirty="0"/>
          </a:p>
          <a:p>
            <a:pPr algn="l"/>
            <a:r>
              <a:rPr lang="en-GB" altLang="zh-CN" dirty="0" err="1">
                <a:solidFill>
                  <a:srgbClr val="C00000"/>
                </a:solidFill>
              </a:rPr>
              <a:t>feature_type</a:t>
            </a:r>
            <a:r>
              <a:rPr lang="en-GB" altLang="zh-CN" dirty="0">
                <a:solidFill>
                  <a:srgbClr val="C00000"/>
                </a:solidFill>
              </a:rPr>
              <a:t> : original</a:t>
            </a:r>
          </a:p>
          <a:p>
            <a:pPr algn="l"/>
            <a:r>
              <a:rPr lang="en-GB" altLang="zh-CN" dirty="0"/>
              <a:t>care : ['</a:t>
            </a:r>
            <a:r>
              <a:rPr lang="en-GB" altLang="zh-CN" dirty="0" err="1"/>
              <a:t>is_wireless</a:t>
            </a:r>
            <a:r>
              <a:rPr lang="en-GB" altLang="zh-CN" dirty="0"/>
              <a:t>'!='1']</a:t>
            </a:r>
          </a:p>
          <a:p>
            <a:pPr algn="l"/>
            <a:r>
              <a:rPr lang="en-GB" altLang="zh-CN" dirty="0"/>
              <a:t>view : </a:t>
            </a:r>
            <a:r>
              <a:rPr lang="en-GB" altLang="zh-CN" dirty="0" err="1"/>
              <a:t>preclktime</a:t>
            </a:r>
            <a:endParaRPr lang="en-GB" altLang="zh-CN" dirty="0"/>
          </a:p>
          <a:p>
            <a:pPr algn="l"/>
            <a:endParaRPr lang="en-GB" altLang="zh-CN" dirty="0"/>
          </a:p>
          <a:p>
            <a:pPr algn="l"/>
            <a:r>
              <a:rPr lang="en-GB" altLang="zh-CN" dirty="0"/>
              <a:t>[@feature]</a:t>
            </a:r>
          </a:p>
          <a:p>
            <a:pPr algn="l"/>
            <a:r>
              <a:rPr lang="en-GB" altLang="zh-CN" dirty="0" err="1"/>
              <a:t>feature_id</a:t>
            </a:r>
            <a:r>
              <a:rPr lang="en-GB" altLang="zh-CN" dirty="0"/>
              <a:t> : 1102</a:t>
            </a:r>
          </a:p>
          <a:p>
            <a:pPr algn="l"/>
            <a:r>
              <a:rPr lang="en-GB" altLang="zh-CN" dirty="0" err="1"/>
              <a:t>view_level</a:t>
            </a:r>
            <a:r>
              <a:rPr lang="en-GB" altLang="zh-CN" dirty="0"/>
              <a:t> : </a:t>
            </a:r>
            <a:r>
              <a:rPr lang="en-GB" altLang="zh-CN" dirty="0" err="1"/>
              <a:t>click_level</a:t>
            </a:r>
            <a:endParaRPr lang="en-GB" altLang="zh-CN" dirty="0"/>
          </a:p>
          <a:p>
            <a:pPr algn="l"/>
            <a:r>
              <a:rPr lang="en-GB" altLang="zh-CN" dirty="0" err="1">
                <a:solidFill>
                  <a:srgbClr val="C00000"/>
                </a:solidFill>
              </a:rPr>
              <a:t>feature_type</a:t>
            </a:r>
            <a:r>
              <a:rPr lang="en-GB" altLang="zh-CN" dirty="0">
                <a:solidFill>
                  <a:srgbClr val="C00000"/>
                </a:solidFill>
              </a:rPr>
              <a:t> : original</a:t>
            </a:r>
          </a:p>
          <a:p>
            <a:pPr algn="l"/>
            <a:r>
              <a:rPr lang="en-GB" altLang="zh-CN" dirty="0"/>
              <a:t>care : ['</a:t>
            </a:r>
            <a:r>
              <a:rPr lang="en-GB" altLang="zh-CN" dirty="0" err="1"/>
              <a:t>is_wireless</a:t>
            </a:r>
            <a:r>
              <a:rPr lang="en-GB" altLang="zh-CN" dirty="0"/>
              <a:t>'!='1']</a:t>
            </a:r>
          </a:p>
          <a:p>
            <a:pPr algn="l"/>
            <a:r>
              <a:rPr lang="en-GB" altLang="zh-CN" dirty="0"/>
              <a:t>view : </a:t>
            </a:r>
            <a:r>
              <a:rPr lang="en-GB" altLang="zh-CN" dirty="0" err="1"/>
              <a:t>clktime</a:t>
            </a:r>
            <a:endParaRPr lang="en-GB" altLang="zh-CN" dirty="0"/>
          </a:p>
        </p:txBody>
      </p:sp>
      <p:sp>
        <p:nvSpPr>
          <p:cNvPr id="12" name="矩形 11"/>
          <p:cNvSpPr/>
          <p:nvPr/>
        </p:nvSpPr>
        <p:spPr>
          <a:xfrm>
            <a:off x="6146212" y="2816595"/>
            <a:ext cx="4521792" cy="3724096"/>
          </a:xfrm>
          <a:prstGeom prst="rect">
            <a:avLst/>
          </a:prstGeom>
          <a:solidFill>
            <a:schemeClr val="bg1">
              <a:lumMod val="95000"/>
              <a:alpha val="20000"/>
            </a:schemeClr>
          </a:solidFill>
          <a:ln>
            <a:solidFill>
              <a:schemeClr val="tx1">
                <a:lumMod val="50000"/>
                <a:lumOff val="50000"/>
              </a:schemeClr>
            </a:solidFill>
          </a:ln>
        </p:spPr>
        <p:txBody>
          <a:bodyPr wrap="square" rtlCol="0">
            <a:spAutoFit/>
          </a:bodyPr>
          <a:lstStyle/>
          <a:p>
            <a:pPr algn="l"/>
            <a:r>
              <a:rPr lang="en-GB" altLang="zh-CN" dirty="0"/>
              <a:t>[@feature]</a:t>
            </a:r>
          </a:p>
          <a:p>
            <a:pPr algn="l"/>
            <a:r>
              <a:rPr lang="en-GB" altLang="zh-CN" dirty="0" err="1"/>
              <a:t>feature_id</a:t>
            </a:r>
            <a:r>
              <a:rPr lang="en-GB" altLang="zh-CN" dirty="0"/>
              <a:t> : 1106</a:t>
            </a:r>
          </a:p>
          <a:p>
            <a:pPr algn="l"/>
            <a:r>
              <a:rPr lang="en-GB" altLang="zh-CN" dirty="0" err="1"/>
              <a:t>view_level</a:t>
            </a:r>
            <a:r>
              <a:rPr lang="en-GB" altLang="zh-CN" dirty="0"/>
              <a:t> : </a:t>
            </a:r>
            <a:r>
              <a:rPr lang="en-GB" altLang="zh-CN" dirty="0" err="1"/>
              <a:t>click_level</a:t>
            </a:r>
            <a:endParaRPr lang="en-GB" altLang="zh-CN" dirty="0"/>
          </a:p>
          <a:p>
            <a:pPr algn="l"/>
            <a:r>
              <a:rPr lang="en-GB" altLang="zh-CN" dirty="0" err="1">
                <a:solidFill>
                  <a:srgbClr val="C00000"/>
                </a:solidFill>
              </a:rPr>
              <a:t>feature_type</a:t>
            </a:r>
            <a:r>
              <a:rPr lang="en-GB" altLang="zh-CN" dirty="0">
                <a:solidFill>
                  <a:srgbClr val="C00000"/>
                </a:solidFill>
              </a:rPr>
              <a:t> : </a:t>
            </a:r>
            <a:r>
              <a:rPr lang="en-GB" altLang="zh-CN" dirty="0" err="1">
                <a:solidFill>
                  <a:srgbClr val="C00000"/>
                </a:solidFill>
              </a:rPr>
              <a:t>carespace</a:t>
            </a:r>
            <a:endParaRPr lang="en-GB" altLang="zh-CN" dirty="0">
              <a:solidFill>
                <a:srgbClr val="C00000"/>
              </a:solidFill>
            </a:endParaRPr>
          </a:p>
          <a:p>
            <a:pPr algn="l"/>
            <a:r>
              <a:rPr lang="en-GB" altLang="zh-CN" dirty="0"/>
              <a:t>care : ['</a:t>
            </a:r>
            <a:r>
              <a:rPr lang="en-GB" altLang="zh-CN" dirty="0" err="1"/>
              <a:t>accessid</a:t>
            </a:r>
            <a:r>
              <a:rPr lang="en-GB" altLang="zh-CN" dirty="0"/>
              <a:t>':='1','4','7','23','29','30','31','36','37','41','1001','1002','1003','1004']||['</a:t>
            </a:r>
            <a:r>
              <a:rPr lang="en-GB" altLang="zh-CN" dirty="0" err="1"/>
              <a:t>accessid</a:t>
            </a:r>
            <a:r>
              <a:rPr lang="en-GB" altLang="zh-CN" dirty="0"/>
              <a:t>':='38']['</a:t>
            </a:r>
            <a:r>
              <a:rPr lang="en-GB" altLang="zh-CN" dirty="0" err="1"/>
              <a:t>post'HA</a:t>
            </a:r>
            <a:r>
              <a:rPr lang="en-GB" altLang="zh-CN" dirty="0"/>
              <a:t>]['</a:t>
            </a:r>
            <a:r>
              <a:rPr lang="en-GB" altLang="zh-CN" dirty="0" err="1"/>
              <a:t>cpv_dur'HA</a:t>
            </a:r>
            <a:r>
              <a:rPr lang="en-GB" altLang="zh-CN" dirty="0"/>
              <a:t>]['</a:t>
            </a:r>
            <a:r>
              <a:rPr lang="en-GB" altLang="zh-CN" dirty="0" err="1"/>
              <a:t>cpv_end'HA</a:t>
            </a:r>
            <a:r>
              <a:rPr lang="en-GB" altLang="zh-CN" dirty="0"/>
              <a:t>]['</a:t>
            </a:r>
            <a:r>
              <a:rPr lang="en-GB" altLang="zh-CN" dirty="0" err="1"/>
              <a:t>cpv_dur</a:t>
            </a:r>
            <a:r>
              <a:rPr lang="en-GB" altLang="zh-CN" dirty="0"/>
              <a:t>'&gt;=10000]['</a:t>
            </a:r>
            <a:r>
              <a:rPr lang="en-GB" altLang="zh-CN" dirty="0" err="1"/>
              <a:t>cpv_end</a:t>
            </a:r>
            <a:r>
              <a:rPr lang="en-GB" altLang="zh-CN" dirty="0"/>
              <a:t>'&gt;=10000]||['</a:t>
            </a:r>
            <a:r>
              <a:rPr lang="en-GB" altLang="zh-CN" dirty="0" err="1"/>
              <a:t>accessid</a:t>
            </a:r>
            <a:r>
              <a:rPr lang="en-GB" altLang="zh-CN" dirty="0"/>
              <a:t>':='38']['</a:t>
            </a:r>
            <a:r>
              <a:rPr lang="en-GB" altLang="zh-CN" dirty="0" err="1"/>
              <a:t>post'HA</a:t>
            </a:r>
            <a:r>
              <a:rPr lang="en-GB" altLang="zh-CN" dirty="0"/>
              <a:t>]['</a:t>
            </a:r>
            <a:r>
              <a:rPr lang="en-GB" altLang="zh-CN" dirty="0" err="1"/>
              <a:t>cpv_dur'HA</a:t>
            </a:r>
            <a:r>
              <a:rPr lang="en-GB" altLang="zh-CN" dirty="0"/>
              <a:t>]['</a:t>
            </a:r>
            <a:r>
              <a:rPr lang="en-GB" altLang="zh-CN" dirty="0" err="1"/>
              <a:t>cpv_end'HA</a:t>
            </a:r>
            <a:r>
              <a:rPr lang="en-GB" altLang="zh-CN" dirty="0"/>
              <a:t>]['</a:t>
            </a:r>
            <a:r>
              <a:rPr lang="en-GB" altLang="zh-CN" dirty="0" err="1"/>
              <a:t>cpv_dur</a:t>
            </a:r>
            <a:r>
              <a:rPr lang="en-GB" altLang="zh-CN" dirty="0"/>
              <a:t>':&lt;10000]['</a:t>
            </a:r>
            <a:r>
              <a:rPr lang="en-GB" altLang="zh-CN" dirty="0" err="1"/>
              <a:t>cpv_end'EQ'cpv_dur</a:t>
            </a:r>
            <a:r>
              <a:rPr lang="en-GB" altLang="zh-CN" dirty="0"/>
              <a:t>']</a:t>
            </a:r>
          </a:p>
          <a:p>
            <a:pPr algn="l"/>
            <a:r>
              <a:rPr lang="en-GB" altLang="zh-CN" dirty="0"/>
              <a:t>view : accessed</a:t>
            </a:r>
          </a:p>
          <a:p>
            <a:pPr algn="l"/>
            <a:endParaRPr lang="en-GB" altLang="zh-CN"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646331"/>
          </a:xfrm>
          <a:prstGeom prst="rect">
            <a:avLst/>
          </a:prstGeom>
          <a:noFill/>
        </p:spPr>
        <p:txBody>
          <a:bodyPr wrap="square" rtlCol="0">
            <a:spAutoFit/>
          </a:bodyPr>
          <a:lstStyle/>
          <a:p>
            <a:r>
              <a:rPr kumimoji="1" lang="zh-CN" altLang="en-US" b="1" dirty="0"/>
              <a:t>简单策略：处理空间类策略</a:t>
            </a:r>
            <a:r>
              <a:rPr kumimoji="1" lang="en-US" altLang="zh-CN" b="1" dirty="0"/>
              <a:t>_</a:t>
            </a:r>
            <a:r>
              <a:rPr kumimoji="1" lang="zh-CN" altLang="en-US" b="1" dirty="0"/>
              <a:t>点展时间差策略（</a:t>
            </a:r>
            <a:r>
              <a:rPr kumimoji="1" lang="en-US" altLang="zh-CN" b="1" dirty="0"/>
              <a:t>113</a:t>
            </a:r>
            <a:r>
              <a:rPr kumimoji="1" lang="zh-CN" altLang="en-US" b="1" dirty="0"/>
              <a:t>）</a:t>
            </a:r>
            <a:endParaRPr kumimoji="1" lang="en-US" altLang="zh-CN" b="1" dirty="0"/>
          </a:p>
          <a:p>
            <a:endParaRPr kumimoji="1" lang="zh-CN" altLang="en-US" b="1" dirty="0"/>
          </a:p>
        </p:txBody>
      </p:sp>
      <p:sp>
        <p:nvSpPr>
          <p:cNvPr id="9" name="文本框 8"/>
          <p:cNvSpPr txBox="1"/>
          <p:nvPr/>
        </p:nvSpPr>
        <p:spPr>
          <a:xfrm>
            <a:off x="462635" y="1721660"/>
            <a:ext cx="10644635" cy="5632311"/>
          </a:xfrm>
          <a:prstGeom prst="rect">
            <a:avLst/>
          </a:prstGeom>
          <a:solidFill>
            <a:schemeClr val="bg1">
              <a:lumMod val="95000"/>
              <a:alpha val="0"/>
            </a:schemeClr>
          </a:solidFill>
          <a:ln>
            <a:noFill/>
          </a:ln>
        </p:spPr>
        <p:txBody>
          <a:bodyPr wrap="square" rtlCol="0">
            <a:spAutoFit/>
          </a:bodyPr>
          <a:lstStyle/>
          <a:p>
            <a:pPr lvl="0"/>
            <a:r>
              <a:rPr lang="en-GB" altLang="zh-CN" sz="2000" dirty="0"/>
              <a:t>[@policy]</a:t>
            </a:r>
          </a:p>
          <a:p>
            <a:pPr lvl="0"/>
            <a:r>
              <a:rPr lang="en-GB" altLang="zh-CN" sz="2000" dirty="0" err="1"/>
              <a:t>policy_type</a:t>
            </a:r>
            <a:r>
              <a:rPr lang="en-GB" altLang="zh-CN" sz="2000" dirty="0"/>
              <a:t> : rule</a:t>
            </a:r>
          </a:p>
          <a:p>
            <a:pPr lvl="0"/>
            <a:r>
              <a:rPr lang="en-GB" altLang="zh-CN" sz="2000" dirty="0" err="1"/>
              <a:t>policy_id</a:t>
            </a:r>
            <a:r>
              <a:rPr lang="en-GB" altLang="zh-CN" sz="2000" dirty="0"/>
              <a:t> : 113</a:t>
            </a:r>
          </a:p>
          <a:p>
            <a:pPr lvl="0"/>
            <a:r>
              <a:rPr lang="en-GB" altLang="zh-CN" sz="2000" dirty="0"/>
              <a:t>[.@rule]</a:t>
            </a:r>
          </a:p>
          <a:p>
            <a:pPr lvl="0"/>
            <a:r>
              <a:rPr lang="en-GB" altLang="zh-CN" sz="2000" dirty="0" err="1"/>
              <a:t>feature_id</a:t>
            </a:r>
            <a:r>
              <a:rPr lang="en-GB" altLang="zh-CN" sz="2000" dirty="0"/>
              <a:t> : 113</a:t>
            </a:r>
          </a:p>
          <a:p>
            <a:pPr lvl="0"/>
            <a:r>
              <a:rPr lang="en-GB" altLang="zh-CN" sz="2000" dirty="0" err="1"/>
              <a:t>rule_type</a:t>
            </a:r>
            <a:r>
              <a:rPr lang="en-GB" altLang="zh-CN" sz="2000" dirty="0"/>
              <a:t> : </a:t>
            </a:r>
            <a:r>
              <a:rPr lang="en-GB" altLang="zh-CN" sz="2000" dirty="0" err="1"/>
              <a:t>boolean</a:t>
            </a:r>
            <a:endParaRPr lang="en-GB" altLang="zh-CN" sz="2000" dirty="0"/>
          </a:p>
          <a:p>
            <a:pPr lvl="0"/>
            <a:r>
              <a:rPr lang="en-GB" altLang="zh-CN" sz="2000" dirty="0"/>
              <a:t>condition : true</a:t>
            </a:r>
          </a:p>
          <a:p>
            <a:pPr lvl="0"/>
            <a:r>
              <a:rPr lang="en-GB" altLang="zh-CN" sz="2000" dirty="0"/>
              <a:t> </a:t>
            </a:r>
          </a:p>
          <a:p>
            <a:pPr lvl="0"/>
            <a:r>
              <a:rPr lang="en-GB" altLang="zh-CN" sz="2000" dirty="0"/>
              <a:t>[@feature]</a:t>
            </a:r>
          </a:p>
          <a:p>
            <a:pPr lvl="0"/>
            <a:r>
              <a:rPr lang="en-GB" altLang="zh-CN" sz="2000" dirty="0" err="1"/>
              <a:t>feature_id</a:t>
            </a:r>
            <a:r>
              <a:rPr lang="en-GB" altLang="zh-CN" sz="2000" dirty="0"/>
              <a:t> : 113</a:t>
            </a:r>
          </a:p>
          <a:p>
            <a:pPr lvl="0"/>
            <a:r>
              <a:rPr lang="en-GB" altLang="zh-CN" sz="2000" dirty="0" err="1"/>
              <a:t>view_level</a:t>
            </a:r>
            <a:r>
              <a:rPr lang="en-GB" altLang="zh-CN" sz="2000" dirty="0"/>
              <a:t> : </a:t>
            </a:r>
            <a:r>
              <a:rPr lang="en-GB" altLang="zh-CN" sz="2000" dirty="0" err="1"/>
              <a:t>click_level</a:t>
            </a:r>
            <a:endParaRPr lang="en-GB" altLang="zh-CN" sz="2000" dirty="0"/>
          </a:p>
          <a:p>
            <a:pPr lvl="0"/>
            <a:r>
              <a:rPr lang="en-GB" altLang="zh-CN" sz="2000" dirty="0" err="1"/>
              <a:t>feature_type</a:t>
            </a:r>
            <a:r>
              <a:rPr lang="en-GB" altLang="zh-CN" sz="2000" dirty="0"/>
              <a:t> : </a:t>
            </a:r>
            <a:r>
              <a:rPr lang="en-GB" altLang="zh-CN" sz="2000" dirty="0" err="1"/>
              <a:t>carespace</a:t>
            </a:r>
            <a:endParaRPr lang="en-GB" altLang="zh-CN" sz="2000" dirty="0"/>
          </a:p>
          <a:p>
            <a:pPr lvl="0"/>
            <a:r>
              <a:rPr lang="en-GB" altLang="zh-CN" sz="2000" dirty="0"/>
              <a:t>care : ['</a:t>
            </a:r>
            <a:r>
              <a:rPr lang="en-GB" altLang="zh-CN" sz="2000" dirty="0" err="1"/>
              <a:t>accessid</a:t>
            </a:r>
            <a:r>
              <a:rPr lang="en-GB" altLang="zh-CN" sz="2000" dirty="0"/>
              <a:t>':='1','3','4','8','21','23','24','25','27','29','30','31','36','37','1001','1002','1003','1004'][</a:t>
            </a:r>
            <a:r>
              <a:rPr lang="en-GB" altLang="zh-CN" sz="2000" dirty="0">
                <a:solidFill>
                  <a:srgbClr val="FF0000"/>
                </a:solidFill>
              </a:rPr>
              <a:t>'</a:t>
            </a:r>
            <a:r>
              <a:rPr lang="en-GB" altLang="zh-CN" sz="2000" dirty="0" err="1">
                <a:solidFill>
                  <a:srgbClr val="FF0000"/>
                </a:solidFill>
              </a:rPr>
              <a:t>cdtime_diff</a:t>
            </a:r>
            <a:r>
              <a:rPr lang="en-GB" altLang="zh-CN" sz="2000" dirty="0">
                <a:solidFill>
                  <a:srgbClr val="FF0000"/>
                </a:solidFill>
              </a:rPr>
              <a:t>':&gt;21600</a:t>
            </a:r>
            <a:r>
              <a:rPr lang="en-GB" altLang="zh-CN" sz="2000" dirty="0"/>
              <a:t>]||['</a:t>
            </a:r>
            <a:r>
              <a:rPr lang="en-GB" altLang="zh-CN" sz="2000" dirty="0" err="1"/>
              <a:t>accessid</a:t>
            </a:r>
            <a:r>
              <a:rPr lang="en-GB" altLang="zh-CN" sz="2000" dirty="0"/>
              <a:t>':='7','41'][</a:t>
            </a:r>
            <a:r>
              <a:rPr lang="en-GB" altLang="zh-CN" sz="2000" dirty="0">
                <a:solidFill>
                  <a:srgbClr val="FF0000"/>
                </a:solidFill>
              </a:rPr>
              <a:t>'</a:t>
            </a:r>
            <a:r>
              <a:rPr lang="en-GB" altLang="zh-CN" sz="2000" dirty="0" err="1">
                <a:solidFill>
                  <a:srgbClr val="FF0000"/>
                </a:solidFill>
              </a:rPr>
              <a:t>cdtime_diff</a:t>
            </a:r>
            <a:r>
              <a:rPr lang="en-GB" altLang="zh-CN" sz="2000" dirty="0">
                <a:solidFill>
                  <a:srgbClr val="FF0000"/>
                </a:solidFill>
              </a:rPr>
              <a:t>':&gt;10800</a:t>
            </a:r>
            <a:r>
              <a:rPr lang="en-GB" altLang="zh-CN" sz="2000" dirty="0"/>
              <a:t>]||['</a:t>
            </a:r>
            <a:r>
              <a:rPr lang="en-GB" altLang="zh-CN" sz="2000" dirty="0" err="1"/>
              <a:t>accessid</a:t>
            </a:r>
            <a:r>
              <a:rPr lang="en-GB" altLang="zh-CN" sz="2000" dirty="0"/>
              <a:t>':='30'][</a:t>
            </a:r>
            <a:r>
              <a:rPr lang="en-GB" altLang="zh-CN" sz="2000" dirty="0">
                <a:solidFill>
                  <a:srgbClr val="FF0000"/>
                </a:solidFill>
              </a:rPr>
              <a:t>'</a:t>
            </a:r>
            <a:r>
              <a:rPr lang="en-GB" altLang="zh-CN" sz="2000" dirty="0" err="1">
                <a:solidFill>
                  <a:srgbClr val="FF0000"/>
                </a:solidFill>
              </a:rPr>
              <a:t>cdtime_diff</a:t>
            </a:r>
            <a:r>
              <a:rPr lang="en-GB" altLang="zh-CN" sz="2000" dirty="0">
                <a:solidFill>
                  <a:srgbClr val="FF0000"/>
                </a:solidFill>
              </a:rPr>
              <a:t>':&gt;7200</a:t>
            </a:r>
            <a:r>
              <a:rPr lang="en-GB" altLang="zh-CN" sz="2000" dirty="0"/>
              <a:t>]['</a:t>
            </a:r>
            <a:r>
              <a:rPr lang="en-GB" altLang="zh-CN" sz="2000" dirty="0" err="1"/>
              <a:t>userid</a:t>
            </a:r>
            <a:r>
              <a:rPr lang="en-GB" altLang="zh-CN" sz="2000" dirty="0"/>
              <a:t>':='23068108']</a:t>
            </a:r>
          </a:p>
          <a:p>
            <a:pPr lvl="0"/>
            <a:r>
              <a:rPr lang="en-GB" altLang="zh-CN" sz="2000" dirty="0"/>
              <a:t>view : </a:t>
            </a:r>
            <a:r>
              <a:rPr lang="en-GB" altLang="zh-CN" sz="2000" dirty="0" err="1"/>
              <a:t>accessid</a:t>
            </a:r>
            <a:endParaRPr lang="en-GB" altLang="zh-CN" sz="2000" dirty="0"/>
          </a:p>
          <a:p>
            <a:pPr marL="0" marR="0" lvl="0" indent="0" algn="l" defTabSz="584200" rtl="0" eaLnBrk="1" fontAlgn="base" latinLnBrk="0" hangingPunct="0">
              <a:lnSpc>
                <a:spcPct val="100000"/>
              </a:lnSpc>
              <a:spcBef>
                <a:spcPct val="0"/>
              </a:spcBef>
              <a:spcAft>
                <a:spcPct val="0"/>
              </a:spcAft>
              <a:buClrTx/>
              <a:buSzTx/>
              <a:buFontTx/>
              <a:buNone/>
              <a:defRPr/>
            </a:pPr>
            <a:endParaRPr kumimoji="0" lang="en-GB" altLang="zh-CN" sz="2000" b="0" i="0" u="none" strike="noStrike" kern="1200" cap="none" spc="0" normalizeH="0" baseline="0" noProof="0" dirty="0">
              <a:ln>
                <a:noFill/>
              </a:ln>
              <a:solidFill>
                <a:srgbClr val="000000"/>
              </a:solidFill>
              <a:effectLst/>
              <a:uLnTx/>
              <a:uFillTx/>
              <a:latin typeface="Helvetica Light" charset="0"/>
              <a:sym typeface="Helvetica Light" charset="0"/>
            </a:endParaRPr>
          </a:p>
        </p:txBody>
      </p:sp>
      <p:sp>
        <p:nvSpPr>
          <p:cNvPr id="11" name="文本框 10"/>
          <p:cNvSpPr txBox="1"/>
          <p:nvPr/>
        </p:nvSpPr>
        <p:spPr>
          <a:xfrm>
            <a:off x="5325035" y="1721660"/>
            <a:ext cx="6284259" cy="2585323"/>
          </a:xfrm>
          <a:prstGeom prst="rect">
            <a:avLst/>
          </a:prstGeom>
          <a:noFill/>
        </p:spPr>
        <p:txBody>
          <a:bodyPr wrap="square" rtlCol="0">
            <a:spAutoFit/>
          </a:bodyPr>
          <a:lstStyle/>
          <a:p>
            <a:r>
              <a:rPr kumimoji="1" lang="zh-CN" altLang="en-US" b="1" dirty="0"/>
              <a:t>点展时间差策略</a:t>
            </a:r>
            <a:endParaRPr kumimoji="1" lang="en-US" altLang="zh-CN" b="1" dirty="0"/>
          </a:p>
          <a:p>
            <a:pPr marL="0" lvl="2"/>
            <a:r>
              <a:rPr kumimoji="1" lang="zh-CN" altLang="en-US" b="1" dirty="0"/>
              <a:t>业务背景：</a:t>
            </a:r>
            <a:r>
              <a:rPr lang="zh-CN" altLang="en-US" dirty="0"/>
              <a:t>为了保护客户的投放效果，一条广告从检索展现到网民点击超过一定时间后就不会再计费。</a:t>
            </a:r>
            <a:endParaRPr lang="en-US" altLang="zh-CN" dirty="0"/>
          </a:p>
          <a:p>
            <a:pPr marL="0" lvl="2"/>
            <a:endParaRPr kumimoji="1" lang="zh-CN" altLang="en-US" dirty="0"/>
          </a:p>
          <a:p>
            <a:pPr marL="0" lvl="2"/>
            <a:r>
              <a:rPr kumimoji="1" lang="zh-CN" altLang="en-US" b="1" dirty="0"/>
              <a:t>参数说明</a:t>
            </a:r>
            <a:r>
              <a:rPr kumimoji="1" lang="en-US" altLang="zh-CN" b="1" dirty="0"/>
              <a:t>:</a:t>
            </a:r>
          </a:p>
          <a:p>
            <a:pPr marL="0" lvl="2"/>
            <a:r>
              <a:rPr kumimoji="1" lang="zh-CN" altLang="en-US" dirty="0"/>
              <a:t>在</a:t>
            </a:r>
            <a:r>
              <a:rPr kumimoji="1" lang="en-GB" altLang="zh-CN" dirty="0"/>
              <a:t>feature</a:t>
            </a:r>
            <a:r>
              <a:rPr kumimoji="1" lang="zh-CN" altLang="en-US" dirty="0"/>
              <a:t>配置文件没有</a:t>
            </a:r>
            <a:r>
              <a:rPr kumimoji="1" lang="en-GB" altLang="zh-CN" dirty="0"/>
              <a:t>condition</a:t>
            </a:r>
            <a:r>
              <a:rPr kumimoji="1" lang="zh-CN" altLang="en-US" dirty="0"/>
              <a:t>参数的情况下，默认使用</a:t>
            </a:r>
            <a:r>
              <a:rPr kumimoji="1" lang="en-US" altLang="zh-CN" dirty="0"/>
              <a:t>[*]</a:t>
            </a:r>
            <a:r>
              <a:rPr kumimoji="1" lang="zh-CN" altLang="en-US" dirty="0"/>
              <a:t>作为</a:t>
            </a:r>
            <a:r>
              <a:rPr kumimoji="1" lang="en-GB" altLang="zh-CN" dirty="0"/>
              <a:t>condition</a:t>
            </a:r>
            <a:r>
              <a:rPr kumimoji="1" lang="zh-CN" altLang="en-US" dirty="0"/>
              <a:t>值，即处理空间日志全过。</a:t>
            </a:r>
          </a:p>
          <a:p>
            <a:pPr marL="0" lvl="2"/>
            <a:endParaRPr kumimoji="1" lang="zh-CN" altLang="en-US" b="1" dirty="0"/>
          </a:p>
          <a:p>
            <a:pPr marL="0" lvl="2"/>
            <a:endParaRPr kumimoji="1" lang="zh-CN" altLang="en-US" b="1" dirty="0"/>
          </a:p>
        </p:txBody>
      </p:sp>
      <p:sp>
        <p:nvSpPr>
          <p:cNvPr id="14" name="矩形 13"/>
          <p:cNvSpPr/>
          <p:nvPr/>
        </p:nvSpPr>
        <p:spPr>
          <a:xfrm>
            <a:off x="5546413" y="4046899"/>
            <a:ext cx="4989853" cy="1107996"/>
          </a:xfrm>
          <a:prstGeom prst="rect">
            <a:avLst/>
          </a:prstGeom>
          <a:ln>
            <a:solidFill>
              <a:schemeClr val="accent1"/>
            </a:solidFill>
          </a:ln>
        </p:spPr>
        <p:txBody>
          <a:bodyPr wrap="square">
            <a:spAutoFit/>
          </a:bodyPr>
          <a:lstStyle/>
          <a:p>
            <a:pPr algn="l">
              <a:spcAft>
                <a:spcPts val="600"/>
              </a:spcAft>
              <a:buSzPct val="120000"/>
            </a:pPr>
            <a:r>
              <a:rPr kumimoji="1" lang="zh-CN" altLang="en-US" sz="1400" dirty="0">
                <a:latin typeface="微软雅黑" panose="020B0503020204020204" pitchFamily="34" charset="-122"/>
                <a:ea typeface="微软雅黑" panose="020B0503020204020204" pitchFamily="34" charset="-122"/>
                <a:cs typeface="宋体" charset="0"/>
              </a:rPr>
              <a:t>对于凤巢广告，点展时间差超出</a:t>
            </a:r>
            <a:r>
              <a:rPr kumimoji="1" lang="en-US" altLang="zh-CN" sz="1400" dirty="0">
                <a:latin typeface="微软雅黑" panose="020B0503020204020204" pitchFamily="34" charset="-122"/>
                <a:ea typeface="微软雅黑" panose="020B0503020204020204" pitchFamily="34" charset="-122"/>
                <a:cs typeface="宋体" charset="0"/>
              </a:rPr>
              <a:t>6</a:t>
            </a:r>
            <a:r>
              <a:rPr kumimoji="1" lang="zh-CN" altLang="en-US" sz="1400" dirty="0">
                <a:latin typeface="微软雅黑" panose="020B0503020204020204" pitchFamily="34" charset="-122"/>
                <a:ea typeface="微软雅黑" panose="020B0503020204020204" pitchFamily="34" charset="-122"/>
                <a:cs typeface="宋体" charset="0"/>
              </a:rPr>
              <a:t>小时的日志将被策略命中；</a:t>
            </a:r>
            <a:endParaRPr kumimoji="1" lang="en-US" altLang="zh-CN" sz="1400" dirty="0">
              <a:latin typeface="微软雅黑" panose="020B0503020204020204" pitchFamily="34" charset="-122"/>
              <a:ea typeface="微软雅黑" panose="020B0503020204020204" pitchFamily="34" charset="-122"/>
              <a:cs typeface="宋体" charset="0"/>
            </a:endParaRPr>
          </a:p>
          <a:p>
            <a:pPr algn="l">
              <a:spcAft>
                <a:spcPts val="600"/>
              </a:spcAft>
              <a:buSzPct val="120000"/>
            </a:pPr>
            <a:r>
              <a:rPr kumimoji="1" lang="zh-CN" altLang="en-US" sz="1400" dirty="0">
                <a:latin typeface="微软雅黑" panose="020B0503020204020204" pitchFamily="34" charset="-122"/>
                <a:ea typeface="微软雅黑" panose="020B0503020204020204" pitchFamily="34" charset="-122"/>
                <a:cs typeface="宋体" charset="0"/>
              </a:rPr>
              <a:t>对于百意广告，点展时间差超过</a:t>
            </a:r>
            <a:r>
              <a:rPr kumimoji="1" lang="en-US" altLang="zh-CN" sz="1400" dirty="0">
                <a:latin typeface="微软雅黑" panose="020B0503020204020204" pitchFamily="34" charset="-122"/>
                <a:ea typeface="微软雅黑" panose="020B0503020204020204" pitchFamily="34" charset="-122"/>
                <a:cs typeface="宋体" charset="0"/>
              </a:rPr>
              <a:t>3</a:t>
            </a:r>
            <a:r>
              <a:rPr kumimoji="1" lang="zh-CN" altLang="en-US" sz="1400" dirty="0">
                <a:latin typeface="微软雅黑" panose="020B0503020204020204" pitchFamily="34" charset="-122"/>
                <a:ea typeface="微软雅黑" panose="020B0503020204020204" pitchFamily="34" charset="-122"/>
                <a:cs typeface="宋体" charset="0"/>
              </a:rPr>
              <a:t>小时的日志将被策略命中；</a:t>
            </a:r>
            <a:endParaRPr kumimoji="1" lang="en-US" altLang="zh-CN" sz="1400" dirty="0">
              <a:latin typeface="微软雅黑" panose="020B0503020204020204" pitchFamily="34" charset="-122"/>
              <a:ea typeface="微软雅黑" panose="020B0503020204020204" pitchFamily="34" charset="-122"/>
              <a:cs typeface="宋体" charset="0"/>
            </a:endParaRPr>
          </a:p>
          <a:p>
            <a:pPr algn="l">
              <a:spcAft>
                <a:spcPts val="600"/>
              </a:spcAft>
              <a:buSzPct val="120000"/>
            </a:pPr>
            <a:r>
              <a:rPr kumimoji="1" lang="zh-CN" altLang="en-US" sz="1400" dirty="0">
                <a:latin typeface="微软雅黑" panose="020B0503020204020204" pitchFamily="34" charset="-122"/>
                <a:ea typeface="微软雅黑" panose="020B0503020204020204" pitchFamily="34" charset="-122"/>
                <a:cs typeface="宋体" charset="0"/>
              </a:rPr>
              <a:t>对于原生广告的特定广告主，点展时间差超过</a:t>
            </a:r>
            <a:r>
              <a:rPr kumimoji="1" lang="en-US" altLang="zh-CN" sz="1400" dirty="0">
                <a:latin typeface="微软雅黑" panose="020B0503020204020204" pitchFamily="34" charset="-122"/>
                <a:ea typeface="微软雅黑" panose="020B0503020204020204" pitchFamily="34" charset="-122"/>
                <a:cs typeface="宋体" charset="0"/>
              </a:rPr>
              <a:t>2</a:t>
            </a:r>
            <a:r>
              <a:rPr kumimoji="1" lang="zh-CN" altLang="en-US" sz="1400" dirty="0">
                <a:latin typeface="微软雅黑" panose="020B0503020204020204" pitchFamily="34" charset="-122"/>
                <a:ea typeface="微软雅黑" panose="020B0503020204020204" pitchFamily="34" charset="-122"/>
                <a:cs typeface="宋体" charset="0"/>
              </a:rPr>
              <a:t>小时的日志将被策略命中。</a:t>
            </a:r>
            <a:endParaRPr kumimoji="1" lang="en-US" altLang="zh-CN" sz="1400" dirty="0">
              <a:latin typeface="微软雅黑" panose="020B0503020204020204" pitchFamily="34" charset="-122"/>
              <a:ea typeface="微软雅黑" panose="020B0503020204020204" pitchFamily="34" charset="-122"/>
              <a:cs typeface="宋体"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646331"/>
          </a:xfrm>
          <a:prstGeom prst="rect">
            <a:avLst/>
          </a:prstGeom>
          <a:noFill/>
        </p:spPr>
        <p:txBody>
          <a:bodyPr wrap="square" rtlCol="0">
            <a:spAutoFit/>
          </a:bodyPr>
          <a:lstStyle/>
          <a:p>
            <a:r>
              <a:rPr kumimoji="1" lang="zh-CN" altLang="en-US" b="1" dirty="0"/>
              <a:t>简单策略：处理空间类策略</a:t>
            </a:r>
            <a:r>
              <a:rPr kumimoji="1" lang="en-US" altLang="zh-CN" b="1" dirty="0"/>
              <a:t>_</a:t>
            </a:r>
            <a:r>
              <a:rPr kumimoji="1" lang="zh-CN" altLang="en-US" b="1" dirty="0"/>
              <a:t>点展</a:t>
            </a:r>
            <a:r>
              <a:rPr kumimoji="1" lang="en-US" altLang="zh-CN" b="1" dirty="0" err="1"/>
              <a:t>ip</a:t>
            </a:r>
            <a:r>
              <a:rPr kumimoji="1" lang="zh-CN" altLang="en-US" b="1" dirty="0"/>
              <a:t>地域不一致策略（</a:t>
            </a:r>
            <a:r>
              <a:rPr kumimoji="1" lang="en-US" altLang="zh-CN" b="1" dirty="0"/>
              <a:t>10001</a:t>
            </a:r>
            <a:r>
              <a:rPr kumimoji="1" lang="zh-CN" altLang="en-US" b="1" dirty="0"/>
              <a:t>）</a:t>
            </a:r>
            <a:endParaRPr kumimoji="1" lang="en-US" altLang="zh-CN" b="1" dirty="0"/>
          </a:p>
          <a:p>
            <a:endParaRPr kumimoji="1" lang="zh-CN" altLang="en-US" b="1" dirty="0"/>
          </a:p>
        </p:txBody>
      </p:sp>
      <p:sp>
        <p:nvSpPr>
          <p:cNvPr id="9" name="文本框 8"/>
          <p:cNvSpPr txBox="1"/>
          <p:nvPr/>
        </p:nvSpPr>
        <p:spPr>
          <a:xfrm>
            <a:off x="462635" y="1721660"/>
            <a:ext cx="10644635" cy="5632311"/>
          </a:xfrm>
          <a:prstGeom prst="rect">
            <a:avLst/>
          </a:prstGeom>
          <a:solidFill>
            <a:schemeClr val="bg1">
              <a:lumMod val="95000"/>
              <a:alpha val="0"/>
            </a:schemeClr>
          </a:solidFill>
          <a:ln>
            <a:noFill/>
          </a:ln>
        </p:spPr>
        <p:txBody>
          <a:bodyPr wrap="square" rtlCol="0">
            <a:spAutoFit/>
          </a:bodyPr>
          <a:lstStyle/>
          <a:p>
            <a:pPr lvl="0"/>
            <a:r>
              <a:rPr lang="en-GB" altLang="zh-CN" sz="2000" dirty="0"/>
              <a:t>[@policy]</a:t>
            </a:r>
          </a:p>
          <a:p>
            <a:pPr lvl="0"/>
            <a:r>
              <a:rPr lang="en-GB" altLang="zh-CN" sz="2000" dirty="0" err="1"/>
              <a:t>policy_type</a:t>
            </a:r>
            <a:r>
              <a:rPr lang="en-GB" altLang="zh-CN" sz="2000" dirty="0"/>
              <a:t> : rule</a:t>
            </a:r>
          </a:p>
          <a:p>
            <a:pPr lvl="0"/>
            <a:r>
              <a:rPr lang="en-GB" altLang="zh-CN" sz="2000" dirty="0" err="1"/>
              <a:t>policy_id</a:t>
            </a:r>
            <a:r>
              <a:rPr lang="en-GB" altLang="zh-CN" sz="2000" dirty="0"/>
              <a:t> : 10001</a:t>
            </a:r>
          </a:p>
          <a:p>
            <a:pPr lvl="0"/>
            <a:r>
              <a:rPr lang="en-GB" altLang="zh-CN" sz="2000" dirty="0"/>
              <a:t>[.@rule]</a:t>
            </a:r>
          </a:p>
          <a:p>
            <a:pPr lvl="0"/>
            <a:r>
              <a:rPr lang="en-GB" altLang="zh-CN" sz="2000" dirty="0" err="1"/>
              <a:t>feature_id</a:t>
            </a:r>
            <a:r>
              <a:rPr lang="en-GB" altLang="zh-CN" sz="2000" dirty="0"/>
              <a:t> : 10001</a:t>
            </a:r>
          </a:p>
          <a:p>
            <a:pPr lvl="0"/>
            <a:r>
              <a:rPr lang="en-GB" altLang="zh-CN" sz="2000" dirty="0" err="1"/>
              <a:t>rule_type</a:t>
            </a:r>
            <a:r>
              <a:rPr lang="en-GB" altLang="zh-CN" sz="2000" dirty="0"/>
              <a:t> : </a:t>
            </a:r>
            <a:r>
              <a:rPr lang="en-GB" altLang="zh-CN" sz="2000" dirty="0" err="1"/>
              <a:t>boolean</a:t>
            </a:r>
            <a:endParaRPr lang="en-GB" altLang="zh-CN" sz="2000" dirty="0"/>
          </a:p>
          <a:p>
            <a:pPr lvl="0"/>
            <a:r>
              <a:rPr lang="en-GB" altLang="zh-CN" sz="2000" dirty="0"/>
              <a:t>condition : true</a:t>
            </a:r>
          </a:p>
          <a:p>
            <a:pPr lvl="0"/>
            <a:r>
              <a:rPr lang="en-GB" altLang="zh-CN" sz="2000" dirty="0"/>
              <a:t> </a:t>
            </a:r>
          </a:p>
          <a:p>
            <a:pPr lvl="0"/>
            <a:r>
              <a:rPr lang="en-GB" altLang="zh-CN" sz="2000" dirty="0"/>
              <a:t>[@feature]</a:t>
            </a:r>
          </a:p>
          <a:p>
            <a:pPr lvl="0"/>
            <a:r>
              <a:rPr lang="en-GB" altLang="zh-CN" sz="2000" dirty="0" err="1"/>
              <a:t>feature_id</a:t>
            </a:r>
            <a:r>
              <a:rPr lang="en-GB" altLang="zh-CN" sz="2000" dirty="0"/>
              <a:t> : 10001</a:t>
            </a:r>
          </a:p>
          <a:p>
            <a:pPr lvl="0"/>
            <a:r>
              <a:rPr lang="en-GB" altLang="zh-CN" sz="2000" dirty="0" err="1"/>
              <a:t>view_level</a:t>
            </a:r>
            <a:r>
              <a:rPr lang="en-GB" altLang="zh-CN" sz="2000" dirty="0"/>
              <a:t> : </a:t>
            </a:r>
            <a:r>
              <a:rPr lang="en-GB" altLang="zh-CN" sz="2000" dirty="0" err="1"/>
              <a:t>click_level</a:t>
            </a:r>
            <a:endParaRPr lang="en-GB" altLang="zh-CN" sz="2000" dirty="0"/>
          </a:p>
          <a:p>
            <a:pPr lvl="0"/>
            <a:r>
              <a:rPr lang="en-GB" altLang="zh-CN" sz="2000" dirty="0" err="1"/>
              <a:t>feature_type</a:t>
            </a:r>
            <a:r>
              <a:rPr lang="en-GB" altLang="zh-CN" sz="2000" dirty="0"/>
              <a:t> : </a:t>
            </a:r>
            <a:r>
              <a:rPr lang="en-GB" altLang="zh-CN" sz="2000" dirty="0" err="1"/>
              <a:t>carespace</a:t>
            </a:r>
            <a:endParaRPr lang="en-GB" altLang="zh-CN" sz="2000" dirty="0"/>
          </a:p>
          <a:p>
            <a:pPr lvl="0"/>
            <a:r>
              <a:rPr lang="en-GB" altLang="zh-CN" sz="2000" dirty="0"/>
              <a:t>condition : </a:t>
            </a:r>
            <a:r>
              <a:rPr lang="en-GB" altLang="zh-CN" sz="2000" dirty="0">
                <a:solidFill>
                  <a:srgbClr val="C00000"/>
                </a:solidFill>
              </a:rPr>
              <a:t>['</a:t>
            </a:r>
            <a:r>
              <a:rPr lang="en-GB" altLang="zh-CN" sz="2000" dirty="0" err="1">
                <a:solidFill>
                  <a:srgbClr val="C00000"/>
                </a:solidFill>
              </a:rPr>
              <a:t>ip_loc</a:t>
            </a:r>
            <a:r>
              <a:rPr lang="en-GB" altLang="zh-CN" sz="2000" dirty="0">
                <a:solidFill>
                  <a:srgbClr val="C00000"/>
                </a:solidFill>
              </a:rPr>
              <a:t>'!='1']['</a:t>
            </a:r>
            <a:r>
              <a:rPr lang="en-GB" altLang="zh-CN" sz="2000" dirty="0" err="1">
                <a:solidFill>
                  <a:srgbClr val="C00000"/>
                </a:solidFill>
              </a:rPr>
              <a:t>gps_loc</a:t>
            </a:r>
            <a:r>
              <a:rPr lang="en-GB" altLang="zh-CN" sz="2000" dirty="0">
                <a:solidFill>
                  <a:srgbClr val="C00000"/>
                </a:solidFill>
              </a:rPr>
              <a:t>':='0']||['</a:t>
            </a:r>
            <a:r>
              <a:rPr lang="en-GB" altLang="zh-CN" sz="2000" dirty="0" err="1">
                <a:solidFill>
                  <a:srgbClr val="C00000"/>
                </a:solidFill>
              </a:rPr>
              <a:t>ip_loc</a:t>
            </a:r>
            <a:r>
              <a:rPr lang="en-GB" altLang="zh-CN" sz="2000" dirty="0">
                <a:solidFill>
                  <a:srgbClr val="C00000"/>
                </a:solidFill>
              </a:rPr>
              <a:t>':='0']['</a:t>
            </a:r>
            <a:r>
              <a:rPr lang="en-GB" altLang="zh-CN" sz="2000" dirty="0" err="1">
                <a:solidFill>
                  <a:srgbClr val="C00000"/>
                </a:solidFill>
              </a:rPr>
              <a:t>gps_loc'IV</a:t>
            </a:r>
            <a:r>
              <a:rPr lang="en-GB" altLang="zh-CN" sz="2000" dirty="0">
                <a:solidFill>
                  <a:srgbClr val="C00000"/>
                </a:solidFill>
              </a:rPr>
              <a:t>]</a:t>
            </a:r>
          </a:p>
          <a:p>
            <a:pPr lvl="0"/>
            <a:r>
              <a:rPr lang="en-GB" altLang="zh-CN" sz="2000" dirty="0"/>
              <a:t>care : ['</a:t>
            </a:r>
            <a:r>
              <a:rPr lang="en-GB" altLang="zh-CN" sz="2000" dirty="0" err="1"/>
              <a:t>click_ip_type</a:t>
            </a:r>
            <a:r>
              <a:rPr lang="en-GB" altLang="zh-CN" sz="2000" dirty="0"/>
              <a:t>':='4']['</a:t>
            </a:r>
            <a:r>
              <a:rPr lang="en-GB" altLang="zh-CN" sz="2000" dirty="0" err="1"/>
              <a:t>click_ip_type'EQ'disp_ip_type</a:t>
            </a:r>
            <a:r>
              <a:rPr lang="en-GB" altLang="zh-CN" sz="2000" dirty="0"/>
              <a:t>']['</a:t>
            </a:r>
            <a:r>
              <a:rPr lang="en-GB" altLang="zh-CN" sz="2000" dirty="0" err="1"/>
              <a:t>accessid</a:t>
            </a:r>
            <a:r>
              <a:rPr lang="en-GB" altLang="zh-CN" sz="2000" dirty="0"/>
              <a:t>':='1','29','30','31','36','37','1001','1002','1003','1004']['</a:t>
            </a:r>
            <a:r>
              <a:rPr lang="en-GB" altLang="zh-CN" sz="2000" dirty="0" err="1"/>
              <a:t>cntname'NI'cnt.white</a:t>
            </a:r>
            <a:r>
              <a:rPr lang="en-GB" altLang="zh-CN" sz="2000" dirty="0"/>
              <a:t>']['</a:t>
            </a:r>
            <a:r>
              <a:rPr lang="en-GB" altLang="zh-CN" sz="2000" dirty="0" err="1"/>
              <a:t>clkip'NI'proxy_ip_white</a:t>
            </a:r>
            <a:r>
              <a:rPr lang="en-GB" altLang="zh-CN" sz="2000" dirty="0"/>
              <a:t>']['cmatch'NI'10001.whitecmatch']</a:t>
            </a:r>
          </a:p>
          <a:p>
            <a:pPr lvl="0"/>
            <a:r>
              <a:rPr lang="en-GB" altLang="zh-CN" sz="2000" dirty="0"/>
              <a:t>view : </a:t>
            </a:r>
            <a:r>
              <a:rPr lang="en-GB" altLang="zh-CN" sz="2000" dirty="0" err="1"/>
              <a:t>accessid</a:t>
            </a:r>
            <a:endParaRPr lang="en-GB" altLang="zh-CN" sz="2000" dirty="0">
              <a:solidFill>
                <a:srgbClr val="000000"/>
              </a:solidFill>
              <a:latin typeface="Helvetica Light" charset="0"/>
              <a:sym typeface="Helvetica Light" charset="0"/>
            </a:endParaRPr>
          </a:p>
          <a:p>
            <a:pPr marL="0" marR="0" lvl="0" indent="0" algn="l" defTabSz="584200" rtl="0" eaLnBrk="1" fontAlgn="base" latinLnBrk="0" hangingPunct="0">
              <a:lnSpc>
                <a:spcPct val="100000"/>
              </a:lnSpc>
              <a:spcBef>
                <a:spcPct val="0"/>
              </a:spcBef>
              <a:spcAft>
                <a:spcPct val="0"/>
              </a:spcAft>
              <a:buClrTx/>
              <a:buSzTx/>
              <a:buFontTx/>
              <a:buNone/>
              <a:defRPr/>
            </a:pPr>
            <a:endParaRPr kumimoji="0" lang="en-GB" altLang="zh-CN" sz="2000" b="0" i="0" u="none" strike="noStrike" kern="1200" cap="none" spc="0" normalizeH="0" baseline="0" noProof="0" dirty="0">
              <a:ln>
                <a:noFill/>
              </a:ln>
              <a:solidFill>
                <a:srgbClr val="000000"/>
              </a:solidFill>
              <a:effectLst/>
              <a:uLnTx/>
              <a:uFillTx/>
              <a:latin typeface="Helvetica Light" charset="0"/>
              <a:sym typeface="Helvetica Light" charset="0"/>
            </a:endParaRPr>
          </a:p>
        </p:txBody>
      </p:sp>
      <p:sp>
        <p:nvSpPr>
          <p:cNvPr id="11" name="文本框 10"/>
          <p:cNvSpPr txBox="1"/>
          <p:nvPr/>
        </p:nvSpPr>
        <p:spPr>
          <a:xfrm>
            <a:off x="5325035" y="1721660"/>
            <a:ext cx="6284259" cy="3416320"/>
          </a:xfrm>
          <a:prstGeom prst="rect">
            <a:avLst/>
          </a:prstGeom>
          <a:noFill/>
        </p:spPr>
        <p:txBody>
          <a:bodyPr wrap="square" rtlCol="0">
            <a:spAutoFit/>
          </a:bodyPr>
          <a:lstStyle/>
          <a:p>
            <a:r>
              <a:rPr kumimoji="1" lang="zh-CN" altLang="en-US" b="1" dirty="0"/>
              <a:t>点展时间差策略</a:t>
            </a:r>
            <a:endParaRPr kumimoji="1" lang="en-US" altLang="zh-CN" b="1" dirty="0"/>
          </a:p>
          <a:p>
            <a:pPr marL="0" lvl="2"/>
            <a:r>
              <a:rPr kumimoji="1" lang="zh-CN" altLang="en-US" b="1" dirty="0"/>
              <a:t>业务背景：</a:t>
            </a:r>
            <a:r>
              <a:rPr kumimoji="1" lang="zh-CN" altLang="en-US" dirty="0"/>
              <a:t>主要解决点击</a:t>
            </a:r>
            <a:r>
              <a:rPr kumimoji="1" lang="en-GB" altLang="zh-CN" dirty="0" err="1"/>
              <a:t>ip</a:t>
            </a:r>
            <a:r>
              <a:rPr kumimoji="1" lang="zh-CN" altLang="en-US" dirty="0"/>
              <a:t>地址与广告主投放地域不一致问题，因为广告主是根据展现</a:t>
            </a:r>
            <a:r>
              <a:rPr kumimoji="1" lang="en-GB" altLang="zh-CN" dirty="0" err="1"/>
              <a:t>ip</a:t>
            </a:r>
            <a:r>
              <a:rPr kumimoji="1" lang="zh-CN" altLang="en-US" dirty="0"/>
              <a:t>地址进行投放，不应该存在不同地域的点击</a:t>
            </a:r>
            <a:r>
              <a:rPr kumimoji="1" lang="en-GB" altLang="zh-CN" dirty="0" err="1"/>
              <a:t>ip</a:t>
            </a:r>
            <a:r>
              <a:rPr kumimoji="1" lang="zh-CN" altLang="en-GB" dirty="0"/>
              <a:t>，</a:t>
            </a:r>
            <a:r>
              <a:rPr kumimoji="1" lang="zh-CN" altLang="en-US" dirty="0"/>
              <a:t>对广告展现</a:t>
            </a:r>
            <a:r>
              <a:rPr kumimoji="1" lang="en-GB" altLang="zh-CN" dirty="0" err="1"/>
              <a:t>ip</a:t>
            </a:r>
            <a:r>
              <a:rPr kumimoji="1" lang="zh-CN" altLang="en-US" dirty="0"/>
              <a:t>和点击</a:t>
            </a:r>
            <a:r>
              <a:rPr kumimoji="1" lang="en-GB" altLang="zh-CN" dirty="0" err="1"/>
              <a:t>ip</a:t>
            </a:r>
            <a:r>
              <a:rPr kumimoji="1" lang="zh-CN" altLang="en-US" dirty="0"/>
              <a:t>所在省级地域不一致的点击不计费。例：</a:t>
            </a:r>
            <a:r>
              <a:rPr kumimoji="1" lang="en-GB" altLang="zh-CN" dirty="0"/>
              <a:t>fc</a:t>
            </a:r>
            <a:r>
              <a:rPr kumimoji="1" lang="zh-CN" altLang="en-US" dirty="0"/>
              <a:t>点展</a:t>
            </a:r>
            <a:r>
              <a:rPr kumimoji="1" lang="en-GB" altLang="zh-CN" dirty="0" err="1"/>
              <a:t>ip</a:t>
            </a:r>
            <a:r>
              <a:rPr kumimoji="1" lang="zh-CN" altLang="en-US" dirty="0"/>
              <a:t>地域不一致（</a:t>
            </a:r>
            <a:r>
              <a:rPr kumimoji="1" lang="en-US" altLang="zh-CN" dirty="0"/>
              <a:t>10001</a:t>
            </a:r>
            <a:r>
              <a:rPr kumimoji="1" lang="zh-CN" altLang="en-US" dirty="0"/>
              <a:t>）、百意点展</a:t>
            </a:r>
            <a:r>
              <a:rPr kumimoji="1" lang="en-GB" altLang="zh-CN" dirty="0"/>
              <a:t>Ip</a:t>
            </a:r>
            <a:r>
              <a:rPr kumimoji="1" lang="zh-CN" altLang="en-US" dirty="0"/>
              <a:t>地域不一致（</a:t>
            </a:r>
            <a:r>
              <a:rPr kumimoji="1" lang="en-US" altLang="zh-CN" dirty="0"/>
              <a:t>10002</a:t>
            </a:r>
            <a:r>
              <a:rPr kumimoji="1" lang="zh-CN" altLang="en-US" dirty="0"/>
              <a:t>）、其他点展</a:t>
            </a:r>
            <a:r>
              <a:rPr kumimoji="1" lang="en-GB" altLang="zh-CN" dirty="0" err="1"/>
              <a:t>ip</a:t>
            </a:r>
            <a:r>
              <a:rPr kumimoji="1" lang="zh-CN" altLang="en-US" dirty="0"/>
              <a:t>地域不一致（</a:t>
            </a:r>
            <a:r>
              <a:rPr kumimoji="1" lang="en-US" altLang="zh-CN" dirty="0"/>
              <a:t>10003</a:t>
            </a:r>
            <a:r>
              <a:rPr kumimoji="1" lang="zh-CN" altLang="en-US" dirty="0"/>
              <a:t>）</a:t>
            </a:r>
          </a:p>
          <a:p>
            <a:pPr marL="0" lvl="2"/>
            <a:r>
              <a:rPr kumimoji="1" lang="zh-CN" altLang="en-US" b="1" dirty="0"/>
              <a:t>参数说明</a:t>
            </a:r>
            <a:r>
              <a:rPr kumimoji="1" lang="en-US" altLang="zh-CN" b="1" dirty="0"/>
              <a:t>:</a:t>
            </a:r>
          </a:p>
          <a:p>
            <a:pPr marL="0" lvl="2"/>
            <a:r>
              <a:rPr kumimoji="1" lang="en-GB" altLang="zh-CN" dirty="0"/>
              <a:t>condition</a:t>
            </a:r>
            <a:r>
              <a:rPr kumimoji="1" lang="zh-CN" altLang="en-GB" dirty="0"/>
              <a:t>：</a:t>
            </a:r>
          </a:p>
          <a:p>
            <a:pPr marL="0" lvl="2"/>
            <a:r>
              <a:rPr kumimoji="1" lang="en-GB" altLang="zh-CN" dirty="0" err="1"/>
              <a:t>ip_loc</a:t>
            </a:r>
            <a:r>
              <a:rPr kumimoji="1" lang="en-GB" altLang="zh-CN" dirty="0"/>
              <a:t>=1</a:t>
            </a:r>
            <a:r>
              <a:rPr kumimoji="1" lang="zh-CN" altLang="en-US" dirty="0"/>
              <a:t>表示</a:t>
            </a:r>
            <a:r>
              <a:rPr kumimoji="1" lang="en-GB" altLang="zh-CN" dirty="0" err="1"/>
              <a:t>dispip</a:t>
            </a:r>
            <a:r>
              <a:rPr kumimoji="1" lang="zh-CN" altLang="en-US" dirty="0"/>
              <a:t>与</a:t>
            </a:r>
            <a:r>
              <a:rPr kumimoji="1" lang="en-GB" altLang="zh-CN" dirty="0" err="1"/>
              <a:t>clkip</a:t>
            </a:r>
            <a:r>
              <a:rPr kumimoji="1" lang="zh-CN" altLang="en-US" dirty="0"/>
              <a:t>所在省级地域一致</a:t>
            </a:r>
          </a:p>
          <a:p>
            <a:pPr marL="0" lvl="2"/>
            <a:r>
              <a:rPr kumimoji="1" lang="en-GB" altLang="zh-CN" dirty="0" err="1"/>
              <a:t>gps_loc</a:t>
            </a:r>
            <a:r>
              <a:rPr kumimoji="1" lang="en-GB" altLang="zh-CN" dirty="0"/>
              <a:t>=1</a:t>
            </a:r>
            <a:r>
              <a:rPr kumimoji="1" lang="zh-CN" altLang="en-US" dirty="0"/>
              <a:t>表示</a:t>
            </a:r>
            <a:r>
              <a:rPr kumimoji="1" lang="en-GB" altLang="zh-CN" dirty="0" err="1"/>
              <a:t>gps</a:t>
            </a:r>
            <a:r>
              <a:rPr kumimoji="1" lang="zh-CN" altLang="en-US" dirty="0"/>
              <a:t>位置所在省级地域一致。</a:t>
            </a:r>
          </a:p>
          <a:p>
            <a:pPr marL="0" lvl="2"/>
            <a:endParaRPr kumimoji="1" lang="zh-CN" altLang="en-US" b="1" dirty="0"/>
          </a:p>
          <a:p>
            <a:pPr marL="0" lvl="2"/>
            <a:endParaRPr kumimoji="1" lang="zh-CN" altLang="en-US" b="1"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5735749" cy="646331"/>
          </a:xfrm>
          <a:prstGeom prst="rect">
            <a:avLst/>
          </a:prstGeom>
          <a:noFill/>
        </p:spPr>
        <p:txBody>
          <a:bodyPr wrap="square" rtlCol="0">
            <a:spAutoFit/>
          </a:bodyPr>
          <a:lstStyle/>
          <a:p>
            <a:r>
              <a:rPr kumimoji="1" lang="zh-CN" altLang="en-US" b="1" dirty="0"/>
              <a:t>简单策略：处理空间类策略</a:t>
            </a:r>
            <a:r>
              <a:rPr kumimoji="1" lang="en-US" altLang="zh-CN" b="1" dirty="0"/>
              <a:t>_</a:t>
            </a:r>
            <a:r>
              <a:rPr kumimoji="1" lang="zh-CN" altLang="en-US" b="1" dirty="0"/>
              <a:t>爬虫</a:t>
            </a:r>
            <a:r>
              <a:rPr kumimoji="1" lang="en-US" altLang="zh-CN" b="1" dirty="0" err="1"/>
              <a:t>ua</a:t>
            </a:r>
            <a:r>
              <a:rPr kumimoji="1" lang="zh-CN" altLang="en-US" b="1" dirty="0"/>
              <a:t>过滤策略（</a:t>
            </a:r>
            <a:r>
              <a:rPr kumimoji="1" lang="en-US" altLang="zh-CN" b="1" dirty="0"/>
              <a:t>1601</a:t>
            </a:r>
            <a:r>
              <a:rPr kumimoji="1" lang="zh-CN" altLang="en-US" b="1" dirty="0"/>
              <a:t>）</a:t>
            </a:r>
            <a:endParaRPr kumimoji="1" lang="en-US" altLang="zh-CN" b="1" dirty="0"/>
          </a:p>
          <a:p>
            <a:endParaRPr kumimoji="1" lang="zh-CN" altLang="en-US" b="1" dirty="0"/>
          </a:p>
        </p:txBody>
      </p:sp>
      <p:sp>
        <p:nvSpPr>
          <p:cNvPr id="9" name="内容占位符 8"/>
          <p:cNvSpPr txBox="1">
            <a:spLocks noGrp="1"/>
          </p:cNvSpPr>
          <p:nvPr>
            <p:ph idx="1"/>
          </p:nvPr>
        </p:nvSpPr>
        <p:spPr>
          <a:xfrm>
            <a:off x="405184" y="1721660"/>
            <a:ext cx="9627907" cy="4796891"/>
          </a:xfrm>
          <a:prstGeom prst="rect">
            <a:avLst/>
          </a:prstGeom>
          <a:solidFill>
            <a:schemeClr val="bg1">
              <a:lumMod val="95000"/>
              <a:alpha val="0"/>
            </a:schemeClr>
          </a:solidFill>
          <a:ln>
            <a:noFill/>
          </a:ln>
        </p:spPr>
        <p:txBody>
          <a:bodyPr wrap="square" rtlCol="0">
            <a:spAutoFit/>
          </a:bodyPr>
          <a:lstStyle/>
          <a:p>
            <a:pPr lvl="0" algn="l"/>
            <a:r>
              <a:rPr lang="en-GB" altLang="zh-CN" sz="1400" dirty="0"/>
              <a:t>[@policy]</a:t>
            </a:r>
          </a:p>
          <a:p>
            <a:pPr lvl="0" algn="l"/>
            <a:r>
              <a:rPr lang="en-GB" altLang="zh-CN" sz="1400" dirty="0" err="1"/>
              <a:t>policy_type</a:t>
            </a:r>
            <a:r>
              <a:rPr lang="en-GB" altLang="zh-CN" sz="1400" dirty="0"/>
              <a:t> : rule</a:t>
            </a:r>
          </a:p>
          <a:p>
            <a:pPr lvl="0" algn="l"/>
            <a:r>
              <a:rPr lang="en-GB" altLang="zh-CN" sz="1400" dirty="0" err="1"/>
              <a:t>policy_id</a:t>
            </a:r>
            <a:r>
              <a:rPr lang="en-GB" altLang="zh-CN" sz="1400" dirty="0"/>
              <a:t> : 1601</a:t>
            </a:r>
          </a:p>
          <a:p>
            <a:pPr lvl="0" algn="l"/>
            <a:r>
              <a:rPr lang="en-GB" altLang="zh-CN" sz="1400" dirty="0"/>
              <a:t>[.@rule]</a:t>
            </a:r>
          </a:p>
          <a:p>
            <a:pPr lvl="0" algn="l"/>
            <a:r>
              <a:rPr lang="en-GB" altLang="zh-CN" sz="1400" dirty="0" err="1"/>
              <a:t>feature_id</a:t>
            </a:r>
            <a:r>
              <a:rPr lang="en-GB" altLang="zh-CN" sz="1400" dirty="0"/>
              <a:t> : 1601</a:t>
            </a:r>
          </a:p>
          <a:p>
            <a:pPr lvl="0" algn="l"/>
            <a:r>
              <a:rPr lang="en-GB" altLang="zh-CN" sz="1400" dirty="0" err="1"/>
              <a:t>rule_type</a:t>
            </a:r>
            <a:r>
              <a:rPr lang="en-GB" altLang="zh-CN" sz="1400" dirty="0"/>
              <a:t> : </a:t>
            </a:r>
            <a:r>
              <a:rPr lang="en-GB" altLang="zh-CN" sz="1400" dirty="0" err="1"/>
              <a:t>boolean</a:t>
            </a:r>
            <a:endParaRPr lang="en-GB" altLang="zh-CN" sz="1400" dirty="0"/>
          </a:p>
          <a:p>
            <a:pPr lvl="0" algn="l"/>
            <a:r>
              <a:rPr lang="en-GB" altLang="zh-CN" sz="1400" dirty="0"/>
              <a:t>condition : true</a:t>
            </a:r>
          </a:p>
          <a:p>
            <a:pPr lvl="0" algn="l"/>
            <a:r>
              <a:rPr lang="en-GB" altLang="zh-CN" sz="1400" dirty="0"/>
              <a:t> </a:t>
            </a:r>
          </a:p>
          <a:p>
            <a:pPr lvl="0" algn="l"/>
            <a:r>
              <a:rPr lang="en-GB" altLang="zh-CN" sz="1400" dirty="0"/>
              <a:t>[@feature]</a:t>
            </a:r>
          </a:p>
          <a:p>
            <a:pPr lvl="0" algn="l"/>
            <a:r>
              <a:rPr lang="en-GB" altLang="zh-CN" sz="1400" dirty="0" err="1"/>
              <a:t>feature_id</a:t>
            </a:r>
            <a:r>
              <a:rPr lang="en-GB" altLang="zh-CN" sz="1400" dirty="0"/>
              <a:t> : 1601</a:t>
            </a:r>
          </a:p>
          <a:p>
            <a:pPr lvl="0" algn="l"/>
            <a:r>
              <a:rPr lang="en-GB" altLang="zh-CN" sz="1400" dirty="0" err="1"/>
              <a:t>view_level</a:t>
            </a:r>
            <a:r>
              <a:rPr lang="en-GB" altLang="zh-CN" sz="1400" dirty="0"/>
              <a:t> : </a:t>
            </a:r>
            <a:r>
              <a:rPr lang="en-GB" altLang="zh-CN" sz="1400" dirty="0" err="1"/>
              <a:t>click_level</a:t>
            </a:r>
            <a:endParaRPr lang="en-GB" altLang="zh-CN" sz="1400" dirty="0"/>
          </a:p>
          <a:p>
            <a:pPr lvl="0" algn="l"/>
            <a:r>
              <a:rPr lang="en-GB" altLang="zh-CN" sz="1400" dirty="0" err="1"/>
              <a:t>feature_type</a:t>
            </a:r>
            <a:r>
              <a:rPr lang="en-GB" altLang="zh-CN" sz="1400" dirty="0"/>
              <a:t> : </a:t>
            </a:r>
            <a:r>
              <a:rPr lang="en-GB" altLang="zh-CN" sz="1400" dirty="0" err="1"/>
              <a:t>carespace</a:t>
            </a:r>
            <a:endParaRPr lang="en-GB" altLang="zh-CN" sz="1400" dirty="0"/>
          </a:p>
          <a:p>
            <a:pPr lvl="0" algn="l"/>
            <a:r>
              <a:rPr lang="en-GB" altLang="zh-CN" sz="1400" dirty="0">
                <a:solidFill>
                  <a:srgbClr val="C00000"/>
                </a:solidFill>
              </a:rPr>
              <a:t>condition : ['</a:t>
            </a:r>
            <a:r>
              <a:rPr lang="en-GB" altLang="zh-CN" sz="1400" dirty="0" err="1">
                <a:solidFill>
                  <a:srgbClr val="C00000"/>
                </a:solidFill>
              </a:rPr>
              <a:t>useragent</a:t>
            </a:r>
            <a:r>
              <a:rPr lang="en-GB" altLang="zh-CN" sz="1400" dirty="0">
                <a:solidFill>
                  <a:srgbClr val="C00000"/>
                </a:solidFill>
              </a:rPr>
              <a:t>':='RAL/2.0.17 (internal request)','Mozilla/5.0(</a:t>
            </a:r>
            <a:r>
              <a:rPr lang="en-GB" altLang="zh-CN" sz="1400" dirty="0" err="1">
                <a:solidFill>
                  <a:srgbClr val="C00000"/>
                </a:solidFill>
              </a:rPr>
              <a:t>compatible;MSIE</a:t>
            </a:r>
            <a:r>
              <a:rPr lang="en-GB" altLang="zh-CN" sz="1400" dirty="0">
                <a:solidFill>
                  <a:srgbClr val="C00000"/>
                </a:solidFill>
              </a:rPr>
              <a:t>/6.0+http://</a:t>
            </a:r>
            <a:r>
              <a:rPr lang="en-GB" altLang="zh-CN" sz="1400" dirty="0" err="1">
                <a:solidFill>
                  <a:srgbClr val="C00000"/>
                </a:solidFill>
              </a:rPr>
              <a:t>www.myspace.com</a:t>
            </a:r>
            <a:r>
              <a:rPr lang="en-GB" altLang="zh-CN" sz="1400" dirty="0">
                <a:solidFill>
                  <a:srgbClr val="C00000"/>
                </a:solidFill>
              </a:rPr>
              <a:t>)']</a:t>
            </a:r>
          </a:p>
          <a:p>
            <a:pPr lvl="0" algn="l"/>
            <a:r>
              <a:rPr lang="en-GB" altLang="zh-CN" sz="1400" dirty="0"/>
              <a:t>care : ['</a:t>
            </a:r>
            <a:r>
              <a:rPr lang="en-GB" altLang="zh-CN" sz="1400" dirty="0" err="1"/>
              <a:t>accessid</a:t>
            </a:r>
            <a:r>
              <a:rPr lang="en-GB" altLang="zh-CN" sz="1400" dirty="0"/>
              <a:t>':='1','31','36','37','1001','1002','1003','1004']['</a:t>
            </a:r>
            <a:r>
              <a:rPr lang="en-GB" altLang="zh-CN" sz="1400" dirty="0" err="1"/>
              <a:t>cmatch</a:t>
            </a:r>
            <a:r>
              <a:rPr lang="en-GB" altLang="zh-CN" sz="1400" dirty="0"/>
              <a:t>':='313']||['</a:t>
            </a:r>
            <a:r>
              <a:rPr lang="en-GB" altLang="zh-CN" sz="1400" dirty="0" err="1"/>
              <a:t>accessid</a:t>
            </a:r>
            <a:r>
              <a:rPr lang="en-GB" altLang="zh-CN" sz="1400" dirty="0"/>
              <a:t>':='30']</a:t>
            </a:r>
          </a:p>
          <a:p>
            <a:pPr lvl="0" algn="l"/>
            <a:r>
              <a:rPr lang="en-GB" altLang="zh-CN" sz="1400" dirty="0"/>
              <a:t>view : </a:t>
            </a:r>
            <a:r>
              <a:rPr lang="en-GB" altLang="zh-CN" sz="1400" dirty="0" err="1"/>
              <a:t>useragent</a:t>
            </a:r>
            <a:endParaRPr kumimoji="0" lang="en-GB" altLang="zh-CN" sz="1400" b="0" i="0" u="none" strike="noStrike" kern="1200" cap="none" spc="0" normalizeH="0" baseline="0" noProof="0" dirty="0">
              <a:ln>
                <a:noFill/>
              </a:ln>
              <a:solidFill>
                <a:srgbClr val="000000"/>
              </a:solidFill>
              <a:effectLst/>
              <a:uLnTx/>
              <a:uFillTx/>
              <a:latin typeface="Helvetica Light" charset="0"/>
              <a:sym typeface="Helvetica Light" charset="0"/>
            </a:endParaRPr>
          </a:p>
        </p:txBody>
      </p:sp>
      <p:sp>
        <p:nvSpPr>
          <p:cNvPr id="3" name="文本框 2"/>
          <p:cNvSpPr txBox="1"/>
          <p:nvPr/>
        </p:nvSpPr>
        <p:spPr>
          <a:xfrm>
            <a:off x="5446059" y="1573306"/>
            <a:ext cx="5593976" cy="3693319"/>
          </a:xfrm>
          <a:prstGeom prst="rect">
            <a:avLst/>
          </a:prstGeom>
          <a:noFill/>
        </p:spPr>
        <p:txBody>
          <a:bodyPr wrap="square" rtlCol="0">
            <a:spAutoFit/>
          </a:bodyPr>
          <a:lstStyle/>
          <a:p>
            <a:pPr marL="0" lvl="2"/>
            <a:r>
              <a:rPr kumimoji="1" lang="zh-CN" altLang="en-US" b="1" dirty="0"/>
              <a:t>业务场景</a:t>
            </a:r>
            <a:r>
              <a:rPr kumimoji="1" lang="zh-CN" altLang="en-US" dirty="0"/>
              <a:t>：目前线上的爬虫来源分为两大类，一是来自主流爬虫框架，二是来自搜索引擎爬虫。对于主流框架，主要分布于</a:t>
            </a:r>
            <a:r>
              <a:rPr kumimoji="1" lang="en-GB" altLang="zh-CN" dirty="0"/>
              <a:t>java</a:t>
            </a:r>
            <a:r>
              <a:rPr kumimoji="1" lang="zh-CN" altLang="en-GB" dirty="0"/>
              <a:t>、</a:t>
            </a:r>
            <a:r>
              <a:rPr kumimoji="1" lang="en-GB" altLang="zh-CN" dirty="0"/>
              <a:t>python</a:t>
            </a:r>
            <a:r>
              <a:rPr kumimoji="1" lang="zh-CN" altLang="en-US" dirty="0"/>
              <a:t>和</a:t>
            </a:r>
            <a:r>
              <a:rPr kumimoji="1" lang="en-GB" altLang="zh-CN" dirty="0"/>
              <a:t>php</a:t>
            </a:r>
            <a:r>
              <a:rPr kumimoji="1" lang="zh-CN" altLang="en-US" dirty="0"/>
              <a:t>三大语言框架，其</a:t>
            </a:r>
            <a:r>
              <a:rPr kumimoji="1" lang="en-GB" altLang="zh-CN" dirty="0" err="1"/>
              <a:t>ua</a:t>
            </a:r>
            <a:r>
              <a:rPr kumimoji="1" lang="zh-CN" altLang="en-US" dirty="0"/>
              <a:t>默认方式下会带有这些语言名称。对于搜索引擎爬虫，包含其爬虫姓名，如</a:t>
            </a:r>
            <a:r>
              <a:rPr kumimoji="1" lang="en-GB" altLang="zh-CN" dirty="0" err="1"/>
              <a:t>baiduspider</a:t>
            </a:r>
            <a:r>
              <a:rPr kumimoji="1" lang="zh-CN" altLang="en-GB" dirty="0"/>
              <a:t>。</a:t>
            </a:r>
          </a:p>
          <a:p>
            <a:pPr marL="0" lvl="2"/>
            <a:r>
              <a:rPr kumimoji="1" lang="en-GB" altLang="zh-CN" dirty="0" err="1"/>
              <a:t>ua</a:t>
            </a:r>
            <a:r>
              <a:rPr kumimoji="1" lang="zh-CN" altLang="en-US" dirty="0"/>
              <a:t>黑名单策略处理前者，爬虫</a:t>
            </a:r>
            <a:r>
              <a:rPr kumimoji="1" lang="en-GB" altLang="zh-CN" dirty="0" err="1"/>
              <a:t>ua</a:t>
            </a:r>
            <a:r>
              <a:rPr kumimoji="1" lang="zh-CN" altLang="en-US" dirty="0"/>
              <a:t>过滤策略处理后者。</a:t>
            </a:r>
            <a:endParaRPr kumimoji="1" lang="en-US" altLang="zh-CN" dirty="0"/>
          </a:p>
          <a:p>
            <a:pPr marL="0" lvl="2"/>
            <a:endParaRPr kumimoji="1" lang="en-US" altLang="zh-CN" dirty="0"/>
          </a:p>
          <a:p>
            <a:pPr marL="0" lvl="2"/>
            <a:r>
              <a:rPr kumimoji="1" lang="zh-CN" altLang="en-US" b="1" dirty="0"/>
              <a:t>参数说明：</a:t>
            </a:r>
          </a:p>
          <a:p>
            <a:pPr marL="0" lvl="2"/>
            <a:r>
              <a:rPr lang="en-US" altLang="zh-CN" dirty="0"/>
              <a:t>condition</a:t>
            </a:r>
            <a:r>
              <a:rPr lang="zh-CN" altLang="en-US" dirty="0"/>
              <a:t>：</a:t>
            </a:r>
            <a:r>
              <a:rPr lang="en-US" altLang="zh-CN" dirty="0" err="1"/>
              <a:t>useragent</a:t>
            </a:r>
            <a:r>
              <a:rPr lang="zh-CN" altLang="en-US" dirty="0"/>
              <a:t>在</a:t>
            </a:r>
            <a:r>
              <a:rPr lang="en-US" altLang="zh-CN" dirty="0"/>
              <a:t>[‘RAL/2.0.17 (internal request)’,</a:t>
            </a:r>
            <a:r>
              <a:rPr lang="zh-CN" altLang="en-US" dirty="0"/>
              <a:t> </a:t>
            </a:r>
            <a:r>
              <a:rPr lang="en-US" altLang="zh-CN" dirty="0"/>
              <a:t>‘Mozilla/5.0(</a:t>
            </a:r>
            <a:r>
              <a:rPr lang="en-US" altLang="zh-CN" dirty="0" err="1"/>
              <a:t>compatible;MSIE</a:t>
            </a:r>
            <a:r>
              <a:rPr lang="en-US" altLang="zh-CN" dirty="0"/>
              <a:t>/6.0+http://</a:t>
            </a:r>
            <a:r>
              <a:rPr lang="en-US" altLang="zh-CN" dirty="0" err="1"/>
              <a:t>www.myspace.com</a:t>
            </a:r>
            <a:r>
              <a:rPr lang="en-US" altLang="zh-CN" dirty="0"/>
              <a:t>)‘]</a:t>
            </a:r>
            <a:r>
              <a:rPr lang="zh-CN" altLang="en-US" dirty="0"/>
              <a:t>内</a:t>
            </a:r>
          </a:p>
          <a:p>
            <a:pPr marL="0" lvl="2"/>
            <a:endParaRPr kumimoji="1"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646331"/>
          </a:xfrm>
          <a:prstGeom prst="rect">
            <a:avLst/>
          </a:prstGeom>
          <a:noFill/>
        </p:spPr>
        <p:txBody>
          <a:bodyPr wrap="square" rtlCol="0">
            <a:spAutoFit/>
          </a:bodyPr>
          <a:lstStyle/>
          <a:p>
            <a:r>
              <a:rPr kumimoji="1" lang="zh-CN" altLang="en-US" b="1" dirty="0"/>
              <a:t>简单策略：处理空间类策略</a:t>
            </a:r>
            <a:r>
              <a:rPr kumimoji="1" lang="en-US" altLang="zh-CN" b="1" dirty="0"/>
              <a:t>_</a:t>
            </a:r>
            <a:r>
              <a:rPr kumimoji="1" lang="zh-CN" altLang="en-US" b="1" dirty="0"/>
              <a:t>点击预取过滤策略（</a:t>
            </a:r>
            <a:r>
              <a:rPr kumimoji="1" lang="en-US" altLang="zh-CN" b="1" dirty="0"/>
              <a:t>1301</a:t>
            </a:r>
            <a:r>
              <a:rPr kumimoji="1" lang="zh-CN" altLang="en-US" b="1" dirty="0"/>
              <a:t>）</a:t>
            </a:r>
            <a:endParaRPr kumimoji="1" lang="en-US" altLang="zh-CN" b="1" dirty="0"/>
          </a:p>
          <a:p>
            <a:endParaRPr kumimoji="1" lang="zh-CN" altLang="en-US" b="1" dirty="0"/>
          </a:p>
        </p:txBody>
      </p:sp>
      <p:sp>
        <p:nvSpPr>
          <p:cNvPr id="9" name="文本框 8"/>
          <p:cNvSpPr txBox="1"/>
          <p:nvPr/>
        </p:nvSpPr>
        <p:spPr>
          <a:xfrm>
            <a:off x="462635" y="1721660"/>
            <a:ext cx="10644635" cy="4708981"/>
          </a:xfrm>
          <a:prstGeom prst="rect">
            <a:avLst/>
          </a:prstGeom>
          <a:solidFill>
            <a:schemeClr val="bg1">
              <a:lumMod val="95000"/>
              <a:alpha val="0"/>
            </a:schemeClr>
          </a:solidFill>
          <a:ln>
            <a:noFill/>
          </a:ln>
        </p:spPr>
        <p:txBody>
          <a:bodyPr wrap="square" rtlCol="0">
            <a:spAutoFit/>
          </a:bodyPr>
          <a:lstStyle/>
          <a:p>
            <a:pPr lvl="0"/>
            <a:r>
              <a:rPr lang="en-GB" altLang="zh-CN" sz="2000" dirty="0"/>
              <a:t>[@policy]</a:t>
            </a:r>
          </a:p>
          <a:p>
            <a:pPr lvl="0"/>
            <a:r>
              <a:rPr lang="en-GB" altLang="zh-CN" sz="2000" dirty="0" err="1"/>
              <a:t>policy_type</a:t>
            </a:r>
            <a:r>
              <a:rPr lang="en-GB" altLang="zh-CN" sz="2000" dirty="0"/>
              <a:t> : rule</a:t>
            </a:r>
          </a:p>
          <a:p>
            <a:pPr lvl="0"/>
            <a:r>
              <a:rPr lang="en-GB" altLang="zh-CN" sz="2000" dirty="0" err="1"/>
              <a:t>policy_id</a:t>
            </a:r>
            <a:r>
              <a:rPr lang="en-GB" altLang="zh-CN" sz="2000" dirty="0"/>
              <a:t> : 1301</a:t>
            </a:r>
          </a:p>
          <a:p>
            <a:pPr lvl="0"/>
            <a:r>
              <a:rPr lang="en-GB" altLang="zh-CN" sz="2000" dirty="0"/>
              <a:t>[.@rule]</a:t>
            </a:r>
          </a:p>
          <a:p>
            <a:pPr lvl="0"/>
            <a:r>
              <a:rPr lang="en-GB" altLang="zh-CN" sz="2000" dirty="0" err="1"/>
              <a:t>feature_id</a:t>
            </a:r>
            <a:r>
              <a:rPr lang="en-GB" altLang="zh-CN" sz="2000" dirty="0"/>
              <a:t> : 1301</a:t>
            </a:r>
          </a:p>
          <a:p>
            <a:pPr lvl="0"/>
            <a:r>
              <a:rPr lang="en-GB" altLang="zh-CN" sz="2000" dirty="0" err="1"/>
              <a:t>rule_type</a:t>
            </a:r>
            <a:r>
              <a:rPr lang="en-GB" altLang="zh-CN" sz="2000" dirty="0"/>
              <a:t> : </a:t>
            </a:r>
            <a:r>
              <a:rPr lang="en-GB" altLang="zh-CN" sz="2000" dirty="0" err="1"/>
              <a:t>boolean</a:t>
            </a:r>
            <a:endParaRPr lang="en-GB" altLang="zh-CN" sz="2000" dirty="0"/>
          </a:p>
          <a:p>
            <a:pPr lvl="0"/>
            <a:r>
              <a:rPr lang="en-GB" altLang="zh-CN" sz="2000" dirty="0"/>
              <a:t>condition : true</a:t>
            </a:r>
          </a:p>
          <a:p>
            <a:pPr lvl="0"/>
            <a:r>
              <a:rPr lang="en-GB" altLang="zh-CN" sz="2000" dirty="0"/>
              <a:t> </a:t>
            </a:r>
          </a:p>
          <a:p>
            <a:pPr lvl="0"/>
            <a:r>
              <a:rPr lang="en-GB" altLang="zh-CN" sz="2000" dirty="0"/>
              <a:t>[@feature]</a:t>
            </a:r>
          </a:p>
          <a:p>
            <a:pPr lvl="0"/>
            <a:r>
              <a:rPr lang="en-GB" altLang="zh-CN" sz="2000" dirty="0" err="1"/>
              <a:t>feature_id</a:t>
            </a:r>
            <a:r>
              <a:rPr lang="en-GB" altLang="zh-CN" sz="2000" dirty="0"/>
              <a:t> : 1301</a:t>
            </a:r>
          </a:p>
          <a:p>
            <a:pPr lvl="0"/>
            <a:r>
              <a:rPr lang="en-GB" altLang="zh-CN" sz="2000" dirty="0" err="1"/>
              <a:t>view_level</a:t>
            </a:r>
            <a:r>
              <a:rPr lang="en-GB" altLang="zh-CN" sz="2000" dirty="0"/>
              <a:t> : </a:t>
            </a:r>
            <a:r>
              <a:rPr lang="en-GB" altLang="zh-CN" sz="2000" dirty="0" err="1"/>
              <a:t>click_level</a:t>
            </a:r>
            <a:endParaRPr lang="en-GB" altLang="zh-CN" sz="2000" dirty="0"/>
          </a:p>
          <a:p>
            <a:pPr lvl="0"/>
            <a:r>
              <a:rPr lang="en-GB" altLang="zh-CN" sz="2000" dirty="0" err="1"/>
              <a:t>feature_type</a:t>
            </a:r>
            <a:r>
              <a:rPr lang="en-GB" altLang="zh-CN" sz="2000" dirty="0"/>
              <a:t> : </a:t>
            </a:r>
            <a:r>
              <a:rPr lang="en-GB" altLang="zh-CN" sz="2000" dirty="0" err="1"/>
              <a:t>carespace</a:t>
            </a:r>
            <a:endParaRPr lang="en-GB" altLang="zh-CN" sz="2000" dirty="0"/>
          </a:p>
          <a:p>
            <a:pPr lvl="0"/>
            <a:r>
              <a:rPr lang="en-GB" altLang="zh-CN" sz="2000" dirty="0"/>
              <a:t>care : ['</a:t>
            </a:r>
            <a:r>
              <a:rPr lang="en-GB" altLang="zh-CN" sz="2000" dirty="0" err="1"/>
              <a:t>is_wireless</a:t>
            </a:r>
            <a:r>
              <a:rPr lang="en-GB" altLang="zh-CN" sz="2000" dirty="0"/>
              <a:t>':='0</a:t>
            </a:r>
            <a:r>
              <a:rPr lang="en-GB" altLang="zh-CN" sz="2000" dirty="0">
                <a:solidFill>
                  <a:srgbClr val="C00000"/>
                </a:solidFill>
              </a:rPr>
              <a:t>']['ck'!='-']['ck_2':='0']['ck_3':='0']['ck_4':='0']</a:t>
            </a:r>
            <a:r>
              <a:rPr lang="en-GB" altLang="zh-CN" sz="2000" dirty="0"/>
              <a:t>['</a:t>
            </a:r>
            <a:r>
              <a:rPr lang="en-GB" altLang="zh-CN" sz="2000" dirty="0" err="1"/>
              <a:t>cmatch'NI'feed.whitecmatch</a:t>
            </a:r>
            <a:r>
              <a:rPr lang="en-GB" altLang="zh-CN" sz="2000" dirty="0"/>
              <a:t>']</a:t>
            </a:r>
          </a:p>
          <a:p>
            <a:pPr lvl="0"/>
            <a:r>
              <a:rPr lang="en-GB" altLang="zh-CN" sz="2000" dirty="0"/>
              <a:t>view : </a:t>
            </a:r>
            <a:r>
              <a:rPr lang="en-GB" altLang="zh-CN" sz="2000" dirty="0" err="1"/>
              <a:t>accessid</a:t>
            </a:r>
            <a:endParaRPr lang="en-GB" altLang="zh-CN" sz="2000" dirty="0">
              <a:solidFill>
                <a:srgbClr val="000000"/>
              </a:solidFill>
              <a:latin typeface="Helvetica Light" charset="0"/>
              <a:sym typeface="Helvetica Light" charset="0"/>
            </a:endParaRPr>
          </a:p>
          <a:p>
            <a:pPr marL="0" marR="0" lvl="0" indent="0" algn="l" defTabSz="584200" rtl="0" eaLnBrk="1" fontAlgn="base" latinLnBrk="0" hangingPunct="0">
              <a:lnSpc>
                <a:spcPct val="100000"/>
              </a:lnSpc>
              <a:spcBef>
                <a:spcPct val="0"/>
              </a:spcBef>
              <a:spcAft>
                <a:spcPct val="0"/>
              </a:spcAft>
              <a:buClrTx/>
              <a:buSzTx/>
              <a:buFontTx/>
              <a:buNone/>
              <a:defRPr/>
            </a:pPr>
            <a:endParaRPr kumimoji="0" lang="en-GB" altLang="zh-CN" sz="2000" b="0" i="0" u="none" strike="noStrike" kern="1200" cap="none" spc="0" normalizeH="0" baseline="0" noProof="0" dirty="0">
              <a:ln>
                <a:noFill/>
              </a:ln>
              <a:solidFill>
                <a:srgbClr val="000000"/>
              </a:solidFill>
              <a:effectLst/>
              <a:uLnTx/>
              <a:uFillTx/>
              <a:latin typeface="Helvetica Light" charset="0"/>
              <a:sym typeface="Helvetica Light" charset="0"/>
            </a:endParaRPr>
          </a:p>
        </p:txBody>
      </p:sp>
      <p:sp>
        <p:nvSpPr>
          <p:cNvPr id="11" name="文本框 10"/>
          <p:cNvSpPr txBox="1"/>
          <p:nvPr/>
        </p:nvSpPr>
        <p:spPr>
          <a:xfrm>
            <a:off x="5325035" y="1721660"/>
            <a:ext cx="6284259" cy="3693319"/>
          </a:xfrm>
          <a:prstGeom prst="rect">
            <a:avLst/>
          </a:prstGeom>
          <a:noFill/>
        </p:spPr>
        <p:txBody>
          <a:bodyPr wrap="square" rtlCol="0">
            <a:spAutoFit/>
          </a:bodyPr>
          <a:lstStyle/>
          <a:p>
            <a:r>
              <a:rPr kumimoji="1" lang="zh-CN" altLang="en-US" b="1" dirty="0"/>
              <a:t>点展预取过滤策略</a:t>
            </a:r>
            <a:endParaRPr kumimoji="1" lang="en-US" altLang="zh-CN" b="1" dirty="0"/>
          </a:p>
          <a:p>
            <a:r>
              <a:rPr kumimoji="1" lang="zh-CN" altLang="en-US" b="1" dirty="0"/>
              <a:t>业务背景：</a:t>
            </a:r>
            <a:r>
              <a:rPr kumimoji="1" lang="zh-CN" altLang="en-US" dirty="0"/>
              <a:t>点击预取是指浏览器的主动行为，有些浏览器会提前加载用户点击页面的内容</a:t>
            </a:r>
            <a:r>
              <a:rPr kumimoji="1" lang="en-US" altLang="zh-CN" dirty="0"/>
              <a:t>(</a:t>
            </a:r>
            <a:r>
              <a:rPr kumimoji="1" lang="zh-CN" altLang="en-US" dirty="0"/>
              <a:t>比如广告</a:t>
            </a:r>
            <a:r>
              <a:rPr kumimoji="1" lang="en-US" altLang="zh-CN" dirty="0"/>
              <a:t>)</a:t>
            </a:r>
            <a:r>
              <a:rPr kumimoji="1" lang="zh-CN" altLang="en-US" dirty="0"/>
              <a:t>，但这些流量并不是网民的真实行为。我们只负责过滤掉被预取且用户没有点击的广告，因为这些流量并不是网民的真实行为。</a:t>
            </a:r>
          </a:p>
          <a:p>
            <a:pPr marL="0" lvl="2"/>
            <a:r>
              <a:rPr kumimoji="1" lang="zh-CN" altLang="en-US" b="1" dirty="0"/>
              <a:t>参数说明</a:t>
            </a:r>
            <a:r>
              <a:rPr kumimoji="1" lang="en-US" altLang="zh-CN" b="1" dirty="0"/>
              <a:t>:</a:t>
            </a:r>
          </a:p>
          <a:p>
            <a:pPr marL="0" lvl="2"/>
            <a:r>
              <a:rPr kumimoji="1" lang="en-GB" altLang="zh-CN" dirty="0"/>
              <a:t>condition</a:t>
            </a:r>
            <a:r>
              <a:rPr kumimoji="1" lang="zh-CN" altLang="en-GB" dirty="0"/>
              <a:t>：</a:t>
            </a:r>
          </a:p>
          <a:p>
            <a:pPr marL="0" lvl="2"/>
            <a:r>
              <a:rPr kumimoji="1" lang="en-GB" altLang="zh-CN" dirty="0"/>
              <a:t>ck0 </a:t>
            </a:r>
            <a:r>
              <a:rPr kumimoji="1" lang="zh-CN" altLang="en-US" dirty="0"/>
              <a:t>校验</a:t>
            </a:r>
            <a:r>
              <a:rPr kumimoji="1" lang="en-GB" altLang="zh-CN" dirty="0"/>
              <a:t>CRC</a:t>
            </a:r>
          </a:p>
          <a:p>
            <a:pPr marL="0" lvl="2"/>
            <a:r>
              <a:rPr kumimoji="1" lang="en-GB" altLang="zh-CN" dirty="0"/>
              <a:t>ck1 </a:t>
            </a:r>
            <a:r>
              <a:rPr kumimoji="1" lang="zh-CN" altLang="en-US" dirty="0"/>
              <a:t>鼠标在广告区域移动次数</a:t>
            </a:r>
          </a:p>
          <a:p>
            <a:pPr marL="0" lvl="2"/>
            <a:r>
              <a:rPr kumimoji="1" lang="en-GB" altLang="zh-CN" dirty="0"/>
              <a:t>ck2 </a:t>
            </a:r>
            <a:r>
              <a:rPr kumimoji="1" lang="zh-CN" altLang="en-US" dirty="0"/>
              <a:t>按下弹起时间差</a:t>
            </a:r>
          </a:p>
          <a:p>
            <a:pPr marL="0" lvl="2"/>
            <a:r>
              <a:rPr kumimoji="1" lang="en-GB" altLang="zh-CN" dirty="0"/>
              <a:t>ck3 click</a:t>
            </a:r>
            <a:r>
              <a:rPr kumimoji="1" lang="zh-CN" altLang="en-US" dirty="0"/>
              <a:t>事件点击</a:t>
            </a:r>
            <a:r>
              <a:rPr kumimoji="1" lang="en-GB" altLang="zh-CN" dirty="0"/>
              <a:t>X</a:t>
            </a:r>
            <a:r>
              <a:rPr kumimoji="1" lang="zh-CN" altLang="en-US" dirty="0"/>
              <a:t>坐标</a:t>
            </a:r>
          </a:p>
          <a:p>
            <a:pPr marL="0" lvl="2"/>
            <a:r>
              <a:rPr kumimoji="1" lang="en-GB" altLang="zh-CN" dirty="0"/>
              <a:t>ck4 click</a:t>
            </a:r>
            <a:r>
              <a:rPr kumimoji="1" lang="zh-CN" altLang="en-US" dirty="0"/>
              <a:t>事件点击</a:t>
            </a:r>
            <a:r>
              <a:rPr kumimoji="1" lang="en-GB" altLang="zh-CN" dirty="0"/>
              <a:t>Y</a:t>
            </a:r>
            <a:r>
              <a:rPr kumimoji="1" lang="zh-CN" altLang="en-US" dirty="0"/>
              <a:t>坐标</a:t>
            </a:r>
          </a:p>
          <a:p>
            <a:pPr marL="0" lvl="2"/>
            <a:endParaRPr kumimoji="1" lang="zh-CN" altLang="en-US" b="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646331"/>
          </a:xfrm>
          <a:prstGeom prst="rect">
            <a:avLst/>
          </a:prstGeom>
          <a:noFill/>
        </p:spPr>
        <p:txBody>
          <a:bodyPr wrap="square" rtlCol="0">
            <a:spAutoFit/>
          </a:bodyPr>
          <a:lstStyle/>
          <a:p>
            <a:r>
              <a:rPr kumimoji="1" lang="zh-CN" altLang="en-US" b="1" dirty="0"/>
              <a:t>简单策略：处理空间类策略</a:t>
            </a:r>
            <a:r>
              <a:rPr kumimoji="1" lang="en-US" altLang="zh-CN" b="1" dirty="0"/>
              <a:t>_</a:t>
            </a:r>
            <a:r>
              <a:rPr kumimoji="1" lang="zh-CN" altLang="en-US" b="1" dirty="0"/>
              <a:t>浏览器重发无效点击（</a:t>
            </a:r>
            <a:r>
              <a:rPr kumimoji="1" lang="en-US" altLang="zh-CN" b="1" dirty="0"/>
              <a:t>1501</a:t>
            </a:r>
            <a:r>
              <a:rPr kumimoji="1" lang="zh-CN" altLang="en-US" b="1" dirty="0"/>
              <a:t>）</a:t>
            </a:r>
            <a:endParaRPr kumimoji="1" lang="en-US" altLang="zh-CN" b="1" dirty="0"/>
          </a:p>
          <a:p>
            <a:endParaRPr kumimoji="1" lang="zh-CN" altLang="en-US" b="1" dirty="0"/>
          </a:p>
        </p:txBody>
      </p:sp>
      <p:sp>
        <p:nvSpPr>
          <p:cNvPr id="9" name="文本框 8"/>
          <p:cNvSpPr txBox="1"/>
          <p:nvPr/>
        </p:nvSpPr>
        <p:spPr>
          <a:xfrm>
            <a:off x="462635" y="1721660"/>
            <a:ext cx="10644635" cy="4708981"/>
          </a:xfrm>
          <a:prstGeom prst="rect">
            <a:avLst/>
          </a:prstGeom>
          <a:solidFill>
            <a:schemeClr val="bg1">
              <a:lumMod val="95000"/>
              <a:alpha val="0"/>
            </a:schemeClr>
          </a:solidFill>
          <a:ln>
            <a:noFill/>
          </a:ln>
        </p:spPr>
        <p:txBody>
          <a:bodyPr wrap="square" rtlCol="0">
            <a:spAutoFit/>
          </a:bodyPr>
          <a:lstStyle/>
          <a:p>
            <a:pPr lvl="0"/>
            <a:r>
              <a:rPr lang="en-GB" altLang="zh-CN" sz="2000" dirty="0"/>
              <a:t>[@policy]</a:t>
            </a:r>
          </a:p>
          <a:p>
            <a:pPr lvl="0"/>
            <a:r>
              <a:rPr lang="en-GB" altLang="zh-CN" sz="2000" dirty="0" err="1"/>
              <a:t>policy_type</a:t>
            </a:r>
            <a:r>
              <a:rPr lang="en-GB" altLang="zh-CN" sz="2000" dirty="0"/>
              <a:t> : rule</a:t>
            </a:r>
          </a:p>
          <a:p>
            <a:pPr lvl="0"/>
            <a:r>
              <a:rPr lang="en-GB" altLang="zh-CN" sz="2000" dirty="0" err="1"/>
              <a:t>policy_id</a:t>
            </a:r>
            <a:r>
              <a:rPr lang="en-GB" altLang="zh-CN" sz="2000" dirty="0"/>
              <a:t> : 1501</a:t>
            </a:r>
          </a:p>
          <a:p>
            <a:pPr lvl="0"/>
            <a:r>
              <a:rPr lang="en-GB" altLang="zh-CN" sz="2000" dirty="0"/>
              <a:t>[.@rule]</a:t>
            </a:r>
          </a:p>
          <a:p>
            <a:pPr lvl="0"/>
            <a:r>
              <a:rPr lang="en-GB" altLang="zh-CN" sz="2000" dirty="0" err="1"/>
              <a:t>feature_id</a:t>
            </a:r>
            <a:r>
              <a:rPr lang="en-GB" altLang="zh-CN" sz="2000" dirty="0"/>
              <a:t> : 1501</a:t>
            </a:r>
          </a:p>
          <a:p>
            <a:pPr lvl="0"/>
            <a:r>
              <a:rPr lang="en-GB" altLang="zh-CN" sz="2000" dirty="0" err="1"/>
              <a:t>rule_type</a:t>
            </a:r>
            <a:r>
              <a:rPr lang="en-GB" altLang="zh-CN" sz="2000" dirty="0"/>
              <a:t> : </a:t>
            </a:r>
            <a:r>
              <a:rPr lang="en-GB" altLang="zh-CN" sz="2000" dirty="0" err="1"/>
              <a:t>boolean</a:t>
            </a:r>
            <a:endParaRPr lang="en-GB" altLang="zh-CN" sz="2000" dirty="0"/>
          </a:p>
          <a:p>
            <a:pPr lvl="0"/>
            <a:r>
              <a:rPr lang="en-GB" altLang="zh-CN" sz="2000" dirty="0"/>
              <a:t>condition : true</a:t>
            </a:r>
          </a:p>
          <a:p>
            <a:pPr lvl="0"/>
            <a:r>
              <a:rPr lang="en-GB" altLang="zh-CN" sz="2000" dirty="0"/>
              <a:t> </a:t>
            </a:r>
          </a:p>
          <a:p>
            <a:pPr lvl="0"/>
            <a:r>
              <a:rPr lang="en-GB" altLang="zh-CN" sz="2000" dirty="0"/>
              <a:t>[@feature]</a:t>
            </a:r>
          </a:p>
          <a:p>
            <a:pPr lvl="0"/>
            <a:r>
              <a:rPr lang="en-GB" altLang="zh-CN" sz="2000" dirty="0" err="1"/>
              <a:t>feature_id</a:t>
            </a:r>
            <a:r>
              <a:rPr lang="en-GB" altLang="zh-CN" sz="2000" dirty="0"/>
              <a:t> : 1501</a:t>
            </a:r>
          </a:p>
          <a:p>
            <a:pPr lvl="0"/>
            <a:r>
              <a:rPr lang="en-GB" altLang="zh-CN" sz="2000" dirty="0" err="1"/>
              <a:t>view_level</a:t>
            </a:r>
            <a:r>
              <a:rPr lang="en-GB" altLang="zh-CN" sz="2000" dirty="0"/>
              <a:t> : </a:t>
            </a:r>
            <a:r>
              <a:rPr lang="en-GB" altLang="zh-CN" sz="2000" dirty="0" err="1"/>
              <a:t>click_level</a:t>
            </a:r>
            <a:endParaRPr lang="en-GB" altLang="zh-CN" sz="2000" dirty="0"/>
          </a:p>
          <a:p>
            <a:pPr lvl="0"/>
            <a:r>
              <a:rPr lang="en-GB" altLang="zh-CN" sz="2000" dirty="0" err="1">
                <a:solidFill>
                  <a:srgbClr val="C00000"/>
                </a:solidFill>
              </a:rPr>
              <a:t>feature_type</a:t>
            </a:r>
            <a:r>
              <a:rPr lang="en-GB" altLang="zh-CN" sz="2000" dirty="0">
                <a:solidFill>
                  <a:srgbClr val="C00000"/>
                </a:solidFill>
              </a:rPr>
              <a:t> : </a:t>
            </a:r>
            <a:r>
              <a:rPr lang="en-GB" altLang="zh-CN" sz="2000" dirty="0" err="1">
                <a:solidFill>
                  <a:srgbClr val="C00000"/>
                </a:solidFill>
              </a:rPr>
              <a:t>carespace</a:t>
            </a:r>
            <a:endParaRPr lang="en-GB" altLang="zh-CN" sz="2000" dirty="0">
              <a:solidFill>
                <a:srgbClr val="C00000"/>
              </a:solidFill>
            </a:endParaRPr>
          </a:p>
          <a:p>
            <a:pPr lvl="0"/>
            <a:r>
              <a:rPr lang="en-GB" altLang="zh-CN" sz="2000" dirty="0"/>
              <a:t>care : ['</a:t>
            </a:r>
            <a:r>
              <a:rPr lang="en-GB" altLang="zh-CN" sz="2000" dirty="0" err="1"/>
              <a:t>is_wireless</a:t>
            </a:r>
            <a:r>
              <a:rPr lang="en-GB" altLang="zh-CN" sz="2000" dirty="0"/>
              <a:t>':='0']</a:t>
            </a:r>
            <a:r>
              <a:rPr lang="en-GB" altLang="zh-CN" sz="2000" dirty="0">
                <a:solidFill>
                  <a:srgbClr val="C00000"/>
                </a:solidFill>
              </a:rPr>
              <a:t>['</a:t>
            </a:r>
            <a:r>
              <a:rPr lang="en-GB" altLang="zh-CN" sz="2000" dirty="0" err="1">
                <a:solidFill>
                  <a:srgbClr val="C00000"/>
                </a:solidFill>
              </a:rPr>
              <a:t>useragent</a:t>
            </a:r>
            <a:r>
              <a:rPr lang="en-GB" altLang="zh-CN" sz="2000" dirty="0">
                <a:solidFill>
                  <a:srgbClr val="C00000"/>
                </a:solidFill>
              </a:rPr>
              <a:t>':~'</a:t>
            </a:r>
            <a:r>
              <a:rPr lang="en-GB" altLang="zh-CN" sz="2000" dirty="0" err="1">
                <a:solidFill>
                  <a:srgbClr val="C00000"/>
                </a:solidFill>
              </a:rPr>
              <a:t>WinHttpRequest</a:t>
            </a:r>
            <a:r>
              <a:rPr lang="en-GB" altLang="zh-CN" sz="2000" dirty="0">
                <a:solidFill>
                  <a:srgbClr val="C00000"/>
                </a:solidFill>
              </a:rPr>
              <a:t>']</a:t>
            </a:r>
          </a:p>
          <a:p>
            <a:pPr lvl="0"/>
            <a:r>
              <a:rPr lang="en-GB" altLang="zh-CN" sz="2000" dirty="0"/>
              <a:t>view : </a:t>
            </a:r>
            <a:r>
              <a:rPr lang="en-GB" altLang="zh-CN" sz="2000" dirty="0" err="1"/>
              <a:t>useragent</a:t>
            </a:r>
            <a:endParaRPr lang="en-GB" altLang="zh-CN" sz="2000" dirty="0"/>
          </a:p>
          <a:p>
            <a:pPr marL="0" marR="0" lvl="0" indent="0" algn="l" defTabSz="584200" rtl="0" eaLnBrk="1" fontAlgn="base" latinLnBrk="0" hangingPunct="0">
              <a:lnSpc>
                <a:spcPct val="100000"/>
              </a:lnSpc>
              <a:spcBef>
                <a:spcPct val="0"/>
              </a:spcBef>
              <a:spcAft>
                <a:spcPct val="0"/>
              </a:spcAft>
              <a:buClrTx/>
              <a:buSzTx/>
              <a:buFontTx/>
              <a:buNone/>
              <a:defRPr/>
            </a:pPr>
            <a:endParaRPr kumimoji="0" lang="en-GB" altLang="zh-CN" sz="2000" b="0" i="0" u="none" strike="noStrike" kern="1200" cap="none" spc="0" normalizeH="0" baseline="0" noProof="0" dirty="0">
              <a:ln>
                <a:noFill/>
              </a:ln>
              <a:solidFill>
                <a:srgbClr val="000000"/>
              </a:solidFill>
              <a:effectLst/>
              <a:uLnTx/>
              <a:uFillTx/>
              <a:latin typeface="Helvetica Light" charset="0"/>
              <a:sym typeface="Helvetica Light" charset="0"/>
            </a:endParaRPr>
          </a:p>
        </p:txBody>
      </p:sp>
      <p:sp>
        <p:nvSpPr>
          <p:cNvPr id="11" name="文本框 10"/>
          <p:cNvSpPr txBox="1"/>
          <p:nvPr/>
        </p:nvSpPr>
        <p:spPr>
          <a:xfrm>
            <a:off x="5325035" y="1721660"/>
            <a:ext cx="6284259" cy="2031325"/>
          </a:xfrm>
          <a:prstGeom prst="rect">
            <a:avLst/>
          </a:prstGeom>
          <a:noFill/>
        </p:spPr>
        <p:txBody>
          <a:bodyPr wrap="square" rtlCol="0">
            <a:spAutoFit/>
          </a:bodyPr>
          <a:lstStyle/>
          <a:p>
            <a:r>
              <a:rPr kumimoji="1" lang="zh-CN" altLang="en-US" b="1" dirty="0"/>
              <a:t>浏览器重发无效点击</a:t>
            </a:r>
          </a:p>
          <a:p>
            <a:pPr marL="0" lvl="2"/>
            <a:r>
              <a:rPr kumimoji="1" lang="zh-CN" altLang="en-US" b="1" dirty="0"/>
              <a:t>业务背景：</a:t>
            </a:r>
            <a:r>
              <a:rPr kumimoji="1" lang="zh-CN" altLang="en-US" dirty="0"/>
              <a:t>浏览器重发无效点击，作弊特征表现为</a:t>
            </a:r>
            <a:r>
              <a:rPr kumimoji="1" lang="en-GB" altLang="zh-CN" dirty="0"/>
              <a:t>UA</a:t>
            </a:r>
            <a:r>
              <a:rPr kumimoji="1" lang="zh-CN" altLang="en-US" dirty="0"/>
              <a:t>包含‘</a:t>
            </a:r>
            <a:r>
              <a:rPr kumimoji="1" lang="en-GB" altLang="zh-CN" dirty="0" err="1"/>
              <a:t>WinHttpRequest</a:t>
            </a:r>
            <a:r>
              <a:rPr kumimoji="1" lang="en-GB" altLang="zh-CN" dirty="0"/>
              <a:t>’</a:t>
            </a:r>
            <a:r>
              <a:rPr kumimoji="1" lang="zh-CN" altLang="en-GB" dirty="0"/>
              <a:t>，</a:t>
            </a:r>
            <a:r>
              <a:rPr kumimoji="1" lang="zh-CN" altLang="en-US" dirty="0"/>
              <a:t>跟正常点击的广告完全一样，且比正常点击先触发，导致该条无效点击被保留，后面的正常点击被重复类策略误过滤。</a:t>
            </a:r>
          </a:p>
          <a:p>
            <a:pPr marL="0" lvl="2"/>
            <a:endParaRPr kumimoji="1" lang="zh-CN" altLang="en-US" b="1" dirty="0"/>
          </a:p>
          <a:p>
            <a:pPr marL="0" lvl="2"/>
            <a:endParaRPr kumimoji="1"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369332"/>
          </a:xfrm>
          <a:prstGeom prst="rect">
            <a:avLst/>
          </a:prstGeom>
          <a:noFill/>
        </p:spPr>
        <p:txBody>
          <a:bodyPr wrap="square" rtlCol="0">
            <a:spAutoFit/>
          </a:bodyPr>
          <a:lstStyle/>
          <a:p>
            <a:r>
              <a:rPr kumimoji="1" lang="zh-CN" altLang="en-US" b="1" dirty="0"/>
              <a:t>统计类策略</a:t>
            </a:r>
          </a:p>
        </p:txBody>
      </p:sp>
      <p:sp>
        <p:nvSpPr>
          <p:cNvPr id="9" name="文本框 8"/>
          <p:cNvSpPr txBox="1"/>
          <p:nvPr/>
        </p:nvSpPr>
        <p:spPr>
          <a:xfrm>
            <a:off x="462635" y="1721660"/>
            <a:ext cx="10644635" cy="5016758"/>
          </a:xfrm>
          <a:prstGeom prst="rect">
            <a:avLst/>
          </a:prstGeom>
          <a:solidFill>
            <a:schemeClr val="bg1">
              <a:lumMod val="95000"/>
              <a:alpha val="0"/>
            </a:schemeClr>
          </a:solidFill>
          <a:ln>
            <a:noFill/>
          </a:ln>
        </p:spPr>
        <p:txBody>
          <a:bodyPr wrap="square" rtlCol="0">
            <a:spAutoFit/>
          </a:bodyPr>
          <a:lstStyle/>
          <a:p>
            <a:pPr marL="342900" lvl="0" indent="-342900">
              <a:lnSpc>
                <a:spcPct val="150000"/>
              </a:lnSpc>
              <a:buFont typeface="Wingdings" panose="05000000000000000000" pitchFamily="2" charset="2"/>
              <a:buChar char="l"/>
            </a:pPr>
            <a:r>
              <a:rPr lang="zh-CN" altLang="en-GB" sz="2000" dirty="0"/>
              <a:t>分类</a:t>
            </a:r>
            <a:endParaRPr lang="en-US" altLang="zh-CN" sz="2000" dirty="0"/>
          </a:p>
          <a:p>
            <a:pPr>
              <a:lnSpc>
                <a:spcPct val="150000"/>
              </a:lnSpc>
            </a:pPr>
            <a:r>
              <a:rPr lang="en-US" altLang="zh-CN" sz="2000" dirty="0"/>
              <a:t>	</a:t>
            </a:r>
            <a:r>
              <a:rPr lang="zh-CN" altLang="en-US" sz="2000" dirty="0"/>
              <a:t>段上限策略、多段上限策略、段比例策略、自动黑名单段上限策略、自动黑名单段比        例策略、分布异常策略、时间差策略、集中度策略、显著性策略</a:t>
            </a:r>
          </a:p>
          <a:p>
            <a:pPr>
              <a:lnSpc>
                <a:spcPct val="150000"/>
              </a:lnSpc>
            </a:pPr>
            <a:endParaRPr lang="en-US" altLang="zh-CN" sz="2000" dirty="0"/>
          </a:p>
          <a:p>
            <a:pPr marL="342900" lvl="0" indent="-342900">
              <a:lnSpc>
                <a:spcPct val="150000"/>
              </a:lnSpc>
              <a:buFont typeface="Wingdings" panose="05000000000000000000" pitchFamily="2" charset="2"/>
              <a:buChar char="l"/>
            </a:pPr>
            <a:r>
              <a:rPr lang="zh-CN" altLang="en-US" sz="2000" dirty="0"/>
              <a:t>统计策略所在的层级</a:t>
            </a:r>
            <a:endParaRPr lang="en-US" altLang="zh-CN" sz="2000" dirty="0"/>
          </a:p>
          <a:p>
            <a:pPr lvl="0">
              <a:lnSpc>
                <a:spcPct val="150000"/>
              </a:lnSpc>
            </a:pPr>
            <a:r>
              <a:rPr lang="en-US" altLang="zh-CN" sz="2000" dirty="0"/>
              <a:t>	</a:t>
            </a:r>
            <a:r>
              <a:rPr lang="zh-CN" altLang="en-US" sz="2000" dirty="0"/>
              <a:t>主要存在</a:t>
            </a:r>
            <a:r>
              <a:rPr lang="en-US" altLang="zh-CN" sz="2000" dirty="0" err="1"/>
              <a:t>themis</a:t>
            </a:r>
            <a:r>
              <a:rPr lang="zh-CN" altLang="en-US" sz="2000" dirty="0"/>
              <a:t>层，在</a:t>
            </a:r>
            <a:r>
              <a:rPr lang="en-US" altLang="zh-CN" sz="2000" dirty="0" err="1"/>
              <a:t>dformat</a:t>
            </a:r>
            <a:r>
              <a:rPr lang="zh-CN" altLang="en-US" sz="2000" dirty="0"/>
              <a:t>层也存在一些统计类策略</a:t>
            </a:r>
            <a:endParaRPr lang="en-US" altLang="zh-CN" sz="2000" dirty="0"/>
          </a:p>
          <a:p>
            <a:pPr lvl="0">
              <a:lnSpc>
                <a:spcPct val="150000"/>
              </a:lnSpc>
            </a:pPr>
            <a:endParaRPr lang="en-US" altLang="zh-CN" sz="2000" dirty="0"/>
          </a:p>
          <a:p>
            <a:pPr marL="342900" lvl="0" indent="-342900">
              <a:lnSpc>
                <a:spcPct val="150000"/>
              </a:lnSpc>
              <a:buFont typeface="Wingdings" panose="05000000000000000000" pitchFamily="2" charset="2"/>
              <a:buChar char="l"/>
            </a:pPr>
            <a:r>
              <a:rPr lang="zh-CN" altLang="en-US" sz="2000" dirty="0"/>
              <a:t>一般统计策略过滤逻辑</a:t>
            </a:r>
          </a:p>
          <a:p>
            <a:pPr lvl="1">
              <a:lnSpc>
                <a:spcPct val="150000"/>
              </a:lnSpc>
            </a:pPr>
            <a:r>
              <a:rPr lang="en-GB" altLang="zh-CN" sz="2000" dirty="0"/>
              <a:t>	</a:t>
            </a:r>
            <a:r>
              <a:rPr lang="zh-CN" altLang="en-US" sz="2000" dirty="0"/>
              <a:t>统计策略的特征值一般是某个段中的累积量，从段首开始进行累积，当这个累积量超出阈值时，超出阈值部分的日志将被过滤。</a:t>
            </a:r>
          </a:p>
          <a:p>
            <a:pPr lvl="1"/>
            <a:endParaRPr lang="en-GB" altLang="zh-CN"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段上限策略</a:t>
            </a:r>
          </a:p>
        </p:txBody>
      </p:sp>
      <p:sp>
        <p:nvSpPr>
          <p:cNvPr id="9" name="文本框 8"/>
          <p:cNvSpPr txBox="1"/>
          <p:nvPr/>
        </p:nvSpPr>
        <p:spPr>
          <a:xfrm>
            <a:off x="462635" y="1721660"/>
            <a:ext cx="11266729" cy="4662045"/>
          </a:xfrm>
          <a:prstGeom prst="rect">
            <a:avLst/>
          </a:prstGeom>
          <a:solidFill>
            <a:schemeClr val="bg1">
              <a:lumMod val="95000"/>
              <a:alpha val="0"/>
            </a:schemeClr>
          </a:solidFill>
          <a:ln>
            <a:noFill/>
          </a:ln>
        </p:spPr>
        <p:txBody>
          <a:bodyPr wrap="square" rtlCol="0">
            <a:spAutoFit/>
          </a:bodyPr>
          <a:lstStyle/>
          <a:p>
            <a:pPr marL="342900" indent="-342900">
              <a:lnSpc>
                <a:spcPct val="150000"/>
              </a:lnSpc>
              <a:buFont typeface="Wingdings" panose="05000000000000000000" pitchFamily="2" charset="2"/>
              <a:buChar char="l"/>
            </a:pPr>
            <a:r>
              <a:rPr lang="zh-CN" altLang="en-US" sz="2000" dirty="0"/>
              <a:t>概念：一段时间段或者</a:t>
            </a:r>
            <a:r>
              <a:rPr lang="en-GB" altLang="zh-CN" sz="2000" dirty="0" err="1"/>
              <a:t>pv</a:t>
            </a:r>
            <a:r>
              <a:rPr lang="zh-CN" altLang="en-US" sz="2000" dirty="0"/>
              <a:t>段内，某一统计值超过一定阈值，那么从超出阈值的点到段尾的日志将被策略命中。</a:t>
            </a:r>
            <a:endParaRPr lang="en-US" altLang="zh-CN" sz="2000" dirty="0"/>
          </a:p>
          <a:p>
            <a:pPr marL="342900" indent="-342900">
              <a:lnSpc>
                <a:spcPct val="150000"/>
              </a:lnSpc>
              <a:buFont typeface="Wingdings" panose="05000000000000000000" pitchFamily="2" charset="2"/>
              <a:buChar char="l"/>
            </a:pPr>
            <a:r>
              <a:rPr lang="zh-CN" altLang="en-US" sz="2000" dirty="0"/>
              <a:t>可用特征：数目特征</a:t>
            </a:r>
            <a:r>
              <a:rPr lang="en-US" altLang="zh-CN" sz="2000" dirty="0"/>
              <a:t>(</a:t>
            </a:r>
            <a:r>
              <a:rPr lang="en-GB" altLang="zh-CN" sz="2000" dirty="0"/>
              <a:t>segment), </a:t>
            </a:r>
            <a:r>
              <a:rPr lang="zh-CN" altLang="en-US" sz="2000" dirty="0"/>
              <a:t>去重数目特征</a:t>
            </a:r>
            <a:r>
              <a:rPr lang="en-US" altLang="zh-CN" sz="2000" dirty="0"/>
              <a:t>(</a:t>
            </a:r>
            <a:r>
              <a:rPr lang="en-GB" altLang="zh-CN" sz="2000" dirty="0" err="1"/>
              <a:t>distinct_segment</a:t>
            </a:r>
            <a:r>
              <a:rPr lang="en-GB" altLang="zh-CN" sz="2000" dirty="0"/>
              <a:t>), </a:t>
            </a:r>
            <a:r>
              <a:rPr lang="zh-CN" altLang="en-US" sz="2000" dirty="0"/>
              <a:t>子数目特征</a:t>
            </a:r>
            <a:r>
              <a:rPr lang="en-US" altLang="zh-CN" sz="2000" dirty="0"/>
              <a:t>(</a:t>
            </a:r>
            <a:r>
              <a:rPr lang="en-GB" altLang="zh-CN" sz="2000" dirty="0" err="1"/>
              <a:t>sum_segment</a:t>
            </a:r>
            <a:r>
              <a:rPr lang="en-GB" altLang="zh-CN" sz="2000" dirty="0"/>
              <a:t>)</a:t>
            </a:r>
          </a:p>
          <a:p>
            <a:pPr marL="342900" indent="-342900">
              <a:lnSpc>
                <a:spcPct val="150000"/>
              </a:lnSpc>
              <a:buFont typeface="Wingdings" panose="05000000000000000000" pitchFamily="2" charset="2"/>
              <a:buChar char="l"/>
            </a:pPr>
            <a:r>
              <a:rPr lang="zh-CN" altLang="en-GB" sz="2000" dirty="0"/>
              <a:t>优缺点</a:t>
            </a:r>
            <a:r>
              <a:rPr lang="zh-CN" altLang="en-US" sz="2000" dirty="0"/>
              <a:t>：</a:t>
            </a:r>
            <a:endParaRPr lang="en-US" altLang="zh-CN" sz="2000" dirty="0"/>
          </a:p>
          <a:p>
            <a:pPr marL="800100" lvl="1" indent="-342900">
              <a:lnSpc>
                <a:spcPct val="150000"/>
              </a:lnSpc>
              <a:buFont typeface="Wingdings" panose="05000000000000000000" pitchFamily="2" charset="2"/>
              <a:buChar char="Ø"/>
            </a:pPr>
            <a:r>
              <a:rPr lang="zh-CN" altLang="en-US" sz="2000" dirty="0"/>
              <a:t>针对维度对象分布较为均匀的维度，可以用来控制段内某一维度对象的总量，超过阈值的日志将被全过滤</a:t>
            </a:r>
          </a:p>
          <a:p>
            <a:pPr marL="800100" lvl="1" indent="-342900">
              <a:lnSpc>
                <a:spcPct val="150000"/>
              </a:lnSpc>
              <a:buFont typeface="Wingdings" panose="05000000000000000000" pitchFamily="2" charset="2"/>
              <a:buChar char="Ø"/>
            </a:pPr>
            <a:r>
              <a:rPr lang="zh-CN" altLang="en-US" sz="2000" dirty="0"/>
              <a:t>段上限策略使用的阈值是固定的，因此不适用于维度对象值有较大波动的场景。且段上限策略存在段首漏过和株连误过的问题。</a:t>
            </a:r>
          </a:p>
          <a:p>
            <a:pPr marL="800100" lvl="1" indent="-342900">
              <a:lnSpc>
                <a:spcPct val="150000"/>
              </a:lnSpc>
              <a:buFont typeface="Wingdings" panose="05000000000000000000" pitchFamily="2" charset="2"/>
              <a:buChar char="l"/>
            </a:pPr>
            <a:endParaRPr lang="en-GB" altLang="zh-CN" sz="2000" dirty="0"/>
          </a:p>
          <a:p>
            <a:pPr marL="342900" indent="-342900">
              <a:lnSpc>
                <a:spcPct val="150000"/>
              </a:lnSpc>
              <a:buFont typeface="Wingdings" panose="05000000000000000000" pitchFamily="2" charset="2"/>
              <a:buChar char="l"/>
            </a:pPr>
            <a:endParaRPr lang="en-US" altLang="zh-CN"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段上限策略</a:t>
            </a:r>
          </a:p>
        </p:txBody>
      </p:sp>
      <p:sp>
        <p:nvSpPr>
          <p:cNvPr id="9" name="文本框 8"/>
          <p:cNvSpPr txBox="1"/>
          <p:nvPr/>
        </p:nvSpPr>
        <p:spPr>
          <a:xfrm>
            <a:off x="462635" y="1721660"/>
            <a:ext cx="4909465" cy="4770537"/>
          </a:xfrm>
          <a:prstGeom prst="rect">
            <a:avLst/>
          </a:prstGeom>
          <a:solidFill>
            <a:schemeClr val="bg1">
              <a:lumMod val="95000"/>
              <a:alpha val="0"/>
            </a:schemeClr>
          </a:solidFill>
          <a:ln>
            <a:noFill/>
          </a:ln>
        </p:spPr>
        <p:txBody>
          <a:bodyPr wrap="square" rtlCol="0">
            <a:spAutoFit/>
          </a:bodyPr>
          <a:lstStyle/>
          <a:p>
            <a:r>
              <a:rPr lang="en-GB" altLang="zh-CN" sz="1600" dirty="0"/>
              <a:t>[@policy] </a:t>
            </a:r>
          </a:p>
          <a:p>
            <a:r>
              <a:rPr lang="en-GB" altLang="zh-CN" sz="1600" dirty="0" err="1"/>
              <a:t>policy_type</a:t>
            </a:r>
            <a:r>
              <a:rPr lang="en-GB" altLang="zh-CN" sz="1600" dirty="0"/>
              <a:t> : rule </a:t>
            </a:r>
          </a:p>
          <a:p>
            <a:r>
              <a:rPr lang="en-GB" altLang="zh-CN" sz="1600" dirty="0" err="1"/>
              <a:t>policy_id</a:t>
            </a:r>
            <a:r>
              <a:rPr lang="en-GB" altLang="zh-CN" sz="1600" dirty="0"/>
              <a:t> : 3241 </a:t>
            </a:r>
          </a:p>
          <a:p>
            <a:r>
              <a:rPr lang="en-GB" altLang="zh-CN" sz="1600" dirty="0"/>
              <a:t>[.@rule] </a:t>
            </a:r>
          </a:p>
          <a:p>
            <a:r>
              <a:rPr lang="en-GB" altLang="zh-CN" sz="1600" dirty="0"/>
              <a:t>threshold : 4 </a:t>
            </a:r>
          </a:p>
          <a:p>
            <a:r>
              <a:rPr lang="en-GB" altLang="zh-CN" sz="1600" dirty="0" err="1"/>
              <a:t>feature_id</a:t>
            </a:r>
            <a:r>
              <a:rPr lang="en-GB" altLang="zh-CN" sz="1600" dirty="0"/>
              <a:t> : 324881 </a:t>
            </a:r>
          </a:p>
          <a:p>
            <a:r>
              <a:rPr lang="en-GB" altLang="zh-CN" sz="1600" dirty="0" err="1"/>
              <a:t>rule_type</a:t>
            </a:r>
            <a:r>
              <a:rPr lang="en-GB" altLang="zh-CN" sz="1600" dirty="0"/>
              <a:t> : segment</a:t>
            </a:r>
            <a:br>
              <a:rPr lang="en-GB" altLang="zh-CN" sz="1600" dirty="0"/>
            </a:br>
            <a:endParaRPr lang="en-GB" altLang="zh-CN" sz="1600" dirty="0"/>
          </a:p>
          <a:p>
            <a:r>
              <a:rPr lang="en-GB" altLang="zh-CN" sz="1600" dirty="0"/>
              <a:t>[@feature]</a:t>
            </a:r>
          </a:p>
          <a:p>
            <a:r>
              <a:rPr lang="en-GB" altLang="zh-CN" sz="1600" dirty="0" err="1"/>
              <a:t>feature_id</a:t>
            </a:r>
            <a:r>
              <a:rPr lang="en-GB" altLang="zh-CN" sz="1600" dirty="0"/>
              <a:t> : 324881 </a:t>
            </a:r>
          </a:p>
          <a:p>
            <a:r>
              <a:rPr lang="en-GB" altLang="zh-CN" sz="1600" dirty="0" err="1"/>
              <a:t>view_level</a:t>
            </a:r>
            <a:r>
              <a:rPr lang="en-GB" altLang="zh-CN" sz="1600" dirty="0"/>
              <a:t> : </a:t>
            </a:r>
            <a:r>
              <a:rPr lang="en-GB" altLang="zh-CN" sz="1600" dirty="0" err="1"/>
              <a:t>click_level</a:t>
            </a:r>
            <a:r>
              <a:rPr lang="en-GB" altLang="zh-CN" sz="1600" dirty="0"/>
              <a:t> </a:t>
            </a:r>
          </a:p>
          <a:p>
            <a:r>
              <a:rPr lang="en-GB" altLang="zh-CN" sz="1600" dirty="0" err="1"/>
              <a:t>feature_type</a:t>
            </a:r>
            <a:r>
              <a:rPr lang="en-GB" altLang="zh-CN" sz="1600" dirty="0"/>
              <a:t> : segment </a:t>
            </a:r>
          </a:p>
          <a:p>
            <a:r>
              <a:rPr lang="en-GB" altLang="zh-CN" sz="1600" dirty="0"/>
              <a:t>care :['</a:t>
            </a:r>
            <a:r>
              <a:rPr lang="en-GB" altLang="zh-CN" sz="1600" dirty="0" err="1"/>
              <a:t>accessid</a:t>
            </a:r>
            <a:r>
              <a:rPr lang="en-GB" altLang="zh-CN" sz="1600" dirty="0"/>
              <a:t>':='1','29','31','37']['</a:t>
            </a:r>
            <a:r>
              <a:rPr lang="en-GB" altLang="zh-CN" sz="1600" dirty="0" err="1"/>
              <a:t>baiduid'HA</a:t>
            </a:r>
            <a:r>
              <a:rPr lang="en-GB" altLang="zh-CN" sz="1600" dirty="0"/>
              <a:t>]['</a:t>
            </a:r>
            <a:r>
              <a:rPr lang="en-GB" altLang="zh-CN" sz="1600" dirty="0" err="1"/>
              <a:t>baiduid'NI'baiduid_generate_error.white</a:t>
            </a:r>
            <a:r>
              <a:rPr lang="en-GB" altLang="zh-CN" sz="1600" dirty="0"/>
              <a:t>’] </a:t>
            </a:r>
          </a:p>
          <a:p>
            <a:r>
              <a:rPr lang="en-GB" altLang="zh-CN" sz="1600" dirty="0"/>
              <a:t>view : </a:t>
            </a:r>
            <a:r>
              <a:rPr lang="en-GB" altLang="zh-CN" sz="1600" dirty="0" err="1"/>
              <a:t>winfoid,baiduid</a:t>
            </a:r>
            <a:r>
              <a:rPr lang="en-GB" altLang="zh-CN" sz="1600" dirty="0"/>
              <a:t> </a:t>
            </a:r>
          </a:p>
          <a:p>
            <a:r>
              <a:rPr lang="en-GB" altLang="zh-CN" sz="1600" dirty="0" err="1"/>
              <a:t>window_type</a:t>
            </a:r>
            <a:r>
              <a:rPr lang="en-GB" altLang="zh-CN" sz="1600" dirty="0"/>
              <a:t> : time </a:t>
            </a:r>
          </a:p>
          <a:p>
            <a:r>
              <a:rPr lang="en-GB" altLang="zh-CN" sz="1600" dirty="0" err="1"/>
              <a:t>click_mode</a:t>
            </a:r>
            <a:r>
              <a:rPr lang="en-GB" altLang="zh-CN" sz="1600" dirty="0"/>
              <a:t> : 1 </a:t>
            </a:r>
          </a:p>
          <a:p>
            <a:r>
              <a:rPr lang="en-GB" altLang="zh-CN" sz="1600" dirty="0"/>
              <a:t>version : 1 </a:t>
            </a:r>
          </a:p>
          <a:p>
            <a:r>
              <a:rPr lang="en-GB" altLang="zh-CN" sz="1600" dirty="0" err="1"/>
              <a:t>window_length</a:t>
            </a:r>
            <a:r>
              <a:rPr lang="en-GB" altLang="zh-CN" sz="1600" dirty="0"/>
              <a:t> : 2400</a:t>
            </a:r>
            <a:endParaRPr lang="zh-CN" altLang="en-US" sz="1600" dirty="0"/>
          </a:p>
        </p:txBody>
      </p:sp>
      <p:sp>
        <p:nvSpPr>
          <p:cNvPr id="10" name="文本框 9"/>
          <p:cNvSpPr txBox="1"/>
          <p:nvPr/>
        </p:nvSpPr>
        <p:spPr>
          <a:xfrm>
            <a:off x="5586607" y="1703420"/>
            <a:ext cx="4909465" cy="3539430"/>
          </a:xfrm>
          <a:prstGeom prst="rect">
            <a:avLst/>
          </a:prstGeom>
          <a:solidFill>
            <a:schemeClr val="bg1">
              <a:lumMod val="95000"/>
              <a:alpha val="0"/>
            </a:schemeClr>
          </a:solidFill>
          <a:ln>
            <a:noFill/>
          </a:ln>
        </p:spPr>
        <p:txBody>
          <a:bodyPr wrap="square" rtlCol="0">
            <a:spAutoFit/>
          </a:bodyPr>
          <a:lstStyle/>
          <a:p>
            <a:pPr marL="285750" lvl="0" indent="-285750">
              <a:buFont typeface="Arial" panose="020B0604020202020204" pitchFamily="34" charset="0"/>
              <a:buChar char="•"/>
            </a:pPr>
            <a:r>
              <a:rPr lang="zh-CN" altLang="en-GB" sz="1600" b="1" dirty="0"/>
              <a:t>应用</a:t>
            </a:r>
            <a:r>
              <a:rPr lang="zh-CN" altLang="en-US" sz="1600" b="1" dirty="0"/>
              <a:t>场景：</a:t>
            </a:r>
            <a:endParaRPr lang="en-US" altLang="zh-CN" sz="1600" b="1" dirty="0"/>
          </a:p>
          <a:p>
            <a:r>
              <a:rPr lang="zh-CN" altLang="en-US" sz="1600" dirty="0"/>
              <a:t> 在满足处理空间条件下，每</a:t>
            </a:r>
            <a:r>
              <a:rPr lang="en-US" altLang="zh-CN" sz="1600" dirty="0"/>
              <a:t>40</a:t>
            </a:r>
            <a:r>
              <a:rPr lang="zh-CN" altLang="en-US" sz="1600" dirty="0"/>
              <a:t>分钟内的点击日志中，相同</a:t>
            </a:r>
            <a:r>
              <a:rPr lang="en-GB" altLang="zh-CN" sz="1600" dirty="0" err="1"/>
              <a:t>winfoid,baiduid</a:t>
            </a:r>
            <a:r>
              <a:rPr lang="zh-CN" altLang="en-US" sz="1600" dirty="0"/>
              <a:t>出现的次数不能超过</a:t>
            </a:r>
            <a:r>
              <a:rPr lang="en-US" altLang="zh-CN" sz="1600" dirty="0"/>
              <a:t>4</a:t>
            </a:r>
            <a:r>
              <a:rPr lang="zh-CN" altLang="en-US" sz="1600" dirty="0"/>
              <a:t>。</a:t>
            </a:r>
            <a:endParaRPr lang="en-US" altLang="zh-CN" sz="1600" dirty="0"/>
          </a:p>
          <a:p>
            <a:pPr marL="285750" indent="-285750">
              <a:buFont typeface="Arial" panose="020B0604020202020204" pitchFamily="34" charset="0"/>
              <a:buChar char="•"/>
            </a:pPr>
            <a:r>
              <a:rPr lang="zh-CN" altLang="en-US" sz="1600" b="1" dirty="0"/>
              <a:t>数目特征（</a:t>
            </a:r>
            <a:r>
              <a:rPr lang="en-US" altLang="zh-CN" sz="1600" b="1" dirty="0"/>
              <a:t>segment</a:t>
            </a:r>
            <a:r>
              <a:rPr lang="zh-CN" altLang="en-US" sz="1600" b="1" dirty="0"/>
              <a:t>）</a:t>
            </a:r>
            <a:r>
              <a:rPr lang="zh-CN" altLang="en-US" sz="1600" dirty="0"/>
              <a:t>：</a:t>
            </a:r>
            <a:endParaRPr lang="en-US" altLang="zh-CN" sz="1600" dirty="0"/>
          </a:p>
          <a:p>
            <a:r>
              <a:rPr lang="zh-CN" altLang="en-US" sz="1600" dirty="0">
                <a:cs typeface="宋体" charset="0"/>
              </a:rPr>
              <a:t>对于某个段内的日志，某一或某些维度下，单个维度对象或维度对象组合的频次，或者说具有同样维度对象的日志数目</a:t>
            </a:r>
            <a:r>
              <a:rPr lang="zh-CN" altLang="en-US" sz="1400" dirty="0">
                <a:cs typeface="宋体" charset="0"/>
              </a:rPr>
              <a:t>。</a:t>
            </a:r>
            <a:endParaRPr lang="en-US" altLang="zh-CN" sz="1600" dirty="0">
              <a:cs typeface="宋体" charset="0"/>
            </a:endParaRPr>
          </a:p>
          <a:p>
            <a:pPr marL="285750" lvl="0" indent="-285750">
              <a:buFont typeface="Arial" panose="020B0604020202020204" pitchFamily="34" charset="0"/>
              <a:buChar char="•"/>
            </a:pPr>
            <a:r>
              <a:rPr lang="zh-CN" altLang="en-GB" sz="1600" b="1" dirty="0"/>
              <a:t>参数</a:t>
            </a:r>
            <a:r>
              <a:rPr lang="zh-CN" altLang="en-US" sz="1600" b="1" dirty="0"/>
              <a:t>说明：</a:t>
            </a:r>
            <a:endParaRPr lang="en-US" altLang="zh-CN" sz="1600" b="1" dirty="0"/>
          </a:p>
          <a:p>
            <a:pPr lvl="0"/>
            <a:r>
              <a:rPr lang="en-GB" altLang="zh-CN" sz="1600" dirty="0"/>
              <a:t>threshold</a:t>
            </a:r>
            <a:r>
              <a:rPr lang="zh-CN" altLang="en-GB" sz="1600" dirty="0"/>
              <a:t>： </a:t>
            </a:r>
            <a:r>
              <a:rPr lang="zh-CN" altLang="en-US" sz="1600" dirty="0"/>
              <a:t>对应特征值的上限阈值。</a:t>
            </a:r>
          </a:p>
          <a:p>
            <a:pPr lvl="0"/>
            <a:r>
              <a:rPr lang="en-GB" altLang="zh-CN" sz="1600" dirty="0" err="1"/>
              <a:t>click_mode</a:t>
            </a:r>
            <a:r>
              <a:rPr lang="en-GB" altLang="zh-CN" sz="1600" dirty="0"/>
              <a:t>: 1</a:t>
            </a:r>
            <a:r>
              <a:rPr lang="zh-CN" altLang="en-US" sz="1600" dirty="0"/>
              <a:t>表示跳段， </a:t>
            </a:r>
            <a:r>
              <a:rPr lang="en-US" altLang="zh-CN" sz="1600" dirty="0"/>
              <a:t>0</a:t>
            </a:r>
            <a:r>
              <a:rPr lang="zh-CN" altLang="en-US" sz="1600" dirty="0"/>
              <a:t>表示滑段       （默认）</a:t>
            </a:r>
          </a:p>
          <a:p>
            <a:pPr lvl="0"/>
            <a:r>
              <a:rPr lang="en-GB" altLang="zh-CN" sz="1600" dirty="0" err="1"/>
              <a:t>window_type</a:t>
            </a:r>
            <a:r>
              <a:rPr lang="zh-CN" altLang="en-GB" sz="1600" dirty="0"/>
              <a:t>：</a:t>
            </a:r>
            <a:r>
              <a:rPr lang="zh-CN" altLang="en-US" sz="1600" dirty="0"/>
              <a:t>段的类型</a:t>
            </a:r>
            <a:r>
              <a:rPr lang="en-US" altLang="zh-CN" sz="1600" dirty="0"/>
              <a:t>(</a:t>
            </a:r>
            <a:r>
              <a:rPr lang="en-GB" altLang="zh-CN" sz="1600" dirty="0" err="1"/>
              <a:t>pv</a:t>
            </a:r>
            <a:r>
              <a:rPr lang="zh-CN" altLang="en-US" sz="1600" dirty="0"/>
              <a:t>或</a:t>
            </a:r>
            <a:r>
              <a:rPr lang="en-GB" altLang="zh-CN" sz="1600" dirty="0"/>
              <a:t>time)</a:t>
            </a:r>
          </a:p>
          <a:p>
            <a:pPr lvl="0"/>
            <a:r>
              <a:rPr lang="en-GB" altLang="zh-CN" sz="1600" dirty="0" err="1"/>
              <a:t>window_length</a:t>
            </a:r>
            <a:r>
              <a:rPr lang="zh-CN" altLang="en-GB" sz="1600" dirty="0"/>
              <a:t>：</a:t>
            </a:r>
            <a:r>
              <a:rPr lang="zh-CN" altLang="en-US" sz="1600" dirty="0"/>
              <a:t>段长</a:t>
            </a:r>
          </a:p>
          <a:p>
            <a:pPr lvl="0"/>
            <a:r>
              <a:rPr lang="en-GB" altLang="zh-CN" sz="1600" dirty="0" err="1"/>
              <a:t>step_length</a:t>
            </a:r>
            <a:r>
              <a:rPr lang="zh-CN" altLang="en-GB" sz="1600" dirty="0"/>
              <a:t>：</a:t>
            </a:r>
            <a:r>
              <a:rPr lang="zh-CN" altLang="en-US" sz="1600" dirty="0"/>
              <a:t>步长</a:t>
            </a:r>
          </a:p>
          <a:p>
            <a:pPr lvl="0"/>
            <a:endParaRPr lang="en-GB" altLang="zh-CN"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段上限策略</a:t>
            </a:r>
          </a:p>
        </p:txBody>
      </p:sp>
      <p:sp>
        <p:nvSpPr>
          <p:cNvPr id="9" name="文本框 8"/>
          <p:cNvSpPr txBox="1"/>
          <p:nvPr/>
        </p:nvSpPr>
        <p:spPr>
          <a:xfrm>
            <a:off x="462635" y="1721660"/>
            <a:ext cx="4909465" cy="4770537"/>
          </a:xfrm>
          <a:prstGeom prst="rect">
            <a:avLst/>
          </a:prstGeom>
          <a:solidFill>
            <a:schemeClr val="bg1">
              <a:lumMod val="95000"/>
              <a:alpha val="0"/>
            </a:schemeClr>
          </a:solidFill>
          <a:ln>
            <a:noFill/>
          </a:ln>
        </p:spPr>
        <p:txBody>
          <a:bodyPr wrap="square" rtlCol="0">
            <a:spAutoFit/>
          </a:bodyPr>
          <a:lstStyle/>
          <a:p>
            <a:pPr lvl="0"/>
            <a:r>
              <a:rPr lang="en-GB" altLang="zh-CN" sz="1600" dirty="0"/>
              <a:t>[@policy] </a:t>
            </a:r>
          </a:p>
          <a:p>
            <a:pPr lvl="0"/>
            <a:r>
              <a:rPr lang="en-GB" altLang="zh-CN" sz="1600" dirty="0" err="1"/>
              <a:t>policy_type</a:t>
            </a:r>
            <a:r>
              <a:rPr lang="en-GB" altLang="zh-CN" sz="1600" dirty="0"/>
              <a:t> : rule </a:t>
            </a:r>
          </a:p>
          <a:p>
            <a:pPr lvl="0"/>
            <a:r>
              <a:rPr lang="en-GB" altLang="zh-CN" sz="1600" dirty="0" err="1"/>
              <a:t>policy_id</a:t>
            </a:r>
            <a:r>
              <a:rPr lang="en-GB" altLang="zh-CN" sz="1600" dirty="0"/>
              <a:t> : </a:t>
            </a:r>
            <a:r>
              <a:rPr lang="en-US" altLang="zh-CN" sz="1600" dirty="0"/>
              <a:t>48662601</a:t>
            </a:r>
            <a:r>
              <a:rPr lang="en-GB" altLang="zh-CN" sz="1600" dirty="0"/>
              <a:t> </a:t>
            </a:r>
          </a:p>
          <a:p>
            <a:pPr lvl="0"/>
            <a:r>
              <a:rPr lang="en-GB" altLang="zh-CN" sz="1600" dirty="0"/>
              <a:t>[.@rule] </a:t>
            </a:r>
          </a:p>
          <a:p>
            <a:pPr lvl="0"/>
            <a:r>
              <a:rPr lang="en-GB" altLang="zh-CN" sz="1600" dirty="0"/>
              <a:t>threshold : </a:t>
            </a:r>
            <a:r>
              <a:rPr lang="en-US" altLang="zh-CN" sz="1600" dirty="0"/>
              <a:t>10</a:t>
            </a:r>
            <a:endParaRPr lang="en-GB" altLang="zh-CN" sz="1600" dirty="0"/>
          </a:p>
          <a:p>
            <a:pPr lvl="0"/>
            <a:r>
              <a:rPr lang="en-GB" altLang="zh-CN" sz="1600" dirty="0" err="1"/>
              <a:t>feature_id</a:t>
            </a:r>
            <a:r>
              <a:rPr lang="en-GB" altLang="zh-CN" sz="1600" dirty="0"/>
              <a:t> : </a:t>
            </a:r>
            <a:r>
              <a:rPr lang="en-US" altLang="zh-CN" sz="1600" dirty="0"/>
              <a:t>48662601</a:t>
            </a:r>
            <a:r>
              <a:rPr lang="en-GB" altLang="zh-CN" sz="1600" dirty="0"/>
              <a:t> </a:t>
            </a:r>
          </a:p>
          <a:p>
            <a:pPr lvl="0"/>
            <a:r>
              <a:rPr lang="en-GB" altLang="zh-CN" sz="1600" dirty="0" err="1"/>
              <a:t>rule_type</a:t>
            </a:r>
            <a:r>
              <a:rPr lang="en-GB" altLang="zh-CN" sz="1600" dirty="0"/>
              <a:t> : threshold</a:t>
            </a:r>
          </a:p>
          <a:p>
            <a:pPr lvl="0"/>
            <a:r>
              <a:rPr lang="en-GB" altLang="zh-CN" sz="1600" dirty="0">
                <a:solidFill>
                  <a:srgbClr val="000000"/>
                </a:solidFill>
                <a:latin typeface="Helvetica Light" charset="0"/>
                <a:sym typeface="Helvetica Light" charset="0"/>
              </a:rPr>
              <a:t>…</a:t>
            </a:r>
          </a:p>
          <a:p>
            <a:pPr lvl="0"/>
            <a:endParaRPr lang="en-GB" altLang="zh-CN" sz="1600" dirty="0">
              <a:solidFill>
                <a:srgbClr val="000000"/>
              </a:solidFill>
              <a:latin typeface="Helvetica Light" charset="0"/>
              <a:sym typeface="Helvetica Light" charset="0"/>
            </a:endParaRPr>
          </a:p>
          <a:p>
            <a:pPr lvl="0"/>
            <a:r>
              <a:rPr lang="en-GB" altLang="zh-CN" sz="1600" dirty="0"/>
              <a:t>[@feature] </a:t>
            </a:r>
          </a:p>
          <a:p>
            <a:pPr lvl="0"/>
            <a:r>
              <a:rPr lang="en-GB" altLang="zh-CN" sz="1600" dirty="0" err="1"/>
              <a:t>feature_id</a:t>
            </a:r>
            <a:r>
              <a:rPr lang="en-GB" altLang="zh-CN" sz="1600" dirty="0"/>
              <a:t> : </a:t>
            </a:r>
            <a:r>
              <a:rPr lang="en-US" altLang="zh-CN" sz="1600" dirty="0"/>
              <a:t>48662601</a:t>
            </a:r>
            <a:endParaRPr lang="en-GB" altLang="zh-CN" sz="1600" dirty="0"/>
          </a:p>
          <a:p>
            <a:pPr lvl="0"/>
            <a:r>
              <a:rPr lang="en-GB" altLang="zh-CN" sz="1600" dirty="0" err="1"/>
              <a:t>view_level</a:t>
            </a:r>
            <a:r>
              <a:rPr lang="en-GB" altLang="zh-CN" sz="1600" dirty="0"/>
              <a:t> : </a:t>
            </a:r>
            <a:r>
              <a:rPr lang="en-GB" altLang="zh-CN" sz="1600" dirty="0" err="1"/>
              <a:t>click_level</a:t>
            </a:r>
            <a:r>
              <a:rPr lang="en-GB" altLang="zh-CN" sz="1600" dirty="0"/>
              <a:t> </a:t>
            </a:r>
          </a:p>
          <a:p>
            <a:pPr lvl="0"/>
            <a:r>
              <a:rPr lang="en-GB" altLang="zh-CN" sz="1600" dirty="0" err="1"/>
              <a:t>feature_type</a:t>
            </a:r>
            <a:r>
              <a:rPr lang="en-GB" altLang="zh-CN" sz="1600" dirty="0"/>
              <a:t> : </a:t>
            </a:r>
            <a:r>
              <a:rPr lang="en-GB" altLang="zh-CN" sz="1600" dirty="0">
                <a:solidFill>
                  <a:srgbClr val="C00000"/>
                </a:solidFill>
              </a:rPr>
              <a:t>distinct </a:t>
            </a:r>
          </a:p>
          <a:p>
            <a:pPr lvl="0"/>
            <a:r>
              <a:rPr lang="en-GB" altLang="zh-CN" sz="1600" dirty="0"/>
              <a:t>care : ['</a:t>
            </a:r>
            <a:r>
              <a:rPr lang="en-GB" altLang="zh-CN" sz="1600" dirty="0" err="1"/>
              <a:t>is_wireless</a:t>
            </a:r>
            <a:r>
              <a:rPr lang="en-GB" altLang="zh-CN" sz="1600" dirty="0"/>
              <a:t>':='1']</a:t>
            </a:r>
          </a:p>
          <a:p>
            <a:pPr lvl="0"/>
            <a:r>
              <a:rPr lang="en-GB" altLang="zh-CN" sz="1600" dirty="0"/>
              <a:t>view : </a:t>
            </a:r>
            <a:r>
              <a:rPr lang="en-US" altLang="zh-CN" sz="1600" dirty="0" err="1"/>
              <a:t>clkip</a:t>
            </a:r>
            <a:endParaRPr lang="en-GB" altLang="zh-CN" sz="1600" dirty="0"/>
          </a:p>
          <a:p>
            <a:pPr lvl="0"/>
            <a:r>
              <a:rPr lang="en-GB" altLang="zh-CN" sz="1600" dirty="0" err="1"/>
              <a:t>data_view</a:t>
            </a:r>
            <a:r>
              <a:rPr lang="en-GB" altLang="zh-CN" sz="1600" dirty="0"/>
              <a:t> : </a:t>
            </a:r>
            <a:r>
              <a:rPr lang="en-US" altLang="zh-CN" sz="1600" dirty="0" err="1"/>
              <a:t>baiduid</a:t>
            </a:r>
            <a:r>
              <a:rPr lang="en-GB" altLang="zh-CN" sz="1600" dirty="0"/>
              <a:t> </a:t>
            </a:r>
          </a:p>
          <a:p>
            <a:pPr lvl="0"/>
            <a:r>
              <a:rPr lang="en-GB" altLang="zh-CN" sz="1600" dirty="0" err="1"/>
              <a:t>window_type</a:t>
            </a:r>
            <a:r>
              <a:rPr lang="en-GB" altLang="zh-CN" sz="1600" dirty="0"/>
              <a:t> : time </a:t>
            </a:r>
          </a:p>
          <a:p>
            <a:pPr lvl="0"/>
            <a:r>
              <a:rPr lang="en-GB" altLang="zh-CN" sz="1600" dirty="0"/>
              <a:t>version : 1 </a:t>
            </a:r>
          </a:p>
          <a:p>
            <a:pPr lvl="0"/>
            <a:r>
              <a:rPr lang="en-GB" altLang="zh-CN" sz="1600" dirty="0" err="1"/>
              <a:t>window_length</a:t>
            </a:r>
            <a:r>
              <a:rPr lang="en-GB" altLang="zh-CN" sz="1600" dirty="0"/>
              <a:t> : </a:t>
            </a:r>
            <a:r>
              <a:rPr lang="en-US" altLang="zh-CN" sz="1600" dirty="0"/>
              <a:t>28800</a:t>
            </a:r>
            <a:endParaRPr lang="zh-CN" altLang="en-US" sz="1600" dirty="0"/>
          </a:p>
        </p:txBody>
      </p:sp>
      <p:sp>
        <p:nvSpPr>
          <p:cNvPr id="10" name="文本框 9"/>
          <p:cNvSpPr txBox="1"/>
          <p:nvPr/>
        </p:nvSpPr>
        <p:spPr>
          <a:xfrm>
            <a:off x="5586607" y="1703420"/>
            <a:ext cx="4909465" cy="2308324"/>
          </a:xfrm>
          <a:prstGeom prst="rect">
            <a:avLst/>
          </a:prstGeom>
          <a:solidFill>
            <a:schemeClr val="bg1">
              <a:lumMod val="95000"/>
              <a:alpha val="0"/>
            </a:schemeClr>
          </a:solidFill>
          <a:ln>
            <a:noFill/>
          </a:ln>
        </p:spPr>
        <p:txBody>
          <a:bodyPr wrap="square" rtlCol="0">
            <a:spAutoFit/>
          </a:bodyPr>
          <a:lstStyle/>
          <a:p>
            <a:pPr marL="285750" lvl="0" indent="-285750">
              <a:buFont typeface="Arial" panose="020B0604020202020204" pitchFamily="34" charset="0"/>
              <a:buChar char="•"/>
            </a:pPr>
            <a:r>
              <a:rPr lang="zh-CN" altLang="en-GB" sz="1600" b="1" dirty="0"/>
              <a:t>应用</a:t>
            </a:r>
            <a:r>
              <a:rPr lang="zh-CN" altLang="en-US" sz="1600" b="1" dirty="0"/>
              <a:t>场景：</a:t>
            </a:r>
            <a:endParaRPr lang="en-US" altLang="zh-CN" sz="1600" b="1" dirty="0"/>
          </a:p>
          <a:p>
            <a:r>
              <a:rPr lang="zh-CN" altLang="en-US" sz="1400" dirty="0">
                <a:latin typeface="Times New Roman" panose="02020603050405020304" pitchFamily="18" charset="0"/>
                <a:ea typeface="微软雅黑" panose="020B0503020204020204" pitchFamily="34" charset="-122"/>
              </a:rPr>
              <a:t> </a:t>
            </a:r>
            <a:r>
              <a:rPr lang="zh-CN" altLang="en-US" sz="1600" dirty="0">
                <a:latin typeface="Times New Roman" panose="02020603050405020304" pitchFamily="18" charset="0"/>
                <a:ea typeface="微软雅黑" panose="020B0503020204020204" pitchFamily="34" charset="-122"/>
              </a:rPr>
              <a:t>每</a:t>
            </a:r>
            <a:r>
              <a:rPr lang="en-US" altLang="zh-CN" sz="1600" dirty="0">
                <a:latin typeface="Times New Roman" panose="02020603050405020304" pitchFamily="18" charset="0"/>
                <a:ea typeface="微软雅黑" panose="020B0503020204020204" pitchFamily="34" charset="-122"/>
              </a:rPr>
              <a:t>8</a:t>
            </a:r>
            <a:r>
              <a:rPr lang="zh-CN" altLang="en-US" sz="1600" dirty="0">
                <a:latin typeface="Times New Roman" panose="02020603050405020304" pitchFamily="18" charset="0"/>
                <a:ea typeface="微软雅黑" panose="020B0503020204020204" pitchFamily="34" charset="-122"/>
              </a:rPr>
              <a:t>小时内同一个点击</a:t>
            </a:r>
            <a:r>
              <a:rPr lang="en-US" altLang="zh-CN" sz="1600" dirty="0" err="1">
                <a:latin typeface="Times New Roman" panose="02020603050405020304" pitchFamily="18" charset="0"/>
                <a:ea typeface="微软雅黑" panose="020B0503020204020204" pitchFamily="34" charset="-122"/>
              </a:rPr>
              <a:t>ip</a:t>
            </a:r>
            <a:r>
              <a:rPr lang="zh-CN" altLang="en-US" sz="1600" dirty="0">
                <a:latin typeface="Times New Roman" panose="02020603050405020304" pitchFamily="18" charset="0"/>
                <a:ea typeface="微软雅黑" panose="020B0503020204020204" pitchFamily="34" charset="-122"/>
              </a:rPr>
              <a:t>下出现</a:t>
            </a:r>
            <a:r>
              <a:rPr lang="en-US" altLang="zh-CN" sz="1600" dirty="0" err="1">
                <a:latin typeface="Times New Roman" panose="02020603050405020304" pitchFamily="18" charset="0"/>
                <a:ea typeface="微软雅黑" panose="020B0503020204020204" pitchFamily="34" charset="-122"/>
              </a:rPr>
              <a:t>baiduid</a:t>
            </a:r>
            <a:r>
              <a:rPr lang="zh-CN" altLang="en-US" sz="1600" dirty="0">
                <a:latin typeface="Times New Roman" panose="02020603050405020304" pitchFamily="18" charset="0"/>
                <a:ea typeface="微软雅黑" panose="020B0503020204020204" pitchFamily="34" charset="-122"/>
              </a:rPr>
              <a:t>的种类数不超过</a:t>
            </a:r>
            <a:r>
              <a:rPr lang="en-US" altLang="zh-CN" sz="1600" dirty="0">
                <a:latin typeface="Times New Roman" panose="02020603050405020304" pitchFamily="18" charset="0"/>
                <a:ea typeface="微软雅黑" panose="020B0503020204020204" pitchFamily="34" charset="-122"/>
              </a:rPr>
              <a:t>10</a:t>
            </a:r>
            <a:r>
              <a:rPr lang="zh-CN" altLang="en-US" sz="1600" dirty="0">
                <a:latin typeface="Times New Roman" panose="02020603050405020304" pitchFamily="18" charset="0"/>
                <a:ea typeface="微软雅黑" panose="020B0503020204020204" pitchFamily="34" charset="-122"/>
              </a:rPr>
              <a:t>。</a:t>
            </a:r>
            <a:br>
              <a:rPr lang="en-US" altLang="zh-CN" sz="1600" dirty="0">
                <a:latin typeface="Times New Roman" panose="02020603050405020304" pitchFamily="18" charset="0"/>
                <a:ea typeface="微软雅黑" panose="020B0503020204020204" pitchFamily="34" charset="-122"/>
              </a:rPr>
            </a:br>
            <a:r>
              <a:rPr lang="zh-CN" altLang="en-US" sz="1600" dirty="0">
                <a:latin typeface="Times New Roman" panose="02020603050405020304" pitchFamily="18" charset="0"/>
                <a:ea typeface="微软雅黑" panose="020B0503020204020204" pitchFamily="34" charset="-122"/>
              </a:rPr>
              <a:t>去重</a:t>
            </a:r>
            <a:r>
              <a:rPr lang="zh-CN" altLang="en-US" sz="1600" b="1" dirty="0"/>
              <a:t>数目特征（</a:t>
            </a:r>
            <a:r>
              <a:rPr lang="en-US" altLang="zh-CN" sz="1600" b="1" dirty="0"/>
              <a:t>distinct</a:t>
            </a:r>
            <a:r>
              <a:rPr lang="zh-CN" altLang="en-US" sz="1600" b="1" dirty="0"/>
              <a:t> </a:t>
            </a:r>
            <a:r>
              <a:rPr lang="en-US" altLang="zh-CN" sz="1600" b="1" dirty="0"/>
              <a:t>segment</a:t>
            </a:r>
            <a:r>
              <a:rPr lang="zh-CN" altLang="en-US" sz="1600" b="1" dirty="0"/>
              <a:t>）</a:t>
            </a:r>
            <a:r>
              <a:rPr lang="zh-CN" altLang="en-US" sz="1600" dirty="0"/>
              <a:t>：</a:t>
            </a:r>
            <a:endParaRPr lang="en-US" altLang="zh-CN" sz="1600" dirty="0"/>
          </a:p>
          <a:p>
            <a:r>
              <a:rPr lang="zh-CN" altLang="en-US" sz="1600" dirty="0">
                <a:cs typeface="宋体" charset="0"/>
              </a:rPr>
              <a:t>在主维度下，子维度种类数就是去重数目特征</a:t>
            </a:r>
          </a:p>
          <a:p>
            <a:pPr marL="285750" lvl="0" indent="-285750">
              <a:buFont typeface="Arial" panose="020B0604020202020204" pitchFamily="34" charset="0"/>
              <a:buChar char="•"/>
            </a:pPr>
            <a:r>
              <a:rPr lang="zh-CN" altLang="en-GB" sz="1600" b="1" dirty="0"/>
              <a:t>参数</a:t>
            </a:r>
            <a:r>
              <a:rPr lang="zh-CN" altLang="en-US" sz="1600" b="1" dirty="0"/>
              <a:t>说明：</a:t>
            </a:r>
            <a:endParaRPr lang="en-US" altLang="zh-CN" sz="1600" b="1" dirty="0"/>
          </a:p>
          <a:p>
            <a:pPr lvl="0"/>
            <a:r>
              <a:rPr lang="en-GB" altLang="zh-CN" sz="1600" dirty="0"/>
              <a:t>threshold</a:t>
            </a:r>
            <a:r>
              <a:rPr lang="zh-CN" altLang="en-GB" sz="1600" dirty="0"/>
              <a:t>： </a:t>
            </a:r>
            <a:r>
              <a:rPr lang="zh-CN" altLang="en-US" sz="1600" dirty="0"/>
              <a:t>对应特征值的上限阈值。</a:t>
            </a:r>
          </a:p>
          <a:p>
            <a:pPr lvl="0"/>
            <a:r>
              <a:rPr lang="en-GB" altLang="zh-CN" sz="1600" dirty="0" err="1"/>
              <a:t>window_type</a:t>
            </a:r>
            <a:r>
              <a:rPr lang="zh-CN" altLang="en-GB" sz="1600" dirty="0"/>
              <a:t>：</a:t>
            </a:r>
            <a:r>
              <a:rPr lang="zh-CN" altLang="en-US" sz="1600" dirty="0"/>
              <a:t>段的类型</a:t>
            </a:r>
            <a:r>
              <a:rPr lang="en-US" altLang="zh-CN" sz="1600" dirty="0"/>
              <a:t>(</a:t>
            </a:r>
            <a:r>
              <a:rPr lang="en-GB" altLang="zh-CN" sz="1600" dirty="0" err="1"/>
              <a:t>pv</a:t>
            </a:r>
            <a:r>
              <a:rPr lang="zh-CN" altLang="en-US" sz="1600" dirty="0"/>
              <a:t>或</a:t>
            </a:r>
            <a:r>
              <a:rPr lang="en-GB" altLang="zh-CN" sz="1600" dirty="0"/>
              <a:t>time)</a:t>
            </a:r>
          </a:p>
          <a:p>
            <a:pPr lvl="0"/>
            <a:r>
              <a:rPr lang="en-GB" altLang="zh-CN" sz="1600" dirty="0" err="1"/>
              <a:t>window_length</a:t>
            </a:r>
            <a:r>
              <a:rPr lang="zh-CN" altLang="en-GB" sz="1600" dirty="0"/>
              <a:t>：</a:t>
            </a:r>
            <a:r>
              <a:rPr lang="zh-CN" altLang="en-US" sz="1600" dirty="0"/>
              <a:t>段长</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段上限策略</a:t>
            </a:r>
          </a:p>
        </p:txBody>
      </p:sp>
      <p:sp>
        <p:nvSpPr>
          <p:cNvPr id="11" name="文本框 10"/>
          <p:cNvSpPr txBox="1"/>
          <p:nvPr/>
        </p:nvSpPr>
        <p:spPr>
          <a:xfrm>
            <a:off x="405184" y="1892849"/>
            <a:ext cx="3600400" cy="2246769"/>
          </a:xfrm>
          <a:prstGeom prst="rect">
            <a:avLst/>
          </a:prstGeom>
          <a:solidFill>
            <a:schemeClr val="bg1">
              <a:lumMod val="95000"/>
            </a:schemeClr>
          </a:solidFill>
          <a:ln>
            <a:solidFill>
              <a:schemeClr val="tx1">
                <a:lumMod val="50000"/>
                <a:lumOff val="50000"/>
              </a:schemeClr>
            </a:solidFill>
          </a:ln>
        </p:spPr>
        <p:txBody>
          <a:bodyPr wrap="square" rtlCol="0">
            <a:spAutoFit/>
          </a:bodyPr>
          <a:lstStyle/>
          <a:p>
            <a:pPr lvl="0" algn="l"/>
            <a:r>
              <a:rPr lang="en-GB" altLang="zh-CN" sz="1400" dirty="0"/>
              <a:t>[@policy]</a:t>
            </a:r>
          </a:p>
          <a:p>
            <a:pPr lvl="0" algn="l"/>
            <a:r>
              <a:rPr lang="en-GB" altLang="zh-CN" sz="1400" dirty="0" err="1"/>
              <a:t>policy_type</a:t>
            </a:r>
            <a:r>
              <a:rPr lang="en-GB" altLang="zh-CN" sz="1400" dirty="0"/>
              <a:t> : rule</a:t>
            </a:r>
          </a:p>
          <a:p>
            <a:pPr lvl="0" algn="l"/>
            <a:r>
              <a:rPr lang="en-GB" altLang="zh-CN" sz="1400" dirty="0" err="1"/>
              <a:t>policy_id</a:t>
            </a:r>
            <a:r>
              <a:rPr lang="en-GB" altLang="zh-CN" sz="1400" dirty="0"/>
              <a:t> : 710101</a:t>
            </a:r>
          </a:p>
          <a:p>
            <a:pPr lvl="0" algn="l"/>
            <a:r>
              <a:rPr lang="en-GB" altLang="zh-CN" sz="1400" dirty="0"/>
              <a:t>......</a:t>
            </a:r>
          </a:p>
          <a:p>
            <a:pPr lvl="0" algn="l"/>
            <a:r>
              <a:rPr lang="en-GB" altLang="zh-CN" sz="1400" dirty="0"/>
              <a:t>threshold : 600</a:t>
            </a:r>
          </a:p>
          <a:p>
            <a:pPr lvl="0" algn="l"/>
            <a:r>
              <a:rPr lang="en-GB" altLang="zh-CN" sz="1400" dirty="0" err="1"/>
              <a:t>feature_id</a:t>
            </a:r>
            <a:r>
              <a:rPr lang="en-GB" altLang="zh-CN" sz="1400" dirty="0"/>
              <a:t> : 310010101</a:t>
            </a:r>
          </a:p>
          <a:p>
            <a:pPr lvl="0" algn="l"/>
            <a:r>
              <a:rPr lang="en-GB" altLang="zh-CN" sz="1400" dirty="0" err="1"/>
              <a:t>rule_type</a:t>
            </a:r>
            <a:r>
              <a:rPr lang="en-GB" altLang="zh-CN" sz="1400" dirty="0"/>
              <a:t> : combine</a:t>
            </a:r>
          </a:p>
          <a:p>
            <a:pPr lvl="0" algn="l"/>
            <a:r>
              <a:rPr lang="en-GB" altLang="zh-CN" sz="1400" dirty="0">
                <a:solidFill>
                  <a:srgbClr val="C00000"/>
                </a:solidFill>
              </a:rPr>
              <a:t>expression : 3100101 / 3110101</a:t>
            </a:r>
          </a:p>
          <a:p>
            <a:pPr lvl="0" algn="l"/>
            <a:endParaRPr lang="en-GB" altLang="zh-CN" sz="1400" dirty="0">
              <a:solidFill>
                <a:srgbClr val="C00000"/>
              </a:solidFill>
            </a:endParaRPr>
          </a:p>
          <a:p>
            <a:pPr lvl="0" algn="l"/>
            <a:endParaRPr lang="en-GB" altLang="zh-CN" sz="1400" dirty="0">
              <a:solidFill>
                <a:srgbClr val="C00000"/>
              </a:solidFill>
            </a:endParaRPr>
          </a:p>
        </p:txBody>
      </p:sp>
      <p:sp>
        <p:nvSpPr>
          <p:cNvPr id="12" name="矩形 11"/>
          <p:cNvSpPr/>
          <p:nvPr/>
        </p:nvSpPr>
        <p:spPr>
          <a:xfrm>
            <a:off x="4149600" y="1892849"/>
            <a:ext cx="3899272" cy="3754874"/>
          </a:xfrm>
          <a:prstGeom prst="rect">
            <a:avLst/>
          </a:prstGeom>
          <a:solidFill>
            <a:schemeClr val="bg1">
              <a:lumMod val="95000"/>
            </a:schemeClr>
          </a:solidFill>
          <a:ln>
            <a:solidFill>
              <a:schemeClr val="tx1">
                <a:lumMod val="50000"/>
                <a:lumOff val="50000"/>
              </a:schemeClr>
            </a:solidFill>
          </a:ln>
        </p:spPr>
        <p:txBody>
          <a:bodyPr wrap="square" rtlCol="0">
            <a:spAutoFit/>
          </a:bodyPr>
          <a:lstStyle/>
          <a:p>
            <a:pPr algn="l"/>
            <a:r>
              <a:rPr lang="en-GB" altLang="zh-CN" sz="1400" dirty="0"/>
              <a:t>......</a:t>
            </a:r>
          </a:p>
          <a:p>
            <a:pPr algn="l"/>
            <a:r>
              <a:rPr lang="en-GB" altLang="zh-CN" sz="1400" dirty="0"/>
              <a:t>[@feature]</a:t>
            </a:r>
          </a:p>
          <a:p>
            <a:pPr algn="l"/>
            <a:r>
              <a:rPr lang="en-GB" altLang="zh-CN" sz="1400" dirty="0" err="1"/>
              <a:t>feature_id</a:t>
            </a:r>
            <a:r>
              <a:rPr lang="en-GB" altLang="zh-CN" sz="1400" dirty="0"/>
              <a:t> : 3100101</a:t>
            </a:r>
          </a:p>
          <a:p>
            <a:pPr algn="l"/>
            <a:r>
              <a:rPr lang="en-GB" altLang="zh-CN" sz="1400" dirty="0" err="1"/>
              <a:t>view_level</a:t>
            </a:r>
            <a:r>
              <a:rPr lang="en-GB" altLang="zh-CN" sz="1400" dirty="0"/>
              <a:t> : </a:t>
            </a:r>
            <a:r>
              <a:rPr lang="en-GB" altLang="zh-CN" sz="1400" dirty="0" err="1"/>
              <a:t>click_level</a:t>
            </a:r>
            <a:endParaRPr lang="en-GB" altLang="zh-CN" sz="1400" dirty="0"/>
          </a:p>
          <a:p>
            <a:pPr algn="l"/>
            <a:r>
              <a:rPr lang="en-GB" altLang="zh-CN" sz="1400" dirty="0" err="1">
                <a:solidFill>
                  <a:srgbClr val="C00000"/>
                </a:solidFill>
              </a:rPr>
              <a:t>feature_type</a:t>
            </a:r>
            <a:r>
              <a:rPr lang="en-GB" altLang="zh-CN" sz="1400" dirty="0">
                <a:solidFill>
                  <a:srgbClr val="C00000"/>
                </a:solidFill>
              </a:rPr>
              <a:t> : </a:t>
            </a:r>
            <a:r>
              <a:rPr lang="en-GB" altLang="zh-CN" sz="1400" dirty="0" err="1">
                <a:solidFill>
                  <a:srgbClr val="C00000"/>
                </a:solidFill>
              </a:rPr>
              <a:t>sum_segment</a:t>
            </a:r>
            <a:endParaRPr lang="en-GB" altLang="zh-CN" sz="1400" dirty="0">
              <a:solidFill>
                <a:srgbClr val="C00000"/>
              </a:solidFill>
            </a:endParaRPr>
          </a:p>
          <a:p>
            <a:pPr algn="l"/>
            <a:r>
              <a:rPr lang="en-GB" altLang="zh-CN" sz="1400" dirty="0"/>
              <a:t>care : ['</a:t>
            </a:r>
            <a:r>
              <a:rPr lang="en-GB" altLang="zh-CN" sz="1400" dirty="0" err="1"/>
              <a:t>baiduid'VA</a:t>
            </a:r>
            <a:r>
              <a:rPr lang="en-GB" altLang="zh-CN" sz="1400" dirty="0"/>
              <a:t>]['</a:t>
            </a:r>
            <a:r>
              <a:rPr lang="en-GB" altLang="zh-CN" sz="1400" dirty="0" err="1"/>
              <a:t>accessid</a:t>
            </a:r>
            <a:r>
              <a:rPr lang="en-GB" altLang="zh-CN" sz="1400" dirty="0"/>
              <a:t>':='30']['</a:t>
            </a:r>
            <a:r>
              <a:rPr lang="en-GB" altLang="zh-CN" sz="1400" dirty="0" err="1"/>
              <a:t>cmatch</a:t>
            </a:r>
            <a:r>
              <a:rPr lang="en-GB" altLang="zh-CN" sz="1400" dirty="0"/>
              <a:t>':='606','607','652','653','804','812','813','805','810','811','806','807']||['</a:t>
            </a:r>
            <a:r>
              <a:rPr lang="en-GB" altLang="zh-CN" sz="1400" dirty="0" err="1"/>
              <a:t>baiduid'VA</a:t>
            </a:r>
            <a:r>
              <a:rPr lang="en-GB" altLang="zh-CN" sz="1400" dirty="0"/>
              <a:t>]['</a:t>
            </a:r>
            <a:r>
              <a:rPr lang="en-GB" altLang="zh-CN" sz="1400" dirty="0" err="1"/>
              <a:t>accessid</a:t>
            </a:r>
            <a:r>
              <a:rPr lang="en-GB" altLang="zh-CN" sz="1400" dirty="0"/>
              <a:t>':='1','31','37']&amp;&amp;(['</a:t>
            </a:r>
            <a:r>
              <a:rPr lang="en-GB" altLang="zh-CN" sz="1400" dirty="0" err="1"/>
              <a:t>is_wireless</a:t>
            </a:r>
            <a:r>
              <a:rPr lang="en-GB" altLang="zh-CN" sz="1400" dirty="0"/>
              <a:t>':='1']['</a:t>
            </a:r>
            <a:r>
              <a:rPr lang="en-GB" altLang="zh-CN" sz="1400" dirty="0" err="1"/>
              <a:t>flow_group</a:t>
            </a:r>
            <a:r>
              <a:rPr lang="en-GB" altLang="zh-CN" sz="1400" dirty="0"/>
              <a:t>':='wise_union_</a:t>
            </a:r>
            <a:r>
              <a:rPr lang="en-GB" altLang="zh-CN" sz="1400" dirty="0" err="1"/>
              <a:t>cpro</a:t>
            </a:r>
            <a:r>
              <a:rPr lang="en-GB" altLang="zh-CN" sz="1400" dirty="0"/>
              <a:t>','app_lu_mid','</a:t>
            </a:r>
            <a:r>
              <a:rPr lang="en-GB" altLang="zh-CN" sz="1400" dirty="0" err="1"/>
              <a:t>union_cpro</a:t>
            </a:r>
            <a:r>
              <a:rPr lang="en-GB" altLang="zh-CN" sz="1400" dirty="0"/>
              <a:t>']||['</a:t>
            </a:r>
            <a:r>
              <a:rPr lang="en-GB" altLang="zh-CN" sz="1400" dirty="0" err="1"/>
              <a:t>cmatch</a:t>
            </a:r>
            <a:r>
              <a:rPr lang="en-GB" altLang="zh-CN" sz="1400" dirty="0"/>
              <a:t>':='354'])</a:t>
            </a:r>
          </a:p>
          <a:p>
            <a:pPr algn="l"/>
            <a:r>
              <a:rPr lang="en-GB" altLang="zh-CN" sz="1400" dirty="0">
                <a:solidFill>
                  <a:srgbClr val="C00000"/>
                </a:solidFill>
              </a:rPr>
              <a:t>view : </a:t>
            </a:r>
            <a:r>
              <a:rPr lang="en-GB" altLang="zh-CN" sz="1400" dirty="0" err="1">
                <a:solidFill>
                  <a:srgbClr val="C00000"/>
                </a:solidFill>
              </a:rPr>
              <a:t>baiduid</a:t>
            </a:r>
            <a:endParaRPr lang="en-GB" altLang="zh-CN" sz="1400" dirty="0">
              <a:solidFill>
                <a:srgbClr val="C00000"/>
              </a:solidFill>
            </a:endParaRPr>
          </a:p>
          <a:p>
            <a:pPr algn="l"/>
            <a:r>
              <a:rPr lang="en-GB" altLang="zh-CN" sz="1400" dirty="0" err="1">
                <a:solidFill>
                  <a:srgbClr val="C00000"/>
                </a:solidFill>
              </a:rPr>
              <a:t>data_view</a:t>
            </a:r>
            <a:r>
              <a:rPr lang="en-GB" altLang="zh-CN" sz="1400" dirty="0">
                <a:solidFill>
                  <a:srgbClr val="C00000"/>
                </a:solidFill>
              </a:rPr>
              <a:t> : price</a:t>
            </a:r>
          </a:p>
          <a:p>
            <a:pPr algn="l"/>
            <a:r>
              <a:rPr lang="en-GB" altLang="zh-CN" sz="1400" dirty="0" err="1"/>
              <a:t>window_type</a:t>
            </a:r>
            <a:r>
              <a:rPr lang="en-GB" altLang="zh-CN" sz="1400" dirty="0"/>
              <a:t> : time</a:t>
            </a:r>
          </a:p>
          <a:p>
            <a:pPr algn="l"/>
            <a:r>
              <a:rPr lang="en-GB" altLang="zh-CN" sz="1400" dirty="0"/>
              <a:t>version : 1</a:t>
            </a:r>
          </a:p>
          <a:p>
            <a:pPr algn="l"/>
            <a:r>
              <a:rPr lang="en-GB" altLang="zh-CN" sz="1400" dirty="0" err="1"/>
              <a:t>window_length</a:t>
            </a:r>
            <a:r>
              <a:rPr lang="en-GB" altLang="zh-CN" sz="1400" dirty="0"/>
              <a:t> : 86400</a:t>
            </a:r>
          </a:p>
          <a:p>
            <a:pPr algn="l"/>
            <a:endParaRPr lang="en-GB" altLang="zh-CN" sz="1400" dirty="0"/>
          </a:p>
        </p:txBody>
      </p:sp>
      <p:sp>
        <p:nvSpPr>
          <p:cNvPr id="13" name="矩形 12"/>
          <p:cNvSpPr/>
          <p:nvPr/>
        </p:nvSpPr>
        <p:spPr>
          <a:xfrm>
            <a:off x="8191486" y="1888791"/>
            <a:ext cx="3899272" cy="3754874"/>
          </a:xfrm>
          <a:prstGeom prst="rect">
            <a:avLst/>
          </a:prstGeom>
          <a:solidFill>
            <a:schemeClr val="bg1">
              <a:lumMod val="95000"/>
            </a:schemeClr>
          </a:solidFill>
          <a:ln>
            <a:solidFill>
              <a:schemeClr val="tx1">
                <a:lumMod val="50000"/>
                <a:lumOff val="50000"/>
              </a:schemeClr>
            </a:solidFill>
          </a:ln>
        </p:spPr>
        <p:txBody>
          <a:bodyPr wrap="square" rtlCol="0">
            <a:spAutoFit/>
          </a:bodyPr>
          <a:lstStyle/>
          <a:p>
            <a:pPr algn="l"/>
            <a:endParaRPr lang="en-GB" altLang="zh-CN" sz="1400" dirty="0"/>
          </a:p>
          <a:p>
            <a:pPr algn="l"/>
            <a:r>
              <a:rPr lang="en-GB" altLang="zh-CN" sz="1400" dirty="0"/>
              <a:t>[@feature]</a:t>
            </a:r>
          </a:p>
          <a:p>
            <a:pPr algn="l"/>
            <a:r>
              <a:rPr lang="en-GB" altLang="zh-CN" sz="1400" dirty="0" err="1"/>
              <a:t>feature_id</a:t>
            </a:r>
            <a:r>
              <a:rPr lang="en-GB" altLang="zh-CN" sz="1400" dirty="0"/>
              <a:t> : 3110101</a:t>
            </a:r>
          </a:p>
          <a:p>
            <a:pPr algn="l"/>
            <a:r>
              <a:rPr lang="en-GB" altLang="zh-CN" sz="1400" dirty="0" err="1"/>
              <a:t>view_level</a:t>
            </a:r>
            <a:r>
              <a:rPr lang="en-GB" altLang="zh-CN" sz="1400" dirty="0"/>
              <a:t> : </a:t>
            </a:r>
            <a:r>
              <a:rPr lang="en-GB" altLang="zh-CN" sz="1400" dirty="0" err="1"/>
              <a:t>click_level</a:t>
            </a:r>
            <a:endParaRPr lang="en-GB" altLang="zh-CN" sz="1400" dirty="0"/>
          </a:p>
          <a:p>
            <a:pPr algn="l"/>
            <a:r>
              <a:rPr lang="en-GB" altLang="zh-CN" sz="1400" dirty="0" err="1">
                <a:solidFill>
                  <a:srgbClr val="C00000"/>
                </a:solidFill>
              </a:rPr>
              <a:t>feature_type</a:t>
            </a:r>
            <a:r>
              <a:rPr lang="en-GB" altLang="zh-CN" sz="1400" dirty="0">
                <a:solidFill>
                  <a:srgbClr val="C00000"/>
                </a:solidFill>
              </a:rPr>
              <a:t> : segment</a:t>
            </a:r>
          </a:p>
          <a:p>
            <a:pPr algn="l"/>
            <a:r>
              <a:rPr lang="en-GB" altLang="zh-CN" sz="1400" dirty="0"/>
              <a:t>care : ['</a:t>
            </a:r>
            <a:r>
              <a:rPr lang="en-GB" altLang="zh-CN" sz="1400" dirty="0" err="1"/>
              <a:t>baiduid'VA</a:t>
            </a:r>
            <a:r>
              <a:rPr lang="en-GB" altLang="zh-CN" sz="1400" dirty="0"/>
              <a:t>]['</a:t>
            </a:r>
            <a:r>
              <a:rPr lang="en-GB" altLang="zh-CN" sz="1400" dirty="0" err="1"/>
              <a:t>accessid</a:t>
            </a:r>
            <a:r>
              <a:rPr lang="en-GB" altLang="zh-CN" sz="1400" dirty="0"/>
              <a:t>':='30']['</a:t>
            </a:r>
            <a:r>
              <a:rPr lang="en-GB" altLang="zh-CN" sz="1400" dirty="0" err="1"/>
              <a:t>cmatch</a:t>
            </a:r>
            <a:r>
              <a:rPr lang="en-GB" altLang="zh-CN" sz="1400" dirty="0"/>
              <a:t>':='606','607','652','653','804','812','813','805','810','811','806','807']||['</a:t>
            </a:r>
            <a:r>
              <a:rPr lang="en-GB" altLang="zh-CN" sz="1400" dirty="0" err="1"/>
              <a:t>baiduid'VA</a:t>
            </a:r>
            <a:r>
              <a:rPr lang="en-GB" altLang="zh-CN" sz="1400" dirty="0"/>
              <a:t>]['</a:t>
            </a:r>
            <a:r>
              <a:rPr lang="en-GB" altLang="zh-CN" sz="1400" dirty="0" err="1"/>
              <a:t>accessid</a:t>
            </a:r>
            <a:r>
              <a:rPr lang="en-GB" altLang="zh-CN" sz="1400" dirty="0"/>
              <a:t>':='1','31','37']&amp;&amp;(['</a:t>
            </a:r>
            <a:r>
              <a:rPr lang="en-GB" altLang="zh-CN" sz="1400" dirty="0" err="1"/>
              <a:t>is_wireless</a:t>
            </a:r>
            <a:r>
              <a:rPr lang="en-GB" altLang="zh-CN" sz="1400" dirty="0"/>
              <a:t>':='1']['</a:t>
            </a:r>
            <a:r>
              <a:rPr lang="en-GB" altLang="zh-CN" sz="1400" dirty="0" err="1"/>
              <a:t>flow_group</a:t>
            </a:r>
            <a:r>
              <a:rPr lang="en-GB" altLang="zh-CN" sz="1400" dirty="0"/>
              <a:t>':='wise_union_</a:t>
            </a:r>
            <a:r>
              <a:rPr lang="en-GB" altLang="zh-CN" sz="1400" dirty="0" err="1"/>
              <a:t>cpro</a:t>
            </a:r>
            <a:r>
              <a:rPr lang="en-GB" altLang="zh-CN" sz="1400" dirty="0"/>
              <a:t>','app_lu_mid','</a:t>
            </a:r>
            <a:r>
              <a:rPr lang="en-GB" altLang="zh-CN" sz="1400" dirty="0" err="1"/>
              <a:t>union_cpro</a:t>
            </a:r>
            <a:r>
              <a:rPr lang="en-GB" altLang="zh-CN" sz="1400" dirty="0"/>
              <a:t>']||['</a:t>
            </a:r>
            <a:r>
              <a:rPr lang="en-GB" altLang="zh-CN" sz="1400" dirty="0" err="1"/>
              <a:t>cmatch</a:t>
            </a:r>
            <a:r>
              <a:rPr lang="en-GB" altLang="zh-CN" sz="1400" dirty="0"/>
              <a:t>':='354'])</a:t>
            </a:r>
          </a:p>
          <a:p>
            <a:pPr algn="l"/>
            <a:r>
              <a:rPr lang="en-GB" altLang="zh-CN" sz="1400" dirty="0">
                <a:solidFill>
                  <a:srgbClr val="C00000"/>
                </a:solidFill>
              </a:rPr>
              <a:t>view : </a:t>
            </a:r>
            <a:r>
              <a:rPr lang="en-GB" altLang="zh-CN" sz="1400" dirty="0" err="1">
                <a:solidFill>
                  <a:srgbClr val="C00000"/>
                </a:solidFill>
              </a:rPr>
              <a:t>baiduid</a:t>
            </a:r>
            <a:endParaRPr lang="en-GB" altLang="zh-CN" sz="1400" dirty="0">
              <a:solidFill>
                <a:srgbClr val="C00000"/>
              </a:solidFill>
            </a:endParaRPr>
          </a:p>
          <a:p>
            <a:pPr algn="l"/>
            <a:r>
              <a:rPr lang="en-GB" altLang="zh-CN" sz="1400" dirty="0" err="1"/>
              <a:t>window_type</a:t>
            </a:r>
            <a:r>
              <a:rPr lang="en-GB" altLang="zh-CN" sz="1400" dirty="0"/>
              <a:t> : time</a:t>
            </a:r>
          </a:p>
          <a:p>
            <a:pPr algn="l"/>
            <a:r>
              <a:rPr lang="en-GB" altLang="zh-CN" sz="1400" dirty="0"/>
              <a:t>version : 1</a:t>
            </a:r>
          </a:p>
          <a:p>
            <a:pPr algn="l"/>
            <a:r>
              <a:rPr lang="en-GB" altLang="zh-CN" sz="1400" dirty="0" err="1"/>
              <a:t>window_length</a:t>
            </a:r>
            <a:r>
              <a:rPr lang="en-GB" altLang="zh-CN" sz="1400" dirty="0"/>
              <a:t> : 86400</a:t>
            </a:r>
          </a:p>
          <a:p>
            <a:pPr algn="l"/>
            <a:endParaRPr lang="en-US" altLang="zh-CN" sz="1400" dirty="0"/>
          </a:p>
          <a:p>
            <a:pPr algn="l"/>
            <a:endParaRPr lang="zh-CN" altLang="en-US" sz="1400" dirty="0"/>
          </a:p>
        </p:txBody>
      </p:sp>
      <p:sp>
        <p:nvSpPr>
          <p:cNvPr id="3" name="文本框 2"/>
          <p:cNvSpPr txBox="1"/>
          <p:nvPr/>
        </p:nvSpPr>
        <p:spPr>
          <a:xfrm>
            <a:off x="101242" y="4495800"/>
            <a:ext cx="4178658" cy="1200329"/>
          </a:xfrm>
          <a:prstGeom prst="rect">
            <a:avLst/>
          </a:prstGeom>
          <a:noFill/>
        </p:spPr>
        <p:txBody>
          <a:bodyPr wrap="square" rtlCol="0">
            <a:spAutoFit/>
          </a:bodyPr>
          <a:lstStyle/>
          <a:p>
            <a:r>
              <a:rPr lang="zh-CN" altLang="en-US" dirty="0"/>
              <a:t>策略</a:t>
            </a:r>
            <a:r>
              <a:rPr lang="en-US" altLang="zh-CN" dirty="0"/>
              <a:t>710101</a:t>
            </a:r>
            <a:r>
              <a:rPr lang="zh-CN" altLang="en-US" dirty="0"/>
              <a:t>是组合策略，表示每天同一个</a:t>
            </a:r>
            <a:r>
              <a:rPr lang="en-GB" altLang="zh-CN" dirty="0" err="1"/>
              <a:t>baiduid</a:t>
            </a:r>
            <a:r>
              <a:rPr lang="zh-CN" altLang="en-US" dirty="0"/>
              <a:t>的平均点击价格不能超过</a:t>
            </a:r>
            <a:r>
              <a:rPr lang="en-US" altLang="zh-CN" dirty="0"/>
              <a:t>600</a:t>
            </a:r>
            <a:r>
              <a:rPr lang="zh-CN" altLang="en-US" dirty="0"/>
              <a:t>。</a:t>
            </a:r>
            <a:endParaRPr lang="en-US" altLang="zh-CN" dirty="0"/>
          </a:p>
          <a:p>
            <a:r>
              <a:rPr lang="zh-CN" altLang="en-US" dirty="0"/>
              <a:t>使用特征：子数目特征（</a:t>
            </a:r>
            <a:r>
              <a:rPr lang="en-US" altLang="zh-CN" dirty="0" err="1"/>
              <a:t>sum_segment</a:t>
            </a:r>
            <a:r>
              <a:rPr lang="zh-CN" altLang="en-US" dirty="0"/>
              <a:t>）</a:t>
            </a:r>
            <a:endParaRPr lang="en-US" altLang="zh-CN" dirty="0"/>
          </a:p>
          <a:p>
            <a:endParaRPr kumimoji="1"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369332"/>
          </a:xfrm>
          <a:prstGeom prst="rect">
            <a:avLst/>
          </a:prstGeom>
          <a:noFill/>
        </p:spPr>
        <p:txBody>
          <a:bodyPr wrap="square" rtlCol="0">
            <a:spAutoFit/>
          </a:bodyPr>
          <a:lstStyle/>
          <a:p>
            <a:r>
              <a:rPr kumimoji="1" lang="zh-CN" altLang="en-US" b="1" dirty="0"/>
              <a:t>统计类策略</a:t>
            </a:r>
            <a:r>
              <a:rPr kumimoji="1" lang="en-US" altLang="zh-CN" b="1" dirty="0"/>
              <a:t>_segment</a:t>
            </a:r>
            <a:r>
              <a:rPr kumimoji="1" lang="zh-CN" altLang="en-US" b="1" dirty="0"/>
              <a:t>类策略</a:t>
            </a:r>
          </a:p>
        </p:txBody>
      </p:sp>
      <p:sp>
        <p:nvSpPr>
          <p:cNvPr id="14" name="内容占位符 2"/>
          <p:cNvSpPr>
            <a:spLocks noGrp="1"/>
          </p:cNvSpPr>
          <p:nvPr>
            <p:ph idx="1"/>
          </p:nvPr>
        </p:nvSpPr>
        <p:spPr>
          <a:xfrm>
            <a:off x="1263876" y="2295109"/>
            <a:ext cx="8143195" cy="3874046"/>
          </a:xfrm>
        </p:spPr>
        <p:txBody>
          <a:bodyPr>
            <a:noAutofit/>
          </a:bodyPr>
          <a:lstStyle/>
          <a:p>
            <a:pPr marL="0" indent="0">
              <a:spcAft>
                <a:spcPts val="600"/>
              </a:spcAft>
              <a:buSzPct val="120000"/>
              <a:buNone/>
            </a:pPr>
            <a:r>
              <a:rPr kumimoji="1" lang="zh-CN" altLang="en-US" sz="1800" b="1" dirty="0">
                <a:solidFill>
                  <a:srgbClr val="0062B0"/>
                </a:solidFill>
                <a:latin typeface="微软雅黑" panose="020B0503020204020204" pitchFamily="34" charset="-122"/>
                <a:ea typeface="微软雅黑" panose="020B0503020204020204" pitchFamily="34" charset="-122"/>
              </a:rPr>
              <a:t>示例</a:t>
            </a:r>
            <a:endParaRPr kumimoji="1" lang="en-US" altLang="zh-CN" sz="1800" b="1" dirty="0">
              <a:solidFill>
                <a:srgbClr val="0062B0"/>
              </a:solidFill>
              <a:latin typeface="微软雅黑" panose="020B0503020204020204" pitchFamily="34" charset="-122"/>
              <a:ea typeface="微软雅黑" panose="020B0503020204020204" pitchFamily="34" charset="-122"/>
            </a:endParaRPr>
          </a:p>
          <a:p>
            <a:pPr>
              <a:spcAft>
                <a:spcPts val="600"/>
              </a:spcAft>
              <a:buSzPct val="120000"/>
            </a:pPr>
            <a:r>
              <a:rPr kumimoji="1" lang="zh-CN" altLang="en-US" sz="1600" dirty="0">
                <a:latin typeface="微软雅黑" panose="020B0503020204020204" pitchFamily="34" charset="-122"/>
                <a:ea typeface="微软雅黑" panose="020B0503020204020204" pitchFamily="34" charset="-122"/>
                <a:cs typeface="宋体" charset="0"/>
              </a:rPr>
              <a:t>同一</a:t>
            </a:r>
            <a:r>
              <a:rPr kumimoji="1" lang="en-US" altLang="zh-CN" sz="1600" dirty="0" err="1">
                <a:latin typeface="微软雅黑" panose="020B0503020204020204" pitchFamily="34" charset="-122"/>
                <a:ea typeface="微软雅黑" panose="020B0503020204020204" pitchFamily="34" charset="-122"/>
                <a:cs typeface="宋体" charset="0"/>
              </a:rPr>
              <a:t>baiduid</a:t>
            </a:r>
            <a:r>
              <a:rPr kumimoji="1" lang="zh-CN" altLang="en-US" sz="1600" dirty="0">
                <a:latin typeface="微软雅黑" panose="020B0503020204020204" pitchFamily="34" charset="-122"/>
                <a:ea typeface="微软雅黑" panose="020B0503020204020204" pitchFamily="34" charset="-122"/>
                <a:cs typeface="宋体" charset="0"/>
              </a:rPr>
              <a:t>下有</a:t>
            </a:r>
            <a:r>
              <a:rPr kumimoji="1" lang="en-US" altLang="zh-CN" sz="1600" dirty="0">
                <a:latin typeface="微软雅黑" panose="020B0503020204020204" pitchFamily="34" charset="-122"/>
                <a:ea typeface="微软雅黑" panose="020B0503020204020204" pitchFamily="34" charset="-122"/>
                <a:cs typeface="宋体" charset="0"/>
              </a:rPr>
              <a:t>6</a:t>
            </a:r>
            <a:r>
              <a:rPr kumimoji="1" lang="zh-CN" altLang="en-US" sz="1600" dirty="0">
                <a:latin typeface="微软雅黑" panose="020B0503020204020204" pitchFamily="34" charset="-122"/>
                <a:ea typeface="微软雅黑" panose="020B0503020204020204" pitchFamily="34" charset="-122"/>
                <a:cs typeface="宋体" charset="0"/>
              </a:rPr>
              <a:t>条日志，所含</a:t>
            </a:r>
            <a:r>
              <a:rPr kumimoji="1" lang="en-US" altLang="zh-CN" sz="1600" dirty="0">
                <a:latin typeface="微软雅黑" panose="020B0503020204020204" pitchFamily="34" charset="-122"/>
                <a:ea typeface="微软雅黑" panose="020B0503020204020204" pitchFamily="34" charset="-122"/>
                <a:cs typeface="宋体" charset="0"/>
              </a:rPr>
              <a:t>price</a:t>
            </a:r>
            <a:r>
              <a:rPr kumimoji="1" lang="zh-CN" altLang="en-US" sz="1600" dirty="0">
                <a:latin typeface="微软雅黑" panose="020B0503020204020204" pitchFamily="34" charset="-122"/>
                <a:ea typeface="微软雅黑" panose="020B0503020204020204" pitchFamily="34" charset="-122"/>
                <a:cs typeface="宋体" charset="0"/>
              </a:rPr>
              <a:t>为：</a:t>
            </a:r>
            <a:r>
              <a:rPr kumimoji="1" lang="en-US" altLang="zh-CN" sz="1600" dirty="0">
                <a:latin typeface="微软雅黑" panose="020B0503020204020204" pitchFamily="34" charset="-122"/>
                <a:ea typeface="微软雅黑" panose="020B0503020204020204" pitchFamily="34" charset="-122"/>
                <a:cs typeface="宋体" charset="0"/>
              </a:rPr>
              <a:t>1,</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1,</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2,</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2,</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3,</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3</a:t>
            </a:r>
            <a:r>
              <a:rPr kumimoji="1" lang="zh-CN" altLang="en-US" sz="1600" dirty="0">
                <a:latin typeface="微软雅黑" panose="020B0503020204020204" pitchFamily="34" charset="-122"/>
                <a:ea typeface="微软雅黑" panose="020B0503020204020204" pitchFamily="34" charset="-122"/>
                <a:cs typeface="宋体" charset="0"/>
              </a:rPr>
              <a:t>，</a:t>
            </a:r>
            <a:r>
              <a:rPr kumimoji="1" lang="en-US" altLang="zh-CN" sz="1600" dirty="0" err="1">
                <a:latin typeface="微软雅黑" panose="020B0503020204020204" pitchFamily="34" charset="-122"/>
                <a:ea typeface="微软雅黑" panose="020B0503020204020204" pitchFamily="34" charset="-122"/>
                <a:cs typeface="宋体" charset="0"/>
              </a:rPr>
              <a:t>ua</a:t>
            </a:r>
            <a:r>
              <a:rPr kumimoji="1" lang="zh-CN" altLang="en-US" sz="1600" dirty="0">
                <a:latin typeface="微软雅黑" panose="020B0503020204020204" pitchFamily="34" charset="-122"/>
                <a:ea typeface="微软雅黑" panose="020B0503020204020204" pitchFamily="34" charset="-122"/>
                <a:cs typeface="宋体" charset="0"/>
              </a:rPr>
              <a:t>为：</a:t>
            </a:r>
            <a:r>
              <a:rPr kumimoji="1" lang="en-US" altLang="zh-CN" sz="1600" dirty="0">
                <a:latin typeface="微软雅黑" panose="020B0503020204020204" pitchFamily="34" charset="-122"/>
                <a:ea typeface="微软雅黑" panose="020B0503020204020204" pitchFamily="34" charset="-122"/>
                <a:cs typeface="宋体" charset="0"/>
              </a:rPr>
              <a:t>ua1,</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ua1,</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ua1,</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ua2,</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ua2,</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ua2</a:t>
            </a:r>
          </a:p>
          <a:p>
            <a:pPr marL="0" indent="0">
              <a:spcAft>
                <a:spcPts val="600"/>
              </a:spcAft>
              <a:buSzPct val="120000"/>
              <a:buNone/>
            </a:pPr>
            <a:r>
              <a:rPr kumimoji="1" lang="zh-CN" altLang="en-US" sz="1800" b="1" dirty="0">
                <a:solidFill>
                  <a:srgbClr val="0062B0"/>
                </a:solidFill>
                <a:latin typeface="微软雅黑" panose="020B0503020204020204" pitchFamily="34" charset="-122"/>
                <a:ea typeface="微软雅黑" panose="020B0503020204020204" pitchFamily="34" charset="-122"/>
              </a:rPr>
              <a:t>可用特征</a:t>
            </a:r>
            <a:endParaRPr kumimoji="1" lang="en-US" altLang="zh-CN" sz="1800" b="1" dirty="0">
              <a:solidFill>
                <a:srgbClr val="0062B0"/>
              </a:solidFill>
              <a:latin typeface="微软雅黑" panose="020B0503020204020204" pitchFamily="34" charset="-122"/>
              <a:ea typeface="微软雅黑" panose="020B0503020204020204" pitchFamily="34" charset="-122"/>
            </a:endParaRPr>
          </a:p>
          <a:p>
            <a:pPr>
              <a:spcAft>
                <a:spcPts val="600"/>
              </a:spcAft>
              <a:buSzPct val="120000"/>
            </a:pPr>
            <a:r>
              <a:rPr kumimoji="1" lang="en-US" altLang="zh-CN" sz="1600" dirty="0">
                <a:latin typeface="微软雅黑" panose="020B0503020204020204" pitchFamily="34" charset="-122"/>
                <a:ea typeface="微软雅黑" panose="020B0503020204020204" pitchFamily="34" charset="-122"/>
                <a:cs typeface="宋体" charset="0"/>
              </a:rPr>
              <a:t>price</a:t>
            </a:r>
            <a:r>
              <a:rPr kumimoji="1" lang="zh-CN" altLang="en-US" sz="1600" dirty="0">
                <a:latin typeface="微软雅黑" panose="020B0503020204020204" pitchFamily="34" charset="-122"/>
                <a:ea typeface="微软雅黑" panose="020B0503020204020204" pitchFamily="34" charset="-122"/>
                <a:cs typeface="宋体" charset="0"/>
              </a:rPr>
              <a:t>的数目特征</a:t>
            </a:r>
            <a:r>
              <a:rPr kumimoji="1" lang="en-US" altLang="zh-CN" sz="1600" dirty="0">
                <a:latin typeface="微软雅黑" panose="020B0503020204020204" pitchFamily="34" charset="-122"/>
                <a:ea typeface="微软雅黑" panose="020B0503020204020204" pitchFamily="34" charset="-122"/>
                <a:cs typeface="宋体" charset="0"/>
              </a:rPr>
              <a:t>(segment) :</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6</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-&gt;</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6</a:t>
            </a:r>
            <a:r>
              <a:rPr kumimoji="1" lang="zh-CN" altLang="en-US" sz="1600" dirty="0">
                <a:latin typeface="微软雅黑" panose="020B0503020204020204" pitchFamily="34" charset="-122"/>
                <a:ea typeface="微软雅黑" panose="020B0503020204020204" pitchFamily="34" charset="-122"/>
                <a:cs typeface="宋体" charset="0"/>
              </a:rPr>
              <a:t>条数据</a:t>
            </a:r>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SzPct val="120000"/>
            </a:pPr>
            <a:r>
              <a:rPr kumimoji="1" lang="en-US" altLang="zh-CN" sz="1600" dirty="0" err="1">
                <a:latin typeface="微软雅黑" panose="020B0503020204020204" pitchFamily="34" charset="-122"/>
                <a:ea typeface="微软雅黑" panose="020B0503020204020204" pitchFamily="34" charset="-122"/>
                <a:cs typeface="宋体" charset="0"/>
              </a:rPr>
              <a:t>ua</a:t>
            </a:r>
            <a:r>
              <a:rPr kumimoji="1" lang="zh-CN" altLang="en-US" sz="1600" dirty="0">
                <a:latin typeface="微软雅黑" panose="020B0503020204020204" pitchFamily="34" charset="-122"/>
                <a:ea typeface="微软雅黑" panose="020B0503020204020204" pitchFamily="34" charset="-122"/>
                <a:cs typeface="宋体" charset="0"/>
              </a:rPr>
              <a:t>的去重数目特征</a:t>
            </a:r>
            <a:r>
              <a:rPr kumimoji="1" lang="en-US" altLang="zh-CN" sz="1600" dirty="0">
                <a:latin typeface="微软雅黑" panose="020B0503020204020204" pitchFamily="34" charset="-122"/>
                <a:ea typeface="微软雅黑" panose="020B0503020204020204" pitchFamily="34" charset="-122"/>
                <a:cs typeface="宋体" charset="0"/>
              </a:rPr>
              <a:t>(</a:t>
            </a:r>
            <a:r>
              <a:rPr kumimoji="1" lang="en-US" altLang="zh-CN" sz="1600" dirty="0" err="1">
                <a:latin typeface="微软雅黑" panose="020B0503020204020204" pitchFamily="34" charset="-122"/>
                <a:ea typeface="微软雅黑" panose="020B0503020204020204" pitchFamily="34" charset="-122"/>
                <a:cs typeface="宋体" charset="0"/>
              </a:rPr>
              <a:t>distinct_segment</a:t>
            </a:r>
            <a:r>
              <a:rPr kumimoji="1" lang="en-US" altLang="zh-CN" sz="1600" dirty="0">
                <a:latin typeface="微软雅黑" panose="020B0503020204020204" pitchFamily="34" charset="-122"/>
                <a:ea typeface="微软雅黑" panose="020B0503020204020204" pitchFamily="34" charset="-122"/>
                <a:cs typeface="宋体" charset="0"/>
              </a:rPr>
              <a:t>) :</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2</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-&gt;</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2</a:t>
            </a:r>
            <a:r>
              <a:rPr kumimoji="1" lang="zh-CN" altLang="en-US" sz="1600" dirty="0">
                <a:latin typeface="微软雅黑" panose="020B0503020204020204" pitchFamily="34" charset="-122"/>
                <a:ea typeface="微软雅黑" panose="020B0503020204020204" pitchFamily="34" charset="-122"/>
                <a:cs typeface="宋体" charset="0"/>
              </a:rPr>
              <a:t>个不同的数值：</a:t>
            </a:r>
            <a:r>
              <a:rPr kumimoji="1" lang="en-US" altLang="zh-CN" sz="1600" dirty="0">
                <a:latin typeface="微软雅黑" panose="020B0503020204020204" pitchFamily="34" charset="-122"/>
                <a:ea typeface="微软雅黑" panose="020B0503020204020204" pitchFamily="34" charset="-122"/>
                <a:cs typeface="宋体" charset="0"/>
              </a:rPr>
              <a:t> ua1,</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ua2 </a:t>
            </a:r>
          </a:p>
          <a:p>
            <a:pPr>
              <a:spcAft>
                <a:spcPts val="600"/>
              </a:spcAft>
              <a:buSzPct val="120000"/>
            </a:pPr>
            <a:r>
              <a:rPr kumimoji="1" lang="en-US" altLang="zh-CN" sz="1600" dirty="0">
                <a:latin typeface="微软雅黑" panose="020B0503020204020204" pitchFamily="34" charset="-122"/>
                <a:ea typeface="微软雅黑" panose="020B0503020204020204" pitchFamily="34" charset="-122"/>
                <a:cs typeface="宋体" charset="0"/>
              </a:rPr>
              <a:t>price</a:t>
            </a:r>
            <a:r>
              <a:rPr kumimoji="1" lang="zh-CN" altLang="en-US" sz="1600" dirty="0">
                <a:latin typeface="微软雅黑" panose="020B0503020204020204" pitchFamily="34" charset="-122"/>
                <a:ea typeface="微软雅黑" panose="020B0503020204020204" pitchFamily="34" charset="-122"/>
                <a:cs typeface="宋体" charset="0"/>
              </a:rPr>
              <a:t>的子数目特征</a:t>
            </a:r>
            <a:r>
              <a:rPr kumimoji="1" lang="en-US" altLang="zh-CN" sz="1600" dirty="0">
                <a:latin typeface="微软雅黑" panose="020B0503020204020204" pitchFamily="34" charset="-122"/>
                <a:ea typeface="微软雅黑" panose="020B0503020204020204" pitchFamily="34" charset="-122"/>
                <a:cs typeface="宋体" charset="0"/>
              </a:rPr>
              <a:t>(</a:t>
            </a:r>
            <a:r>
              <a:rPr kumimoji="1" lang="en-US" altLang="zh-CN" sz="1600" dirty="0" err="1">
                <a:latin typeface="微软雅黑" panose="020B0503020204020204" pitchFamily="34" charset="-122"/>
                <a:ea typeface="微软雅黑" panose="020B0503020204020204" pitchFamily="34" charset="-122"/>
                <a:cs typeface="宋体" charset="0"/>
              </a:rPr>
              <a:t>sum_segment</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12</a:t>
            </a:r>
            <a:r>
              <a:rPr kumimoji="1" lang="zh-CN" altLang="en-US" sz="1600" dirty="0">
                <a:latin typeface="微软雅黑" panose="020B0503020204020204" pitchFamily="34" charset="-122"/>
                <a:ea typeface="微软雅黑" panose="020B0503020204020204" pitchFamily="34" charset="-122"/>
                <a:cs typeface="宋体" charset="0"/>
              </a:rPr>
              <a:t> </a:t>
            </a:r>
            <a:r>
              <a:rPr kumimoji="1" lang="en-US" altLang="zh-CN" sz="1600" dirty="0">
                <a:latin typeface="微软雅黑" panose="020B0503020204020204" pitchFamily="34" charset="-122"/>
                <a:ea typeface="微软雅黑" panose="020B0503020204020204" pitchFamily="34" charset="-122"/>
                <a:cs typeface="宋体" charset="0"/>
              </a:rPr>
              <a:t>-&gt;</a:t>
            </a:r>
            <a:r>
              <a:rPr kumimoji="1" lang="zh-CN" altLang="en-US" sz="1600" dirty="0">
                <a:latin typeface="微软雅黑" panose="020B0503020204020204" pitchFamily="34" charset="-122"/>
                <a:ea typeface="微软雅黑" panose="020B0503020204020204" pitchFamily="34" charset="-122"/>
                <a:cs typeface="宋体" charset="0"/>
              </a:rPr>
              <a:t> 总和为</a:t>
            </a:r>
            <a:r>
              <a:rPr kumimoji="1" lang="en-US" altLang="zh-CN" sz="1600" dirty="0">
                <a:latin typeface="微软雅黑" panose="020B0503020204020204" pitchFamily="34" charset="-122"/>
                <a:ea typeface="微软雅黑" panose="020B0503020204020204" pitchFamily="34" charset="-122"/>
                <a:cs typeface="宋体" charset="0"/>
              </a:rPr>
              <a:t>12</a:t>
            </a:r>
            <a:r>
              <a:rPr kumimoji="1" lang="zh-CN" altLang="en-US" sz="1600" dirty="0">
                <a:latin typeface="微软雅黑" panose="020B0503020204020204" pitchFamily="34" charset="-122"/>
                <a:ea typeface="微软雅黑" panose="020B0503020204020204" pitchFamily="34" charset="-122"/>
                <a:cs typeface="宋体" charset="0"/>
              </a:rPr>
              <a:t>：</a:t>
            </a:r>
            <a:r>
              <a:rPr kumimoji="1" lang="en-US" altLang="zh-CN" sz="1600" dirty="0">
                <a:latin typeface="微软雅黑" panose="020B0503020204020204" pitchFamily="34" charset="-122"/>
                <a:ea typeface="微软雅黑" panose="020B0503020204020204" pitchFamily="34" charset="-122"/>
                <a:cs typeface="宋体" charset="0"/>
              </a:rPr>
              <a:t>1+1+2+2+3+3</a:t>
            </a:r>
          </a:p>
          <a:p>
            <a:pPr marL="0" indent="0">
              <a:spcAft>
                <a:spcPts val="600"/>
              </a:spcAft>
              <a:buSzPct val="120000"/>
              <a:buNone/>
            </a:pPr>
            <a:endParaRPr kumimoji="1" lang="en-US" altLang="zh-CN" sz="1600" dirty="0">
              <a:latin typeface="微软雅黑" panose="020B0503020204020204" pitchFamily="34" charset="-122"/>
              <a:ea typeface="微软雅黑" panose="020B0503020204020204" pitchFamily="34" charset="-122"/>
              <a:cs typeface="宋体"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多段上限策略</a:t>
            </a:r>
          </a:p>
        </p:txBody>
      </p:sp>
      <p:sp>
        <p:nvSpPr>
          <p:cNvPr id="11" name="内容占位符 2"/>
          <p:cNvSpPr>
            <a:spLocks noGrp="1"/>
          </p:cNvSpPr>
          <p:nvPr>
            <p:ph idx="1"/>
          </p:nvPr>
        </p:nvSpPr>
        <p:spPr>
          <a:xfrm>
            <a:off x="0" y="1942640"/>
            <a:ext cx="11828189" cy="4841049"/>
          </a:xfrm>
        </p:spPr>
        <p:txBody>
          <a:bodyPr>
            <a:normAutofit/>
          </a:bodyPr>
          <a:lstStyle/>
          <a:p>
            <a:pPr lvl="1">
              <a:buClr>
                <a:schemeClr val="tx1"/>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多段上限策略</a:t>
            </a:r>
          </a:p>
          <a:p>
            <a:pPr lvl="2">
              <a:buClr>
                <a:schemeClr val="tx1"/>
              </a:buClr>
              <a:buFont typeface="Wingdings" panose="05000000000000000000" pitchFamily="2" charset="2"/>
              <a:buChar char="Ø"/>
            </a:pPr>
            <a:r>
              <a:rPr lang="zh-CN" altLang="en-US" sz="1800" dirty="0"/>
              <a:t>段上限策略在使用</a:t>
            </a:r>
            <a:r>
              <a:rPr lang="en-GB" altLang="zh-CN" sz="1800" dirty="0"/>
              <a:t>time</a:t>
            </a:r>
            <a:r>
              <a:rPr lang="zh-CN" altLang="en-US" sz="1800" dirty="0"/>
              <a:t>作为段类型的时候，往往会面临日志乱序的问题，此时时间上属于本段的日志可能位于下一段。而多段上限策略可以通过缓存多个时间段的日志来解决这一问题。</a:t>
            </a:r>
          </a:p>
          <a:p>
            <a:pPr lvl="2">
              <a:buClr>
                <a:schemeClr val="tx1"/>
              </a:buClr>
              <a:buFont typeface="Wingdings" panose="05000000000000000000" pitchFamily="2" charset="2"/>
              <a:buChar char="Ø"/>
            </a:pPr>
            <a:r>
              <a:rPr lang="zh-CN" altLang="en-US" sz="1800" dirty="0"/>
              <a:t>相比段上限策略，区别在于建缓存结构保留多个段的信息。</a:t>
            </a:r>
          </a:p>
          <a:p>
            <a:pPr lvl="2">
              <a:buClr>
                <a:schemeClr val="tx1"/>
              </a:buClr>
              <a:buFont typeface="Wingdings" panose="05000000000000000000" pitchFamily="2" charset="2"/>
              <a:buChar char="l"/>
            </a:pPr>
            <a:endParaRPr lang="zh-CN" altLang="en-US" sz="1800" dirty="0"/>
          </a:p>
          <a:p>
            <a:pPr lvl="1">
              <a:buClr>
                <a:schemeClr val="tx1"/>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可用特征</a:t>
            </a:r>
          </a:p>
          <a:p>
            <a:pPr lvl="2">
              <a:buClr>
                <a:schemeClr val="tx1"/>
              </a:buClr>
              <a:buFont typeface="Wingdings" panose="05000000000000000000" pitchFamily="2" charset="2"/>
              <a:buChar char="Ø"/>
            </a:pPr>
            <a:r>
              <a:rPr lang="zh-CN" altLang="en-US" sz="1800" dirty="0"/>
              <a:t>多段累积特征 </a:t>
            </a:r>
            <a:r>
              <a:rPr lang="en-GB" altLang="zh-CN" sz="1800" dirty="0" err="1"/>
              <a:t>multi_seg</a:t>
            </a:r>
            <a:endParaRPr lang="en-GB" altLang="zh-CN" sz="1800" dirty="0"/>
          </a:p>
          <a:p>
            <a:pPr lvl="2">
              <a:buClr>
                <a:schemeClr val="tx1"/>
              </a:buClr>
              <a:buFont typeface="Wingdings" panose="05000000000000000000" pitchFamily="2" charset="2"/>
              <a:buChar char="l"/>
            </a:pPr>
            <a:endParaRPr lang="en-GB" altLang="zh-CN" sz="1800" dirty="0"/>
          </a:p>
          <a:p>
            <a:pPr lvl="1">
              <a:buClr>
                <a:schemeClr val="tx1"/>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适用场景</a:t>
            </a:r>
            <a:endParaRPr lang="en-US" altLang="zh-CN" sz="2000" strike="sngStrike" dirty="0"/>
          </a:p>
          <a:p>
            <a:pPr lvl="2">
              <a:buClr>
                <a:schemeClr val="tx1"/>
              </a:buClr>
              <a:buFont typeface="Wingdings" panose="05000000000000000000" pitchFamily="2" charset="2"/>
              <a:buChar char="Ø"/>
            </a:pPr>
            <a:r>
              <a:rPr lang="zh-CN" altLang="en-US" sz="1800" dirty="0">
                <a:cs typeface="宋体" charset="0"/>
              </a:rPr>
              <a:t>通过对日志进行重排，能够得到真正有序的日志，过滤结果更精确可控</a:t>
            </a:r>
            <a:endParaRPr lang="en-US" altLang="zh-CN" sz="1800" dirty="0">
              <a:cs typeface="宋体" charset="0"/>
            </a:endParaRPr>
          </a:p>
          <a:p>
            <a:pPr lvl="2">
              <a:buClr>
                <a:schemeClr val="tx1"/>
              </a:buClr>
              <a:buFont typeface="Wingdings" panose="05000000000000000000" pitchFamily="2" charset="2"/>
              <a:buChar char="Ø"/>
            </a:pPr>
            <a:endParaRPr lang="en-US" altLang="zh-CN" sz="1800" dirty="0"/>
          </a:p>
          <a:p>
            <a:pPr lvl="1">
              <a:buClr>
                <a:schemeClr val="tx1"/>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非适用场景</a:t>
            </a:r>
          </a:p>
          <a:p>
            <a:pPr lvl="2">
              <a:buClr>
                <a:schemeClr val="tx1"/>
              </a:buClr>
              <a:buFont typeface="Wingdings" panose="05000000000000000000" pitchFamily="2" charset="2"/>
              <a:buChar char="Ø"/>
            </a:pPr>
            <a:r>
              <a:rPr lang="zh-CN" altLang="en-US" sz="1800" dirty="0"/>
              <a:t>多上限策略本质上是跳段，所以不适合大窗口统计，窗口比较大的话株连误过的情况</a:t>
            </a:r>
            <a:endParaRPr lang="en-US" altLang="zh-CN" sz="1800" dirty="0"/>
          </a:p>
          <a:p>
            <a:pPr marL="914400" lvl="2" indent="0">
              <a:buClr>
                <a:schemeClr val="tx1"/>
              </a:buClr>
              <a:buNone/>
            </a:pPr>
            <a:r>
              <a:rPr lang="zh-CN" altLang="en-US" sz="1800" dirty="0"/>
              <a:t>都会比较严重。</a:t>
            </a:r>
            <a:endParaRPr lang="en-US" altLang="zh-CN"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lumMod val="95000"/>
            <a:alpha val="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多段上限策略</a:t>
            </a:r>
          </a:p>
        </p:txBody>
      </p:sp>
      <p:sp>
        <p:nvSpPr>
          <p:cNvPr id="10" name="文本框 9"/>
          <p:cNvSpPr txBox="1"/>
          <p:nvPr/>
        </p:nvSpPr>
        <p:spPr>
          <a:xfrm>
            <a:off x="3791225" y="1162817"/>
            <a:ext cx="6483075" cy="5755422"/>
          </a:xfrm>
          <a:prstGeom prst="rect">
            <a:avLst/>
          </a:prstGeom>
          <a:solidFill>
            <a:schemeClr val="bg1">
              <a:lumMod val="95000"/>
              <a:alpha val="10000"/>
            </a:schemeClr>
          </a:solidFill>
          <a:ln>
            <a:noFill/>
          </a:ln>
        </p:spPr>
        <p:txBody>
          <a:bodyPr wrap="square" rtlCol="0">
            <a:spAutoFit/>
          </a:bodyPr>
          <a:lstStyle/>
          <a:p>
            <a:pPr lvl="0" algn="l"/>
            <a:r>
              <a:rPr lang="en-GB" altLang="zh-CN" sz="1600" dirty="0"/>
              <a:t>[@policy]</a:t>
            </a:r>
          </a:p>
          <a:p>
            <a:pPr lvl="0" algn="l"/>
            <a:r>
              <a:rPr lang="en-GB" altLang="zh-CN" sz="1600" dirty="0" err="1"/>
              <a:t>policy_type</a:t>
            </a:r>
            <a:r>
              <a:rPr lang="en-GB" altLang="zh-CN" sz="1600" dirty="0"/>
              <a:t> : rule</a:t>
            </a:r>
          </a:p>
          <a:p>
            <a:pPr lvl="0" algn="l"/>
            <a:r>
              <a:rPr lang="en-GB" altLang="zh-CN" sz="1600" dirty="0" err="1"/>
              <a:t>policy_id</a:t>
            </a:r>
            <a:r>
              <a:rPr lang="en-GB" altLang="zh-CN" sz="1600" dirty="0"/>
              <a:t> : 40004</a:t>
            </a:r>
          </a:p>
          <a:p>
            <a:pPr lvl="0" algn="l"/>
            <a:r>
              <a:rPr lang="en-GB" altLang="zh-CN" sz="1600" dirty="0"/>
              <a:t>[.@rule]</a:t>
            </a:r>
          </a:p>
          <a:p>
            <a:pPr lvl="0" algn="l"/>
            <a:r>
              <a:rPr lang="en-GB" altLang="zh-CN" sz="1600" dirty="0" err="1"/>
              <a:t>gray_file</a:t>
            </a:r>
            <a:r>
              <a:rPr lang="en-GB" altLang="zh-CN" sz="1600" dirty="0"/>
              <a:t> : </a:t>
            </a:r>
            <a:r>
              <a:rPr lang="en-GB" altLang="zh-CN" sz="1600" dirty="0" err="1"/>
              <a:t>empty_file</a:t>
            </a:r>
            <a:endParaRPr lang="en-GB" altLang="zh-CN" sz="1600" dirty="0"/>
          </a:p>
          <a:p>
            <a:pPr lvl="0" algn="l"/>
            <a:r>
              <a:rPr lang="en-GB" altLang="zh-CN" sz="1600" dirty="0"/>
              <a:t>threshold : 1</a:t>
            </a:r>
          </a:p>
          <a:p>
            <a:pPr lvl="0" algn="l"/>
            <a:r>
              <a:rPr lang="en-GB" altLang="zh-CN" sz="1600" dirty="0" err="1"/>
              <a:t>feature_id</a:t>
            </a:r>
            <a:r>
              <a:rPr lang="en-GB" altLang="zh-CN" sz="1600" dirty="0"/>
              <a:t> : 40004</a:t>
            </a:r>
          </a:p>
          <a:p>
            <a:pPr lvl="0" algn="l"/>
            <a:r>
              <a:rPr lang="en-GB" altLang="zh-CN" sz="1600" dirty="0" err="1">
                <a:solidFill>
                  <a:srgbClr val="FF0000"/>
                </a:solidFill>
              </a:rPr>
              <a:t>punish_m</a:t>
            </a:r>
            <a:r>
              <a:rPr lang="en-GB" altLang="zh-CN" sz="1600" dirty="0">
                <a:solidFill>
                  <a:srgbClr val="FF0000"/>
                </a:solidFill>
              </a:rPr>
              <a:t> : 0.0</a:t>
            </a:r>
          </a:p>
          <a:p>
            <a:pPr lvl="0" algn="l"/>
            <a:r>
              <a:rPr lang="en-GB" altLang="zh-CN" sz="1600" dirty="0" err="1">
                <a:solidFill>
                  <a:srgbClr val="FF0000"/>
                </a:solidFill>
              </a:rPr>
              <a:t>punish_k</a:t>
            </a:r>
            <a:r>
              <a:rPr lang="en-GB" altLang="zh-CN" sz="1600" dirty="0">
                <a:solidFill>
                  <a:srgbClr val="FF0000"/>
                </a:solidFill>
              </a:rPr>
              <a:t> : 0.0</a:t>
            </a:r>
          </a:p>
          <a:p>
            <a:pPr lvl="0" algn="l"/>
            <a:r>
              <a:rPr lang="en-GB" altLang="zh-CN" sz="1600" dirty="0" err="1"/>
              <a:t>rule_type</a:t>
            </a:r>
            <a:r>
              <a:rPr lang="en-GB" altLang="zh-CN" sz="1600" dirty="0"/>
              <a:t> : segment</a:t>
            </a:r>
          </a:p>
          <a:p>
            <a:pPr lvl="0" algn="l"/>
            <a:r>
              <a:rPr lang="en-GB" altLang="zh-CN" sz="1600" dirty="0"/>
              <a:t> </a:t>
            </a:r>
          </a:p>
          <a:p>
            <a:pPr lvl="0" algn="l"/>
            <a:r>
              <a:rPr lang="en-GB" altLang="zh-CN" sz="1600" dirty="0"/>
              <a:t>[@feature]</a:t>
            </a:r>
          </a:p>
          <a:p>
            <a:pPr lvl="0" algn="l"/>
            <a:r>
              <a:rPr lang="en-GB" altLang="zh-CN" sz="1600" dirty="0" err="1"/>
              <a:t>feature_id</a:t>
            </a:r>
            <a:r>
              <a:rPr lang="en-GB" altLang="zh-CN" sz="1600" dirty="0"/>
              <a:t> : 40004</a:t>
            </a:r>
          </a:p>
          <a:p>
            <a:pPr lvl="0" algn="l"/>
            <a:r>
              <a:rPr lang="en-GB" altLang="zh-CN" sz="1600" dirty="0" err="1"/>
              <a:t>view_level</a:t>
            </a:r>
            <a:r>
              <a:rPr lang="en-GB" altLang="zh-CN" sz="1600" dirty="0"/>
              <a:t> : </a:t>
            </a:r>
            <a:r>
              <a:rPr lang="en-GB" altLang="zh-CN" sz="1600" dirty="0" err="1"/>
              <a:t>pv_level</a:t>
            </a:r>
            <a:endParaRPr lang="en-GB" altLang="zh-CN" sz="1600" dirty="0"/>
          </a:p>
          <a:p>
            <a:pPr lvl="0" algn="l"/>
            <a:r>
              <a:rPr lang="en-GB" altLang="zh-CN" sz="1600" dirty="0" err="1"/>
              <a:t>feature_type</a:t>
            </a:r>
            <a:r>
              <a:rPr lang="en-GB" altLang="zh-CN" sz="1600" dirty="0"/>
              <a:t> : </a:t>
            </a:r>
            <a:r>
              <a:rPr lang="en-GB" altLang="zh-CN" sz="1600" dirty="0" err="1"/>
              <a:t>multi_seg</a:t>
            </a:r>
            <a:endParaRPr lang="en-GB" altLang="zh-CN" sz="1600" dirty="0"/>
          </a:p>
          <a:p>
            <a:pPr lvl="0" algn="l"/>
            <a:r>
              <a:rPr lang="en-GB" altLang="zh-CN" sz="1600" dirty="0"/>
              <a:t>care : ['</a:t>
            </a:r>
            <a:r>
              <a:rPr lang="en-GB" altLang="zh-CN" sz="1600" dirty="0" err="1"/>
              <a:t>flow_group</a:t>
            </a:r>
            <a:r>
              <a:rPr lang="en-GB" altLang="zh-CN" sz="1600" dirty="0"/>
              <a:t>':='organic','hao123','union','union2baidu','organic_noads']['</a:t>
            </a:r>
            <a:r>
              <a:rPr lang="en-GB" altLang="zh-CN" sz="1600" dirty="0" err="1"/>
              <a:t>flow_group</a:t>
            </a:r>
            <a:r>
              <a:rPr lang="en-GB" altLang="zh-CN" sz="1600" dirty="0"/>
              <a:t>'!='</a:t>
            </a:r>
            <a:r>
              <a:rPr lang="en-GB" altLang="zh-CN" sz="1600" dirty="0" err="1"/>
              <a:t>organic_noads</a:t>
            </a:r>
            <a:r>
              <a:rPr lang="en-GB" altLang="zh-CN" sz="1600" dirty="0"/>
              <a:t>']['</a:t>
            </a:r>
            <a:r>
              <a:rPr lang="en-GB" altLang="zh-CN" sz="1600" dirty="0" err="1"/>
              <a:t>bd</a:t>
            </a:r>
            <a:r>
              <a:rPr lang="en-GB" altLang="zh-CN" sz="1600" dirty="0"/>
              <a:t>':='-NULL-']['</a:t>
            </a:r>
            <a:r>
              <a:rPr lang="en-GB" altLang="zh-CN" sz="1600" dirty="0" err="1"/>
              <a:t>skip_personal_info</a:t>
            </a:r>
            <a:r>
              <a:rPr lang="en-GB" altLang="zh-CN" sz="1600" dirty="0"/>
              <a:t>'!='1']</a:t>
            </a:r>
          </a:p>
          <a:p>
            <a:pPr lvl="0" algn="l"/>
            <a:r>
              <a:rPr lang="en-GB" altLang="zh-CN" sz="1600" dirty="0"/>
              <a:t>view : </a:t>
            </a:r>
            <a:r>
              <a:rPr lang="en-GB" altLang="zh-CN" sz="1600" dirty="0" err="1"/>
              <a:t>ip</a:t>
            </a:r>
            <a:endParaRPr lang="en-GB" altLang="zh-CN" sz="1600" dirty="0"/>
          </a:p>
          <a:p>
            <a:pPr lvl="0" algn="l"/>
            <a:r>
              <a:rPr lang="en-GB" altLang="zh-CN" sz="1600" dirty="0" err="1"/>
              <a:t>window_type</a:t>
            </a:r>
            <a:r>
              <a:rPr lang="en-GB" altLang="zh-CN" sz="1600" dirty="0"/>
              <a:t> : time</a:t>
            </a:r>
          </a:p>
          <a:p>
            <a:pPr lvl="0" algn="l"/>
            <a:r>
              <a:rPr lang="en-GB" altLang="zh-CN" sz="1600" dirty="0" err="1">
                <a:solidFill>
                  <a:srgbClr val="C00000"/>
                </a:solidFill>
              </a:rPr>
              <a:t>step_length</a:t>
            </a:r>
            <a:r>
              <a:rPr lang="en-GB" altLang="zh-CN" sz="1600" dirty="0">
                <a:solidFill>
                  <a:srgbClr val="C00000"/>
                </a:solidFill>
              </a:rPr>
              <a:t> : 1</a:t>
            </a:r>
          </a:p>
          <a:p>
            <a:pPr lvl="0" algn="l"/>
            <a:r>
              <a:rPr lang="en-GB" altLang="zh-CN" sz="1600" dirty="0"/>
              <a:t>version : 1</a:t>
            </a:r>
          </a:p>
          <a:p>
            <a:pPr lvl="0" algn="l"/>
            <a:r>
              <a:rPr lang="en-GB" altLang="zh-CN" sz="1600" dirty="0" err="1">
                <a:solidFill>
                  <a:srgbClr val="C00000"/>
                </a:solidFill>
              </a:rPr>
              <a:t>window_length</a:t>
            </a:r>
            <a:r>
              <a:rPr lang="en-GB" altLang="zh-CN" sz="1600" dirty="0">
                <a:solidFill>
                  <a:srgbClr val="C00000"/>
                </a:solidFill>
              </a:rPr>
              <a:t> : 1800</a:t>
            </a:r>
            <a:endParaRPr kumimoji="0" lang="en-GB" altLang="zh-CN" sz="1600" b="0" i="0" u="none" strike="noStrike" kern="1200" cap="none" spc="0" normalizeH="0" baseline="0" noProof="0" dirty="0">
              <a:ln>
                <a:noFill/>
              </a:ln>
              <a:solidFill>
                <a:srgbClr val="C00000"/>
              </a:solidFill>
              <a:effectLst/>
              <a:uLnTx/>
              <a:uFillTx/>
              <a:sym typeface="Helvetica Light" charset="0"/>
            </a:endParaRPr>
          </a:p>
        </p:txBody>
      </p:sp>
      <p:sp>
        <p:nvSpPr>
          <p:cNvPr id="9" name="文本框 8"/>
          <p:cNvSpPr txBox="1"/>
          <p:nvPr/>
        </p:nvSpPr>
        <p:spPr>
          <a:xfrm>
            <a:off x="500446" y="1981200"/>
            <a:ext cx="3046867" cy="4524315"/>
          </a:xfrm>
          <a:prstGeom prst="rect">
            <a:avLst/>
          </a:prstGeom>
          <a:noFill/>
        </p:spPr>
        <p:txBody>
          <a:bodyPr wrap="square" rtlCol="0">
            <a:spAutoFit/>
          </a:bodyPr>
          <a:lstStyle/>
          <a:p>
            <a:r>
              <a:rPr kumimoji="1" lang="zh-CN" altLang="en-US" b="1" dirty="0"/>
              <a:t>业务场景：</a:t>
            </a:r>
            <a:endParaRPr kumimoji="1" lang="en-US" altLang="zh-CN" b="1" dirty="0"/>
          </a:p>
          <a:p>
            <a:r>
              <a:rPr lang="zh-CN" altLang="en-US" dirty="0">
                <a:cs typeface="宋体" charset="0"/>
              </a:rPr>
              <a:t>针对检索行为，正常用户在</a:t>
            </a:r>
            <a:r>
              <a:rPr lang="en-US" altLang="zh-CN" dirty="0">
                <a:cs typeface="宋体" charset="0"/>
              </a:rPr>
              <a:t>1</a:t>
            </a:r>
            <a:r>
              <a:rPr lang="zh-CN" altLang="en-US" dirty="0">
                <a:cs typeface="宋体" charset="0"/>
              </a:rPr>
              <a:t>秒内连续进行两次检索的可能很小，因此这部分流量需要过滤</a:t>
            </a:r>
            <a:r>
              <a:rPr lang="zh-CN" altLang="en-US" dirty="0"/>
              <a:t>。</a:t>
            </a:r>
            <a:endParaRPr lang="en-US" altLang="zh-CN" dirty="0"/>
          </a:p>
          <a:p>
            <a:r>
              <a:rPr kumimoji="1" lang="zh-CN" altLang="en-US" b="1" dirty="0"/>
              <a:t>参数说明</a:t>
            </a:r>
            <a:r>
              <a:rPr kumimoji="1" lang="zh-CN" altLang="en-US" dirty="0"/>
              <a:t>：</a:t>
            </a:r>
            <a:endParaRPr kumimoji="1" lang="en-US" altLang="zh-CN" dirty="0"/>
          </a:p>
          <a:p>
            <a:r>
              <a:rPr lang="en-US" altLang="zh-CN" dirty="0" err="1"/>
              <a:t>punish_m</a:t>
            </a:r>
            <a:r>
              <a:rPr lang="zh-CN" altLang="en-US" dirty="0"/>
              <a:t>、</a:t>
            </a:r>
            <a:r>
              <a:rPr lang="en-US" altLang="zh-CN" dirty="0" err="1"/>
              <a:t>punish_k</a:t>
            </a:r>
            <a:r>
              <a:rPr lang="zh-CN" altLang="en-US" dirty="0"/>
              <a:t>：衰减系数。若过滤量累计值</a:t>
            </a:r>
            <a:r>
              <a:rPr lang="en-US" altLang="zh-CN" dirty="0"/>
              <a:t>-threshold&gt;</a:t>
            </a:r>
            <a:r>
              <a:rPr lang="en-US" altLang="zh-CN" dirty="0" err="1"/>
              <a:t>punish_m</a:t>
            </a:r>
            <a:r>
              <a:rPr lang="en-US" altLang="zh-CN" dirty="0"/>
              <a:t>,</a:t>
            </a:r>
            <a:r>
              <a:rPr lang="zh-CN" altLang="en-US" dirty="0"/>
              <a:t>则</a:t>
            </a:r>
            <a:r>
              <a:rPr lang="en-US" altLang="zh-CN" dirty="0"/>
              <a:t>threshold=threshold-(</a:t>
            </a:r>
            <a:r>
              <a:rPr lang="zh-CN" altLang="en-US" dirty="0"/>
              <a:t>累计值</a:t>
            </a:r>
            <a:r>
              <a:rPr lang="en-US" altLang="zh-CN" dirty="0"/>
              <a:t>-threshold)*</a:t>
            </a:r>
            <a:r>
              <a:rPr lang="en-US" altLang="zh-CN" dirty="0" err="1"/>
              <a:t>punish_k</a:t>
            </a:r>
            <a:r>
              <a:rPr lang="zh-CN" altLang="en-US" dirty="0"/>
              <a:t>。</a:t>
            </a:r>
            <a:endParaRPr lang="en-US" altLang="zh-CN" dirty="0"/>
          </a:p>
          <a:p>
            <a:r>
              <a:rPr lang="zh-CN" altLang="en-US" dirty="0"/>
              <a:t>当累计值大于一定值时，说明作弊的嫌疑较大，通过减小段上限设定的阈值，进一步加强对该情况的过滤。</a:t>
            </a:r>
            <a:endParaRPr lang="en-US" altLang="zh-CN" dirty="0"/>
          </a:p>
          <a:p>
            <a:endParaRPr kumimoji="1"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自动黑名单段上限策略</a:t>
            </a:r>
          </a:p>
        </p:txBody>
      </p:sp>
      <p:sp>
        <p:nvSpPr>
          <p:cNvPr id="10" name="内容占位符 2"/>
          <p:cNvSpPr txBox="1"/>
          <p:nvPr/>
        </p:nvSpPr>
        <p:spPr>
          <a:xfrm>
            <a:off x="500446" y="1755982"/>
            <a:ext cx="11828189" cy="76328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chemeClr val="tx1"/>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自动黑名单段上限策略</a:t>
            </a:r>
          </a:p>
          <a:p>
            <a:pPr lvl="2">
              <a:buClr>
                <a:schemeClr val="tx1"/>
              </a:buClr>
              <a:buFont typeface="Wingdings" panose="05000000000000000000" pitchFamily="2" charset="2"/>
              <a:buChar char="l"/>
            </a:pPr>
            <a:r>
              <a:rPr lang="zh-CN" altLang="en-US" sz="1800" dirty="0"/>
              <a:t>对于某段内显著异常的维度对象，可以将其加入黑名单，直接过滤其后续段的流量，直到该维度对象下的流量恢复正常。</a:t>
            </a:r>
          </a:p>
          <a:p>
            <a:pPr lvl="2">
              <a:buClr>
                <a:schemeClr val="tx1"/>
              </a:buClr>
              <a:buFont typeface="Wingdings" panose="05000000000000000000" pitchFamily="2" charset="2"/>
              <a:buChar char="l"/>
            </a:pPr>
            <a:r>
              <a:rPr lang="zh-CN" altLang="en-US" sz="1800" dirty="0"/>
              <a:t>自动黑名单段上限策略只有跳段的移动方式。</a:t>
            </a:r>
          </a:p>
          <a:p>
            <a:pPr lvl="2">
              <a:buClr>
                <a:schemeClr val="tx1"/>
              </a:buClr>
              <a:buFont typeface="Wingdings" panose="05000000000000000000" pitchFamily="2" charset="2"/>
              <a:buChar char="l"/>
            </a:pPr>
            <a:endParaRPr lang="zh-CN" altLang="en-US" sz="1800" dirty="0"/>
          </a:p>
          <a:p>
            <a:pPr lvl="1">
              <a:buClr>
                <a:schemeClr val="tx1"/>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可用特征</a:t>
            </a:r>
          </a:p>
          <a:p>
            <a:pPr lvl="2">
              <a:buClr>
                <a:schemeClr val="tx1"/>
              </a:buClr>
              <a:buFont typeface="Wingdings" panose="05000000000000000000" pitchFamily="2" charset="2"/>
              <a:buChar char="l"/>
            </a:pPr>
            <a:r>
              <a:rPr lang="zh-CN" altLang="en-US" sz="1800" dirty="0"/>
              <a:t>自动黑名单数目特征 </a:t>
            </a:r>
            <a:r>
              <a:rPr lang="en-US" altLang="zh-CN" sz="1800" dirty="0" err="1">
                <a:cs typeface="宋体" charset="0"/>
              </a:rPr>
              <a:t>auto_segment</a:t>
            </a:r>
            <a:endParaRPr lang="en-GB" altLang="zh-CN" sz="1800" dirty="0"/>
          </a:p>
          <a:p>
            <a:pPr lvl="2">
              <a:buClr>
                <a:schemeClr val="tx1"/>
              </a:buClr>
              <a:buFont typeface="Wingdings" panose="05000000000000000000" pitchFamily="2" charset="2"/>
              <a:buChar char="l"/>
            </a:pPr>
            <a:endParaRPr lang="en-GB" altLang="zh-CN" sz="1800" dirty="0"/>
          </a:p>
          <a:p>
            <a:pPr lvl="1">
              <a:buClr>
                <a:schemeClr val="tx1"/>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适用场景</a:t>
            </a:r>
            <a:endParaRPr lang="en-US" altLang="zh-CN" sz="2000" strike="sngStrike" dirty="0"/>
          </a:p>
          <a:p>
            <a:pPr lvl="2">
              <a:buClr>
                <a:schemeClr val="tx1"/>
              </a:buClr>
              <a:buFont typeface="Wingdings" panose="05000000000000000000" pitchFamily="2" charset="2"/>
              <a:buChar char="l"/>
            </a:pPr>
            <a:r>
              <a:rPr lang="zh-CN" altLang="en-US" sz="1800" dirty="0">
                <a:cs typeface="宋体" charset="0"/>
              </a:rPr>
              <a:t>适合一段时间内作弊严重，其余时间低频作弊的场景。由于考虑到历史段的信息，可以一定程度上缓解段首漏过。</a:t>
            </a:r>
          </a:p>
          <a:p>
            <a:pPr lvl="2">
              <a:buClr>
                <a:schemeClr val="tx1"/>
              </a:buClr>
              <a:buFont typeface="Wingdings" panose="05000000000000000000" pitchFamily="2" charset="2"/>
              <a:buChar char="l"/>
            </a:pPr>
            <a:endParaRPr lang="en-US" altLang="zh-CN" sz="1800" dirty="0"/>
          </a:p>
          <a:p>
            <a:pPr lvl="1">
              <a:buClr>
                <a:schemeClr val="tx1"/>
              </a:buClr>
              <a:buFont typeface="Wingdings" panose="05000000000000000000" pitchFamily="2" charset="2"/>
              <a:buChar char="l"/>
            </a:pPr>
            <a:r>
              <a:rPr lang="zh-CN" altLang="en-US" sz="2000" b="1" dirty="0">
                <a:latin typeface="微软雅黑" panose="020B0503020204020204" pitchFamily="34" charset="-122"/>
                <a:ea typeface="微软雅黑" panose="020B0503020204020204" pitchFamily="34" charset="-122"/>
              </a:rPr>
              <a:t>非适用场景</a:t>
            </a:r>
          </a:p>
          <a:p>
            <a:pPr lvl="2">
              <a:buClr>
                <a:schemeClr val="tx1"/>
              </a:buClr>
              <a:buFont typeface="Wingdings" panose="05000000000000000000" pitchFamily="2" charset="2"/>
              <a:buChar char="l"/>
            </a:pPr>
            <a:r>
              <a:rPr lang="zh-CN" altLang="en-US" sz="1800" dirty="0"/>
              <a:t>不适应在正常情况下波动较大的维度。若维度本身波动就比较大，这时候将其作为策略的主维度很容易长时间被拉黑。</a:t>
            </a:r>
            <a:endParaRPr lang="en-US" altLang="zh-CN" sz="1800" dirty="0"/>
          </a:p>
          <a:p>
            <a:pPr lvl="2">
              <a:buClr>
                <a:schemeClr val="tx1"/>
              </a:buClr>
              <a:buFont typeface="Wingdings" panose="05000000000000000000" pitchFamily="2" charset="2"/>
              <a:buChar char="l"/>
            </a:pPr>
            <a:r>
              <a:rPr lang="zh-CN" altLang="en-US" sz="1800" dirty="0"/>
              <a:t>且不适用于大维度对象，假设</a:t>
            </a:r>
            <a:r>
              <a:rPr lang="en-US" altLang="zh-CN" sz="1800" dirty="0"/>
              <a:t>1</a:t>
            </a:r>
            <a:r>
              <a:rPr lang="zh-CN" altLang="en-US" sz="1800" dirty="0"/>
              <a:t>个计费名下的攻击点击以绝对性优势压倒正常点击，导致计费名进入黑名单，点击全滤，会引起站长投诉。</a:t>
            </a:r>
            <a:endParaRPr lang="en-US" altLang="zh-CN"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自动黑名单段上限策略</a:t>
            </a:r>
          </a:p>
        </p:txBody>
      </p:sp>
      <mc:AlternateContent xmlns:mc="http://schemas.openxmlformats.org/markup-compatibility/2006" xmlns:a14="http://schemas.microsoft.com/office/drawing/2010/main">
        <mc:Choice Requires="a14">
          <p:sp>
            <p:nvSpPr>
              <p:cNvPr id="9" name="内容占位符 2"/>
              <p:cNvSpPr>
                <a:spLocks noGrp="1"/>
              </p:cNvSpPr>
              <p:nvPr>
                <p:ph idx="1"/>
              </p:nvPr>
            </p:nvSpPr>
            <p:spPr>
              <a:xfrm>
                <a:off x="500446" y="1767827"/>
                <a:ext cx="9113518" cy="7105227"/>
              </a:xfrm>
            </p:spPr>
            <p:txBody>
              <a:bodyPr>
                <a:noAutofit/>
              </a:bodyPr>
              <a:lstStyle/>
              <a:p>
                <a:pPr>
                  <a:spcAft>
                    <a:spcPts val="600"/>
                  </a:spcAft>
                  <a:buClr>
                    <a:schemeClr val="tx1"/>
                  </a:buClr>
                  <a:buSzPct val="120000"/>
                  <a:buFont typeface="Wingdings" panose="05000000000000000000" pitchFamily="2" charset="2"/>
                  <a:buChar char="l"/>
                </a:pPr>
                <a:r>
                  <a:rPr kumimoji="1" lang="zh-CN" altLang="en-US" sz="1800" b="1" dirty="0">
                    <a:latin typeface="微软雅黑" panose="020B0503020204020204" pitchFamily="34" charset="-122"/>
                    <a:ea typeface="微软雅黑" panose="020B0503020204020204" pitchFamily="34" charset="-122"/>
                    <a:cs typeface="宋体" charset="0"/>
                  </a:rPr>
                  <a:t>累积量</a:t>
                </a:r>
                <a:r>
                  <a:rPr kumimoji="1" lang="zh-CN" altLang="en-US" sz="1800" dirty="0">
                    <a:latin typeface="微软雅黑" panose="020B0503020204020204" pitchFamily="34" charset="-122"/>
                    <a:ea typeface="微软雅黑" panose="020B0503020204020204" pitchFamily="34" charset="-122"/>
                    <a:cs typeface="宋体" charset="0"/>
                  </a:rPr>
                  <a:t>：</a:t>
                </a:r>
                <a:r>
                  <a:rPr lang="en-US" altLang="zh-CN" sz="1800" dirty="0">
                    <a:cs typeface="宋体" charset="0"/>
                  </a:rPr>
                  <a:t> cumulant</a:t>
                </a:r>
              </a:p>
              <a:p>
                <a:pPr marL="400050" lvl="1" indent="0">
                  <a:spcAft>
                    <a:spcPts val="600"/>
                  </a:spcAft>
                  <a:buClr>
                    <a:schemeClr val="tx1"/>
                  </a:buClr>
                  <a:buSzPct val="120000"/>
                  <a:buNone/>
                </a:pPr>
                <a:r>
                  <a:rPr kumimoji="1" lang="zh-CN" altLang="en-US" sz="1600" dirty="0">
                    <a:ea typeface="微软雅黑" panose="020B0503020204020204" pitchFamily="34" charset="-122"/>
                    <a:cs typeface="宋体" charset="0"/>
                  </a:rPr>
                  <a:t>某一段内维度对象的频数，使用</a:t>
                </a:r>
                <a:r>
                  <a:rPr kumimoji="1" lang="en-US" altLang="zh-CN" sz="1600" dirty="0" err="1">
                    <a:ea typeface="微软雅黑" panose="020B0503020204020204" pitchFamily="34" charset="-122"/>
                    <a:cs typeface="宋体" charset="0"/>
                  </a:rPr>
                  <a:t>cumulant</a:t>
                </a:r>
                <a:r>
                  <a:rPr kumimoji="1" lang="zh-CN" altLang="en-US" sz="1600" dirty="0">
                    <a:ea typeface="微软雅黑" panose="020B0503020204020204" pitchFamily="34" charset="-122"/>
                    <a:cs typeface="宋体" charset="0"/>
                  </a:rPr>
                  <a:t>来表示，。</a:t>
                </a:r>
                <a:endParaRPr kumimoji="1" lang="en-US" altLang="zh-CN" sz="1600" dirty="0">
                  <a:ea typeface="微软雅黑" panose="020B0503020204020204" pitchFamily="34" charset="-122"/>
                  <a:cs typeface="宋体" charset="0"/>
                </a:endParaRPr>
              </a:p>
              <a:p>
                <a:pPr>
                  <a:spcAft>
                    <a:spcPts val="600"/>
                  </a:spcAft>
                  <a:buClr>
                    <a:schemeClr val="tx1"/>
                  </a:buClr>
                  <a:buSzPct val="120000"/>
                </a:pPr>
                <a14:m>
                  <m:oMath xmlns:m="http://schemas.openxmlformats.org/officeDocument/2006/math">
                    <m:sSub>
                      <m:sSubPr>
                        <m:ctrlPr>
                          <a:rPr kumimoji="1" lang="en-US" altLang="zh-CN" sz="800" i="1" smtClean="0">
                            <a:latin typeface="Cambria Math" panose="02040503050406030204" pitchFamily="18" charset="0"/>
                            <a:ea typeface="微软雅黑" panose="020B0503020204020204" pitchFamily="34" charset="-122"/>
                          </a:rPr>
                        </m:ctrlPr>
                      </m:sSubPr>
                      <m:e>
                        <m:r>
                          <a:rPr kumimoji="1" lang="en-US" altLang="zh-CN" sz="800" i="1" smtClean="0">
                            <a:latin typeface="Cambria Math" panose="02040503050406030204" pitchFamily="18" charset="0"/>
                            <a:ea typeface="微软雅黑" panose="020B0503020204020204" pitchFamily="34" charset="-122"/>
                          </a:rPr>
                          <m:t>𝑐</m:t>
                        </m:r>
                        <m:r>
                          <a:rPr kumimoji="1" lang="en-US" altLang="zh-CN" sz="800" b="0" i="1" smtClean="0">
                            <a:latin typeface="Cambria Math" panose="02040503050406030204" pitchFamily="18" charset="0"/>
                            <a:ea typeface="微软雅黑" panose="020B0503020204020204" pitchFamily="34" charset="-122"/>
                          </a:rPr>
                          <m:t>𝑢</m:t>
                        </m:r>
                        <m:r>
                          <a:rPr kumimoji="1" lang="en-US" altLang="zh-CN" sz="800" i="1" smtClean="0">
                            <a:latin typeface="Cambria Math" panose="02040503050406030204" pitchFamily="18" charset="0"/>
                            <a:ea typeface="微软雅黑" panose="020B0503020204020204" pitchFamily="34" charset="-122"/>
                          </a:rPr>
                          <m:t>𝑚𝑢𝑙𝑎𝑛</m:t>
                        </m:r>
                        <m:r>
                          <a:rPr kumimoji="1" lang="en-US" altLang="zh-CN" sz="800" i="1">
                            <a:latin typeface="Cambria Math" panose="02040503050406030204" pitchFamily="18" charset="0"/>
                            <a:ea typeface="微软雅黑" panose="020B0503020204020204" pitchFamily="34" charset="-122"/>
                          </a:rPr>
                          <m:t>𝑡</m:t>
                        </m:r>
                      </m:e>
                      <m:sub>
                        <m:r>
                          <a:rPr kumimoji="1" lang="en-US" altLang="zh-CN" sz="800" b="0" i="1" smtClean="0">
                            <a:latin typeface="Cambria Math" panose="02040503050406030204" pitchFamily="18" charset="0"/>
                            <a:ea typeface="微软雅黑" panose="020B0503020204020204" pitchFamily="34" charset="-122"/>
                          </a:rPr>
                          <m:t>𝑖</m:t>
                        </m:r>
                      </m:sub>
                    </m:sSub>
                    <m:r>
                      <a:rPr kumimoji="1" lang="zh-CN" altLang="en-US" sz="800" i="1">
                        <a:latin typeface="Cambria Math" panose="02040503050406030204" pitchFamily="18" charset="0"/>
                        <a:ea typeface="微软雅黑" panose="020B0503020204020204" pitchFamily="34" charset="-122"/>
                      </a:rPr>
                      <m:t>表示</m:t>
                    </m:r>
                  </m:oMath>
                </a14:m>
                <a:r>
                  <a:rPr kumimoji="1" lang="zh-CN" altLang="en-US" sz="800" dirty="0">
                    <a:ea typeface="微软雅黑" panose="020B0503020204020204" pitchFamily="34" charset="-122"/>
                    <a:cs typeface="宋体" charset="0"/>
                  </a:rPr>
                  <a:t>第</a:t>
                </a:r>
                <a:r>
                  <a:rPr kumimoji="1" lang="en-US" altLang="zh-CN" sz="800" dirty="0" err="1">
                    <a:ea typeface="微软雅黑" panose="020B0503020204020204" pitchFamily="34" charset="-122"/>
                    <a:cs typeface="宋体" charset="0"/>
                  </a:rPr>
                  <a:t>i</a:t>
                </a:r>
                <a:r>
                  <a:rPr kumimoji="1" lang="zh-CN" altLang="en-US" sz="800" dirty="0">
                    <a:ea typeface="微软雅黑" panose="020B0503020204020204" pitchFamily="34" charset="-122"/>
                    <a:cs typeface="宋体" charset="0"/>
                  </a:rPr>
                  <a:t>段中某个维度对象的频数</a:t>
                </a:r>
                <a:endParaRPr kumimoji="1" lang="en-US" altLang="zh-CN" sz="800" dirty="0">
                  <a:latin typeface="微软雅黑" panose="020B0503020204020204" pitchFamily="34" charset="-122"/>
                  <a:ea typeface="微软雅黑" panose="020B0503020204020204" pitchFamily="34" charset="-122"/>
                  <a:cs typeface="宋体" charset="0"/>
                </a:endParaRPr>
              </a:p>
              <a:p>
                <a:pPr>
                  <a:spcAft>
                    <a:spcPts val="600"/>
                  </a:spcAft>
                  <a:buClr>
                    <a:schemeClr val="tx1"/>
                  </a:buClr>
                  <a:buSzPct val="120000"/>
                  <a:buFont typeface="Wingdings" panose="05000000000000000000" pitchFamily="2" charset="2"/>
                  <a:buChar char="l"/>
                </a:pPr>
                <a:r>
                  <a:rPr lang="zh-CN" altLang="en-US" sz="1800" b="1" dirty="0"/>
                  <a:t>影响量和衰减系数：</a:t>
                </a:r>
                <a:endParaRPr lang="en-US" altLang="zh-CN" sz="1800" b="1" dirty="0"/>
              </a:p>
              <a:p>
                <a:pPr marL="400050" lvl="1" indent="0">
                  <a:spcAft>
                    <a:spcPts val="600"/>
                  </a:spcAft>
                  <a:buClr>
                    <a:schemeClr val="tx1"/>
                  </a:buClr>
                  <a:buSzPct val="120000"/>
                  <a:buNone/>
                </a:pPr>
                <a:r>
                  <a:rPr kumimoji="1" lang="zh-CN" altLang="en-US" sz="1600" dirty="0">
                    <a:latin typeface="微软雅黑" panose="020B0503020204020204" pitchFamily="34" charset="-122"/>
                    <a:ea typeface="微软雅黑" panose="020B0503020204020204" pitchFamily="34" charset="-122"/>
                    <a:cs typeface="宋体" charset="0"/>
                  </a:rPr>
                  <a:t>自动黑名单策略在返回特征值时会考虑到历史信息的影响，也就是说之前段会对当前段产生一个影响量，用</a:t>
                </a:r>
                <a:r>
                  <a:rPr kumimoji="1" lang="en-US" altLang="zh-CN" sz="1600" dirty="0">
                    <a:latin typeface="微软雅黑" panose="020B0503020204020204" pitchFamily="34" charset="-122"/>
                    <a:ea typeface="微软雅黑" panose="020B0503020204020204" pitchFamily="34" charset="-122"/>
                    <a:cs typeface="宋体" charset="0"/>
                  </a:rPr>
                  <a:t>effect</a:t>
                </a:r>
                <a:r>
                  <a:rPr kumimoji="1" lang="zh-CN" altLang="en-US" sz="1600" dirty="0">
                    <a:latin typeface="微软雅黑" panose="020B0503020204020204" pitchFamily="34" charset="-122"/>
                    <a:ea typeface="微软雅黑" panose="020B0503020204020204" pitchFamily="34" charset="-122"/>
                    <a:cs typeface="宋体" charset="0"/>
                  </a:rPr>
                  <a:t>表示。但这种影响会随着距离</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相隔的段数目</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的增加而减少，因此在计算影响量时需要乘上一个衰减系数</a:t>
                </a:r>
                <a:r>
                  <a:rPr kumimoji="1" lang="el-GR" altLang="zh-CN" sz="1600" dirty="0">
                    <a:latin typeface="微软雅黑" panose="020B0503020204020204" pitchFamily="34" charset="-122"/>
                    <a:ea typeface="微软雅黑" panose="020B0503020204020204" pitchFamily="34" charset="-122"/>
                    <a:cs typeface="宋体" charset="0"/>
                  </a:rPr>
                  <a:t>λ</a:t>
                </a:r>
                <a:r>
                  <a:rPr kumimoji="1" lang="en-US" altLang="zh-CN" sz="1600" dirty="0">
                    <a:latin typeface="微软雅黑" panose="020B0503020204020204" pitchFamily="34" charset="-122"/>
                    <a:ea typeface="微软雅黑" panose="020B0503020204020204" pitchFamily="34" charset="-122"/>
                    <a:cs typeface="宋体" charset="0"/>
                  </a:rPr>
                  <a:t>(</a:t>
                </a:r>
                <a:r>
                  <a:rPr kumimoji="1" lang="el-GR" altLang="zh-CN" sz="1600" dirty="0">
                    <a:latin typeface="微软雅黑" panose="020B0503020204020204" pitchFamily="34" charset="-122"/>
                    <a:ea typeface="微软雅黑" panose="020B0503020204020204" pitchFamily="34" charset="-122"/>
                    <a:cs typeface="宋体" charset="0"/>
                  </a:rPr>
                  <a:t>λ</a:t>
                </a:r>
                <a:r>
                  <a:rPr kumimoji="1" lang="en-US" altLang="zh-CN" sz="1600" dirty="0">
                    <a:latin typeface="微软雅黑" panose="020B0503020204020204" pitchFamily="34" charset="-122"/>
                    <a:ea typeface="微软雅黑" panose="020B0503020204020204" pitchFamily="34" charset="-122"/>
                    <a:cs typeface="宋体" charset="0"/>
                  </a:rPr>
                  <a:t> &lt; 1)</a:t>
                </a:r>
                <a:r>
                  <a:rPr kumimoji="1" lang="zh-CN" altLang="en-US" sz="1600" dirty="0">
                    <a:latin typeface="微软雅黑" panose="020B0503020204020204" pitchFamily="34" charset="-122"/>
                    <a:ea typeface="微软雅黑" panose="020B0503020204020204" pitchFamily="34" charset="-122"/>
                    <a:cs typeface="宋体" charset="0"/>
                  </a:rPr>
                  <a:t>。段</a:t>
                </a:r>
                <a:r>
                  <a:rPr kumimoji="1" lang="en-US" altLang="zh-CN" sz="1600" dirty="0">
                    <a:latin typeface="微软雅黑" panose="020B0503020204020204" pitchFamily="34" charset="-122"/>
                    <a:ea typeface="微软雅黑" panose="020B0503020204020204" pitchFamily="34" charset="-122"/>
                    <a:cs typeface="宋体" charset="0"/>
                  </a:rPr>
                  <a:t>j</a:t>
                </a:r>
                <a:r>
                  <a:rPr kumimoji="1" lang="zh-CN" altLang="en-US" sz="1600" dirty="0">
                    <a:latin typeface="微软雅黑" panose="020B0503020204020204" pitchFamily="34" charset="-122"/>
                    <a:ea typeface="微软雅黑" panose="020B0503020204020204" pitchFamily="34" charset="-122"/>
                    <a:cs typeface="宋体" charset="0"/>
                  </a:rPr>
                  <a:t>对段</a:t>
                </a:r>
                <a:r>
                  <a:rPr kumimoji="1" lang="en-US" altLang="zh-CN" sz="1600" dirty="0" err="1">
                    <a:latin typeface="微软雅黑" panose="020B0503020204020204" pitchFamily="34" charset="-122"/>
                    <a:ea typeface="微软雅黑" panose="020B0503020204020204" pitchFamily="34" charset="-122"/>
                    <a:cs typeface="宋体" charset="0"/>
                  </a:rPr>
                  <a:t>i</a:t>
                </a:r>
                <a:r>
                  <a:rPr kumimoji="1" lang="en-US" altLang="zh-CN" sz="1600" dirty="0">
                    <a:latin typeface="微软雅黑" panose="020B0503020204020204" pitchFamily="34" charset="-122"/>
                    <a:ea typeface="微软雅黑" panose="020B0503020204020204" pitchFamily="34" charset="-122"/>
                    <a:cs typeface="宋体" charset="0"/>
                  </a:rPr>
                  <a:t>(j &lt; </a:t>
                </a:r>
                <a:r>
                  <a:rPr kumimoji="1" lang="en-US" altLang="zh-CN" sz="1600" dirty="0" err="1">
                    <a:latin typeface="微软雅黑" panose="020B0503020204020204" pitchFamily="34" charset="-122"/>
                    <a:ea typeface="微软雅黑" panose="020B0503020204020204" pitchFamily="34" charset="-122"/>
                    <a:cs typeface="宋体" charset="0"/>
                  </a:rPr>
                  <a:t>i</a:t>
                </a:r>
                <a:r>
                  <a:rPr kumimoji="1" lang="en-US" altLang="zh-CN" sz="1600" dirty="0">
                    <a:latin typeface="微软雅黑" panose="020B0503020204020204" pitchFamily="34" charset="-122"/>
                    <a:ea typeface="微软雅黑" panose="020B0503020204020204" pitchFamily="34" charset="-122"/>
                    <a:cs typeface="宋体" charset="0"/>
                  </a:rPr>
                  <a:t>)</a:t>
                </a:r>
                <a:r>
                  <a:rPr kumimoji="1" lang="zh-CN" altLang="en-US" sz="1600" dirty="0">
                    <a:latin typeface="微软雅黑" panose="020B0503020204020204" pitchFamily="34" charset="-122"/>
                    <a:ea typeface="微软雅黑" panose="020B0503020204020204" pitchFamily="34" charset="-122"/>
                    <a:cs typeface="宋体" charset="0"/>
                  </a:rPr>
                  <a:t>的影响见如下公式：</a:t>
                </a:r>
                <a:endParaRPr kumimoji="1" lang="en-US" altLang="zh-CN" sz="1600" dirty="0">
                  <a:latin typeface="微软雅黑" panose="020B0503020204020204" pitchFamily="34" charset="-122"/>
                  <a:ea typeface="微软雅黑" panose="020B0503020204020204" pitchFamily="34" charset="-122"/>
                  <a:cs typeface="宋体" charset="0"/>
                </a:endParaRPr>
              </a:p>
              <a:p>
                <a:pPr marL="0" indent="0" algn="ctr">
                  <a:spcAft>
                    <a:spcPts val="600"/>
                  </a:spcAft>
                  <a:buClr>
                    <a:schemeClr val="tx1"/>
                  </a:buClr>
                  <a:buSzPct val="120000"/>
                  <a:buNone/>
                </a:pPr>
                <a14:m>
                  <m:oMathPara xmlns:m="http://schemas.openxmlformats.org/officeDocument/2006/math">
                    <m:oMathParaPr>
                      <m:jc m:val="centerGroup"/>
                    </m:oMathParaPr>
                    <m:oMath xmlns:m="http://schemas.openxmlformats.org/officeDocument/2006/math">
                      <m:sSub>
                        <m:sSubPr>
                          <m:ctrlPr>
                            <a:rPr kumimoji="1" lang="en-US" altLang="zh-CN" sz="1800" i="1" smtClean="0">
                              <a:latin typeface="Cambria Math" panose="02040503050406030204" pitchFamily="18" charset="0"/>
                              <a:ea typeface="微软雅黑" panose="020B0503020204020204" pitchFamily="34" charset="-122"/>
                            </a:rPr>
                          </m:ctrlPr>
                        </m:sSubPr>
                        <m:e>
                          <m:r>
                            <m:rPr>
                              <m:sty m:val="p"/>
                            </m:rPr>
                            <a:rPr kumimoji="1" lang="en-US" altLang="zh-CN" sz="1800" i="1">
                              <a:latin typeface="Cambria Math" panose="02040503050406030204" pitchFamily="18" charset="0"/>
                              <a:ea typeface="微软雅黑" panose="020B0503020204020204" pitchFamily="34" charset="-122"/>
                            </a:rPr>
                            <m:t>effect</m:t>
                          </m:r>
                        </m:e>
                        <m:sub>
                          <m:r>
                            <a:rPr kumimoji="1" lang="en-US" altLang="zh-CN" sz="1800" b="0" i="1" smtClean="0">
                              <a:latin typeface="Cambria Math" panose="02040503050406030204" pitchFamily="18" charset="0"/>
                              <a:ea typeface="微软雅黑" panose="020B0503020204020204" pitchFamily="34" charset="-122"/>
                            </a:rPr>
                            <m:t>𝑖𝑗</m:t>
                          </m:r>
                        </m:sub>
                      </m:sSub>
                      <m:r>
                        <a:rPr kumimoji="1" lang="en-US" altLang="zh-CN" sz="1800" b="0" i="1" smtClean="0">
                          <a:latin typeface="Cambria Math" panose="02040503050406030204" pitchFamily="18" charset="0"/>
                          <a:ea typeface="微软雅黑" panose="020B0503020204020204" pitchFamily="34" charset="-122"/>
                        </a:rPr>
                        <m:t>=</m:t>
                      </m:r>
                      <m:sSub>
                        <m:sSubPr>
                          <m:ctrlPr>
                            <a:rPr kumimoji="1" lang="en-US" altLang="zh-CN" sz="1800" b="0" i="1" smtClean="0">
                              <a:latin typeface="Cambria Math" panose="02040503050406030204" pitchFamily="18" charset="0"/>
                              <a:ea typeface="微软雅黑" panose="020B0503020204020204" pitchFamily="34" charset="-122"/>
                            </a:rPr>
                          </m:ctrlPr>
                        </m:sSubPr>
                        <m:e>
                          <m:r>
                            <a:rPr kumimoji="1" lang="en-US" altLang="zh-CN" sz="1800" i="1">
                              <a:latin typeface="Cambria Math" panose="02040503050406030204" pitchFamily="18" charset="0"/>
                              <a:ea typeface="微软雅黑" panose="020B0503020204020204" pitchFamily="34" charset="-122"/>
                            </a:rPr>
                            <m:t>𝑐</m:t>
                          </m:r>
                          <m:r>
                            <a:rPr kumimoji="1" lang="en-US" altLang="zh-CN" sz="1800" b="0" i="1" smtClean="0">
                              <a:latin typeface="Cambria Math" panose="02040503050406030204" pitchFamily="18" charset="0"/>
                              <a:ea typeface="微软雅黑" panose="020B0503020204020204" pitchFamily="34" charset="-122"/>
                            </a:rPr>
                            <m:t>𝑢</m:t>
                          </m:r>
                          <m:r>
                            <a:rPr kumimoji="1" lang="en-US" altLang="zh-CN" sz="1800" i="1">
                              <a:latin typeface="Cambria Math" panose="02040503050406030204" pitchFamily="18" charset="0"/>
                              <a:ea typeface="微软雅黑" panose="020B0503020204020204" pitchFamily="34" charset="-122"/>
                            </a:rPr>
                            <m:t>𝑚𝑢𝑙𝑎𝑛𝑡</m:t>
                          </m:r>
                        </m:e>
                        <m:sub>
                          <m:r>
                            <a:rPr kumimoji="1" lang="en-US" altLang="zh-CN" sz="1800" b="0" i="1" smtClean="0">
                              <a:latin typeface="Cambria Math" panose="02040503050406030204" pitchFamily="18" charset="0"/>
                              <a:ea typeface="微软雅黑" panose="020B0503020204020204" pitchFamily="34" charset="-122"/>
                            </a:rPr>
                            <m:t>𝑗</m:t>
                          </m:r>
                        </m:sub>
                      </m:sSub>
                      <m:r>
                        <a:rPr kumimoji="1" lang="en-US" altLang="zh-CN" sz="1800" b="0" i="1" smtClean="0">
                          <a:latin typeface="Cambria Math" panose="02040503050406030204" pitchFamily="18" charset="0"/>
                          <a:ea typeface="微软雅黑" panose="020B0503020204020204" pitchFamily="34" charset="-122"/>
                        </a:rPr>
                        <m:t>∗</m:t>
                      </m:r>
                      <m:sSup>
                        <m:sSupPr>
                          <m:ctrlPr>
                            <a:rPr kumimoji="1" lang="en-US" altLang="zh-CN" sz="1800" b="0" i="1" smtClean="0">
                              <a:latin typeface="Cambria Math" panose="02040503050406030204" pitchFamily="18" charset="0"/>
                              <a:ea typeface="微软雅黑" panose="020B0503020204020204" pitchFamily="34" charset="-122"/>
                            </a:rPr>
                          </m:ctrlPr>
                        </m:sSupPr>
                        <m:e>
                          <m:r>
                            <m:rPr>
                              <m:nor/>
                            </m:rPr>
                            <a:rPr kumimoji="1" lang="el-GR" altLang="zh-CN" sz="1800" dirty="0">
                              <a:latin typeface="DejaVu Math TeX Gyre" panose="02000503000000000000" charset="0"/>
                              <a:ea typeface="微软雅黑" panose="020B0503020204020204" pitchFamily="34" charset="-122"/>
                              <a:cs typeface="宋体" charset="0"/>
                            </a:rPr>
                            <m:t>λ</m:t>
                          </m:r>
                        </m:e>
                        <m:sup>
                          <m:r>
                            <a:rPr kumimoji="1" lang="en-US" altLang="zh-CN" sz="1800" b="0" i="1" smtClean="0">
                              <a:latin typeface="Cambria Math" panose="02040503050406030204" pitchFamily="18" charset="0"/>
                              <a:ea typeface="微软雅黑" panose="020B0503020204020204" pitchFamily="34" charset="-122"/>
                            </a:rPr>
                            <m:t>𝑖</m:t>
                          </m:r>
                          <m:r>
                            <a:rPr kumimoji="1" lang="en-US" altLang="zh-CN" sz="1800" b="0" i="1" smtClean="0">
                              <a:latin typeface="Cambria Math" panose="02040503050406030204" pitchFamily="18" charset="0"/>
                              <a:ea typeface="微软雅黑" panose="020B0503020204020204" pitchFamily="34" charset="-122"/>
                            </a:rPr>
                            <m:t>−</m:t>
                          </m:r>
                          <m:r>
                            <a:rPr kumimoji="1" lang="en-US" altLang="zh-CN" sz="1800" b="0" i="1" smtClean="0">
                              <a:latin typeface="Cambria Math" panose="02040503050406030204" pitchFamily="18" charset="0"/>
                              <a:ea typeface="微软雅黑" panose="020B0503020204020204" pitchFamily="34" charset="-122"/>
                            </a:rPr>
                            <m:t>𝑗</m:t>
                          </m:r>
                        </m:sup>
                      </m:sSup>
                    </m:oMath>
                  </m:oMathPara>
                </a14:m>
                <a:endParaRPr kumimoji="1" lang="en-US" altLang="zh-CN" sz="1600" dirty="0">
                  <a:latin typeface="微软雅黑" panose="020B0503020204020204" pitchFamily="34" charset="-122"/>
                  <a:ea typeface="微软雅黑" panose="020B0503020204020204" pitchFamily="34" charset="-122"/>
                  <a:cs typeface="宋体" charset="0"/>
                </a:endParaRPr>
              </a:p>
              <a:p>
                <a:pPr>
                  <a:spcAft>
                    <a:spcPts val="600"/>
                  </a:spcAft>
                  <a:buClr>
                    <a:schemeClr val="tx1"/>
                  </a:buClr>
                  <a:buSzPct val="120000"/>
                </a:pPr>
                <a:endParaRPr kumimoji="1" lang="en-US" altLang="zh-CN" sz="800" b="1" dirty="0">
                  <a:latin typeface="微软雅黑" panose="020B0503020204020204" pitchFamily="34" charset="-122"/>
                  <a:ea typeface="微软雅黑" panose="020B0503020204020204" pitchFamily="34" charset="-122"/>
                  <a:cs typeface="宋体" charset="0"/>
                </a:endParaRPr>
              </a:p>
              <a:p>
                <a:pPr>
                  <a:spcAft>
                    <a:spcPts val="600"/>
                  </a:spcAft>
                  <a:buClr>
                    <a:schemeClr val="tx1"/>
                  </a:buClr>
                  <a:buSzPct val="120000"/>
                  <a:buFont typeface="Wingdings" panose="05000000000000000000" pitchFamily="2" charset="2"/>
                  <a:buChar char="l"/>
                </a:pPr>
                <a:r>
                  <a:rPr kumimoji="1" lang="zh-CN" altLang="en-US" sz="1800" b="1" dirty="0">
                    <a:cs typeface="宋体" charset="0"/>
                  </a:rPr>
                  <a:t>统计量</a:t>
                </a:r>
                <a:r>
                  <a:rPr kumimoji="1" lang="zh-CN" altLang="en-US" sz="1800" dirty="0">
                    <a:cs typeface="宋体" charset="0"/>
                  </a:rPr>
                  <a:t>：</a:t>
                </a:r>
                <a:r>
                  <a:rPr lang="en-US" altLang="zh-CN" sz="1800" dirty="0"/>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𝑠𝑡𝑎𝑡</m:t>
                        </m:r>
                      </m:e>
                      <m:sub>
                        <m:r>
                          <a:rPr lang="en-US" altLang="zh-CN" sz="1800" i="1">
                            <a:latin typeface="Cambria Math" panose="02040503050406030204" pitchFamily="18" charset="0"/>
                          </a:rPr>
                          <m:t>𝑖</m:t>
                        </m:r>
                      </m:sub>
                    </m:sSub>
                  </m:oMath>
                </a14:m>
                <a:endParaRPr kumimoji="1" lang="en-US" altLang="zh-CN" sz="1800" dirty="0">
                  <a:cs typeface="宋体" charset="0"/>
                </a:endParaRPr>
              </a:p>
              <a:p>
                <a:pPr marL="400050" lvl="1" indent="0">
                  <a:spcAft>
                    <a:spcPts val="600"/>
                  </a:spcAft>
                  <a:buClr>
                    <a:schemeClr val="tx1"/>
                  </a:buClr>
                  <a:buSzPct val="120000"/>
                  <a:buNone/>
                </a:pPr>
                <a:r>
                  <a:rPr kumimoji="1" lang="zh-CN" altLang="en-US" sz="1600" dirty="0">
                    <a:ea typeface="微软雅黑" panose="020B0503020204020204" pitchFamily="34" charset="-122"/>
                    <a:cs typeface="宋体" charset="0"/>
                  </a:rPr>
                  <a:t>当前段的累积量加上前面所有段对当前段的影响量：，使用</a:t>
                </a:r>
                <a:r>
                  <a:rPr kumimoji="1" lang="en-US" altLang="zh-CN" sz="1600" dirty="0">
                    <a:ea typeface="微软雅黑" panose="020B0503020204020204" pitchFamily="34" charset="-122"/>
                    <a:cs typeface="宋体" charset="0"/>
                  </a:rPr>
                  <a:t>stat</a:t>
                </a:r>
                <a:r>
                  <a:rPr kumimoji="1" lang="zh-CN" altLang="en-US" sz="1600" dirty="0">
                    <a:ea typeface="微软雅黑" panose="020B0503020204020204" pitchFamily="34" charset="-122"/>
                    <a:cs typeface="宋体" charset="0"/>
                  </a:rPr>
                  <a:t>表示，</a:t>
                </a:r>
                <a14:m>
                  <m:oMath xmlns:m="http://schemas.openxmlformats.org/officeDocument/2006/math">
                    <m:sSub>
                      <m:sSubPr>
                        <m:ctrlPr>
                          <a:rPr kumimoji="1" lang="en-US" altLang="zh-CN" sz="1600" i="1">
                            <a:latin typeface="Cambria Math" panose="02040503050406030204" pitchFamily="18" charset="0"/>
                            <a:ea typeface="微软雅黑" panose="020B0503020204020204" pitchFamily="34" charset="-122"/>
                          </a:rPr>
                        </m:ctrlPr>
                      </m:sSubPr>
                      <m:e>
                        <m:r>
                          <a:rPr kumimoji="1" lang="en-US" altLang="zh-CN" sz="1600" i="1">
                            <a:latin typeface="Cambria Math" panose="02040503050406030204" pitchFamily="18" charset="0"/>
                            <a:ea typeface="微软雅黑" panose="020B0503020204020204" pitchFamily="34" charset="-122"/>
                          </a:rPr>
                          <m:t>𝑠𝑡𝑎𝑡</m:t>
                        </m:r>
                      </m:e>
                      <m:sub>
                        <m:r>
                          <a:rPr kumimoji="1" lang="en-US" altLang="zh-CN" sz="1600" i="1">
                            <a:latin typeface="Cambria Math" panose="02040503050406030204" pitchFamily="18" charset="0"/>
                            <a:ea typeface="微软雅黑" panose="020B0503020204020204" pitchFamily="34" charset="-122"/>
                          </a:rPr>
                          <m:t>𝑖</m:t>
                        </m:r>
                      </m:sub>
                    </m:sSub>
                  </m:oMath>
                </a14:m>
                <a:r>
                  <a:rPr kumimoji="1" lang="zh-CN" altLang="en-US" sz="1600" dirty="0">
                    <a:ea typeface="微软雅黑" panose="020B0503020204020204" pitchFamily="34" charset="-122"/>
                    <a:cs typeface="宋体" charset="0"/>
                  </a:rPr>
                  <a:t>表示第</a:t>
                </a:r>
                <a:r>
                  <a:rPr kumimoji="1" lang="en-US" altLang="zh-CN" sz="1600" dirty="0" err="1">
                    <a:ea typeface="微软雅黑" panose="020B0503020204020204" pitchFamily="34" charset="-122"/>
                    <a:cs typeface="宋体" charset="0"/>
                  </a:rPr>
                  <a:t>i</a:t>
                </a:r>
                <a:r>
                  <a:rPr kumimoji="1" lang="zh-CN" altLang="en-US" sz="1600" dirty="0">
                    <a:ea typeface="微软雅黑" panose="020B0503020204020204" pitchFamily="34" charset="-122"/>
                    <a:cs typeface="宋体" charset="0"/>
                  </a:rPr>
                  <a:t>段中某个维度对象的统计量，统计量也是最后输出的特征值，统计量的计算如下公式</a:t>
                </a:r>
                <a:endParaRPr kumimoji="1" lang="en-US" altLang="zh-CN" sz="1600" dirty="0">
                  <a:ea typeface="微软雅黑" panose="020B0503020204020204" pitchFamily="34" charset="-122"/>
                  <a:cs typeface="宋体" charset="0"/>
                </a:endParaRPr>
              </a:p>
              <a:p>
                <a:pPr marL="0" indent="0" algn="ctr">
                  <a:spcAft>
                    <a:spcPts val="600"/>
                  </a:spcAft>
                  <a:buClr>
                    <a:schemeClr val="tx1"/>
                  </a:buClr>
                  <a:buSzPct val="120000"/>
                  <a:buNone/>
                </a:pPr>
                <a14:m>
                  <m:oMath xmlns:m="http://schemas.openxmlformats.org/officeDocument/2006/math">
                    <m:sSub>
                      <m:sSubPr>
                        <m:ctrlPr>
                          <a:rPr kumimoji="1" lang="en-US" altLang="zh-CN" sz="1800" i="1" smtClean="0">
                            <a:latin typeface="Cambria Math" panose="02040503050406030204" pitchFamily="18" charset="0"/>
                            <a:ea typeface="微软雅黑" panose="020B0503020204020204" pitchFamily="34" charset="-122"/>
                          </a:rPr>
                        </m:ctrlPr>
                      </m:sSubPr>
                      <m:e>
                        <m:r>
                          <a:rPr kumimoji="1" lang="en-US" altLang="zh-CN" sz="1800" b="0" i="1" smtClean="0">
                            <a:latin typeface="Cambria Math" panose="02040503050406030204" pitchFamily="18" charset="0"/>
                            <a:ea typeface="微软雅黑" panose="020B0503020204020204" pitchFamily="34" charset="-122"/>
                          </a:rPr>
                          <m:t>𝑠𝑡𝑎𝑡</m:t>
                        </m:r>
                      </m:e>
                      <m:sub>
                        <m:r>
                          <a:rPr kumimoji="1" lang="en-US" altLang="zh-CN" sz="1800" b="0" i="1" smtClean="0">
                            <a:latin typeface="Cambria Math" panose="02040503050406030204" pitchFamily="18" charset="0"/>
                            <a:ea typeface="微软雅黑" panose="020B0503020204020204" pitchFamily="34" charset="-122"/>
                          </a:rPr>
                          <m:t>𝑖</m:t>
                        </m:r>
                      </m:sub>
                    </m:sSub>
                    <m:r>
                      <a:rPr kumimoji="1" lang="en-US" altLang="zh-CN" sz="1800" b="0" i="1" smtClean="0">
                        <a:latin typeface="Cambria Math" panose="02040503050406030204" pitchFamily="18" charset="0"/>
                        <a:ea typeface="微软雅黑" panose="020B0503020204020204" pitchFamily="34" charset="-122"/>
                      </a:rPr>
                      <m:t>=</m:t>
                    </m:r>
                    <m:sSub>
                      <m:sSubPr>
                        <m:ctrlPr>
                          <a:rPr kumimoji="1" lang="en-US" altLang="zh-CN" sz="1800" b="0" i="1" smtClean="0">
                            <a:latin typeface="Cambria Math" panose="02040503050406030204" pitchFamily="18" charset="0"/>
                            <a:ea typeface="微软雅黑" panose="020B0503020204020204" pitchFamily="34" charset="-122"/>
                          </a:rPr>
                        </m:ctrlPr>
                      </m:sSubPr>
                      <m:e>
                        <m:r>
                          <a:rPr kumimoji="1" lang="en-US" altLang="zh-CN" sz="1800" i="1">
                            <a:latin typeface="Cambria Math" panose="02040503050406030204" pitchFamily="18" charset="0"/>
                            <a:ea typeface="微软雅黑" panose="020B0503020204020204" pitchFamily="34" charset="-122"/>
                          </a:rPr>
                          <m:t>𝑐</m:t>
                        </m:r>
                        <m:r>
                          <a:rPr kumimoji="1" lang="en-US" altLang="zh-CN" sz="1800" b="0" i="1" smtClean="0">
                            <a:latin typeface="Cambria Math" panose="02040503050406030204" pitchFamily="18" charset="0"/>
                            <a:ea typeface="微软雅黑" panose="020B0503020204020204" pitchFamily="34" charset="-122"/>
                          </a:rPr>
                          <m:t>𝑢</m:t>
                        </m:r>
                        <m:r>
                          <a:rPr kumimoji="1" lang="en-US" altLang="zh-CN" sz="1800" i="1">
                            <a:latin typeface="Cambria Math" panose="02040503050406030204" pitchFamily="18" charset="0"/>
                            <a:ea typeface="微软雅黑" panose="020B0503020204020204" pitchFamily="34" charset="-122"/>
                          </a:rPr>
                          <m:t>𝑚𝑢𝑙𝑎𝑛𝑡</m:t>
                        </m:r>
                      </m:e>
                      <m:sub>
                        <m:r>
                          <a:rPr kumimoji="1" lang="en-US" altLang="zh-CN" sz="1800" b="0" i="1" smtClean="0">
                            <a:latin typeface="Cambria Math" panose="02040503050406030204" pitchFamily="18" charset="0"/>
                            <a:ea typeface="微软雅黑" panose="020B0503020204020204" pitchFamily="34" charset="-122"/>
                          </a:rPr>
                          <m:t>𝑖</m:t>
                        </m:r>
                      </m:sub>
                    </m:sSub>
                    <m:r>
                      <a:rPr kumimoji="1" lang="en-US" altLang="zh-CN" sz="1800" b="0" i="1" smtClean="0">
                        <a:latin typeface="Cambria Math" panose="02040503050406030204" pitchFamily="18" charset="0"/>
                        <a:ea typeface="微软雅黑" panose="020B0503020204020204" pitchFamily="34" charset="-122"/>
                      </a:rPr>
                      <m:t>+ </m:t>
                    </m:r>
                    <m:nary>
                      <m:naryPr>
                        <m:chr m:val="∑"/>
                        <m:ctrlPr>
                          <a:rPr kumimoji="1" lang="en-US" altLang="zh-CN" sz="1800" b="0" i="1" smtClean="0">
                            <a:latin typeface="Cambria Math" panose="02040503050406030204" pitchFamily="18" charset="0"/>
                            <a:ea typeface="微软雅黑" panose="020B0503020204020204" pitchFamily="34" charset="-122"/>
                          </a:rPr>
                        </m:ctrlPr>
                      </m:naryPr>
                      <m:sub>
                        <m:r>
                          <m:rPr>
                            <m:brk m:alnAt="23"/>
                          </m:rPr>
                          <a:rPr kumimoji="1" lang="en-US" altLang="zh-CN" sz="1800" b="0" i="1" smtClean="0">
                            <a:latin typeface="Cambria Math" panose="02040503050406030204" pitchFamily="18" charset="0"/>
                            <a:ea typeface="微软雅黑" panose="020B0503020204020204" pitchFamily="34" charset="-122"/>
                          </a:rPr>
                          <m:t>𝑗</m:t>
                        </m:r>
                        <m:r>
                          <a:rPr kumimoji="1" lang="en-US" altLang="zh-CN" sz="1800" b="0" i="1" smtClean="0">
                            <a:latin typeface="Cambria Math" panose="02040503050406030204" pitchFamily="18" charset="0"/>
                            <a:ea typeface="微软雅黑" panose="020B0503020204020204" pitchFamily="34" charset="-122"/>
                          </a:rPr>
                          <m:t>=1</m:t>
                        </m:r>
                      </m:sub>
                      <m:sup>
                        <m:r>
                          <a:rPr kumimoji="1" lang="en-US" altLang="zh-CN" sz="1800" b="0" i="1" smtClean="0">
                            <a:latin typeface="Cambria Math" panose="02040503050406030204" pitchFamily="18" charset="0"/>
                            <a:ea typeface="微软雅黑" panose="020B0503020204020204" pitchFamily="34" charset="-122"/>
                          </a:rPr>
                          <m:t>𝑖</m:t>
                        </m:r>
                        <m:r>
                          <a:rPr kumimoji="1" lang="en-US" altLang="zh-CN" sz="1800" b="0" i="1" smtClean="0">
                            <a:latin typeface="Cambria Math" panose="02040503050406030204" pitchFamily="18" charset="0"/>
                            <a:ea typeface="微软雅黑" panose="020B0503020204020204" pitchFamily="34" charset="-122"/>
                          </a:rPr>
                          <m:t>−1</m:t>
                        </m:r>
                      </m:sup>
                      <m:e>
                        <m:sSub>
                          <m:sSubPr>
                            <m:ctrlPr>
                              <a:rPr kumimoji="1" lang="en-US" altLang="zh-CN" sz="1800" b="0" i="1" smtClean="0">
                                <a:latin typeface="Cambria Math" panose="02040503050406030204" pitchFamily="18" charset="0"/>
                                <a:ea typeface="微软雅黑" panose="020B0503020204020204" pitchFamily="34" charset="-122"/>
                              </a:rPr>
                            </m:ctrlPr>
                          </m:sSubPr>
                          <m:e>
                            <m:r>
                              <a:rPr kumimoji="1" lang="en-US" altLang="zh-CN" sz="1800" b="0" i="1" smtClean="0">
                                <a:latin typeface="Cambria Math" panose="02040503050406030204" pitchFamily="18" charset="0"/>
                                <a:ea typeface="微软雅黑" panose="020B0503020204020204" pitchFamily="34" charset="-122"/>
                              </a:rPr>
                              <m:t>𝑐𝑢𝑚𝑢𝑙𝑎𝑛𝑡</m:t>
                            </m:r>
                          </m:e>
                          <m:sub>
                            <m:r>
                              <a:rPr kumimoji="1" lang="en-US" altLang="zh-CN" sz="1800" b="0" i="1" smtClean="0">
                                <a:latin typeface="Cambria Math" panose="02040503050406030204" pitchFamily="18" charset="0"/>
                                <a:ea typeface="微软雅黑" panose="020B0503020204020204" pitchFamily="34" charset="-122"/>
                              </a:rPr>
                              <m:t>𝑗</m:t>
                            </m:r>
                          </m:sub>
                        </m:sSub>
                        <m:r>
                          <a:rPr kumimoji="1" lang="en-US" altLang="zh-CN" sz="1800" b="0" i="1" smtClean="0">
                            <a:latin typeface="Cambria Math" panose="02040503050406030204" pitchFamily="18" charset="0"/>
                            <a:ea typeface="微软雅黑" panose="020B0503020204020204" pitchFamily="34" charset="-122"/>
                          </a:rPr>
                          <m:t>∗</m:t>
                        </m:r>
                      </m:e>
                    </m:nary>
                    <m:sSup>
                      <m:sSupPr>
                        <m:ctrlPr>
                          <a:rPr kumimoji="1" lang="en-US" altLang="zh-CN" sz="1800" i="1">
                            <a:latin typeface="Cambria Math" panose="02040503050406030204" pitchFamily="18" charset="0"/>
                            <a:ea typeface="微软雅黑" panose="020B0503020204020204" pitchFamily="34" charset="-122"/>
                          </a:rPr>
                        </m:ctrlPr>
                      </m:sSupPr>
                      <m:e>
                        <m:r>
                          <m:rPr>
                            <m:nor/>
                          </m:rPr>
                          <a:rPr kumimoji="1" lang="el-GR" altLang="zh-CN" sz="1800" dirty="0">
                            <a:latin typeface="DejaVu Math TeX Gyre" panose="02000503000000000000" charset="0"/>
                            <a:ea typeface="微软雅黑" panose="020B0503020204020204" pitchFamily="34" charset="-122"/>
                            <a:cs typeface="宋体" charset="0"/>
                          </a:rPr>
                          <m:t>λ</m:t>
                        </m:r>
                      </m:e>
                      <m:sup>
                        <m:r>
                          <a:rPr kumimoji="1" lang="en-US" altLang="zh-CN" sz="1800" i="1">
                            <a:latin typeface="Cambria Math" panose="02040503050406030204" pitchFamily="18" charset="0"/>
                            <a:ea typeface="微软雅黑" panose="020B0503020204020204" pitchFamily="34" charset="-122"/>
                          </a:rPr>
                          <m:t>𝑖</m:t>
                        </m:r>
                        <m:r>
                          <a:rPr kumimoji="1" lang="en-US" altLang="zh-CN" sz="1800" i="1">
                            <a:latin typeface="Cambria Math" panose="02040503050406030204" pitchFamily="18" charset="0"/>
                            <a:ea typeface="微软雅黑" panose="020B0503020204020204" pitchFamily="34" charset="-122"/>
                          </a:rPr>
                          <m:t>−</m:t>
                        </m:r>
                        <m:r>
                          <a:rPr kumimoji="1" lang="en-US" altLang="zh-CN" sz="1800" i="1">
                            <a:latin typeface="Cambria Math" panose="02040503050406030204" pitchFamily="18" charset="0"/>
                            <a:ea typeface="微软雅黑" panose="020B0503020204020204" pitchFamily="34" charset="-122"/>
                          </a:rPr>
                          <m:t>𝑗</m:t>
                        </m:r>
                      </m:sup>
                    </m:sSup>
                  </m:oMath>
                </a14:m>
                <a:r>
                  <a:rPr kumimoji="1" lang="en-US" altLang="zh-CN" sz="1800" dirty="0">
                    <a:ea typeface="微软雅黑" panose="020B0503020204020204" pitchFamily="34" charset="-122"/>
                    <a:cs typeface="宋体" charset="0"/>
                  </a:rPr>
                  <a:t>   </a:t>
                </a:r>
              </a:p>
              <a:p>
                <a:pPr marL="0" indent="0" algn="ctr">
                  <a:spcAft>
                    <a:spcPts val="600"/>
                  </a:spcAft>
                  <a:buClr>
                    <a:schemeClr val="tx1"/>
                  </a:buClr>
                  <a:buSzPct val="120000"/>
                  <a:buNone/>
                </a:pPr>
                <a14:m>
                  <m:oMathPara xmlns:m="http://schemas.openxmlformats.org/officeDocument/2006/math">
                    <m:oMathParaPr>
                      <m:jc m:val="center"/>
                    </m:oMathParaPr>
                    <m:oMath xmlns:m="http://schemas.openxmlformats.org/officeDocument/2006/math">
                      <m:sSub>
                        <m:sSubPr>
                          <m:ctrlPr>
                            <a:rPr kumimoji="1" lang="en-US" altLang="zh-CN" sz="1800" i="1">
                              <a:latin typeface="Cambria Math" panose="02040503050406030204" pitchFamily="18" charset="0"/>
                              <a:ea typeface="微软雅黑" panose="020B0503020204020204" pitchFamily="34" charset="-122"/>
                            </a:rPr>
                          </m:ctrlPr>
                        </m:sSubPr>
                        <m:e>
                          <m:r>
                            <a:rPr kumimoji="1" lang="en-US" altLang="zh-CN" sz="1800" i="1">
                              <a:latin typeface="Cambria Math" panose="02040503050406030204" pitchFamily="18" charset="0"/>
                              <a:ea typeface="微软雅黑" panose="020B0503020204020204" pitchFamily="34" charset="-122"/>
                            </a:rPr>
                            <m:t>𝑠𝑡𝑎𝑡</m:t>
                          </m:r>
                        </m:e>
                        <m:sub>
                          <m:r>
                            <a:rPr kumimoji="1" lang="en-US" altLang="zh-CN" sz="1800" i="1">
                              <a:latin typeface="Cambria Math" panose="02040503050406030204" pitchFamily="18" charset="0"/>
                              <a:ea typeface="微软雅黑" panose="020B0503020204020204" pitchFamily="34" charset="-122"/>
                            </a:rPr>
                            <m:t>𝑖</m:t>
                          </m:r>
                        </m:sub>
                      </m:sSub>
                      <m:r>
                        <a:rPr kumimoji="1" lang="en-US" altLang="zh-CN" sz="1800" i="1">
                          <a:latin typeface="Cambria Math" panose="02040503050406030204" pitchFamily="18" charset="0"/>
                          <a:ea typeface="微软雅黑" panose="020B0503020204020204" pitchFamily="34" charset="-122"/>
                        </a:rPr>
                        <m:t>=</m:t>
                      </m:r>
                      <m:sSub>
                        <m:sSubPr>
                          <m:ctrlPr>
                            <a:rPr kumimoji="1" lang="en-US" altLang="zh-CN" sz="1800" i="1">
                              <a:latin typeface="Cambria Math" panose="02040503050406030204" pitchFamily="18" charset="0"/>
                              <a:ea typeface="微软雅黑" panose="020B0503020204020204" pitchFamily="34" charset="-122"/>
                            </a:rPr>
                          </m:ctrlPr>
                        </m:sSubPr>
                        <m:e>
                          <m:r>
                            <a:rPr kumimoji="1" lang="en-US" altLang="zh-CN" sz="1800" i="1">
                              <a:latin typeface="Cambria Math" panose="02040503050406030204" pitchFamily="18" charset="0"/>
                              <a:ea typeface="微软雅黑" panose="020B0503020204020204" pitchFamily="34" charset="-122"/>
                            </a:rPr>
                            <m:t>𝑐</m:t>
                          </m:r>
                          <m:r>
                            <a:rPr kumimoji="1" lang="en-US" altLang="zh-CN" sz="1800" b="0" i="1" smtClean="0">
                              <a:latin typeface="Cambria Math" panose="02040503050406030204" pitchFamily="18" charset="0"/>
                              <a:ea typeface="微软雅黑" panose="020B0503020204020204" pitchFamily="34" charset="-122"/>
                            </a:rPr>
                            <m:t>𝑢</m:t>
                          </m:r>
                          <m:r>
                            <a:rPr kumimoji="1" lang="en-US" altLang="zh-CN" sz="1800" i="1">
                              <a:latin typeface="Cambria Math" panose="02040503050406030204" pitchFamily="18" charset="0"/>
                              <a:ea typeface="微软雅黑" panose="020B0503020204020204" pitchFamily="34" charset="-122"/>
                            </a:rPr>
                            <m:t>𝑚𝑢𝑙𝑎𝑛𝑡</m:t>
                          </m:r>
                        </m:e>
                        <m:sub>
                          <m:r>
                            <a:rPr kumimoji="1" lang="en-US" altLang="zh-CN" sz="1800" i="1">
                              <a:latin typeface="Cambria Math" panose="02040503050406030204" pitchFamily="18" charset="0"/>
                              <a:ea typeface="微软雅黑" panose="020B0503020204020204" pitchFamily="34" charset="-122"/>
                            </a:rPr>
                            <m:t>𝑖</m:t>
                          </m:r>
                        </m:sub>
                      </m:sSub>
                      <m:r>
                        <a:rPr kumimoji="1" lang="en-US" altLang="zh-CN" sz="1800" i="1">
                          <a:latin typeface="Cambria Math" panose="02040503050406030204" pitchFamily="18" charset="0"/>
                          <a:ea typeface="微软雅黑" panose="020B0503020204020204" pitchFamily="34" charset="-122"/>
                        </a:rPr>
                        <m:t>+</m:t>
                      </m:r>
                      <m:sSub>
                        <m:sSubPr>
                          <m:ctrlPr>
                            <a:rPr kumimoji="1" lang="en-US" altLang="zh-CN" sz="1800" i="1">
                              <a:latin typeface="Cambria Math" panose="02040503050406030204" pitchFamily="18" charset="0"/>
                              <a:ea typeface="微软雅黑" panose="020B0503020204020204" pitchFamily="34" charset="-122"/>
                            </a:rPr>
                          </m:ctrlPr>
                        </m:sSubPr>
                        <m:e>
                          <m:r>
                            <a:rPr kumimoji="1" lang="en-US" altLang="zh-CN" sz="1800" i="1">
                              <a:latin typeface="Cambria Math" panose="02040503050406030204" pitchFamily="18" charset="0"/>
                              <a:ea typeface="微软雅黑" panose="020B0503020204020204" pitchFamily="34" charset="-122"/>
                            </a:rPr>
                            <m:t>𝑠𝑡𝑎𝑡</m:t>
                          </m:r>
                        </m:e>
                        <m:sub>
                          <m:r>
                            <a:rPr kumimoji="1" lang="en-US" altLang="zh-CN" sz="1800" i="1">
                              <a:latin typeface="Cambria Math" panose="02040503050406030204" pitchFamily="18" charset="0"/>
                              <a:ea typeface="微软雅黑" panose="020B0503020204020204" pitchFamily="34" charset="-122"/>
                            </a:rPr>
                            <m:t>𝑖</m:t>
                          </m:r>
                          <m:r>
                            <a:rPr kumimoji="1" lang="en-US" altLang="zh-CN" sz="1800" b="0" i="1" smtClean="0">
                              <a:latin typeface="Cambria Math" panose="02040503050406030204" pitchFamily="18" charset="0"/>
                              <a:ea typeface="微软雅黑" panose="020B0503020204020204" pitchFamily="34" charset="-122"/>
                            </a:rPr>
                            <m:t>−1</m:t>
                          </m:r>
                        </m:sub>
                      </m:sSub>
                      <m:r>
                        <a:rPr kumimoji="1" lang="en-US" altLang="zh-CN" sz="1800" b="0" i="1" smtClean="0">
                          <a:latin typeface="Cambria Math" panose="02040503050406030204" pitchFamily="18" charset="0"/>
                          <a:ea typeface="微软雅黑" panose="020B0503020204020204" pitchFamily="34" charset="-122"/>
                        </a:rPr>
                        <m:t>∗</m:t>
                      </m:r>
                      <m:r>
                        <m:rPr>
                          <m:nor/>
                        </m:rPr>
                        <a:rPr kumimoji="1" lang="el-GR" altLang="zh-CN" sz="1800" dirty="0">
                          <a:latin typeface="DejaVu Math TeX Gyre" panose="02000503000000000000" charset="0"/>
                          <a:ea typeface="微软雅黑" panose="020B0503020204020204" pitchFamily="34" charset="-122"/>
                          <a:cs typeface="宋体" charset="0"/>
                        </a:rPr>
                        <m:t>λ</m:t>
                      </m:r>
                    </m:oMath>
                  </m:oMathPara>
                </a14:m>
                <a:endParaRPr kumimoji="1" lang="en-US" altLang="zh-CN" sz="1800" dirty="0">
                  <a:ea typeface="微软雅黑" panose="020B0503020204020204" pitchFamily="34" charset="-122"/>
                  <a:cs typeface="宋体" charset="0"/>
                </a:endParaRPr>
              </a:p>
              <a:p>
                <a:pPr marL="0" indent="0" algn="ctr">
                  <a:spcAft>
                    <a:spcPts val="600"/>
                  </a:spcAft>
                  <a:buClr>
                    <a:schemeClr val="tx1"/>
                  </a:buClr>
                  <a:buSzPct val="120000"/>
                  <a:buNone/>
                </a:pPr>
                <a:endParaRPr kumimoji="1" lang="en-US" altLang="zh-CN" sz="1600" dirty="0">
                  <a:latin typeface="微软雅黑" panose="020B0503020204020204" pitchFamily="34" charset="-122"/>
                  <a:ea typeface="微软雅黑" panose="020B0503020204020204" pitchFamily="34" charset="-122"/>
                  <a:cs typeface="宋体" charset="0"/>
                </a:endParaRPr>
              </a:p>
            </p:txBody>
          </p:sp>
        </mc:Choice>
        <mc:Fallback xmlns="">
          <p:sp>
            <p:nvSpPr>
              <p:cNvPr id="9" name="内容占位符 2"/>
              <p:cNvSpPr>
                <a:spLocks noRot="1" noChangeAspect="1" noMove="1" noResize="1" noEditPoints="1" noAdjustHandles="1" noChangeArrowheads="1" noChangeShapeType="1" noTextEdit="1"/>
              </p:cNvSpPr>
              <p:nvPr>
                <p:ph idx="1"/>
              </p:nvPr>
            </p:nvSpPr>
            <p:spPr>
              <a:xfrm>
                <a:off x="500446" y="1767827"/>
                <a:ext cx="9113518" cy="7105227"/>
              </a:xfrm>
              <a:blipFill rotWithShape="1">
                <a:blip r:embed="rId4"/>
                <a:stretch>
                  <a:fillRect l="-1" t="-304" r="1" b="3"/>
                </a:stretch>
              </a:blipFill>
            </p:spPr>
            <p:txBody>
              <a:bodyPr/>
              <a:lstStyle/>
              <a:p>
                <a:r>
                  <a:rPr lang="zh-CN" altLang="en-US">
                    <a:noFill/>
                  </a:rPr>
                  <a:t> </a:t>
                </a:r>
              </a:p>
            </p:txBody>
          </p:sp>
        </mc:Fallback>
      </mc:AlternateContent>
      <p:grpSp>
        <p:nvGrpSpPr>
          <p:cNvPr id="3" name="组合 2"/>
          <p:cNvGrpSpPr/>
          <p:nvPr/>
        </p:nvGrpSpPr>
        <p:grpSpPr>
          <a:xfrm>
            <a:off x="9985566" y="1682828"/>
            <a:ext cx="1420528" cy="3637612"/>
            <a:chOff x="11286183" y="2901142"/>
            <a:chExt cx="1229537" cy="3830998"/>
          </a:xfrm>
        </p:grpSpPr>
        <p:sp>
          <p:nvSpPr>
            <p:cNvPr id="11" name="矩形 10"/>
            <p:cNvSpPr/>
            <p:nvPr/>
          </p:nvSpPr>
          <p:spPr>
            <a:xfrm>
              <a:off x="11339097" y="2901142"/>
              <a:ext cx="270253" cy="764564"/>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sz="4000">
                <a:latin typeface="微软雅黑" panose="020B0503020204020204" pitchFamily="34" charset="-122"/>
                <a:ea typeface="微软雅黑" panose="020B0503020204020204" pitchFamily="34" charset="-122"/>
              </a:endParaRPr>
            </a:p>
          </p:txBody>
        </p:sp>
        <p:sp>
          <p:nvSpPr>
            <p:cNvPr id="12" name="矩形 11"/>
            <p:cNvSpPr/>
            <p:nvPr/>
          </p:nvSpPr>
          <p:spPr>
            <a:xfrm>
              <a:off x="11339098" y="3778761"/>
              <a:ext cx="270253" cy="734654"/>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sz="4000">
                <a:latin typeface="微软雅黑" panose="020B0503020204020204" pitchFamily="34" charset="-122"/>
                <a:ea typeface="微软雅黑" panose="020B0503020204020204" pitchFamily="34" charset="-122"/>
              </a:endParaRPr>
            </a:p>
          </p:txBody>
        </p:sp>
        <p:sp>
          <p:nvSpPr>
            <p:cNvPr id="13" name="矩形 12"/>
            <p:cNvSpPr/>
            <p:nvPr/>
          </p:nvSpPr>
          <p:spPr>
            <a:xfrm>
              <a:off x="11339099" y="4690596"/>
              <a:ext cx="270253" cy="734654"/>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sz="4000">
                <a:latin typeface="微软雅黑" panose="020B0503020204020204" pitchFamily="34" charset="-122"/>
                <a:ea typeface="微软雅黑" panose="020B0503020204020204" pitchFamily="34" charset="-122"/>
              </a:endParaRPr>
            </a:p>
          </p:txBody>
        </p:sp>
        <p:sp>
          <p:nvSpPr>
            <p:cNvPr id="14" name="文本框 13"/>
            <p:cNvSpPr txBox="1"/>
            <p:nvPr/>
          </p:nvSpPr>
          <p:spPr>
            <a:xfrm rot="5400000">
              <a:off x="11561582" y="5379372"/>
              <a:ext cx="95534" cy="64633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11344715" y="5997486"/>
              <a:ext cx="270253" cy="734654"/>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sz="4000">
                <a:latin typeface="微软雅黑" panose="020B0503020204020204" pitchFamily="34" charset="-122"/>
                <a:ea typeface="微软雅黑" panose="020B0503020204020204" pitchFamily="34" charset="-122"/>
              </a:endParaRPr>
            </a:p>
          </p:txBody>
        </p:sp>
        <p:sp>
          <p:nvSpPr>
            <p:cNvPr id="16" name="文本框 15"/>
            <p:cNvSpPr txBox="1"/>
            <p:nvPr/>
          </p:nvSpPr>
          <p:spPr>
            <a:xfrm>
              <a:off x="11609350" y="3129535"/>
              <a:ext cx="900752"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段</a:t>
              </a: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11609350" y="3972836"/>
              <a:ext cx="900752"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段</a:t>
              </a:r>
              <a:r>
                <a:rPr lang="en-US" altLang="zh-CN" sz="1600" dirty="0">
                  <a:latin typeface="微软雅黑" panose="020B0503020204020204" pitchFamily="34" charset="-122"/>
                  <a:ea typeface="微软雅黑" panose="020B0503020204020204" pitchFamily="34" charset="-122"/>
                </a:rPr>
                <a:t>2</a:t>
              </a:r>
              <a:endParaRPr lang="zh-CN" altLang="en-US" sz="1600"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11614968" y="4901776"/>
              <a:ext cx="900752"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段</a:t>
              </a:r>
              <a:r>
                <a:rPr lang="en-US" altLang="zh-CN" sz="1600" dirty="0">
                  <a:latin typeface="微软雅黑" panose="020B0503020204020204" pitchFamily="34" charset="-122"/>
                  <a:ea typeface="微软雅黑" panose="020B0503020204020204" pitchFamily="34" charset="-122"/>
                </a:rPr>
                <a:t>3</a:t>
              </a:r>
              <a:endParaRPr lang="zh-CN" altLang="en-US" sz="1600"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11614968" y="6100936"/>
              <a:ext cx="900752"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段</a:t>
              </a:r>
              <a:r>
                <a:rPr lang="en-US" altLang="zh-CN" sz="1600" dirty="0" err="1">
                  <a:latin typeface="Cambria Math" panose="02040503050406030204" pitchFamily="18" charset="0"/>
                  <a:ea typeface="Cambria Math" panose="02040503050406030204" pitchFamily="18" charset="0"/>
                </a:rPr>
                <a:t>i</a:t>
              </a:r>
              <a:endParaRPr lang="zh-CN" altLang="en-US" sz="1600" dirty="0">
                <a:latin typeface="Cambria Math" panose="02040503050406030204" pitchFamily="18" charset="0"/>
                <a:ea typeface="微软雅黑" panose="020B0503020204020204" pitchFamily="34" charset="-122"/>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自动黑名单段上限策略</a:t>
            </a:r>
          </a:p>
        </p:txBody>
      </p:sp>
      <p:grpSp>
        <p:nvGrpSpPr>
          <p:cNvPr id="3" name="组合 2"/>
          <p:cNvGrpSpPr/>
          <p:nvPr/>
        </p:nvGrpSpPr>
        <p:grpSpPr>
          <a:xfrm>
            <a:off x="9985566" y="1682828"/>
            <a:ext cx="1420528" cy="3637612"/>
            <a:chOff x="11286183" y="2901142"/>
            <a:chExt cx="1229537" cy="3830998"/>
          </a:xfrm>
        </p:grpSpPr>
        <p:sp>
          <p:nvSpPr>
            <p:cNvPr id="11" name="矩形 10"/>
            <p:cNvSpPr/>
            <p:nvPr/>
          </p:nvSpPr>
          <p:spPr>
            <a:xfrm>
              <a:off x="11339097" y="2901142"/>
              <a:ext cx="270253" cy="764564"/>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sz="4000">
                <a:latin typeface="微软雅黑" panose="020B0503020204020204" pitchFamily="34" charset="-122"/>
                <a:ea typeface="微软雅黑" panose="020B0503020204020204" pitchFamily="34" charset="-122"/>
              </a:endParaRPr>
            </a:p>
          </p:txBody>
        </p:sp>
        <p:sp>
          <p:nvSpPr>
            <p:cNvPr id="12" name="矩形 11"/>
            <p:cNvSpPr/>
            <p:nvPr/>
          </p:nvSpPr>
          <p:spPr>
            <a:xfrm>
              <a:off x="11339098" y="3778761"/>
              <a:ext cx="270253" cy="734654"/>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sz="4000">
                <a:latin typeface="微软雅黑" panose="020B0503020204020204" pitchFamily="34" charset="-122"/>
                <a:ea typeface="微软雅黑" panose="020B0503020204020204" pitchFamily="34" charset="-122"/>
              </a:endParaRPr>
            </a:p>
          </p:txBody>
        </p:sp>
        <p:sp>
          <p:nvSpPr>
            <p:cNvPr id="13" name="矩形 12"/>
            <p:cNvSpPr/>
            <p:nvPr/>
          </p:nvSpPr>
          <p:spPr>
            <a:xfrm>
              <a:off x="11339099" y="4690596"/>
              <a:ext cx="270253" cy="734654"/>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sz="4000">
                <a:latin typeface="微软雅黑" panose="020B0503020204020204" pitchFamily="34" charset="-122"/>
                <a:ea typeface="微软雅黑" panose="020B0503020204020204" pitchFamily="34" charset="-122"/>
              </a:endParaRPr>
            </a:p>
          </p:txBody>
        </p:sp>
        <p:sp>
          <p:nvSpPr>
            <p:cNvPr id="14" name="文本框 13"/>
            <p:cNvSpPr txBox="1"/>
            <p:nvPr/>
          </p:nvSpPr>
          <p:spPr>
            <a:xfrm rot="5400000">
              <a:off x="11561582" y="5379372"/>
              <a:ext cx="95534" cy="646331"/>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15" name="矩形 14"/>
            <p:cNvSpPr/>
            <p:nvPr/>
          </p:nvSpPr>
          <p:spPr>
            <a:xfrm>
              <a:off x="11344715" y="5997486"/>
              <a:ext cx="270253" cy="734654"/>
            </a:xfrm>
            <a:prstGeom prst="rect">
              <a:avLst/>
            </a:prstGeom>
            <a:solidFill>
              <a:srgbClr val="0070C0"/>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sz="4000">
                <a:latin typeface="微软雅黑" panose="020B0503020204020204" pitchFamily="34" charset="-122"/>
                <a:ea typeface="微软雅黑" panose="020B0503020204020204" pitchFamily="34" charset="-122"/>
              </a:endParaRPr>
            </a:p>
          </p:txBody>
        </p:sp>
        <p:sp>
          <p:nvSpPr>
            <p:cNvPr id="16" name="文本框 15"/>
            <p:cNvSpPr txBox="1"/>
            <p:nvPr/>
          </p:nvSpPr>
          <p:spPr>
            <a:xfrm>
              <a:off x="11609350" y="3129535"/>
              <a:ext cx="900752"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段</a:t>
              </a: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11609350" y="3972836"/>
              <a:ext cx="900752"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段</a:t>
              </a:r>
              <a:r>
                <a:rPr lang="en-US" altLang="zh-CN" sz="1600" dirty="0">
                  <a:latin typeface="微软雅黑" panose="020B0503020204020204" pitchFamily="34" charset="-122"/>
                  <a:ea typeface="微软雅黑" panose="020B0503020204020204" pitchFamily="34" charset="-122"/>
                </a:rPr>
                <a:t>2</a:t>
              </a:r>
              <a:endParaRPr lang="zh-CN" altLang="en-US" sz="1600"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11614968" y="4901776"/>
              <a:ext cx="900752"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段</a:t>
              </a:r>
              <a:r>
                <a:rPr lang="en-US" altLang="zh-CN" sz="1600" dirty="0">
                  <a:latin typeface="微软雅黑" panose="020B0503020204020204" pitchFamily="34" charset="-122"/>
                  <a:ea typeface="微软雅黑" panose="020B0503020204020204" pitchFamily="34" charset="-122"/>
                </a:rPr>
                <a:t>3</a:t>
              </a:r>
              <a:endParaRPr lang="zh-CN" altLang="en-US" sz="1600"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11614968" y="6100936"/>
              <a:ext cx="900752"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段</a:t>
              </a:r>
              <a:r>
                <a:rPr lang="en-US" altLang="zh-CN" sz="1600" dirty="0" err="1">
                  <a:latin typeface="Cambria Math" panose="02040503050406030204" pitchFamily="18" charset="0"/>
                  <a:ea typeface="Cambria Math" panose="02040503050406030204" pitchFamily="18" charset="0"/>
                </a:rPr>
                <a:t>i</a:t>
              </a:r>
              <a:endParaRPr lang="zh-CN" altLang="en-US" sz="1600" dirty="0">
                <a:latin typeface="Cambria Math" panose="02040503050406030204" pitchFamily="18" charset="0"/>
                <a:ea typeface="微软雅黑" panose="020B0503020204020204" pitchFamily="34" charset="-122"/>
              </a:endParaRPr>
            </a:p>
          </p:txBody>
        </p:sp>
      </p:grpSp>
      <mc:AlternateContent xmlns:mc="http://schemas.openxmlformats.org/markup-compatibility/2006" xmlns:a14="http://schemas.microsoft.com/office/drawing/2010/main">
        <mc:Choice Requires="a14">
          <p:sp>
            <p:nvSpPr>
              <p:cNvPr id="20" name="内容占位符 2"/>
              <p:cNvSpPr>
                <a:spLocks noGrp="1"/>
              </p:cNvSpPr>
              <p:nvPr>
                <p:ph idx="1"/>
              </p:nvPr>
            </p:nvSpPr>
            <p:spPr>
              <a:xfrm>
                <a:off x="376173" y="1825055"/>
                <a:ext cx="9667282" cy="7036203"/>
              </a:xfrm>
            </p:spPr>
            <p:txBody>
              <a:bodyPr>
                <a:noAutofit/>
              </a:bodyPr>
              <a:lstStyle/>
              <a:p>
                <a:pPr>
                  <a:spcAft>
                    <a:spcPts val="600"/>
                  </a:spcAft>
                  <a:buClr>
                    <a:srgbClr val="0070C0"/>
                  </a:buClr>
                  <a:buSzPct val="120000"/>
                  <a:buFont typeface="Wingdings" panose="05000000000000000000" pitchFamily="2" charset="2"/>
                  <a:buChar char="l"/>
                </a:pPr>
                <a:r>
                  <a:rPr lang="zh-CN" altLang="en-US" sz="1800" b="1" dirty="0">
                    <a:cs typeface="宋体" charset="0"/>
                  </a:rPr>
                  <a:t>影响</a:t>
                </a:r>
                <a:r>
                  <a:rPr kumimoji="1" lang="zh-CN" altLang="en-US" sz="1800" b="1" dirty="0">
                    <a:cs typeface="宋体" charset="0"/>
                  </a:rPr>
                  <a:t>量上限</a:t>
                </a:r>
                <a:r>
                  <a:rPr kumimoji="1" lang="zh-CN" altLang="en-US" sz="1800" dirty="0">
                    <a:cs typeface="宋体" charset="0"/>
                  </a:rPr>
                  <a:t>：</a:t>
                </a:r>
                <a:r>
                  <a:rPr lang="en-US" altLang="zh-CN" sz="1800" dirty="0">
                    <a:solidFill>
                      <a:prstClr val="black"/>
                    </a:solidFill>
                    <a:ea typeface="Cambria Math" panose="02040503050406030204" pitchFamily="18" charset="0"/>
                  </a:rPr>
                  <a:t> </a:t>
                </a:r>
                <a14:m>
                  <m:oMath xmlns:m="http://schemas.openxmlformats.org/officeDocument/2006/math">
                    <m:r>
                      <a:rPr lang="en-US" altLang="zh-CN" sz="1800" b="1" i="1">
                        <a:solidFill>
                          <a:prstClr val="black"/>
                        </a:solidFill>
                        <a:latin typeface="Cambria Math" panose="02040503050406030204" pitchFamily="18" charset="0"/>
                        <a:ea typeface="Cambria Math" panose="02040503050406030204" pitchFamily="18" charset="0"/>
                      </a:rPr>
                      <m:t>𝒖𝒑𝒑𝒆𝒓</m:t>
                    </m:r>
                    <m:r>
                      <a:rPr lang="en-US" altLang="zh-CN" sz="1800" b="1" i="1">
                        <a:solidFill>
                          <a:prstClr val="black"/>
                        </a:solidFill>
                        <a:latin typeface="Cambria Math" panose="02040503050406030204" pitchFamily="18" charset="0"/>
                        <a:ea typeface="Cambria Math" panose="02040503050406030204" pitchFamily="18" charset="0"/>
                      </a:rPr>
                      <m:t>_</m:t>
                    </m:r>
                    <m:r>
                      <a:rPr lang="en-US" altLang="zh-CN" sz="1800" b="1" i="1">
                        <a:solidFill>
                          <a:prstClr val="black"/>
                        </a:solidFill>
                        <a:latin typeface="Cambria Math" panose="02040503050406030204" pitchFamily="18" charset="0"/>
                        <a:ea typeface="Cambria Math" panose="02040503050406030204" pitchFamily="18" charset="0"/>
                      </a:rPr>
                      <m:t>𝒃𝒐𝒖𝒏𝒅</m:t>
                    </m:r>
                  </m:oMath>
                </a14:m>
                <a:endParaRPr kumimoji="1" lang="en-US" altLang="zh-CN" sz="1800" b="1" dirty="0">
                  <a:cs typeface="宋体" charset="0"/>
                </a:endParaRPr>
              </a:p>
              <a:p>
                <a:pPr marL="400050" lvl="1" indent="0">
                  <a:spcAft>
                    <a:spcPts val="600"/>
                  </a:spcAft>
                  <a:buSzPct val="120000"/>
                  <a:buNone/>
                </a:pPr>
                <a:r>
                  <a:rPr kumimoji="1" lang="zh-CN" altLang="en-US" sz="1600" dirty="0">
                    <a:cs typeface="宋体" charset="0"/>
                  </a:rPr>
                  <a:t>如果之前段的累积量太大，该维度对象有可能被永远置于黑名单中。为了避免这种情况，在计算统计量时，需要给历史段的影响设定一个上限</a:t>
                </a:r>
                <a14:m>
                  <m:oMath xmlns:m="http://schemas.openxmlformats.org/officeDocument/2006/math">
                    <m:r>
                      <a:rPr lang="en-US" altLang="zh-CN" sz="1600" i="1">
                        <a:solidFill>
                          <a:prstClr val="black"/>
                        </a:solidFill>
                        <a:latin typeface="Cambria Math" panose="02040503050406030204" pitchFamily="18" charset="0"/>
                        <a:ea typeface="Cambria Math" panose="02040503050406030204" pitchFamily="18" charset="0"/>
                      </a:rPr>
                      <m:t>𝑢𝑝𝑝𝑒𝑟</m:t>
                    </m:r>
                    <m:r>
                      <a:rPr lang="en-US" altLang="zh-CN" sz="1600" i="1">
                        <a:solidFill>
                          <a:prstClr val="black"/>
                        </a:solidFill>
                        <a:latin typeface="Cambria Math" panose="02040503050406030204" pitchFamily="18" charset="0"/>
                        <a:ea typeface="Cambria Math" panose="02040503050406030204" pitchFamily="18" charset="0"/>
                      </a:rPr>
                      <m:t>_</m:t>
                    </m:r>
                    <m:r>
                      <a:rPr lang="en-US" altLang="zh-CN" sz="1600" i="1">
                        <a:solidFill>
                          <a:prstClr val="black"/>
                        </a:solidFill>
                        <a:latin typeface="Cambria Math" panose="02040503050406030204" pitchFamily="18" charset="0"/>
                        <a:ea typeface="Cambria Math" panose="02040503050406030204" pitchFamily="18" charset="0"/>
                      </a:rPr>
                      <m:t>𝑏𝑜𝑢𝑛𝑑</m:t>
                    </m:r>
                  </m:oMath>
                </a14:m>
                <a:r>
                  <a:rPr kumimoji="1" lang="zh-CN" altLang="en-US" sz="1600" dirty="0">
                    <a:cs typeface="宋体" charset="0"/>
                  </a:rPr>
                  <a:t>。</a:t>
                </a:r>
                <a:endParaRPr kumimoji="1" lang="en-US" altLang="zh-CN" sz="1600" dirty="0">
                  <a:cs typeface="宋体" charset="0"/>
                </a:endParaRPr>
              </a:p>
              <a:p>
                <a:pPr marL="400050" lvl="1" indent="0">
                  <a:spcAft>
                    <a:spcPts val="600"/>
                  </a:spcAft>
                  <a:buSzPct val="120000"/>
                  <a:buNone/>
                </a:pPr>
                <a:r>
                  <a:rPr lang="zh-CN" altLang="zh-CN" sz="1600" dirty="0"/>
                  <a:t>考虑上一段信息</a:t>
                </a:r>
                <a:r>
                  <a:rPr lang="zh-CN" altLang="en-US" sz="1600" dirty="0"/>
                  <a:t>可能</a:t>
                </a:r>
                <a:r>
                  <a:rPr lang="zh-CN" altLang="zh-CN" sz="1600" dirty="0"/>
                  <a:t>没有记录。</a:t>
                </a:r>
                <a:r>
                  <a:rPr lang="zh-CN" altLang="en-US" sz="1600" dirty="0"/>
                  <a:t>所以</a:t>
                </a:r>
                <a:r>
                  <a:rPr lang="zh-CN" altLang="zh-CN" sz="1600" dirty="0"/>
                  <a:t>计算两</a:t>
                </a:r>
                <a:r>
                  <a:rPr lang="zh-CN" altLang="en-US" sz="1600" dirty="0"/>
                  <a:t>段</a:t>
                </a:r>
                <a:r>
                  <a:rPr lang="zh-CN" altLang="zh-CN" sz="1600" dirty="0"/>
                  <a:t>坐标差确定衰减的幂</a:t>
                </a:r>
                <a:r>
                  <a:rPr lang="zh-CN" altLang="en-US" sz="1600" dirty="0"/>
                  <a:t>。</a:t>
                </a:r>
                <a:endParaRPr kumimoji="1" lang="en-US" altLang="zh-CN" sz="1200" dirty="0">
                  <a:cs typeface="宋体" charset="0"/>
                </a:endParaRPr>
              </a:p>
              <a:p>
                <a:pPr marL="0" indent="0" algn="ctr">
                  <a:buNone/>
                </a:pPr>
                <a:endParaRPr lang="en-US" altLang="zh-CN" sz="80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𝑠𝑡𝑎𝑡</m:t>
                          </m:r>
                        </m:e>
                        <m:sub>
                          <m:r>
                            <a:rPr lang="en-US" altLang="zh-CN" sz="1800" i="1">
                              <a:solidFill>
                                <a:schemeClr val="tx1"/>
                              </a:solidFill>
                              <a:latin typeface="Cambria Math" panose="02040503050406030204" pitchFamily="18" charset="0"/>
                            </a:rPr>
                            <m:t>𝑖</m:t>
                          </m:r>
                        </m:sub>
                      </m:sSub>
                      <m:r>
                        <a:rPr lang="en-US" altLang="zh-CN" sz="1800" i="1">
                          <a:solidFill>
                            <a:schemeClr val="tx1"/>
                          </a:solidFill>
                          <a:latin typeface="Cambria Math" panose="02040503050406030204" pitchFamily="18" charset="0"/>
                        </a:rPr>
                        <m:t>=</m:t>
                      </m:r>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𝑐</m:t>
                          </m:r>
                          <m:r>
                            <a:rPr lang="en-US" altLang="zh-CN" sz="1800" b="0" i="1" smtClean="0">
                              <a:solidFill>
                                <a:schemeClr val="tx1"/>
                              </a:solidFill>
                              <a:latin typeface="Cambria Math" panose="02040503050406030204" pitchFamily="18" charset="0"/>
                            </a:rPr>
                            <m:t>𝑢</m:t>
                          </m:r>
                          <m:r>
                            <a:rPr lang="en-US" altLang="zh-CN" sz="1800" i="1">
                              <a:solidFill>
                                <a:schemeClr val="tx1"/>
                              </a:solidFill>
                              <a:latin typeface="Cambria Math" panose="02040503050406030204" pitchFamily="18" charset="0"/>
                            </a:rPr>
                            <m:t>𝑚𝑢𝑙𝑎𝑛𝑡</m:t>
                          </m:r>
                        </m:e>
                        <m:sub>
                          <m:r>
                            <a:rPr lang="en-US" altLang="zh-CN" sz="1800" i="1">
                              <a:solidFill>
                                <a:schemeClr val="tx1"/>
                              </a:solidFill>
                              <a:latin typeface="Cambria Math" panose="02040503050406030204" pitchFamily="18" charset="0"/>
                            </a:rPr>
                            <m:t>𝑖</m:t>
                          </m:r>
                        </m:sub>
                      </m:sSub>
                      <m:r>
                        <a:rPr lang="en-US" altLang="zh-CN" sz="1800" i="1">
                          <a:solidFill>
                            <a:schemeClr val="tx1"/>
                          </a:solidFill>
                          <a:latin typeface="Cambria Math" panose="02040503050406030204" pitchFamily="18" charset="0"/>
                        </a:rPr>
                        <m:t>+</m:t>
                      </m:r>
                      <m:r>
                        <m:rPr>
                          <m:sty m:val="p"/>
                        </m:rPr>
                        <a:rPr lang="en-US" altLang="zh-CN" sz="1800" i="1">
                          <a:solidFill>
                            <a:schemeClr val="tx1"/>
                          </a:solidFill>
                          <a:latin typeface="Cambria Math" panose="02040503050406030204" pitchFamily="18" charset="0"/>
                        </a:rPr>
                        <m:t>min</m:t>
                      </m:r>
                      <m:r>
                        <a:rPr lang="en-US" altLang="zh-CN" sz="1800" i="1">
                          <a:solidFill>
                            <a:schemeClr val="tx1"/>
                          </a:solidFill>
                          <a:latin typeface="Cambria Math" panose="02040503050406030204" pitchFamily="18" charset="0"/>
                        </a:rPr>
                        <m:t>(</m:t>
                      </m:r>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𝑠𝑡𝑎𝑡</m:t>
                          </m:r>
                        </m:e>
                        <m:sub>
                          <m:r>
                            <a:rPr lang="en-US" altLang="zh-CN" sz="1800" i="1">
                              <a:latin typeface="Cambria Math" panose="02040503050406030204" pitchFamily="18" charset="0"/>
                            </a:rPr>
                            <m:t>𝑗</m:t>
                          </m:r>
                        </m:sub>
                      </m:sSub>
                      <m:r>
                        <a:rPr lang="zh-CN" altLang="en-US" sz="1800" i="1">
                          <a:solidFill>
                            <a:schemeClr val="tx1"/>
                          </a:solidFill>
                          <a:latin typeface="Cambria Math" panose="02040503050406030204" pitchFamily="18" charset="0"/>
                        </a:rPr>
                        <m:t>∗</m:t>
                      </m:r>
                      <m:sSup>
                        <m:sSupPr>
                          <m:ctrlPr>
                            <a:rPr lang="en-US" altLang="zh-CN" sz="1800" i="1">
                              <a:solidFill>
                                <a:schemeClr val="tx1"/>
                              </a:solidFill>
                              <a:latin typeface="Cambria Math" panose="02040503050406030204" pitchFamily="18" charset="0"/>
                            </a:rPr>
                          </m:ctrlPr>
                        </m:sSupPr>
                        <m:e>
                          <m:r>
                            <m:rPr>
                              <m:nor/>
                            </m:rPr>
                            <a:rPr lang="el-GR" altLang="zh-CN" sz="1800" dirty="0">
                              <a:solidFill>
                                <a:schemeClr val="tx1"/>
                              </a:solidFill>
                              <a:latin typeface="Times New Roman" panose="02020603050405020304" pitchFamily="18" charset="0"/>
                              <a:cs typeface="宋体" charset="0"/>
                            </a:rPr>
                            <m:t>λ</m:t>
                          </m:r>
                        </m:e>
                        <m:sup>
                          <m:r>
                            <a:rPr lang="en-US" altLang="zh-CN" sz="1800" i="1">
                              <a:solidFill>
                                <a:schemeClr val="tx1"/>
                              </a:solidFill>
                              <a:latin typeface="Cambria Math" panose="02040503050406030204" pitchFamily="18" charset="0"/>
                            </a:rPr>
                            <m:t>𝑖</m:t>
                          </m:r>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rPr>
                            <m:t>𝑗</m:t>
                          </m:r>
                          <m:r>
                            <a:rPr lang="en-US" altLang="zh-CN" sz="1800" b="0" i="1" smtClean="0">
                              <a:solidFill>
                                <a:schemeClr val="tx1"/>
                              </a:solidFill>
                              <a:latin typeface="Cambria Math" panose="02040503050406030204" pitchFamily="18" charset="0"/>
                            </a:rPr>
                            <m:t>−1</m:t>
                          </m:r>
                        </m:sup>
                      </m:sSup>
                      <m:r>
                        <m:rPr>
                          <m:nor/>
                        </m:rPr>
                        <a:rPr lang="en-US" altLang="zh-CN" sz="1800" dirty="0">
                          <a:solidFill>
                            <a:schemeClr val="tx1"/>
                          </a:solidFill>
                          <a:latin typeface="Times New Roman" panose="02020603050405020304" pitchFamily="18" charset="0"/>
                          <a:cs typeface="宋体" charset="0"/>
                        </a:rPr>
                        <m:t> </m:t>
                      </m:r>
                      <m:r>
                        <a:rPr lang="en-US" altLang="zh-CN" sz="1800" i="1">
                          <a:solidFill>
                            <a:schemeClr val="tx1"/>
                          </a:solidFill>
                          <a:latin typeface="Cambria Math" panose="02040503050406030204" pitchFamily="18" charset="0"/>
                        </a:rPr>
                        <m:t>,</m:t>
                      </m:r>
                      <m:r>
                        <a:rPr lang="en-US" altLang="zh-CN" sz="1800" i="1">
                          <a:solidFill>
                            <a:schemeClr val="tx1"/>
                          </a:solidFill>
                          <a:latin typeface="Cambria Math" panose="02040503050406030204" pitchFamily="18" charset="0"/>
                          <a:ea typeface="Cambria Math" panose="02040503050406030204" pitchFamily="18" charset="0"/>
                        </a:rPr>
                        <m:t>𝑢𝑝𝑝𝑒𝑟</m:t>
                      </m:r>
                      <m:r>
                        <a:rPr lang="en-US" altLang="zh-CN" sz="1800" i="1">
                          <a:solidFill>
                            <a:schemeClr val="tx1"/>
                          </a:solidFill>
                          <a:latin typeface="Cambria Math" panose="02040503050406030204" pitchFamily="18" charset="0"/>
                          <a:ea typeface="Cambria Math" panose="02040503050406030204" pitchFamily="18" charset="0"/>
                        </a:rPr>
                        <m:t>_</m:t>
                      </m:r>
                      <m:r>
                        <a:rPr lang="en-US" altLang="zh-CN" sz="1800" i="1">
                          <a:solidFill>
                            <a:schemeClr val="tx1"/>
                          </a:solidFill>
                          <a:latin typeface="Cambria Math" panose="02040503050406030204" pitchFamily="18" charset="0"/>
                          <a:ea typeface="Cambria Math" panose="02040503050406030204" pitchFamily="18" charset="0"/>
                        </a:rPr>
                        <m:t>𝑏𝑜𝑢𝑛𝑑</m:t>
                      </m:r>
                      <m:r>
                        <a:rPr lang="en-US" altLang="zh-CN" sz="1800" i="1">
                          <a:solidFill>
                            <a:schemeClr val="tx1"/>
                          </a:solidFill>
                          <a:latin typeface="Cambria Math" panose="02040503050406030204" pitchFamily="18" charset="0"/>
                        </a:rPr>
                        <m:t>)∗</m:t>
                      </m:r>
                      <m:r>
                        <m:rPr>
                          <m:nor/>
                        </m:rPr>
                        <a:rPr lang="el-GR" altLang="zh-CN" sz="1800" i="1" dirty="0">
                          <a:solidFill>
                            <a:schemeClr val="tx1"/>
                          </a:solidFill>
                          <a:latin typeface="Times New Roman" panose="02020603050405020304" pitchFamily="18" charset="0"/>
                        </a:rPr>
                        <m:t>λ</m:t>
                      </m:r>
                    </m:oMath>
                  </m:oMathPara>
                </a14:m>
                <a:endParaRPr lang="en-US" altLang="zh-CN" sz="900" i="1" dirty="0">
                  <a:latin typeface="Times New Roman" panose="02020603050405020304" pitchFamily="18" charset="0"/>
                </a:endParaRPr>
              </a:p>
              <a:p>
                <a:pPr marL="0" indent="0" algn="ctr">
                  <a:buNone/>
                </a:pPr>
                <a:endParaRPr lang="en-US" altLang="zh-CN" sz="800" i="1" dirty="0">
                  <a:latin typeface="Times New Roman" panose="02020603050405020304" pitchFamily="18" charset="0"/>
                </a:endParaRPr>
              </a:p>
              <a:p>
                <a:pPr marL="0" indent="0" algn="ctr">
                  <a:buNone/>
                </a:pPr>
                <a:endParaRPr lang="en-US" altLang="zh-CN" sz="800" i="1" dirty="0">
                  <a:latin typeface="Times New Roman" panose="02020603050405020304" pitchFamily="18" charset="0"/>
                </a:endParaRPr>
              </a:p>
              <a:p>
                <a:pPr>
                  <a:spcAft>
                    <a:spcPts val="600"/>
                  </a:spcAft>
                  <a:buClr>
                    <a:srgbClr val="0070C0"/>
                  </a:buClr>
                  <a:buSzPct val="120000"/>
                  <a:buFont typeface="Wingdings" panose="05000000000000000000" pitchFamily="2" charset="2"/>
                  <a:buChar char="l"/>
                </a:pPr>
                <a:r>
                  <a:rPr kumimoji="1" lang="zh-CN" altLang="en-US" sz="1800" b="1" dirty="0">
                    <a:cs typeface="宋体" charset="0"/>
                  </a:rPr>
                  <a:t>影响量下限</a:t>
                </a:r>
                <a:r>
                  <a:rPr kumimoji="1" lang="zh-CN" altLang="en-US" sz="1800" dirty="0">
                    <a:cs typeface="宋体" charset="0"/>
                  </a:rPr>
                  <a:t>：</a:t>
                </a:r>
                <a:r>
                  <a:rPr lang="en-US" altLang="zh-CN" sz="1800" dirty="0"/>
                  <a:t> </a:t>
                </a:r>
                <a14:m>
                  <m:oMath xmlns:m="http://schemas.openxmlformats.org/officeDocument/2006/math">
                    <m:r>
                      <a:rPr lang="en-US" altLang="zh-CN" sz="1800" b="1" i="1" dirty="0">
                        <a:latin typeface="Cambria Math" panose="02040503050406030204" pitchFamily="18" charset="0"/>
                      </a:rPr>
                      <m:t>𝒅𝒊𝒔𝒄𝒂𝒓𝒅</m:t>
                    </m:r>
                  </m:oMath>
                </a14:m>
                <a:endParaRPr kumimoji="1" lang="en-US" altLang="zh-CN" sz="1800" b="1" dirty="0">
                  <a:cs typeface="宋体" charset="0"/>
                </a:endParaRPr>
              </a:p>
              <a:p>
                <a:pPr marL="400050" lvl="1" indent="0">
                  <a:spcAft>
                    <a:spcPts val="600"/>
                  </a:spcAft>
                  <a:buSzPct val="120000"/>
                  <a:buNone/>
                </a:pPr>
                <a:r>
                  <a:rPr kumimoji="1" lang="zh-CN" altLang="en-US" sz="1600" dirty="0">
                    <a:latin typeface="微软雅黑" panose="020B0503020204020204" pitchFamily="34" charset="-122"/>
                    <a:ea typeface="微软雅黑" panose="020B0503020204020204" pitchFamily="34" charset="-122"/>
                    <a:cs typeface="宋体" charset="0"/>
                  </a:rPr>
                  <a:t>如果之前段的累积量太小，其对于当前段的影响就可以忽略不计，这时就可以</a:t>
                </a:r>
                <a:r>
                  <a:rPr lang="zh-CN" altLang="en-US" sz="1600" dirty="0">
                    <a:cs typeface="宋体" charset="0"/>
                  </a:rPr>
                  <a:t>结合</a:t>
                </a:r>
                <a:r>
                  <a:rPr kumimoji="1" lang="zh-CN" altLang="en-US" sz="1600" dirty="0">
                    <a:latin typeface="微软雅黑" panose="020B0503020204020204" pitchFamily="34" charset="-122"/>
                    <a:ea typeface="微软雅黑" panose="020B0503020204020204" pitchFamily="34" charset="-122"/>
                    <a:cs typeface="宋体" charset="0"/>
                  </a:rPr>
                  <a:t>影响力下限</a:t>
                </a:r>
                <a:r>
                  <a:rPr kumimoji="1" lang="en-US" altLang="zh-CN" sz="1600" dirty="0">
                    <a:latin typeface="微软雅黑" panose="020B0503020204020204" pitchFamily="34" charset="-122"/>
                    <a:ea typeface="微软雅黑" panose="020B0503020204020204" pitchFamily="34" charset="-122"/>
                    <a:cs typeface="宋体" charset="0"/>
                  </a:rPr>
                  <a:t>discard</a:t>
                </a:r>
                <a:r>
                  <a:rPr kumimoji="1" lang="zh-CN" altLang="en-US" sz="1600" dirty="0">
                    <a:latin typeface="微软雅黑" panose="020B0503020204020204" pitchFamily="34" charset="-122"/>
                    <a:ea typeface="微软雅黑" panose="020B0503020204020204" pitchFamily="34" charset="-122"/>
                    <a:cs typeface="宋体" charset="0"/>
                  </a:rPr>
                  <a:t>来计算最大的影响范围</a:t>
                </a:r>
                <a:r>
                  <a:rPr kumimoji="1" lang="en-US" altLang="zh-CN" sz="1600" dirty="0">
                    <a:latin typeface="微软雅黑" panose="020B0503020204020204" pitchFamily="34" charset="-122"/>
                    <a:ea typeface="微软雅黑" panose="020B0503020204020204" pitchFamily="34" charset="-122"/>
                    <a:cs typeface="宋体" charset="0"/>
                  </a:rPr>
                  <a:t>N</a:t>
                </a:r>
                <a:r>
                  <a:rPr kumimoji="1" lang="zh-CN" altLang="en-US" sz="1600" dirty="0">
                    <a:latin typeface="微软雅黑" panose="020B0503020204020204" pitchFamily="34" charset="-122"/>
                    <a:ea typeface="微软雅黑" panose="020B0503020204020204" pitchFamily="34" charset="-122"/>
                    <a:cs typeface="宋体" charset="0"/>
                  </a:rPr>
                  <a:t>。</a:t>
                </a:r>
                <a:endParaRPr kumimoji="1" lang="en-US" altLang="zh-CN" sz="1600" dirty="0">
                  <a:latin typeface="微软雅黑" panose="020B0503020204020204" pitchFamily="34" charset="-122"/>
                  <a:ea typeface="微软雅黑" panose="020B0503020204020204" pitchFamily="34" charset="-122"/>
                  <a:cs typeface="宋体" charset="0"/>
                </a:endParaRPr>
              </a:p>
              <a:p>
                <a:pPr marL="457200" lvl="1" indent="0" algn="ctr">
                  <a:spcAft>
                    <a:spcPts val="600"/>
                  </a:spcAft>
                  <a:buSzPct val="120000"/>
                  <a:buNone/>
                </a:pPr>
                <a:endParaRPr lang="en-US" altLang="zh-CN" sz="800" dirty="0">
                  <a:latin typeface="Cambria Math" panose="02040503050406030204" pitchFamily="18" charset="0"/>
                  <a:ea typeface="Cambria Math" panose="02040503050406030204" pitchFamily="18" charset="0"/>
                  <a:cs typeface="宋体" charset="0"/>
                </a:endParaRPr>
              </a:p>
              <a:p>
                <a:pPr marL="457200" lvl="1" indent="0" algn="ctr">
                  <a:spcAft>
                    <a:spcPts val="600"/>
                  </a:spcAft>
                  <a:buSzPct val="120000"/>
                  <a:buNone/>
                </a:pPr>
                <a14:m>
                  <m:oMathPara xmlns:m="http://schemas.openxmlformats.org/officeDocument/2006/math">
                    <m:oMathParaPr>
                      <m:jc m:val="centerGroup"/>
                    </m:oMathParaPr>
                    <m:oMath xmlns:m="http://schemas.openxmlformats.org/officeDocument/2006/math">
                      <m:r>
                        <a:rPr lang="en-US" altLang="zh-CN" sz="1800">
                          <a:latin typeface="Cambria Math" panose="02040503050406030204" pitchFamily="18" charset="0"/>
                          <a:ea typeface="Cambria Math" panose="02040503050406030204" pitchFamily="18" charset="0"/>
                          <a:cs typeface="宋体" charset="0"/>
                        </a:rPr>
                        <m:t>𝑁</m:t>
                      </m:r>
                      <m:r>
                        <a:rPr lang="en-US" altLang="zh-CN" sz="1800">
                          <a:latin typeface="Cambria Math" panose="02040503050406030204" pitchFamily="18" charset="0"/>
                          <a:ea typeface="Cambria Math" panose="02040503050406030204" pitchFamily="18" charset="0"/>
                          <a:cs typeface="宋体" charset="0"/>
                        </a:rPr>
                        <m:t>=</m:t>
                      </m:r>
                      <m:r>
                        <a:rPr lang="en-US" altLang="zh-CN" sz="1800">
                          <a:latin typeface="Cambria Math" panose="02040503050406030204" pitchFamily="18" charset="0"/>
                          <a:ea typeface="Cambria Math" panose="02040503050406030204" pitchFamily="18" charset="0"/>
                          <a:cs typeface="宋体" charset="0"/>
                        </a:rPr>
                        <m:t>𝑚𝑖𝑛</m:t>
                      </m:r>
                      <m:r>
                        <a:rPr lang="en-US" altLang="zh-CN" sz="1800">
                          <a:latin typeface="Cambria Math" panose="02040503050406030204" pitchFamily="18" charset="0"/>
                          <a:ea typeface="Cambria Math" panose="02040503050406030204" pitchFamily="18" charset="0"/>
                          <a:cs typeface="宋体" charset="0"/>
                        </a:rPr>
                        <m:t>(</m:t>
                      </m:r>
                      <m:f>
                        <m:fPr>
                          <m:ctrlPr>
                            <a:rPr lang="en-US" altLang="zh-CN" sz="1800" i="1">
                              <a:latin typeface="Cambria Math" panose="02040503050406030204" pitchFamily="18" charset="0"/>
                              <a:ea typeface="Cambria Math" panose="02040503050406030204" pitchFamily="18" charset="0"/>
                              <a:cs typeface="宋体" charset="0"/>
                            </a:rPr>
                          </m:ctrlPr>
                        </m:fPr>
                        <m:num>
                          <m:r>
                            <a:rPr lang="en-US" altLang="zh-CN" sz="1800">
                              <a:latin typeface="Cambria Math" panose="02040503050406030204" pitchFamily="18" charset="0"/>
                              <a:ea typeface="Cambria Math" panose="02040503050406030204" pitchFamily="18" charset="0"/>
                              <a:cs typeface="宋体" charset="0"/>
                            </a:rPr>
                            <m:t>𝑙𝑜𝑔</m:t>
                          </m:r>
                          <m:d>
                            <m:dPr>
                              <m:ctrlPr>
                                <a:rPr lang="en-US" altLang="zh-CN" sz="1800" i="1">
                                  <a:latin typeface="Cambria Math" panose="02040503050406030204" pitchFamily="18" charset="0"/>
                                  <a:ea typeface="Cambria Math" panose="02040503050406030204" pitchFamily="18" charset="0"/>
                                  <a:cs typeface="宋体" charset="0"/>
                                </a:rPr>
                              </m:ctrlPr>
                            </m:dPr>
                            <m:e>
                              <m:f>
                                <m:fPr>
                                  <m:ctrlPr>
                                    <a:rPr lang="en-US" altLang="zh-CN" sz="1800" i="1">
                                      <a:latin typeface="Cambria Math" panose="02040503050406030204" pitchFamily="18" charset="0"/>
                                      <a:ea typeface="Cambria Math" panose="02040503050406030204" pitchFamily="18" charset="0"/>
                                      <a:cs typeface="宋体" charset="0"/>
                                    </a:rPr>
                                  </m:ctrlPr>
                                </m:fPr>
                                <m:num>
                                  <m:r>
                                    <a:rPr lang="en-US" altLang="zh-CN" sz="1800" i="1">
                                      <a:latin typeface="Cambria Math" panose="02040503050406030204" pitchFamily="18" charset="0"/>
                                      <a:ea typeface="Cambria Math" panose="02040503050406030204" pitchFamily="18" charset="0"/>
                                      <a:cs typeface="宋体" charset="0"/>
                                    </a:rPr>
                                    <m:t>𝑑𝑖𝑠𝑐𝑎𝑟𝑑</m:t>
                                  </m:r>
                                </m:num>
                                <m:den>
                                  <m:r>
                                    <a:rPr lang="en-US" altLang="zh-CN" sz="1800" i="1">
                                      <a:solidFill>
                                        <a:prstClr val="black"/>
                                      </a:solidFill>
                                      <a:latin typeface="Cambria Math" panose="02040503050406030204" pitchFamily="18" charset="0"/>
                                      <a:ea typeface="Cambria Math" panose="02040503050406030204" pitchFamily="18" charset="0"/>
                                    </a:rPr>
                                    <m:t>𝑢𝑝𝑝𝑒𝑟</m:t>
                                  </m:r>
                                  <m:r>
                                    <a:rPr lang="en-US" altLang="zh-CN" sz="1800" i="1">
                                      <a:solidFill>
                                        <a:prstClr val="black"/>
                                      </a:solidFill>
                                      <a:latin typeface="Cambria Math" panose="02040503050406030204" pitchFamily="18" charset="0"/>
                                      <a:ea typeface="Cambria Math" panose="02040503050406030204" pitchFamily="18" charset="0"/>
                                    </a:rPr>
                                    <m:t>_</m:t>
                                  </m:r>
                                  <m:r>
                                    <a:rPr lang="en-US" altLang="zh-CN" sz="1800" i="1">
                                      <a:solidFill>
                                        <a:prstClr val="black"/>
                                      </a:solidFill>
                                      <a:latin typeface="Cambria Math" panose="02040503050406030204" pitchFamily="18" charset="0"/>
                                      <a:ea typeface="Cambria Math" panose="02040503050406030204" pitchFamily="18" charset="0"/>
                                    </a:rPr>
                                    <m:t>𝑏𝑜𝑢𝑛𝑑</m:t>
                                  </m:r>
                                </m:den>
                              </m:f>
                            </m:e>
                          </m:d>
                        </m:num>
                        <m:den>
                          <m:r>
                            <a:rPr lang="en-US" altLang="zh-CN" sz="1800">
                              <a:latin typeface="Cambria Math" panose="02040503050406030204" pitchFamily="18" charset="0"/>
                              <a:ea typeface="Cambria Math" panose="02040503050406030204" pitchFamily="18" charset="0"/>
                              <a:cs typeface="宋体" charset="0"/>
                            </a:rPr>
                            <m:t>𝑙𝑜𝑔</m:t>
                          </m:r>
                          <m:d>
                            <m:dPr>
                              <m:ctrlPr>
                                <a:rPr lang="en-US" altLang="zh-CN" sz="1800" i="1">
                                  <a:latin typeface="Cambria Math" panose="02040503050406030204" pitchFamily="18" charset="0"/>
                                  <a:ea typeface="Cambria Math" panose="02040503050406030204" pitchFamily="18" charset="0"/>
                                  <a:cs typeface="宋体" charset="0"/>
                                </a:rPr>
                              </m:ctrlPr>
                            </m:dPr>
                            <m:e>
                              <m:r>
                                <m:rPr>
                                  <m:nor/>
                                </m:rPr>
                                <a:rPr lang="el-GR" altLang="zh-CN" sz="1800" dirty="0">
                                  <a:latin typeface="Cambria Math" panose="02040503050406030204" pitchFamily="18" charset="0"/>
                                  <a:ea typeface="Cambria Math" panose="02040503050406030204" pitchFamily="18" charset="0"/>
                                  <a:cs typeface="宋体" charset="0"/>
                                </a:rPr>
                                <m:t>λ</m:t>
                              </m:r>
                            </m:e>
                          </m:d>
                        </m:den>
                      </m:f>
                      <m:r>
                        <a:rPr lang="en-US" altLang="zh-CN" sz="1800">
                          <a:latin typeface="Cambria Math" panose="02040503050406030204" pitchFamily="18" charset="0"/>
                          <a:ea typeface="Cambria Math" panose="02040503050406030204" pitchFamily="18" charset="0"/>
                          <a:cs typeface="宋体" charset="0"/>
                        </a:rPr>
                        <m:t>,</m:t>
                      </m:r>
                      <m:r>
                        <a:rPr lang="en-US" altLang="zh-CN" sz="1800" b="0" i="1">
                          <a:latin typeface="Cambria Math" panose="02040503050406030204" pitchFamily="18" charset="0"/>
                          <a:ea typeface="Cambria Math" panose="02040503050406030204" pitchFamily="18" charset="0"/>
                          <a:cs typeface="宋体" charset="0"/>
                        </a:rPr>
                        <m:t>𝑚𝑎𝑥</m:t>
                      </m:r>
                      <m:r>
                        <a:rPr lang="en-US" altLang="zh-CN" sz="1800" b="0" i="1">
                          <a:latin typeface="Cambria Math" panose="02040503050406030204" pitchFamily="18" charset="0"/>
                          <a:ea typeface="Cambria Math" panose="02040503050406030204" pitchFamily="18" charset="0"/>
                          <a:cs typeface="宋体" charset="0"/>
                        </a:rPr>
                        <m:t>⁡_</m:t>
                      </m:r>
                      <m:r>
                        <a:rPr lang="en-US" altLang="zh-CN" sz="1800" b="0" i="1">
                          <a:latin typeface="Cambria Math" panose="02040503050406030204" pitchFamily="18" charset="0"/>
                          <a:ea typeface="Cambria Math" panose="02040503050406030204" pitchFamily="18" charset="0"/>
                          <a:cs typeface="宋体" charset="0"/>
                        </a:rPr>
                        <m:t>𝑠𝑒𝑔</m:t>
                      </m:r>
                      <m:r>
                        <a:rPr lang="en-US" altLang="zh-CN" sz="1800" b="0" i="1">
                          <a:latin typeface="Cambria Math" panose="02040503050406030204" pitchFamily="18" charset="0"/>
                          <a:ea typeface="Cambria Math" panose="02040503050406030204" pitchFamily="18" charset="0"/>
                          <a:cs typeface="宋体" charset="0"/>
                        </a:rPr>
                        <m:t>_</m:t>
                      </m:r>
                      <m:r>
                        <a:rPr lang="en-US" altLang="zh-CN" sz="1800" b="0" i="1">
                          <a:latin typeface="Cambria Math" panose="02040503050406030204" pitchFamily="18" charset="0"/>
                          <a:ea typeface="Cambria Math" panose="02040503050406030204" pitchFamily="18" charset="0"/>
                          <a:cs typeface="宋体" charset="0"/>
                        </a:rPr>
                        <m:t>𝑛𝑢𝑚</m:t>
                      </m:r>
                      <m:r>
                        <a:rPr lang="zh-CN" altLang="en-US" sz="1800">
                          <a:latin typeface="Cambria Math" panose="02040503050406030204" pitchFamily="18" charset="0"/>
                          <a:cs typeface="宋体" charset="0"/>
                        </a:rPr>
                        <m:t>）</m:t>
                      </m:r>
                    </m:oMath>
                  </m:oMathPara>
                </a14:m>
                <a:endParaRPr kumimoji="1" lang="en-US" altLang="zh-CN" sz="1050" dirty="0">
                  <a:latin typeface="微软雅黑" panose="020B0503020204020204" pitchFamily="34" charset="-122"/>
                  <a:ea typeface="微软雅黑" panose="020B0503020204020204" pitchFamily="34" charset="-122"/>
                  <a:cs typeface="宋体" charset="0"/>
                </a:endParaRPr>
              </a:p>
              <a:p>
                <a:pPr marL="457200" lvl="1" indent="0" algn="ctr">
                  <a:spcAft>
                    <a:spcPts val="600"/>
                  </a:spcAft>
                  <a:buSzPct val="120000"/>
                  <a:buNone/>
                </a:pPr>
                <a:endParaRPr kumimoji="1" lang="en-US" altLang="zh-CN" sz="800" dirty="0">
                  <a:latin typeface="微软雅黑" panose="020B0503020204020204" pitchFamily="34" charset="-122"/>
                  <a:ea typeface="微软雅黑" panose="020B0503020204020204" pitchFamily="34" charset="-122"/>
                  <a:cs typeface="宋体" charset="0"/>
                </a:endParaRPr>
              </a:p>
            </p:txBody>
          </p:sp>
        </mc:Choice>
        <mc:Fallback xmlns="">
          <p:sp>
            <p:nvSpPr>
              <p:cNvPr id="20" name="内容占位符 2"/>
              <p:cNvSpPr>
                <a:spLocks noRot="1" noChangeAspect="1" noMove="1" noResize="1" noEditPoints="1" noAdjustHandles="1" noChangeArrowheads="1" noChangeShapeType="1" noTextEdit="1"/>
              </p:cNvSpPr>
              <p:nvPr>
                <p:ph idx="1"/>
              </p:nvPr>
            </p:nvSpPr>
            <p:spPr>
              <a:xfrm>
                <a:off x="376173" y="1825055"/>
                <a:ext cx="9667282" cy="7036203"/>
              </a:xfrm>
              <a:blipFill rotWithShape="1">
                <a:blip r:embed="rId4"/>
                <a:stretch>
                  <a:fillRect l="-3" t="-1" r="3" b="7"/>
                </a:stretch>
              </a:blipFill>
            </p:spPr>
            <p:txBody>
              <a:bodyPr/>
              <a:lstStyle/>
              <a:p>
                <a:r>
                  <a:rPr lang="zh-CN" altLang="en-US">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自动黑名单段上限策略</a:t>
            </a:r>
          </a:p>
        </p:txBody>
      </p:sp>
      <p:sp>
        <p:nvSpPr>
          <p:cNvPr id="10" name="文本框 9"/>
          <p:cNvSpPr txBox="1"/>
          <p:nvPr/>
        </p:nvSpPr>
        <p:spPr>
          <a:xfrm>
            <a:off x="4616725" y="1200917"/>
            <a:ext cx="5670275" cy="5509200"/>
          </a:xfrm>
          <a:prstGeom prst="rect">
            <a:avLst/>
          </a:prstGeom>
          <a:solidFill>
            <a:schemeClr val="bg1">
              <a:lumMod val="95000"/>
              <a:alpha val="10000"/>
            </a:schemeClr>
          </a:solidFill>
          <a:ln>
            <a:noFill/>
          </a:ln>
        </p:spPr>
        <p:txBody>
          <a:bodyPr wrap="square" rtlCol="0">
            <a:spAutoFit/>
          </a:bodyPr>
          <a:lstStyle/>
          <a:p>
            <a:pPr lvl="0"/>
            <a:r>
              <a:rPr lang="en-GB" altLang="zh-CN" sz="1600" dirty="0"/>
              <a:t>[@policy]</a:t>
            </a:r>
          </a:p>
          <a:p>
            <a:pPr lvl="0"/>
            <a:r>
              <a:rPr lang="en-GB" altLang="zh-CN" sz="1600" dirty="0" err="1"/>
              <a:t>policy_type</a:t>
            </a:r>
            <a:r>
              <a:rPr lang="en-GB" altLang="zh-CN" sz="1600" dirty="0"/>
              <a:t> : rule</a:t>
            </a:r>
          </a:p>
          <a:p>
            <a:pPr lvl="0"/>
            <a:r>
              <a:rPr lang="en-GB" altLang="zh-CN" sz="1600" dirty="0" err="1"/>
              <a:t>policy_id</a:t>
            </a:r>
            <a:r>
              <a:rPr lang="en-GB" altLang="zh-CN" sz="1600" dirty="0"/>
              <a:t> : 603101</a:t>
            </a:r>
          </a:p>
          <a:p>
            <a:pPr lvl="0"/>
            <a:r>
              <a:rPr lang="en-GB" altLang="zh-CN" sz="1600" dirty="0"/>
              <a:t>[.@rule]</a:t>
            </a:r>
          </a:p>
          <a:p>
            <a:pPr lvl="0"/>
            <a:r>
              <a:rPr lang="en-GB" altLang="zh-CN" sz="1600" dirty="0"/>
              <a:t>threshold : 57</a:t>
            </a:r>
          </a:p>
          <a:p>
            <a:pPr lvl="0"/>
            <a:r>
              <a:rPr lang="en-GB" altLang="zh-CN" sz="1600" dirty="0" err="1"/>
              <a:t>feature_id</a:t>
            </a:r>
            <a:r>
              <a:rPr lang="en-GB" altLang="zh-CN" sz="1600" dirty="0"/>
              <a:t> : 603101</a:t>
            </a:r>
          </a:p>
          <a:p>
            <a:pPr lvl="0"/>
            <a:r>
              <a:rPr lang="en-GB" altLang="zh-CN" sz="1600" dirty="0" err="1"/>
              <a:t>rule_type</a:t>
            </a:r>
            <a:r>
              <a:rPr lang="en-GB" altLang="zh-CN" sz="1600" dirty="0"/>
              <a:t> : </a:t>
            </a:r>
            <a:r>
              <a:rPr lang="en-GB" altLang="zh-CN" sz="1600" dirty="0" err="1"/>
              <a:t>auto_segment</a:t>
            </a:r>
            <a:endParaRPr lang="en-GB" altLang="zh-CN" sz="1600" dirty="0"/>
          </a:p>
          <a:p>
            <a:pPr lvl="0"/>
            <a:r>
              <a:rPr lang="en-GB" altLang="zh-CN" sz="1600" dirty="0"/>
              <a:t> </a:t>
            </a:r>
          </a:p>
          <a:p>
            <a:pPr lvl="0"/>
            <a:r>
              <a:rPr lang="en-GB" altLang="zh-CN" sz="1600" dirty="0"/>
              <a:t> </a:t>
            </a:r>
          </a:p>
          <a:p>
            <a:pPr lvl="0"/>
            <a:r>
              <a:rPr lang="en-GB" altLang="zh-CN" sz="1600" dirty="0"/>
              <a:t>[@feature]</a:t>
            </a:r>
          </a:p>
          <a:p>
            <a:pPr lvl="0"/>
            <a:r>
              <a:rPr lang="en-GB" altLang="zh-CN" sz="1600" dirty="0" err="1"/>
              <a:t>feature_id</a:t>
            </a:r>
            <a:r>
              <a:rPr lang="en-GB" altLang="zh-CN" sz="1600" dirty="0"/>
              <a:t> : 603101</a:t>
            </a:r>
          </a:p>
          <a:p>
            <a:pPr lvl="0"/>
            <a:r>
              <a:rPr lang="en-GB" altLang="zh-CN" sz="1600" dirty="0" err="1"/>
              <a:t>view_level</a:t>
            </a:r>
            <a:r>
              <a:rPr lang="en-GB" altLang="zh-CN" sz="1600" dirty="0"/>
              <a:t> : </a:t>
            </a:r>
            <a:r>
              <a:rPr lang="en-GB" altLang="zh-CN" sz="1600" dirty="0" err="1"/>
              <a:t>click_level</a:t>
            </a:r>
            <a:endParaRPr lang="en-GB" altLang="zh-CN" sz="1600" dirty="0"/>
          </a:p>
          <a:p>
            <a:pPr lvl="0"/>
            <a:r>
              <a:rPr lang="en-GB" altLang="zh-CN" sz="1600" dirty="0" err="1">
                <a:solidFill>
                  <a:srgbClr val="C00000"/>
                </a:solidFill>
              </a:rPr>
              <a:t>feature_type</a:t>
            </a:r>
            <a:r>
              <a:rPr lang="en-GB" altLang="zh-CN" sz="1600" dirty="0">
                <a:solidFill>
                  <a:srgbClr val="C00000"/>
                </a:solidFill>
              </a:rPr>
              <a:t> : </a:t>
            </a:r>
            <a:r>
              <a:rPr lang="en-GB" altLang="zh-CN" sz="1600" dirty="0" err="1">
                <a:solidFill>
                  <a:srgbClr val="C00000"/>
                </a:solidFill>
              </a:rPr>
              <a:t>auto_segment</a:t>
            </a:r>
            <a:endParaRPr lang="en-GB" altLang="zh-CN" sz="1600" dirty="0">
              <a:solidFill>
                <a:srgbClr val="C00000"/>
              </a:solidFill>
            </a:endParaRPr>
          </a:p>
          <a:p>
            <a:pPr lvl="0"/>
            <a:r>
              <a:rPr lang="en-GB" altLang="zh-CN" sz="1600" dirty="0" err="1">
                <a:solidFill>
                  <a:srgbClr val="C00000"/>
                </a:solidFill>
              </a:rPr>
              <a:t>upper_bound</a:t>
            </a:r>
            <a:r>
              <a:rPr lang="en-GB" altLang="zh-CN" sz="1600" dirty="0">
                <a:solidFill>
                  <a:srgbClr val="C00000"/>
                </a:solidFill>
              </a:rPr>
              <a:t> : 92</a:t>
            </a:r>
          </a:p>
          <a:p>
            <a:pPr lvl="0"/>
            <a:r>
              <a:rPr lang="en-GB" altLang="zh-CN" sz="1600" dirty="0" err="1">
                <a:solidFill>
                  <a:srgbClr val="C00000"/>
                </a:solidFill>
              </a:rPr>
              <a:t>lamda</a:t>
            </a:r>
            <a:r>
              <a:rPr lang="en-GB" altLang="zh-CN" sz="1600" dirty="0">
                <a:solidFill>
                  <a:srgbClr val="C00000"/>
                </a:solidFill>
              </a:rPr>
              <a:t> : 0.99</a:t>
            </a:r>
          </a:p>
          <a:p>
            <a:pPr lvl="0"/>
            <a:r>
              <a:rPr lang="en-GB" altLang="zh-CN" sz="1600" dirty="0">
                <a:solidFill>
                  <a:srgbClr val="C00000"/>
                </a:solidFill>
              </a:rPr>
              <a:t>discard : 4</a:t>
            </a:r>
          </a:p>
          <a:p>
            <a:pPr lvl="0"/>
            <a:r>
              <a:rPr lang="en-GB" altLang="zh-CN" sz="1600" dirty="0" err="1">
                <a:solidFill>
                  <a:srgbClr val="C00000"/>
                </a:solidFill>
              </a:rPr>
              <a:t>max_seg_num</a:t>
            </a:r>
            <a:r>
              <a:rPr lang="en-GB" altLang="zh-CN" sz="1600" dirty="0">
                <a:solidFill>
                  <a:srgbClr val="C00000"/>
                </a:solidFill>
              </a:rPr>
              <a:t> : 100</a:t>
            </a:r>
          </a:p>
          <a:p>
            <a:pPr lvl="0"/>
            <a:r>
              <a:rPr lang="en-GB" altLang="zh-CN" sz="1600" dirty="0">
                <a:solidFill>
                  <a:srgbClr val="C00000"/>
                </a:solidFill>
              </a:rPr>
              <a:t>care : ['</a:t>
            </a:r>
            <a:r>
              <a:rPr lang="en-GB" altLang="zh-CN" sz="1600" dirty="0" err="1">
                <a:solidFill>
                  <a:srgbClr val="C00000"/>
                </a:solidFill>
              </a:rPr>
              <a:t>accessid</a:t>
            </a:r>
            <a:r>
              <a:rPr lang="en-GB" altLang="zh-CN" sz="1600" dirty="0">
                <a:solidFill>
                  <a:srgbClr val="C00000"/>
                </a:solidFill>
              </a:rPr>
              <a:t>':='1','29','31','37']['</a:t>
            </a:r>
            <a:r>
              <a:rPr lang="en-GB" altLang="zh-CN" sz="1600" dirty="0" err="1">
                <a:solidFill>
                  <a:srgbClr val="C00000"/>
                </a:solidFill>
              </a:rPr>
              <a:t>is_wireless</a:t>
            </a:r>
            <a:r>
              <a:rPr lang="en-GB" altLang="zh-CN" sz="1600" dirty="0">
                <a:solidFill>
                  <a:srgbClr val="C00000"/>
                </a:solidFill>
              </a:rPr>
              <a:t>':='0']['</a:t>
            </a:r>
            <a:r>
              <a:rPr lang="en-GB" altLang="zh-CN" sz="1600" dirty="0" err="1">
                <a:solidFill>
                  <a:srgbClr val="C00000"/>
                </a:solidFill>
              </a:rPr>
              <a:t>baiduid'VA</a:t>
            </a:r>
            <a:r>
              <a:rPr lang="en-GB" altLang="zh-CN" sz="1600" dirty="0">
                <a:solidFill>
                  <a:srgbClr val="C00000"/>
                </a:solidFill>
              </a:rPr>
              <a:t>]</a:t>
            </a:r>
          </a:p>
          <a:p>
            <a:pPr lvl="0"/>
            <a:r>
              <a:rPr lang="en-GB" altLang="zh-CN" sz="1600" dirty="0"/>
              <a:t>view : </a:t>
            </a:r>
            <a:r>
              <a:rPr lang="en-GB" altLang="zh-CN" sz="1600" dirty="0" err="1"/>
              <a:t>baiduid</a:t>
            </a:r>
            <a:endParaRPr lang="en-GB" altLang="zh-CN" sz="1600" dirty="0"/>
          </a:p>
          <a:p>
            <a:pPr lvl="0"/>
            <a:r>
              <a:rPr lang="en-GB" altLang="zh-CN" sz="1600" dirty="0" err="1"/>
              <a:t>window_type</a:t>
            </a:r>
            <a:r>
              <a:rPr lang="en-GB" altLang="zh-CN" sz="1600" dirty="0"/>
              <a:t> : </a:t>
            </a:r>
            <a:r>
              <a:rPr lang="en-GB" altLang="zh-CN" sz="1600" dirty="0" err="1"/>
              <a:t>pv</a:t>
            </a:r>
            <a:endParaRPr lang="en-GB" altLang="zh-CN" sz="1600" dirty="0"/>
          </a:p>
          <a:p>
            <a:pPr lvl="0"/>
            <a:r>
              <a:rPr lang="en-GB" altLang="zh-CN" sz="1600" dirty="0"/>
              <a:t>version : 2</a:t>
            </a:r>
          </a:p>
          <a:p>
            <a:pPr lvl="0"/>
            <a:r>
              <a:rPr lang="en-GB" altLang="zh-CN" sz="1600" dirty="0" err="1"/>
              <a:t>window_length</a:t>
            </a:r>
            <a:r>
              <a:rPr lang="en-GB" altLang="zh-CN" sz="1600" dirty="0"/>
              <a:t> : 400000</a:t>
            </a:r>
            <a:endParaRPr lang="en-GB" altLang="zh-CN" sz="1600" dirty="0">
              <a:solidFill>
                <a:srgbClr val="000000"/>
              </a:solidFill>
              <a:latin typeface="Helvetica Light" charset="0"/>
              <a:sym typeface="Helvetica Light" charset="0"/>
            </a:endParaRPr>
          </a:p>
        </p:txBody>
      </p:sp>
      <p:sp>
        <p:nvSpPr>
          <p:cNvPr id="9" name="文本框 8"/>
          <p:cNvSpPr txBox="1"/>
          <p:nvPr/>
        </p:nvSpPr>
        <p:spPr>
          <a:xfrm>
            <a:off x="500446" y="1981200"/>
            <a:ext cx="3046867" cy="2308324"/>
          </a:xfrm>
          <a:prstGeom prst="rect">
            <a:avLst/>
          </a:prstGeom>
          <a:noFill/>
        </p:spPr>
        <p:txBody>
          <a:bodyPr wrap="square" rtlCol="0">
            <a:spAutoFit/>
          </a:bodyPr>
          <a:lstStyle/>
          <a:p>
            <a:r>
              <a:rPr kumimoji="1" lang="zh-CN" altLang="en-US" b="1" dirty="0"/>
              <a:t>业务场景：</a:t>
            </a:r>
            <a:endParaRPr kumimoji="1" lang="en-US" altLang="zh-CN" b="1" dirty="0"/>
          </a:p>
          <a:p>
            <a:r>
              <a:rPr kumimoji="1" lang="zh-CN" altLang="en-US" dirty="0"/>
              <a:t>主要解决小流量长时间的作弊</a:t>
            </a:r>
            <a:endParaRPr kumimoji="1" lang="en-US" altLang="zh-CN" dirty="0"/>
          </a:p>
          <a:p>
            <a:r>
              <a:rPr kumimoji="1" lang="zh-CN" altLang="en-US" b="1" dirty="0"/>
              <a:t>参数说明</a:t>
            </a:r>
            <a:r>
              <a:rPr kumimoji="1" lang="zh-CN" altLang="en-US" dirty="0"/>
              <a:t>：</a:t>
            </a:r>
            <a:endParaRPr kumimoji="1" lang="en-US" altLang="zh-CN" dirty="0"/>
          </a:p>
          <a:p>
            <a:r>
              <a:rPr kumimoji="1" lang="en-US" altLang="zh-CN" dirty="0" err="1"/>
              <a:t>Upper_bound</a:t>
            </a:r>
            <a:r>
              <a:rPr kumimoji="1" lang="en-US" altLang="zh-CN" dirty="0"/>
              <a:t>:</a:t>
            </a:r>
            <a:r>
              <a:rPr kumimoji="1" lang="zh-CN" altLang="en-US" dirty="0"/>
              <a:t>影响量上限</a:t>
            </a:r>
            <a:endParaRPr kumimoji="1" lang="en-US" altLang="zh-CN" dirty="0"/>
          </a:p>
          <a:p>
            <a:r>
              <a:rPr kumimoji="1" lang="en-US" altLang="zh-CN" dirty="0"/>
              <a:t>Discard</a:t>
            </a:r>
            <a:r>
              <a:rPr kumimoji="1" lang="zh-CN" altLang="en-US" dirty="0"/>
              <a:t>：影响量下限</a:t>
            </a:r>
            <a:endParaRPr kumimoji="1" lang="en-US" altLang="zh-CN" dirty="0"/>
          </a:p>
          <a:p>
            <a:r>
              <a:rPr kumimoji="1" lang="en-US" altLang="zh-CN" dirty="0" err="1"/>
              <a:t>Lamda</a:t>
            </a:r>
            <a:r>
              <a:rPr kumimoji="1" lang="zh-CN" altLang="en-US" dirty="0"/>
              <a:t>：衰减因子。</a:t>
            </a:r>
            <a:endParaRPr kumimoji="1" lang="en-US" altLang="zh-CN" dirty="0"/>
          </a:p>
          <a:p>
            <a:r>
              <a:rPr kumimoji="1" lang="en-US" altLang="zh-CN" dirty="0" err="1"/>
              <a:t>Max_seg_num</a:t>
            </a:r>
            <a:r>
              <a:rPr kumimoji="1" lang="en-US" altLang="zh-CN" dirty="0"/>
              <a:t>:</a:t>
            </a:r>
            <a:r>
              <a:rPr kumimoji="1" lang="zh-CN" altLang="en-US" dirty="0"/>
              <a:t>最大影响段数</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3984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段比例策略</a:t>
            </a:r>
          </a:p>
        </p:txBody>
      </p:sp>
      <p:sp>
        <p:nvSpPr>
          <p:cNvPr id="10" name="文本框 9"/>
          <p:cNvSpPr txBox="1"/>
          <p:nvPr/>
        </p:nvSpPr>
        <p:spPr>
          <a:xfrm>
            <a:off x="462636" y="1886717"/>
            <a:ext cx="9938664" cy="4119269"/>
          </a:xfrm>
          <a:prstGeom prst="rect">
            <a:avLst/>
          </a:prstGeom>
          <a:solidFill>
            <a:schemeClr val="bg1">
              <a:lumMod val="95000"/>
              <a:alpha val="10000"/>
            </a:schemeClr>
          </a:solidFill>
          <a:ln>
            <a:noFill/>
          </a:ln>
        </p:spPr>
        <p:txBody>
          <a:bodyPr wrap="square" rtlCol="0">
            <a:spAutoFit/>
          </a:bodyPr>
          <a:lstStyle/>
          <a:p>
            <a:pPr marL="285750" lvl="0" indent="-285750">
              <a:lnSpc>
                <a:spcPct val="150000"/>
              </a:lnSpc>
              <a:buFont typeface="Wingdings" panose="05000000000000000000" pitchFamily="2" charset="2"/>
              <a:buChar char="l"/>
            </a:pPr>
            <a:r>
              <a:rPr lang="zh-CN" altLang="en-GB" sz="1600" dirty="0">
                <a:solidFill>
                  <a:srgbClr val="000000"/>
                </a:solidFill>
                <a:latin typeface="Helvetica Light" charset="0"/>
                <a:sym typeface="Helvetica Light" charset="0"/>
              </a:rPr>
              <a:t>段比例</a:t>
            </a:r>
            <a:r>
              <a:rPr lang="zh-CN" altLang="en-US" sz="1600" dirty="0">
                <a:solidFill>
                  <a:srgbClr val="000000"/>
                </a:solidFill>
                <a:latin typeface="Helvetica Light" charset="0"/>
                <a:sym typeface="Helvetica Light" charset="0"/>
              </a:rPr>
              <a:t>策略</a:t>
            </a:r>
            <a:endParaRPr lang="en-US" altLang="zh-CN" sz="1600" dirty="0">
              <a:solidFill>
                <a:srgbClr val="000000"/>
              </a:solidFill>
              <a:latin typeface="Helvetica Light" charset="0"/>
              <a:sym typeface="Helvetica Light" charset="0"/>
            </a:endParaRPr>
          </a:p>
          <a:p>
            <a:pPr marL="742950" lvl="1" indent="-285750">
              <a:lnSpc>
                <a:spcPct val="150000"/>
              </a:lnSpc>
              <a:buFont typeface="Wingdings" panose="05000000000000000000" pitchFamily="2" charset="2"/>
              <a:buChar char="l"/>
            </a:pPr>
            <a:r>
              <a:rPr lang="zh-CN" altLang="en-US" sz="1600" dirty="0">
                <a:solidFill>
                  <a:srgbClr val="000000"/>
                </a:solidFill>
                <a:latin typeface="Helvetica Light" charset="0"/>
                <a:sym typeface="Helvetica Light" charset="0"/>
              </a:rPr>
              <a:t>当一条记录的过滤记录数与参考记录数的比值超过阈值，则超过阈值的部分将被策略命中。</a:t>
            </a:r>
            <a:endParaRPr lang="en-US" altLang="zh-CN" sz="1600" dirty="0">
              <a:solidFill>
                <a:srgbClr val="000000"/>
              </a:solidFill>
              <a:latin typeface="Helvetica Light" charset="0"/>
              <a:sym typeface="Helvetica Light" charset="0"/>
            </a:endParaRPr>
          </a:p>
          <a:p>
            <a:pPr marL="742950" lvl="1" indent="-285750">
              <a:lnSpc>
                <a:spcPct val="150000"/>
              </a:lnSpc>
              <a:buFont typeface="Wingdings" panose="05000000000000000000" pitchFamily="2" charset="2"/>
              <a:buChar char="l"/>
            </a:pPr>
            <a:endParaRPr lang="en-US" altLang="zh-CN" sz="1600" dirty="0">
              <a:solidFill>
                <a:srgbClr val="000000"/>
              </a:solidFill>
              <a:latin typeface="Helvetica Light" charset="0"/>
              <a:sym typeface="Helvetica Light" charset="0"/>
            </a:endParaRPr>
          </a:p>
          <a:p>
            <a:pPr marL="285750" lvl="0" indent="-285750">
              <a:lnSpc>
                <a:spcPct val="150000"/>
              </a:lnSpc>
              <a:buFont typeface="Wingdings" panose="05000000000000000000" pitchFamily="2" charset="2"/>
              <a:buChar char="l"/>
            </a:pPr>
            <a:r>
              <a:rPr lang="zh-CN" altLang="en-US" sz="1600" dirty="0">
                <a:solidFill>
                  <a:srgbClr val="000000"/>
                </a:solidFill>
                <a:latin typeface="Helvetica Light" charset="0"/>
                <a:sym typeface="Helvetica Light" charset="0"/>
              </a:rPr>
              <a:t>可用特征</a:t>
            </a:r>
            <a:endParaRPr lang="en-US" altLang="zh-CN" sz="1600" dirty="0">
              <a:solidFill>
                <a:srgbClr val="000000"/>
              </a:solidFill>
              <a:latin typeface="Helvetica Light" charset="0"/>
              <a:sym typeface="Helvetica Light" charset="0"/>
            </a:endParaRPr>
          </a:p>
          <a:p>
            <a:pPr marL="742950" lvl="1" indent="-285750">
              <a:lnSpc>
                <a:spcPct val="150000"/>
              </a:lnSpc>
              <a:buFont typeface="Wingdings" panose="05000000000000000000" pitchFamily="2" charset="2"/>
              <a:buChar char="l"/>
            </a:pPr>
            <a:r>
              <a:rPr lang="zh-CN" altLang="en-US" sz="1600" dirty="0">
                <a:solidFill>
                  <a:srgbClr val="000000"/>
                </a:solidFill>
                <a:latin typeface="Helvetica Light" charset="0"/>
                <a:sym typeface="Helvetica Light" charset="0"/>
              </a:rPr>
              <a:t>比例特征</a:t>
            </a:r>
            <a:r>
              <a:rPr lang="en-US" altLang="zh-CN" sz="1600" dirty="0">
                <a:solidFill>
                  <a:srgbClr val="000000"/>
                </a:solidFill>
                <a:latin typeface="Helvetica Light" charset="0"/>
                <a:sym typeface="Helvetica Light" charset="0"/>
              </a:rPr>
              <a:t>ratio</a:t>
            </a:r>
          </a:p>
          <a:p>
            <a:pPr marL="742950" lvl="1" indent="-285750">
              <a:lnSpc>
                <a:spcPct val="150000"/>
              </a:lnSpc>
              <a:buFont typeface="Wingdings" panose="05000000000000000000" pitchFamily="2" charset="2"/>
              <a:buChar char="l"/>
            </a:pPr>
            <a:endParaRPr lang="en-US" altLang="zh-CN" sz="1600" dirty="0">
              <a:solidFill>
                <a:srgbClr val="000000"/>
              </a:solidFill>
              <a:latin typeface="Helvetica Light" charset="0"/>
              <a:sym typeface="Helvetica Light" charset="0"/>
            </a:endParaRPr>
          </a:p>
          <a:p>
            <a:pPr marL="285750" lvl="0" indent="-285750">
              <a:lnSpc>
                <a:spcPct val="150000"/>
              </a:lnSpc>
              <a:buFont typeface="Wingdings" panose="05000000000000000000" pitchFamily="2" charset="2"/>
              <a:buChar char="l"/>
            </a:pPr>
            <a:r>
              <a:rPr lang="zh-CN" altLang="en-US" sz="1600" dirty="0">
                <a:solidFill>
                  <a:srgbClr val="000000"/>
                </a:solidFill>
                <a:latin typeface="Helvetica Light" charset="0"/>
                <a:sym typeface="Helvetica Light" charset="0"/>
              </a:rPr>
              <a:t>适用场景</a:t>
            </a:r>
            <a:endParaRPr lang="en-US" altLang="zh-CN" sz="1600" dirty="0">
              <a:solidFill>
                <a:srgbClr val="000000"/>
              </a:solidFill>
              <a:latin typeface="Helvetica Light" charset="0"/>
              <a:sym typeface="Helvetica Light" charset="0"/>
            </a:endParaRPr>
          </a:p>
          <a:p>
            <a:pPr marL="742950" lvl="1" indent="-285750">
              <a:lnSpc>
                <a:spcPct val="150000"/>
              </a:lnSpc>
              <a:buFont typeface="Wingdings" panose="05000000000000000000" pitchFamily="2" charset="2"/>
              <a:buChar char="l"/>
            </a:pPr>
            <a:r>
              <a:rPr lang="zh-CN" altLang="en-US" sz="1600" dirty="0"/>
              <a:t>段比例策略相比段上限，多了一个参考空间</a:t>
            </a:r>
            <a:r>
              <a:rPr lang="en-US" altLang="zh-CN" sz="1600" dirty="0"/>
              <a:t>, </a:t>
            </a:r>
            <a:r>
              <a:rPr lang="zh-CN" altLang="en-US" sz="1600" dirty="0"/>
              <a:t>可以解决流量波动的问题。主要控制对象的出现比例不超过</a:t>
            </a:r>
            <a:r>
              <a:rPr lang="en-GB" altLang="zh-CN" sz="1600" dirty="0"/>
              <a:t>x</a:t>
            </a:r>
            <a:r>
              <a:rPr lang="zh-CN" altLang="en-GB" sz="1600" dirty="0"/>
              <a:t>，</a:t>
            </a:r>
            <a:r>
              <a:rPr lang="zh-CN" altLang="en-US" sz="1600" dirty="0"/>
              <a:t>解决清</a:t>
            </a:r>
            <a:r>
              <a:rPr lang="en-GB" altLang="zh-CN" sz="1600" dirty="0"/>
              <a:t>cookie,  </a:t>
            </a:r>
            <a:r>
              <a:rPr lang="en-GB" altLang="zh-CN" sz="1600" dirty="0" err="1"/>
              <a:t>js</a:t>
            </a:r>
            <a:r>
              <a:rPr lang="zh-CN" altLang="en-US" sz="1600" dirty="0"/>
              <a:t>异常</a:t>
            </a:r>
            <a:r>
              <a:rPr lang="en-US" altLang="zh-CN" sz="1600" dirty="0"/>
              <a:t>(</a:t>
            </a:r>
            <a:r>
              <a:rPr lang="en-GB" altLang="zh-CN" sz="1600" dirty="0" err="1"/>
              <a:t>statflag</a:t>
            </a:r>
            <a:r>
              <a:rPr lang="zh-CN" altLang="en-US" sz="1600" dirty="0"/>
              <a:t>位</a:t>
            </a:r>
            <a:r>
              <a:rPr lang="en-US" altLang="zh-CN" sz="1600" dirty="0"/>
              <a:t>)</a:t>
            </a:r>
            <a:r>
              <a:rPr lang="zh-CN" altLang="en-US" sz="1600" dirty="0"/>
              <a:t>等作弊。</a:t>
            </a:r>
            <a:endParaRPr lang="en-US" altLang="zh-CN" sz="1600" dirty="0"/>
          </a:p>
          <a:p>
            <a:pPr marL="742950" lvl="1" indent="-285750">
              <a:lnSpc>
                <a:spcPct val="150000"/>
              </a:lnSpc>
              <a:buFont typeface="Wingdings" panose="05000000000000000000" pitchFamily="2" charset="2"/>
              <a:buChar char="l"/>
            </a:pPr>
            <a:r>
              <a:rPr lang="zh-CN" altLang="en-US" sz="1600" dirty="0">
                <a:cs typeface="宋体" charset="0"/>
              </a:rPr>
              <a:t>相比段上限策略，段比例策略使用比例作为特征值，避免了段上限阈值的单一带来的问题。</a:t>
            </a:r>
            <a:endParaRPr lang="en-US" altLang="zh-CN" sz="1600" dirty="0"/>
          </a:p>
          <a:p>
            <a:pPr marL="742950" lvl="1" indent="-285750">
              <a:lnSpc>
                <a:spcPct val="150000"/>
              </a:lnSpc>
              <a:buFont typeface="Wingdings" panose="05000000000000000000" pitchFamily="2" charset="2"/>
              <a:buChar char="l"/>
            </a:pPr>
            <a:endParaRPr lang="en-GB" altLang="zh-CN" sz="1600" dirty="0">
              <a:solidFill>
                <a:srgbClr val="000000"/>
              </a:solidFill>
              <a:latin typeface="Helvetica Light" charset="0"/>
              <a:sym typeface="Helvetica Light"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251469"/>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段比例策略</a:t>
            </a:r>
          </a:p>
        </p:txBody>
      </p:sp>
      <p:sp>
        <p:nvSpPr>
          <p:cNvPr id="3" name="文本框 2"/>
          <p:cNvSpPr txBox="1"/>
          <p:nvPr/>
        </p:nvSpPr>
        <p:spPr>
          <a:xfrm>
            <a:off x="409197" y="1620801"/>
            <a:ext cx="5219700" cy="5447645"/>
          </a:xfrm>
          <a:prstGeom prst="rect">
            <a:avLst/>
          </a:prstGeom>
          <a:noFill/>
        </p:spPr>
        <p:txBody>
          <a:bodyPr wrap="square" rtlCol="0">
            <a:spAutoFit/>
          </a:bodyPr>
          <a:lstStyle/>
          <a:p>
            <a:pPr lvl="0"/>
            <a:r>
              <a:rPr lang="en-GB" altLang="zh-CN" sz="1400" dirty="0"/>
              <a:t>[@policy]</a:t>
            </a:r>
          </a:p>
          <a:p>
            <a:pPr lvl="0"/>
            <a:r>
              <a:rPr lang="en-GB" altLang="zh-CN" sz="1400" dirty="0" err="1"/>
              <a:t>policy_type</a:t>
            </a:r>
            <a:r>
              <a:rPr lang="en-GB" altLang="zh-CN" sz="1400" dirty="0"/>
              <a:t> : rule</a:t>
            </a:r>
          </a:p>
          <a:p>
            <a:pPr lvl="0"/>
            <a:r>
              <a:rPr lang="en-GB" altLang="zh-CN" sz="1400" dirty="0" err="1"/>
              <a:t>policy_id</a:t>
            </a:r>
            <a:r>
              <a:rPr lang="en-GB" altLang="zh-CN" sz="1400" dirty="0"/>
              <a:t> : 450608</a:t>
            </a:r>
          </a:p>
          <a:p>
            <a:pPr lvl="0"/>
            <a:r>
              <a:rPr lang="en-GB" altLang="zh-CN" sz="1400" dirty="0"/>
              <a:t>[.@rule]</a:t>
            </a:r>
          </a:p>
          <a:p>
            <a:pPr lvl="0"/>
            <a:r>
              <a:rPr lang="en-GB" altLang="zh-CN" sz="1400" dirty="0" err="1">
                <a:solidFill>
                  <a:srgbClr val="C00000"/>
                </a:solidFill>
              </a:rPr>
              <a:t>simple_ratio</a:t>
            </a:r>
            <a:r>
              <a:rPr lang="en-GB" altLang="zh-CN" sz="1400" dirty="0">
                <a:solidFill>
                  <a:srgbClr val="C00000"/>
                </a:solidFill>
              </a:rPr>
              <a:t> : 1</a:t>
            </a:r>
          </a:p>
          <a:p>
            <a:pPr lvl="0"/>
            <a:r>
              <a:rPr lang="en-GB" altLang="zh-CN" sz="1400" dirty="0">
                <a:solidFill>
                  <a:srgbClr val="FF0000"/>
                </a:solidFill>
              </a:rPr>
              <a:t>threshold : 0.3</a:t>
            </a:r>
          </a:p>
          <a:p>
            <a:pPr lvl="0"/>
            <a:r>
              <a:rPr lang="en-GB" altLang="zh-CN" sz="1400" dirty="0" err="1"/>
              <a:t>feature_id</a:t>
            </a:r>
            <a:r>
              <a:rPr lang="en-GB" altLang="zh-CN" sz="1400" dirty="0"/>
              <a:t> : 450608</a:t>
            </a:r>
          </a:p>
          <a:p>
            <a:pPr lvl="0"/>
            <a:r>
              <a:rPr lang="en-GB" altLang="zh-CN" sz="1400" dirty="0" err="1"/>
              <a:t>rule_type</a:t>
            </a:r>
            <a:r>
              <a:rPr lang="en-GB" altLang="zh-CN" sz="1400" dirty="0"/>
              <a:t> : ratio</a:t>
            </a:r>
          </a:p>
          <a:p>
            <a:pPr lvl="0"/>
            <a:r>
              <a:rPr lang="en-GB" altLang="zh-CN" sz="1400" dirty="0">
                <a:solidFill>
                  <a:srgbClr val="C00000"/>
                </a:solidFill>
              </a:rPr>
              <a:t>remain : 10</a:t>
            </a:r>
          </a:p>
          <a:p>
            <a:pPr lvl="0"/>
            <a:r>
              <a:rPr lang="en-GB" altLang="zh-CN" sz="1400" dirty="0"/>
              <a:t> </a:t>
            </a:r>
          </a:p>
          <a:p>
            <a:pPr lvl="0"/>
            <a:r>
              <a:rPr lang="en-GB" altLang="zh-CN" sz="1400" dirty="0"/>
              <a:t>[@feature]</a:t>
            </a:r>
          </a:p>
          <a:p>
            <a:pPr lvl="0"/>
            <a:r>
              <a:rPr lang="en-GB" altLang="zh-CN" sz="1400" dirty="0" err="1"/>
              <a:t>feature_id</a:t>
            </a:r>
            <a:r>
              <a:rPr lang="en-GB" altLang="zh-CN" sz="1400" dirty="0"/>
              <a:t> : 450608</a:t>
            </a:r>
          </a:p>
          <a:p>
            <a:pPr lvl="0"/>
            <a:r>
              <a:rPr lang="en-GB" altLang="zh-CN" sz="1400" dirty="0" err="1"/>
              <a:t>view_level</a:t>
            </a:r>
            <a:r>
              <a:rPr lang="en-GB" altLang="zh-CN" sz="1400" dirty="0"/>
              <a:t> : </a:t>
            </a:r>
            <a:r>
              <a:rPr lang="en-GB" altLang="zh-CN" sz="1400" dirty="0" err="1"/>
              <a:t>click_level</a:t>
            </a:r>
            <a:endParaRPr lang="en-GB" altLang="zh-CN" sz="1400" dirty="0"/>
          </a:p>
          <a:p>
            <a:pPr lvl="0"/>
            <a:r>
              <a:rPr lang="en-GB" altLang="zh-CN" sz="1400" dirty="0" err="1">
                <a:solidFill>
                  <a:srgbClr val="C00000"/>
                </a:solidFill>
              </a:rPr>
              <a:t>feature_type</a:t>
            </a:r>
            <a:r>
              <a:rPr lang="en-GB" altLang="zh-CN" sz="1400" dirty="0">
                <a:solidFill>
                  <a:srgbClr val="C00000"/>
                </a:solidFill>
              </a:rPr>
              <a:t> : ratio</a:t>
            </a:r>
          </a:p>
          <a:p>
            <a:pPr lvl="0"/>
            <a:r>
              <a:rPr lang="en-GB" altLang="zh-CN" sz="1400" dirty="0">
                <a:solidFill>
                  <a:srgbClr val="C00000"/>
                </a:solidFill>
              </a:rPr>
              <a:t>filter : ['</a:t>
            </a:r>
            <a:r>
              <a:rPr lang="en-GB" altLang="zh-CN" sz="1400" dirty="0" err="1">
                <a:solidFill>
                  <a:srgbClr val="C00000"/>
                </a:solidFill>
              </a:rPr>
              <a:t>baiduid_fresh</a:t>
            </a:r>
            <a:r>
              <a:rPr lang="en-GB" altLang="zh-CN" sz="1400" dirty="0">
                <a:solidFill>
                  <a:srgbClr val="C00000"/>
                </a:solidFill>
              </a:rPr>
              <a:t>':&lt;60]</a:t>
            </a:r>
          </a:p>
          <a:p>
            <a:pPr lvl="0"/>
            <a:r>
              <a:rPr lang="en-GB" altLang="zh-CN" sz="1400" dirty="0">
                <a:solidFill>
                  <a:srgbClr val="C00000"/>
                </a:solidFill>
              </a:rPr>
              <a:t>remain : 10</a:t>
            </a:r>
          </a:p>
          <a:p>
            <a:pPr lvl="0"/>
            <a:r>
              <a:rPr lang="en-GB" altLang="zh-CN" sz="1400" dirty="0">
                <a:solidFill>
                  <a:srgbClr val="C00000"/>
                </a:solidFill>
              </a:rPr>
              <a:t>refer : [*]</a:t>
            </a:r>
          </a:p>
          <a:p>
            <a:pPr lvl="0"/>
            <a:r>
              <a:rPr lang="en-GB" altLang="zh-CN" sz="1400" dirty="0"/>
              <a:t>care : ['</a:t>
            </a:r>
            <a:r>
              <a:rPr lang="en-GB" altLang="zh-CN" sz="1400" dirty="0" err="1"/>
              <a:t>accessid</a:t>
            </a:r>
            <a:r>
              <a:rPr lang="en-GB" altLang="zh-CN" sz="1400" dirty="0"/>
              <a:t>':='8']['</a:t>
            </a:r>
            <a:r>
              <a:rPr lang="en-GB" altLang="zh-CN" sz="1400" dirty="0" err="1"/>
              <a:t>cmatch</a:t>
            </a:r>
            <a:r>
              <a:rPr lang="en-GB" altLang="zh-CN" sz="1400" dirty="0"/>
              <a:t>'!='27745','27746','27747','27748','27749']</a:t>
            </a:r>
          </a:p>
          <a:p>
            <a:pPr lvl="0"/>
            <a:r>
              <a:rPr lang="en-GB" altLang="zh-CN" sz="1400" dirty="0"/>
              <a:t>view : q</a:t>
            </a:r>
          </a:p>
          <a:p>
            <a:pPr lvl="0"/>
            <a:r>
              <a:rPr lang="en-GB" altLang="zh-CN" sz="1400" dirty="0" err="1"/>
              <a:t>window_type</a:t>
            </a:r>
            <a:r>
              <a:rPr lang="en-GB" altLang="zh-CN" sz="1400" dirty="0"/>
              <a:t> : time</a:t>
            </a:r>
          </a:p>
          <a:p>
            <a:pPr lvl="0"/>
            <a:r>
              <a:rPr lang="en-GB" altLang="zh-CN" sz="1400" dirty="0" err="1"/>
              <a:t>step_length</a:t>
            </a:r>
            <a:r>
              <a:rPr lang="en-GB" altLang="zh-CN" sz="1400" dirty="0"/>
              <a:t> : 3600</a:t>
            </a:r>
          </a:p>
          <a:p>
            <a:pPr lvl="0"/>
            <a:r>
              <a:rPr lang="en-GB" altLang="zh-CN" sz="1400" dirty="0"/>
              <a:t>version : 1</a:t>
            </a:r>
          </a:p>
          <a:p>
            <a:pPr lvl="0"/>
            <a:r>
              <a:rPr lang="en-GB" altLang="zh-CN" sz="1400" dirty="0" err="1"/>
              <a:t>window_length</a:t>
            </a:r>
            <a:r>
              <a:rPr lang="en-GB" altLang="zh-CN" sz="1400" dirty="0"/>
              <a:t> : 14400</a:t>
            </a:r>
            <a:endParaRPr lang="en-GB" altLang="zh-CN" sz="1400" dirty="0">
              <a:solidFill>
                <a:srgbClr val="000000"/>
              </a:solidFill>
              <a:latin typeface="Helvetica Light" charset="0"/>
              <a:sym typeface="Helvetica Light" charset="0"/>
            </a:endParaRPr>
          </a:p>
          <a:p>
            <a:endParaRPr kumimoji="1" lang="zh-CN" altLang="en-US" sz="1100" dirty="0"/>
          </a:p>
        </p:txBody>
      </p:sp>
      <p:sp>
        <p:nvSpPr>
          <p:cNvPr id="9" name="内容占位符 2"/>
          <p:cNvSpPr>
            <a:spLocks noGrp="1"/>
          </p:cNvSpPr>
          <p:nvPr>
            <p:ph idx="1"/>
          </p:nvPr>
        </p:nvSpPr>
        <p:spPr>
          <a:xfrm>
            <a:off x="4740699" y="1304943"/>
            <a:ext cx="6062836" cy="7864511"/>
          </a:xfrm>
          <a:solidFill>
            <a:schemeClr val="bg1">
              <a:alpha val="0"/>
            </a:schemeClr>
          </a:solidFill>
          <a:ln>
            <a:noFill/>
          </a:ln>
        </p:spPr>
        <p:txBody>
          <a:bodyPr>
            <a:normAutofit/>
          </a:bodyPr>
          <a:lstStyle/>
          <a:p>
            <a:pPr lvl="1">
              <a:buClr>
                <a:schemeClr val="tx1"/>
              </a:buClr>
              <a:buFont typeface="Wingdings" panose="05000000000000000000" pitchFamily="2" charset="2"/>
              <a:buChar char="l"/>
            </a:pPr>
            <a:r>
              <a:rPr lang="zh-CN" altLang="en-US" sz="1800" b="1" dirty="0">
                <a:latin typeface="微软雅黑" panose="020B0503020204020204" pitchFamily="34" charset="-122"/>
                <a:ea typeface="微软雅黑" panose="020B0503020204020204" pitchFamily="34" charset="-122"/>
              </a:rPr>
              <a:t>段比例策略</a:t>
            </a:r>
          </a:p>
          <a:p>
            <a:pPr lvl="1">
              <a:buClr>
                <a:schemeClr val="accent2"/>
              </a:buClr>
              <a:buFont typeface="Wingdings" panose="05000000000000000000" pitchFamily="2" charset="2"/>
              <a:buChar char="n"/>
            </a:pPr>
            <a:endParaRPr lang="zh-CN" altLang="en-US" sz="800" b="1" dirty="0">
              <a:solidFill>
                <a:schemeClr val="accent2"/>
              </a:solidFill>
              <a:latin typeface="微软雅黑" panose="020B0503020204020204" pitchFamily="34" charset="-122"/>
              <a:ea typeface="微软雅黑" panose="020B0503020204020204" pitchFamily="34" charset="-122"/>
            </a:endParaRPr>
          </a:p>
          <a:p>
            <a:pPr lvl="2">
              <a:buClr>
                <a:srgbClr val="0070C0"/>
              </a:buClr>
              <a:buFont typeface="Wingdings" panose="05000000000000000000" pitchFamily="2" charset="2"/>
              <a:buChar char="l"/>
            </a:pPr>
            <a:r>
              <a:rPr lang="zh-CN" altLang="en-US" sz="1600" b="1" dirty="0"/>
              <a:t>业务场景</a:t>
            </a:r>
            <a:r>
              <a:rPr lang="zh-CN" altLang="en-US" sz="1600" dirty="0"/>
              <a:t>：</a:t>
            </a:r>
            <a:r>
              <a:rPr lang="zh-CN" altLang="en-US" sz="1600" dirty="0">
                <a:cs typeface="宋体" charset="0"/>
              </a:rPr>
              <a:t>在一段日志中，如果</a:t>
            </a:r>
            <a:r>
              <a:rPr lang="en-US" altLang="zh-CN" sz="1600" dirty="0" err="1">
                <a:cs typeface="宋体" charset="0"/>
              </a:rPr>
              <a:t>baiduid</a:t>
            </a:r>
            <a:r>
              <a:rPr lang="zh-CN" altLang="en-US" sz="1600" dirty="0">
                <a:cs typeface="宋体" charset="0"/>
              </a:rPr>
              <a:t>新鲜度比较小的日志占多数，说明很有很能发生作弊，需要过滤</a:t>
            </a:r>
            <a:r>
              <a:rPr lang="zh-CN" altLang="en-US" sz="1600" dirty="0"/>
              <a:t>。</a:t>
            </a:r>
            <a:endParaRPr lang="en-US" altLang="zh-CN" sz="1600" dirty="0"/>
          </a:p>
          <a:p>
            <a:pPr lvl="2">
              <a:buClr>
                <a:srgbClr val="0070C0"/>
              </a:buClr>
              <a:buFont typeface="Wingdings" panose="05000000000000000000" pitchFamily="2" charset="2"/>
              <a:buChar char="l"/>
            </a:pPr>
            <a:endParaRPr lang="en-US" altLang="zh-CN" sz="800" dirty="0"/>
          </a:p>
          <a:p>
            <a:pPr lvl="2">
              <a:buClr>
                <a:srgbClr val="0070C0"/>
              </a:buClr>
              <a:buFont typeface="Wingdings" panose="05000000000000000000" pitchFamily="2" charset="2"/>
              <a:buChar char="l"/>
            </a:pPr>
            <a:r>
              <a:rPr lang="zh-CN" altLang="en-US" sz="1600" b="1" dirty="0"/>
              <a:t>参数说明</a:t>
            </a:r>
            <a:r>
              <a:rPr lang="zh-CN" altLang="en-US" sz="1600" dirty="0"/>
              <a:t>：</a:t>
            </a:r>
            <a:endParaRPr lang="en-US" altLang="zh-CN" sz="1600" dirty="0"/>
          </a:p>
          <a:p>
            <a:pPr marL="914400" lvl="2" indent="0">
              <a:buClr>
                <a:srgbClr val="0070C0"/>
              </a:buClr>
              <a:buNone/>
            </a:pPr>
            <a:r>
              <a:rPr lang="en-US" altLang="zh-CN" sz="1600" b="1" dirty="0"/>
              <a:t>filter:</a:t>
            </a:r>
            <a:r>
              <a:rPr lang="zh-CN" altLang="en-US" sz="1600" dirty="0"/>
              <a:t>过滤分子取值范围</a:t>
            </a:r>
            <a:endParaRPr lang="en-US" altLang="zh-CN" sz="1600" dirty="0"/>
          </a:p>
          <a:p>
            <a:pPr marL="914400" lvl="2" indent="0">
              <a:buClr>
                <a:srgbClr val="0070C0"/>
              </a:buClr>
              <a:buNone/>
            </a:pPr>
            <a:r>
              <a:rPr lang="en-GB" altLang="zh-CN" sz="1600" b="1" dirty="0"/>
              <a:t>refer:</a:t>
            </a:r>
            <a:r>
              <a:rPr lang="zh-CN" altLang="en-GB" sz="1600" dirty="0"/>
              <a:t>过滤</a:t>
            </a:r>
            <a:r>
              <a:rPr lang="zh-CN" altLang="en-US" sz="1600" dirty="0"/>
              <a:t>分母取值范围</a:t>
            </a:r>
            <a:endParaRPr lang="en-US" altLang="zh-CN" sz="1600" dirty="0"/>
          </a:p>
          <a:p>
            <a:pPr marL="914400" lvl="2" indent="0">
              <a:buClr>
                <a:srgbClr val="0070C0"/>
              </a:buClr>
              <a:buNone/>
            </a:pPr>
            <a:r>
              <a:rPr lang="en-GB" altLang="zh-CN" sz="1600" b="1" dirty="0"/>
              <a:t>remain</a:t>
            </a:r>
          </a:p>
          <a:p>
            <a:pPr marL="914400" lvl="2" indent="0">
              <a:buClr>
                <a:srgbClr val="0070C0"/>
              </a:buClr>
              <a:buNone/>
            </a:pPr>
            <a:r>
              <a:rPr lang="zh-CN" altLang="en-US" sz="1600" dirty="0"/>
              <a:t>当维度对象在参考空间或过滤空间的累积量超出</a:t>
            </a:r>
            <a:r>
              <a:rPr lang="en-GB" altLang="zh-CN" sz="1600" dirty="0"/>
              <a:t>remain</a:t>
            </a:r>
            <a:r>
              <a:rPr lang="zh-CN" altLang="en-US" sz="1600" dirty="0"/>
              <a:t>值后才开始过滤</a:t>
            </a:r>
            <a:endParaRPr lang="en-GB" altLang="zh-CN" sz="1600" dirty="0"/>
          </a:p>
          <a:p>
            <a:pPr marL="914400" lvl="2" indent="0">
              <a:buClr>
                <a:srgbClr val="0070C0"/>
              </a:buClr>
              <a:buNone/>
            </a:pPr>
            <a:r>
              <a:rPr lang="en-GB" altLang="zh-CN" sz="1600" b="1" dirty="0" err="1"/>
              <a:t>remain_numerator</a:t>
            </a:r>
            <a:endParaRPr lang="en-GB" altLang="zh-CN" sz="1600" b="1" dirty="0"/>
          </a:p>
          <a:p>
            <a:pPr marL="914400" lvl="2" indent="0">
              <a:buClr>
                <a:srgbClr val="0070C0"/>
              </a:buClr>
              <a:buNone/>
            </a:pPr>
            <a:r>
              <a:rPr lang="en-GB" altLang="zh-CN" sz="1600" dirty="0"/>
              <a:t>1:</a:t>
            </a:r>
            <a:r>
              <a:rPr lang="zh-CN" altLang="en-US" sz="1600" dirty="0"/>
              <a:t>  分子</a:t>
            </a:r>
            <a:r>
              <a:rPr lang="en-US" altLang="zh-CN" sz="1600" dirty="0"/>
              <a:t>&gt;</a:t>
            </a:r>
            <a:r>
              <a:rPr lang="en-GB" altLang="zh-CN" sz="1600" dirty="0"/>
              <a:t>remain</a:t>
            </a:r>
            <a:r>
              <a:rPr lang="zh-CN" altLang="en-US" sz="1600" dirty="0"/>
              <a:t>才会去计算</a:t>
            </a:r>
            <a:r>
              <a:rPr lang="en-GB" altLang="zh-CN" sz="1600" dirty="0"/>
              <a:t>ratio</a:t>
            </a:r>
          </a:p>
          <a:p>
            <a:pPr marL="914400" lvl="2" indent="0">
              <a:buClr>
                <a:srgbClr val="0070C0"/>
              </a:buClr>
              <a:buNone/>
            </a:pPr>
            <a:r>
              <a:rPr lang="en-GB" altLang="zh-CN" sz="1600" dirty="0"/>
              <a:t>0:</a:t>
            </a:r>
            <a:r>
              <a:rPr lang="zh-CN" altLang="en-US" sz="1600" dirty="0"/>
              <a:t>  分母</a:t>
            </a:r>
            <a:r>
              <a:rPr lang="en-US" altLang="zh-CN" sz="1600" dirty="0"/>
              <a:t>&gt;</a:t>
            </a:r>
            <a:r>
              <a:rPr lang="en-GB" altLang="zh-CN" sz="1600" dirty="0"/>
              <a:t>remain</a:t>
            </a:r>
            <a:r>
              <a:rPr lang="zh-CN" altLang="en-US" sz="1600" dirty="0"/>
              <a:t>才会去计算</a:t>
            </a:r>
            <a:r>
              <a:rPr lang="en-GB" altLang="zh-CN" sz="1600" dirty="0"/>
              <a:t>ratio</a:t>
            </a:r>
            <a:r>
              <a:rPr lang="zh-CN" altLang="en-GB" sz="1600" dirty="0"/>
              <a:t>（</a:t>
            </a:r>
            <a:r>
              <a:rPr lang="zh-CN" altLang="en-US" sz="1600" dirty="0"/>
              <a:t>默认）</a:t>
            </a:r>
            <a:endParaRPr lang="en-US" altLang="zh-CN" sz="1600" dirty="0"/>
          </a:p>
          <a:p>
            <a:pPr marL="914400" lvl="2" indent="0">
              <a:buClr>
                <a:srgbClr val="0070C0"/>
              </a:buClr>
              <a:buNone/>
            </a:pPr>
            <a:r>
              <a:rPr lang="en-GB" altLang="zh-CN" sz="1600" b="1" dirty="0" err="1"/>
              <a:t>simple_ratio</a:t>
            </a:r>
            <a:endParaRPr lang="en-GB" altLang="zh-CN" sz="1600" b="1" dirty="0"/>
          </a:p>
          <a:p>
            <a:pPr marL="914400" lvl="2" indent="0">
              <a:buClr>
                <a:srgbClr val="0070C0"/>
              </a:buClr>
              <a:buNone/>
            </a:pPr>
            <a:r>
              <a:rPr lang="en-GB" altLang="zh-CN" sz="1600" dirty="0"/>
              <a:t>1:</a:t>
            </a:r>
            <a:r>
              <a:rPr lang="zh-CN" altLang="en-US" sz="1600" dirty="0"/>
              <a:t>  分子</a:t>
            </a:r>
            <a:r>
              <a:rPr lang="en-GB" altLang="zh-CN" sz="1600" dirty="0"/>
              <a:t>or</a:t>
            </a:r>
            <a:r>
              <a:rPr lang="zh-CN" altLang="en-US" sz="1600" dirty="0"/>
              <a:t>分母</a:t>
            </a:r>
            <a:r>
              <a:rPr lang="en-US" altLang="zh-CN" sz="1600" dirty="0"/>
              <a:t>&gt;</a:t>
            </a:r>
            <a:r>
              <a:rPr lang="en-GB" altLang="zh-CN" sz="1600" dirty="0"/>
              <a:t>remain(</a:t>
            </a:r>
            <a:r>
              <a:rPr lang="en-GB" altLang="zh-CN" sz="1600" dirty="0" err="1"/>
              <a:t>acc</a:t>
            </a:r>
            <a:r>
              <a:rPr lang="en-GB" altLang="zh-CN" sz="1600" dirty="0"/>
              <a:t>)</a:t>
            </a:r>
            <a:r>
              <a:rPr lang="zh-CN" altLang="en-GB" sz="1600" dirty="0"/>
              <a:t>，</a:t>
            </a:r>
            <a:r>
              <a:rPr lang="zh-CN" altLang="en-US" sz="1600" dirty="0"/>
              <a:t>分子</a:t>
            </a:r>
            <a:r>
              <a:rPr lang="en-US" altLang="zh-CN" sz="1600" dirty="0"/>
              <a:t>/</a:t>
            </a:r>
            <a:r>
              <a:rPr lang="zh-CN" altLang="en-US" sz="1600" dirty="0"/>
              <a:t>分母</a:t>
            </a:r>
            <a:r>
              <a:rPr lang="en-US" altLang="zh-CN" sz="1600" dirty="0"/>
              <a:t>&gt;</a:t>
            </a:r>
            <a:r>
              <a:rPr lang="en-GB" altLang="zh-CN" sz="1600" dirty="0"/>
              <a:t>threshold</a:t>
            </a:r>
          </a:p>
          <a:p>
            <a:pPr marL="914400" lvl="2" indent="0">
              <a:buClr>
                <a:srgbClr val="0070C0"/>
              </a:buClr>
              <a:buNone/>
            </a:pPr>
            <a:r>
              <a:rPr lang="en-GB" altLang="zh-CN" sz="1600" dirty="0"/>
              <a:t>0:</a:t>
            </a:r>
            <a:r>
              <a:rPr lang="zh-CN" altLang="en-US" sz="1600" dirty="0"/>
              <a:t>  </a:t>
            </a:r>
            <a:r>
              <a:rPr lang="en-GB" altLang="zh-CN" sz="1600" dirty="0"/>
              <a:t>(</a:t>
            </a:r>
            <a:r>
              <a:rPr lang="zh-CN" altLang="en-US" sz="1600" dirty="0"/>
              <a:t>分子</a:t>
            </a:r>
            <a:r>
              <a:rPr lang="en-US" altLang="zh-CN" sz="1600" dirty="0"/>
              <a:t>-</a:t>
            </a:r>
            <a:r>
              <a:rPr lang="en-GB" altLang="zh-CN" sz="1600" dirty="0"/>
              <a:t>remain)/</a:t>
            </a:r>
            <a:r>
              <a:rPr lang="zh-CN" altLang="en-US" sz="1600" dirty="0"/>
              <a:t>分母</a:t>
            </a:r>
            <a:r>
              <a:rPr lang="en-US" altLang="zh-CN" sz="1600" dirty="0"/>
              <a:t>&gt;</a:t>
            </a:r>
            <a:r>
              <a:rPr lang="en-GB" altLang="zh-CN" sz="1600" dirty="0"/>
              <a:t>threshold</a:t>
            </a:r>
            <a:r>
              <a:rPr lang="zh-CN" altLang="en-GB" sz="1600" dirty="0"/>
              <a:t>（</a:t>
            </a:r>
            <a:r>
              <a:rPr lang="zh-CN" altLang="en-US" sz="1600" dirty="0"/>
              <a:t>默认）</a:t>
            </a:r>
          </a:p>
          <a:p>
            <a:pPr marL="914400" lvl="2" indent="0">
              <a:buClr>
                <a:srgbClr val="0070C0"/>
              </a:buClr>
              <a:buNone/>
            </a:pPr>
            <a:r>
              <a:rPr lang="en-GB" altLang="zh-CN" sz="1600" b="1" dirty="0" err="1"/>
              <a:t>filter_mode</a:t>
            </a:r>
            <a:endParaRPr lang="en-GB" altLang="zh-CN" sz="1600" b="1" dirty="0"/>
          </a:p>
          <a:p>
            <a:pPr marL="914400" lvl="2" indent="0">
              <a:buClr>
                <a:srgbClr val="0070C0"/>
              </a:buClr>
              <a:buNone/>
            </a:pPr>
            <a:r>
              <a:rPr lang="en-GB" altLang="zh-CN" sz="1600" dirty="0"/>
              <a:t>1:</a:t>
            </a:r>
            <a:r>
              <a:rPr lang="zh-CN" altLang="en-US" sz="1600" dirty="0"/>
              <a:t>  过滤分母</a:t>
            </a:r>
          </a:p>
          <a:p>
            <a:pPr marL="914400" lvl="2" indent="0">
              <a:buClr>
                <a:srgbClr val="0070C0"/>
              </a:buClr>
              <a:buNone/>
            </a:pPr>
            <a:r>
              <a:rPr lang="en-US" altLang="zh-CN" sz="1600" dirty="0"/>
              <a:t>0:</a:t>
            </a:r>
            <a:r>
              <a:rPr lang="zh-CN" altLang="en-US" sz="1600" dirty="0"/>
              <a:t>  过滤分子（默认）</a:t>
            </a:r>
          </a:p>
          <a:p>
            <a:pPr marL="914400" lvl="2" indent="0">
              <a:buClr>
                <a:srgbClr val="0070C0"/>
              </a:buClr>
              <a:buNone/>
            </a:pPr>
            <a:endParaRPr lang="zh-CN" alt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2333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段比例策略</a:t>
            </a:r>
          </a:p>
        </p:txBody>
      </p:sp>
      <p:sp>
        <p:nvSpPr>
          <p:cNvPr id="3" name="文本框 2"/>
          <p:cNvSpPr txBox="1"/>
          <p:nvPr/>
        </p:nvSpPr>
        <p:spPr>
          <a:xfrm>
            <a:off x="328984" y="1493143"/>
            <a:ext cx="5219700" cy="5478423"/>
          </a:xfrm>
          <a:prstGeom prst="rect">
            <a:avLst/>
          </a:prstGeom>
          <a:noFill/>
        </p:spPr>
        <p:txBody>
          <a:bodyPr wrap="square" rtlCol="0">
            <a:spAutoFit/>
          </a:bodyPr>
          <a:lstStyle/>
          <a:p>
            <a:pPr lvl="0"/>
            <a:r>
              <a:rPr lang="en-GB" altLang="zh-CN" sz="1400" dirty="0"/>
              <a:t>[@policy] </a:t>
            </a:r>
          </a:p>
          <a:p>
            <a:pPr lvl="0"/>
            <a:r>
              <a:rPr lang="en-GB" altLang="zh-CN" sz="1400" dirty="0" err="1"/>
              <a:t>policy_type</a:t>
            </a:r>
            <a:r>
              <a:rPr lang="en-GB" altLang="zh-CN" sz="1400" dirty="0"/>
              <a:t> : rule </a:t>
            </a:r>
          </a:p>
          <a:p>
            <a:pPr lvl="0"/>
            <a:r>
              <a:rPr lang="en-GB" altLang="zh-CN" sz="1400" dirty="0" err="1"/>
              <a:t>policy_id</a:t>
            </a:r>
            <a:r>
              <a:rPr lang="en-GB" altLang="zh-CN" sz="1400" dirty="0"/>
              <a:t> : 4701</a:t>
            </a:r>
          </a:p>
          <a:p>
            <a:pPr lvl="0"/>
            <a:endParaRPr lang="en-GB" altLang="zh-CN" sz="1400" dirty="0"/>
          </a:p>
          <a:p>
            <a:r>
              <a:rPr lang="en-GB" altLang="zh-CN" sz="1400" dirty="0"/>
              <a:t>[.@rule] </a:t>
            </a:r>
          </a:p>
          <a:p>
            <a:r>
              <a:rPr lang="en-GB" altLang="zh-CN" sz="1400" dirty="0" err="1"/>
              <a:t>simple_ratio</a:t>
            </a:r>
            <a:r>
              <a:rPr lang="en-GB" altLang="zh-CN" sz="1400" dirty="0"/>
              <a:t> : 1 </a:t>
            </a:r>
          </a:p>
          <a:p>
            <a:r>
              <a:rPr lang="en-GB" altLang="zh-CN" sz="1400" dirty="0"/>
              <a:t>threshold : 0.5 </a:t>
            </a:r>
          </a:p>
          <a:p>
            <a:r>
              <a:rPr lang="en-GB" altLang="zh-CN" sz="1400" dirty="0" err="1"/>
              <a:t>feature_id</a:t>
            </a:r>
            <a:r>
              <a:rPr lang="en-GB" altLang="zh-CN" sz="1400" dirty="0"/>
              <a:t> : 4701 </a:t>
            </a:r>
          </a:p>
          <a:p>
            <a:r>
              <a:rPr lang="en-GB" altLang="zh-CN" sz="1400" dirty="0" err="1"/>
              <a:t>rule_type</a:t>
            </a:r>
            <a:r>
              <a:rPr lang="en-GB" altLang="zh-CN" sz="1400" dirty="0"/>
              <a:t> : ratio </a:t>
            </a:r>
          </a:p>
          <a:p>
            <a:r>
              <a:rPr lang="en-GB" altLang="zh-CN" sz="1400" dirty="0"/>
              <a:t>remain : 10</a:t>
            </a:r>
            <a:br>
              <a:rPr lang="en-GB" altLang="zh-CN" sz="1400" dirty="0"/>
            </a:br>
            <a:endParaRPr lang="en-GB" altLang="zh-CN" sz="1400" dirty="0"/>
          </a:p>
          <a:p>
            <a:r>
              <a:rPr lang="en-GB" altLang="zh-CN" sz="1400" dirty="0"/>
              <a:t>[@feature] </a:t>
            </a:r>
          </a:p>
          <a:p>
            <a:r>
              <a:rPr lang="en-GB" altLang="zh-CN" sz="1400" dirty="0" err="1"/>
              <a:t>feature_id</a:t>
            </a:r>
            <a:r>
              <a:rPr lang="en-GB" altLang="zh-CN" sz="1400" dirty="0"/>
              <a:t> : 4701 </a:t>
            </a:r>
          </a:p>
          <a:p>
            <a:r>
              <a:rPr lang="en-GB" altLang="zh-CN" sz="1400" dirty="0" err="1"/>
              <a:t>view_level</a:t>
            </a:r>
            <a:r>
              <a:rPr lang="en-GB" altLang="zh-CN" sz="1400" dirty="0"/>
              <a:t> : </a:t>
            </a:r>
            <a:r>
              <a:rPr lang="en-GB" altLang="zh-CN" sz="1400" dirty="0" err="1"/>
              <a:t>click_level</a:t>
            </a:r>
            <a:r>
              <a:rPr lang="en-GB" altLang="zh-CN" sz="1400" dirty="0"/>
              <a:t> </a:t>
            </a:r>
          </a:p>
          <a:p>
            <a:r>
              <a:rPr lang="en-GB" altLang="zh-CN" sz="1400" dirty="0" err="1"/>
              <a:t>feature_type</a:t>
            </a:r>
            <a:r>
              <a:rPr lang="en-GB" altLang="zh-CN" sz="1400" dirty="0"/>
              <a:t> : ratio </a:t>
            </a:r>
          </a:p>
          <a:p>
            <a:r>
              <a:rPr lang="en-GB" altLang="zh-CN" sz="1400" dirty="0"/>
              <a:t>filter : ['</a:t>
            </a:r>
            <a:r>
              <a:rPr lang="en-GB" altLang="zh-CN" sz="1400" dirty="0" err="1"/>
              <a:t>useragent</a:t>
            </a:r>
            <a:r>
              <a:rPr lang="en-GB" altLang="zh-CN" sz="1400" dirty="0"/>
              <a:t>':~'Android 4.’] </a:t>
            </a:r>
          </a:p>
          <a:p>
            <a:r>
              <a:rPr lang="en-GB" altLang="zh-CN" sz="1400" dirty="0" err="1"/>
              <a:t>remain_numerator</a:t>
            </a:r>
            <a:r>
              <a:rPr lang="en-GB" altLang="zh-CN" sz="1400" dirty="0"/>
              <a:t> : 1 </a:t>
            </a:r>
          </a:p>
          <a:p>
            <a:r>
              <a:rPr lang="en-GB" altLang="zh-CN" sz="1400" dirty="0"/>
              <a:t>remain : 5 </a:t>
            </a:r>
          </a:p>
          <a:p>
            <a:r>
              <a:rPr lang="en-GB" altLang="zh-CN" sz="1400" dirty="0"/>
              <a:t>refer : [*] </a:t>
            </a:r>
          </a:p>
          <a:p>
            <a:r>
              <a:rPr lang="en-GB" altLang="zh-CN" sz="1400" dirty="0"/>
              <a:t>care : ['</a:t>
            </a:r>
            <a:r>
              <a:rPr lang="en-GB" altLang="zh-CN" sz="1400" dirty="0" err="1"/>
              <a:t>accessid</a:t>
            </a:r>
            <a:r>
              <a:rPr lang="en-GB" altLang="zh-CN" sz="1400" dirty="0"/>
              <a:t>':='1','29','31','37']['</a:t>
            </a:r>
            <a:r>
              <a:rPr lang="en-GB" altLang="zh-CN" sz="1400" dirty="0" err="1"/>
              <a:t>is_wireless</a:t>
            </a:r>
            <a:r>
              <a:rPr lang="en-GB" altLang="zh-CN" sz="1400" dirty="0"/>
              <a:t>':='1’] </a:t>
            </a:r>
          </a:p>
          <a:p>
            <a:r>
              <a:rPr lang="en-GB" altLang="zh-CN" sz="1400" dirty="0"/>
              <a:t>view : </a:t>
            </a:r>
            <a:r>
              <a:rPr lang="en-GB" altLang="zh-CN" sz="1400" dirty="0" err="1"/>
              <a:t>userid</a:t>
            </a:r>
            <a:r>
              <a:rPr lang="en-GB" altLang="zh-CN" sz="1400" dirty="0"/>
              <a:t> </a:t>
            </a:r>
          </a:p>
          <a:p>
            <a:r>
              <a:rPr lang="en-GB" altLang="zh-CN" sz="1400" dirty="0" err="1"/>
              <a:t>window_type</a:t>
            </a:r>
            <a:r>
              <a:rPr lang="en-GB" altLang="zh-CN" sz="1400" dirty="0"/>
              <a:t> : time </a:t>
            </a:r>
          </a:p>
          <a:p>
            <a:r>
              <a:rPr lang="en-GB" altLang="zh-CN" sz="1400" dirty="0" err="1"/>
              <a:t>step_length</a:t>
            </a:r>
            <a:r>
              <a:rPr lang="en-GB" altLang="zh-CN" sz="1400" dirty="0"/>
              <a:t> : 21600 </a:t>
            </a:r>
          </a:p>
          <a:p>
            <a:r>
              <a:rPr lang="en-GB" altLang="zh-CN" sz="1400" dirty="0"/>
              <a:t>version : 1 </a:t>
            </a:r>
          </a:p>
          <a:p>
            <a:r>
              <a:rPr lang="en-GB" altLang="zh-CN" sz="1400" dirty="0" err="1"/>
              <a:t>window_length</a:t>
            </a:r>
            <a:r>
              <a:rPr lang="en-GB" altLang="zh-CN" sz="1400" dirty="0"/>
              <a:t> : 86400</a:t>
            </a:r>
            <a:endParaRPr lang="zh-CN" altLang="en-US" sz="1400" dirty="0"/>
          </a:p>
        </p:txBody>
      </p:sp>
      <p:sp>
        <p:nvSpPr>
          <p:cNvPr id="11" name="内容占位符 2"/>
          <p:cNvSpPr>
            <a:spLocks noGrp="1"/>
          </p:cNvSpPr>
          <p:nvPr>
            <p:ph idx="1"/>
          </p:nvPr>
        </p:nvSpPr>
        <p:spPr>
          <a:xfrm>
            <a:off x="5247215" y="1412690"/>
            <a:ext cx="6192688" cy="5832648"/>
          </a:xfrm>
          <a:solidFill>
            <a:schemeClr val="bg1">
              <a:alpha val="0"/>
            </a:schemeClr>
          </a:solidFill>
        </p:spPr>
        <p:txBody>
          <a:bodyPr>
            <a:normAutofit/>
          </a:bodyPr>
          <a:lstStyle/>
          <a:p>
            <a:pPr lvl="1">
              <a:buClr>
                <a:schemeClr val="tx1"/>
              </a:buClr>
              <a:buFont typeface="Wingdings" panose="05000000000000000000" pitchFamily="2" charset="2"/>
              <a:buChar char="n"/>
            </a:pPr>
            <a:r>
              <a:rPr lang="zh-CN" altLang="en-US" sz="1800" b="1" dirty="0">
                <a:latin typeface="微软雅黑" panose="020B0503020204020204" pitchFamily="34" charset="-122"/>
                <a:ea typeface="微软雅黑" panose="020B0503020204020204" pitchFamily="34" charset="-122"/>
              </a:rPr>
              <a:t>段比例策略</a:t>
            </a:r>
            <a:endParaRPr lang="zh-CN" altLang="en-US" sz="800" b="1" dirty="0">
              <a:latin typeface="微软雅黑" panose="020B0503020204020204" pitchFamily="34" charset="-122"/>
              <a:ea typeface="微软雅黑" panose="020B0503020204020204" pitchFamily="34" charset="-122"/>
            </a:endParaRPr>
          </a:p>
          <a:p>
            <a:pPr lvl="2">
              <a:buClr>
                <a:srgbClr val="0070C0"/>
              </a:buClr>
              <a:buFont typeface="Wingdings" panose="05000000000000000000" pitchFamily="2" charset="2"/>
              <a:buChar char="l"/>
            </a:pPr>
            <a:r>
              <a:rPr lang="zh-CN" altLang="en-US" sz="1600" b="1" dirty="0"/>
              <a:t>业务场景</a:t>
            </a:r>
            <a:r>
              <a:rPr lang="zh-CN" altLang="en-US" sz="1600" dirty="0"/>
              <a:t>：</a:t>
            </a:r>
            <a:r>
              <a:rPr lang="zh-CN" altLang="en-US" sz="1600" dirty="0">
                <a:cs typeface="宋体" charset="0"/>
              </a:rPr>
              <a:t>每一天的日志中，在同一个广告主下，客户端安卓（</a:t>
            </a:r>
            <a:r>
              <a:rPr lang="en-US" altLang="zh-CN" sz="1600" dirty="0">
                <a:cs typeface="宋体" charset="0"/>
              </a:rPr>
              <a:t>Android</a:t>
            </a:r>
            <a:r>
              <a:rPr lang="zh-CN" altLang="en-US" sz="1600" dirty="0">
                <a:cs typeface="宋体" charset="0"/>
              </a:rPr>
              <a:t> </a:t>
            </a:r>
            <a:r>
              <a:rPr lang="en-US" altLang="zh-CN" sz="1600" dirty="0">
                <a:cs typeface="宋体" charset="0"/>
              </a:rPr>
              <a:t>4</a:t>
            </a:r>
            <a:r>
              <a:rPr lang="zh-CN" altLang="en-US" sz="1600" dirty="0">
                <a:cs typeface="宋体" charset="0"/>
              </a:rPr>
              <a:t>）的点击占圈定空间的比例不超过</a:t>
            </a:r>
            <a:r>
              <a:rPr lang="en-US" altLang="zh-CN" sz="1600" dirty="0">
                <a:cs typeface="宋体" charset="0"/>
              </a:rPr>
              <a:t>0.5</a:t>
            </a:r>
            <a:endParaRPr lang="en-US" altLang="zh-CN"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265484" y="1195100"/>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自动黑名单段比例策略</a:t>
            </a:r>
          </a:p>
        </p:txBody>
      </p:sp>
      <p:sp>
        <p:nvSpPr>
          <p:cNvPr id="12" name="内容占位符 2"/>
          <p:cNvSpPr>
            <a:spLocks noGrp="1"/>
          </p:cNvSpPr>
          <p:nvPr>
            <p:ph idx="1"/>
          </p:nvPr>
        </p:nvSpPr>
        <p:spPr>
          <a:xfrm>
            <a:off x="265484" y="1968405"/>
            <a:ext cx="11161241" cy="3519884"/>
          </a:xfrm>
        </p:spPr>
        <p:txBody>
          <a:bodyPr/>
          <a:lstStyle/>
          <a:p>
            <a:pPr lvl="1">
              <a:buClr>
                <a:schemeClr val="tx1"/>
              </a:buClr>
              <a:buFont typeface="Wingdings" panose="05000000000000000000" pitchFamily="2" charset="2"/>
              <a:buChar char="n"/>
            </a:pPr>
            <a:r>
              <a:rPr lang="zh-CN" altLang="en-US" sz="2000" b="1" dirty="0">
                <a:latin typeface="微软雅黑" panose="020B0503020204020204" pitchFamily="34" charset="-122"/>
                <a:ea typeface="微软雅黑" panose="020B0503020204020204" pitchFamily="34" charset="-122"/>
              </a:rPr>
              <a:t>自动黑名单段比例策略</a:t>
            </a:r>
          </a:p>
          <a:p>
            <a:pPr lvl="2">
              <a:buClr>
                <a:schemeClr val="tx1"/>
              </a:buClr>
              <a:buFont typeface="Wingdings" panose="05000000000000000000" pitchFamily="2" charset="2"/>
              <a:buChar char="l"/>
            </a:pPr>
            <a:r>
              <a:rPr lang="zh-CN" altLang="en-US" sz="1800" dirty="0">
                <a:cs typeface="宋体" charset="0"/>
              </a:rPr>
              <a:t>对于某段内比例数据显著异常的维度对象，系统会将其加入黑名单，后续流量直接过滤，直到该维度对象下的流量恢复正常。采用上段的段比例数据与阈值相比，来判定该段的结果</a:t>
            </a:r>
            <a:r>
              <a:rPr lang="zh-CN" altLang="en-US" sz="1800" dirty="0"/>
              <a:t>。</a:t>
            </a:r>
          </a:p>
          <a:p>
            <a:pPr lvl="2">
              <a:buClr>
                <a:schemeClr val="tx1"/>
              </a:buClr>
              <a:buFont typeface="Wingdings" panose="05000000000000000000" pitchFamily="2" charset="2"/>
              <a:buChar char="l"/>
            </a:pPr>
            <a:endParaRPr lang="zh-CN" altLang="en-US" sz="1800" dirty="0"/>
          </a:p>
          <a:p>
            <a:pPr lvl="1">
              <a:buClr>
                <a:schemeClr val="tx1"/>
              </a:buClr>
              <a:buFont typeface="Wingdings" panose="05000000000000000000" pitchFamily="2" charset="2"/>
              <a:buChar char="n"/>
            </a:pPr>
            <a:r>
              <a:rPr lang="zh-CN" altLang="en-US" sz="2000" b="1" dirty="0">
                <a:latin typeface="微软雅黑" panose="020B0503020204020204" pitchFamily="34" charset="-122"/>
                <a:ea typeface="微软雅黑" panose="020B0503020204020204" pitchFamily="34" charset="-122"/>
              </a:rPr>
              <a:t>可用特征</a:t>
            </a:r>
          </a:p>
          <a:p>
            <a:pPr lvl="2">
              <a:buClr>
                <a:schemeClr val="tx1"/>
              </a:buClr>
              <a:buFont typeface="Wingdings" panose="05000000000000000000" pitchFamily="2" charset="2"/>
              <a:buChar char="l"/>
            </a:pPr>
            <a:r>
              <a:rPr lang="zh-CN" altLang="en-US" sz="1800" dirty="0">
                <a:cs typeface="宋体" charset="0"/>
              </a:rPr>
              <a:t>自动黑名单比例特征 </a:t>
            </a:r>
            <a:r>
              <a:rPr lang="en-US" altLang="zh-CN" sz="1800" dirty="0" err="1">
                <a:cs typeface="宋体" charset="0"/>
              </a:rPr>
              <a:t>auto_ratio</a:t>
            </a:r>
            <a:endParaRPr lang="en-US" altLang="zh-CN" sz="1800" dirty="0">
              <a:cs typeface="宋体" charset="0"/>
            </a:endParaRPr>
          </a:p>
          <a:p>
            <a:pPr lvl="2">
              <a:buClr>
                <a:schemeClr val="tx1"/>
              </a:buClr>
              <a:buFont typeface="Wingdings" panose="05000000000000000000" pitchFamily="2" charset="2"/>
              <a:buChar char="l"/>
            </a:pPr>
            <a:endParaRPr lang="en-GB" altLang="zh-CN" sz="1800" dirty="0"/>
          </a:p>
          <a:p>
            <a:pPr lvl="1">
              <a:buClr>
                <a:schemeClr val="tx1"/>
              </a:buClr>
              <a:buFont typeface="Wingdings" panose="05000000000000000000" pitchFamily="2" charset="2"/>
              <a:buChar char="n"/>
            </a:pPr>
            <a:r>
              <a:rPr lang="zh-CN" altLang="en-US" sz="2000" b="1" dirty="0">
                <a:latin typeface="微软雅黑" panose="020B0503020204020204" pitchFamily="34" charset="-122"/>
                <a:ea typeface="微软雅黑" panose="020B0503020204020204" pitchFamily="34" charset="-122"/>
              </a:rPr>
              <a:t>适用场景</a:t>
            </a:r>
            <a:endParaRPr lang="en-US" altLang="zh-CN" sz="2000" strike="sngStrike" dirty="0"/>
          </a:p>
          <a:p>
            <a:pPr lvl="2">
              <a:buClr>
                <a:schemeClr val="tx1"/>
              </a:buClr>
              <a:buFont typeface="Wingdings" panose="05000000000000000000" pitchFamily="2" charset="2"/>
              <a:buChar char="l"/>
            </a:pPr>
            <a:r>
              <a:rPr lang="zh-CN" altLang="en-US" sz="1800" dirty="0">
                <a:cs typeface="宋体" charset="0"/>
              </a:rPr>
              <a:t>自动黑名单段比例策略使用的是上一段的信息判断</a:t>
            </a:r>
            <a:r>
              <a:rPr lang="en-US" altLang="zh-CN" sz="1800" dirty="0">
                <a:cs typeface="宋体" charset="0"/>
              </a:rPr>
              <a:t>hit</a:t>
            </a:r>
            <a:r>
              <a:rPr lang="zh-CN" altLang="en-US" sz="1800" dirty="0">
                <a:cs typeface="宋体" charset="0"/>
              </a:rPr>
              <a:t>与否，可以缓解段首漏过问题，但是第一段会全部判定为</a:t>
            </a:r>
            <a:r>
              <a:rPr lang="en-US" altLang="zh-CN" sz="1800" dirty="0">
                <a:cs typeface="宋体" charset="0"/>
              </a:rPr>
              <a:t>normal</a:t>
            </a:r>
            <a:r>
              <a:rPr lang="zh-CN" altLang="en-US" sz="1800" dirty="0">
                <a:cs typeface="宋体" charset="0"/>
              </a:rPr>
              <a:t>，因此自动黑名单段比例策略一般段长较短。</a:t>
            </a:r>
            <a:endParaRPr lang="en-US" altLang="zh-CN" sz="1800" dirty="0"/>
          </a:p>
          <a:p>
            <a:pPr lvl="2">
              <a:buClr>
                <a:schemeClr val="tx1"/>
              </a:buClr>
              <a:buFont typeface="Wingdings" panose="05000000000000000000" pitchFamily="2" charset="2"/>
              <a:buChar char="l"/>
            </a:pPr>
            <a:endParaRPr lang="en-US" altLang="zh-C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2333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自动黑名单段比例策略</a:t>
            </a:r>
          </a:p>
        </p:txBody>
      </p:sp>
      <p:sp>
        <p:nvSpPr>
          <p:cNvPr id="3" name="文本框 2"/>
          <p:cNvSpPr txBox="1"/>
          <p:nvPr/>
        </p:nvSpPr>
        <p:spPr>
          <a:xfrm>
            <a:off x="405184" y="1612886"/>
            <a:ext cx="5219700" cy="5432256"/>
          </a:xfrm>
          <a:prstGeom prst="rect">
            <a:avLst/>
          </a:prstGeom>
          <a:noFill/>
        </p:spPr>
        <p:txBody>
          <a:bodyPr wrap="square" rtlCol="0">
            <a:spAutoFit/>
          </a:bodyPr>
          <a:lstStyle/>
          <a:p>
            <a:pPr lvl="0"/>
            <a:r>
              <a:rPr lang="en-GB" altLang="zh-CN" sz="1400" dirty="0"/>
              <a:t>[@policy]</a:t>
            </a:r>
          </a:p>
          <a:p>
            <a:pPr lvl="0"/>
            <a:r>
              <a:rPr lang="en-GB" altLang="zh-CN" sz="1400" dirty="0" err="1"/>
              <a:t>policy_type</a:t>
            </a:r>
            <a:r>
              <a:rPr lang="en-GB" altLang="zh-CN" sz="1400" dirty="0"/>
              <a:t> : rule</a:t>
            </a:r>
          </a:p>
          <a:p>
            <a:pPr lvl="0"/>
            <a:r>
              <a:rPr lang="en-GB" altLang="zh-CN" sz="1400" dirty="0" err="1"/>
              <a:t>policy_id</a:t>
            </a:r>
            <a:r>
              <a:rPr lang="en-GB" altLang="zh-CN" sz="1400" dirty="0"/>
              <a:t> : 611101</a:t>
            </a:r>
          </a:p>
          <a:p>
            <a:pPr lvl="0"/>
            <a:r>
              <a:rPr lang="en-GB" altLang="zh-CN" sz="1400" dirty="0"/>
              <a:t>[.@rule]</a:t>
            </a:r>
          </a:p>
          <a:p>
            <a:pPr lvl="0"/>
            <a:r>
              <a:rPr lang="en-GB" altLang="zh-CN" sz="1400" dirty="0"/>
              <a:t>threshold : 0.95</a:t>
            </a:r>
          </a:p>
          <a:p>
            <a:pPr lvl="0"/>
            <a:r>
              <a:rPr lang="en-GB" altLang="zh-CN" sz="1400" dirty="0" err="1"/>
              <a:t>feature_id</a:t>
            </a:r>
            <a:r>
              <a:rPr lang="en-GB" altLang="zh-CN" sz="1400" dirty="0"/>
              <a:t> : 611101</a:t>
            </a:r>
          </a:p>
          <a:p>
            <a:pPr lvl="0"/>
            <a:r>
              <a:rPr lang="en-GB" altLang="zh-CN" sz="1400" dirty="0" err="1"/>
              <a:t>rule_type</a:t>
            </a:r>
            <a:r>
              <a:rPr lang="en-GB" altLang="zh-CN" sz="1400" dirty="0"/>
              <a:t> : </a:t>
            </a:r>
            <a:r>
              <a:rPr lang="en-GB" altLang="zh-CN" sz="1400" dirty="0" err="1"/>
              <a:t>auto_ratio</a:t>
            </a:r>
            <a:endParaRPr lang="en-GB" altLang="zh-CN" sz="1400" dirty="0"/>
          </a:p>
          <a:p>
            <a:pPr lvl="0"/>
            <a:r>
              <a:rPr lang="en-GB" altLang="zh-CN" sz="1400" dirty="0">
                <a:solidFill>
                  <a:srgbClr val="C00000"/>
                </a:solidFill>
              </a:rPr>
              <a:t>mode : filter</a:t>
            </a:r>
          </a:p>
          <a:p>
            <a:pPr lvl="0"/>
            <a:r>
              <a:rPr lang="en-GB" altLang="zh-CN" sz="1400" dirty="0"/>
              <a:t> </a:t>
            </a:r>
          </a:p>
          <a:p>
            <a:pPr lvl="0"/>
            <a:r>
              <a:rPr lang="en-GB" altLang="zh-CN" sz="1400" dirty="0"/>
              <a:t> </a:t>
            </a:r>
          </a:p>
          <a:p>
            <a:pPr lvl="0"/>
            <a:r>
              <a:rPr lang="en-GB" altLang="zh-CN" sz="1400" dirty="0"/>
              <a:t>[@feature]</a:t>
            </a:r>
          </a:p>
          <a:p>
            <a:pPr lvl="0"/>
            <a:r>
              <a:rPr lang="en-GB" altLang="zh-CN" sz="1400" dirty="0" err="1"/>
              <a:t>feature_id</a:t>
            </a:r>
            <a:r>
              <a:rPr lang="en-GB" altLang="zh-CN" sz="1400" dirty="0"/>
              <a:t> : 611101</a:t>
            </a:r>
          </a:p>
          <a:p>
            <a:pPr lvl="0"/>
            <a:r>
              <a:rPr lang="en-GB" altLang="zh-CN" sz="1400" dirty="0" err="1"/>
              <a:t>view_level</a:t>
            </a:r>
            <a:r>
              <a:rPr lang="en-GB" altLang="zh-CN" sz="1400" dirty="0"/>
              <a:t> : </a:t>
            </a:r>
            <a:r>
              <a:rPr lang="en-GB" altLang="zh-CN" sz="1400" dirty="0" err="1"/>
              <a:t>click_level</a:t>
            </a:r>
            <a:endParaRPr lang="en-GB" altLang="zh-CN" sz="1400" dirty="0"/>
          </a:p>
          <a:p>
            <a:pPr lvl="0"/>
            <a:r>
              <a:rPr lang="en-GB" altLang="zh-CN" sz="1400" dirty="0" err="1"/>
              <a:t>feature_type</a:t>
            </a:r>
            <a:r>
              <a:rPr lang="en-GB" altLang="zh-CN" sz="1400" dirty="0"/>
              <a:t> : </a:t>
            </a:r>
            <a:r>
              <a:rPr lang="en-GB" altLang="zh-CN" sz="1400" dirty="0" err="1"/>
              <a:t>auto_ratio</a:t>
            </a:r>
            <a:endParaRPr lang="en-GB" altLang="zh-CN" sz="1400" dirty="0"/>
          </a:p>
          <a:p>
            <a:pPr lvl="0"/>
            <a:r>
              <a:rPr lang="en-GB" altLang="zh-CN" sz="1400" dirty="0">
                <a:solidFill>
                  <a:srgbClr val="C00000"/>
                </a:solidFill>
              </a:rPr>
              <a:t>filter : ['</a:t>
            </a:r>
            <a:r>
              <a:rPr lang="en-GB" altLang="zh-CN" sz="1400" dirty="0" err="1">
                <a:solidFill>
                  <a:srgbClr val="C00000"/>
                </a:solidFill>
              </a:rPr>
              <a:t>cntname</a:t>
            </a:r>
            <a:r>
              <a:rPr lang="en-GB" altLang="zh-CN" sz="1400" dirty="0">
                <a:solidFill>
                  <a:srgbClr val="C00000"/>
                </a:solidFill>
              </a:rPr>
              <a:t>':='</a:t>
            </a:r>
            <a:r>
              <a:rPr lang="en-GB" altLang="zh-CN" sz="1400" dirty="0" err="1">
                <a:solidFill>
                  <a:srgbClr val="C00000"/>
                </a:solidFill>
              </a:rPr>
              <a:t>baiduwap_ws</a:t>
            </a:r>
            <a:r>
              <a:rPr lang="en-GB" altLang="zh-CN" sz="1400" dirty="0">
                <a:solidFill>
                  <a:srgbClr val="C00000"/>
                </a:solidFill>
              </a:rPr>
              <a:t>']</a:t>
            </a:r>
          </a:p>
          <a:p>
            <a:pPr lvl="0"/>
            <a:r>
              <a:rPr lang="en-GB" altLang="zh-CN" sz="1400" dirty="0">
                <a:solidFill>
                  <a:srgbClr val="C00000"/>
                </a:solidFill>
              </a:rPr>
              <a:t>remain : 30</a:t>
            </a:r>
          </a:p>
          <a:p>
            <a:pPr lvl="0"/>
            <a:r>
              <a:rPr lang="en-GB" altLang="zh-CN" sz="1400" dirty="0">
                <a:solidFill>
                  <a:srgbClr val="C00000"/>
                </a:solidFill>
              </a:rPr>
              <a:t>refer : [*]</a:t>
            </a:r>
          </a:p>
          <a:p>
            <a:pPr lvl="0"/>
            <a:r>
              <a:rPr lang="en-GB" altLang="zh-CN" sz="1400" dirty="0"/>
              <a:t>care : ['</a:t>
            </a:r>
            <a:r>
              <a:rPr lang="en-GB" altLang="zh-CN" sz="1400" dirty="0" err="1"/>
              <a:t>accessid</a:t>
            </a:r>
            <a:r>
              <a:rPr lang="en-GB" altLang="zh-CN" sz="1400" dirty="0"/>
              <a:t>':='1','29','31','37']['</a:t>
            </a:r>
            <a:r>
              <a:rPr lang="en-GB" altLang="zh-CN" sz="1400" dirty="0" err="1"/>
              <a:t>is_wireless</a:t>
            </a:r>
            <a:r>
              <a:rPr lang="en-GB" altLang="zh-CN" sz="1400" dirty="0"/>
              <a:t>':='1']['</a:t>
            </a:r>
            <a:r>
              <a:rPr lang="en-GB" altLang="zh-CN" sz="1400" dirty="0" err="1"/>
              <a:t>cmatch'NI'feed.whitecmatch</a:t>
            </a:r>
            <a:r>
              <a:rPr lang="en-GB" altLang="zh-CN" sz="1400" dirty="0"/>
              <a:t>']</a:t>
            </a:r>
          </a:p>
          <a:p>
            <a:pPr lvl="0"/>
            <a:r>
              <a:rPr lang="en-GB" altLang="zh-CN" sz="1400" dirty="0"/>
              <a:t>view : </a:t>
            </a:r>
            <a:r>
              <a:rPr lang="en-GB" altLang="zh-CN" sz="1400" dirty="0" err="1"/>
              <a:t>useragent</a:t>
            </a:r>
            <a:endParaRPr lang="en-GB" altLang="zh-CN" sz="1400" dirty="0"/>
          </a:p>
          <a:p>
            <a:pPr lvl="0"/>
            <a:r>
              <a:rPr lang="en-GB" altLang="zh-CN" sz="1400" dirty="0" err="1"/>
              <a:t>window_type</a:t>
            </a:r>
            <a:r>
              <a:rPr lang="en-GB" altLang="zh-CN" sz="1400" dirty="0"/>
              <a:t> : </a:t>
            </a:r>
            <a:r>
              <a:rPr lang="en-GB" altLang="zh-CN" sz="1400" dirty="0" err="1"/>
              <a:t>pv</a:t>
            </a:r>
            <a:endParaRPr lang="en-GB" altLang="zh-CN" sz="1400" dirty="0"/>
          </a:p>
          <a:p>
            <a:pPr lvl="0"/>
            <a:r>
              <a:rPr lang="en-GB" altLang="zh-CN" sz="1400" dirty="0"/>
              <a:t>version : 1</a:t>
            </a:r>
          </a:p>
          <a:p>
            <a:pPr lvl="0"/>
            <a:r>
              <a:rPr lang="en-GB" altLang="zh-CN" sz="1400" dirty="0" err="1"/>
              <a:t>window_length</a:t>
            </a:r>
            <a:r>
              <a:rPr lang="en-GB" altLang="zh-CN" sz="1400" dirty="0"/>
              <a:t> : 2000</a:t>
            </a:r>
            <a:endParaRPr lang="en-GB" altLang="zh-CN" sz="1400" dirty="0">
              <a:solidFill>
                <a:srgbClr val="000000"/>
              </a:solidFill>
              <a:latin typeface="Helvetica Light" charset="0"/>
              <a:sym typeface="Helvetica Light" charset="0"/>
            </a:endParaRPr>
          </a:p>
          <a:p>
            <a:endParaRPr kumimoji="1" lang="zh-CN" altLang="en-US" sz="1100" dirty="0"/>
          </a:p>
        </p:txBody>
      </p:sp>
      <p:sp>
        <p:nvSpPr>
          <p:cNvPr id="12" name="内容占位符 2"/>
          <p:cNvSpPr>
            <a:spLocks noGrp="1"/>
          </p:cNvSpPr>
          <p:nvPr>
            <p:ph idx="1"/>
          </p:nvPr>
        </p:nvSpPr>
        <p:spPr>
          <a:xfrm>
            <a:off x="4935364" y="1372991"/>
            <a:ext cx="7075661" cy="8064896"/>
          </a:xfrm>
          <a:solidFill>
            <a:schemeClr val="bg1">
              <a:alpha val="0"/>
            </a:schemeClr>
          </a:solidFill>
        </p:spPr>
        <p:txBody>
          <a:bodyPr>
            <a:normAutofit/>
          </a:bodyPr>
          <a:lstStyle/>
          <a:p>
            <a:pPr lvl="1">
              <a:buClr>
                <a:schemeClr val="tx1"/>
              </a:buClr>
              <a:buFont typeface="Wingdings" panose="05000000000000000000" pitchFamily="2" charset="2"/>
              <a:buChar char="l"/>
            </a:pPr>
            <a:r>
              <a:rPr lang="zh-CN" altLang="en-US" sz="1800" b="1" dirty="0">
                <a:latin typeface="微软雅黑" panose="020B0503020204020204" pitchFamily="34" charset="-122"/>
                <a:ea typeface="微软雅黑" panose="020B0503020204020204" pitchFamily="34" charset="-122"/>
              </a:rPr>
              <a:t>自动黑名单段比例策略</a:t>
            </a:r>
          </a:p>
          <a:p>
            <a:pPr lvl="1">
              <a:buClr>
                <a:schemeClr val="accent2"/>
              </a:buClr>
              <a:buFont typeface="Wingdings" panose="05000000000000000000" pitchFamily="2" charset="2"/>
              <a:buChar char="n"/>
            </a:pPr>
            <a:endParaRPr lang="zh-CN" altLang="en-US" sz="800" b="1" dirty="0">
              <a:solidFill>
                <a:schemeClr val="accent2"/>
              </a:solidFill>
              <a:latin typeface="微软雅黑" panose="020B0503020204020204" pitchFamily="34" charset="-122"/>
              <a:ea typeface="微软雅黑" panose="020B0503020204020204" pitchFamily="34" charset="-122"/>
            </a:endParaRPr>
          </a:p>
          <a:p>
            <a:pPr lvl="2">
              <a:buClr>
                <a:srgbClr val="0070C0"/>
              </a:buClr>
              <a:buFont typeface="Wingdings" panose="05000000000000000000" pitchFamily="2" charset="2"/>
              <a:buChar char="l"/>
            </a:pPr>
            <a:r>
              <a:rPr lang="zh-CN" altLang="en-US" sz="1600" b="1" dirty="0"/>
              <a:t>业务场景</a:t>
            </a:r>
            <a:r>
              <a:rPr lang="zh-CN" altLang="en-US" sz="1600" dirty="0"/>
              <a:t>：在同一用户代理下，控制计费名</a:t>
            </a:r>
            <a:r>
              <a:rPr lang="en-GB" altLang="zh-CN" sz="1600" dirty="0"/>
              <a:t>'</a:t>
            </a:r>
            <a:r>
              <a:rPr lang="en-GB" altLang="zh-CN" sz="1600" dirty="0" err="1"/>
              <a:t>baiduwap_ws</a:t>
            </a:r>
            <a:r>
              <a:rPr lang="zh-CN" altLang="en-US" sz="1600" dirty="0"/>
              <a:t>所占比例。</a:t>
            </a:r>
            <a:endParaRPr lang="en-US" altLang="zh-CN" sz="1600" dirty="0"/>
          </a:p>
          <a:p>
            <a:pPr lvl="2">
              <a:buClr>
                <a:srgbClr val="0070C0"/>
              </a:buClr>
              <a:buFont typeface="Wingdings" panose="05000000000000000000" pitchFamily="2" charset="2"/>
              <a:buChar char="l"/>
            </a:pPr>
            <a:endParaRPr lang="en-US" altLang="zh-CN" sz="800" dirty="0"/>
          </a:p>
          <a:p>
            <a:pPr lvl="2">
              <a:buClr>
                <a:srgbClr val="0070C0"/>
              </a:buClr>
              <a:buFont typeface="Wingdings" panose="05000000000000000000" pitchFamily="2" charset="2"/>
              <a:buChar char="l"/>
            </a:pPr>
            <a:r>
              <a:rPr lang="zh-CN" altLang="en-US" sz="1600" b="1" dirty="0"/>
              <a:t>参数说明</a:t>
            </a:r>
            <a:r>
              <a:rPr lang="zh-CN" altLang="en-US" sz="1600" dirty="0"/>
              <a:t>：</a:t>
            </a:r>
            <a:endParaRPr lang="en-US" altLang="zh-CN" sz="1600" dirty="0"/>
          </a:p>
          <a:p>
            <a:pPr marL="914400" lvl="2" indent="0">
              <a:buClr>
                <a:srgbClr val="0070C0"/>
              </a:buClr>
              <a:buNone/>
            </a:pPr>
            <a:r>
              <a:rPr lang="zh-CN" altLang="en-US" sz="1600" dirty="0"/>
              <a:t>参数含义大部分与段比例策略相同。</a:t>
            </a:r>
            <a:endParaRPr lang="en-US" altLang="zh-CN" sz="1600" dirty="0"/>
          </a:p>
          <a:p>
            <a:pPr marL="914400" lvl="2" indent="0">
              <a:buClr>
                <a:srgbClr val="0070C0"/>
              </a:buClr>
              <a:buNone/>
            </a:pPr>
            <a:r>
              <a:rPr lang="en-GB" altLang="zh-CN" sz="1600" b="1" dirty="0"/>
              <a:t>mode</a:t>
            </a:r>
            <a:r>
              <a:rPr lang="zh-CN" altLang="en-US" sz="1600" dirty="0"/>
              <a:t>：过滤类型</a:t>
            </a:r>
          </a:p>
          <a:p>
            <a:pPr marL="914400" lvl="2" indent="0">
              <a:buClr>
                <a:srgbClr val="0070C0"/>
              </a:buClr>
              <a:buNone/>
            </a:pPr>
            <a:r>
              <a:rPr lang="en-US" altLang="zh-CN" sz="1600" b="1" dirty="0"/>
              <a:t>filter:</a:t>
            </a:r>
            <a:r>
              <a:rPr lang="zh-CN" altLang="en-US" sz="1600" dirty="0"/>
              <a:t>过滤分子取值范围</a:t>
            </a:r>
            <a:endParaRPr lang="en-US" altLang="zh-CN" sz="1600" dirty="0"/>
          </a:p>
          <a:p>
            <a:pPr marL="914400" lvl="2" indent="0">
              <a:buClr>
                <a:srgbClr val="0070C0"/>
              </a:buClr>
              <a:buNone/>
            </a:pPr>
            <a:r>
              <a:rPr lang="en-GB" altLang="zh-CN" sz="1600" b="1" dirty="0"/>
              <a:t>refer:</a:t>
            </a:r>
            <a:r>
              <a:rPr lang="zh-CN" altLang="en-GB" sz="1600" dirty="0"/>
              <a:t>过滤</a:t>
            </a:r>
            <a:r>
              <a:rPr lang="zh-CN" altLang="en-US" sz="1600" dirty="0"/>
              <a:t>分母取值范围</a:t>
            </a:r>
            <a:endParaRPr lang="en-US" altLang="zh-CN" sz="1600" dirty="0"/>
          </a:p>
          <a:p>
            <a:pPr marL="914400" lvl="2" indent="0">
              <a:buClr>
                <a:srgbClr val="0070C0"/>
              </a:buClr>
              <a:buNone/>
            </a:pPr>
            <a:r>
              <a:rPr lang="en-GB" altLang="zh-CN" sz="1600" b="1" dirty="0" err="1"/>
              <a:t>remain_numerator</a:t>
            </a:r>
            <a:endParaRPr lang="en-GB" altLang="zh-CN" sz="1600" b="1" dirty="0"/>
          </a:p>
          <a:p>
            <a:pPr marL="914400" lvl="2" indent="0">
              <a:buClr>
                <a:srgbClr val="0070C0"/>
              </a:buClr>
              <a:buNone/>
            </a:pPr>
            <a:r>
              <a:rPr lang="en-GB" altLang="zh-CN" sz="1600" dirty="0"/>
              <a:t>1:</a:t>
            </a:r>
            <a:r>
              <a:rPr lang="zh-CN" altLang="en-US" sz="1600" dirty="0"/>
              <a:t>  分子</a:t>
            </a:r>
            <a:r>
              <a:rPr lang="en-US" altLang="zh-CN" sz="1600" dirty="0"/>
              <a:t>&gt;</a:t>
            </a:r>
            <a:r>
              <a:rPr lang="en-GB" altLang="zh-CN" sz="1600" dirty="0"/>
              <a:t>remain</a:t>
            </a:r>
            <a:r>
              <a:rPr lang="zh-CN" altLang="en-US" sz="1600" dirty="0"/>
              <a:t>才会去计算</a:t>
            </a:r>
            <a:r>
              <a:rPr lang="en-GB" altLang="zh-CN" sz="1600" dirty="0"/>
              <a:t>ratio</a:t>
            </a:r>
          </a:p>
          <a:p>
            <a:pPr marL="914400" lvl="2" indent="0">
              <a:buClr>
                <a:srgbClr val="0070C0"/>
              </a:buClr>
              <a:buNone/>
            </a:pPr>
            <a:r>
              <a:rPr lang="en-GB" altLang="zh-CN" sz="1600" dirty="0"/>
              <a:t>0:</a:t>
            </a:r>
            <a:r>
              <a:rPr lang="zh-CN" altLang="en-US" sz="1600" dirty="0"/>
              <a:t>  分母</a:t>
            </a:r>
            <a:r>
              <a:rPr lang="en-US" altLang="zh-CN" sz="1600" dirty="0"/>
              <a:t>&gt;</a:t>
            </a:r>
            <a:r>
              <a:rPr lang="en-GB" altLang="zh-CN" sz="1600" dirty="0"/>
              <a:t>remain</a:t>
            </a:r>
            <a:r>
              <a:rPr lang="zh-CN" altLang="en-US" sz="1600" dirty="0"/>
              <a:t>才会去计算</a:t>
            </a:r>
            <a:r>
              <a:rPr lang="en-GB" altLang="zh-CN" sz="1600" dirty="0"/>
              <a:t>ratio</a:t>
            </a:r>
            <a:r>
              <a:rPr lang="zh-CN" altLang="en-GB" sz="1600" dirty="0"/>
              <a:t>（</a:t>
            </a:r>
            <a:r>
              <a:rPr lang="zh-CN" altLang="en-US" sz="1600" dirty="0"/>
              <a:t>默认）</a:t>
            </a:r>
            <a:endParaRPr lang="en-US" altLang="zh-CN" sz="1600" dirty="0"/>
          </a:p>
          <a:p>
            <a:pPr marL="914400" lvl="2" indent="0">
              <a:buClr>
                <a:srgbClr val="0070C0"/>
              </a:buClr>
              <a:buNone/>
            </a:pPr>
            <a:r>
              <a:rPr lang="en-GB" altLang="zh-CN" sz="1600" b="1" dirty="0" err="1"/>
              <a:t>simple_ratio</a:t>
            </a:r>
            <a:endParaRPr lang="en-GB" altLang="zh-CN" sz="1600" b="1" dirty="0"/>
          </a:p>
          <a:p>
            <a:pPr marL="914400" lvl="2" indent="0">
              <a:buClr>
                <a:srgbClr val="0070C0"/>
              </a:buClr>
              <a:buNone/>
            </a:pPr>
            <a:r>
              <a:rPr lang="en-GB" altLang="zh-CN" sz="1600" dirty="0"/>
              <a:t>1:</a:t>
            </a:r>
            <a:r>
              <a:rPr lang="zh-CN" altLang="en-US" sz="1600" dirty="0"/>
              <a:t>  分子</a:t>
            </a:r>
            <a:r>
              <a:rPr lang="en-GB" altLang="zh-CN" sz="1600" dirty="0"/>
              <a:t>or</a:t>
            </a:r>
            <a:r>
              <a:rPr lang="zh-CN" altLang="en-US" sz="1600" dirty="0"/>
              <a:t>分母</a:t>
            </a:r>
            <a:r>
              <a:rPr lang="en-US" altLang="zh-CN" sz="1600" dirty="0"/>
              <a:t>&gt;</a:t>
            </a:r>
            <a:r>
              <a:rPr lang="en-GB" altLang="zh-CN" sz="1600" dirty="0"/>
              <a:t>remain(</a:t>
            </a:r>
            <a:r>
              <a:rPr lang="en-GB" altLang="zh-CN" sz="1600" dirty="0" err="1"/>
              <a:t>acc</a:t>
            </a:r>
            <a:r>
              <a:rPr lang="en-GB" altLang="zh-CN" sz="1600" dirty="0"/>
              <a:t>)</a:t>
            </a:r>
            <a:r>
              <a:rPr lang="zh-CN" altLang="en-GB" sz="1600" dirty="0"/>
              <a:t>，</a:t>
            </a:r>
            <a:r>
              <a:rPr lang="zh-CN" altLang="en-US" sz="1600" dirty="0"/>
              <a:t>分子</a:t>
            </a:r>
            <a:r>
              <a:rPr lang="en-US" altLang="zh-CN" sz="1600" dirty="0"/>
              <a:t>/</a:t>
            </a:r>
            <a:r>
              <a:rPr lang="zh-CN" altLang="en-US" sz="1600" dirty="0"/>
              <a:t>分母</a:t>
            </a:r>
            <a:r>
              <a:rPr lang="en-US" altLang="zh-CN" sz="1600" dirty="0"/>
              <a:t>&gt;</a:t>
            </a:r>
            <a:r>
              <a:rPr lang="en-GB" altLang="zh-CN" sz="1600" dirty="0"/>
              <a:t>threshold</a:t>
            </a:r>
          </a:p>
          <a:p>
            <a:pPr marL="914400" lvl="2" indent="0">
              <a:buClr>
                <a:srgbClr val="0070C0"/>
              </a:buClr>
              <a:buNone/>
            </a:pPr>
            <a:r>
              <a:rPr lang="en-GB" altLang="zh-CN" sz="1600" dirty="0"/>
              <a:t>0:</a:t>
            </a:r>
            <a:r>
              <a:rPr lang="zh-CN" altLang="en-US" sz="1600" dirty="0"/>
              <a:t>  </a:t>
            </a:r>
            <a:r>
              <a:rPr lang="en-GB" altLang="zh-CN" sz="1600" dirty="0"/>
              <a:t>(</a:t>
            </a:r>
            <a:r>
              <a:rPr lang="zh-CN" altLang="en-US" sz="1600" dirty="0"/>
              <a:t>分子</a:t>
            </a:r>
            <a:r>
              <a:rPr lang="en-US" altLang="zh-CN" sz="1600" dirty="0"/>
              <a:t>-</a:t>
            </a:r>
            <a:r>
              <a:rPr lang="en-GB" altLang="zh-CN" sz="1600" dirty="0"/>
              <a:t>remain)/</a:t>
            </a:r>
            <a:r>
              <a:rPr lang="zh-CN" altLang="en-US" sz="1600" dirty="0"/>
              <a:t>分母</a:t>
            </a:r>
            <a:r>
              <a:rPr lang="en-US" altLang="zh-CN" sz="1600" dirty="0"/>
              <a:t>&gt;</a:t>
            </a:r>
            <a:r>
              <a:rPr lang="en-GB" altLang="zh-CN" sz="1600" dirty="0"/>
              <a:t>threshold</a:t>
            </a:r>
            <a:r>
              <a:rPr lang="zh-CN" altLang="en-GB" sz="1600" dirty="0"/>
              <a:t>（</a:t>
            </a:r>
            <a:r>
              <a:rPr lang="zh-CN" altLang="en-US" sz="1600" dirty="0"/>
              <a:t>默认）</a:t>
            </a:r>
          </a:p>
          <a:p>
            <a:pPr marL="914400" lvl="2" indent="0">
              <a:buClr>
                <a:srgbClr val="0070C0"/>
              </a:buClr>
              <a:buNone/>
            </a:pPr>
            <a:r>
              <a:rPr lang="en-GB" altLang="zh-CN" sz="1600" b="1" dirty="0" err="1">
                <a:solidFill>
                  <a:srgbClr val="FF0000"/>
                </a:solidFill>
              </a:rPr>
              <a:t>filter_mode</a:t>
            </a:r>
            <a:endParaRPr lang="en-GB" altLang="zh-CN" sz="1600" b="1" dirty="0">
              <a:solidFill>
                <a:srgbClr val="FF0000"/>
              </a:solidFill>
            </a:endParaRPr>
          </a:p>
          <a:p>
            <a:pPr marL="914400" lvl="2" indent="0">
              <a:buClr>
                <a:srgbClr val="0070C0"/>
              </a:buClr>
              <a:buNone/>
            </a:pPr>
            <a:r>
              <a:rPr lang="en-GB" altLang="zh-CN" sz="1600" dirty="0">
                <a:solidFill>
                  <a:srgbClr val="FF0000"/>
                </a:solidFill>
              </a:rPr>
              <a:t>1:</a:t>
            </a:r>
            <a:r>
              <a:rPr lang="zh-CN" altLang="en-US" sz="1600" dirty="0">
                <a:solidFill>
                  <a:srgbClr val="FF0000"/>
                </a:solidFill>
              </a:rPr>
              <a:t>  过滤分母</a:t>
            </a:r>
          </a:p>
          <a:p>
            <a:pPr marL="914400" lvl="2" indent="0">
              <a:buClr>
                <a:srgbClr val="0070C0"/>
              </a:buClr>
              <a:buNone/>
            </a:pPr>
            <a:r>
              <a:rPr lang="en-US" altLang="zh-CN" sz="1600" dirty="0">
                <a:solidFill>
                  <a:srgbClr val="FF0000"/>
                </a:solidFill>
              </a:rPr>
              <a:t>0:</a:t>
            </a:r>
            <a:r>
              <a:rPr lang="zh-CN" altLang="en-US" sz="1600" dirty="0">
                <a:solidFill>
                  <a:srgbClr val="FF0000"/>
                </a:solidFill>
              </a:rPr>
              <a:t>  过滤分子（默认）</a:t>
            </a:r>
          </a:p>
          <a:p>
            <a:pPr marL="914400" lvl="2" indent="0">
              <a:buClr>
                <a:srgbClr val="0070C0"/>
              </a:buClr>
              <a:buNone/>
            </a:pPr>
            <a:endParaRPr lang="en-US" altLang="zh-CN"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265484" y="1195100"/>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分布异常策略</a:t>
            </a:r>
          </a:p>
        </p:txBody>
      </p:sp>
      <p:sp>
        <p:nvSpPr>
          <p:cNvPr id="10" name="内容占位符 2"/>
          <p:cNvSpPr>
            <a:spLocks noGrp="1"/>
          </p:cNvSpPr>
          <p:nvPr>
            <p:ph idx="1"/>
          </p:nvPr>
        </p:nvSpPr>
        <p:spPr>
          <a:xfrm>
            <a:off x="2986" y="1729428"/>
            <a:ext cx="11828189" cy="4293230"/>
          </a:xfrm>
        </p:spPr>
        <p:txBody>
          <a:bodyPr/>
          <a:lstStyle/>
          <a:p>
            <a:pPr lvl="1">
              <a:buClr>
                <a:schemeClr val="tx1"/>
              </a:buClr>
              <a:buFont typeface="Wingdings" panose="05000000000000000000" pitchFamily="2" charset="2"/>
              <a:buChar char="n"/>
            </a:pPr>
            <a:r>
              <a:rPr lang="zh-CN" altLang="en-US" sz="1800" b="1" dirty="0">
                <a:latin typeface="微软雅黑" panose="020B0503020204020204" pitchFamily="34" charset="-122"/>
                <a:ea typeface="微软雅黑" panose="020B0503020204020204" pitchFamily="34" charset="-122"/>
              </a:rPr>
              <a:t>分布异常策略</a:t>
            </a:r>
          </a:p>
          <a:p>
            <a:pPr lvl="2">
              <a:buClr>
                <a:schemeClr val="tx1"/>
              </a:buClr>
              <a:buFont typeface="Wingdings" panose="05000000000000000000" pitchFamily="2" charset="2"/>
              <a:buChar char="l"/>
            </a:pPr>
            <a:r>
              <a:rPr lang="zh-CN" altLang="en-US" sz="1600" dirty="0">
                <a:latin typeface="Times New Roman" panose="02020603050405020304" pitchFamily="18" charset="0"/>
              </a:rPr>
              <a:t>一段时间或者</a:t>
            </a:r>
            <a:r>
              <a:rPr lang="en-US" altLang="zh-CN" sz="1600" dirty="0" err="1">
                <a:latin typeface="Times New Roman" panose="02020603050405020304" pitchFamily="18" charset="0"/>
              </a:rPr>
              <a:t>pv</a:t>
            </a:r>
            <a:r>
              <a:rPr lang="zh-CN" altLang="en-US" sz="1600" dirty="0">
                <a:latin typeface="Times New Roman" panose="02020603050405020304" pitchFamily="18" charset="0"/>
              </a:rPr>
              <a:t>段内，统计各个维度对象下的数值，并根据一定的规则分桶计数，各桶占比的情况即为该维度对象下的分布，计算当前分布与基准分布的距离，距离大于一定的阈值则被过滤</a:t>
            </a:r>
            <a:r>
              <a:rPr lang="zh-CN" altLang="en-US" sz="1600" dirty="0"/>
              <a:t>。</a:t>
            </a:r>
          </a:p>
          <a:p>
            <a:pPr lvl="2">
              <a:buClr>
                <a:schemeClr val="tx1"/>
              </a:buClr>
              <a:buFont typeface="Wingdings" panose="05000000000000000000" pitchFamily="2" charset="2"/>
              <a:buChar char="l"/>
            </a:pPr>
            <a:endParaRPr lang="zh-CN" altLang="en-US" sz="1600" dirty="0"/>
          </a:p>
          <a:p>
            <a:pPr lvl="1">
              <a:buClr>
                <a:schemeClr val="tx1"/>
              </a:buClr>
              <a:buFont typeface="Wingdings" panose="05000000000000000000" pitchFamily="2" charset="2"/>
              <a:buChar char="n"/>
            </a:pPr>
            <a:r>
              <a:rPr lang="zh-CN" altLang="en-US" sz="1800" b="1" dirty="0">
                <a:latin typeface="微软雅黑" panose="020B0503020204020204" pitchFamily="34" charset="-122"/>
                <a:ea typeface="微软雅黑" panose="020B0503020204020204" pitchFamily="34" charset="-122"/>
              </a:rPr>
              <a:t>可用特征</a:t>
            </a:r>
          </a:p>
          <a:p>
            <a:pPr lvl="2">
              <a:buClr>
                <a:schemeClr val="tx1"/>
              </a:buClr>
              <a:buFont typeface="Wingdings" panose="05000000000000000000" pitchFamily="2" charset="2"/>
              <a:buChar char="l"/>
            </a:pPr>
            <a:r>
              <a:rPr lang="zh-CN" altLang="en-US" sz="1600" dirty="0">
                <a:cs typeface="宋体" charset="0"/>
              </a:rPr>
              <a:t>分布特征 </a:t>
            </a:r>
            <a:r>
              <a:rPr lang="en-GB" altLang="zh-CN" sz="1600" dirty="0">
                <a:cs typeface="宋体" charset="0"/>
              </a:rPr>
              <a:t>distribution</a:t>
            </a:r>
          </a:p>
          <a:p>
            <a:pPr lvl="2">
              <a:buClr>
                <a:schemeClr val="tx1"/>
              </a:buClr>
              <a:buFont typeface="Wingdings" panose="05000000000000000000" pitchFamily="2" charset="2"/>
              <a:buChar char="l"/>
            </a:pPr>
            <a:r>
              <a:rPr lang="zh-CN" altLang="en-US" sz="1600" dirty="0">
                <a:cs typeface="宋体" charset="0"/>
              </a:rPr>
              <a:t>去重数目分布特征 </a:t>
            </a:r>
            <a:r>
              <a:rPr lang="en-GB" altLang="zh-CN" sz="1600" dirty="0" err="1">
                <a:cs typeface="宋体" charset="0"/>
              </a:rPr>
              <a:t>distinct_distribution</a:t>
            </a:r>
            <a:endParaRPr lang="en-GB" altLang="zh-CN" sz="1600" dirty="0">
              <a:cs typeface="宋体" charset="0"/>
            </a:endParaRPr>
          </a:p>
          <a:p>
            <a:pPr lvl="2">
              <a:buClr>
                <a:schemeClr val="tx1"/>
              </a:buClr>
              <a:buFont typeface="Wingdings" panose="05000000000000000000" pitchFamily="2" charset="2"/>
              <a:buChar char="l"/>
            </a:pPr>
            <a:r>
              <a:rPr lang="zh-CN" altLang="en-US" sz="1600" dirty="0">
                <a:cs typeface="宋体" charset="0"/>
              </a:rPr>
              <a:t>数目分布特征 </a:t>
            </a:r>
            <a:r>
              <a:rPr lang="en-GB" altLang="zh-CN" sz="1600" dirty="0" err="1">
                <a:cs typeface="宋体" charset="0"/>
              </a:rPr>
              <a:t>count_distribution</a:t>
            </a:r>
            <a:endParaRPr lang="en-GB" altLang="zh-CN" sz="1600" dirty="0">
              <a:cs typeface="宋体" charset="0"/>
            </a:endParaRPr>
          </a:p>
          <a:p>
            <a:pPr lvl="2">
              <a:buClr>
                <a:schemeClr val="tx1"/>
              </a:buClr>
              <a:buFont typeface="Wingdings" panose="05000000000000000000" pitchFamily="2" charset="2"/>
              <a:buChar char="l"/>
            </a:pPr>
            <a:endParaRPr lang="en-GB" altLang="zh-CN" sz="1600" dirty="0"/>
          </a:p>
          <a:p>
            <a:pPr lvl="1">
              <a:buClr>
                <a:schemeClr val="tx1"/>
              </a:buClr>
              <a:buFont typeface="Wingdings" panose="05000000000000000000" pitchFamily="2" charset="2"/>
              <a:buChar char="n"/>
            </a:pPr>
            <a:r>
              <a:rPr lang="zh-CN" altLang="en-US" sz="1800" b="1" dirty="0">
                <a:latin typeface="微软雅黑" panose="020B0503020204020204" pitchFamily="34" charset="-122"/>
                <a:ea typeface="微软雅黑" panose="020B0503020204020204" pitchFamily="34" charset="-122"/>
              </a:rPr>
              <a:t>分桶</a:t>
            </a:r>
          </a:p>
          <a:p>
            <a:pPr lvl="2">
              <a:buClr>
                <a:schemeClr val="tx1"/>
              </a:buClr>
              <a:buFont typeface="Wingdings" panose="05000000000000000000" pitchFamily="2" charset="2"/>
              <a:buChar char="l"/>
            </a:pPr>
            <a:r>
              <a:rPr lang="zh-CN" altLang="en-US" sz="1600" dirty="0">
                <a:cs typeface="宋体" charset="0"/>
              </a:rPr>
              <a:t>根据给定的分隔点</a:t>
            </a:r>
            <a:r>
              <a:rPr lang="en-US" altLang="zh-CN" sz="1600" dirty="0">
                <a:cs typeface="宋体" charset="0"/>
              </a:rPr>
              <a:t>(</a:t>
            </a:r>
            <a:r>
              <a:rPr lang="en-US" altLang="zh-CN" sz="1600" dirty="0" err="1">
                <a:cs typeface="宋体" charset="0"/>
              </a:rPr>
              <a:t>interval_endpoints</a:t>
            </a:r>
            <a:r>
              <a:rPr lang="en-US" altLang="zh-CN" sz="1600" dirty="0">
                <a:cs typeface="宋体" charset="0"/>
              </a:rPr>
              <a:t>)</a:t>
            </a:r>
            <a:r>
              <a:rPr lang="zh-CN" altLang="en-US" sz="1600" dirty="0">
                <a:cs typeface="宋体" charset="0"/>
              </a:rPr>
              <a:t>，将日志主维度下的某些值分成几个子区间</a:t>
            </a:r>
            <a:r>
              <a:rPr lang="en-US" altLang="zh-CN" sz="1600" dirty="0">
                <a:cs typeface="宋体" charset="0"/>
              </a:rPr>
              <a:t>(</a:t>
            </a:r>
            <a:r>
              <a:rPr lang="zh-CN" altLang="en-US" sz="1600" dirty="0">
                <a:cs typeface="宋体" charset="0"/>
              </a:rPr>
              <a:t>桶</a:t>
            </a:r>
            <a:r>
              <a:rPr lang="en-US" altLang="zh-CN" sz="1600" dirty="0">
                <a:cs typeface="宋体" charset="0"/>
              </a:rPr>
              <a:t>)</a:t>
            </a:r>
            <a:r>
              <a:rPr lang="zh-CN" altLang="en-US" sz="1600" dirty="0">
                <a:cs typeface="宋体" charset="0"/>
              </a:rPr>
              <a:t>，左开右闭</a:t>
            </a:r>
            <a:endParaRPr lang="en-US" altLang="zh-CN" sz="1600" dirty="0">
              <a:cs typeface="宋体" charset="0"/>
            </a:endParaRPr>
          </a:p>
          <a:p>
            <a:pPr marL="1371600" lvl="3" indent="0">
              <a:buClr>
                <a:schemeClr val="tx1"/>
              </a:buClr>
              <a:buNone/>
            </a:pPr>
            <a:r>
              <a:rPr lang="zh-CN" altLang="en-US" dirty="0">
                <a:cs typeface="宋体" charset="0"/>
              </a:rPr>
              <a:t>比如</a:t>
            </a:r>
            <a:r>
              <a:rPr lang="en-US" altLang="zh-CN" dirty="0" err="1">
                <a:cs typeface="宋体" charset="0"/>
              </a:rPr>
              <a:t>interval_endpoints</a:t>
            </a:r>
            <a:r>
              <a:rPr lang="en-US" altLang="zh-CN" dirty="0">
                <a:cs typeface="宋体" charset="0"/>
              </a:rPr>
              <a:t> : 20, 35, 77, 236</a:t>
            </a:r>
            <a:r>
              <a:rPr lang="zh-CN" altLang="en-US" dirty="0">
                <a:cs typeface="宋体" charset="0"/>
              </a:rPr>
              <a:t>，则五个桶的范围分别为</a:t>
            </a:r>
            <a:r>
              <a:rPr lang="en-US" altLang="zh-CN" dirty="0">
                <a:cs typeface="宋体" charset="0"/>
              </a:rPr>
              <a:t>(0, 20]</a:t>
            </a:r>
            <a:r>
              <a:rPr lang="zh-CN" altLang="en-US" dirty="0">
                <a:cs typeface="宋体" charset="0"/>
              </a:rPr>
              <a:t>，</a:t>
            </a:r>
            <a:r>
              <a:rPr lang="en-US" altLang="zh-CN" dirty="0">
                <a:cs typeface="宋体" charset="0"/>
              </a:rPr>
              <a:t>(20, 35]</a:t>
            </a:r>
            <a:r>
              <a:rPr lang="zh-CN" altLang="en-US" dirty="0">
                <a:cs typeface="宋体" charset="0"/>
              </a:rPr>
              <a:t>，</a:t>
            </a:r>
            <a:r>
              <a:rPr lang="en-US" altLang="zh-CN" dirty="0">
                <a:cs typeface="宋体" charset="0"/>
              </a:rPr>
              <a:t>(35, 77]</a:t>
            </a:r>
            <a:r>
              <a:rPr lang="zh-CN" altLang="en-US" dirty="0">
                <a:cs typeface="宋体" charset="0"/>
              </a:rPr>
              <a:t>，</a:t>
            </a:r>
            <a:r>
              <a:rPr lang="en-US" altLang="zh-CN" dirty="0">
                <a:cs typeface="宋体" charset="0"/>
              </a:rPr>
              <a:t>(77, 236]</a:t>
            </a:r>
            <a:r>
              <a:rPr lang="zh-CN" altLang="en-US" dirty="0">
                <a:cs typeface="宋体" charset="0"/>
              </a:rPr>
              <a:t>，</a:t>
            </a:r>
            <a:r>
              <a:rPr lang="en-US" altLang="zh-CN" dirty="0">
                <a:cs typeface="宋体" charset="0"/>
              </a:rPr>
              <a:t>(236, +∞]</a:t>
            </a:r>
            <a:r>
              <a:rPr lang="zh-CN" altLang="en-US" dirty="0">
                <a:cs typeface="宋体" charset="0"/>
              </a:rPr>
              <a:t>。</a:t>
            </a:r>
            <a:endParaRPr lang="en-US" altLang="zh-CN" dirty="0">
              <a:cs typeface="宋体" charset="0"/>
            </a:endParaRPr>
          </a:p>
          <a:p>
            <a:pPr marL="1371600" lvl="3" indent="0">
              <a:buClr>
                <a:srgbClr val="0070C0"/>
              </a:buClr>
              <a:buNone/>
            </a:pPr>
            <a:endParaRPr lang="en-US" altLang="zh-CN"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265484" y="1195100"/>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分布异常策略</a:t>
            </a:r>
          </a:p>
        </p:txBody>
      </p:sp>
      <mc:AlternateContent xmlns:mc="http://schemas.openxmlformats.org/markup-compatibility/2006" xmlns:a14="http://schemas.microsoft.com/office/drawing/2010/main">
        <mc:Choice Requires="a14">
          <p:sp>
            <p:nvSpPr>
              <p:cNvPr id="11" name="内容占位符 2"/>
              <p:cNvSpPr>
                <a:spLocks noGrp="1"/>
              </p:cNvSpPr>
              <p:nvPr>
                <p:ph idx="1"/>
              </p:nvPr>
            </p:nvSpPr>
            <p:spPr>
              <a:xfrm>
                <a:off x="265484" y="1701696"/>
                <a:ext cx="11828189" cy="4891493"/>
              </a:xfrm>
            </p:spPr>
            <p:txBody>
              <a:bodyPr/>
              <a:lstStyle/>
              <a:p>
                <a:pPr lvl="1">
                  <a:buClr>
                    <a:schemeClr val="tx1"/>
                  </a:buClr>
                  <a:buFont typeface="Wingdings" panose="05000000000000000000" pitchFamily="2" charset="2"/>
                  <a:buChar char="n"/>
                </a:pPr>
                <a:r>
                  <a:rPr lang="zh-CN" altLang="en-US" sz="1800" b="1" dirty="0">
                    <a:solidFill>
                      <a:schemeClr val="tx1"/>
                    </a:solidFill>
                    <a:latin typeface="微软雅黑" panose="020B0503020204020204" pitchFamily="34" charset="-122"/>
                    <a:ea typeface="微软雅黑" panose="020B0503020204020204" pitchFamily="34" charset="-122"/>
                  </a:rPr>
                  <a:t>基准分布</a:t>
                </a:r>
              </a:p>
              <a:p>
                <a:pPr lvl="2">
                  <a:buClr>
                    <a:schemeClr val="tx1"/>
                  </a:buClr>
                  <a:buFont typeface="Wingdings" panose="05000000000000000000" pitchFamily="2" charset="2"/>
                  <a:buChar char="l"/>
                </a:pPr>
                <a:r>
                  <a:rPr lang="zh-CN" altLang="en-US" sz="1600" dirty="0">
                    <a:solidFill>
                      <a:schemeClr val="tx1"/>
                    </a:solidFill>
                    <a:cs typeface="宋体" charset="0"/>
                  </a:rPr>
                  <a:t>通过前期正常数据计算得到的各桶占比。</a:t>
                </a:r>
                <a:endParaRPr lang="en-US" altLang="zh-CN" sz="1600" dirty="0">
                  <a:solidFill>
                    <a:schemeClr val="tx1"/>
                  </a:solidFill>
                  <a:cs typeface="宋体" charset="0"/>
                </a:endParaRPr>
              </a:p>
              <a:p>
                <a:pPr marL="1371600" lvl="3" indent="0">
                  <a:buClr>
                    <a:schemeClr val="tx1"/>
                  </a:buClr>
                  <a:buNone/>
                </a:pPr>
                <a:r>
                  <a:rPr lang="zh-CN" altLang="en-US" dirty="0">
                    <a:solidFill>
                      <a:schemeClr val="tx1"/>
                    </a:solidFill>
                    <a:cs typeface="宋体" charset="0"/>
                  </a:rPr>
                  <a:t>比如</a:t>
                </a:r>
                <a:r>
                  <a:rPr lang="en-US" altLang="zh-CN" dirty="0" err="1">
                    <a:solidFill>
                      <a:schemeClr val="tx1"/>
                    </a:solidFill>
                    <a:cs typeface="宋体" charset="0"/>
                  </a:rPr>
                  <a:t>stand_prob</a:t>
                </a:r>
                <a:r>
                  <a:rPr lang="en-US" altLang="zh-CN" dirty="0">
                    <a:solidFill>
                      <a:schemeClr val="tx1"/>
                    </a:solidFill>
                    <a:cs typeface="宋体" charset="0"/>
                  </a:rPr>
                  <a:t>  : 0.200, 0.200, 0.200, 0.200, 0.200</a:t>
                </a:r>
                <a:r>
                  <a:rPr lang="zh-CN" altLang="en-US" dirty="0">
                    <a:solidFill>
                      <a:schemeClr val="tx1"/>
                    </a:solidFill>
                  </a:rPr>
                  <a:t>。</a:t>
                </a:r>
              </a:p>
              <a:p>
                <a:pPr lvl="2">
                  <a:buClr>
                    <a:schemeClr val="tx1"/>
                  </a:buClr>
                  <a:buFont typeface="Wingdings" panose="05000000000000000000" pitchFamily="2" charset="2"/>
                  <a:buChar char="l"/>
                </a:pPr>
                <a:endParaRPr lang="zh-CN" altLang="en-US" sz="1600" dirty="0">
                  <a:solidFill>
                    <a:schemeClr val="tx1"/>
                  </a:solidFill>
                </a:endParaRPr>
              </a:p>
              <a:p>
                <a:pPr lvl="1">
                  <a:buClr>
                    <a:schemeClr val="tx1"/>
                  </a:buClr>
                  <a:buFont typeface="Wingdings" panose="05000000000000000000" pitchFamily="2" charset="2"/>
                  <a:buChar char="n"/>
                </a:pPr>
                <a:r>
                  <a:rPr lang="zh-CN" altLang="en-US" sz="1800" b="1" dirty="0">
                    <a:solidFill>
                      <a:schemeClr val="tx1"/>
                    </a:solidFill>
                    <a:latin typeface="微软雅黑" panose="020B0503020204020204" pitchFamily="34" charset="-122"/>
                    <a:ea typeface="微软雅黑" panose="020B0503020204020204" pitchFamily="34" charset="-122"/>
                  </a:rPr>
                  <a:t>分布之间的距离函数</a:t>
                </a:r>
              </a:p>
              <a:p>
                <a:pPr lvl="2">
                  <a:buClr>
                    <a:schemeClr val="tx1"/>
                  </a:buClr>
                  <a:buFont typeface="Wingdings" panose="05000000000000000000" pitchFamily="2" charset="2"/>
                  <a:buChar char="l"/>
                </a:pPr>
                <a:r>
                  <a:rPr lang="zh-CN" altLang="en-US" sz="1600" dirty="0">
                    <a:solidFill>
                      <a:schemeClr val="tx1"/>
                    </a:solidFill>
                    <a:cs typeface="宋体" charset="0"/>
                  </a:rPr>
                  <a:t>局部距离：适用于作弊点击集中分布在一个桶里</a:t>
                </a:r>
              </a:p>
              <a:p>
                <a:pPr lvl="2">
                  <a:buClr>
                    <a:schemeClr val="tx1"/>
                  </a:buClr>
                  <a:buFont typeface="Wingdings" panose="05000000000000000000" pitchFamily="2" charset="2"/>
                  <a:buChar char="l"/>
                </a:pPr>
                <a:r>
                  <a:rPr lang="zh-CN" altLang="en-US" sz="1600" dirty="0">
                    <a:solidFill>
                      <a:schemeClr val="tx1"/>
                    </a:solidFill>
                    <a:cs typeface="宋体" charset="0"/>
                  </a:rPr>
                  <a:t>全局距离：考虑分布整体差异性，过滤全局流量</a:t>
                </a:r>
              </a:p>
              <a:p>
                <a:pPr marL="914400" lvl="2" indent="0">
                  <a:buClr>
                    <a:schemeClr val="tx1"/>
                  </a:buClr>
                  <a:buNone/>
                </a:pPr>
                <a:endParaRPr lang="en-GB" altLang="zh-CN" sz="1600" dirty="0">
                  <a:solidFill>
                    <a:schemeClr val="tx1"/>
                  </a:solidFill>
                </a:endParaRPr>
              </a:p>
              <a:p>
                <a:pPr marL="914400" lvl="2" indent="0">
                  <a:buClr>
                    <a:schemeClr val="tx1"/>
                  </a:buClr>
                  <a:buNone/>
                </a:pPr>
                <a:endParaRPr lang="en-GB" altLang="zh-CN" sz="1600" dirty="0">
                  <a:solidFill>
                    <a:schemeClr val="tx1"/>
                  </a:solidFill>
                </a:endParaRPr>
              </a:p>
              <a:p>
                <a:pPr marL="914400" lvl="2" indent="0">
                  <a:buClr>
                    <a:schemeClr val="tx1"/>
                  </a:buClr>
                  <a:buNone/>
                </a:pPr>
                <a:endParaRPr lang="en-GB" altLang="zh-CN" sz="1600" dirty="0">
                  <a:solidFill>
                    <a:schemeClr val="tx1"/>
                  </a:solidFill>
                </a:endParaRPr>
              </a:p>
              <a:p>
                <a:pPr marL="914400" lvl="2" indent="0">
                  <a:buClr>
                    <a:schemeClr val="tx1"/>
                  </a:buClr>
                  <a:buNone/>
                </a:pPr>
                <a:endParaRPr lang="en-GB" altLang="zh-CN" sz="1600" dirty="0">
                  <a:solidFill>
                    <a:schemeClr val="tx1"/>
                  </a:solidFill>
                </a:endParaRPr>
              </a:p>
              <a:p>
                <a:pPr marL="914400" lvl="2" indent="0">
                  <a:buClr>
                    <a:schemeClr val="tx1"/>
                  </a:buClr>
                  <a:buNone/>
                </a:pPr>
                <a:endParaRPr lang="en-GB" altLang="zh-CN" sz="1600" dirty="0">
                  <a:solidFill>
                    <a:schemeClr val="tx1"/>
                  </a:solidFill>
                </a:endParaRPr>
              </a:p>
              <a:p>
                <a:pPr marL="914400" lvl="2" indent="0">
                  <a:buClr>
                    <a:schemeClr val="tx1"/>
                  </a:buClr>
                  <a:buNone/>
                </a:pPr>
                <a:endParaRPr lang="en-GB" altLang="zh-CN" sz="1600" dirty="0">
                  <a:solidFill>
                    <a:schemeClr val="tx1"/>
                  </a:solidFill>
                </a:endParaRPr>
              </a:p>
              <a:p>
                <a:pPr marL="914400" lvl="2" indent="0">
                  <a:buClr>
                    <a:schemeClr val="tx1"/>
                  </a:buClr>
                  <a:buNone/>
                </a:pPr>
                <a:endParaRPr lang="en-GB" altLang="zh-CN" sz="1600" dirty="0">
                  <a:solidFill>
                    <a:schemeClr val="tx1"/>
                  </a:solidFill>
                </a:endParaRPr>
              </a:p>
              <a:p>
                <a:pPr lvl="1">
                  <a:buClr>
                    <a:schemeClr val="tx1"/>
                  </a:buClr>
                  <a:buFont typeface="Wingdings" panose="05000000000000000000" pitchFamily="2" charset="2"/>
                  <a:buChar char="n"/>
                </a:pPr>
                <a:r>
                  <a:rPr lang="zh-CN" altLang="en-US" sz="1800" b="1" dirty="0">
                    <a:solidFill>
                      <a:schemeClr val="tx1"/>
                    </a:solidFill>
                    <a:latin typeface="微软雅黑" panose="020B0503020204020204" pitchFamily="34" charset="-122"/>
                    <a:ea typeface="微软雅黑" panose="020B0503020204020204" pitchFamily="34" charset="-122"/>
                  </a:rPr>
                  <a:t>过滤标准</a:t>
                </a:r>
                <a:endParaRPr lang="en-US" altLang="zh-CN" sz="1800" b="1" dirty="0">
                  <a:solidFill>
                    <a:schemeClr val="tx1"/>
                  </a:solidFill>
                  <a:latin typeface="微软雅黑" panose="020B0503020204020204" pitchFamily="34" charset="-122"/>
                  <a:ea typeface="微软雅黑" panose="020B0503020204020204" pitchFamily="34" charset="-122"/>
                </a:endParaRPr>
              </a:p>
              <a:p>
                <a:pPr marL="0" lvl="0" indent="0" defTabSz="457200" eaLnBrk="1" fontAlgn="auto" hangingPunct="1">
                  <a:spcAft>
                    <a:spcPts val="600"/>
                  </a:spcAft>
                  <a:buClr>
                    <a:schemeClr val="tx1"/>
                  </a:buClr>
                  <a:buSzPct val="120000"/>
                  <a:buNone/>
                </a:pPr>
                <a:r>
                  <a:rPr lang="zh-CN" altLang="en-US" sz="1800" dirty="0">
                    <a:solidFill>
                      <a:schemeClr val="tx1"/>
                    </a:solidFill>
                    <a:cs typeface="宋体" charset="0"/>
                  </a:rPr>
                  <a:t>               </a:t>
                </a:r>
                <a14:m>
                  <m:oMath xmlns:m="http://schemas.openxmlformats.org/officeDocument/2006/math">
                    <m:r>
                      <a:rPr lang="en-US" altLang="zh-CN" sz="1800" i="1" dirty="0">
                        <a:solidFill>
                          <a:schemeClr val="tx1"/>
                        </a:solidFill>
                        <a:latin typeface="Cambria Math" panose="02040503050406030204" pitchFamily="18" charset="0"/>
                        <a:cs typeface="宋体" charset="0"/>
                      </a:rPr>
                      <m:t>𝑑𝑖𝑠𝑡𝑎𝑛𝑐𝑒</m:t>
                    </m:r>
                    <m:r>
                      <a:rPr lang="en-US" altLang="zh-CN" sz="1800" i="1" dirty="0">
                        <a:solidFill>
                          <a:schemeClr val="tx1"/>
                        </a:solidFill>
                        <a:latin typeface="Cambria Math" panose="02040503050406030204" pitchFamily="18" charset="0"/>
                        <a:cs typeface="宋体" charset="0"/>
                      </a:rPr>
                      <m:t>&gt;</m:t>
                    </m:r>
                    <m:r>
                      <a:rPr lang="en-US" altLang="zh-CN" sz="1800" i="1" dirty="0">
                        <a:solidFill>
                          <a:schemeClr val="tx1"/>
                        </a:solidFill>
                        <a:latin typeface="Cambria Math" panose="02040503050406030204" pitchFamily="18" charset="0"/>
                        <a:cs typeface="宋体" charset="0"/>
                      </a:rPr>
                      <m:t>𝑡h𝑟𝑒𝑠h𝑜𝑙𝑑</m:t>
                    </m:r>
                    <m:r>
                      <a:rPr lang="en-US" altLang="zh-CN" sz="1800" i="1" dirty="0">
                        <a:solidFill>
                          <a:schemeClr val="tx1"/>
                        </a:solidFill>
                        <a:latin typeface="Cambria Math" panose="02040503050406030204" pitchFamily="18" charset="0"/>
                        <a:cs typeface="宋体" charset="0"/>
                      </a:rPr>
                      <m:t> &amp;&amp; </m:t>
                    </m:r>
                    <m:sSub>
                      <m:sSubPr>
                        <m:ctrlPr>
                          <a:rPr lang="en-US" altLang="zh-CN" sz="1800" i="1" dirty="0">
                            <a:solidFill>
                              <a:schemeClr val="tx1"/>
                            </a:solidFill>
                            <a:latin typeface="Cambria Math" panose="02040503050406030204" pitchFamily="18" charset="0"/>
                            <a:cs typeface="+mn-cs"/>
                          </a:rPr>
                        </m:ctrlPr>
                      </m:sSubPr>
                      <m:e>
                        <m:r>
                          <a:rPr lang="en-US" altLang="zh-CN" sz="1800" i="1" dirty="0">
                            <a:solidFill>
                              <a:schemeClr val="tx1"/>
                            </a:solidFill>
                            <a:latin typeface="Cambria Math" panose="02040503050406030204" pitchFamily="18" charset="0"/>
                            <a:cs typeface="宋体" charset="0"/>
                          </a:rPr>
                          <m:t>𝑝𝑐</m:t>
                        </m:r>
                      </m:e>
                      <m:sub>
                        <m:r>
                          <a:rPr lang="en-US" altLang="zh-CN" sz="1800" i="1" dirty="0">
                            <a:solidFill>
                              <a:schemeClr val="tx1"/>
                            </a:solidFill>
                            <a:latin typeface="Cambria Math" panose="02040503050406030204" pitchFamily="18" charset="0"/>
                            <a:cs typeface="+mn-cs"/>
                          </a:rPr>
                          <m:t>𝑖</m:t>
                        </m:r>
                      </m:sub>
                    </m:sSub>
                    <m:r>
                      <a:rPr lang="en-US" altLang="zh-CN" sz="1800" i="1" dirty="0">
                        <a:solidFill>
                          <a:schemeClr val="tx1"/>
                        </a:solidFill>
                        <a:latin typeface="Cambria Math" panose="02040503050406030204" pitchFamily="18" charset="0"/>
                        <a:cs typeface="宋体" charset="0"/>
                      </a:rPr>
                      <m:t>&gt;</m:t>
                    </m:r>
                    <m:sSub>
                      <m:sSubPr>
                        <m:ctrlPr>
                          <a:rPr lang="en-US" altLang="zh-CN" sz="1800" i="1" dirty="0">
                            <a:solidFill>
                              <a:schemeClr val="tx1"/>
                            </a:solidFill>
                            <a:latin typeface="Cambria Math" panose="02040503050406030204" pitchFamily="18" charset="0"/>
                            <a:cs typeface="+mn-cs"/>
                          </a:rPr>
                        </m:ctrlPr>
                      </m:sSubPr>
                      <m:e>
                        <m:r>
                          <a:rPr lang="en-US" altLang="zh-CN" sz="1800" i="1" dirty="0">
                            <a:solidFill>
                              <a:schemeClr val="tx1"/>
                            </a:solidFill>
                            <a:latin typeface="Cambria Math" panose="02040503050406030204" pitchFamily="18" charset="0"/>
                            <a:cs typeface="宋体" charset="0"/>
                          </a:rPr>
                          <m:t>𝑝𝑏</m:t>
                        </m:r>
                      </m:e>
                      <m:sub>
                        <m:r>
                          <a:rPr lang="en-US" altLang="zh-CN" sz="1800" i="1" dirty="0">
                            <a:solidFill>
                              <a:schemeClr val="tx1"/>
                            </a:solidFill>
                            <a:latin typeface="Cambria Math" panose="02040503050406030204" pitchFamily="18" charset="0"/>
                            <a:cs typeface="+mn-cs"/>
                          </a:rPr>
                          <m:t>𝑖</m:t>
                        </m:r>
                      </m:sub>
                    </m:sSub>
                  </m:oMath>
                </a14:m>
                <a:endParaRPr lang="en-US" altLang="zh-CN" sz="1200" dirty="0">
                  <a:solidFill>
                    <a:schemeClr val="tx1"/>
                  </a:solidFill>
                  <a:cs typeface="宋体" charset="0"/>
                </a:endParaRPr>
              </a:p>
              <a:p>
                <a:pPr marL="457200" lvl="1" indent="0">
                  <a:buClr>
                    <a:schemeClr val="accent2"/>
                  </a:buClr>
                  <a:buNone/>
                </a:pPr>
                <a:endParaRPr lang="zh-CN" altLang="en-US" dirty="0">
                  <a:cs typeface="宋体" charset="0"/>
                </a:endParaRPr>
              </a:p>
            </p:txBody>
          </p:sp>
        </mc:Choice>
        <mc:Fallback xmlns="">
          <p:sp>
            <p:nvSpPr>
              <p:cNvPr id="11" name="内容占位符 2"/>
              <p:cNvSpPr>
                <a:spLocks noRot="1" noChangeAspect="1" noMove="1" noResize="1" noEditPoints="1" noAdjustHandles="1" noChangeArrowheads="1" noChangeShapeType="1" noTextEdit="1"/>
              </p:cNvSpPr>
              <p:nvPr>
                <p:ph idx="1"/>
              </p:nvPr>
            </p:nvSpPr>
            <p:spPr>
              <a:xfrm>
                <a:off x="265484" y="1701696"/>
                <a:ext cx="11828189" cy="4891493"/>
              </a:xfrm>
              <a:blipFill rotWithShape="1">
                <a:blip r:embed="rId4"/>
                <a:stretch>
                  <a:fillRect t="-11" r="1" b="-65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2" name="表格 11"/>
              <p:cNvGraphicFramePr>
                <a:graphicFrameLocks noGrp="1"/>
              </p:cNvGraphicFramePr>
              <p:nvPr/>
            </p:nvGraphicFramePr>
            <p:xfrm>
              <a:off x="3597897" y="3992499"/>
              <a:ext cx="6739903" cy="2030159"/>
            </p:xfrm>
            <a:graphic>
              <a:graphicData uri="http://schemas.openxmlformats.org/drawingml/2006/table">
                <a:tbl>
                  <a:tblPr firstRow="1">
                    <a:tableStyleId>{5C22544A-7EE6-4342-B048-85BDC9FD1C3A}</a:tableStyleId>
                  </a:tblPr>
                  <a:tblGrid>
                    <a:gridCol w="1215316">
                      <a:extLst>
                        <a:ext uri="{9D8B030D-6E8A-4147-A177-3AD203B41FA5}">
                          <a16:colId xmlns:a16="http://schemas.microsoft.com/office/drawing/2014/main" val="20000"/>
                        </a:ext>
                      </a:extLst>
                    </a:gridCol>
                    <a:gridCol w="2029440">
                      <a:extLst>
                        <a:ext uri="{9D8B030D-6E8A-4147-A177-3AD203B41FA5}">
                          <a16:colId xmlns:a16="http://schemas.microsoft.com/office/drawing/2014/main" val="20001"/>
                        </a:ext>
                      </a:extLst>
                    </a:gridCol>
                    <a:gridCol w="3495147">
                      <a:extLst>
                        <a:ext uri="{9D8B030D-6E8A-4147-A177-3AD203B41FA5}">
                          <a16:colId xmlns:a16="http://schemas.microsoft.com/office/drawing/2014/main" val="20002"/>
                        </a:ext>
                      </a:extLst>
                    </a:gridCol>
                  </a:tblGrid>
                  <a:tr h="376032">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rPr>
                            <a:t>局部距离</a:t>
                          </a:r>
                        </a:p>
                      </a:txBody>
                      <a:tcPr anchor="ctr">
                        <a:solidFill>
                          <a:schemeClr val="tx2">
                            <a:lumMod val="40000"/>
                            <a:lumOff val="60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rPr>
                            <a:t>最大化差异度量</a:t>
                          </a:r>
                        </a:p>
                      </a:txBody>
                      <a:tcPr anchor="ctr">
                        <a:solidFill>
                          <a:schemeClr val="tx2">
                            <a:lumMod val="40000"/>
                            <a:lumOff val="60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func>
                                  <m:funcPr>
                                    <m:ctrlPr>
                                      <a:rPr lang="zh-CN" altLang="zh-CN" sz="1050" b="0" i="1" kern="1200" smtClean="0">
                                        <a:solidFill>
                                          <a:schemeClr val="tx1"/>
                                        </a:solidFill>
                                        <a:effectLst/>
                                        <a:latin typeface="Cambria Math" panose="02040503050406030204" pitchFamily="18" charset="0"/>
                                        <a:ea typeface="宋体" charset="0"/>
                                        <a:cs typeface="宋体" charset="0"/>
                                      </a:rPr>
                                    </m:ctrlPr>
                                  </m:funcPr>
                                  <m:fName>
                                    <m:limLow>
                                      <m:limLowPr>
                                        <m:ctrlPr>
                                          <a:rPr lang="zh-CN" altLang="zh-CN" sz="1050" b="0" i="1" kern="1200">
                                            <a:solidFill>
                                              <a:schemeClr val="tx1"/>
                                            </a:solidFill>
                                            <a:effectLst/>
                                            <a:latin typeface="Cambria Math" panose="02040503050406030204" pitchFamily="18" charset="0"/>
                                            <a:ea typeface="宋体" charset="0"/>
                                            <a:cs typeface="宋体" charset="0"/>
                                          </a:rPr>
                                        </m:ctrlPr>
                                      </m:limLowPr>
                                      <m:e>
                                        <m:r>
                                          <a:rPr lang="en-US" altLang="zh-CN" sz="1050" b="0" i="1" kern="1200">
                                            <a:solidFill>
                                              <a:schemeClr val="tx1"/>
                                            </a:solidFill>
                                            <a:effectLst/>
                                            <a:latin typeface="Cambria Math" panose="02040503050406030204" pitchFamily="18" charset="0"/>
                                            <a:ea typeface="宋体" charset="0"/>
                                            <a:cs typeface="宋体" charset="0"/>
                                          </a:rPr>
                                          <m:t>𝑚𝑎𝑥</m:t>
                                        </m:r>
                                      </m:e>
                                      <m:lim>
                                        <m:r>
                                          <a:rPr lang="en-US" altLang="zh-CN" sz="1050" b="0" i="1" kern="1200">
                                            <a:solidFill>
                                              <a:schemeClr val="tx1"/>
                                            </a:solidFill>
                                            <a:effectLst/>
                                            <a:latin typeface="Cambria Math" panose="02040503050406030204" pitchFamily="18" charset="0"/>
                                            <a:ea typeface="宋体" charset="0"/>
                                            <a:cs typeface="宋体" charset="0"/>
                                          </a:rPr>
                                          <m:t>0</m:t>
                                        </m:r>
                                        <m:r>
                                          <a:rPr lang="en-US" altLang="zh-CN" sz="1050" b="0" kern="1200">
                                            <a:solidFill>
                                              <a:schemeClr val="tx1"/>
                                            </a:solidFill>
                                            <a:effectLst/>
                                            <a:latin typeface="Cambria Math" panose="02040503050406030204" pitchFamily="18" charset="0"/>
                                            <a:ea typeface="宋体" charset="0"/>
                                            <a:cs typeface="宋体" charset="0"/>
                                          </a:rPr>
                                          <m:t>&lt;</m:t>
                                        </m:r>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&lt;</m:t>
                                        </m:r>
                                        <m:r>
                                          <a:rPr lang="en-US" altLang="zh-CN" sz="1050" b="0" i="1" kern="1200">
                                            <a:solidFill>
                                              <a:schemeClr val="tx1"/>
                                            </a:solidFill>
                                            <a:effectLst/>
                                            <a:latin typeface="Cambria Math" panose="02040503050406030204" pitchFamily="18" charset="0"/>
                                            <a:ea typeface="宋体" charset="0"/>
                                            <a:cs typeface="宋体" charset="0"/>
                                          </a:rPr>
                                          <m:t>𝑛</m:t>
                                        </m:r>
                                      </m:lim>
                                    </m:limLow>
                                  </m:fName>
                                  <m:e>
                                    <m:f>
                                      <m:fPr>
                                        <m:ctrlPr>
                                          <a:rPr lang="zh-CN" altLang="zh-CN" sz="1050" b="0" i="1" kern="1200">
                                            <a:solidFill>
                                              <a:schemeClr val="tx1"/>
                                            </a:solidFill>
                                            <a:effectLst/>
                                            <a:latin typeface="Cambria Math" panose="02040503050406030204" pitchFamily="18" charset="0"/>
                                            <a:ea typeface="宋体" charset="0"/>
                                            <a:cs typeface="宋体" charset="0"/>
                                          </a:rPr>
                                        </m:ctrlPr>
                                      </m:fPr>
                                      <m:num>
                                        <m:r>
                                          <a:rPr lang="en-US" altLang="zh-CN" sz="1050" b="0" i="1" kern="1200">
                                            <a:solidFill>
                                              <a:schemeClr val="tx1"/>
                                            </a:solidFill>
                                            <a:effectLst/>
                                            <a:latin typeface="Cambria Math" panose="02040503050406030204" pitchFamily="18" charset="0"/>
                                            <a:ea typeface="宋体" charset="0"/>
                                            <a:cs typeface="宋体" charset="0"/>
                                          </a:rPr>
                                          <m:t>𝑝𝑐</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r>
                                          <a:rPr lang="zh-CN" altLang="en-US" sz="1050" b="0" i="1"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𝑝𝑏</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num>
                                      <m:den>
                                        <m:r>
                                          <a:rPr lang="en-US" altLang="zh-CN" sz="1050" b="0" i="1" kern="1200">
                                            <a:solidFill>
                                              <a:schemeClr val="tx1"/>
                                            </a:solidFill>
                                            <a:effectLst/>
                                            <a:latin typeface="Cambria Math" panose="02040503050406030204" pitchFamily="18" charset="0"/>
                                            <a:ea typeface="宋体" charset="0"/>
                                            <a:cs typeface="宋体" charset="0"/>
                                          </a:rPr>
                                          <m:t>𝑝𝑏</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den>
                                    </m:f>
                                  </m:e>
                                </m:func>
                              </m:oMath>
                            </m:oMathPara>
                          </a14:m>
                          <a:endParaRPr lang="zh-CN" altLang="zh-CN" sz="1050" b="0" kern="1200" dirty="0">
                            <a:solidFill>
                              <a:schemeClr val="tx1"/>
                            </a:solidFill>
                            <a:effectLst/>
                            <a:latin typeface="+mj-lt"/>
                            <a:ea typeface="宋体" charset="0"/>
                            <a:cs typeface="宋体" charset="0"/>
                          </a:endParaRPr>
                        </a:p>
                      </a:txBody>
                      <a:tcPr anchor="ctr">
                        <a:solidFill>
                          <a:schemeClr val="tx2">
                            <a:lumMod val="40000"/>
                            <a:lumOff val="60000"/>
                            <a:alpha val="0"/>
                          </a:schemeClr>
                        </a:solidFill>
                      </a:tcPr>
                    </a:tc>
                    <a:extLst>
                      <a:ext uri="{0D108BD9-81ED-4DB2-BD59-A6C34878D82A}">
                        <a16:rowId xmlns:a16="http://schemas.microsoft.com/office/drawing/2014/main" val="10000"/>
                      </a:ext>
                    </a:extLst>
                  </a:tr>
                  <a:tr h="467274">
                    <a:tc rowSpan="3">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rPr>
                            <a:t>全局距离</a:t>
                          </a:r>
                        </a:p>
                      </a:txBody>
                      <a:tcPr anchor="ctr">
                        <a:solidFill>
                          <a:schemeClr val="tx2">
                            <a:lumMod val="40000"/>
                            <a:lumOff val="60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rPr>
                            <a:t>卡方距离</a:t>
                          </a:r>
                        </a:p>
                      </a:txBody>
                      <a:tcPr anchor="ctr">
                        <a:solidFill>
                          <a:schemeClr val="tx2">
                            <a:lumMod val="40000"/>
                            <a:lumOff val="60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nary>
                                  <m:naryPr>
                                    <m:chr m:val="∑"/>
                                    <m:limLoc m:val="undOvr"/>
                                    <m:ctrlPr>
                                      <a:rPr lang="zh-CN" altLang="zh-CN" sz="1050" b="0" i="1" kern="1200" smtClean="0">
                                        <a:solidFill>
                                          <a:schemeClr val="tx1"/>
                                        </a:solidFill>
                                        <a:effectLst/>
                                        <a:latin typeface="Cambria Math" panose="02040503050406030204" pitchFamily="18" charset="0"/>
                                        <a:ea typeface="宋体" charset="0"/>
                                        <a:cs typeface="宋体" charset="0"/>
                                      </a:rPr>
                                    </m:ctrlPr>
                                  </m:naryPr>
                                  <m:sub>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0</m:t>
                                    </m:r>
                                  </m:sub>
                                  <m:sup>
                                    <m:r>
                                      <a:rPr lang="en-US" altLang="zh-CN" sz="1050" b="0" i="1" kern="1200">
                                        <a:solidFill>
                                          <a:schemeClr val="tx1"/>
                                        </a:solidFill>
                                        <a:effectLst/>
                                        <a:latin typeface="Cambria Math" panose="02040503050406030204" pitchFamily="18" charset="0"/>
                                        <a:ea typeface="宋体" charset="0"/>
                                        <a:cs typeface="宋体" charset="0"/>
                                      </a:rPr>
                                      <m:t>𝑛</m:t>
                                    </m:r>
                                  </m:sup>
                                  <m:e>
                                    <m:f>
                                      <m:fPr>
                                        <m:ctrlPr>
                                          <a:rPr lang="zh-CN" altLang="zh-CN" sz="1050" b="0" i="1" kern="1200">
                                            <a:solidFill>
                                              <a:schemeClr val="tx1"/>
                                            </a:solidFill>
                                            <a:effectLst/>
                                            <a:latin typeface="Cambria Math" panose="02040503050406030204" pitchFamily="18" charset="0"/>
                                            <a:ea typeface="宋体" charset="0"/>
                                            <a:cs typeface="宋体" charset="0"/>
                                          </a:rPr>
                                        </m:ctrlPr>
                                      </m:fPr>
                                      <m:num>
                                        <m:sSup>
                                          <m:sSupPr>
                                            <m:ctrlPr>
                                              <a:rPr lang="zh-CN" altLang="zh-CN" sz="1050" b="0" i="1" kern="1200">
                                                <a:solidFill>
                                                  <a:schemeClr val="tx1"/>
                                                </a:solidFill>
                                                <a:effectLst/>
                                                <a:latin typeface="Cambria Math" panose="02040503050406030204" pitchFamily="18" charset="0"/>
                                                <a:ea typeface="宋体" charset="0"/>
                                                <a:cs typeface="宋体" charset="0"/>
                                              </a:rPr>
                                            </m:ctrlPr>
                                          </m:sSupPr>
                                          <m:e>
                                            <m:d>
                                              <m:dPr>
                                                <m:ctrlPr>
                                                  <a:rPr lang="zh-CN" altLang="zh-CN" sz="1050" b="0" i="1" kern="1200">
                                                    <a:solidFill>
                                                      <a:schemeClr val="tx1"/>
                                                    </a:solidFill>
                                                    <a:effectLst/>
                                                    <a:latin typeface="Cambria Math" panose="02040503050406030204" pitchFamily="18" charset="0"/>
                                                    <a:ea typeface="宋体" charset="0"/>
                                                    <a:cs typeface="宋体" charset="0"/>
                                                  </a:rPr>
                                                </m:ctrlPr>
                                              </m:dPr>
                                              <m:e>
                                                <m:r>
                                                  <a:rPr lang="en-US" altLang="zh-CN" sz="1050" b="0" i="1" kern="1200">
                                                    <a:solidFill>
                                                      <a:schemeClr val="tx1"/>
                                                    </a:solidFill>
                                                    <a:effectLst/>
                                                    <a:latin typeface="Cambria Math" panose="02040503050406030204" pitchFamily="18" charset="0"/>
                                                    <a:ea typeface="宋体" charset="0"/>
                                                    <a:cs typeface="宋体" charset="0"/>
                                                  </a:rPr>
                                                  <m:t>𝑝𝑐</m:t>
                                                </m:r>
                                                <m:d>
                                                  <m:dPr>
                                                    <m:begChr m:val="["/>
                                                    <m:endChr m:val="]"/>
                                                    <m:ctrlPr>
                                                      <a:rPr lang="zh-CN" altLang="zh-CN" sz="1050" b="0" i="1" kern="1200">
                                                        <a:solidFill>
                                                          <a:schemeClr val="tx1"/>
                                                        </a:solidFill>
                                                        <a:effectLst/>
                                                        <a:latin typeface="Cambria Math" panose="02040503050406030204" pitchFamily="18" charset="0"/>
                                                        <a:ea typeface="宋体" charset="0"/>
                                                        <a:cs typeface="宋体" charset="0"/>
                                                      </a:rPr>
                                                    </m:ctrlPr>
                                                  </m:dPr>
                                                  <m:e>
                                                    <m:r>
                                                      <a:rPr lang="en-US" altLang="zh-CN" sz="1050" b="0" i="1" kern="1200">
                                                        <a:solidFill>
                                                          <a:schemeClr val="tx1"/>
                                                        </a:solidFill>
                                                        <a:effectLst/>
                                                        <a:latin typeface="Cambria Math" panose="02040503050406030204" pitchFamily="18" charset="0"/>
                                                        <a:ea typeface="宋体" charset="0"/>
                                                        <a:cs typeface="宋体" charset="0"/>
                                                      </a:rPr>
                                                      <m:t>𝑖</m:t>
                                                    </m:r>
                                                  </m:e>
                                                </m:d>
                                                <m:r>
                                                  <a:rPr lang="en-US" altLang="zh-CN" sz="1050" b="0" i="1"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𝑝𝑏</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e>
                                            </m:d>
                                          </m:e>
                                          <m:sup>
                                            <m:r>
                                              <a:rPr lang="en-US" altLang="zh-CN" sz="1050" b="0" i="1" kern="1200">
                                                <a:solidFill>
                                                  <a:schemeClr val="tx1"/>
                                                </a:solidFill>
                                                <a:effectLst/>
                                                <a:latin typeface="Cambria Math" panose="02040503050406030204" pitchFamily="18" charset="0"/>
                                                <a:ea typeface="宋体" charset="0"/>
                                                <a:cs typeface="宋体" charset="0"/>
                                              </a:rPr>
                                              <m:t>2</m:t>
                                            </m:r>
                                          </m:sup>
                                        </m:sSup>
                                      </m:num>
                                      <m:den>
                                        <m:r>
                                          <a:rPr lang="en-US" altLang="zh-CN" sz="1050" b="0" i="1" kern="1200">
                                            <a:solidFill>
                                              <a:schemeClr val="tx1"/>
                                            </a:solidFill>
                                            <a:effectLst/>
                                            <a:latin typeface="Cambria Math" panose="02040503050406030204" pitchFamily="18" charset="0"/>
                                            <a:ea typeface="宋体" charset="0"/>
                                            <a:cs typeface="宋体" charset="0"/>
                                          </a:rPr>
                                          <m:t>𝑝𝑏</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den>
                                    </m:f>
                                  </m:e>
                                </m:nary>
                              </m:oMath>
                            </m:oMathPara>
                          </a14:m>
                          <a:endParaRPr lang="zh-CN" altLang="zh-CN" sz="1050" b="0" kern="1200" dirty="0">
                            <a:solidFill>
                              <a:schemeClr val="tx1"/>
                            </a:solidFill>
                            <a:effectLst/>
                            <a:latin typeface="+mj-lt"/>
                            <a:ea typeface="宋体" charset="0"/>
                            <a:cs typeface="宋体" charset="0"/>
                          </a:endParaRPr>
                        </a:p>
                      </a:txBody>
                      <a:tcPr anchor="ctr">
                        <a:solidFill>
                          <a:schemeClr val="tx2">
                            <a:lumMod val="40000"/>
                            <a:lumOff val="60000"/>
                            <a:alpha val="0"/>
                          </a:schemeClr>
                        </a:solidFill>
                      </a:tcPr>
                    </a:tc>
                    <a:extLst>
                      <a:ext uri="{0D108BD9-81ED-4DB2-BD59-A6C34878D82A}">
                        <a16:rowId xmlns:a16="http://schemas.microsoft.com/office/drawing/2014/main" val="10001"/>
                      </a:ext>
                    </a:extLst>
                  </a:tr>
                  <a:tr h="484567">
                    <a:tc vMerge="1">
                      <a:txBody>
                        <a:bodyPr/>
                        <a:lstStyle/>
                        <a:p>
                          <a:endParaRPr lang="zh-CN"/>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rPr>
                            <a:t>卡方检验</a:t>
                          </a:r>
                        </a:p>
                      </a:txBody>
                      <a:tcPr anchor="ctr">
                        <a:solidFill>
                          <a:schemeClr val="tx2">
                            <a:lumMod val="40000"/>
                            <a:lumOff val="60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nary>
                                  <m:naryPr>
                                    <m:chr m:val="∑"/>
                                    <m:limLoc m:val="undOvr"/>
                                    <m:ctrlPr>
                                      <a:rPr lang="zh-CN" altLang="zh-CN" sz="1050" b="0" i="1" kern="1200" smtClean="0">
                                        <a:solidFill>
                                          <a:schemeClr val="tx1"/>
                                        </a:solidFill>
                                        <a:effectLst/>
                                        <a:latin typeface="Cambria Math" panose="02040503050406030204" pitchFamily="18" charset="0"/>
                                        <a:ea typeface="宋体" charset="0"/>
                                        <a:cs typeface="宋体" charset="0"/>
                                      </a:rPr>
                                    </m:ctrlPr>
                                  </m:naryPr>
                                  <m:sub>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0</m:t>
                                    </m:r>
                                  </m:sub>
                                  <m:sup>
                                    <m:r>
                                      <a:rPr lang="en-US" altLang="zh-CN" sz="1050" b="0" i="1" kern="1200">
                                        <a:solidFill>
                                          <a:schemeClr val="tx1"/>
                                        </a:solidFill>
                                        <a:effectLst/>
                                        <a:latin typeface="Cambria Math" panose="02040503050406030204" pitchFamily="18" charset="0"/>
                                        <a:ea typeface="宋体" charset="0"/>
                                        <a:cs typeface="宋体" charset="0"/>
                                      </a:rPr>
                                      <m:t>𝑛</m:t>
                                    </m:r>
                                  </m:sup>
                                  <m:e>
                                    <m:sSup>
                                      <m:sSupPr>
                                        <m:ctrlPr>
                                          <a:rPr lang="zh-CN" altLang="zh-CN" sz="1050" b="0" i="1" kern="1200">
                                            <a:solidFill>
                                              <a:schemeClr val="tx1"/>
                                            </a:solidFill>
                                            <a:effectLst/>
                                            <a:latin typeface="Cambria Math" panose="02040503050406030204" pitchFamily="18" charset="0"/>
                                            <a:ea typeface="宋体" charset="0"/>
                                            <a:cs typeface="宋体" charset="0"/>
                                          </a:rPr>
                                        </m:ctrlPr>
                                      </m:sSupPr>
                                      <m:e>
                                        <m:d>
                                          <m:dPr>
                                            <m:ctrlPr>
                                              <a:rPr lang="zh-CN" altLang="zh-CN" sz="1050" b="0" i="1" kern="1200">
                                                <a:solidFill>
                                                  <a:schemeClr val="tx1"/>
                                                </a:solidFill>
                                                <a:effectLst/>
                                                <a:latin typeface="Cambria Math" panose="02040503050406030204" pitchFamily="18" charset="0"/>
                                                <a:ea typeface="宋体" charset="0"/>
                                                <a:cs typeface="宋体" charset="0"/>
                                              </a:rPr>
                                            </m:ctrlPr>
                                          </m:dPr>
                                          <m:e>
                                            <m:d>
                                              <m:dPr>
                                                <m:ctrlPr>
                                                  <a:rPr lang="zh-CN" altLang="zh-CN" sz="1050" b="0" i="1" kern="1200">
                                                    <a:solidFill>
                                                      <a:schemeClr val="tx1"/>
                                                    </a:solidFill>
                                                    <a:effectLst/>
                                                    <a:latin typeface="Cambria Math" panose="02040503050406030204" pitchFamily="18" charset="0"/>
                                                    <a:ea typeface="宋体" charset="0"/>
                                                    <a:cs typeface="宋体" charset="0"/>
                                                  </a:rPr>
                                                </m:ctrlPr>
                                              </m:dPr>
                                              <m:e>
                                                <m:f>
                                                  <m:fPr>
                                                    <m:ctrlPr>
                                                      <a:rPr lang="zh-CN" altLang="zh-CN" sz="1050" b="0" i="1" kern="1200">
                                                        <a:solidFill>
                                                          <a:schemeClr val="tx1"/>
                                                        </a:solidFill>
                                                        <a:effectLst/>
                                                        <a:latin typeface="Cambria Math" panose="02040503050406030204" pitchFamily="18" charset="0"/>
                                                        <a:ea typeface="宋体" charset="0"/>
                                                        <a:cs typeface="宋体" charset="0"/>
                                                      </a:rPr>
                                                    </m:ctrlPr>
                                                  </m:fPr>
                                                  <m:num>
                                                    <m:r>
                                                      <a:rPr lang="en-US" altLang="zh-CN" sz="1050" b="0" i="1" kern="1200">
                                                        <a:solidFill>
                                                          <a:schemeClr val="tx1"/>
                                                        </a:solidFill>
                                                        <a:effectLst/>
                                                        <a:latin typeface="Cambria Math" panose="02040503050406030204" pitchFamily="18" charset="0"/>
                                                        <a:ea typeface="宋体" charset="0"/>
                                                        <a:cs typeface="宋体" charset="0"/>
                                                      </a:rPr>
                                                      <m:t>𝑝𝑐</m:t>
                                                    </m:r>
                                                    <m:d>
                                                      <m:dPr>
                                                        <m:begChr m:val="["/>
                                                        <m:endChr m:val="]"/>
                                                        <m:ctrlPr>
                                                          <a:rPr lang="zh-CN" altLang="zh-CN" sz="1050" b="0" i="1" kern="1200">
                                                            <a:solidFill>
                                                              <a:schemeClr val="tx1"/>
                                                            </a:solidFill>
                                                            <a:effectLst/>
                                                            <a:latin typeface="Cambria Math" panose="02040503050406030204" pitchFamily="18" charset="0"/>
                                                            <a:ea typeface="宋体" charset="0"/>
                                                            <a:cs typeface="宋体" charset="0"/>
                                                          </a:rPr>
                                                        </m:ctrlPr>
                                                      </m:dPr>
                                                      <m:e>
                                                        <m:r>
                                                          <a:rPr lang="en-US" altLang="zh-CN" sz="1050" b="0" i="1" kern="1200">
                                                            <a:solidFill>
                                                              <a:schemeClr val="tx1"/>
                                                            </a:solidFill>
                                                            <a:effectLst/>
                                                            <a:latin typeface="Cambria Math" panose="02040503050406030204" pitchFamily="18" charset="0"/>
                                                            <a:ea typeface="宋体" charset="0"/>
                                                            <a:cs typeface="宋体" charset="0"/>
                                                          </a:rPr>
                                                          <m:t>𝑖</m:t>
                                                        </m:r>
                                                      </m:e>
                                                    </m:d>
                                                    <m:r>
                                                      <a:rPr lang="en-US" altLang="zh-CN" sz="1050" b="0" i="1"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𝑝𝑏</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num>
                                                  <m:den>
                                                    <m:r>
                                                      <a:rPr lang="en-US" altLang="zh-CN" sz="1050" b="0" i="1" kern="1200">
                                                        <a:solidFill>
                                                          <a:schemeClr val="tx1"/>
                                                        </a:solidFill>
                                                        <a:effectLst/>
                                                        <a:latin typeface="Cambria Math" panose="02040503050406030204" pitchFamily="18" charset="0"/>
                                                        <a:ea typeface="宋体" charset="0"/>
                                                        <a:cs typeface="宋体" charset="0"/>
                                                      </a:rPr>
                                                      <m:t>𝑝𝑏</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den>
                                                </m:f>
                                              </m:e>
                                            </m:d>
                                            <m:r>
                                              <a:rPr lang="en-US" altLang="zh-CN" sz="1050" b="0" kern="1200">
                                                <a:solidFill>
                                                  <a:schemeClr val="tx1"/>
                                                </a:solidFill>
                                                <a:effectLst/>
                                                <a:latin typeface="Cambria Math" panose="02040503050406030204" pitchFamily="18" charset="0"/>
                                                <a:ea typeface="宋体" charset="0"/>
                                                <a:cs typeface="宋体" charset="0"/>
                                              </a:rPr>
                                              <m:t>×</m:t>
                                            </m:r>
                                            <m:sSup>
                                              <m:sSupPr>
                                                <m:ctrlPr>
                                                  <a:rPr lang="zh-CN" altLang="zh-CN" sz="1050" b="0" i="1" kern="1200">
                                                    <a:solidFill>
                                                      <a:schemeClr val="tx1"/>
                                                    </a:solidFill>
                                                    <a:effectLst/>
                                                    <a:latin typeface="Cambria Math" panose="02040503050406030204" pitchFamily="18" charset="0"/>
                                                    <a:ea typeface="宋体" charset="0"/>
                                                    <a:cs typeface="宋体" charset="0"/>
                                                  </a:rPr>
                                                </m:ctrlPr>
                                              </m:sSupPr>
                                              <m:e>
                                                <m:r>
                                                  <a:rPr lang="en-US" altLang="zh-CN" sz="1050" b="0" i="1" kern="1200">
                                                    <a:solidFill>
                                                      <a:schemeClr val="tx1"/>
                                                    </a:solidFill>
                                                    <a:effectLst/>
                                                    <a:latin typeface="Cambria Math" panose="02040503050406030204" pitchFamily="18" charset="0"/>
                                                    <a:ea typeface="宋体" charset="0"/>
                                                    <a:cs typeface="宋体" charset="0"/>
                                                  </a:rPr>
                                                  <m:t>1</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8</m:t>
                                                </m:r>
                                              </m:e>
                                              <m:sup>
                                                <m:r>
                                                  <a:rPr lang="en-US" altLang="zh-CN" sz="1050" b="0" i="1" kern="1200">
                                                    <a:solidFill>
                                                      <a:schemeClr val="tx1"/>
                                                    </a:solidFill>
                                                    <a:effectLst/>
                                                    <a:latin typeface="Cambria Math" panose="02040503050406030204" pitchFamily="18" charset="0"/>
                                                    <a:ea typeface="宋体" charset="0"/>
                                                    <a:cs typeface="宋体" charset="0"/>
                                                  </a:rPr>
                                                  <m:t>10</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𝑝𝑏</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sup>
                                            </m:sSup>
                                          </m:e>
                                        </m:d>
                                      </m:e>
                                      <m:sup>
                                        <m:r>
                                          <a:rPr lang="en-US" altLang="zh-CN" sz="1050" b="0" i="1" kern="1200">
                                            <a:solidFill>
                                              <a:schemeClr val="tx1"/>
                                            </a:solidFill>
                                            <a:effectLst/>
                                            <a:latin typeface="Cambria Math" panose="02040503050406030204" pitchFamily="18" charset="0"/>
                                            <a:ea typeface="宋体" charset="0"/>
                                            <a:cs typeface="宋体" charset="0"/>
                                          </a:rPr>
                                          <m:t>4</m:t>
                                        </m:r>
                                      </m:sup>
                                    </m:sSup>
                                  </m:e>
                                </m:nary>
                              </m:oMath>
                            </m:oMathPara>
                          </a14:m>
                          <a:endParaRPr lang="zh-CN" altLang="zh-CN" sz="1050" b="0" kern="1200" dirty="0">
                            <a:solidFill>
                              <a:schemeClr val="tx1"/>
                            </a:solidFill>
                            <a:effectLst/>
                            <a:latin typeface="+mj-lt"/>
                            <a:ea typeface="宋体" charset="0"/>
                            <a:cs typeface="宋体" charset="0"/>
                          </a:endParaRPr>
                        </a:p>
                      </a:txBody>
                      <a:tcPr anchor="ctr">
                        <a:solidFill>
                          <a:schemeClr val="tx2">
                            <a:lumMod val="40000"/>
                            <a:lumOff val="60000"/>
                            <a:alpha val="0"/>
                          </a:schemeClr>
                        </a:solidFill>
                      </a:tcPr>
                    </a:tc>
                    <a:extLst>
                      <a:ext uri="{0D108BD9-81ED-4DB2-BD59-A6C34878D82A}">
                        <a16:rowId xmlns:a16="http://schemas.microsoft.com/office/drawing/2014/main" val="10002"/>
                      </a:ext>
                    </a:extLst>
                  </a:tr>
                  <a:tr h="467274">
                    <a:tc vMerge="1">
                      <a:txBody>
                        <a:bodyPr/>
                        <a:lstStyle/>
                        <a:p>
                          <a:endParaRPr lang="zh-CN"/>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en-US" altLang="zh-CN" sz="1200" b="0" kern="1200" dirty="0">
                              <a:solidFill>
                                <a:schemeClr val="tx1"/>
                              </a:solidFill>
                              <a:latin typeface="微软雅黑" panose="020B0503020204020204" pitchFamily="34" charset="-122"/>
                              <a:ea typeface="微软雅黑" panose="020B0503020204020204" pitchFamily="34" charset="-122"/>
                              <a:cs typeface="宋体" charset="0"/>
                            </a:rPr>
                            <a:t>KL</a:t>
                          </a:r>
                          <a:r>
                            <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rPr>
                            <a:t>差异度</a:t>
                          </a:r>
                        </a:p>
                      </a:txBody>
                      <a:tcPr anchor="ctr">
                        <a:solidFill>
                          <a:schemeClr val="tx2">
                            <a:lumMod val="40000"/>
                            <a:lumOff val="60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14:m>
                            <m:oMathPara xmlns:m="http://schemas.openxmlformats.org/officeDocument/2006/math">
                              <m:oMathParaPr>
                                <m:jc m:val="centerGroup"/>
                              </m:oMathParaPr>
                              <m:oMath xmlns:m="http://schemas.openxmlformats.org/officeDocument/2006/math">
                                <m:nary>
                                  <m:naryPr>
                                    <m:chr m:val="∑"/>
                                    <m:limLoc m:val="undOvr"/>
                                    <m:ctrlPr>
                                      <a:rPr lang="zh-CN" altLang="zh-CN" sz="1050" b="0" i="1" kern="1200" smtClean="0">
                                        <a:solidFill>
                                          <a:schemeClr val="tx1"/>
                                        </a:solidFill>
                                        <a:effectLst/>
                                        <a:latin typeface="Cambria Math" panose="02040503050406030204" pitchFamily="18" charset="0"/>
                                        <a:ea typeface="宋体" charset="0"/>
                                        <a:cs typeface="宋体" charset="0"/>
                                      </a:rPr>
                                    </m:ctrlPr>
                                  </m:naryPr>
                                  <m:sub>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0</m:t>
                                    </m:r>
                                  </m:sub>
                                  <m:sup>
                                    <m:r>
                                      <a:rPr lang="en-US" altLang="zh-CN" sz="1050" b="0" i="1" kern="1200">
                                        <a:solidFill>
                                          <a:schemeClr val="tx1"/>
                                        </a:solidFill>
                                        <a:effectLst/>
                                        <a:latin typeface="Cambria Math" panose="02040503050406030204" pitchFamily="18" charset="0"/>
                                        <a:ea typeface="宋体" charset="0"/>
                                        <a:cs typeface="宋体" charset="0"/>
                                      </a:rPr>
                                      <m:t>𝑛</m:t>
                                    </m:r>
                                  </m:sup>
                                  <m:e>
                                    <m:r>
                                      <a:rPr lang="en-US" altLang="zh-CN" sz="1050" b="0" i="1" kern="1200">
                                        <a:solidFill>
                                          <a:schemeClr val="tx1"/>
                                        </a:solidFill>
                                        <a:effectLst/>
                                        <a:latin typeface="Cambria Math" panose="02040503050406030204" pitchFamily="18" charset="0"/>
                                        <a:ea typeface="宋体" charset="0"/>
                                        <a:cs typeface="宋体" charset="0"/>
                                      </a:rPr>
                                      <m:t>𝑝𝑐</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𝑙𝑜𝑔</m:t>
                                    </m:r>
                                    <m:d>
                                      <m:dPr>
                                        <m:ctrlPr>
                                          <a:rPr lang="zh-CN" altLang="zh-CN" sz="1050" b="0" i="1" kern="1200">
                                            <a:solidFill>
                                              <a:schemeClr val="tx1"/>
                                            </a:solidFill>
                                            <a:effectLst/>
                                            <a:latin typeface="Cambria Math" panose="02040503050406030204" pitchFamily="18" charset="0"/>
                                            <a:ea typeface="宋体" charset="0"/>
                                            <a:cs typeface="宋体" charset="0"/>
                                          </a:rPr>
                                        </m:ctrlPr>
                                      </m:dPr>
                                      <m:e>
                                        <m:f>
                                          <m:fPr>
                                            <m:ctrlPr>
                                              <a:rPr lang="zh-CN" altLang="zh-CN" sz="1050" b="0" i="1" kern="1200">
                                                <a:solidFill>
                                                  <a:schemeClr val="tx1"/>
                                                </a:solidFill>
                                                <a:effectLst/>
                                                <a:latin typeface="Cambria Math" panose="02040503050406030204" pitchFamily="18" charset="0"/>
                                                <a:ea typeface="宋体" charset="0"/>
                                                <a:cs typeface="宋体" charset="0"/>
                                              </a:rPr>
                                            </m:ctrlPr>
                                          </m:fPr>
                                          <m:num>
                                            <m:r>
                                              <a:rPr lang="en-US" altLang="zh-CN" sz="1050" b="0" i="1" kern="1200">
                                                <a:solidFill>
                                                  <a:schemeClr val="tx1"/>
                                                </a:solidFill>
                                                <a:effectLst/>
                                                <a:latin typeface="Cambria Math" panose="02040503050406030204" pitchFamily="18" charset="0"/>
                                                <a:ea typeface="宋体" charset="0"/>
                                                <a:cs typeface="宋体" charset="0"/>
                                              </a:rPr>
                                              <m:t>𝑝𝑐</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num>
                                          <m:den>
                                            <m:r>
                                              <a:rPr lang="en-US" altLang="zh-CN" sz="1050" b="0" i="1" kern="1200">
                                                <a:solidFill>
                                                  <a:schemeClr val="tx1"/>
                                                </a:solidFill>
                                                <a:effectLst/>
                                                <a:latin typeface="Cambria Math" panose="02040503050406030204" pitchFamily="18" charset="0"/>
                                                <a:ea typeface="宋体" charset="0"/>
                                                <a:cs typeface="宋体" charset="0"/>
                                              </a:rPr>
                                              <m:t>𝑝𝑏</m:t>
                                            </m:r>
                                            <m:r>
                                              <a:rPr lang="en-US" altLang="zh-CN" sz="1050" b="0" kern="1200">
                                                <a:solidFill>
                                                  <a:schemeClr val="tx1"/>
                                                </a:solidFill>
                                                <a:effectLst/>
                                                <a:latin typeface="Cambria Math" panose="02040503050406030204" pitchFamily="18" charset="0"/>
                                                <a:ea typeface="宋体" charset="0"/>
                                                <a:cs typeface="宋体" charset="0"/>
                                              </a:rPr>
                                              <m:t>[</m:t>
                                            </m:r>
                                            <m:r>
                                              <a:rPr lang="en-US" altLang="zh-CN" sz="1050" b="0" i="1" kern="1200">
                                                <a:solidFill>
                                                  <a:schemeClr val="tx1"/>
                                                </a:solidFill>
                                                <a:effectLst/>
                                                <a:latin typeface="Cambria Math" panose="02040503050406030204" pitchFamily="18" charset="0"/>
                                                <a:ea typeface="宋体" charset="0"/>
                                                <a:cs typeface="宋体" charset="0"/>
                                              </a:rPr>
                                              <m:t>𝑖</m:t>
                                            </m:r>
                                            <m:r>
                                              <a:rPr lang="en-US" altLang="zh-CN" sz="1050" b="0" kern="1200">
                                                <a:solidFill>
                                                  <a:schemeClr val="tx1"/>
                                                </a:solidFill>
                                                <a:effectLst/>
                                                <a:latin typeface="Cambria Math" panose="02040503050406030204" pitchFamily="18" charset="0"/>
                                                <a:ea typeface="宋体" charset="0"/>
                                                <a:cs typeface="宋体" charset="0"/>
                                              </a:rPr>
                                              <m:t>]</m:t>
                                            </m:r>
                                          </m:den>
                                        </m:f>
                                      </m:e>
                                    </m:d>
                                  </m:e>
                                </m:nary>
                              </m:oMath>
                            </m:oMathPara>
                          </a14:m>
                          <a:endParaRPr lang="zh-CN" altLang="zh-CN" sz="1050" b="0" kern="1200" dirty="0">
                            <a:solidFill>
                              <a:schemeClr val="tx1"/>
                            </a:solidFill>
                            <a:effectLst/>
                            <a:latin typeface="+mj-lt"/>
                            <a:ea typeface="宋体" charset="0"/>
                            <a:cs typeface="宋体" charset="0"/>
                          </a:endParaRPr>
                        </a:p>
                      </a:txBody>
                      <a:tcPr anchor="ctr">
                        <a:solidFill>
                          <a:schemeClr val="tx2">
                            <a:lumMod val="40000"/>
                            <a:lumOff val="60000"/>
                            <a:alpha val="0"/>
                          </a:schemeClr>
                        </a:solidFill>
                      </a:tcPr>
                    </a:tc>
                    <a:extLst>
                      <a:ext uri="{0D108BD9-81ED-4DB2-BD59-A6C34878D82A}">
                        <a16:rowId xmlns:a16="http://schemas.microsoft.com/office/drawing/2014/main" val="10003"/>
                      </a:ext>
                    </a:extLst>
                  </a:tr>
                </a:tbl>
              </a:graphicData>
            </a:graphic>
          </p:graphicFrame>
        </mc:Choice>
        <mc:Fallback xmlns="">
          <p:graphicFrame>
            <p:nvGraphicFramePr>
              <p:cNvPr id="12" name="表格 11"/>
              <p:cNvGraphicFramePr>
                <a:graphicFrameLocks noGrp="1"/>
              </p:cNvGraphicFramePr>
              <p:nvPr/>
            </p:nvGraphicFramePr>
            <p:xfrm>
              <a:off x="3597897" y="3992499"/>
              <a:ext cx="6739903" cy="2030159"/>
            </p:xfrm>
            <a:graphic>
              <a:graphicData uri="http://schemas.openxmlformats.org/drawingml/2006/table">
                <a:tbl>
                  <a:tblPr firstRow="1">
                    <a:tableStyleId>{5C22544A-7EE6-4342-B048-85BDC9FD1C3A}</a:tableStyleId>
                  </a:tblPr>
                  <a:tblGrid>
                    <a:gridCol w="1215316"/>
                    <a:gridCol w="2029440"/>
                    <a:gridCol w="3495147"/>
                  </a:tblGrid>
                  <a:tr h="4191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rPr>
                            <a:t>局部距离</a:t>
                          </a:r>
                          <a:endPar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endParaRPr>
                        </a:p>
                      </a:txBody>
                      <a:tcPr anchor="ctr">
                        <a:solidFill>
                          <a:schemeClr val="tx2">
                            <a:lumMod val="40000"/>
                            <a:lumOff val="60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rPr>
                            <a:t>最大化差异度量</a:t>
                          </a:r>
                          <a:endPar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endParaRPr>
                        </a:p>
                      </a:txBody>
                      <a:tcPr anchor="ctr">
                        <a:solidFill>
                          <a:schemeClr val="tx2">
                            <a:lumMod val="40000"/>
                            <a:lumOff val="60000"/>
                            <a:alpha val="0"/>
                          </a:schemeClr>
                        </a:solidFill>
                      </a:tcPr>
                    </a:tc>
                    <a:tc>
                      <a:txBody>
                        <a:bodyPr/>
                        <a:lstStyle/>
                        <a:p>
                          <a:endParaRPr lang="zh-CN"/>
                        </a:p>
                      </a:txBody>
                      <a:tcPr anchor="ctr">
                        <a:blipFill>
                          <a:blip r:embed="rId5"/>
                        </a:blipFill>
                      </a:tcPr>
                    </a:tc>
                  </a:tr>
                  <a:tr h="467360">
                    <a:tc rowSpan="3">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rPr>
                            <a:t>全局距离</a:t>
                          </a:r>
                          <a:endPar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endParaRPr>
                        </a:p>
                      </a:txBody>
                      <a:tcPr anchor="ctr">
                        <a:solidFill>
                          <a:schemeClr val="tx2">
                            <a:lumMod val="40000"/>
                            <a:lumOff val="60000"/>
                            <a:alpha val="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rPr>
                            <a:t>卡方距离</a:t>
                          </a:r>
                          <a:endPar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endParaRPr>
                        </a:p>
                      </a:txBody>
                      <a:tcPr anchor="ctr">
                        <a:solidFill>
                          <a:schemeClr val="tx2">
                            <a:lumMod val="40000"/>
                            <a:lumOff val="60000"/>
                            <a:alpha val="0"/>
                          </a:schemeClr>
                        </a:solidFill>
                      </a:tcPr>
                    </a:tc>
                    <a:tc>
                      <a:txBody>
                        <a:bodyPr/>
                        <a:lstStyle/>
                        <a:p>
                          <a:endParaRPr lang="zh-CN"/>
                        </a:p>
                      </a:txBody>
                      <a:tcPr anchor="ctr">
                        <a:blipFill>
                          <a:blip r:embed="rId5"/>
                        </a:blipFill>
                      </a:tcPr>
                    </a:tc>
                  </a:tr>
                  <a:tr h="487680">
                    <a:tc vMerge="1">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rPr>
                            <a:t>卡方检验</a:t>
                          </a:r>
                          <a:endPar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endParaRPr>
                        </a:p>
                      </a:txBody>
                      <a:tcPr anchor="ctr">
                        <a:solidFill>
                          <a:schemeClr val="tx2">
                            <a:lumMod val="40000"/>
                            <a:lumOff val="60000"/>
                            <a:alpha val="0"/>
                          </a:schemeClr>
                        </a:solidFill>
                      </a:tcPr>
                    </a:tc>
                    <a:tc>
                      <a:txBody>
                        <a:bodyPr/>
                        <a:lstStyle/>
                        <a:p>
                          <a:endParaRPr lang="zh-CN"/>
                        </a:p>
                      </a:txBody>
                      <a:tcPr anchor="ctr">
                        <a:blipFill>
                          <a:blip r:embed="rId5"/>
                        </a:blipFill>
                      </a:tcPr>
                    </a:tc>
                  </a:tr>
                  <a:tr h="467360">
                    <a:tc vMerge="1">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kumimoji="1" lang="en-US" altLang="zh-CN" sz="1200" b="0" kern="1200" dirty="0">
                              <a:solidFill>
                                <a:schemeClr val="tx1"/>
                              </a:solidFill>
                              <a:latin typeface="微软雅黑" panose="020B0503020204020204" pitchFamily="34" charset="-122"/>
                              <a:ea typeface="微软雅黑" panose="020B0503020204020204" pitchFamily="34" charset="-122"/>
                              <a:cs typeface="宋体" charset="0"/>
                            </a:rPr>
                            <a:t>KL</a:t>
                          </a:r>
                          <a:r>
                            <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rPr>
                            <a:t>差异度</a:t>
                          </a:r>
                          <a:endParaRPr kumimoji="1" lang="zh-CN" altLang="en-US" sz="1200" b="0" kern="1200" dirty="0">
                            <a:solidFill>
                              <a:schemeClr val="tx1"/>
                            </a:solidFill>
                            <a:latin typeface="微软雅黑" panose="020B0503020204020204" pitchFamily="34" charset="-122"/>
                            <a:ea typeface="微软雅黑" panose="020B0503020204020204" pitchFamily="34" charset="-122"/>
                            <a:cs typeface="宋体" charset="0"/>
                          </a:endParaRPr>
                        </a:p>
                      </a:txBody>
                      <a:tcPr anchor="ctr">
                        <a:solidFill>
                          <a:schemeClr val="tx2">
                            <a:lumMod val="40000"/>
                            <a:lumOff val="60000"/>
                            <a:alpha val="0"/>
                          </a:schemeClr>
                        </a:solidFill>
                      </a:tcPr>
                    </a:tc>
                    <a:tc>
                      <a:txBody>
                        <a:bodyPr/>
                        <a:lstStyle/>
                        <a:p>
                          <a:endParaRPr lang="zh-CN"/>
                        </a:p>
                      </a:txBody>
                      <a:tcPr anchor="ctr">
                        <a:blipFill>
                          <a:blip r:embed="rId5"/>
                        </a:blipFill>
                      </a:tcPr>
                    </a:tc>
                  </a:tr>
                </a:tbl>
              </a:graphicData>
            </a:graphic>
          </p:graphicFrame>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2333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分布异常策略</a:t>
            </a:r>
          </a:p>
        </p:txBody>
      </p:sp>
      <p:sp>
        <p:nvSpPr>
          <p:cNvPr id="3" name="文本框 2"/>
          <p:cNvSpPr txBox="1"/>
          <p:nvPr/>
        </p:nvSpPr>
        <p:spPr>
          <a:xfrm>
            <a:off x="1154484" y="1602727"/>
            <a:ext cx="5219700" cy="2631490"/>
          </a:xfrm>
          <a:prstGeom prst="rect">
            <a:avLst/>
          </a:prstGeom>
          <a:noFill/>
        </p:spPr>
        <p:txBody>
          <a:bodyPr wrap="square" rtlCol="0">
            <a:spAutoFit/>
          </a:bodyPr>
          <a:lstStyle/>
          <a:p>
            <a:pPr lvl="0"/>
            <a:r>
              <a:rPr lang="en-GB" altLang="zh-CN" sz="1400" dirty="0"/>
              <a:t>[@policy]</a:t>
            </a:r>
          </a:p>
          <a:p>
            <a:pPr lvl="0"/>
            <a:r>
              <a:rPr lang="en-GB" altLang="zh-CN" sz="1400" dirty="0" err="1"/>
              <a:t>policy_type</a:t>
            </a:r>
            <a:r>
              <a:rPr lang="en-GB" altLang="zh-CN" sz="1400" dirty="0"/>
              <a:t> : rule</a:t>
            </a:r>
          </a:p>
          <a:p>
            <a:pPr lvl="0"/>
            <a:r>
              <a:rPr lang="en-GB" altLang="zh-CN" sz="1400" dirty="0" err="1"/>
              <a:t>policy_id</a:t>
            </a:r>
            <a:r>
              <a:rPr lang="en-GB" altLang="zh-CN" sz="1400" dirty="0"/>
              <a:t> : 5041</a:t>
            </a:r>
          </a:p>
          <a:p>
            <a:pPr lvl="0"/>
            <a:r>
              <a:rPr lang="en-GB" altLang="zh-CN" sz="1400" dirty="0"/>
              <a:t>[.@rule]</a:t>
            </a:r>
          </a:p>
          <a:p>
            <a:pPr lvl="0"/>
            <a:r>
              <a:rPr lang="en-GB" altLang="zh-CN" sz="1400" dirty="0"/>
              <a:t>threshold : 2</a:t>
            </a:r>
          </a:p>
          <a:p>
            <a:pPr lvl="0"/>
            <a:r>
              <a:rPr lang="en-GB" altLang="zh-CN" sz="1400" dirty="0" err="1"/>
              <a:t>feature_id</a:t>
            </a:r>
            <a:r>
              <a:rPr lang="en-GB" altLang="zh-CN" sz="1400" dirty="0"/>
              <a:t> : 5041</a:t>
            </a:r>
          </a:p>
          <a:p>
            <a:pPr lvl="0"/>
            <a:r>
              <a:rPr lang="en-GB" altLang="zh-CN" sz="1400" dirty="0" err="1">
                <a:solidFill>
                  <a:srgbClr val="C00000"/>
                </a:solidFill>
              </a:rPr>
              <a:t>simple_distribution</a:t>
            </a:r>
            <a:r>
              <a:rPr lang="en-GB" altLang="zh-CN" sz="1400" dirty="0">
                <a:solidFill>
                  <a:srgbClr val="C00000"/>
                </a:solidFill>
              </a:rPr>
              <a:t> : 1</a:t>
            </a:r>
          </a:p>
          <a:p>
            <a:pPr lvl="0"/>
            <a:r>
              <a:rPr lang="en-GB" altLang="zh-CN" sz="1400" dirty="0" err="1">
                <a:solidFill>
                  <a:srgbClr val="C00000"/>
                </a:solidFill>
              </a:rPr>
              <a:t>rule_type</a:t>
            </a:r>
            <a:r>
              <a:rPr lang="en-GB" altLang="zh-CN" sz="1400" dirty="0">
                <a:solidFill>
                  <a:srgbClr val="C00000"/>
                </a:solidFill>
              </a:rPr>
              <a:t> : distribution</a:t>
            </a:r>
          </a:p>
          <a:p>
            <a:pPr lvl="0"/>
            <a:r>
              <a:rPr lang="en-GB" altLang="zh-CN" sz="1400" dirty="0" err="1">
                <a:solidFill>
                  <a:srgbClr val="C00000"/>
                </a:solidFill>
              </a:rPr>
              <a:t>func_type</a:t>
            </a:r>
            <a:r>
              <a:rPr lang="en-GB" altLang="zh-CN" sz="1400" dirty="0">
                <a:solidFill>
                  <a:srgbClr val="C00000"/>
                </a:solidFill>
              </a:rPr>
              <a:t> : </a:t>
            </a:r>
            <a:r>
              <a:rPr lang="en-GB" altLang="zh-CN" sz="1400" dirty="0" err="1">
                <a:solidFill>
                  <a:srgbClr val="C00000"/>
                </a:solidFill>
              </a:rPr>
              <a:t>max_diff</a:t>
            </a:r>
            <a:endParaRPr lang="en-GB" altLang="zh-CN" sz="1400" dirty="0">
              <a:solidFill>
                <a:srgbClr val="C00000"/>
              </a:solidFill>
            </a:endParaRPr>
          </a:p>
          <a:p>
            <a:pPr lvl="0"/>
            <a:r>
              <a:rPr lang="en-GB" altLang="zh-CN" sz="1400" dirty="0" err="1">
                <a:solidFill>
                  <a:srgbClr val="C00000"/>
                </a:solidFill>
              </a:rPr>
              <a:t>count_threshold</a:t>
            </a:r>
            <a:r>
              <a:rPr lang="en-GB" altLang="zh-CN" sz="1400" dirty="0">
                <a:solidFill>
                  <a:srgbClr val="C00000"/>
                </a:solidFill>
              </a:rPr>
              <a:t> : 200</a:t>
            </a:r>
          </a:p>
          <a:p>
            <a:pPr lvl="0"/>
            <a:r>
              <a:rPr lang="en-GB" altLang="zh-CN" sz="1400" dirty="0" err="1">
                <a:solidFill>
                  <a:srgbClr val="C00000"/>
                </a:solidFill>
              </a:rPr>
              <a:t>stand_prob</a:t>
            </a:r>
            <a:r>
              <a:rPr lang="en-GB" altLang="zh-CN" sz="1400" dirty="0">
                <a:solidFill>
                  <a:srgbClr val="C00000"/>
                </a:solidFill>
              </a:rPr>
              <a:t> : 0.200, 0.200, 0.200, 0.200, 0.200</a:t>
            </a:r>
          </a:p>
          <a:p>
            <a:endParaRPr kumimoji="1" lang="zh-CN" altLang="en-US" sz="1100" dirty="0"/>
          </a:p>
        </p:txBody>
      </p:sp>
      <p:sp>
        <p:nvSpPr>
          <p:cNvPr id="11" name="矩形 10"/>
          <p:cNvSpPr/>
          <p:nvPr/>
        </p:nvSpPr>
        <p:spPr>
          <a:xfrm>
            <a:off x="5638325" y="1443841"/>
            <a:ext cx="6091039" cy="3970318"/>
          </a:xfrm>
          <a:prstGeom prst="rect">
            <a:avLst/>
          </a:prstGeom>
          <a:solidFill>
            <a:schemeClr val="bg1">
              <a:lumMod val="95000"/>
              <a:alpha val="0"/>
            </a:schemeClr>
          </a:solidFill>
          <a:ln>
            <a:noFill/>
          </a:ln>
        </p:spPr>
        <p:txBody>
          <a:bodyPr wrap="square" rtlCol="0">
            <a:spAutoFit/>
          </a:bodyPr>
          <a:lstStyle/>
          <a:p>
            <a:pPr algn="l"/>
            <a:r>
              <a:rPr lang="en-GB" altLang="zh-CN" sz="1400" dirty="0"/>
              <a:t>[@feature]</a:t>
            </a:r>
          </a:p>
          <a:p>
            <a:pPr algn="l"/>
            <a:r>
              <a:rPr lang="en-GB" altLang="zh-CN" sz="1400" dirty="0" err="1"/>
              <a:t>feature_id</a:t>
            </a:r>
            <a:r>
              <a:rPr lang="en-GB" altLang="zh-CN" sz="1400" dirty="0"/>
              <a:t> : 5041</a:t>
            </a:r>
          </a:p>
          <a:p>
            <a:pPr algn="l"/>
            <a:r>
              <a:rPr lang="en-GB" altLang="zh-CN" sz="1400" dirty="0" err="1"/>
              <a:t>view_level</a:t>
            </a:r>
            <a:r>
              <a:rPr lang="en-GB" altLang="zh-CN" sz="1400" dirty="0"/>
              <a:t> : </a:t>
            </a:r>
            <a:r>
              <a:rPr lang="en-GB" altLang="zh-CN" sz="1400" dirty="0" err="1"/>
              <a:t>click_level</a:t>
            </a:r>
            <a:endParaRPr lang="en-GB" altLang="zh-CN" sz="1400" dirty="0"/>
          </a:p>
          <a:p>
            <a:pPr algn="l"/>
            <a:r>
              <a:rPr lang="en-GB" altLang="zh-CN" sz="1400" dirty="0" err="1">
                <a:solidFill>
                  <a:srgbClr val="C00000"/>
                </a:solidFill>
              </a:rPr>
              <a:t>feature_type</a:t>
            </a:r>
            <a:r>
              <a:rPr lang="en-GB" altLang="zh-CN" sz="1400" dirty="0">
                <a:solidFill>
                  <a:srgbClr val="C00000"/>
                </a:solidFill>
              </a:rPr>
              <a:t> : distribution</a:t>
            </a:r>
          </a:p>
          <a:p>
            <a:pPr algn="l"/>
            <a:r>
              <a:rPr lang="en-GB" altLang="zh-CN" sz="1400" dirty="0" err="1">
                <a:solidFill>
                  <a:srgbClr val="C00000"/>
                </a:solidFill>
              </a:rPr>
              <a:t>func_type</a:t>
            </a:r>
            <a:r>
              <a:rPr lang="en-GB" altLang="zh-CN" sz="1400" dirty="0">
                <a:solidFill>
                  <a:srgbClr val="C00000"/>
                </a:solidFill>
              </a:rPr>
              <a:t> : </a:t>
            </a:r>
            <a:r>
              <a:rPr lang="en-GB" altLang="zh-CN" sz="1400" dirty="0" err="1">
                <a:solidFill>
                  <a:srgbClr val="C00000"/>
                </a:solidFill>
              </a:rPr>
              <a:t>max_diff</a:t>
            </a:r>
            <a:endParaRPr lang="en-GB" altLang="zh-CN" sz="1400" dirty="0">
              <a:solidFill>
                <a:srgbClr val="C00000"/>
              </a:solidFill>
            </a:endParaRPr>
          </a:p>
          <a:p>
            <a:pPr algn="l"/>
            <a:r>
              <a:rPr lang="en-GB" altLang="zh-CN" sz="1400" dirty="0" err="1">
                <a:solidFill>
                  <a:srgbClr val="C00000"/>
                </a:solidFill>
              </a:rPr>
              <a:t>count_threshold</a:t>
            </a:r>
            <a:r>
              <a:rPr lang="en-GB" altLang="zh-CN" sz="1400" dirty="0">
                <a:solidFill>
                  <a:srgbClr val="C00000"/>
                </a:solidFill>
              </a:rPr>
              <a:t> : 200</a:t>
            </a:r>
          </a:p>
          <a:p>
            <a:pPr algn="l"/>
            <a:r>
              <a:rPr lang="en-GB" altLang="zh-CN" sz="1400" dirty="0" err="1">
                <a:solidFill>
                  <a:srgbClr val="C00000"/>
                </a:solidFill>
              </a:rPr>
              <a:t>stand_prob</a:t>
            </a:r>
            <a:r>
              <a:rPr lang="en-GB" altLang="zh-CN" sz="1400" dirty="0">
                <a:solidFill>
                  <a:srgbClr val="C00000"/>
                </a:solidFill>
              </a:rPr>
              <a:t> : 0.200,0.200,0.200,0.200,0.200</a:t>
            </a:r>
          </a:p>
          <a:p>
            <a:pPr algn="l"/>
            <a:r>
              <a:rPr lang="en-GB" altLang="zh-CN" sz="1400" dirty="0" err="1">
                <a:solidFill>
                  <a:srgbClr val="C00000"/>
                </a:solidFill>
              </a:rPr>
              <a:t>interval_endpoints</a:t>
            </a:r>
            <a:r>
              <a:rPr lang="en-GB" altLang="zh-CN" sz="1400" dirty="0">
                <a:solidFill>
                  <a:srgbClr val="C00000"/>
                </a:solidFill>
              </a:rPr>
              <a:t> : 20,35,77,236</a:t>
            </a:r>
          </a:p>
          <a:p>
            <a:pPr algn="l"/>
            <a:r>
              <a:rPr lang="en-GB" altLang="zh-CN" sz="1400" dirty="0"/>
              <a:t>care : ['</a:t>
            </a:r>
            <a:r>
              <a:rPr lang="en-GB" altLang="zh-CN" sz="1400" dirty="0" err="1"/>
              <a:t>accessid</a:t>
            </a:r>
            <a:r>
              <a:rPr lang="en-GB" altLang="zh-CN" sz="1400" dirty="0"/>
              <a:t>':='1','29','31','37']['</a:t>
            </a:r>
            <a:r>
              <a:rPr lang="en-GB" altLang="zh-CN" sz="1400" dirty="0" err="1"/>
              <a:t>is_wireless</a:t>
            </a:r>
            <a:r>
              <a:rPr lang="en-GB" altLang="zh-CN" sz="1400" dirty="0"/>
              <a:t>':='0']['</a:t>
            </a:r>
            <a:r>
              <a:rPr lang="en-GB" altLang="zh-CN" sz="1400" dirty="0" err="1"/>
              <a:t>cmatch'NI'cdtime.whitecmatch</a:t>
            </a:r>
            <a:r>
              <a:rPr lang="en-GB" altLang="zh-CN" sz="1400" dirty="0"/>
              <a:t>']['</a:t>
            </a:r>
            <a:r>
              <a:rPr lang="en-GB" altLang="zh-CN" sz="1400" dirty="0" err="1"/>
              <a:t>cdtime_diff</a:t>
            </a:r>
            <a:r>
              <a:rPr lang="en-GB" altLang="zh-CN" sz="1400" dirty="0"/>
              <a:t>'&gt;=13]</a:t>
            </a:r>
          </a:p>
          <a:p>
            <a:pPr algn="l"/>
            <a:r>
              <a:rPr lang="en-GB" altLang="zh-CN" sz="1400" dirty="0"/>
              <a:t>view : </a:t>
            </a:r>
            <a:r>
              <a:rPr lang="en-GB" altLang="zh-CN" sz="1400" dirty="0" err="1"/>
              <a:t>userid</a:t>
            </a:r>
            <a:endParaRPr lang="en-GB" altLang="zh-CN" sz="1400" dirty="0"/>
          </a:p>
          <a:p>
            <a:pPr algn="l"/>
            <a:r>
              <a:rPr lang="en-GB" altLang="zh-CN" sz="1400" dirty="0" err="1"/>
              <a:t>data_view</a:t>
            </a:r>
            <a:r>
              <a:rPr lang="en-GB" altLang="zh-CN" sz="1400" dirty="0"/>
              <a:t> : </a:t>
            </a:r>
            <a:r>
              <a:rPr lang="en-GB" altLang="zh-CN" sz="1400" dirty="0" err="1"/>
              <a:t>cdtime_diff</a:t>
            </a:r>
            <a:endParaRPr lang="en-GB" altLang="zh-CN" sz="1400" dirty="0"/>
          </a:p>
          <a:p>
            <a:pPr algn="l"/>
            <a:r>
              <a:rPr lang="en-GB" altLang="zh-CN" sz="1400" dirty="0" err="1"/>
              <a:t>window_type</a:t>
            </a:r>
            <a:r>
              <a:rPr lang="en-GB" altLang="zh-CN" sz="1400" dirty="0"/>
              <a:t> : </a:t>
            </a:r>
            <a:r>
              <a:rPr lang="en-GB" altLang="zh-CN" sz="1400" dirty="0" err="1"/>
              <a:t>pv</a:t>
            </a:r>
            <a:endParaRPr lang="en-GB" altLang="zh-CN" sz="1400" dirty="0"/>
          </a:p>
          <a:p>
            <a:pPr algn="l"/>
            <a:r>
              <a:rPr lang="en-GB" altLang="zh-CN" sz="1400" dirty="0" err="1"/>
              <a:t>click_mode</a:t>
            </a:r>
            <a:r>
              <a:rPr lang="en-GB" altLang="zh-CN" sz="1400" dirty="0"/>
              <a:t> : 1</a:t>
            </a:r>
          </a:p>
          <a:p>
            <a:pPr algn="l"/>
            <a:r>
              <a:rPr lang="en-GB" altLang="zh-CN" sz="1400" dirty="0" err="1"/>
              <a:t>step_length</a:t>
            </a:r>
            <a:r>
              <a:rPr lang="en-GB" altLang="zh-CN" sz="1400" dirty="0"/>
              <a:t> : 20000000</a:t>
            </a:r>
          </a:p>
          <a:p>
            <a:pPr algn="l"/>
            <a:r>
              <a:rPr lang="en-GB" altLang="zh-CN" sz="1400" dirty="0"/>
              <a:t>version : 4</a:t>
            </a:r>
          </a:p>
          <a:p>
            <a:pPr algn="l"/>
            <a:r>
              <a:rPr lang="en-GB" altLang="zh-CN" sz="1400" dirty="0" err="1"/>
              <a:t>window_length</a:t>
            </a:r>
            <a:r>
              <a:rPr lang="en-GB" altLang="zh-CN" sz="1400" dirty="0"/>
              <a:t> : 20000000</a:t>
            </a:r>
            <a:endParaRPr lang="zh-CN" altLang="en-US" sz="1400" dirty="0"/>
          </a:p>
        </p:txBody>
      </p:sp>
      <p:sp>
        <p:nvSpPr>
          <p:cNvPr id="13" name="内容占位符 2"/>
          <p:cNvSpPr>
            <a:spLocks noGrp="1"/>
          </p:cNvSpPr>
          <p:nvPr>
            <p:ph idx="1"/>
          </p:nvPr>
        </p:nvSpPr>
        <p:spPr>
          <a:xfrm>
            <a:off x="1154484" y="4165876"/>
            <a:ext cx="3894518" cy="3096344"/>
          </a:xfrm>
          <a:solidFill>
            <a:schemeClr val="bg1">
              <a:alpha val="0"/>
            </a:schemeClr>
          </a:solidFill>
        </p:spPr>
        <p:txBody>
          <a:bodyPr/>
          <a:lstStyle/>
          <a:p>
            <a:pPr>
              <a:buClr>
                <a:srgbClr val="0070C0"/>
              </a:buClr>
              <a:buFont typeface="Wingdings" panose="05000000000000000000" pitchFamily="2" charset="2"/>
              <a:buChar char="l"/>
            </a:pPr>
            <a:r>
              <a:rPr lang="zh-CN" altLang="en-US" sz="1600" b="1" dirty="0">
                <a:cs typeface="宋体" charset="0"/>
              </a:rPr>
              <a:t>分布特征 </a:t>
            </a:r>
            <a:r>
              <a:rPr lang="en-GB" altLang="zh-CN" sz="1600" b="1" dirty="0">
                <a:cs typeface="宋体" charset="0"/>
              </a:rPr>
              <a:t>distribution</a:t>
            </a:r>
            <a:r>
              <a:rPr lang="zh-CN" altLang="en-US" sz="1600" b="1" dirty="0"/>
              <a:t>：</a:t>
            </a:r>
            <a:r>
              <a:rPr lang="zh-CN" altLang="en-US" sz="1600" dirty="0">
                <a:cs typeface="宋体" charset="0"/>
              </a:rPr>
              <a:t>在一定段长的日志中，同一个主维度</a:t>
            </a:r>
            <a:r>
              <a:rPr lang="en-US" altLang="zh-CN" sz="1600" dirty="0">
                <a:cs typeface="宋体" charset="0"/>
              </a:rPr>
              <a:t>(view)</a:t>
            </a:r>
            <a:r>
              <a:rPr lang="zh-CN" altLang="en-US" sz="1600" dirty="0">
                <a:cs typeface="宋体" charset="0"/>
              </a:rPr>
              <a:t>下，每个子维度</a:t>
            </a:r>
            <a:r>
              <a:rPr lang="en-US" altLang="zh-CN" sz="1600" dirty="0">
                <a:cs typeface="宋体" charset="0"/>
              </a:rPr>
              <a:t>(</a:t>
            </a:r>
            <a:r>
              <a:rPr lang="en-US" altLang="zh-CN" sz="1600" dirty="0" err="1">
                <a:cs typeface="宋体" charset="0"/>
              </a:rPr>
              <a:t>data_view</a:t>
            </a:r>
            <a:r>
              <a:rPr lang="en-US" altLang="zh-CN" sz="1600" dirty="0">
                <a:cs typeface="宋体" charset="0"/>
              </a:rPr>
              <a:t>)</a:t>
            </a:r>
            <a:r>
              <a:rPr lang="zh-CN" altLang="en-US" sz="1600" dirty="0">
                <a:cs typeface="宋体" charset="0"/>
              </a:rPr>
              <a:t>值的分布。</a:t>
            </a:r>
            <a:endParaRPr lang="en-US" altLang="zh-CN" sz="1600" dirty="0">
              <a:cs typeface="宋体" charset="0"/>
            </a:endParaRPr>
          </a:p>
          <a:p>
            <a:pPr>
              <a:buClr>
                <a:srgbClr val="0070C0"/>
              </a:buClr>
              <a:buFont typeface="Wingdings" panose="05000000000000000000" pitchFamily="2" charset="2"/>
              <a:buChar char="l"/>
            </a:pPr>
            <a:r>
              <a:rPr lang="zh-CN" altLang="en-US" sz="1600" b="1" dirty="0"/>
              <a:t>参数说明</a:t>
            </a:r>
            <a:r>
              <a:rPr lang="zh-CN" altLang="en-US" sz="1600" dirty="0"/>
              <a:t>：</a:t>
            </a:r>
            <a:endParaRPr lang="en-US" altLang="zh-CN" sz="1600" dirty="0"/>
          </a:p>
          <a:p>
            <a:pPr marL="0" indent="0">
              <a:buClr>
                <a:srgbClr val="0070C0"/>
              </a:buClr>
              <a:buNone/>
            </a:pPr>
            <a:r>
              <a:rPr lang="zh-CN" altLang="en-US" sz="1600" dirty="0">
                <a:cs typeface="宋体" charset="0"/>
              </a:rPr>
              <a:t>    </a:t>
            </a:r>
            <a:r>
              <a:rPr lang="en-US" altLang="zh-CN" sz="1600" dirty="0" err="1">
                <a:cs typeface="宋体" charset="0"/>
              </a:rPr>
              <a:t>count_threshold</a:t>
            </a:r>
            <a:r>
              <a:rPr lang="zh-CN" altLang="en-US" sz="1600" dirty="0">
                <a:cs typeface="宋体" charset="0"/>
              </a:rPr>
              <a:t>：段的累积量超过该参数的值才开始过滤，加上之前的两个标准。</a:t>
            </a:r>
            <a:endParaRPr lang="en-US" altLang="zh-CN" sz="1600" dirty="0">
              <a:cs typeface="宋体" charset="0"/>
            </a:endParaRPr>
          </a:p>
          <a:p>
            <a:pPr marL="0" indent="0">
              <a:buClr>
                <a:srgbClr val="0070C0"/>
              </a:buClr>
              <a:buNone/>
            </a:pPr>
            <a:r>
              <a:rPr lang="zh-CN" altLang="en-US" sz="1600" dirty="0">
                <a:cs typeface="宋体" charset="0"/>
              </a:rPr>
              <a:t>    </a:t>
            </a:r>
            <a:r>
              <a:rPr lang="en-US" altLang="zh-CN" sz="1600" dirty="0" err="1">
                <a:cs typeface="宋体" charset="0"/>
              </a:rPr>
              <a:t>simple_distribution</a:t>
            </a:r>
            <a:r>
              <a:rPr lang="zh-CN" altLang="en-US" sz="1600" dirty="0">
                <a:cs typeface="宋体" charset="0"/>
              </a:rPr>
              <a:t>：决定分布计算公式</a:t>
            </a:r>
            <a:endParaRPr lang="en-US" altLang="zh-CN" sz="1600" dirty="0">
              <a:cs typeface="宋体" charset="0"/>
            </a:endParaRPr>
          </a:p>
          <a:p>
            <a:pPr>
              <a:buClr>
                <a:srgbClr val="0070C0"/>
              </a:buClr>
              <a:buFont typeface="Wingdings" panose="05000000000000000000" pitchFamily="2" charset="2"/>
              <a:buChar char="l"/>
            </a:pPr>
            <a:endParaRPr lang="en-US" altLang="zh-CN" sz="2400" dirty="0"/>
          </a:p>
          <a:p>
            <a:pPr marL="514350" lvl="1" indent="0">
              <a:buClr>
                <a:srgbClr val="0070C0"/>
              </a:buClr>
              <a:buNone/>
            </a:pPr>
            <a:endParaRPr lang="zh-CN" altLang="en-US" sz="2400" dirty="0"/>
          </a:p>
          <a:p>
            <a:pPr>
              <a:buClr>
                <a:srgbClr val="0070C0"/>
              </a:buClr>
              <a:buFont typeface="Wingdings" panose="05000000000000000000" pitchFamily="2" charset="2"/>
              <a:buChar char="l"/>
            </a:pPr>
            <a:endParaRPr lang="en-US" altLang="zh-CN" sz="2400" dirty="0"/>
          </a:p>
        </p:txBody>
      </p:sp>
      <p:sp>
        <p:nvSpPr>
          <p:cNvPr id="4" name="文本框 3"/>
          <p:cNvSpPr txBox="1"/>
          <p:nvPr/>
        </p:nvSpPr>
        <p:spPr>
          <a:xfrm>
            <a:off x="5442857" y="5704114"/>
            <a:ext cx="4136572" cy="1200329"/>
          </a:xfrm>
          <a:prstGeom prst="rect">
            <a:avLst/>
          </a:prstGeom>
          <a:noFill/>
        </p:spPr>
        <p:txBody>
          <a:bodyPr wrap="square" rtlCol="0">
            <a:spAutoFit/>
          </a:bodyPr>
          <a:lstStyle/>
          <a:p>
            <a:r>
              <a:rPr lang="zh-CN" altLang="en-US" dirty="0">
                <a:latin typeface="Times New Roman" panose="02020603050405020304" pitchFamily="18" charset="0"/>
              </a:rPr>
              <a:t>满足处理空间的情况下，每</a:t>
            </a:r>
            <a:r>
              <a:rPr lang="en-US" altLang="zh-CN" dirty="0">
                <a:latin typeface="Times New Roman" panose="02020603050405020304" pitchFamily="18" charset="0"/>
              </a:rPr>
              <a:t>2000</a:t>
            </a:r>
            <a:r>
              <a:rPr lang="zh-CN" altLang="en-US" dirty="0">
                <a:latin typeface="Times New Roman" panose="02020603050405020304" pitchFamily="18" charset="0"/>
              </a:rPr>
              <a:t>万点击日志中，同一</a:t>
            </a:r>
            <a:r>
              <a:rPr lang="en-US" altLang="zh-CN" dirty="0" err="1">
                <a:latin typeface="Times New Roman" panose="02020603050405020304" pitchFamily="18" charset="0"/>
              </a:rPr>
              <a:t>userid</a:t>
            </a:r>
            <a:r>
              <a:rPr lang="zh-CN" altLang="en-US" dirty="0">
                <a:latin typeface="Times New Roman" panose="02020603050405020304" pitchFamily="18" charset="0"/>
              </a:rPr>
              <a:t>下，点展时间差值的分布与基准分布的</a:t>
            </a:r>
            <a:r>
              <a:rPr lang="en-US" altLang="zh-CN" dirty="0" err="1">
                <a:latin typeface="Times New Roman" panose="02020603050405020304" pitchFamily="18" charset="0"/>
              </a:rPr>
              <a:t>max_diff</a:t>
            </a:r>
            <a:r>
              <a:rPr lang="zh-CN" altLang="en-US" dirty="0">
                <a:latin typeface="Times New Roman" panose="02020603050405020304" pitchFamily="18" charset="0"/>
              </a:rPr>
              <a:t>不能超过</a:t>
            </a:r>
            <a:r>
              <a:rPr lang="en-US" altLang="zh-CN" dirty="0">
                <a:latin typeface="Times New Roman" panose="02020603050405020304" pitchFamily="18" charset="0"/>
              </a:rPr>
              <a:t>2</a:t>
            </a:r>
            <a:r>
              <a:rPr lang="zh-CN" altLang="en-US" dirty="0">
                <a:latin typeface="Times New Roman" panose="02020603050405020304" pitchFamily="18" charset="0"/>
              </a:rPr>
              <a:t>。</a:t>
            </a:r>
            <a:endParaRPr lang="en-US" altLang="zh-CN" dirty="0">
              <a:latin typeface="Times New Roman" panose="02020603050405020304" pitchFamily="18" charset="0"/>
            </a:endParaRPr>
          </a:p>
          <a:p>
            <a:endParaRPr kumimoji="1"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2333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分布异常策略</a:t>
            </a:r>
          </a:p>
        </p:txBody>
      </p:sp>
      <p:sp>
        <p:nvSpPr>
          <p:cNvPr id="3" name="文本框 2"/>
          <p:cNvSpPr txBox="1"/>
          <p:nvPr/>
        </p:nvSpPr>
        <p:spPr>
          <a:xfrm>
            <a:off x="1154484" y="1602727"/>
            <a:ext cx="5219700" cy="2416046"/>
          </a:xfrm>
          <a:prstGeom prst="rect">
            <a:avLst/>
          </a:prstGeom>
          <a:noFill/>
        </p:spPr>
        <p:txBody>
          <a:bodyPr wrap="square" rtlCol="0">
            <a:spAutoFit/>
          </a:bodyPr>
          <a:lstStyle/>
          <a:p>
            <a:pPr lvl="0"/>
            <a:r>
              <a:rPr lang="en-GB" altLang="zh-CN" sz="1400" dirty="0"/>
              <a:t>[@policy]</a:t>
            </a:r>
          </a:p>
          <a:p>
            <a:pPr lvl="0"/>
            <a:r>
              <a:rPr lang="en-GB" altLang="zh-CN" sz="1400" dirty="0" err="1"/>
              <a:t>policy_type</a:t>
            </a:r>
            <a:r>
              <a:rPr lang="en-GB" altLang="zh-CN" sz="1400" dirty="0"/>
              <a:t> : rule</a:t>
            </a:r>
          </a:p>
          <a:p>
            <a:pPr lvl="0"/>
            <a:r>
              <a:rPr lang="en-GB" altLang="zh-CN" sz="1400" dirty="0" err="1"/>
              <a:t>policy_id</a:t>
            </a:r>
            <a:r>
              <a:rPr lang="en-GB" altLang="zh-CN" sz="1400" dirty="0"/>
              <a:t> : 51407</a:t>
            </a:r>
          </a:p>
          <a:p>
            <a:pPr lvl="0"/>
            <a:r>
              <a:rPr lang="en-GB" altLang="zh-CN" sz="1400" dirty="0"/>
              <a:t>[.@rule]</a:t>
            </a:r>
          </a:p>
          <a:p>
            <a:pPr lvl="0"/>
            <a:r>
              <a:rPr lang="en-GB" altLang="zh-CN" sz="1400" dirty="0"/>
              <a:t>threshold : 0.67</a:t>
            </a:r>
          </a:p>
          <a:p>
            <a:pPr lvl="0"/>
            <a:r>
              <a:rPr lang="en-GB" altLang="zh-CN" sz="1400" dirty="0" err="1"/>
              <a:t>feature_id</a:t>
            </a:r>
            <a:r>
              <a:rPr lang="en-GB" altLang="zh-CN" sz="1400" dirty="0"/>
              <a:t> : 51407</a:t>
            </a:r>
          </a:p>
          <a:p>
            <a:pPr lvl="0"/>
            <a:r>
              <a:rPr lang="en-GB" altLang="zh-CN" sz="1400" dirty="0" err="1">
                <a:solidFill>
                  <a:srgbClr val="C00000"/>
                </a:solidFill>
              </a:rPr>
              <a:t>rule_type</a:t>
            </a:r>
            <a:r>
              <a:rPr lang="en-GB" altLang="zh-CN" sz="1400" dirty="0">
                <a:solidFill>
                  <a:srgbClr val="C00000"/>
                </a:solidFill>
              </a:rPr>
              <a:t> : </a:t>
            </a:r>
            <a:r>
              <a:rPr lang="en-GB" altLang="zh-CN" sz="1400" dirty="0" err="1">
                <a:solidFill>
                  <a:srgbClr val="C00000"/>
                </a:solidFill>
              </a:rPr>
              <a:t>count_distribution</a:t>
            </a:r>
            <a:endParaRPr lang="en-GB" altLang="zh-CN" sz="1400" dirty="0">
              <a:solidFill>
                <a:srgbClr val="C00000"/>
              </a:solidFill>
            </a:endParaRPr>
          </a:p>
          <a:p>
            <a:pPr lvl="0"/>
            <a:r>
              <a:rPr lang="en-GB" altLang="zh-CN" sz="1400" dirty="0" err="1">
                <a:solidFill>
                  <a:srgbClr val="C00000"/>
                </a:solidFill>
              </a:rPr>
              <a:t>func_type</a:t>
            </a:r>
            <a:r>
              <a:rPr lang="en-GB" altLang="zh-CN" sz="1400" dirty="0">
                <a:solidFill>
                  <a:srgbClr val="C00000"/>
                </a:solidFill>
              </a:rPr>
              <a:t> : </a:t>
            </a:r>
            <a:r>
              <a:rPr lang="en-GB" altLang="zh-CN" sz="1400" dirty="0" err="1">
                <a:solidFill>
                  <a:srgbClr val="C00000"/>
                </a:solidFill>
              </a:rPr>
              <a:t>max_diff</a:t>
            </a:r>
            <a:endParaRPr lang="en-GB" altLang="zh-CN" sz="1400" dirty="0">
              <a:solidFill>
                <a:srgbClr val="C00000"/>
              </a:solidFill>
            </a:endParaRPr>
          </a:p>
          <a:p>
            <a:pPr lvl="0"/>
            <a:r>
              <a:rPr lang="en-GB" altLang="zh-CN" sz="1400" dirty="0" err="1">
                <a:solidFill>
                  <a:srgbClr val="C00000"/>
                </a:solidFill>
              </a:rPr>
              <a:t>count_threshold</a:t>
            </a:r>
            <a:r>
              <a:rPr lang="en-GB" altLang="zh-CN" sz="1400" dirty="0">
                <a:solidFill>
                  <a:srgbClr val="C00000"/>
                </a:solidFill>
              </a:rPr>
              <a:t> : 15</a:t>
            </a:r>
          </a:p>
          <a:p>
            <a:pPr lvl="0"/>
            <a:r>
              <a:rPr lang="en-GB" altLang="zh-CN" sz="1400" dirty="0" err="1">
                <a:solidFill>
                  <a:srgbClr val="C00000"/>
                </a:solidFill>
              </a:rPr>
              <a:t>stand_prob</a:t>
            </a:r>
            <a:r>
              <a:rPr lang="en-GB" altLang="zh-CN" sz="1400" dirty="0">
                <a:solidFill>
                  <a:srgbClr val="C00000"/>
                </a:solidFill>
              </a:rPr>
              <a:t> : 0.74,0.26</a:t>
            </a:r>
          </a:p>
          <a:p>
            <a:endParaRPr kumimoji="1" lang="zh-CN" altLang="en-US" sz="1100" dirty="0"/>
          </a:p>
        </p:txBody>
      </p:sp>
      <p:sp>
        <p:nvSpPr>
          <p:cNvPr id="11" name="矩形 10"/>
          <p:cNvSpPr/>
          <p:nvPr/>
        </p:nvSpPr>
        <p:spPr>
          <a:xfrm>
            <a:off x="5638325" y="1443841"/>
            <a:ext cx="6091039" cy="3539430"/>
          </a:xfrm>
          <a:prstGeom prst="rect">
            <a:avLst/>
          </a:prstGeom>
          <a:solidFill>
            <a:schemeClr val="bg1">
              <a:lumMod val="95000"/>
              <a:alpha val="0"/>
            </a:schemeClr>
          </a:solidFill>
          <a:ln>
            <a:noFill/>
          </a:ln>
        </p:spPr>
        <p:txBody>
          <a:bodyPr wrap="square" rtlCol="0">
            <a:spAutoFit/>
          </a:bodyPr>
          <a:lstStyle/>
          <a:p>
            <a:r>
              <a:rPr lang="en-GB" altLang="zh-CN" sz="1400" dirty="0"/>
              <a:t>[@feature]</a:t>
            </a:r>
          </a:p>
          <a:p>
            <a:r>
              <a:rPr lang="en-GB" altLang="zh-CN" sz="1400" dirty="0" err="1"/>
              <a:t>feature_id</a:t>
            </a:r>
            <a:r>
              <a:rPr lang="en-GB" altLang="zh-CN" sz="1400" dirty="0"/>
              <a:t> : 51407</a:t>
            </a:r>
          </a:p>
          <a:p>
            <a:r>
              <a:rPr lang="en-GB" altLang="zh-CN" sz="1400" dirty="0" err="1"/>
              <a:t>view_level</a:t>
            </a:r>
            <a:r>
              <a:rPr lang="en-GB" altLang="zh-CN" sz="1400" dirty="0"/>
              <a:t> : </a:t>
            </a:r>
            <a:r>
              <a:rPr lang="en-GB" altLang="zh-CN" sz="1400" dirty="0" err="1"/>
              <a:t>click_level</a:t>
            </a:r>
            <a:endParaRPr lang="en-GB" altLang="zh-CN" sz="1400" dirty="0"/>
          </a:p>
          <a:p>
            <a:r>
              <a:rPr lang="en-GB" altLang="zh-CN" sz="1400" dirty="0" err="1"/>
              <a:t>feature_type</a:t>
            </a:r>
            <a:r>
              <a:rPr lang="en-GB" altLang="zh-CN" sz="1400" dirty="0"/>
              <a:t> : </a:t>
            </a:r>
            <a:r>
              <a:rPr lang="en-GB" altLang="zh-CN" sz="1400" dirty="0" err="1"/>
              <a:t>count_distribution</a:t>
            </a:r>
            <a:endParaRPr lang="en-GB" altLang="zh-CN" sz="1400" dirty="0"/>
          </a:p>
          <a:p>
            <a:r>
              <a:rPr lang="en-GB" altLang="zh-CN" sz="1400" dirty="0" err="1">
                <a:solidFill>
                  <a:srgbClr val="C00000"/>
                </a:solidFill>
              </a:rPr>
              <a:t>stand_prob</a:t>
            </a:r>
            <a:r>
              <a:rPr lang="en-GB" altLang="zh-CN" sz="1400" dirty="0">
                <a:solidFill>
                  <a:srgbClr val="C00000"/>
                </a:solidFill>
              </a:rPr>
              <a:t> : 0.74,0.26</a:t>
            </a:r>
          </a:p>
          <a:p>
            <a:r>
              <a:rPr lang="en-GB" altLang="zh-CN" sz="1400" dirty="0" err="1">
                <a:solidFill>
                  <a:srgbClr val="C00000"/>
                </a:solidFill>
              </a:rPr>
              <a:t>count_threshold</a:t>
            </a:r>
            <a:r>
              <a:rPr lang="en-GB" altLang="zh-CN" sz="1400" dirty="0">
                <a:solidFill>
                  <a:srgbClr val="C00000"/>
                </a:solidFill>
              </a:rPr>
              <a:t> : 15</a:t>
            </a:r>
          </a:p>
          <a:p>
            <a:r>
              <a:rPr lang="en-GB" altLang="zh-CN" sz="1400" dirty="0" err="1">
                <a:solidFill>
                  <a:srgbClr val="C00000"/>
                </a:solidFill>
              </a:rPr>
              <a:t>func_type</a:t>
            </a:r>
            <a:r>
              <a:rPr lang="en-GB" altLang="zh-CN" sz="1400" dirty="0">
                <a:solidFill>
                  <a:srgbClr val="C00000"/>
                </a:solidFill>
              </a:rPr>
              <a:t> : </a:t>
            </a:r>
            <a:r>
              <a:rPr lang="en-GB" altLang="zh-CN" sz="1400" dirty="0" err="1">
                <a:solidFill>
                  <a:srgbClr val="C00000"/>
                </a:solidFill>
              </a:rPr>
              <a:t>max_diff</a:t>
            </a:r>
            <a:endParaRPr lang="en-GB" altLang="zh-CN" sz="1400" dirty="0">
              <a:solidFill>
                <a:srgbClr val="C00000"/>
              </a:solidFill>
            </a:endParaRPr>
          </a:p>
          <a:p>
            <a:r>
              <a:rPr lang="en-GB" altLang="zh-CN" sz="1400" dirty="0" err="1">
                <a:solidFill>
                  <a:srgbClr val="C00000"/>
                </a:solidFill>
              </a:rPr>
              <a:t>interval_endpoints</a:t>
            </a:r>
            <a:r>
              <a:rPr lang="en-GB" altLang="zh-CN" sz="1400" dirty="0">
                <a:solidFill>
                  <a:srgbClr val="C00000"/>
                </a:solidFill>
              </a:rPr>
              <a:t> : 3</a:t>
            </a:r>
          </a:p>
          <a:p>
            <a:r>
              <a:rPr lang="en-GB" altLang="zh-CN" sz="1400" dirty="0"/>
              <a:t>care : (['</a:t>
            </a:r>
            <a:r>
              <a:rPr lang="en-GB" altLang="zh-CN" sz="1400" dirty="0" err="1"/>
              <a:t>accessid</a:t>
            </a:r>
            <a:r>
              <a:rPr lang="en-GB" altLang="zh-CN" sz="1400" dirty="0"/>
              <a:t>':='7','41']||['</a:t>
            </a:r>
            <a:r>
              <a:rPr lang="en-GB" altLang="zh-CN" sz="1400" dirty="0" err="1"/>
              <a:t>accessid</a:t>
            </a:r>
            <a:r>
              <a:rPr lang="en-GB" altLang="zh-CN" sz="1400" dirty="0"/>
              <a:t>':='30']['</a:t>
            </a:r>
            <a:r>
              <a:rPr lang="en-GB" altLang="zh-CN" sz="1400" dirty="0" err="1"/>
              <a:t>cmatch'IN'feed_external_cmatch</a:t>
            </a:r>
            <a:r>
              <a:rPr lang="en-GB" altLang="zh-CN" sz="1400" dirty="0"/>
              <a:t>'])&amp;&amp;['</a:t>
            </a:r>
            <a:r>
              <a:rPr lang="en-GB" altLang="zh-CN" sz="1400" dirty="0" err="1"/>
              <a:t>baiduid'VA</a:t>
            </a:r>
            <a:r>
              <a:rPr lang="en-GB" altLang="zh-CN" sz="1400" dirty="0"/>
              <a:t>]['</a:t>
            </a:r>
            <a:r>
              <a:rPr lang="en-GB" altLang="zh-CN" sz="1400" dirty="0" err="1"/>
              <a:t>nttp</a:t>
            </a:r>
            <a:r>
              <a:rPr lang="en-GB" altLang="zh-CN" sz="1400" dirty="0"/>
              <a:t>':='2','3']</a:t>
            </a:r>
          </a:p>
          <a:p>
            <a:r>
              <a:rPr lang="en-GB" altLang="zh-CN" sz="1400" dirty="0"/>
              <a:t>view : </a:t>
            </a:r>
            <a:r>
              <a:rPr lang="en-GB" altLang="zh-CN" sz="1400" dirty="0" err="1"/>
              <a:t>cntname</a:t>
            </a:r>
            <a:endParaRPr lang="en-GB" altLang="zh-CN" sz="1400" dirty="0"/>
          </a:p>
          <a:p>
            <a:r>
              <a:rPr lang="en-GB" altLang="zh-CN" sz="1400" dirty="0" err="1"/>
              <a:t>data_view</a:t>
            </a:r>
            <a:r>
              <a:rPr lang="en-GB" altLang="zh-CN" sz="1400" dirty="0"/>
              <a:t> : </a:t>
            </a:r>
            <a:r>
              <a:rPr lang="en-GB" altLang="zh-CN" sz="1400" dirty="0" err="1"/>
              <a:t>baiduid,useragent</a:t>
            </a:r>
            <a:endParaRPr lang="en-GB" altLang="zh-CN" sz="1400" dirty="0"/>
          </a:p>
          <a:p>
            <a:r>
              <a:rPr lang="en-GB" altLang="zh-CN" sz="1400" dirty="0" err="1"/>
              <a:t>window_type</a:t>
            </a:r>
            <a:r>
              <a:rPr lang="en-GB" altLang="zh-CN" sz="1400" dirty="0"/>
              <a:t> : time</a:t>
            </a:r>
          </a:p>
          <a:p>
            <a:r>
              <a:rPr lang="en-GB" altLang="zh-CN" sz="1400" dirty="0"/>
              <a:t>version : 1</a:t>
            </a:r>
          </a:p>
          <a:p>
            <a:r>
              <a:rPr lang="en-GB" altLang="zh-CN" sz="1400" dirty="0" err="1"/>
              <a:t>window_length</a:t>
            </a:r>
            <a:r>
              <a:rPr lang="en-GB" altLang="zh-CN" sz="1400" dirty="0"/>
              <a:t> : 86400</a:t>
            </a:r>
            <a:endParaRPr lang="zh-CN" altLang="en-US" sz="1400" dirty="0"/>
          </a:p>
        </p:txBody>
      </p:sp>
      <p:sp>
        <p:nvSpPr>
          <p:cNvPr id="13" name="内容占位符 2"/>
          <p:cNvSpPr>
            <a:spLocks noGrp="1"/>
          </p:cNvSpPr>
          <p:nvPr>
            <p:ph idx="1"/>
          </p:nvPr>
        </p:nvSpPr>
        <p:spPr>
          <a:xfrm>
            <a:off x="1074496" y="3865987"/>
            <a:ext cx="3894518" cy="3096344"/>
          </a:xfrm>
          <a:solidFill>
            <a:schemeClr val="bg1">
              <a:alpha val="0"/>
            </a:schemeClr>
          </a:solidFill>
        </p:spPr>
        <p:txBody>
          <a:bodyPr/>
          <a:lstStyle/>
          <a:p>
            <a:pPr>
              <a:buClr>
                <a:srgbClr val="0070C0"/>
              </a:buClr>
              <a:buFont typeface="Wingdings" panose="05000000000000000000" pitchFamily="2" charset="2"/>
              <a:buChar char="l"/>
            </a:pPr>
            <a:r>
              <a:rPr lang="zh-CN" altLang="en-US" sz="1600" b="1" dirty="0">
                <a:cs typeface="宋体" charset="0"/>
              </a:rPr>
              <a:t>数目分布特征 </a:t>
            </a:r>
            <a:r>
              <a:rPr lang="en-GB" altLang="zh-CN" sz="1600" b="1" dirty="0">
                <a:cs typeface="宋体" charset="0"/>
              </a:rPr>
              <a:t>distribution</a:t>
            </a:r>
            <a:r>
              <a:rPr lang="zh-CN" altLang="en-US" sz="1600" b="1" dirty="0"/>
              <a:t>：</a:t>
            </a:r>
            <a:r>
              <a:rPr lang="zh-CN" altLang="en-US" sz="1600" dirty="0">
                <a:cs typeface="宋体" charset="0"/>
              </a:rPr>
              <a:t>在一定段长的日志中，同一个主维度</a:t>
            </a:r>
            <a:r>
              <a:rPr lang="en-US" altLang="zh-CN" sz="1600" dirty="0">
                <a:cs typeface="宋体" charset="0"/>
              </a:rPr>
              <a:t>(view)</a:t>
            </a:r>
            <a:r>
              <a:rPr lang="zh-CN" altLang="en-US" sz="1600" dirty="0">
                <a:cs typeface="宋体" charset="0"/>
              </a:rPr>
              <a:t>下，每个子维度</a:t>
            </a:r>
            <a:r>
              <a:rPr lang="en-US" altLang="zh-CN" sz="1600" dirty="0">
                <a:cs typeface="宋体" charset="0"/>
              </a:rPr>
              <a:t>(</a:t>
            </a:r>
            <a:r>
              <a:rPr lang="en-US" altLang="zh-CN" sz="1600" dirty="0" err="1">
                <a:cs typeface="宋体" charset="0"/>
              </a:rPr>
              <a:t>data_view</a:t>
            </a:r>
            <a:r>
              <a:rPr lang="en-US" altLang="zh-CN" sz="1600" dirty="0">
                <a:cs typeface="宋体" charset="0"/>
              </a:rPr>
              <a:t>)</a:t>
            </a:r>
            <a:r>
              <a:rPr lang="zh-CN" altLang="en-US" sz="1600" dirty="0">
                <a:cs typeface="宋体" charset="0"/>
              </a:rPr>
              <a:t>频次的分布。</a:t>
            </a:r>
            <a:endParaRPr lang="en-US" altLang="zh-CN" sz="1600" dirty="0">
              <a:cs typeface="宋体" charset="0"/>
            </a:endParaRPr>
          </a:p>
          <a:p>
            <a:pPr>
              <a:buClr>
                <a:srgbClr val="0070C0"/>
              </a:buClr>
              <a:buFont typeface="Wingdings" panose="05000000000000000000" pitchFamily="2" charset="2"/>
              <a:buChar char="l"/>
            </a:pPr>
            <a:r>
              <a:rPr lang="zh-CN" altLang="en-US" sz="1600" b="1" dirty="0"/>
              <a:t>参数说明</a:t>
            </a:r>
            <a:r>
              <a:rPr lang="zh-CN" altLang="en-US" sz="1600" dirty="0"/>
              <a:t>：</a:t>
            </a:r>
            <a:endParaRPr lang="en-US" altLang="zh-CN" sz="1600" dirty="0"/>
          </a:p>
          <a:p>
            <a:pPr marL="0" indent="0">
              <a:buClr>
                <a:srgbClr val="0070C0"/>
              </a:buClr>
              <a:buNone/>
            </a:pPr>
            <a:r>
              <a:rPr lang="en-GB" altLang="zh-CN" sz="1600" dirty="0" err="1">
                <a:cs typeface="宋体" charset="0"/>
              </a:rPr>
              <a:t>func_type</a:t>
            </a:r>
            <a:r>
              <a:rPr lang="en-GB" altLang="zh-CN" sz="1600" dirty="0">
                <a:cs typeface="宋体" charset="0"/>
              </a:rPr>
              <a:t>:</a:t>
            </a:r>
            <a:r>
              <a:rPr lang="zh-CN" altLang="en-US" sz="1600" dirty="0">
                <a:cs typeface="宋体" charset="0"/>
              </a:rPr>
              <a:t>计算分布距离的函数</a:t>
            </a:r>
            <a:r>
              <a:rPr lang="en-GB" altLang="zh-CN" sz="1600" dirty="0" err="1">
                <a:cs typeface="宋体" charset="0"/>
              </a:rPr>
              <a:t>count_threshold</a:t>
            </a:r>
            <a:r>
              <a:rPr lang="zh-CN" altLang="en-GB" sz="1600" dirty="0">
                <a:cs typeface="宋体" charset="0"/>
              </a:rPr>
              <a:t>：</a:t>
            </a:r>
            <a:r>
              <a:rPr lang="zh-CN" altLang="en-US" sz="1600" dirty="0">
                <a:cs typeface="宋体" charset="0"/>
              </a:rPr>
              <a:t>段的累积量小于该参数的值不过滤。</a:t>
            </a:r>
          </a:p>
          <a:p>
            <a:pPr marL="0" indent="0">
              <a:buClr>
                <a:srgbClr val="0070C0"/>
              </a:buClr>
              <a:buNone/>
            </a:pPr>
            <a:r>
              <a:rPr lang="en-GB" altLang="zh-CN" sz="1600" dirty="0" err="1">
                <a:cs typeface="宋体" charset="0"/>
              </a:rPr>
              <a:t>stand_prob</a:t>
            </a:r>
            <a:r>
              <a:rPr lang="en-GB" altLang="zh-CN" sz="1600" dirty="0">
                <a:cs typeface="宋体" charset="0"/>
              </a:rPr>
              <a:t>:</a:t>
            </a:r>
            <a:r>
              <a:rPr lang="zh-CN" altLang="en-US" sz="1600" dirty="0">
                <a:cs typeface="宋体" charset="0"/>
              </a:rPr>
              <a:t>标准桶分布 每个桶不为空，且桶值大于等于</a:t>
            </a:r>
            <a:r>
              <a:rPr lang="en-US" altLang="zh-CN" sz="1600" dirty="0">
                <a:cs typeface="宋体" charset="0"/>
              </a:rPr>
              <a:t>0</a:t>
            </a:r>
          </a:p>
          <a:p>
            <a:pPr marL="0" indent="0">
              <a:buClr>
                <a:srgbClr val="0070C0"/>
              </a:buClr>
              <a:buNone/>
            </a:pPr>
            <a:r>
              <a:rPr lang="en-GB" altLang="zh-CN" sz="1600" dirty="0" err="1">
                <a:cs typeface="宋体" charset="0"/>
              </a:rPr>
              <a:t>interval_endpoints</a:t>
            </a:r>
            <a:r>
              <a:rPr lang="en-GB" altLang="zh-CN" sz="1600" dirty="0">
                <a:cs typeface="宋体" charset="0"/>
              </a:rPr>
              <a:t>:</a:t>
            </a:r>
            <a:r>
              <a:rPr lang="zh-CN" altLang="en-US" sz="1600" dirty="0">
                <a:cs typeface="宋体" charset="0"/>
              </a:rPr>
              <a:t>分桶边界值，左开右闭。</a:t>
            </a:r>
          </a:p>
          <a:p>
            <a:pPr>
              <a:buClr>
                <a:srgbClr val="0070C0"/>
              </a:buClr>
              <a:buFont typeface="Wingdings" panose="05000000000000000000" pitchFamily="2" charset="2"/>
              <a:buChar char="l"/>
            </a:pPr>
            <a:endParaRPr lang="en-US" altLang="zh-CN" sz="2400" dirty="0"/>
          </a:p>
          <a:p>
            <a:pPr marL="514350" lvl="1" indent="0">
              <a:buClr>
                <a:srgbClr val="0070C0"/>
              </a:buClr>
              <a:buNone/>
            </a:pPr>
            <a:endParaRPr lang="zh-CN" altLang="en-US" sz="2400" dirty="0"/>
          </a:p>
          <a:p>
            <a:pPr>
              <a:buClr>
                <a:srgbClr val="0070C0"/>
              </a:buClr>
              <a:buFont typeface="Wingdings" panose="05000000000000000000" pitchFamily="2" charset="2"/>
              <a:buChar char="l"/>
            </a:pPr>
            <a:endParaRPr lang="en-US" altLang="zh-CN" sz="2400" dirty="0"/>
          </a:p>
        </p:txBody>
      </p:sp>
      <p:sp>
        <p:nvSpPr>
          <p:cNvPr id="4" name="文本框 3"/>
          <p:cNvSpPr txBox="1"/>
          <p:nvPr/>
        </p:nvSpPr>
        <p:spPr>
          <a:xfrm>
            <a:off x="5431274" y="5252383"/>
            <a:ext cx="3984172" cy="923330"/>
          </a:xfrm>
          <a:prstGeom prst="rect">
            <a:avLst/>
          </a:prstGeom>
          <a:noFill/>
        </p:spPr>
        <p:txBody>
          <a:bodyPr wrap="square" rtlCol="0">
            <a:spAutoFit/>
          </a:bodyPr>
          <a:lstStyle/>
          <a:p>
            <a:r>
              <a:rPr lang="zh-CN" altLang="en-US" dirty="0">
                <a:latin typeface="Times New Roman" panose="02020603050405020304" pitchFamily="18" charset="0"/>
              </a:rPr>
              <a:t>满足处理空间的条件下，每天同一计费名下，</a:t>
            </a:r>
            <a:r>
              <a:rPr lang="en-US" altLang="zh-CN" dirty="0">
                <a:latin typeface="Times New Roman" panose="02020603050405020304" pitchFamily="18" charset="0"/>
              </a:rPr>
              <a:t>(</a:t>
            </a:r>
            <a:r>
              <a:rPr lang="en-US" altLang="zh-CN" dirty="0" err="1">
                <a:latin typeface="Times New Roman" panose="02020603050405020304" pitchFamily="18" charset="0"/>
              </a:rPr>
              <a:t>baiduid</a:t>
            </a:r>
            <a:r>
              <a:rPr lang="en-US" altLang="zh-CN" dirty="0">
                <a:latin typeface="Times New Roman" panose="02020603050405020304" pitchFamily="18" charset="0"/>
              </a:rPr>
              <a:t>, </a:t>
            </a:r>
            <a:r>
              <a:rPr lang="en-US" altLang="zh-CN" dirty="0" err="1">
                <a:latin typeface="Times New Roman" panose="02020603050405020304" pitchFamily="18" charset="0"/>
              </a:rPr>
              <a:t>useragent</a:t>
            </a:r>
            <a:r>
              <a:rPr lang="en-US" altLang="zh-CN" dirty="0">
                <a:latin typeface="Times New Roman" panose="02020603050405020304" pitchFamily="18" charset="0"/>
              </a:rPr>
              <a:t>)</a:t>
            </a:r>
            <a:r>
              <a:rPr lang="zh-CN" altLang="en-US" dirty="0">
                <a:latin typeface="Times New Roman" panose="02020603050405020304" pitchFamily="18" charset="0"/>
              </a:rPr>
              <a:t>的频次分布和基准分布的</a:t>
            </a:r>
            <a:r>
              <a:rPr lang="en-US" altLang="zh-CN" dirty="0" err="1">
                <a:latin typeface="Times New Roman" panose="02020603050405020304" pitchFamily="18" charset="0"/>
              </a:rPr>
              <a:t>max_diff</a:t>
            </a:r>
            <a:r>
              <a:rPr lang="zh-CN" altLang="en-US" dirty="0">
                <a:latin typeface="Times New Roman" panose="02020603050405020304" pitchFamily="18" charset="0"/>
              </a:rPr>
              <a:t>不能超过</a:t>
            </a:r>
            <a:r>
              <a:rPr lang="en-US" altLang="zh-CN" dirty="0">
                <a:latin typeface="Times New Roman" panose="02020603050405020304" pitchFamily="18" charset="0"/>
              </a:rPr>
              <a:t>0.67</a:t>
            </a:r>
            <a:r>
              <a:rPr lang="zh-CN" altLang="en-US" dirty="0">
                <a:latin typeface="Times New Roman" panose="02020603050405020304" pitchFamily="18" charset="0"/>
              </a:rPr>
              <a:t>。</a:t>
            </a:r>
            <a:endParaRPr kumimoji="1"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233395"/>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分布异常策略</a:t>
            </a:r>
          </a:p>
        </p:txBody>
      </p:sp>
      <p:sp>
        <p:nvSpPr>
          <p:cNvPr id="3" name="文本框 2"/>
          <p:cNvSpPr txBox="1"/>
          <p:nvPr/>
        </p:nvSpPr>
        <p:spPr>
          <a:xfrm>
            <a:off x="1154484" y="1602727"/>
            <a:ext cx="5219700" cy="2631490"/>
          </a:xfrm>
          <a:prstGeom prst="rect">
            <a:avLst/>
          </a:prstGeom>
          <a:noFill/>
        </p:spPr>
        <p:txBody>
          <a:bodyPr wrap="square" rtlCol="0">
            <a:spAutoFit/>
          </a:bodyPr>
          <a:lstStyle/>
          <a:p>
            <a:pPr lvl="0"/>
            <a:r>
              <a:rPr lang="en-GB" altLang="zh-CN" sz="1400" dirty="0"/>
              <a:t>[@policy]</a:t>
            </a:r>
          </a:p>
          <a:p>
            <a:pPr lvl="0"/>
            <a:r>
              <a:rPr lang="en-GB" altLang="zh-CN" sz="1400" dirty="0" err="1"/>
              <a:t>policy_type</a:t>
            </a:r>
            <a:r>
              <a:rPr lang="en-GB" altLang="zh-CN" sz="1400" dirty="0"/>
              <a:t> : rule</a:t>
            </a:r>
          </a:p>
          <a:p>
            <a:pPr lvl="0"/>
            <a:r>
              <a:rPr lang="en-GB" altLang="zh-CN" sz="1400" dirty="0" err="1"/>
              <a:t>policy_id</a:t>
            </a:r>
            <a:r>
              <a:rPr lang="en-GB" altLang="zh-CN" sz="1400" dirty="0"/>
              <a:t> : 51001</a:t>
            </a:r>
          </a:p>
          <a:p>
            <a:pPr lvl="0"/>
            <a:r>
              <a:rPr lang="en-GB" altLang="zh-CN" sz="1400" dirty="0"/>
              <a:t>[.@rule]</a:t>
            </a:r>
          </a:p>
          <a:p>
            <a:pPr lvl="0"/>
            <a:r>
              <a:rPr lang="en-GB" altLang="zh-CN" sz="1400" dirty="0"/>
              <a:t>threshold : 2</a:t>
            </a:r>
          </a:p>
          <a:p>
            <a:pPr lvl="0"/>
            <a:r>
              <a:rPr lang="en-GB" altLang="zh-CN" sz="1400" dirty="0" err="1"/>
              <a:t>feature_id</a:t>
            </a:r>
            <a:r>
              <a:rPr lang="en-GB" altLang="zh-CN" sz="1400" dirty="0"/>
              <a:t> : 51001</a:t>
            </a:r>
          </a:p>
          <a:p>
            <a:pPr lvl="0"/>
            <a:r>
              <a:rPr lang="en-GB" altLang="zh-CN" sz="1400" dirty="0" err="1"/>
              <a:t>simple_distribution</a:t>
            </a:r>
            <a:r>
              <a:rPr lang="en-GB" altLang="zh-CN" sz="1400" dirty="0"/>
              <a:t> : 1</a:t>
            </a:r>
          </a:p>
          <a:p>
            <a:pPr lvl="0"/>
            <a:r>
              <a:rPr lang="en-GB" altLang="zh-CN" sz="1400" dirty="0" err="1">
                <a:solidFill>
                  <a:schemeClr val="tx1"/>
                </a:solidFill>
              </a:rPr>
              <a:t>rule_type</a:t>
            </a:r>
            <a:r>
              <a:rPr lang="en-GB" altLang="zh-CN" sz="1400" dirty="0">
                <a:solidFill>
                  <a:schemeClr val="tx1"/>
                </a:solidFill>
              </a:rPr>
              <a:t> : distribution</a:t>
            </a:r>
          </a:p>
          <a:p>
            <a:pPr lvl="0"/>
            <a:r>
              <a:rPr lang="en-GB" altLang="zh-CN" sz="1400" dirty="0" err="1">
                <a:solidFill>
                  <a:srgbClr val="C00000"/>
                </a:solidFill>
              </a:rPr>
              <a:t>func_type</a:t>
            </a:r>
            <a:r>
              <a:rPr lang="en-GB" altLang="zh-CN" sz="1400" dirty="0">
                <a:solidFill>
                  <a:srgbClr val="C00000"/>
                </a:solidFill>
              </a:rPr>
              <a:t> : </a:t>
            </a:r>
            <a:r>
              <a:rPr lang="en-GB" altLang="zh-CN" sz="1400" dirty="0" err="1">
                <a:solidFill>
                  <a:srgbClr val="C00000"/>
                </a:solidFill>
              </a:rPr>
              <a:t>max_diff</a:t>
            </a:r>
            <a:endParaRPr lang="en-GB" altLang="zh-CN" sz="1400" dirty="0">
              <a:solidFill>
                <a:srgbClr val="C00000"/>
              </a:solidFill>
            </a:endParaRPr>
          </a:p>
          <a:p>
            <a:pPr lvl="0"/>
            <a:r>
              <a:rPr lang="en-GB" altLang="zh-CN" sz="1400" dirty="0" err="1"/>
              <a:t>count_threshold</a:t>
            </a:r>
            <a:r>
              <a:rPr lang="en-GB" altLang="zh-CN" sz="1400" dirty="0"/>
              <a:t> : 10</a:t>
            </a:r>
          </a:p>
          <a:p>
            <a:pPr lvl="0"/>
            <a:r>
              <a:rPr lang="en-GB" altLang="zh-CN" sz="1400" dirty="0" err="1"/>
              <a:t>stand_prob</a:t>
            </a:r>
            <a:r>
              <a:rPr lang="en-GB" altLang="zh-CN" sz="1400" dirty="0"/>
              <a:t> : 0.93,0.07</a:t>
            </a:r>
          </a:p>
          <a:p>
            <a:endParaRPr kumimoji="1" lang="zh-CN" altLang="en-US" sz="1100" dirty="0"/>
          </a:p>
        </p:txBody>
      </p:sp>
      <p:sp>
        <p:nvSpPr>
          <p:cNvPr id="11" name="矩形 10"/>
          <p:cNvSpPr/>
          <p:nvPr/>
        </p:nvSpPr>
        <p:spPr>
          <a:xfrm>
            <a:off x="5638325" y="1443841"/>
            <a:ext cx="6091039" cy="3970318"/>
          </a:xfrm>
          <a:prstGeom prst="rect">
            <a:avLst/>
          </a:prstGeom>
          <a:solidFill>
            <a:schemeClr val="bg1">
              <a:lumMod val="95000"/>
              <a:alpha val="0"/>
            </a:schemeClr>
          </a:solidFill>
          <a:ln>
            <a:noFill/>
          </a:ln>
        </p:spPr>
        <p:txBody>
          <a:bodyPr wrap="square" rtlCol="0">
            <a:spAutoFit/>
          </a:bodyPr>
          <a:lstStyle/>
          <a:p>
            <a:pPr lvl="0"/>
            <a:r>
              <a:rPr lang="en-GB" altLang="zh-CN" sz="1400" dirty="0"/>
              <a:t>[@feature]</a:t>
            </a:r>
          </a:p>
          <a:p>
            <a:pPr lvl="0"/>
            <a:r>
              <a:rPr lang="en-GB" altLang="zh-CN" sz="1400" dirty="0" err="1"/>
              <a:t>feature_id</a:t>
            </a:r>
            <a:r>
              <a:rPr lang="en-GB" altLang="zh-CN" sz="1400" dirty="0"/>
              <a:t> : 51001</a:t>
            </a:r>
          </a:p>
          <a:p>
            <a:pPr lvl="0"/>
            <a:r>
              <a:rPr lang="en-GB" altLang="zh-CN" sz="1400" dirty="0" err="1"/>
              <a:t>view_level</a:t>
            </a:r>
            <a:r>
              <a:rPr lang="en-GB" altLang="zh-CN" sz="1400" dirty="0"/>
              <a:t> : </a:t>
            </a:r>
            <a:r>
              <a:rPr lang="en-GB" altLang="zh-CN" sz="1400" dirty="0" err="1"/>
              <a:t>click_level</a:t>
            </a:r>
            <a:endParaRPr lang="en-GB" altLang="zh-CN" sz="1400" dirty="0"/>
          </a:p>
          <a:p>
            <a:pPr lvl="0"/>
            <a:r>
              <a:rPr lang="en-GB" altLang="zh-CN" sz="1400" dirty="0" err="1">
                <a:solidFill>
                  <a:srgbClr val="C00000"/>
                </a:solidFill>
              </a:rPr>
              <a:t>feature_type</a:t>
            </a:r>
            <a:r>
              <a:rPr lang="en-GB" altLang="zh-CN" sz="1400" dirty="0">
                <a:solidFill>
                  <a:srgbClr val="C00000"/>
                </a:solidFill>
              </a:rPr>
              <a:t> : </a:t>
            </a:r>
            <a:r>
              <a:rPr lang="en-GB" altLang="zh-CN" sz="1400" dirty="0" err="1">
                <a:solidFill>
                  <a:srgbClr val="C00000"/>
                </a:solidFill>
              </a:rPr>
              <a:t>distinct_distribution</a:t>
            </a:r>
            <a:endParaRPr lang="en-GB" altLang="zh-CN" sz="1400" dirty="0">
              <a:solidFill>
                <a:srgbClr val="C00000"/>
              </a:solidFill>
            </a:endParaRPr>
          </a:p>
          <a:p>
            <a:pPr lvl="0"/>
            <a:r>
              <a:rPr lang="en-GB" altLang="zh-CN" sz="1400" dirty="0" err="1">
                <a:solidFill>
                  <a:srgbClr val="C00000"/>
                </a:solidFill>
              </a:rPr>
              <a:t>stand_prob</a:t>
            </a:r>
            <a:r>
              <a:rPr lang="en-GB" altLang="zh-CN" sz="1400" dirty="0">
                <a:solidFill>
                  <a:srgbClr val="C00000"/>
                </a:solidFill>
              </a:rPr>
              <a:t> : 0.93,0.07</a:t>
            </a:r>
          </a:p>
          <a:p>
            <a:pPr lvl="0"/>
            <a:r>
              <a:rPr lang="en-GB" altLang="zh-CN" sz="1400" dirty="0" err="1"/>
              <a:t>count_threshold</a:t>
            </a:r>
            <a:r>
              <a:rPr lang="en-GB" altLang="zh-CN" sz="1400" dirty="0"/>
              <a:t> : 10</a:t>
            </a:r>
          </a:p>
          <a:p>
            <a:pPr lvl="0"/>
            <a:r>
              <a:rPr lang="en-GB" altLang="zh-CN" sz="1400" dirty="0" err="1">
                <a:solidFill>
                  <a:srgbClr val="C00000"/>
                </a:solidFill>
              </a:rPr>
              <a:t>func_type</a:t>
            </a:r>
            <a:r>
              <a:rPr lang="en-GB" altLang="zh-CN" sz="1400" dirty="0">
                <a:solidFill>
                  <a:srgbClr val="C00000"/>
                </a:solidFill>
              </a:rPr>
              <a:t> : </a:t>
            </a:r>
            <a:r>
              <a:rPr lang="en-GB" altLang="zh-CN" sz="1400" dirty="0" err="1">
                <a:solidFill>
                  <a:srgbClr val="C00000"/>
                </a:solidFill>
              </a:rPr>
              <a:t>max_diff</a:t>
            </a:r>
            <a:endParaRPr lang="en-GB" altLang="zh-CN" sz="1400" dirty="0">
              <a:solidFill>
                <a:srgbClr val="C00000"/>
              </a:solidFill>
            </a:endParaRPr>
          </a:p>
          <a:p>
            <a:pPr lvl="0"/>
            <a:r>
              <a:rPr lang="en-GB" altLang="zh-CN" sz="1400" dirty="0" err="1">
                <a:solidFill>
                  <a:srgbClr val="C00000"/>
                </a:solidFill>
              </a:rPr>
              <a:t>interval_endpoints</a:t>
            </a:r>
            <a:r>
              <a:rPr lang="en-GB" altLang="zh-CN" sz="1400" dirty="0">
                <a:solidFill>
                  <a:srgbClr val="C00000"/>
                </a:solidFill>
              </a:rPr>
              <a:t> : 1</a:t>
            </a:r>
          </a:p>
          <a:p>
            <a:pPr lvl="0"/>
            <a:r>
              <a:rPr lang="en-GB" altLang="zh-CN" sz="1400" dirty="0"/>
              <a:t>care : ['</a:t>
            </a:r>
            <a:r>
              <a:rPr lang="en-GB" altLang="zh-CN" sz="1400" dirty="0" err="1"/>
              <a:t>accessid</a:t>
            </a:r>
            <a:r>
              <a:rPr lang="en-GB" altLang="zh-CN" sz="1400" dirty="0"/>
              <a:t>':='30']['</a:t>
            </a:r>
            <a:r>
              <a:rPr lang="en-GB" altLang="zh-CN" sz="1400" dirty="0" err="1"/>
              <a:t>cmatch</a:t>
            </a:r>
            <a:r>
              <a:rPr lang="en-GB" altLang="zh-CN" sz="1400" dirty="0"/>
              <a:t>':='606','607','652','653','804','812','813','805','810','811','806','807']||['</a:t>
            </a:r>
            <a:r>
              <a:rPr lang="en-GB" altLang="zh-CN" sz="1400" dirty="0" err="1"/>
              <a:t>accessid</a:t>
            </a:r>
            <a:r>
              <a:rPr lang="en-GB" altLang="zh-CN" sz="1400" dirty="0"/>
              <a:t>':='1','31','37']&amp;&amp;(['</a:t>
            </a:r>
            <a:r>
              <a:rPr lang="en-GB" altLang="zh-CN" sz="1400" dirty="0" err="1"/>
              <a:t>is_wireless</a:t>
            </a:r>
            <a:r>
              <a:rPr lang="en-GB" altLang="zh-CN" sz="1400" dirty="0"/>
              <a:t>':='1']['</a:t>
            </a:r>
            <a:r>
              <a:rPr lang="en-GB" altLang="zh-CN" sz="1400" dirty="0" err="1"/>
              <a:t>flow_group</a:t>
            </a:r>
            <a:r>
              <a:rPr lang="en-GB" altLang="zh-CN" sz="1400" dirty="0"/>
              <a:t>':='wise_union_</a:t>
            </a:r>
            <a:r>
              <a:rPr lang="en-GB" altLang="zh-CN" sz="1400" dirty="0" err="1"/>
              <a:t>cpro</a:t>
            </a:r>
            <a:r>
              <a:rPr lang="en-GB" altLang="zh-CN" sz="1400" dirty="0"/>
              <a:t>','app_lu_mid','</a:t>
            </a:r>
            <a:r>
              <a:rPr lang="en-GB" altLang="zh-CN" sz="1400" dirty="0" err="1"/>
              <a:t>union_cpro</a:t>
            </a:r>
            <a:r>
              <a:rPr lang="en-GB" altLang="zh-CN" sz="1400" dirty="0"/>
              <a:t>']||['</a:t>
            </a:r>
            <a:r>
              <a:rPr lang="en-GB" altLang="zh-CN" sz="1400" dirty="0" err="1"/>
              <a:t>cmatch</a:t>
            </a:r>
            <a:r>
              <a:rPr lang="en-GB" altLang="zh-CN" sz="1400" dirty="0"/>
              <a:t>':='354'])</a:t>
            </a:r>
          </a:p>
          <a:p>
            <a:pPr lvl="0"/>
            <a:r>
              <a:rPr lang="en-GB" altLang="zh-CN" sz="1400" dirty="0">
                <a:solidFill>
                  <a:srgbClr val="C00000"/>
                </a:solidFill>
              </a:rPr>
              <a:t>view : </a:t>
            </a:r>
            <a:r>
              <a:rPr lang="en-GB" altLang="zh-CN" sz="1400" dirty="0" err="1">
                <a:solidFill>
                  <a:srgbClr val="C00000"/>
                </a:solidFill>
              </a:rPr>
              <a:t>cntname</a:t>
            </a:r>
            <a:endParaRPr lang="en-GB" altLang="zh-CN" sz="1400" dirty="0">
              <a:solidFill>
                <a:srgbClr val="C00000"/>
              </a:solidFill>
            </a:endParaRPr>
          </a:p>
          <a:p>
            <a:pPr lvl="0"/>
            <a:r>
              <a:rPr lang="en-GB" altLang="zh-CN" sz="1400" dirty="0" err="1">
                <a:solidFill>
                  <a:srgbClr val="C00000"/>
                </a:solidFill>
              </a:rPr>
              <a:t>data_view</a:t>
            </a:r>
            <a:r>
              <a:rPr lang="en-GB" altLang="zh-CN" sz="1400" dirty="0">
                <a:solidFill>
                  <a:srgbClr val="C00000"/>
                </a:solidFill>
              </a:rPr>
              <a:t> : </a:t>
            </a:r>
            <a:r>
              <a:rPr lang="en-GB" altLang="zh-CN" sz="1400" dirty="0" err="1">
                <a:solidFill>
                  <a:srgbClr val="C00000"/>
                </a:solidFill>
              </a:rPr>
              <a:t>clkip,useragent</a:t>
            </a:r>
            <a:endParaRPr lang="en-GB" altLang="zh-CN" sz="1400" dirty="0">
              <a:solidFill>
                <a:srgbClr val="C00000"/>
              </a:solidFill>
            </a:endParaRPr>
          </a:p>
          <a:p>
            <a:pPr lvl="0"/>
            <a:r>
              <a:rPr lang="en-GB" altLang="zh-CN" sz="1400" dirty="0" err="1">
                <a:solidFill>
                  <a:srgbClr val="C00000"/>
                </a:solidFill>
              </a:rPr>
              <a:t>cumulate_view</a:t>
            </a:r>
            <a:r>
              <a:rPr lang="en-GB" altLang="zh-CN" sz="1400" dirty="0">
                <a:solidFill>
                  <a:srgbClr val="C00000"/>
                </a:solidFill>
              </a:rPr>
              <a:t> : </a:t>
            </a:r>
            <a:r>
              <a:rPr lang="en-GB" altLang="zh-CN" sz="1400" dirty="0" err="1">
                <a:solidFill>
                  <a:srgbClr val="C00000"/>
                </a:solidFill>
              </a:rPr>
              <a:t>baiduid</a:t>
            </a:r>
            <a:endParaRPr lang="en-GB" altLang="zh-CN" sz="1400" dirty="0">
              <a:solidFill>
                <a:srgbClr val="C00000"/>
              </a:solidFill>
            </a:endParaRPr>
          </a:p>
          <a:p>
            <a:pPr lvl="0"/>
            <a:r>
              <a:rPr lang="en-GB" altLang="zh-CN" sz="1400" dirty="0" err="1"/>
              <a:t>window_type</a:t>
            </a:r>
            <a:r>
              <a:rPr lang="en-GB" altLang="zh-CN" sz="1400" dirty="0"/>
              <a:t> : time</a:t>
            </a:r>
          </a:p>
          <a:p>
            <a:pPr lvl="0"/>
            <a:r>
              <a:rPr lang="en-GB" altLang="zh-CN" sz="1400" dirty="0"/>
              <a:t>version : 2</a:t>
            </a:r>
          </a:p>
          <a:p>
            <a:pPr lvl="0"/>
            <a:r>
              <a:rPr lang="en-GB" altLang="zh-CN" sz="1400" dirty="0" err="1"/>
              <a:t>window_length</a:t>
            </a:r>
            <a:r>
              <a:rPr lang="en-GB" altLang="zh-CN" sz="1400" dirty="0"/>
              <a:t> : 86400</a:t>
            </a:r>
            <a:endParaRPr lang="zh-CN" altLang="en-US" sz="1400" dirty="0">
              <a:solidFill>
                <a:srgbClr val="000000"/>
              </a:solidFill>
              <a:latin typeface="Helvetica Light" charset="0"/>
              <a:sym typeface="Helvetica Light" charset="0"/>
            </a:endParaRPr>
          </a:p>
        </p:txBody>
      </p:sp>
      <p:sp>
        <p:nvSpPr>
          <p:cNvPr id="13" name="内容占位符 2"/>
          <p:cNvSpPr>
            <a:spLocks noGrp="1"/>
          </p:cNvSpPr>
          <p:nvPr>
            <p:ph idx="1"/>
          </p:nvPr>
        </p:nvSpPr>
        <p:spPr>
          <a:xfrm>
            <a:off x="1074496" y="4165876"/>
            <a:ext cx="3894518" cy="1856782"/>
          </a:xfrm>
          <a:solidFill>
            <a:schemeClr val="bg1">
              <a:alpha val="0"/>
            </a:schemeClr>
          </a:solidFill>
        </p:spPr>
        <p:txBody>
          <a:bodyPr/>
          <a:lstStyle/>
          <a:p>
            <a:pPr>
              <a:buClr>
                <a:srgbClr val="0070C0"/>
              </a:buClr>
              <a:buFont typeface="Wingdings" panose="05000000000000000000" pitchFamily="2" charset="2"/>
              <a:buChar char="l"/>
            </a:pPr>
            <a:r>
              <a:rPr lang="zh-CN" altLang="en-US" sz="1600" b="1" dirty="0">
                <a:cs typeface="宋体" charset="0"/>
              </a:rPr>
              <a:t>去重数目分布特征 </a:t>
            </a:r>
            <a:r>
              <a:rPr lang="en-US" altLang="zh-CN" sz="1600" b="1" dirty="0">
                <a:cs typeface="宋体" charset="0"/>
              </a:rPr>
              <a:t>distinct_</a:t>
            </a:r>
            <a:r>
              <a:rPr lang="en-GB" altLang="zh-CN" sz="1600" b="1" dirty="0">
                <a:cs typeface="宋体" charset="0"/>
              </a:rPr>
              <a:t>distribution</a:t>
            </a:r>
            <a:r>
              <a:rPr lang="zh-CN" altLang="en-US" sz="1600" b="1" dirty="0"/>
              <a:t>：</a:t>
            </a:r>
            <a:r>
              <a:rPr lang="zh-CN" altLang="en-US" sz="1600" dirty="0"/>
              <a:t>在一定段长的日志中，同一个主维度对象（</a:t>
            </a:r>
            <a:r>
              <a:rPr lang="en-US" altLang="zh-CN" sz="1600" dirty="0"/>
              <a:t>view</a:t>
            </a:r>
            <a:r>
              <a:rPr lang="zh-CN" altLang="en-US" sz="1600" dirty="0"/>
              <a:t>）下，每个子维度对象（</a:t>
            </a:r>
            <a:r>
              <a:rPr lang="en-US" altLang="zh-CN" sz="1600" dirty="0" err="1"/>
              <a:t>data_view</a:t>
            </a:r>
            <a:r>
              <a:rPr lang="zh-CN" altLang="en-US" sz="1600" dirty="0"/>
              <a:t>）的子维度对象（</a:t>
            </a:r>
            <a:r>
              <a:rPr lang="en-US" altLang="zh-CN" sz="1600" dirty="0" err="1"/>
              <a:t>cumulate_view</a:t>
            </a:r>
            <a:r>
              <a:rPr lang="zh-CN" altLang="en-US" sz="1600" dirty="0"/>
              <a:t>）种类数的分布</a:t>
            </a:r>
            <a:endParaRPr lang="zh-CN" altLang="en-US" sz="1600" dirty="0">
              <a:cs typeface="宋体" charset="0"/>
            </a:endParaRPr>
          </a:p>
          <a:p>
            <a:pPr>
              <a:buClr>
                <a:srgbClr val="0070C0"/>
              </a:buClr>
              <a:buFont typeface="Wingdings" panose="05000000000000000000" pitchFamily="2" charset="2"/>
              <a:buChar char="l"/>
            </a:pPr>
            <a:endParaRPr lang="en-US" altLang="zh-CN" sz="2400" dirty="0"/>
          </a:p>
          <a:p>
            <a:pPr marL="514350" lvl="1" indent="0">
              <a:buClr>
                <a:srgbClr val="0070C0"/>
              </a:buClr>
              <a:buNone/>
            </a:pPr>
            <a:endParaRPr lang="zh-CN" altLang="en-US" sz="2400" dirty="0"/>
          </a:p>
          <a:p>
            <a:pPr>
              <a:buClr>
                <a:srgbClr val="0070C0"/>
              </a:buClr>
              <a:buFont typeface="Wingdings" panose="05000000000000000000" pitchFamily="2" charset="2"/>
              <a:buChar char="l"/>
            </a:pPr>
            <a:endParaRPr lang="en-US" altLang="zh-CN" sz="2400" dirty="0"/>
          </a:p>
        </p:txBody>
      </p:sp>
      <p:sp>
        <p:nvSpPr>
          <p:cNvPr id="4" name="文本框 3"/>
          <p:cNvSpPr txBox="1"/>
          <p:nvPr/>
        </p:nvSpPr>
        <p:spPr>
          <a:xfrm>
            <a:off x="4377253" y="5783491"/>
            <a:ext cx="1970315" cy="923330"/>
          </a:xfrm>
          <a:prstGeom prst="rect">
            <a:avLst/>
          </a:prstGeom>
          <a:noFill/>
        </p:spPr>
        <p:txBody>
          <a:bodyPr wrap="square" rtlCol="0">
            <a:spAutoFit/>
          </a:bodyPr>
          <a:lstStyle/>
          <a:p>
            <a:r>
              <a:rPr kumimoji="1" lang="zh-CN" altLang="en-US" dirty="0"/>
              <a:t>主维度下的各个子维度对象的</a:t>
            </a:r>
            <a:r>
              <a:rPr kumimoji="1" lang="en-US" altLang="zh-CN" dirty="0"/>
              <a:t>”</a:t>
            </a:r>
            <a:r>
              <a:rPr kumimoji="1" lang="zh-CN" altLang="en-US" dirty="0"/>
              <a:t>凌乱度</a:t>
            </a:r>
            <a:r>
              <a:rPr kumimoji="1" lang="en-US" altLang="zh-CN" dirty="0"/>
              <a:t>”</a:t>
            </a:r>
            <a:endParaRPr kumimoji="1" lang="zh-CN" altLang="en-US" dirty="0"/>
          </a:p>
        </p:txBody>
      </p:sp>
      <p:sp>
        <p:nvSpPr>
          <p:cNvPr id="14" name="文本框 13"/>
          <p:cNvSpPr txBox="1"/>
          <p:nvPr/>
        </p:nvSpPr>
        <p:spPr>
          <a:xfrm>
            <a:off x="6374184" y="5430242"/>
            <a:ext cx="3600933" cy="1200329"/>
          </a:xfrm>
          <a:prstGeom prst="rect">
            <a:avLst/>
          </a:prstGeom>
          <a:noFill/>
        </p:spPr>
        <p:txBody>
          <a:bodyPr wrap="square" rtlCol="0">
            <a:spAutoFit/>
          </a:bodyPr>
          <a:lstStyle/>
          <a:p>
            <a:r>
              <a:rPr lang="zh-CN" altLang="en-US" dirty="0">
                <a:latin typeface="Times New Roman" panose="02020603050405020304" pitchFamily="18" charset="0"/>
              </a:rPr>
              <a:t>满足处理空间的情况下，同一计费名下， 每个</a:t>
            </a:r>
            <a:r>
              <a:rPr lang="en-US" altLang="zh-CN" dirty="0">
                <a:latin typeface="Times New Roman" panose="02020603050405020304" pitchFamily="18" charset="0"/>
              </a:rPr>
              <a:t>(</a:t>
            </a:r>
            <a:r>
              <a:rPr lang="en-US" altLang="zh-CN" dirty="0" err="1">
                <a:latin typeface="Times New Roman" panose="02020603050405020304" pitchFamily="18" charset="0"/>
              </a:rPr>
              <a:t>clkip</a:t>
            </a:r>
            <a:r>
              <a:rPr lang="en-US" altLang="zh-CN" dirty="0">
                <a:latin typeface="Times New Roman" panose="02020603050405020304" pitchFamily="18" charset="0"/>
              </a:rPr>
              <a:t>,</a:t>
            </a:r>
            <a:r>
              <a:rPr lang="zh-CN" altLang="en-US" dirty="0">
                <a:latin typeface="Times New Roman" panose="02020603050405020304" pitchFamily="18" charset="0"/>
              </a:rPr>
              <a:t> </a:t>
            </a:r>
            <a:r>
              <a:rPr lang="en-US" altLang="zh-CN" dirty="0" err="1">
                <a:latin typeface="Times New Roman" panose="02020603050405020304" pitchFamily="18" charset="0"/>
              </a:rPr>
              <a:t>useragent</a:t>
            </a:r>
            <a:r>
              <a:rPr lang="en-US" altLang="zh-CN" dirty="0">
                <a:latin typeface="Times New Roman" panose="02020603050405020304" pitchFamily="18" charset="0"/>
              </a:rPr>
              <a:t>)</a:t>
            </a:r>
            <a:r>
              <a:rPr lang="zh-CN" altLang="en-US" dirty="0">
                <a:latin typeface="Times New Roman" panose="02020603050405020304" pitchFamily="18" charset="0"/>
              </a:rPr>
              <a:t> 下的</a:t>
            </a:r>
            <a:r>
              <a:rPr lang="en-US" altLang="zh-CN" dirty="0" err="1">
                <a:latin typeface="Times New Roman" panose="02020603050405020304" pitchFamily="18" charset="0"/>
              </a:rPr>
              <a:t>baiduid</a:t>
            </a:r>
            <a:r>
              <a:rPr lang="zh-CN" altLang="en-US" dirty="0">
                <a:latin typeface="Times New Roman" panose="02020603050405020304" pitchFamily="18" charset="0"/>
              </a:rPr>
              <a:t>种类数的分布与基准分布的</a:t>
            </a:r>
            <a:r>
              <a:rPr lang="en-US" altLang="zh-CN" dirty="0" err="1">
                <a:latin typeface="Times New Roman" panose="02020603050405020304" pitchFamily="18" charset="0"/>
              </a:rPr>
              <a:t>max_diff</a:t>
            </a:r>
            <a:r>
              <a:rPr lang="zh-CN" altLang="en-US" dirty="0">
                <a:latin typeface="Times New Roman" panose="02020603050405020304" pitchFamily="18" charset="0"/>
              </a:rPr>
              <a:t>距离不超过</a:t>
            </a:r>
            <a:r>
              <a:rPr lang="en-US" altLang="zh-CN" dirty="0">
                <a:latin typeface="Times New Roman" panose="02020603050405020304" pitchFamily="18" charset="0"/>
              </a:rPr>
              <a:t>2</a:t>
            </a:r>
            <a:r>
              <a:rPr lang="zh-CN" altLang="en-US" dirty="0">
                <a:latin typeface="Times New Roman" panose="02020603050405020304" pitchFamily="18" charset="0"/>
              </a:rPr>
              <a:t>。</a:t>
            </a:r>
            <a:endParaRPr kumimoji="1"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265484" y="1195100"/>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集中度策略</a:t>
            </a:r>
          </a:p>
        </p:txBody>
      </p:sp>
      <p:sp>
        <p:nvSpPr>
          <p:cNvPr id="13" name="内容占位符 2"/>
          <p:cNvSpPr>
            <a:spLocks noGrp="1"/>
          </p:cNvSpPr>
          <p:nvPr>
            <p:ph idx="1"/>
          </p:nvPr>
        </p:nvSpPr>
        <p:spPr>
          <a:xfrm>
            <a:off x="453729" y="1790700"/>
            <a:ext cx="10557171" cy="4031689"/>
          </a:xfrm>
        </p:spPr>
        <p:txBody>
          <a:bodyPr/>
          <a:lstStyle/>
          <a:p>
            <a:pPr lvl="1">
              <a:buClr>
                <a:schemeClr val="tx1"/>
              </a:buClr>
              <a:buFont typeface="Wingdings" panose="05000000000000000000" pitchFamily="2" charset="2"/>
              <a:buChar char="n"/>
            </a:pPr>
            <a:r>
              <a:rPr lang="zh-CN" altLang="en-US" sz="1800" b="1" dirty="0">
                <a:latin typeface="微软雅黑" panose="020B0503020204020204" pitchFamily="34" charset="-122"/>
                <a:ea typeface="微软雅黑" panose="020B0503020204020204" pitchFamily="34" charset="-122"/>
              </a:rPr>
              <a:t>集中度策略</a:t>
            </a:r>
          </a:p>
          <a:p>
            <a:pPr lvl="2">
              <a:buClr>
                <a:schemeClr val="tx1"/>
              </a:buClr>
              <a:buFont typeface="Wingdings" panose="05000000000000000000" pitchFamily="2" charset="2"/>
              <a:buChar char="l"/>
            </a:pPr>
            <a:r>
              <a:rPr lang="zh-CN" altLang="en-US" sz="1600" dirty="0">
                <a:latin typeface="Times New Roman" panose="02020603050405020304" pitchFamily="18" charset="0"/>
              </a:rPr>
              <a:t>在一定段长内，计算主维度下，子维度对象的</a:t>
            </a:r>
            <a:r>
              <a:rPr lang="en-GB" altLang="zh-CN" sz="1600" dirty="0" err="1">
                <a:latin typeface="Times New Roman" panose="02020603050405020304" pitchFamily="18" charset="0"/>
              </a:rPr>
              <a:t>pv</a:t>
            </a:r>
            <a:r>
              <a:rPr lang="zh-CN" altLang="en-US" sz="1600" dirty="0">
                <a:latin typeface="Times New Roman" panose="02020603050405020304" pitchFamily="18" charset="0"/>
              </a:rPr>
              <a:t>累积量，这些累积量中</a:t>
            </a:r>
            <a:r>
              <a:rPr lang="en-GB" altLang="zh-CN" sz="1600" dirty="0">
                <a:latin typeface="Times New Roman" panose="02020603050405020304" pitchFamily="18" charset="0"/>
              </a:rPr>
              <a:t>top k</a:t>
            </a:r>
            <a:r>
              <a:rPr lang="zh-CN" altLang="en-US" sz="1600" dirty="0">
                <a:latin typeface="Times New Roman" panose="02020603050405020304" pitchFamily="18" charset="0"/>
              </a:rPr>
              <a:t>的占比反映了主维度下子维度的流量集中程度。如果超过阈值，则认为流量过分集中，是异常的表现。</a:t>
            </a:r>
          </a:p>
          <a:p>
            <a:pPr lvl="2">
              <a:buClr>
                <a:schemeClr val="tx1"/>
              </a:buClr>
              <a:buFont typeface="Wingdings" panose="05000000000000000000" pitchFamily="2" charset="2"/>
              <a:buChar char="l"/>
            </a:pPr>
            <a:endParaRPr lang="zh-CN" altLang="en-US" sz="1600" dirty="0"/>
          </a:p>
          <a:p>
            <a:pPr lvl="1">
              <a:buClr>
                <a:schemeClr val="tx1"/>
              </a:buClr>
              <a:buFont typeface="Wingdings" panose="05000000000000000000" pitchFamily="2" charset="2"/>
              <a:buChar char="n"/>
            </a:pPr>
            <a:r>
              <a:rPr lang="zh-CN" altLang="en-US" sz="1800" b="1" dirty="0">
                <a:latin typeface="微软雅黑" panose="020B0503020204020204" pitchFamily="34" charset="-122"/>
                <a:ea typeface="微软雅黑" panose="020B0503020204020204" pitchFamily="34" charset="-122"/>
              </a:rPr>
              <a:t>可用特征</a:t>
            </a:r>
          </a:p>
          <a:p>
            <a:pPr lvl="2">
              <a:buClr>
                <a:schemeClr val="tx1"/>
              </a:buClr>
              <a:buFont typeface="Wingdings" panose="05000000000000000000" pitchFamily="2" charset="2"/>
              <a:buChar char="l"/>
            </a:pPr>
            <a:r>
              <a:rPr lang="zh-CN" altLang="en-US" sz="1600" dirty="0">
                <a:cs typeface="宋体" charset="0"/>
              </a:rPr>
              <a:t>集中度特征 </a:t>
            </a:r>
            <a:r>
              <a:rPr lang="en-GB" altLang="zh-CN" sz="1600" dirty="0">
                <a:cs typeface="宋体" charset="0"/>
              </a:rPr>
              <a:t>concentration</a:t>
            </a:r>
          </a:p>
          <a:p>
            <a:pPr lvl="2">
              <a:buClr>
                <a:schemeClr val="tx1"/>
              </a:buClr>
              <a:buFont typeface="Wingdings" panose="05000000000000000000" pitchFamily="2" charset="2"/>
              <a:buChar char="l"/>
            </a:pPr>
            <a:endParaRPr lang="en-GB" altLang="zh-CN" sz="1600" dirty="0"/>
          </a:p>
          <a:p>
            <a:pPr lvl="1">
              <a:buClr>
                <a:schemeClr val="tx1"/>
              </a:buClr>
              <a:buFont typeface="Wingdings" panose="05000000000000000000" pitchFamily="2" charset="2"/>
              <a:buChar char="n"/>
            </a:pPr>
            <a:r>
              <a:rPr lang="zh-CN" altLang="en-US" sz="1800" b="1" dirty="0">
                <a:latin typeface="微软雅黑" panose="020B0503020204020204" pitchFamily="34" charset="-122"/>
                <a:ea typeface="微软雅黑" panose="020B0503020204020204" pitchFamily="34" charset="-122"/>
              </a:rPr>
              <a:t>适用场景</a:t>
            </a:r>
          </a:p>
          <a:p>
            <a:pPr lvl="2">
              <a:buClr>
                <a:schemeClr val="tx1"/>
              </a:buClr>
              <a:buFont typeface="Wingdings" panose="05000000000000000000" pitchFamily="2" charset="2"/>
              <a:buChar char="l"/>
            </a:pPr>
            <a:r>
              <a:rPr lang="zh-CN" altLang="en-US" sz="1600" dirty="0"/>
              <a:t>适用于正常情况下某个主维度下各个子维度对象分布较为均匀的场景。</a:t>
            </a:r>
            <a:r>
              <a:rPr lang="zh-CN" altLang="en-US" sz="1600" dirty="0">
                <a:cs typeface="宋体" charset="0"/>
              </a:rPr>
              <a:t>主要针对作弊者在某子维度对象下的集中作弊。</a:t>
            </a:r>
          </a:p>
          <a:p>
            <a:pPr marL="1371600" lvl="3" indent="0">
              <a:buClr>
                <a:srgbClr val="0070C0"/>
              </a:buClr>
              <a:buNone/>
            </a:pPr>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265484" y="1195100"/>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zh-CN" altLang="en-US" b="1" dirty="0"/>
              <a:t>集中度策略</a:t>
            </a:r>
          </a:p>
        </p:txBody>
      </p:sp>
      <p:sp>
        <p:nvSpPr>
          <p:cNvPr id="10" name="内容占位符 2"/>
          <p:cNvSpPr>
            <a:spLocks noGrp="1"/>
          </p:cNvSpPr>
          <p:nvPr>
            <p:ph idx="1"/>
          </p:nvPr>
        </p:nvSpPr>
        <p:spPr>
          <a:xfrm>
            <a:off x="29712" y="1550882"/>
            <a:ext cx="11699652" cy="5476695"/>
          </a:xfrm>
          <a:solidFill>
            <a:schemeClr val="bg1">
              <a:alpha val="0"/>
            </a:schemeClr>
          </a:solidFill>
        </p:spPr>
        <p:txBody>
          <a:bodyPr/>
          <a:lstStyle/>
          <a:p>
            <a:pPr lvl="1">
              <a:buClr>
                <a:srgbClr val="0070C0"/>
              </a:buClr>
              <a:buFont typeface="Wingdings" panose="05000000000000000000" pitchFamily="2" charset="2"/>
              <a:buChar char="l"/>
            </a:pPr>
            <a:r>
              <a:rPr lang="zh-CN" altLang="en-US" sz="1800" b="1" dirty="0"/>
              <a:t>集中度特征 </a:t>
            </a:r>
            <a:r>
              <a:rPr lang="en-GB" altLang="zh-CN" sz="1800" b="1" dirty="0"/>
              <a:t>concentration</a:t>
            </a:r>
            <a:r>
              <a:rPr lang="zh-CN" altLang="en-US" sz="1800" dirty="0"/>
              <a:t>：</a:t>
            </a:r>
            <a:r>
              <a:rPr lang="zh-CN" altLang="en-US" sz="1800" dirty="0">
                <a:cs typeface="宋体" charset="0"/>
              </a:rPr>
              <a:t>在一定段长的日志中，同一个主维度对象</a:t>
            </a:r>
            <a:r>
              <a:rPr lang="en-US" altLang="zh-CN" sz="1800" dirty="0">
                <a:cs typeface="宋体" charset="0"/>
              </a:rPr>
              <a:t>(view)</a:t>
            </a:r>
            <a:r>
              <a:rPr lang="zh-CN" altLang="en-US" sz="1800" dirty="0">
                <a:cs typeface="宋体" charset="0"/>
              </a:rPr>
              <a:t>下，频数</a:t>
            </a:r>
            <a:r>
              <a:rPr lang="en-US" altLang="zh-CN" sz="1800" dirty="0" err="1">
                <a:cs typeface="宋体" charset="0"/>
              </a:rPr>
              <a:t>topk</a:t>
            </a:r>
            <a:r>
              <a:rPr lang="zh-CN" altLang="en-US" sz="1800" dirty="0">
                <a:cs typeface="宋体" charset="0"/>
              </a:rPr>
              <a:t>的所有子维度对象的总占比。</a:t>
            </a:r>
            <a:endParaRPr lang="en-US" altLang="zh-CN" sz="1800" dirty="0"/>
          </a:p>
          <a:p>
            <a:pPr lvl="1">
              <a:buClr>
                <a:srgbClr val="0070C0"/>
              </a:buClr>
              <a:buFont typeface="Wingdings" panose="05000000000000000000" pitchFamily="2" charset="2"/>
              <a:buChar char="l"/>
            </a:pPr>
            <a:r>
              <a:rPr lang="zh-CN" altLang="en-US" sz="1800" b="1" dirty="0"/>
              <a:t>参数说明</a:t>
            </a:r>
            <a:r>
              <a:rPr lang="zh-CN" altLang="en-US" sz="1800" dirty="0"/>
              <a:t>：</a:t>
            </a:r>
            <a:endParaRPr lang="en-US" altLang="zh-CN" sz="1800" dirty="0"/>
          </a:p>
          <a:p>
            <a:pPr marL="914400" lvl="2" indent="0">
              <a:buClr>
                <a:srgbClr val="0070C0"/>
              </a:buClr>
              <a:buNone/>
            </a:pPr>
            <a:r>
              <a:rPr lang="en-GB" altLang="zh-CN" sz="1600" dirty="0"/>
              <a:t>top:</a:t>
            </a:r>
            <a:r>
              <a:rPr lang="zh-CN" altLang="en-US" sz="1600" dirty="0"/>
              <a:t>取最高的几个</a:t>
            </a:r>
          </a:p>
          <a:p>
            <a:pPr marL="914400" lvl="2" indent="0">
              <a:buClr>
                <a:srgbClr val="0070C0"/>
              </a:buClr>
              <a:buNone/>
            </a:pPr>
            <a:r>
              <a:rPr lang="en-GB" altLang="zh-CN" sz="1600" dirty="0"/>
              <a:t>remain: </a:t>
            </a:r>
            <a:r>
              <a:rPr lang="zh-CN" altLang="en-US" sz="1600" dirty="0"/>
              <a:t>段的累积量超出该值才会过滤</a:t>
            </a:r>
          </a:p>
          <a:p>
            <a:pPr marL="914400" lvl="2" indent="0">
              <a:buClr>
                <a:srgbClr val="0070C0"/>
              </a:buClr>
              <a:buNone/>
            </a:pPr>
            <a:r>
              <a:rPr lang="en-GB" altLang="zh-CN" sz="1600" dirty="0" err="1"/>
              <a:t>filter_mode</a:t>
            </a:r>
            <a:endParaRPr lang="en-GB" altLang="zh-CN" sz="1600" dirty="0"/>
          </a:p>
          <a:p>
            <a:pPr marL="1371600" lvl="3" indent="0">
              <a:buClr>
                <a:srgbClr val="0070C0"/>
              </a:buClr>
              <a:buNone/>
            </a:pPr>
            <a:r>
              <a:rPr lang="en-GB" altLang="zh-CN" sz="1400" dirty="0"/>
              <a:t>•1:</a:t>
            </a:r>
            <a:r>
              <a:rPr lang="zh-CN" altLang="en-US" sz="1400" dirty="0"/>
              <a:t>过滤分母</a:t>
            </a:r>
          </a:p>
          <a:p>
            <a:pPr marL="1371600" lvl="3" indent="0">
              <a:buClr>
                <a:srgbClr val="0070C0"/>
              </a:buClr>
              <a:buNone/>
            </a:pPr>
            <a:r>
              <a:rPr lang="en-US" altLang="zh-CN" sz="1400" dirty="0"/>
              <a:t>•0:</a:t>
            </a:r>
            <a:r>
              <a:rPr lang="zh-CN" altLang="en-US" sz="1400" dirty="0"/>
              <a:t>过滤分子</a:t>
            </a:r>
            <a:r>
              <a:rPr lang="en-US" altLang="zh-CN" sz="1400" dirty="0"/>
              <a:t>(</a:t>
            </a:r>
            <a:r>
              <a:rPr lang="zh-CN" altLang="en-US" sz="1400" dirty="0"/>
              <a:t>默认</a:t>
            </a:r>
            <a:r>
              <a:rPr lang="en-US" altLang="zh-CN" sz="1400" dirty="0"/>
              <a:t>)</a:t>
            </a:r>
          </a:p>
          <a:p>
            <a:pPr marL="914400" lvl="2" indent="0">
              <a:buClr>
                <a:srgbClr val="0070C0"/>
              </a:buClr>
              <a:buNone/>
            </a:pPr>
            <a:r>
              <a:rPr lang="en-GB" altLang="zh-CN" sz="1600" dirty="0" err="1"/>
              <a:t>simple_ratio</a:t>
            </a:r>
            <a:endParaRPr lang="en-GB" altLang="zh-CN" sz="1600" dirty="0"/>
          </a:p>
          <a:p>
            <a:pPr marL="1371600" lvl="3" indent="0">
              <a:buClr>
                <a:srgbClr val="0070C0"/>
              </a:buClr>
              <a:buNone/>
            </a:pPr>
            <a:r>
              <a:rPr lang="en-GB" altLang="zh-CN" sz="1400" dirty="0"/>
              <a:t>•1:</a:t>
            </a:r>
            <a:r>
              <a:rPr lang="zh-CN" altLang="en-US" sz="1400" dirty="0"/>
              <a:t>分子</a:t>
            </a:r>
            <a:r>
              <a:rPr lang="en-GB" altLang="zh-CN" sz="1400" dirty="0"/>
              <a:t>or</a:t>
            </a:r>
            <a:r>
              <a:rPr lang="zh-CN" altLang="en-US" sz="1400" dirty="0"/>
              <a:t>分母</a:t>
            </a:r>
            <a:r>
              <a:rPr lang="en-US" altLang="zh-CN" sz="1400" dirty="0"/>
              <a:t>&gt;</a:t>
            </a:r>
            <a:r>
              <a:rPr lang="en-GB" altLang="zh-CN" sz="1400" dirty="0"/>
              <a:t>remain(</a:t>
            </a:r>
            <a:r>
              <a:rPr lang="en-GB" altLang="zh-CN" sz="1400" dirty="0" err="1"/>
              <a:t>acc</a:t>
            </a:r>
            <a:r>
              <a:rPr lang="en-GB" altLang="zh-CN" sz="1400" dirty="0"/>
              <a:t>)</a:t>
            </a:r>
            <a:r>
              <a:rPr lang="zh-CN" altLang="en-GB" sz="1400" dirty="0"/>
              <a:t>，</a:t>
            </a:r>
            <a:endParaRPr lang="en-US" altLang="zh-CN" sz="1400" dirty="0"/>
          </a:p>
          <a:p>
            <a:pPr marL="1371600" lvl="3" indent="0">
              <a:buClr>
                <a:srgbClr val="0070C0"/>
              </a:buClr>
              <a:buNone/>
            </a:pPr>
            <a:r>
              <a:rPr lang="zh-CN" altLang="en-US" sz="1400" dirty="0"/>
              <a:t>     分子</a:t>
            </a:r>
            <a:r>
              <a:rPr lang="en-US" altLang="zh-CN" sz="1400" dirty="0"/>
              <a:t>/</a:t>
            </a:r>
            <a:r>
              <a:rPr lang="zh-CN" altLang="en-US" sz="1400" dirty="0"/>
              <a:t>分母</a:t>
            </a:r>
            <a:r>
              <a:rPr lang="en-US" altLang="zh-CN" sz="1400" dirty="0"/>
              <a:t>&gt;</a:t>
            </a:r>
            <a:r>
              <a:rPr lang="en-GB" altLang="zh-CN" sz="1400" dirty="0"/>
              <a:t>threshold</a:t>
            </a:r>
          </a:p>
          <a:p>
            <a:pPr marL="1371600" lvl="3" indent="0">
              <a:buClr>
                <a:srgbClr val="0070C0"/>
              </a:buClr>
              <a:buNone/>
            </a:pPr>
            <a:r>
              <a:rPr lang="en-GB" altLang="zh-CN" sz="1400" dirty="0"/>
              <a:t>•0:(</a:t>
            </a:r>
            <a:r>
              <a:rPr lang="zh-CN" altLang="en-US" sz="1400" dirty="0"/>
              <a:t>分子</a:t>
            </a:r>
            <a:r>
              <a:rPr lang="en-US" altLang="zh-CN" sz="1400" dirty="0"/>
              <a:t>-</a:t>
            </a:r>
            <a:r>
              <a:rPr lang="en-GB" altLang="zh-CN" sz="1400" dirty="0"/>
              <a:t>remain)/</a:t>
            </a:r>
            <a:r>
              <a:rPr lang="zh-CN" altLang="en-US" sz="1400" dirty="0"/>
              <a:t>分母</a:t>
            </a:r>
            <a:r>
              <a:rPr lang="en-US" altLang="zh-CN" sz="1400" dirty="0"/>
              <a:t>&gt;</a:t>
            </a:r>
            <a:r>
              <a:rPr lang="en-GB" altLang="zh-CN" sz="1400" dirty="0"/>
              <a:t>threshold</a:t>
            </a:r>
            <a:r>
              <a:rPr lang="zh-CN" altLang="en-US" sz="1400" dirty="0"/>
              <a:t> </a:t>
            </a:r>
            <a:r>
              <a:rPr lang="en-US" altLang="zh-CN" sz="1400" dirty="0"/>
              <a:t>(</a:t>
            </a:r>
            <a:r>
              <a:rPr lang="zh-CN" altLang="en-US" sz="1400" dirty="0"/>
              <a:t>默认</a:t>
            </a:r>
            <a:r>
              <a:rPr lang="en-US" altLang="zh-CN" sz="1400" dirty="0"/>
              <a:t>)</a:t>
            </a:r>
            <a:endParaRPr lang="zh-CN" altLang="en-US" sz="1400" dirty="0"/>
          </a:p>
          <a:p>
            <a:pPr marL="1371600" lvl="3" indent="0">
              <a:buClr>
                <a:srgbClr val="0070C0"/>
              </a:buClr>
              <a:buNone/>
            </a:pPr>
            <a:endParaRPr lang="zh-CN" altLang="en-US" dirty="0"/>
          </a:p>
          <a:p>
            <a:pPr lvl="2">
              <a:buClr>
                <a:srgbClr val="0070C0"/>
              </a:buClr>
              <a:buFont typeface="Wingdings" panose="05000000000000000000" pitchFamily="2" charset="2"/>
              <a:buChar char="l"/>
            </a:pPr>
            <a:endParaRPr lang="en-US" altLang="zh-CN" dirty="0"/>
          </a:p>
        </p:txBody>
      </p:sp>
      <p:sp>
        <p:nvSpPr>
          <p:cNvPr id="11" name="文本框 10"/>
          <p:cNvSpPr txBox="1"/>
          <p:nvPr/>
        </p:nvSpPr>
        <p:spPr>
          <a:xfrm>
            <a:off x="5848438" y="1967832"/>
            <a:ext cx="4955097" cy="3323987"/>
          </a:xfrm>
          <a:prstGeom prst="rect">
            <a:avLst/>
          </a:prstGeom>
          <a:solidFill>
            <a:schemeClr val="bg1">
              <a:lumMod val="95000"/>
              <a:alpha val="0"/>
            </a:schemeClr>
          </a:solidFill>
          <a:ln>
            <a:solidFill>
              <a:schemeClr val="tx1">
                <a:lumMod val="50000"/>
                <a:lumOff val="50000"/>
              </a:schemeClr>
            </a:solidFill>
          </a:ln>
        </p:spPr>
        <p:txBody>
          <a:bodyPr wrap="square" rtlCol="0">
            <a:spAutoFit/>
          </a:bodyPr>
          <a:lstStyle/>
          <a:p>
            <a:pPr lvl="0" algn="l"/>
            <a:r>
              <a:rPr lang="en-GB" altLang="zh-CN" sz="1400" dirty="0"/>
              <a:t> [@feature]</a:t>
            </a:r>
          </a:p>
          <a:p>
            <a:pPr lvl="0" algn="l"/>
            <a:r>
              <a:rPr lang="en-GB" altLang="zh-CN" sz="1400" dirty="0" err="1"/>
              <a:t>feature_id</a:t>
            </a:r>
            <a:r>
              <a:rPr lang="en-GB" altLang="zh-CN" sz="1400" dirty="0"/>
              <a:t> : 60421</a:t>
            </a:r>
          </a:p>
          <a:p>
            <a:pPr lvl="0" algn="l"/>
            <a:r>
              <a:rPr lang="en-GB" altLang="zh-CN" sz="1400" dirty="0" err="1"/>
              <a:t>view_level</a:t>
            </a:r>
            <a:r>
              <a:rPr lang="en-GB" altLang="zh-CN" sz="1400" dirty="0"/>
              <a:t> : </a:t>
            </a:r>
            <a:r>
              <a:rPr lang="en-GB" altLang="zh-CN" sz="1400" dirty="0" err="1"/>
              <a:t>pv_level</a:t>
            </a:r>
            <a:endParaRPr lang="en-GB" altLang="zh-CN" sz="1400" dirty="0"/>
          </a:p>
          <a:p>
            <a:pPr lvl="0" algn="l"/>
            <a:r>
              <a:rPr lang="en-GB" altLang="zh-CN" sz="1400" dirty="0" err="1">
                <a:solidFill>
                  <a:srgbClr val="C00000"/>
                </a:solidFill>
              </a:rPr>
              <a:t>feature_type</a:t>
            </a:r>
            <a:r>
              <a:rPr lang="en-GB" altLang="zh-CN" sz="1400" dirty="0">
                <a:solidFill>
                  <a:srgbClr val="C00000"/>
                </a:solidFill>
              </a:rPr>
              <a:t> : concentration</a:t>
            </a:r>
          </a:p>
          <a:p>
            <a:pPr lvl="0" algn="l"/>
            <a:r>
              <a:rPr lang="en-GB" altLang="zh-CN" sz="1400" dirty="0">
                <a:solidFill>
                  <a:srgbClr val="C00000"/>
                </a:solidFill>
              </a:rPr>
              <a:t>top : 1</a:t>
            </a:r>
          </a:p>
          <a:p>
            <a:pPr lvl="0" algn="l"/>
            <a:r>
              <a:rPr lang="en-GB" altLang="zh-CN" sz="1400" dirty="0">
                <a:solidFill>
                  <a:srgbClr val="C00000"/>
                </a:solidFill>
              </a:rPr>
              <a:t>remain : 50</a:t>
            </a:r>
          </a:p>
          <a:p>
            <a:pPr lvl="0" algn="l"/>
            <a:r>
              <a:rPr lang="en-GB" altLang="zh-CN" sz="1400" dirty="0"/>
              <a:t>care : ['</a:t>
            </a:r>
            <a:r>
              <a:rPr lang="en-GB" altLang="zh-CN" sz="1400" dirty="0" err="1"/>
              <a:t>srcid_list</a:t>
            </a:r>
            <a:r>
              <a:rPr lang="en-GB" altLang="zh-CN" sz="1400" dirty="0"/>
              <a:t>':='111','160']['</a:t>
            </a:r>
            <a:r>
              <a:rPr lang="en-GB" altLang="zh-CN" sz="1400" dirty="0" err="1"/>
              <a:t>anti_flow_group</a:t>
            </a:r>
            <a:r>
              <a:rPr lang="en-GB" altLang="zh-CN" sz="1400" dirty="0"/>
              <a:t>':='</a:t>
            </a:r>
            <a:r>
              <a:rPr lang="en-GB" altLang="zh-CN" sz="1400" dirty="0" err="1"/>
              <a:t>wise_organic</a:t>
            </a:r>
            <a:r>
              <a:rPr lang="en-GB" altLang="zh-CN" sz="1400" dirty="0"/>
              <a:t>']['</a:t>
            </a:r>
            <a:r>
              <a:rPr lang="en-GB" altLang="zh-CN" sz="1400" dirty="0" err="1"/>
              <a:t>url_type</a:t>
            </a:r>
            <a:r>
              <a:rPr lang="en-GB" altLang="zh-CN" sz="1400" dirty="0"/>
              <a:t>'!~'</a:t>
            </a:r>
            <a:r>
              <a:rPr lang="en-GB" altLang="zh-CN" sz="1400" dirty="0" err="1"/>
              <a:t>kg_sid</a:t>
            </a:r>
            <a:r>
              <a:rPr lang="en-GB" altLang="zh-CN" sz="1400" dirty="0"/>
              <a:t>']['</a:t>
            </a:r>
            <a:r>
              <a:rPr lang="en-GB" altLang="zh-CN" sz="1400" dirty="0" err="1"/>
              <a:t>url_sa</a:t>
            </a:r>
            <a:r>
              <a:rPr lang="en-GB" altLang="zh-CN" sz="1400" dirty="0"/>
              <a:t>'!~'</a:t>
            </a:r>
            <a:r>
              <a:rPr lang="en-GB" altLang="zh-CN" sz="1400" dirty="0" err="1"/>
              <a:t>fyb</a:t>
            </a:r>
            <a:r>
              <a:rPr lang="en-GB" altLang="zh-CN" sz="1400" dirty="0"/>
              <a:t>','push']</a:t>
            </a:r>
          </a:p>
          <a:p>
            <a:pPr lvl="0" algn="l"/>
            <a:r>
              <a:rPr lang="en-GB" altLang="zh-CN" sz="1400" dirty="0"/>
              <a:t>view : query</a:t>
            </a:r>
          </a:p>
          <a:p>
            <a:pPr lvl="0" algn="l"/>
            <a:r>
              <a:rPr lang="en-GB" altLang="zh-CN" sz="1400" dirty="0" err="1"/>
              <a:t>data_view</a:t>
            </a:r>
            <a:r>
              <a:rPr lang="en-GB" altLang="zh-CN" sz="1400" dirty="0"/>
              <a:t> : </a:t>
            </a:r>
            <a:r>
              <a:rPr lang="en-GB" altLang="zh-CN" sz="1400" dirty="0" err="1"/>
              <a:t>url_type</a:t>
            </a:r>
            <a:endParaRPr lang="en-GB" altLang="zh-CN" sz="1400" dirty="0"/>
          </a:p>
          <a:p>
            <a:pPr lvl="0" algn="l"/>
            <a:r>
              <a:rPr lang="en-GB" altLang="zh-CN" sz="1400" dirty="0" err="1"/>
              <a:t>window_type</a:t>
            </a:r>
            <a:r>
              <a:rPr lang="en-GB" altLang="zh-CN" sz="1400" dirty="0"/>
              <a:t> : time</a:t>
            </a:r>
          </a:p>
          <a:p>
            <a:pPr lvl="0" algn="l"/>
            <a:r>
              <a:rPr lang="en-GB" altLang="zh-CN" sz="1400" dirty="0" err="1"/>
              <a:t>step_length</a:t>
            </a:r>
            <a:r>
              <a:rPr lang="en-GB" altLang="zh-CN" sz="1400" dirty="0"/>
              <a:t> : 3600</a:t>
            </a:r>
          </a:p>
          <a:p>
            <a:pPr lvl="0" algn="l"/>
            <a:r>
              <a:rPr lang="en-GB" altLang="zh-CN" sz="1400" dirty="0"/>
              <a:t>version : 1</a:t>
            </a:r>
          </a:p>
          <a:p>
            <a:pPr lvl="0" algn="l"/>
            <a:r>
              <a:rPr lang="en-GB" altLang="zh-CN" sz="1400" dirty="0" err="1"/>
              <a:t>window_length</a:t>
            </a:r>
            <a:r>
              <a:rPr lang="en-GB" altLang="zh-CN" sz="1400" dirty="0"/>
              <a:t> : 14400</a:t>
            </a:r>
          </a:p>
        </p:txBody>
      </p:sp>
      <p:sp>
        <p:nvSpPr>
          <p:cNvPr id="12" name="矩形 11"/>
          <p:cNvSpPr/>
          <p:nvPr/>
        </p:nvSpPr>
        <p:spPr>
          <a:xfrm>
            <a:off x="739172" y="4780808"/>
            <a:ext cx="5140366" cy="2246769"/>
          </a:xfrm>
          <a:prstGeom prst="rect">
            <a:avLst/>
          </a:prstGeom>
          <a:solidFill>
            <a:schemeClr val="bg1">
              <a:lumMod val="95000"/>
              <a:alpha val="0"/>
            </a:schemeClr>
          </a:solidFill>
          <a:ln>
            <a:solidFill>
              <a:schemeClr val="tx1">
                <a:lumMod val="50000"/>
                <a:lumOff val="50000"/>
              </a:schemeClr>
            </a:solidFill>
          </a:ln>
        </p:spPr>
        <p:txBody>
          <a:bodyPr wrap="square" rtlCol="0">
            <a:spAutoFit/>
          </a:bodyPr>
          <a:lstStyle/>
          <a:p>
            <a:pPr algn="l"/>
            <a:r>
              <a:rPr lang="en-GB" altLang="zh-CN" sz="1400" dirty="0"/>
              <a:t>[@policy]</a:t>
            </a:r>
          </a:p>
          <a:p>
            <a:pPr algn="l"/>
            <a:r>
              <a:rPr lang="en-GB" altLang="zh-CN" sz="1400" dirty="0" err="1"/>
              <a:t>policy_type</a:t>
            </a:r>
            <a:r>
              <a:rPr lang="en-GB" altLang="zh-CN" sz="1400" dirty="0"/>
              <a:t> : rule</a:t>
            </a:r>
          </a:p>
          <a:p>
            <a:pPr algn="l"/>
            <a:r>
              <a:rPr lang="en-GB" altLang="zh-CN" sz="1400" dirty="0" err="1"/>
              <a:t>policy_id</a:t>
            </a:r>
            <a:r>
              <a:rPr lang="en-GB" altLang="zh-CN" sz="1400" dirty="0"/>
              <a:t> : 60421</a:t>
            </a:r>
          </a:p>
          <a:p>
            <a:pPr algn="l"/>
            <a:r>
              <a:rPr lang="en-GB" altLang="zh-CN" sz="1400" dirty="0"/>
              <a:t>[.@rule]</a:t>
            </a:r>
          </a:p>
          <a:p>
            <a:pPr algn="l"/>
            <a:r>
              <a:rPr lang="en-GB" altLang="zh-CN" sz="1400" dirty="0" err="1"/>
              <a:t>simple_ratio</a:t>
            </a:r>
            <a:r>
              <a:rPr lang="en-GB" altLang="zh-CN" sz="1400" dirty="0"/>
              <a:t> : 1</a:t>
            </a:r>
          </a:p>
          <a:p>
            <a:pPr algn="l"/>
            <a:r>
              <a:rPr lang="en-GB" altLang="zh-CN" sz="1400" dirty="0"/>
              <a:t>threshold : 0.85</a:t>
            </a:r>
          </a:p>
          <a:p>
            <a:pPr algn="l"/>
            <a:r>
              <a:rPr lang="en-GB" altLang="zh-CN" sz="1400" dirty="0" err="1"/>
              <a:t>feature_id</a:t>
            </a:r>
            <a:r>
              <a:rPr lang="en-GB" altLang="zh-CN" sz="1400" dirty="0"/>
              <a:t> : 60421</a:t>
            </a:r>
          </a:p>
          <a:p>
            <a:pPr algn="l"/>
            <a:r>
              <a:rPr lang="en-GB" altLang="zh-CN" sz="1400" dirty="0" err="1">
                <a:solidFill>
                  <a:srgbClr val="C00000"/>
                </a:solidFill>
              </a:rPr>
              <a:t>rule_type</a:t>
            </a:r>
            <a:r>
              <a:rPr lang="en-GB" altLang="zh-CN" sz="1400" dirty="0">
                <a:solidFill>
                  <a:srgbClr val="C00000"/>
                </a:solidFill>
              </a:rPr>
              <a:t> : concentration</a:t>
            </a:r>
          </a:p>
          <a:p>
            <a:pPr algn="l"/>
            <a:r>
              <a:rPr lang="en-GB" altLang="zh-CN" sz="1400" dirty="0">
                <a:solidFill>
                  <a:srgbClr val="C00000"/>
                </a:solidFill>
              </a:rPr>
              <a:t>remain : 50</a:t>
            </a:r>
          </a:p>
          <a:p>
            <a:pPr algn="l"/>
            <a:r>
              <a:rPr lang="en-GB" altLang="zh-CN" sz="1400" dirty="0" err="1">
                <a:solidFill>
                  <a:srgbClr val="C00000"/>
                </a:solidFill>
              </a:rPr>
              <a:t>filter_mode</a:t>
            </a:r>
            <a:r>
              <a:rPr lang="en-GB" altLang="zh-CN" sz="1400" dirty="0">
                <a:solidFill>
                  <a:srgbClr val="C00000"/>
                </a:solidFill>
              </a:rPr>
              <a:t> : 0</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265484" y="1195100"/>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en-US" altLang="zh-CN" b="1" dirty="0" err="1"/>
              <a:t>timediff</a:t>
            </a:r>
            <a:r>
              <a:rPr kumimoji="1" lang="zh-CN" altLang="en-US" b="1" dirty="0"/>
              <a:t>策略</a:t>
            </a:r>
          </a:p>
        </p:txBody>
      </p:sp>
      <p:sp>
        <p:nvSpPr>
          <p:cNvPr id="13" name="内容占位符 2"/>
          <p:cNvSpPr>
            <a:spLocks noGrp="1"/>
          </p:cNvSpPr>
          <p:nvPr>
            <p:ph idx="1"/>
          </p:nvPr>
        </p:nvSpPr>
        <p:spPr>
          <a:xfrm>
            <a:off x="453729" y="1790701"/>
            <a:ext cx="10557171" cy="3403600"/>
          </a:xfrm>
        </p:spPr>
        <p:txBody>
          <a:bodyPr/>
          <a:lstStyle/>
          <a:p>
            <a:pPr lvl="1">
              <a:buClr>
                <a:schemeClr val="tx1"/>
              </a:buClr>
              <a:buFont typeface="Wingdings" panose="05000000000000000000" pitchFamily="2" charset="2"/>
              <a:buChar char="n"/>
            </a:pPr>
            <a:r>
              <a:rPr lang="en-US" altLang="zh-CN" sz="1800" b="1" dirty="0" err="1">
                <a:latin typeface="微软雅黑" panose="020B0503020204020204" pitchFamily="34" charset="-122"/>
                <a:ea typeface="微软雅黑" panose="020B0503020204020204" pitchFamily="34" charset="-122"/>
              </a:rPr>
              <a:t>timediff</a:t>
            </a:r>
            <a:r>
              <a:rPr lang="zh-CN" altLang="en-US" sz="1800" b="1" dirty="0">
                <a:latin typeface="微软雅黑" panose="020B0503020204020204" pitchFamily="34" charset="-122"/>
                <a:ea typeface="微软雅黑" panose="020B0503020204020204" pitchFamily="34" charset="-122"/>
              </a:rPr>
              <a:t>策略</a:t>
            </a:r>
          </a:p>
          <a:p>
            <a:pPr lvl="2">
              <a:buClr>
                <a:schemeClr val="tx1"/>
              </a:buClr>
              <a:buFont typeface="Wingdings" panose="05000000000000000000" pitchFamily="2" charset="2"/>
              <a:buChar char="l"/>
            </a:pPr>
            <a:r>
              <a:rPr lang="zh-CN" altLang="en-US" sz="1600" dirty="0">
                <a:latin typeface="Times New Roman" panose="02020603050405020304" pitchFamily="18" charset="0"/>
              </a:rPr>
              <a:t>在一定段长内，</a:t>
            </a:r>
            <a:r>
              <a:rPr lang="zh-CN" altLang="en-US" sz="1600" dirty="0">
                <a:cs typeface="宋体" charset="0"/>
              </a:rPr>
              <a:t>同维度对象</a:t>
            </a:r>
            <a:r>
              <a:rPr lang="en-US" altLang="zh-CN" sz="1600" dirty="0">
                <a:cs typeface="宋体" charset="0"/>
              </a:rPr>
              <a:t>(</a:t>
            </a:r>
            <a:r>
              <a:rPr lang="zh-CN" altLang="en-US" sz="1600" dirty="0">
                <a:cs typeface="宋体" charset="0"/>
              </a:rPr>
              <a:t>或维度对象组合</a:t>
            </a:r>
            <a:r>
              <a:rPr lang="en-US" altLang="zh-CN" sz="1600" dirty="0">
                <a:cs typeface="宋体" charset="0"/>
              </a:rPr>
              <a:t>)</a:t>
            </a:r>
            <a:r>
              <a:rPr lang="zh-CN" altLang="en-US" sz="1600" dirty="0">
                <a:cs typeface="宋体" charset="0"/>
              </a:rPr>
              <a:t>下的两条日志，如果前后时间差在阈值区间内，那么顺序上位于</a:t>
            </a:r>
            <a:r>
              <a:rPr lang="zh-CN" altLang="en-US" sz="1600" b="1" dirty="0">
                <a:cs typeface="宋体" charset="0"/>
              </a:rPr>
              <a:t>后面</a:t>
            </a:r>
            <a:r>
              <a:rPr lang="zh-CN" altLang="en-US" sz="1600" dirty="0">
                <a:cs typeface="宋体" charset="0"/>
              </a:rPr>
              <a:t>的日志将被策略命中。</a:t>
            </a:r>
            <a:endParaRPr lang="zh-CN" altLang="en-US" sz="1600" dirty="0">
              <a:latin typeface="Times New Roman" panose="02020603050405020304" pitchFamily="18" charset="0"/>
            </a:endParaRPr>
          </a:p>
          <a:p>
            <a:pPr lvl="2">
              <a:buClr>
                <a:schemeClr val="tx1"/>
              </a:buClr>
              <a:buFont typeface="Wingdings" panose="05000000000000000000" pitchFamily="2" charset="2"/>
              <a:buChar char="l"/>
            </a:pPr>
            <a:endParaRPr lang="zh-CN" altLang="en-US" sz="1600" dirty="0"/>
          </a:p>
          <a:p>
            <a:pPr lvl="1">
              <a:buClr>
                <a:schemeClr val="tx1"/>
              </a:buClr>
              <a:buFont typeface="Wingdings" panose="05000000000000000000" pitchFamily="2" charset="2"/>
              <a:buChar char="n"/>
            </a:pPr>
            <a:r>
              <a:rPr lang="zh-CN" altLang="en-US" sz="1800" b="1" dirty="0">
                <a:latin typeface="微软雅黑" panose="020B0503020204020204" pitchFamily="34" charset="-122"/>
                <a:ea typeface="微软雅黑" panose="020B0503020204020204" pitchFamily="34" charset="-122"/>
              </a:rPr>
              <a:t>可用特征</a:t>
            </a:r>
          </a:p>
          <a:p>
            <a:pPr lvl="2">
              <a:buClr>
                <a:schemeClr val="tx1"/>
              </a:buClr>
              <a:buFont typeface="Wingdings" panose="05000000000000000000" pitchFamily="2" charset="2"/>
              <a:buChar char="l"/>
            </a:pPr>
            <a:r>
              <a:rPr lang="zh-CN" altLang="en-GB" sz="1600" dirty="0"/>
              <a:t>时间</a:t>
            </a:r>
            <a:r>
              <a:rPr lang="zh-CN" altLang="en-US" sz="1600" dirty="0"/>
              <a:t>差特征</a:t>
            </a:r>
            <a:r>
              <a:rPr lang="en-US" altLang="zh-CN" sz="1600" dirty="0" err="1"/>
              <a:t>timediff</a:t>
            </a:r>
            <a:endParaRPr lang="en-US" altLang="zh-CN" sz="1600" dirty="0"/>
          </a:p>
          <a:p>
            <a:pPr lvl="2">
              <a:buClr>
                <a:schemeClr val="tx1"/>
              </a:buClr>
              <a:buFont typeface="Wingdings" panose="05000000000000000000" pitchFamily="2" charset="2"/>
              <a:buChar char="l"/>
            </a:pPr>
            <a:endParaRPr lang="en-GB" altLang="zh-CN" sz="1600" dirty="0"/>
          </a:p>
          <a:p>
            <a:pPr lvl="1">
              <a:buClr>
                <a:schemeClr val="tx1"/>
              </a:buClr>
              <a:buFont typeface="Wingdings" panose="05000000000000000000" pitchFamily="2" charset="2"/>
              <a:buChar char="n"/>
            </a:pPr>
            <a:r>
              <a:rPr lang="zh-CN" altLang="en-US" sz="1800" b="1" dirty="0">
                <a:latin typeface="微软雅黑" panose="020B0503020204020204" pitchFamily="34" charset="-122"/>
                <a:ea typeface="微软雅黑" panose="020B0503020204020204" pitchFamily="34" charset="-122"/>
              </a:rPr>
              <a:t>适用场景</a:t>
            </a:r>
          </a:p>
          <a:p>
            <a:pPr lvl="2">
              <a:buClr>
                <a:schemeClr val="tx1"/>
              </a:buClr>
              <a:buFont typeface="Wingdings" panose="05000000000000000000" pitchFamily="2" charset="2"/>
              <a:buChar char="l"/>
            </a:pPr>
            <a:r>
              <a:rPr lang="zh-CN" altLang="en-US" sz="1600" dirty="0"/>
              <a:t>主要针对检索日志中较短时间内重复检索、</a:t>
            </a:r>
            <a:r>
              <a:rPr lang="en-GB" altLang="zh-CN" sz="1600" dirty="0"/>
              <a:t>wise</a:t>
            </a:r>
            <a:r>
              <a:rPr lang="zh-CN" altLang="en-US" sz="1600" dirty="0"/>
              <a:t>预读、网页回翻等问题。</a:t>
            </a:r>
          </a:p>
          <a:p>
            <a:pPr lvl="3">
              <a:buClr>
                <a:schemeClr val="tx1"/>
              </a:buClr>
              <a:buFont typeface="Wingdings" panose="05000000000000000000" pitchFamily="2" charset="2"/>
              <a:buChar char="l"/>
            </a:pPr>
            <a:r>
              <a:rPr lang="en-GB" altLang="zh-CN" sz="1400" dirty="0"/>
              <a:t>wise</a:t>
            </a:r>
            <a:r>
              <a:rPr lang="zh-CN" altLang="en-US" sz="1400" dirty="0"/>
              <a:t>预读：在</a:t>
            </a:r>
            <a:r>
              <a:rPr lang="en-GB" altLang="zh-CN" sz="1400" dirty="0"/>
              <a:t>wise</a:t>
            </a:r>
            <a:r>
              <a:rPr lang="zh-CN" altLang="en-US" sz="1400" dirty="0"/>
              <a:t>端，手机浏览器会提前缓存下一页的检索结果，但是用户并没有点下一页。</a:t>
            </a:r>
          </a:p>
          <a:p>
            <a:pPr lvl="3">
              <a:buClr>
                <a:schemeClr val="tx1"/>
              </a:buClr>
              <a:buFont typeface="Wingdings" panose="05000000000000000000" pitchFamily="2" charset="2"/>
              <a:buChar char="l"/>
            </a:pPr>
            <a:r>
              <a:rPr lang="zh-CN" altLang="en-US" sz="1400" dirty="0"/>
              <a:t>回翻：用户回到上一页，这样只能算一条</a:t>
            </a:r>
            <a:r>
              <a:rPr lang="en-GB" altLang="zh-CN" sz="1400" dirty="0" err="1"/>
              <a:t>pv</a:t>
            </a:r>
            <a:r>
              <a:rPr lang="zh-CN" altLang="en-GB" sz="1400" dirty="0"/>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500446" y="1162817"/>
            <a:ext cx="6284259" cy="369332"/>
          </a:xfrm>
          <a:prstGeom prst="rect">
            <a:avLst/>
          </a:prstGeom>
          <a:noFill/>
        </p:spPr>
        <p:txBody>
          <a:bodyPr wrap="square" rtlCol="0">
            <a:spAutoFit/>
          </a:bodyPr>
          <a:lstStyle/>
          <a:p>
            <a:r>
              <a:rPr kumimoji="1" lang="zh-CN" altLang="en-US" b="1" dirty="0"/>
              <a:t>统计类策略</a:t>
            </a:r>
            <a:r>
              <a:rPr kumimoji="1" lang="en-US" altLang="zh-CN" b="1" dirty="0"/>
              <a:t>_</a:t>
            </a:r>
            <a:r>
              <a:rPr kumimoji="1" lang="en-US" altLang="zh-CN" b="1" dirty="0" err="1"/>
              <a:t>timediff</a:t>
            </a:r>
            <a:r>
              <a:rPr kumimoji="1" lang="zh-CN" altLang="en-US" b="1" dirty="0"/>
              <a:t>策略</a:t>
            </a:r>
          </a:p>
        </p:txBody>
      </p:sp>
      <p:sp>
        <p:nvSpPr>
          <p:cNvPr id="9" name="文本框 8"/>
          <p:cNvSpPr txBox="1"/>
          <p:nvPr/>
        </p:nvSpPr>
        <p:spPr>
          <a:xfrm>
            <a:off x="500447" y="1785117"/>
            <a:ext cx="3830254" cy="4678204"/>
          </a:xfrm>
          <a:prstGeom prst="rect">
            <a:avLst/>
          </a:prstGeom>
          <a:noFill/>
        </p:spPr>
        <p:txBody>
          <a:bodyPr wrap="square" rtlCol="0">
            <a:spAutoFit/>
          </a:bodyPr>
          <a:lstStyle/>
          <a:p>
            <a:pPr lvl="0"/>
            <a:r>
              <a:rPr lang="en-GB" altLang="zh-CN" sz="1400" dirty="0"/>
              <a:t>[@policy]</a:t>
            </a:r>
          </a:p>
          <a:p>
            <a:pPr lvl="0"/>
            <a:r>
              <a:rPr lang="en-GB" altLang="zh-CN" sz="1400" dirty="0" err="1"/>
              <a:t>policy_type</a:t>
            </a:r>
            <a:r>
              <a:rPr lang="en-GB" altLang="zh-CN" sz="1400" dirty="0"/>
              <a:t> : rule</a:t>
            </a:r>
          </a:p>
          <a:p>
            <a:pPr lvl="0"/>
            <a:r>
              <a:rPr lang="en-GB" altLang="zh-CN" sz="1400" dirty="0" err="1"/>
              <a:t>policy_id</a:t>
            </a:r>
            <a:r>
              <a:rPr lang="en-GB" altLang="zh-CN" sz="1400" dirty="0"/>
              <a:t> : 50012</a:t>
            </a:r>
          </a:p>
          <a:p>
            <a:pPr lvl="0"/>
            <a:r>
              <a:rPr lang="en-GB" altLang="zh-CN" sz="1400" dirty="0"/>
              <a:t>[.@rule]</a:t>
            </a:r>
          </a:p>
          <a:p>
            <a:pPr lvl="0"/>
            <a:r>
              <a:rPr lang="en-GB" altLang="zh-CN" sz="1400" dirty="0" err="1"/>
              <a:t>gray_file</a:t>
            </a:r>
            <a:r>
              <a:rPr lang="en-GB" altLang="zh-CN" sz="1400" dirty="0"/>
              <a:t> : </a:t>
            </a:r>
            <a:r>
              <a:rPr lang="en-GB" altLang="zh-CN" sz="1400" dirty="0" err="1"/>
              <a:t>empty_file</a:t>
            </a:r>
            <a:endParaRPr lang="en-GB" altLang="zh-CN" sz="1400" dirty="0"/>
          </a:p>
          <a:p>
            <a:pPr lvl="0"/>
            <a:r>
              <a:rPr lang="en-GB" altLang="zh-CN" sz="1400" dirty="0"/>
              <a:t>threshold : 60</a:t>
            </a:r>
          </a:p>
          <a:p>
            <a:pPr lvl="0"/>
            <a:r>
              <a:rPr lang="en-GB" altLang="zh-CN" sz="1400" dirty="0" err="1"/>
              <a:t>feature_id</a:t>
            </a:r>
            <a:r>
              <a:rPr lang="en-GB" altLang="zh-CN" sz="1400" dirty="0"/>
              <a:t> : 50012</a:t>
            </a:r>
          </a:p>
          <a:p>
            <a:pPr lvl="0"/>
            <a:r>
              <a:rPr lang="en-GB" altLang="zh-CN" sz="1400" dirty="0" err="1"/>
              <a:t>rule_type</a:t>
            </a:r>
            <a:r>
              <a:rPr lang="en-GB" altLang="zh-CN" sz="1400" dirty="0"/>
              <a:t> : </a:t>
            </a:r>
            <a:r>
              <a:rPr lang="en-GB" altLang="zh-CN" sz="1400" dirty="0" err="1"/>
              <a:t>timediff</a:t>
            </a:r>
            <a:endParaRPr lang="en-GB" altLang="zh-CN" sz="1400" dirty="0"/>
          </a:p>
          <a:p>
            <a:pPr lvl="0"/>
            <a:r>
              <a:rPr lang="en-GB" altLang="zh-CN" sz="1400" dirty="0" err="1"/>
              <a:t>threshold_lower</a:t>
            </a:r>
            <a:r>
              <a:rPr lang="en-GB" altLang="zh-CN" sz="1400" dirty="0"/>
              <a:t> : 1</a:t>
            </a:r>
          </a:p>
          <a:p>
            <a:pPr lvl="0"/>
            <a:r>
              <a:rPr lang="en-GB" altLang="zh-CN" sz="1400" dirty="0"/>
              <a:t> </a:t>
            </a:r>
          </a:p>
          <a:p>
            <a:pPr lvl="0"/>
            <a:r>
              <a:rPr lang="en-GB" altLang="zh-CN" sz="1400" dirty="0"/>
              <a:t>[@feature]</a:t>
            </a:r>
          </a:p>
          <a:p>
            <a:pPr lvl="0"/>
            <a:r>
              <a:rPr lang="en-GB" altLang="zh-CN" sz="1400" dirty="0" err="1"/>
              <a:t>feature_id</a:t>
            </a:r>
            <a:r>
              <a:rPr lang="en-GB" altLang="zh-CN" sz="1400" dirty="0"/>
              <a:t> : 50012</a:t>
            </a:r>
          </a:p>
          <a:p>
            <a:pPr lvl="0"/>
            <a:r>
              <a:rPr lang="en-GB" altLang="zh-CN" sz="1400" dirty="0" err="1"/>
              <a:t>view_level</a:t>
            </a:r>
            <a:r>
              <a:rPr lang="en-GB" altLang="zh-CN" sz="1400" dirty="0"/>
              <a:t> : </a:t>
            </a:r>
            <a:r>
              <a:rPr lang="en-GB" altLang="zh-CN" sz="1400" dirty="0" err="1"/>
              <a:t>pv_level</a:t>
            </a:r>
            <a:endParaRPr lang="en-GB" altLang="zh-CN" sz="1400" dirty="0"/>
          </a:p>
          <a:p>
            <a:pPr lvl="0"/>
            <a:r>
              <a:rPr lang="en-GB" altLang="zh-CN" sz="1400" dirty="0" err="1"/>
              <a:t>feature_type</a:t>
            </a:r>
            <a:r>
              <a:rPr lang="en-GB" altLang="zh-CN" sz="1400" dirty="0"/>
              <a:t> : </a:t>
            </a:r>
            <a:r>
              <a:rPr lang="en-GB" altLang="zh-CN" sz="1400" dirty="0" err="1"/>
              <a:t>timediff</a:t>
            </a:r>
            <a:endParaRPr lang="en-GB" altLang="zh-CN" sz="1400" dirty="0"/>
          </a:p>
          <a:p>
            <a:pPr lvl="0"/>
            <a:r>
              <a:rPr lang="en-GB" altLang="zh-CN" sz="1400" dirty="0"/>
              <a:t>range : 61</a:t>
            </a:r>
          </a:p>
          <a:p>
            <a:pPr lvl="0"/>
            <a:r>
              <a:rPr lang="en-GB" altLang="zh-CN" sz="1400" dirty="0"/>
              <a:t>care : ['bd'!='-NULL-']['</a:t>
            </a:r>
            <a:r>
              <a:rPr lang="en-GB" altLang="zh-CN" sz="1400" dirty="0" err="1"/>
              <a:t>srcid_list</a:t>
            </a:r>
            <a:r>
              <a:rPr lang="en-GB" altLang="zh-CN" sz="1400" dirty="0"/>
              <a:t>':='160','111']</a:t>
            </a:r>
          </a:p>
          <a:p>
            <a:pPr lvl="0"/>
            <a:r>
              <a:rPr lang="en-GB" altLang="zh-CN" sz="1400" dirty="0"/>
              <a:t>view : </a:t>
            </a:r>
            <a:r>
              <a:rPr lang="en-GB" altLang="zh-CN" sz="1400" dirty="0" err="1"/>
              <a:t>query,bd,pn</a:t>
            </a:r>
            <a:endParaRPr lang="en-GB" altLang="zh-CN" sz="1400" dirty="0"/>
          </a:p>
          <a:p>
            <a:pPr lvl="0"/>
            <a:r>
              <a:rPr lang="en-GB" altLang="zh-CN" sz="1400" dirty="0" err="1"/>
              <a:t>window_type</a:t>
            </a:r>
            <a:r>
              <a:rPr lang="en-GB" altLang="zh-CN" sz="1400" dirty="0"/>
              <a:t> : time</a:t>
            </a:r>
          </a:p>
          <a:p>
            <a:pPr lvl="0"/>
            <a:r>
              <a:rPr lang="en-GB" altLang="zh-CN" sz="1400" dirty="0"/>
              <a:t>version : 1</a:t>
            </a:r>
          </a:p>
          <a:p>
            <a:pPr lvl="0"/>
            <a:r>
              <a:rPr lang="en-GB" altLang="zh-CN" sz="1400" dirty="0" err="1"/>
              <a:t>window_length</a:t>
            </a:r>
            <a:r>
              <a:rPr lang="en-GB" altLang="zh-CN" sz="1400" dirty="0"/>
              <a:t> : 300</a:t>
            </a:r>
          </a:p>
          <a:p>
            <a:endParaRPr kumimoji="1" lang="zh-CN" altLang="en-US" b="1" dirty="0"/>
          </a:p>
        </p:txBody>
      </p:sp>
      <p:sp>
        <p:nvSpPr>
          <p:cNvPr id="10" name="内容占位符 2"/>
          <p:cNvSpPr>
            <a:spLocks noGrp="1"/>
          </p:cNvSpPr>
          <p:nvPr>
            <p:ph idx="1"/>
          </p:nvPr>
        </p:nvSpPr>
        <p:spPr>
          <a:xfrm>
            <a:off x="3924299" y="1785117"/>
            <a:ext cx="6879235" cy="4237541"/>
          </a:xfrm>
          <a:solidFill>
            <a:schemeClr val="bg1">
              <a:alpha val="0"/>
            </a:schemeClr>
          </a:solidFill>
        </p:spPr>
        <p:txBody>
          <a:bodyPr>
            <a:normAutofit/>
          </a:bodyPr>
          <a:lstStyle/>
          <a:p>
            <a:pPr lvl="1">
              <a:buClr>
                <a:schemeClr val="tx1"/>
              </a:buClr>
              <a:buFont typeface="Wingdings" panose="05000000000000000000" pitchFamily="2" charset="2"/>
              <a:buChar char="l"/>
            </a:pPr>
            <a:r>
              <a:rPr lang="en-GB" altLang="zh-CN" sz="1800" b="1" dirty="0" err="1">
                <a:latin typeface="微软雅黑" panose="020B0503020204020204" pitchFamily="34" charset="-122"/>
                <a:ea typeface="微软雅黑" panose="020B0503020204020204" pitchFamily="34" charset="-122"/>
              </a:rPr>
              <a:t>timediff</a:t>
            </a:r>
            <a:r>
              <a:rPr lang="zh-CN" altLang="en-US" sz="1800" b="1" dirty="0">
                <a:latin typeface="微软雅黑" panose="020B0503020204020204" pitchFamily="34" charset="-122"/>
                <a:ea typeface="微软雅黑" panose="020B0503020204020204" pitchFamily="34" charset="-122"/>
              </a:rPr>
              <a:t>策略</a:t>
            </a:r>
          </a:p>
          <a:p>
            <a:pPr lvl="1">
              <a:buClr>
                <a:schemeClr val="tx1"/>
              </a:buClr>
              <a:buFont typeface="Wingdings" panose="05000000000000000000" pitchFamily="2" charset="2"/>
              <a:buChar char="l"/>
            </a:pPr>
            <a:endParaRPr lang="zh-CN" altLang="en-US" sz="800" b="1" dirty="0">
              <a:latin typeface="微软雅黑" panose="020B0503020204020204" pitchFamily="34" charset="-122"/>
              <a:ea typeface="微软雅黑" panose="020B0503020204020204" pitchFamily="34" charset="-122"/>
            </a:endParaRPr>
          </a:p>
          <a:p>
            <a:pPr lvl="2">
              <a:buClr>
                <a:schemeClr val="tx1"/>
              </a:buClr>
              <a:buFont typeface="Wingdings" panose="05000000000000000000" pitchFamily="2" charset="2"/>
              <a:buChar char="l"/>
            </a:pPr>
            <a:r>
              <a:rPr lang="zh-CN" altLang="en-US" sz="1600" b="1" dirty="0"/>
              <a:t>业务场景</a:t>
            </a:r>
            <a:r>
              <a:rPr lang="zh-CN" altLang="en-US" sz="1600" dirty="0"/>
              <a:t>：处理网页回翻问题：同一</a:t>
            </a:r>
            <a:r>
              <a:rPr lang="en-GB" altLang="zh-CN" sz="1600" dirty="0" err="1"/>
              <a:t>bd</a:t>
            </a:r>
            <a:r>
              <a:rPr lang="zh-CN" altLang="en-GB" sz="1600" dirty="0"/>
              <a:t>，</a:t>
            </a:r>
            <a:r>
              <a:rPr lang="en-GB" altLang="zh-CN" sz="1600" dirty="0" err="1"/>
              <a:t>useragent</a:t>
            </a:r>
            <a:r>
              <a:rPr lang="zh-CN" altLang="en-US" sz="1600" dirty="0"/>
              <a:t>和</a:t>
            </a:r>
            <a:r>
              <a:rPr lang="en-GB" altLang="zh-CN" sz="1600" dirty="0" err="1"/>
              <a:t>page_number</a:t>
            </a:r>
            <a:r>
              <a:rPr lang="zh-CN" altLang="en-GB" sz="1600" dirty="0"/>
              <a:t>下</a:t>
            </a:r>
            <a:r>
              <a:rPr lang="zh-CN" altLang="en-US" sz="1600" dirty="0"/>
              <a:t>，过滤时间差在一定区间内的重复日志。</a:t>
            </a:r>
            <a:endParaRPr lang="en-US" altLang="zh-CN" sz="1600" dirty="0"/>
          </a:p>
          <a:p>
            <a:pPr lvl="2">
              <a:buClr>
                <a:schemeClr val="tx1"/>
              </a:buClr>
              <a:buFont typeface="Wingdings" panose="05000000000000000000" pitchFamily="2" charset="2"/>
              <a:buChar char="l"/>
            </a:pPr>
            <a:endParaRPr lang="en-US" altLang="zh-CN" sz="800" dirty="0"/>
          </a:p>
          <a:p>
            <a:pPr lvl="2">
              <a:buClr>
                <a:schemeClr val="tx1"/>
              </a:buClr>
              <a:buFont typeface="Wingdings" panose="05000000000000000000" pitchFamily="2" charset="2"/>
              <a:buChar char="l"/>
            </a:pPr>
            <a:r>
              <a:rPr lang="zh-CN" altLang="en-US" sz="1600" b="1" dirty="0"/>
              <a:t>参数说明</a:t>
            </a:r>
            <a:r>
              <a:rPr lang="zh-CN" altLang="en-US" sz="1600" dirty="0"/>
              <a:t>：</a:t>
            </a:r>
            <a:endParaRPr lang="en-US" altLang="zh-CN" sz="1600" dirty="0"/>
          </a:p>
          <a:p>
            <a:pPr lvl="3">
              <a:buClr>
                <a:schemeClr val="tx1"/>
              </a:buClr>
              <a:buFont typeface="Wingdings" panose="05000000000000000000" pitchFamily="2" charset="2"/>
              <a:buChar char="l"/>
            </a:pPr>
            <a:r>
              <a:rPr lang="en-GB" altLang="zh-CN" b="1" dirty="0"/>
              <a:t>threshold</a:t>
            </a:r>
            <a:r>
              <a:rPr lang="zh-CN" altLang="en-GB" dirty="0"/>
              <a:t>：</a:t>
            </a:r>
            <a:r>
              <a:rPr lang="zh-CN" altLang="en-US" dirty="0"/>
              <a:t>阈值区间上限</a:t>
            </a:r>
          </a:p>
          <a:p>
            <a:pPr lvl="3">
              <a:buClr>
                <a:schemeClr val="tx1"/>
              </a:buClr>
              <a:buFont typeface="Wingdings" panose="05000000000000000000" pitchFamily="2" charset="2"/>
              <a:buChar char="l"/>
            </a:pPr>
            <a:r>
              <a:rPr lang="en-GB" altLang="zh-CN" b="1" dirty="0" err="1"/>
              <a:t>threshold_lower</a:t>
            </a:r>
            <a:r>
              <a:rPr lang="zh-CN" altLang="en-GB" dirty="0"/>
              <a:t>：</a:t>
            </a:r>
            <a:r>
              <a:rPr lang="zh-CN" altLang="en-US" dirty="0"/>
              <a:t>阈值区间下限</a:t>
            </a:r>
          </a:p>
          <a:p>
            <a:pPr lvl="3">
              <a:buClr>
                <a:schemeClr val="tx1"/>
              </a:buClr>
              <a:buFont typeface="Wingdings" panose="05000000000000000000" pitchFamily="2" charset="2"/>
              <a:buChar char="l"/>
            </a:pPr>
            <a:r>
              <a:rPr lang="en-GB" altLang="zh-CN" b="1" dirty="0"/>
              <a:t>range</a:t>
            </a:r>
            <a:r>
              <a:rPr lang="en-GB" altLang="zh-CN" dirty="0"/>
              <a:t>: </a:t>
            </a:r>
            <a:r>
              <a:rPr lang="zh-CN" altLang="en-US" dirty="0"/>
              <a:t>特征累积程序实现时需要用到的一个参数，程序使用一个缓存结构存储一个段中所有的记录，累积到某个坐标的日志时，需要遍历这个缓存结构以得到时间差，在该日志之前，并且日志坐标相差大于等于</a:t>
            </a:r>
            <a:r>
              <a:rPr lang="en-GB" altLang="zh-CN" dirty="0"/>
              <a:t>range</a:t>
            </a:r>
            <a:r>
              <a:rPr lang="zh-CN" altLang="en-US" dirty="0"/>
              <a:t>的不会加入时间差计算。</a:t>
            </a:r>
          </a:p>
          <a:p>
            <a:pPr lvl="3">
              <a:buClr>
                <a:schemeClr val="tx1"/>
              </a:buClr>
              <a:buFont typeface="Wingdings" panose="05000000000000000000" pitchFamily="2" charset="2"/>
              <a:buChar char="l"/>
            </a:pPr>
            <a:endParaRPr lang="zh-CN" altLang="en-US" sz="1400" dirty="0"/>
          </a:p>
          <a:p>
            <a:pPr lvl="2">
              <a:buClr>
                <a:schemeClr val="tx1"/>
              </a:buClr>
              <a:buFont typeface="Wingdings" panose="05000000000000000000" pitchFamily="2" charset="2"/>
              <a:buChar char="l"/>
            </a:pPr>
            <a:endParaRPr lang="en-US" altLang="zh-CN"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500446" y="1162817"/>
            <a:ext cx="6284259" cy="369332"/>
          </a:xfrm>
          <a:prstGeom prst="rect">
            <a:avLst/>
          </a:prstGeom>
          <a:noFill/>
        </p:spPr>
        <p:txBody>
          <a:bodyPr wrap="square" rtlCol="0">
            <a:spAutoFit/>
          </a:bodyPr>
          <a:lstStyle/>
          <a:p>
            <a:r>
              <a:rPr kumimoji="1" lang="zh-CN" altLang="en-US" b="1" dirty="0"/>
              <a:t>统计类策略</a:t>
            </a:r>
            <a:r>
              <a:rPr kumimoji="1" lang="en-US" altLang="zh-CN" b="1" dirty="0"/>
              <a:t>_hijack</a:t>
            </a:r>
            <a:r>
              <a:rPr kumimoji="1" lang="zh-CN" altLang="en-US" b="1" dirty="0"/>
              <a:t>策略</a:t>
            </a:r>
          </a:p>
        </p:txBody>
      </p:sp>
      <p:sp>
        <p:nvSpPr>
          <p:cNvPr id="11" name="内容占位符 2"/>
          <p:cNvSpPr>
            <a:spLocks noGrp="1"/>
          </p:cNvSpPr>
          <p:nvPr>
            <p:ph idx="1"/>
          </p:nvPr>
        </p:nvSpPr>
        <p:spPr>
          <a:xfrm>
            <a:off x="515380" y="1996232"/>
            <a:ext cx="11161240" cy="4220397"/>
          </a:xfrm>
        </p:spPr>
        <p:txBody>
          <a:bodyPr>
            <a:normAutofit/>
          </a:bodyPr>
          <a:lstStyle/>
          <a:p>
            <a:pPr lvl="1">
              <a:buClr>
                <a:schemeClr val="tx1"/>
              </a:buClr>
              <a:buFont typeface="Wingdings" panose="05000000000000000000" pitchFamily="2" charset="2"/>
              <a:buChar char="n"/>
            </a:pPr>
            <a:r>
              <a:rPr lang="en-GB" altLang="zh-CN" sz="1800" b="1" dirty="0">
                <a:latin typeface="微软雅黑" panose="020B0503020204020204" pitchFamily="34" charset="-122"/>
                <a:ea typeface="微软雅黑" panose="020B0503020204020204" pitchFamily="34" charset="-122"/>
              </a:rPr>
              <a:t>hijack</a:t>
            </a:r>
            <a:r>
              <a:rPr lang="zh-CN" altLang="en-US" sz="1800" b="1" dirty="0">
                <a:latin typeface="微软雅黑" panose="020B0503020204020204" pitchFamily="34" charset="-122"/>
                <a:ea typeface="微软雅黑" panose="020B0503020204020204" pitchFamily="34" charset="-122"/>
              </a:rPr>
              <a:t>策略</a:t>
            </a:r>
          </a:p>
          <a:p>
            <a:pPr lvl="2">
              <a:buClr>
                <a:schemeClr val="tx1"/>
              </a:buClr>
              <a:buFont typeface="Wingdings" panose="05000000000000000000" pitchFamily="2" charset="2"/>
              <a:buChar char="l"/>
            </a:pPr>
            <a:r>
              <a:rPr lang="zh-CN" altLang="en-US" sz="1600" dirty="0">
                <a:cs typeface="宋体" charset="0"/>
              </a:rPr>
              <a:t>在一定段长的日志中，同维度对象</a:t>
            </a:r>
            <a:r>
              <a:rPr lang="en-US" altLang="zh-CN" sz="1600" dirty="0">
                <a:cs typeface="宋体" charset="0"/>
              </a:rPr>
              <a:t>(</a:t>
            </a:r>
            <a:r>
              <a:rPr lang="zh-CN" altLang="en-US" sz="1600" dirty="0">
                <a:cs typeface="宋体" charset="0"/>
              </a:rPr>
              <a:t>或维度对象组合</a:t>
            </a:r>
            <a:r>
              <a:rPr lang="en-US" altLang="zh-CN" sz="1600" dirty="0">
                <a:cs typeface="宋体" charset="0"/>
              </a:rPr>
              <a:t>)</a:t>
            </a:r>
            <a:r>
              <a:rPr lang="zh-CN" altLang="en-US" sz="1600" dirty="0">
                <a:cs typeface="宋体" charset="0"/>
              </a:rPr>
              <a:t>下的两条日志，如果前后时间差小于某一阈值，那么顺序上位于</a:t>
            </a:r>
            <a:r>
              <a:rPr lang="zh-CN" altLang="en-US" sz="1600" b="1" dirty="0">
                <a:cs typeface="宋体" charset="0"/>
              </a:rPr>
              <a:t>前面</a:t>
            </a:r>
            <a:r>
              <a:rPr lang="zh-CN" altLang="en-US" sz="1600" dirty="0">
                <a:cs typeface="宋体" charset="0"/>
              </a:rPr>
              <a:t>的日志将被策略命中。</a:t>
            </a:r>
            <a:endParaRPr lang="en-US" altLang="zh-CN" sz="1600" dirty="0">
              <a:cs typeface="宋体" charset="0"/>
            </a:endParaRPr>
          </a:p>
          <a:p>
            <a:pPr lvl="2">
              <a:buClr>
                <a:schemeClr val="tx1"/>
              </a:buClr>
              <a:buFont typeface="Wingdings" panose="05000000000000000000" pitchFamily="2" charset="2"/>
              <a:buChar char="l"/>
            </a:pPr>
            <a:endParaRPr lang="zh-CN" altLang="en-US" sz="1600" dirty="0"/>
          </a:p>
          <a:p>
            <a:pPr lvl="1">
              <a:buClr>
                <a:schemeClr val="tx1"/>
              </a:buClr>
              <a:buFont typeface="Wingdings" panose="05000000000000000000" pitchFamily="2" charset="2"/>
              <a:buChar char="n"/>
            </a:pPr>
            <a:r>
              <a:rPr lang="zh-CN" altLang="en-US" sz="1800" b="1" dirty="0">
                <a:latin typeface="微软雅黑" panose="020B0503020204020204" pitchFamily="34" charset="-122"/>
                <a:ea typeface="微软雅黑" panose="020B0503020204020204" pitchFamily="34" charset="-122"/>
              </a:rPr>
              <a:t>可用特征</a:t>
            </a:r>
          </a:p>
          <a:p>
            <a:pPr lvl="2">
              <a:buClr>
                <a:schemeClr val="tx1"/>
              </a:buClr>
              <a:buFont typeface="Wingdings" panose="05000000000000000000" pitchFamily="2" charset="2"/>
              <a:buChar char="l"/>
            </a:pPr>
            <a:r>
              <a:rPr lang="en-GB" altLang="zh-CN" sz="1600" dirty="0">
                <a:cs typeface="宋体" charset="0"/>
              </a:rPr>
              <a:t>hijack</a:t>
            </a:r>
            <a:r>
              <a:rPr lang="zh-CN" altLang="en-US" sz="1600" dirty="0">
                <a:cs typeface="宋体" charset="0"/>
              </a:rPr>
              <a:t>特征</a:t>
            </a:r>
          </a:p>
          <a:p>
            <a:pPr lvl="2">
              <a:buClr>
                <a:schemeClr val="tx1"/>
              </a:buClr>
              <a:buFont typeface="Wingdings" panose="05000000000000000000" pitchFamily="2" charset="2"/>
              <a:buChar char="l"/>
            </a:pPr>
            <a:endParaRPr lang="en-GB" altLang="zh-CN" sz="1600" dirty="0">
              <a:cs typeface="宋体" charset="0"/>
            </a:endParaRPr>
          </a:p>
          <a:p>
            <a:pPr lvl="1">
              <a:buClr>
                <a:schemeClr val="tx1"/>
              </a:buClr>
              <a:buFont typeface="Wingdings" panose="05000000000000000000" pitchFamily="2" charset="2"/>
              <a:buChar char="n"/>
            </a:pPr>
            <a:r>
              <a:rPr lang="zh-CN" altLang="en-US" sz="1800" b="1" dirty="0">
                <a:latin typeface="微软雅黑" panose="020B0503020204020204" pitchFamily="34" charset="-122"/>
                <a:ea typeface="微软雅黑" panose="020B0503020204020204" pitchFamily="34" charset="-122"/>
              </a:rPr>
              <a:t>适用场景</a:t>
            </a:r>
          </a:p>
          <a:p>
            <a:pPr lvl="2">
              <a:buClr>
                <a:schemeClr val="tx1"/>
              </a:buClr>
              <a:buFont typeface="Wingdings" panose="05000000000000000000" pitchFamily="2" charset="2"/>
              <a:buChar char="l"/>
            </a:pPr>
            <a:r>
              <a:rPr lang="zh-CN" altLang="en-US" sz="1600" b="1" dirty="0"/>
              <a:t>极短</a:t>
            </a:r>
            <a:r>
              <a:rPr lang="zh-CN" altLang="en-US" sz="1600" dirty="0"/>
              <a:t>时间内的</a:t>
            </a:r>
            <a:r>
              <a:rPr lang="zh-CN" altLang="zh-CN" sz="1600" dirty="0"/>
              <a:t>重复检索</a:t>
            </a:r>
            <a:r>
              <a:rPr lang="zh-CN" altLang="en-US" sz="1600" dirty="0"/>
              <a:t>问题。</a:t>
            </a:r>
            <a:endParaRPr lang="en-US" altLang="zh-CN" sz="1600" dirty="0"/>
          </a:p>
          <a:p>
            <a:pPr lvl="2">
              <a:buClr>
                <a:schemeClr val="tx1"/>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宋体" charset="0"/>
              </a:rPr>
              <a:t>解决检索日志中的流量劫持问题，作弊者会通过各种手段篡改正常</a:t>
            </a:r>
            <a:r>
              <a:rPr lang="en-GB" altLang="zh-CN" sz="1600" dirty="0" err="1">
                <a:latin typeface="微软雅黑" panose="020B0503020204020204" pitchFamily="34" charset="-122"/>
                <a:ea typeface="微软雅黑" panose="020B0503020204020204" pitchFamily="34" charset="-122"/>
                <a:cs typeface="宋体" charset="0"/>
              </a:rPr>
              <a:t>url</a:t>
            </a:r>
            <a:r>
              <a:rPr lang="zh-CN" altLang="en-US" sz="1600" dirty="0">
                <a:latin typeface="微软雅黑" panose="020B0503020204020204" pitchFamily="34" charset="-122"/>
                <a:ea typeface="微软雅黑" panose="020B0503020204020204" pitchFamily="34" charset="-122"/>
                <a:cs typeface="宋体" charset="0"/>
              </a:rPr>
              <a:t>中的计费名，换成自己的计费名，构成劫持。</a:t>
            </a:r>
            <a:endParaRPr lang="en-US" altLang="zh-CN" sz="1600" dirty="0">
              <a:latin typeface="微软雅黑" panose="020B0503020204020204" pitchFamily="34" charset="-122"/>
              <a:ea typeface="微软雅黑" panose="020B0503020204020204" pitchFamily="34" charset="-122"/>
              <a:cs typeface="宋体" charset="0"/>
            </a:endParaRPr>
          </a:p>
        </p:txBody>
      </p:sp>
      <p:pic>
        <p:nvPicPr>
          <p:cNvPr id="13" name="图片 12"/>
          <p:cNvPicPr>
            <a:picLocks noChangeAspect="1"/>
          </p:cNvPicPr>
          <p:nvPr/>
        </p:nvPicPr>
        <p:blipFill>
          <a:blip r:embed="rId4"/>
          <a:stretch>
            <a:fillRect/>
          </a:stretch>
        </p:blipFill>
        <p:spPr>
          <a:xfrm>
            <a:off x="3565130" y="4918889"/>
            <a:ext cx="4476210" cy="1761823"/>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405184" y="1233395"/>
            <a:ext cx="6284259" cy="369332"/>
          </a:xfrm>
          <a:prstGeom prst="rect">
            <a:avLst/>
          </a:prstGeom>
          <a:noFill/>
        </p:spPr>
        <p:txBody>
          <a:bodyPr wrap="square" rtlCol="0">
            <a:spAutoFit/>
          </a:bodyPr>
          <a:lstStyle/>
          <a:p>
            <a:r>
              <a:rPr kumimoji="1" lang="zh-CN" altLang="en-US" b="1" dirty="0"/>
              <a:t>统计类策略</a:t>
            </a:r>
            <a:r>
              <a:rPr kumimoji="1" lang="en-US" altLang="zh-CN" b="1" dirty="0"/>
              <a:t>_hijack</a:t>
            </a:r>
            <a:r>
              <a:rPr kumimoji="1" lang="zh-CN" altLang="en-US" b="1" dirty="0"/>
              <a:t>策略</a:t>
            </a:r>
          </a:p>
        </p:txBody>
      </p:sp>
      <p:sp>
        <p:nvSpPr>
          <p:cNvPr id="3" name="文本框 2"/>
          <p:cNvSpPr txBox="1"/>
          <p:nvPr/>
        </p:nvSpPr>
        <p:spPr>
          <a:xfrm>
            <a:off x="462636" y="1996907"/>
            <a:ext cx="4674816" cy="3924151"/>
          </a:xfrm>
          <a:prstGeom prst="rect">
            <a:avLst/>
          </a:prstGeom>
          <a:noFill/>
        </p:spPr>
        <p:txBody>
          <a:bodyPr wrap="square" rtlCol="0">
            <a:spAutoFit/>
          </a:bodyPr>
          <a:lstStyle/>
          <a:p>
            <a:pPr lvl="0"/>
            <a:r>
              <a:rPr lang="en-GB" altLang="zh-CN" sz="1400" dirty="0"/>
              <a:t>[@policy]</a:t>
            </a:r>
          </a:p>
          <a:p>
            <a:pPr lvl="0"/>
            <a:r>
              <a:rPr lang="en-GB" altLang="zh-CN" sz="1400" dirty="0"/>
              <a:t>threshold : 1</a:t>
            </a:r>
          </a:p>
          <a:p>
            <a:pPr lvl="0"/>
            <a:r>
              <a:rPr lang="en-GB" altLang="zh-CN" sz="1400" dirty="0" err="1"/>
              <a:t>feature_id</a:t>
            </a:r>
            <a:r>
              <a:rPr lang="en-GB" altLang="zh-CN" sz="1400" dirty="0"/>
              <a:t> : 70012</a:t>
            </a:r>
          </a:p>
          <a:p>
            <a:pPr lvl="0"/>
            <a:r>
              <a:rPr lang="en-GB" altLang="zh-CN" sz="1400" dirty="0" err="1"/>
              <a:t>policy_type</a:t>
            </a:r>
            <a:r>
              <a:rPr lang="en-GB" altLang="zh-CN" sz="1400" dirty="0"/>
              <a:t> : hijack</a:t>
            </a:r>
          </a:p>
          <a:p>
            <a:pPr lvl="0"/>
            <a:r>
              <a:rPr lang="en-GB" altLang="zh-CN" sz="1400" dirty="0" err="1">
                <a:solidFill>
                  <a:srgbClr val="C00000"/>
                </a:solidFill>
              </a:rPr>
              <a:t>hijack_delta</a:t>
            </a:r>
            <a:r>
              <a:rPr lang="en-GB" altLang="zh-CN" sz="1400" dirty="0">
                <a:solidFill>
                  <a:srgbClr val="C00000"/>
                </a:solidFill>
              </a:rPr>
              <a:t> : 9200000</a:t>
            </a:r>
          </a:p>
          <a:p>
            <a:pPr lvl="0"/>
            <a:r>
              <a:rPr lang="en-GB" altLang="zh-CN" sz="1400" dirty="0" err="1"/>
              <a:t>policy_id</a:t>
            </a:r>
            <a:r>
              <a:rPr lang="en-GB" altLang="zh-CN" sz="1400" dirty="0"/>
              <a:t> : 70012</a:t>
            </a:r>
          </a:p>
          <a:p>
            <a:pPr lvl="0"/>
            <a:r>
              <a:rPr lang="en-GB" altLang="zh-CN" sz="1400" dirty="0"/>
              <a:t> </a:t>
            </a:r>
          </a:p>
          <a:p>
            <a:pPr lvl="0"/>
            <a:r>
              <a:rPr lang="en-GB" altLang="zh-CN" sz="1400" dirty="0"/>
              <a:t>[@feature]</a:t>
            </a:r>
          </a:p>
          <a:p>
            <a:pPr lvl="0"/>
            <a:r>
              <a:rPr lang="en-GB" altLang="zh-CN" sz="1400" dirty="0" err="1"/>
              <a:t>feature_id</a:t>
            </a:r>
            <a:r>
              <a:rPr lang="en-GB" altLang="zh-CN" sz="1400" dirty="0"/>
              <a:t> : 70012</a:t>
            </a:r>
          </a:p>
          <a:p>
            <a:pPr lvl="0"/>
            <a:r>
              <a:rPr lang="en-GB" altLang="zh-CN" sz="1400" dirty="0" err="1"/>
              <a:t>view_level</a:t>
            </a:r>
            <a:r>
              <a:rPr lang="en-GB" altLang="zh-CN" sz="1400" dirty="0"/>
              <a:t> : </a:t>
            </a:r>
            <a:r>
              <a:rPr lang="en-GB" altLang="zh-CN" sz="1400" dirty="0" err="1"/>
              <a:t>pv_level</a:t>
            </a:r>
            <a:endParaRPr lang="en-GB" altLang="zh-CN" sz="1400" dirty="0"/>
          </a:p>
          <a:p>
            <a:pPr lvl="0"/>
            <a:r>
              <a:rPr lang="en-GB" altLang="zh-CN" sz="1400" dirty="0" err="1">
                <a:solidFill>
                  <a:srgbClr val="C00000"/>
                </a:solidFill>
              </a:rPr>
              <a:t>feature_type</a:t>
            </a:r>
            <a:r>
              <a:rPr lang="en-GB" altLang="zh-CN" sz="1400" dirty="0">
                <a:solidFill>
                  <a:srgbClr val="C00000"/>
                </a:solidFill>
              </a:rPr>
              <a:t> : hijack</a:t>
            </a:r>
          </a:p>
          <a:p>
            <a:pPr lvl="0"/>
            <a:r>
              <a:rPr lang="en-GB" altLang="zh-CN" sz="1400" dirty="0"/>
              <a:t>range : 10</a:t>
            </a:r>
          </a:p>
          <a:p>
            <a:pPr lvl="0"/>
            <a:r>
              <a:rPr lang="en-GB" altLang="zh-CN" sz="1400" dirty="0"/>
              <a:t>care : ['bd'!='-NULL-']['</a:t>
            </a:r>
            <a:r>
              <a:rPr lang="en-GB" altLang="zh-CN" sz="1400" dirty="0" err="1"/>
              <a:t>srcid_list</a:t>
            </a:r>
            <a:r>
              <a:rPr lang="en-GB" altLang="zh-CN" sz="1400" dirty="0"/>
              <a:t>':='160','111']</a:t>
            </a:r>
          </a:p>
          <a:p>
            <a:pPr lvl="0"/>
            <a:r>
              <a:rPr lang="en-GB" altLang="zh-CN" sz="1400" dirty="0"/>
              <a:t>view : </a:t>
            </a:r>
            <a:r>
              <a:rPr lang="en-GB" altLang="zh-CN" sz="1400" dirty="0" err="1"/>
              <a:t>query,bd,pn</a:t>
            </a:r>
            <a:endParaRPr lang="en-GB" altLang="zh-CN" sz="1400" dirty="0"/>
          </a:p>
          <a:p>
            <a:pPr lvl="0"/>
            <a:r>
              <a:rPr lang="en-GB" altLang="zh-CN" sz="1400" dirty="0" err="1"/>
              <a:t>window_type</a:t>
            </a:r>
            <a:r>
              <a:rPr lang="en-GB" altLang="zh-CN" sz="1400" dirty="0"/>
              <a:t> : time</a:t>
            </a:r>
          </a:p>
          <a:p>
            <a:pPr lvl="0"/>
            <a:r>
              <a:rPr lang="en-GB" altLang="zh-CN" sz="1400" dirty="0"/>
              <a:t>version : 1</a:t>
            </a:r>
          </a:p>
          <a:p>
            <a:pPr lvl="0"/>
            <a:r>
              <a:rPr lang="en-GB" altLang="zh-CN" sz="1400" dirty="0" err="1"/>
              <a:t>window_length</a:t>
            </a:r>
            <a:r>
              <a:rPr lang="en-GB" altLang="zh-CN" sz="1400" dirty="0"/>
              <a:t> : 300</a:t>
            </a:r>
          </a:p>
          <a:p>
            <a:endParaRPr kumimoji="1" lang="zh-CN" altLang="en-US" sz="1100" dirty="0"/>
          </a:p>
        </p:txBody>
      </p:sp>
      <p:sp>
        <p:nvSpPr>
          <p:cNvPr id="13" name="内容占位符 2"/>
          <p:cNvSpPr>
            <a:spLocks noGrp="1"/>
          </p:cNvSpPr>
          <p:nvPr>
            <p:ph idx="1"/>
          </p:nvPr>
        </p:nvSpPr>
        <p:spPr>
          <a:xfrm>
            <a:off x="5225989" y="1778286"/>
            <a:ext cx="3894518" cy="4393914"/>
          </a:xfrm>
          <a:solidFill>
            <a:schemeClr val="bg1">
              <a:alpha val="0"/>
            </a:schemeClr>
          </a:solidFill>
        </p:spPr>
        <p:txBody>
          <a:bodyPr/>
          <a:lstStyle/>
          <a:p>
            <a:pPr>
              <a:buClr>
                <a:srgbClr val="0070C0"/>
              </a:buClr>
              <a:buFont typeface="Wingdings" panose="05000000000000000000" pitchFamily="2" charset="2"/>
              <a:buChar char="l"/>
            </a:pPr>
            <a:r>
              <a:rPr lang="en-US" altLang="zh-CN" sz="1600" b="1" dirty="0">
                <a:cs typeface="宋体" charset="0"/>
              </a:rPr>
              <a:t>Hijack</a:t>
            </a:r>
            <a:r>
              <a:rPr lang="zh-CN" altLang="en-US" sz="1600" b="1" dirty="0">
                <a:cs typeface="宋体" charset="0"/>
              </a:rPr>
              <a:t>策略</a:t>
            </a:r>
            <a:endParaRPr lang="en-US" altLang="zh-CN" sz="1600" b="1" dirty="0">
              <a:cs typeface="宋体" charset="0"/>
            </a:endParaRPr>
          </a:p>
          <a:p>
            <a:pPr>
              <a:buClr>
                <a:srgbClr val="0070C0"/>
              </a:buClr>
              <a:buFont typeface="Wingdings" panose="05000000000000000000" pitchFamily="2" charset="2"/>
              <a:buChar char="l"/>
            </a:pPr>
            <a:r>
              <a:rPr lang="zh-CN" altLang="en-US" sz="1600" b="1" dirty="0">
                <a:cs typeface="宋体" charset="0"/>
              </a:rPr>
              <a:t>业务场景：</a:t>
            </a:r>
            <a:r>
              <a:rPr lang="zh-CN" altLang="en-US" sz="1600" dirty="0">
                <a:cs typeface="宋体" charset="0"/>
              </a:rPr>
              <a:t>同一检索词，</a:t>
            </a:r>
            <a:r>
              <a:rPr lang="en-GB" altLang="zh-CN" sz="1600" dirty="0" err="1">
                <a:cs typeface="宋体" charset="0"/>
              </a:rPr>
              <a:t>baiduid</a:t>
            </a:r>
            <a:r>
              <a:rPr lang="zh-CN" altLang="en-GB" sz="1600" dirty="0">
                <a:cs typeface="宋体" charset="0"/>
              </a:rPr>
              <a:t>，</a:t>
            </a:r>
            <a:r>
              <a:rPr lang="zh-CN" altLang="en-US" sz="1600" dirty="0">
                <a:cs typeface="宋体" charset="0"/>
              </a:rPr>
              <a:t>和</a:t>
            </a:r>
            <a:r>
              <a:rPr lang="en-GB" altLang="zh-CN" sz="1600" dirty="0" err="1">
                <a:cs typeface="宋体" charset="0"/>
              </a:rPr>
              <a:t>page_number</a:t>
            </a:r>
            <a:r>
              <a:rPr lang="zh-CN" altLang="en-US" sz="1600" dirty="0">
                <a:cs typeface="宋体" charset="0"/>
              </a:rPr>
              <a:t>下，过滤时间差在</a:t>
            </a:r>
            <a:r>
              <a:rPr lang="en-US" altLang="zh-CN" sz="1600" dirty="0">
                <a:cs typeface="宋体" charset="0"/>
              </a:rPr>
              <a:t>1</a:t>
            </a:r>
            <a:r>
              <a:rPr lang="en-GB" altLang="zh-CN" sz="1600" dirty="0">
                <a:cs typeface="宋体" charset="0"/>
              </a:rPr>
              <a:t>s</a:t>
            </a:r>
            <a:r>
              <a:rPr lang="zh-CN" altLang="en-US" sz="1600" dirty="0">
                <a:cs typeface="宋体" charset="0"/>
              </a:rPr>
              <a:t>内的重复日志。</a:t>
            </a:r>
          </a:p>
          <a:p>
            <a:pPr>
              <a:buClr>
                <a:srgbClr val="0070C0"/>
              </a:buClr>
              <a:buFont typeface="Wingdings" panose="05000000000000000000" pitchFamily="2" charset="2"/>
              <a:buChar char="l"/>
            </a:pPr>
            <a:endParaRPr lang="en-US" altLang="zh-CN" sz="1200" b="1" dirty="0">
              <a:cs typeface="宋体" charset="0"/>
            </a:endParaRPr>
          </a:p>
          <a:p>
            <a:pPr>
              <a:buClr>
                <a:srgbClr val="0070C0"/>
              </a:buClr>
              <a:buFont typeface="Wingdings" panose="05000000000000000000" pitchFamily="2" charset="2"/>
              <a:buChar char="l"/>
            </a:pPr>
            <a:r>
              <a:rPr lang="zh-CN" altLang="en-US" sz="1600" b="1" dirty="0">
                <a:cs typeface="宋体" charset="0"/>
              </a:rPr>
              <a:t>参数说明：</a:t>
            </a:r>
            <a:endParaRPr lang="en-US" altLang="zh-CN" sz="1600" b="1" dirty="0">
              <a:cs typeface="宋体" charset="0"/>
            </a:endParaRPr>
          </a:p>
          <a:p>
            <a:pPr lvl="1">
              <a:buClr>
                <a:srgbClr val="0070C0"/>
              </a:buClr>
              <a:buFont typeface="Wingdings" panose="05000000000000000000" pitchFamily="2" charset="2"/>
              <a:buChar char="l"/>
            </a:pPr>
            <a:r>
              <a:rPr lang="en-US" altLang="zh-CN" sz="1400" b="1" dirty="0" err="1">
                <a:cs typeface="宋体" charset="0"/>
              </a:rPr>
              <a:t>Hijack_delta:</a:t>
            </a:r>
            <a:r>
              <a:rPr lang="en-US" altLang="zh-CN" sz="1400" dirty="0" err="1">
                <a:cs typeface="宋体" charset="0"/>
              </a:rPr>
              <a:t>hijack</a:t>
            </a:r>
            <a:r>
              <a:rPr lang="zh-CN" altLang="en-US" sz="1400" dirty="0">
                <a:cs typeface="宋体" charset="0"/>
              </a:rPr>
              <a:t>会把顺序在后面的日志保留，但将其计费名修改成前面日志的计费名，</a:t>
            </a:r>
            <a:r>
              <a:rPr lang="en-US" altLang="zh-CN" sz="1400" dirty="0" err="1">
                <a:cs typeface="宋体" charset="0"/>
              </a:rPr>
              <a:t>hijack_delta+policy_id</a:t>
            </a:r>
            <a:r>
              <a:rPr lang="zh-CN" altLang="en-US" sz="1400" dirty="0">
                <a:cs typeface="宋体" charset="0"/>
              </a:rPr>
              <a:t>就是标识这种修改的一种方法。</a:t>
            </a:r>
          </a:p>
          <a:p>
            <a:pPr lvl="1">
              <a:buClr>
                <a:srgbClr val="0070C0"/>
              </a:buClr>
              <a:buFont typeface="Wingdings" panose="05000000000000000000" pitchFamily="2" charset="2"/>
              <a:buChar char="l"/>
            </a:pPr>
            <a:r>
              <a:rPr lang="en-US" altLang="zh-CN" sz="1400" b="1" dirty="0">
                <a:cs typeface="宋体" charset="0"/>
              </a:rPr>
              <a:t>Range:</a:t>
            </a:r>
            <a:r>
              <a:rPr lang="zh-CN" altLang="en-US" sz="1400" dirty="0">
                <a:cs typeface="宋体" charset="0"/>
              </a:rPr>
              <a:t>意义与</a:t>
            </a:r>
            <a:r>
              <a:rPr lang="en-US" altLang="zh-CN" sz="1400" dirty="0" err="1">
                <a:cs typeface="宋体" charset="0"/>
              </a:rPr>
              <a:t>timediff</a:t>
            </a:r>
            <a:r>
              <a:rPr lang="zh-CN" altLang="en-US" sz="1400" dirty="0">
                <a:cs typeface="宋体" charset="0"/>
              </a:rPr>
              <a:t>策略的</a:t>
            </a:r>
            <a:r>
              <a:rPr lang="en-US" altLang="zh-CN" sz="1400" dirty="0">
                <a:cs typeface="宋体" charset="0"/>
              </a:rPr>
              <a:t>range</a:t>
            </a:r>
            <a:r>
              <a:rPr lang="zh-CN" altLang="en-US" sz="1400" dirty="0">
                <a:cs typeface="宋体" charset="0"/>
              </a:rPr>
              <a:t>相同</a:t>
            </a:r>
            <a:endParaRPr lang="en-US" altLang="zh-CN" sz="1400" dirty="0">
              <a:cs typeface="宋体" charset="0"/>
            </a:endParaRPr>
          </a:p>
          <a:p>
            <a:pPr>
              <a:buClr>
                <a:srgbClr val="0070C0"/>
              </a:buClr>
              <a:buFont typeface="Wingdings" panose="05000000000000000000" pitchFamily="2" charset="2"/>
              <a:buChar char="l"/>
            </a:pPr>
            <a:endParaRPr lang="zh-CN" altLang="en-US" sz="1600" dirty="0">
              <a:cs typeface="宋体" charset="0"/>
            </a:endParaRPr>
          </a:p>
          <a:p>
            <a:pPr>
              <a:buClr>
                <a:srgbClr val="0070C0"/>
              </a:buClr>
              <a:buFont typeface="Wingdings" panose="05000000000000000000" pitchFamily="2" charset="2"/>
              <a:buChar char="l"/>
            </a:pPr>
            <a:endParaRPr lang="en-US" altLang="zh-CN" sz="2400" dirty="0"/>
          </a:p>
          <a:p>
            <a:pPr marL="514350" lvl="1" indent="0">
              <a:buClr>
                <a:srgbClr val="0070C0"/>
              </a:buClr>
              <a:buNone/>
            </a:pPr>
            <a:endParaRPr lang="zh-CN" altLang="en-US" sz="2400" dirty="0"/>
          </a:p>
          <a:p>
            <a:pPr>
              <a:buClr>
                <a:srgbClr val="0070C0"/>
              </a:buClr>
              <a:buFont typeface="Wingdings" panose="05000000000000000000" pitchFamily="2" charset="2"/>
              <a:buChar char="l"/>
            </a:pPr>
            <a:endParaRPr lang="en-US" altLang="zh-CN" sz="2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5184" y="390572"/>
            <a:ext cx="8227828" cy="667264"/>
          </a:xfrm>
        </p:spPr>
        <p:txBody>
          <a:bodyPr>
            <a:normAutofit/>
          </a:bodyPr>
          <a:lstStyle/>
          <a:p>
            <a:r>
              <a:rPr kumimoji="1" lang="zh-CN" altLang="en-US" sz="3600" dirty="0"/>
              <a:t>策略及特征介绍</a:t>
            </a:r>
          </a:p>
        </p:txBody>
      </p:sp>
      <p:sp>
        <p:nvSpPr>
          <p:cNvPr id="5" name="Rectangle 1"/>
          <p:cNvSpPr/>
          <p:nvPr/>
        </p:nvSpPr>
        <p:spPr bwMode="auto">
          <a:xfrm>
            <a:off x="500446" y="1073171"/>
            <a:ext cx="3972941" cy="74311"/>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6" name="Rectangle 2"/>
          <p:cNvSpPr/>
          <p:nvPr/>
        </p:nvSpPr>
        <p:spPr bwMode="auto">
          <a:xfrm>
            <a:off x="4473386" y="1073171"/>
            <a:ext cx="7135908" cy="74311"/>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pic>
        <p:nvPicPr>
          <p:cNvPr id="7" name="图片 6"/>
          <p:cNvPicPr>
            <a:picLocks noChangeAspect="1"/>
          </p:cNvPicPr>
          <p:nvPr/>
        </p:nvPicPr>
        <p:blipFill>
          <a:blip r:embed="rId3"/>
          <a:stretch>
            <a:fillRect/>
          </a:stretch>
        </p:blipFill>
        <p:spPr>
          <a:xfrm>
            <a:off x="9877707" y="5405439"/>
            <a:ext cx="1851657" cy="617219"/>
          </a:xfrm>
          <a:prstGeom prst="rect">
            <a:avLst/>
          </a:prstGeom>
        </p:spPr>
      </p:pic>
      <p:sp>
        <p:nvSpPr>
          <p:cNvPr id="8" name="文本框 7"/>
          <p:cNvSpPr txBox="1"/>
          <p:nvPr/>
        </p:nvSpPr>
        <p:spPr>
          <a:xfrm>
            <a:off x="500446" y="1162817"/>
            <a:ext cx="6284259" cy="369332"/>
          </a:xfrm>
          <a:prstGeom prst="rect">
            <a:avLst/>
          </a:prstGeom>
          <a:noFill/>
        </p:spPr>
        <p:txBody>
          <a:bodyPr wrap="square" rtlCol="0">
            <a:spAutoFit/>
          </a:bodyPr>
          <a:lstStyle/>
          <a:p>
            <a:r>
              <a:rPr kumimoji="1" lang="zh-CN" altLang="en-US" b="1" dirty="0"/>
              <a:t>统计类策略</a:t>
            </a:r>
            <a:r>
              <a:rPr kumimoji="1" lang="en-US" altLang="zh-CN" b="1" dirty="0"/>
              <a:t>_hijack</a:t>
            </a:r>
            <a:r>
              <a:rPr kumimoji="1" lang="zh-CN" altLang="en-US" b="1" dirty="0"/>
              <a:t>策略与</a:t>
            </a:r>
            <a:r>
              <a:rPr kumimoji="1" lang="en-US" altLang="zh-CN" b="1" dirty="0" err="1"/>
              <a:t>timediff</a:t>
            </a:r>
            <a:r>
              <a:rPr kumimoji="1" lang="zh-CN" altLang="en-US" b="1" dirty="0"/>
              <a:t>策略对比</a:t>
            </a:r>
            <a:endParaRPr kumimoji="1" lang="en-US" altLang="zh-CN" b="1" dirty="0"/>
          </a:p>
        </p:txBody>
      </p:sp>
      <p:sp>
        <p:nvSpPr>
          <p:cNvPr id="12" name="内容占位符 2"/>
          <p:cNvSpPr>
            <a:spLocks noGrp="1"/>
          </p:cNvSpPr>
          <p:nvPr>
            <p:ph idx="1"/>
          </p:nvPr>
        </p:nvSpPr>
        <p:spPr>
          <a:xfrm>
            <a:off x="184573" y="1636440"/>
            <a:ext cx="10610427" cy="4713560"/>
          </a:xfrm>
        </p:spPr>
        <p:txBody>
          <a:bodyPr/>
          <a:lstStyle/>
          <a:p>
            <a:pPr lvl="1">
              <a:lnSpc>
                <a:spcPct val="125000"/>
              </a:lnSpc>
              <a:buClr>
                <a:schemeClr val="tx1"/>
              </a:buClr>
              <a:buFont typeface="Wingdings" panose="05000000000000000000" pitchFamily="2" charset="2"/>
              <a:buChar char="n"/>
            </a:pPr>
            <a:r>
              <a:rPr lang="zh-CN" altLang="en-US" sz="1800" b="1" dirty="0">
                <a:latin typeface="微软雅黑" panose="020B0503020204020204" pitchFamily="34" charset="-122"/>
                <a:ea typeface="微软雅黑" panose="020B0503020204020204" pitchFamily="34" charset="-122"/>
              </a:rPr>
              <a:t>相同点</a:t>
            </a:r>
          </a:p>
          <a:p>
            <a:pPr lvl="2">
              <a:lnSpc>
                <a:spcPct val="125000"/>
              </a:lnSpc>
              <a:buClr>
                <a:schemeClr val="tx1"/>
              </a:buClr>
              <a:buFont typeface="Wingdings" panose="05000000000000000000" pitchFamily="2" charset="2"/>
              <a:buChar char="l"/>
            </a:pPr>
            <a:r>
              <a:rPr lang="zh-CN" altLang="en-US" sz="1600" dirty="0">
                <a:cs typeface="宋体" charset="0"/>
              </a:rPr>
              <a:t>使用的特征值实质上都是时间差。</a:t>
            </a:r>
            <a:endParaRPr lang="en-US" altLang="zh-CN" dirty="0">
              <a:cs typeface="宋体" charset="0"/>
            </a:endParaRPr>
          </a:p>
          <a:p>
            <a:pPr lvl="2">
              <a:lnSpc>
                <a:spcPct val="125000"/>
              </a:lnSpc>
              <a:buClr>
                <a:schemeClr val="tx1"/>
              </a:buClr>
              <a:buFont typeface="Wingdings" panose="05000000000000000000" pitchFamily="2" charset="2"/>
              <a:buChar char="l"/>
            </a:pPr>
            <a:endParaRPr lang="en-US" altLang="zh-CN" sz="1800" b="1" dirty="0">
              <a:latin typeface="微软雅黑" panose="020B0503020204020204" pitchFamily="34" charset="-122"/>
              <a:ea typeface="微软雅黑" panose="020B0503020204020204" pitchFamily="34" charset="-122"/>
            </a:endParaRPr>
          </a:p>
          <a:p>
            <a:pPr lvl="1">
              <a:lnSpc>
                <a:spcPct val="125000"/>
              </a:lnSpc>
              <a:buClr>
                <a:schemeClr val="tx1"/>
              </a:buClr>
              <a:buFont typeface="Wingdings" panose="05000000000000000000" pitchFamily="2" charset="2"/>
              <a:buChar char="n"/>
            </a:pPr>
            <a:r>
              <a:rPr lang="zh-CN" altLang="en-US" sz="1800" b="1" dirty="0">
                <a:latin typeface="微软雅黑" panose="020B0503020204020204" pitchFamily="34" charset="-122"/>
                <a:ea typeface="微软雅黑" panose="020B0503020204020204" pitchFamily="34" charset="-122"/>
              </a:rPr>
              <a:t>不同点</a:t>
            </a:r>
          </a:p>
          <a:p>
            <a:pPr lvl="2">
              <a:lnSpc>
                <a:spcPct val="125000"/>
              </a:lnSpc>
              <a:buClr>
                <a:schemeClr val="tx1"/>
              </a:buClr>
              <a:buFont typeface="Wingdings" panose="05000000000000000000" pitchFamily="2" charset="2"/>
              <a:buChar char="l"/>
            </a:pPr>
            <a:r>
              <a:rPr lang="zh-CN" altLang="en-US" sz="1600" b="1" dirty="0"/>
              <a:t>解决的问题</a:t>
            </a:r>
            <a:r>
              <a:rPr lang="zh-CN" altLang="en-US" sz="1600" dirty="0"/>
              <a:t>不同：</a:t>
            </a:r>
            <a:r>
              <a:rPr lang="en-GB" altLang="zh-CN" sz="1600" dirty="0" err="1"/>
              <a:t>timediff</a:t>
            </a:r>
            <a:r>
              <a:rPr lang="zh-CN" altLang="en-US" sz="1600" dirty="0"/>
              <a:t>策略面对的问题中，顺序在后面的日志并不是用户的正常行为结果，而</a:t>
            </a:r>
            <a:r>
              <a:rPr lang="en-GB" altLang="zh-CN" sz="1600" dirty="0"/>
              <a:t>hijack</a:t>
            </a:r>
            <a:r>
              <a:rPr lang="zh-CN" altLang="en-US" sz="1600" dirty="0"/>
              <a:t>策略面对的问题中，顺序在前面的日志并未反映用户的真实行为。</a:t>
            </a:r>
          </a:p>
          <a:p>
            <a:pPr lvl="2">
              <a:lnSpc>
                <a:spcPct val="125000"/>
              </a:lnSpc>
              <a:buClr>
                <a:schemeClr val="tx1"/>
              </a:buClr>
              <a:buFont typeface="Wingdings" panose="05000000000000000000" pitchFamily="2" charset="2"/>
              <a:buChar char="l"/>
            </a:pPr>
            <a:r>
              <a:rPr lang="zh-CN" altLang="en-US" sz="1600" dirty="0"/>
              <a:t>策略</a:t>
            </a:r>
            <a:r>
              <a:rPr lang="zh-CN" altLang="en-US" sz="1600" b="1" dirty="0"/>
              <a:t>命中对象</a:t>
            </a:r>
            <a:r>
              <a:rPr lang="zh-CN" altLang="en-US" sz="1600" dirty="0"/>
              <a:t>不同：</a:t>
            </a:r>
            <a:r>
              <a:rPr lang="en-GB" altLang="zh-CN" sz="1600" dirty="0" err="1"/>
              <a:t>timediff</a:t>
            </a:r>
            <a:r>
              <a:rPr lang="zh-CN" altLang="en-US" sz="1600" dirty="0"/>
              <a:t>策略命中坐标上位于后面的日志，</a:t>
            </a:r>
            <a:r>
              <a:rPr lang="en-GB" altLang="zh-CN" sz="1600" dirty="0"/>
              <a:t>hijack</a:t>
            </a:r>
            <a:r>
              <a:rPr lang="zh-CN" altLang="en-US" sz="1600" dirty="0"/>
              <a:t>策略命中坐标上位于前面的日志</a:t>
            </a:r>
          </a:p>
          <a:p>
            <a:pPr lvl="2">
              <a:lnSpc>
                <a:spcPct val="125000"/>
              </a:lnSpc>
              <a:buClr>
                <a:schemeClr val="tx1"/>
              </a:buClr>
              <a:buFont typeface="Wingdings" panose="05000000000000000000" pitchFamily="2" charset="2"/>
              <a:buChar char="l"/>
            </a:pPr>
            <a:r>
              <a:rPr lang="zh-CN" altLang="en-US" sz="1600" b="1" dirty="0"/>
              <a:t>对日志的处理</a:t>
            </a:r>
            <a:r>
              <a:rPr lang="zh-CN" altLang="en-US" sz="1600" dirty="0"/>
              <a:t>不同：</a:t>
            </a:r>
            <a:r>
              <a:rPr lang="en-GB" altLang="zh-CN" sz="1600" dirty="0"/>
              <a:t>hijack</a:t>
            </a:r>
            <a:r>
              <a:rPr lang="zh-CN" altLang="en-US" sz="1600" dirty="0"/>
              <a:t>策略修改了日志的计费名，而</a:t>
            </a:r>
            <a:r>
              <a:rPr lang="en-GB" altLang="zh-CN" sz="1600" dirty="0" err="1"/>
              <a:t>timediff</a:t>
            </a:r>
            <a:r>
              <a:rPr lang="zh-CN" altLang="en-US" sz="1600" dirty="0"/>
              <a:t>则不进行修改。</a:t>
            </a:r>
            <a:endParaRPr lang="en-US" altLang="zh-CN" sz="1600" dirty="0"/>
          </a:p>
          <a:p>
            <a:pPr lvl="2">
              <a:lnSpc>
                <a:spcPct val="125000"/>
              </a:lnSpc>
              <a:buClr>
                <a:schemeClr val="tx1"/>
              </a:buClr>
              <a:buFont typeface="Wingdings" panose="05000000000000000000" pitchFamily="2" charset="2"/>
              <a:buChar char="l"/>
            </a:pPr>
            <a:r>
              <a:rPr lang="zh-CN" altLang="en-US" sz="1600" dirty="0"/>
              <a:t>两个策略的</a:t>
            </a:r>
            <a:r>
              <a:rPr lang="zh-CN" altLang="en-US" sz="1600" b="1" dirty="0"/>
              <a:t>时间阈值范围</a:t>
            </a:r>
            <a:r>
              <a:rPr lang="zh-CN" altLang="en-US" sz="1600" dirty="0"/>
              <a:t>不重合，一般阈值范围是：</a:t>
            </a:r>
          </a:p>
          <a:p>
            <a:pPr lvl="4">
              <a:lnSpc>
                <a:spcPct val="125000"/>
              </a:lnSpc>
              <a:buClr>
                <a:schemeClr val="tx1"/>
              </a:buClr>
              <a:buFont typeface="Wingdings" panose="05000000000000000000" pitchFamily="2" charset="2"/>
              <a:buChar char="Ø"/>
            </a:pPr>
            <a:r>
              <a:rPr lang="en-GB" altLang="zh-CN" sz="1400" dirty="0"/>
              <a:t>0~1s</a:t>
            </a:r>
            <a:r>
              <a:rPr lang="zh-CN" altLang="en-US" sz="1400" dirty="0"/>
              <a:t>：</a:t>
            </a:r>
            <a:r>
              <a:rPr lang="en-GB" altLang="zh-CN" sz="1400" dirty="0"/>
              <a:t> hijack</a:t>
            </a:r>
            <a:r>
              <a:rPr lang="zh-CN" altLang="en-US" sz="1400" dirty="0"/>
              <a:t>策略</a:t>
            </a:r>
            <a:endParaRPr lang="en-GB" altLang="zh-CN" sz="1400" dirty="0"/>
          </a:p>
          <a:p>
            <a:pPr lvl="4">
              <a:lnSpc>
                <a:spcPct val="125000"/>
              </a:lnSpc>
              <a:buClr>
                <a:schemeClr val="tx1"/>
              </a:buClr>
              <a:buFont typeface="Wingdings" panose="05000000000000000000" pitchFamily="2" charset="2"/>
              <a:buChar char="Ø"/>
            </a:pPr>
            <a:r>
              <a:rPr lang="en-GB" altLang="zh-CN" sz="1400" dirty="0"/>
              <a:t>1~5s</a:t>
            </a:r>
            <a:r>
              <a:rPr lang="zh-CN" altLang="en-US" sz="1400" dirty="0"/>
              <a:t>：</a:t>
            </a:r>
            <a:r>
              <a:rPr lang="en-GB" altLang="zh-CN" sz="1400" dirty="0" err="1"/>
              <a:t>timediff</a:t>
            </a:r>
            <a:r>
              <a:rPr lang="zh-CN" altLang="en-US" sz="1400" dirty="0"/>
              <a:t>策略</a:t>
            </a:r>
            <a:endParaRPr lang="en-GB" altLang="zh-CN" sz="1400" dirty="0"/>
          </a:p>
          <a:p>
            <a:pPr lvl="4">
              <a:lnSpc>
                <a:spcPct val="125000"/>
              </a:lnSpc>
              <a:buClr>
                <a:schemeClr val="tx1"/>
              </a:buClr>
              <a:buFont typeface="Wingdings" panose="05000000000000000000" pitchFamily="2" charset="2"/>
              <a:buChar char="Ø"/>
            </a:pPr>
            <a:r>
              <a:rPr lang="en-GB" altLang="zh-CN" sz="1400" dirty="0"/>
              <a:t>5s</a:t>
            </a:r>
            <a:r>
              <a:rPr lang="zh-CN" altLang="en-US" sz="1400" dirty="0"/>
              <a:t>以上：重复点击策略（处理空间类简单策略）</a:t>
            </a:r>
          </a:p>
          <a:p>
            <a:pPr marL="514350" lvl="1" indent="0">
              <a:lnSpc>
                <a:spcPct val="125000"/>
              </a:lnSpc>
              <a:buClr>
                <a:srgbClr val="0070C0"/>
              </a:buClr>
              <a:buNone/>
            </a:pPr>
            <a:endParaRPr lang="en-US" altLang="zh-CN" sz="24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
          <p:cNvSpPr/>
          <p:nvPr/>
        </p:nvSpPr>
        <p:spPr bwMode="auto">
          <a:xfrm>
            <a:off x="3611200" y="2498559"/>
            <a:ext cx="2340000" cy="180000"/>
          </a:xfrm>
          <a:prstGeom prst="rect">
            <a:avLst/>
          </a:prstGeom>
          <a:solidFill>
            <a:srgbClr val="FF0000"/>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13" name="Rectangle 2"/>
          <p:cNvSpPr/>
          <p:nvPr/>
        </p:nvSpPr>
        <p:spPr bwMode="auto">
          <a:xfrm>
            <a:off x="5951200" y="2498559"/>
            <a:ext cx="2340000" cy="180000"/>
          </a:xfrm>
          <a:prstGeom prst="rect">
            <a:avLst/>
          </a:prstGeom>
          <a:solidFill>
            <a:srgbClr val="0000FF"/>
          </a:solidFill>
          <a:ln>
            <a:noFill/>
          </a:ln>
          <a:effectLst/>
          <a:extLst>
            <a:ext uri="{91240B29-F687-4F45-9708-019B960494DF}">
              <a14:hiddenLine xmlns:a14="http://schemas.microsoft.com/office/drawing/2010/main" w="25400">
                <a:solidFill>
                  <a:srgbClr val="00000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
        <p:nvSpPr>
          <p:cNvPr id="14" name="Rectangle 4"/>
          <p:cNvSpPr txBox="1">
            <a:spLocks noChangeArrowheads="1"/>
          </p:cNvSpPr>
          <p:nvPr/>
        </p:nvSpPr>
        <p:spPr>
          <a:xfrm>
            <a:off x="3017981" y="1580447"/>
            <a:ext cx="5623252" cy="720080"/>
          </a:xfrm>
          <a:prstGeom prst="rect">
            <a:avLst/>
          </a:prstGeom>
          <a:solidFill>
            <a:srgbClr val="FFFFFF"/>
          </a:solidFill>
          <a:extLst>
            <a:ext uri="{91240B29-F687-4F45-9708-019B960494DF}">
              <a14:hiddenLine xmlns:a14="http://schemas.microsoft.com/office/drawing/2010/main" w="9525">
                <a:solidFill>
                  <a:srgbClr val="000000"/>
                </a:solidFill>
                <a:round/>
              </a14:hiddenLine>
            </a:ext>
          </a:extLst>
        </p:spPr>
        <p:txBody>
          <a:bodyPr vert="horz" lIns="126435" tIns="72248" rIns="126435" bIns="72248" rtlCol="0" anchor="t">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4900" dirty="0"/>
              <a:t>策略串讲</a:t>
            </a:r>
            <a:endParaRPr lang="zh-CN" altLang="en-US" sz="4900" dirty="0">
              <a:ea typeface="宋体" pitchFamily="2" charset="-122"/>
            </a:endParaRPr>
          </a:p>
        </p:txBody>
      </p:sp>
      <p:sp>
        <p:nvSpPr>
          <p:cNvPr id="15" name="TextBox 1"/>
          <p:cNvSpPr txBox="1">
            <a:spLocks noChangeArrowheads="1"/>
          </p:cNvSpPr>
          <p:nvPr/>
        </p:nvSpPr>
        <p:spPr bwMode="auto">
          <a:xfrm>
            <a:off x="4361798" y="3441700"/>
            <a:ext cx="2935617" cy="1269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a:defRPr sz="3600">
                <a:solidFill>
                  <a:srgbClr val="000000"/>
                </a:solidFill>
                <a:latin typeface="Helvetica Light" charset="0"/>
                <a:ea typeface="Helvetica Light" charset="0"/>
                <a:cs typeface="Helvetica Light" charset="0"/>
                <a:sym typeface="Helvetica Light" charset="0"/>
              </a:defRPr>
            </a:lvl1pPr>
            <a:lvl2pPr marL="742950" indent="-285750" eaLnBrk="0">
              <a:defRPr sz="3600">
                <a:solidFill>
                  <a:srgbClr val="000000"/>
                </a:solidFill>
                <a:latin typeface="Helvetica Light" charset="0"/>
                <a:ea typeface="Helvetica Light" charset="0"/>
                <a:cs typeface="Helvetica Light" charset="0"/>
                <a:sym typeface="Helvetica Light" charset="0"/>
              </a:defRPr>
            </a:lvl2pPr>
            <a:lvl3pPr marL="1143000" indent="-228600" eaLnBrk="0">
              <a:defRPr sz="3600">
                <a:solidFill>
                  <a:srgbClr val="000000"/>
                </a:solidFill>
                <a:latin typeface="Helvetica Light" charset="0"/>
                <a:ea typeface="Helvetica Light" charset="0"/>
                <a:cs typeface="Helvetica Light" charset="0"/>
                <a:sym typeface="Helvetica Light" charset="0"/>
              </a:defRPr>
            </a:lvl3pPr>
            <a:lvl4pPr marL="1600200" indent="-228600" eaLnBrk="0">
              <a:defRPr sz="3600">
                <a:solidFill>
                  <a:srgbClr val="000000"/>
                </a:solidFill>
                <a:latin typeface="Helvetica Light" charset="0"/>
                <a:ea typeface="Helvetica Light" charset="0"/>
                <a:cs typeface="Helvetica Light" charset="0"/>
                <a:sym typeface="Helvetica Light" charset="0"/>
              </a:defRPr>
            </a:lvl4pPr>
            <a:lvl5pPr marL="2057400" indent="-228600" eaLnBrk="0">
              <a:defRPr sz="3600">
                <a:solidFill>
                  <a:srgbClr val="000000"/>
                </a:solidFill>
                <a:latin typeface="Helvetica Light" charset="0"/>
                <a:ea typeface="Helvetica Light" charset="0"/>
                <a:cs typeface="Helvetica Light" charset="0"/>
                <a:sym typeface="Helvetica Light" charset="0"/>
              </a:defRPr>
            </a:lvl5pPr>
            <a:lvl6pPr marL="2514600" indent="-228600" algn="ctr" defTabSz="584200" eaLnBrk="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6pPr>
            <a:lvl7pPr marL="2971800" indent="-228600" algn="ctr" defTabSz="584200" eaLnBrk="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7pPr>
            <a:lvl8pPr marL="3429000" indent="-228600" algn="ctr" defTabSz="584200" eaLnBrk="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8pPr>
            <a:lvl9pPr marL="3886200" indent="-228600" algn="ctr" defTabSz="584200" eaLnBrk="0" fontAlgn="base" hangingPunct="0">
              <a:spcBef>
                <a:spcPct val="0"/>
              </a:spcBef>
              <a:spcAft>
                <a:spcPct val="0"/>
              </a:spcAft>
              <a:defRPr sz="3600">
                <a:solidFill>
                  <a:srgbClr val="000000"/>
                </a:solidFill>
                <a:latin typeface="Helvetica Light" charset="0"/>
                <a:ea typeface="Helvetica Light" charset="0"/>
                <a:cs typeface="Helvetica Light" charset="0"/>
                <a:sym typeface="Helvetica Light" charset="0"/>
              </a:defRPr>
            </a:lvl9pPr>
          </a:lstStyle>
          <a:p>
            <a:pPr algn="ctr" eaLnBrk="1"/>
            <a:endParaRPr lang="en-US" altLang="zh-CN" sz="2000" dirty="0">
              <a:latin typeface="微软雅黑" panose="020B0503020204020204" pitchFamily="34" charset="-122"/>
              <a:ea typeface="微软雅黑" panose="020B0503020204020204" pitchFamily="34" charset="-122"/>
            </a:endParaRPr>
          </a:p>
          <a:p>
            <a:pPr algn="ctr" eaLnBrk="1">
              <a:lnSpc>
                <a:spcPct val="150000"/>
              </a:lnSpc>
            </a:pPr>
            <a:r>
              <a:rPr lang="zh-CN" altLang="en-US" sz="2000" dirty="0">
                <a:latin typeface="微软雅黑" panose="020B0503020204020204" pitchFamily="34" charset="-122"/>
                <a:ea typeface="微软雅黑" panose="020B0503020204020204" pitchFamily="34" charset="-122"/>
              </a:rPr>
              <a:t>谢谢大家！</a:t>
            </a:r>
            <a:endParaRPr lang="en-US" altLang="zh-CN" sz="2000" dirty="0">
              <a:latin typeface="微软雅黑" panose="020B0503020204020204" pitchFamily="34" charset="-122"/>
              <a:ea typeface="微软雅黑" panose="020B0503020204020204" pitchFamily="34" charset="-122"/>
            </a:endParaRPr>
          </a:p>
          <a:p>
            <a:pPr algn="ctr" eaLnBrk="1">
              <a:lnSpc>
                <a:spcPct val="150000"/>
              </a:lnSpc>
            </a:pPr>
            <a:r>
              <a:rPr lang="zh-CN" altLang="en-US" sz="2000" dirty="0">
                <a:latin typeface="微软雅黑" panose="020B0503020204020204" pitchFamily="34" charset="-122"/>
                <a:ea typeface="微软雅黑" panose="020B0503020204020204" pitchFamily="34" charset="-122"/>
              </a:rPr>
              <a:t>请批评与指正！</a:t>
            </a:r>
            <a:endParaRPr lang="en-US" altLang="zh-CN" sz="2000" dirty="0">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3"/>
          <a:stretch>
            <a:fillRect/>
          </a:stretch>
        </p:blipFill>
        <p:spPr>
          <a:xfrm>
            <a:off x="9877707" y="5405439"/>
            <a:ext cx="1851657" cy="617219"/>
          </a:xfrm>
          <a:prstGeom prst="rect">
            <a:avLst/>
          </a:prstGeom>
        </p:spPr>
      </p:pic>
      <p:sp>
        <p:nvSpPr>
          <p:cNvPr id="17" name="Rectangle 1"/>
          <p:cNvSpPr/>
          <p:nvPr/>
        </p:nvSpPr>
        <p:spPr bwMode="auto">
          <a:xfrm>
            <a:off x="3611200" y="1202415"/>
            <a:ext cx="2340000" cy="180000"/>
          </a:xfrm>
          <a:prstGeom prst="rect">
            <a:avLst/>
          </a:prstGeom>
          <a:solidFill>
            <a:srgbClr val="2A4DFE"/>
          </a:solidFill>
          <a:ln>
            <a:noFill/>
          </a:ln>
          <a:effectLst/>
        </p:spPr>
        <p:txBody>
          <a:bodyPr lIns="72248" tIns="72248" rIns="72248" bIns="72248" anchor="ctr"/>
          <a:lstStyle/>
          <a:p>
            <a:pPr>
              <a:defRPr/>
            </a:pPr>
            <a:endParaRPr lang="zh-CN" altLang="en-US" dirty="0">
              <a:latin typeface="Helvetica Light" charset="0"/>
              <a:ea typeface="宋体" charset="0"/>
              <a:cs typeface="宋体" charset="0"/>
              <a:sym typeface="Helvetica Light" charset="0"/>
            </a:endParaRPr>
          </a:p>
        </p:txBody>
      </p:sp>
      <p:sp>
        <p:nvSpPr>
          <p:cNvPr id="18" name="Rectangle 2"/>
          <p:cNvSpPr/>
          <p:nvPr/>
        </p:nvSpPr>
        <p:spPr bwMode="auto">
          <a:xfrm>
            <a:off x="5951200" y="1202415"/>
            <a:ext cx="2340000" cy="180000"/>
          </a:xfrm>
          <a:prstGeom prst="rect">
            <a:avLst/>
          </a:prstGeom>
          <a:solidFill>
            <a:srgbClr val="FF0200"/>
          </a:solidFill>
          <a:ln>
            <a:noFill/>
          </a:ln>
          <a:effectLst/>
        </p:spPr>
        <p:txBody>
          <a:bodyPr lIns="72248" tIns="72248" rIns="72248" bIns="72248" anchor="ctr"/>
          <a:lstStyle/>
          <a:p>
            <a:pPr>
              <a:defRPr/>
            </a:pPr>
            <a:endParaRPr lang="zh-CN" altLang="en-US">
              <a:latin typeface="Helvetica Light" charset="0"/>
              <a:ea typeface="宋体" charset="0"/>
              <a:cs typeface="宋体" charset="0"/>
              <a:sym typeface="Helvetica Light" charset="0"/>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5863</TotalTime>
  <Words>17432</Words>
  <Application>Microsoft Macintosh PowerPoint</Application>
  <PresentationFormat>宽屏</PresentationFormat>
  <Paragraphs>1690</Paragraphs>
  <Slides>75</Slides>
  <Notes>75</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75</vt:i4>
      </vt:variant>
    </vt:vector>
  </HeadingPairs>
  <TitlesOfParts>
    <vt:vector size="90" baseType="lpstr">
      <vt:lpstr>等线</vt:lpstr>
      <vt:lpstr>等线 Light</vt:lpstr>
      <vt:lpstr>宋体</vt:lpstr>
      <vt:lpstr>微软雅黑</vt:lpstr>
      <vt:lpstr>DejaVu Math TeX Gyre</vt:lpstr>
      <vt:lpstr>Microsoft YaHei Light</vt:lpstr>
      <vt:lpstr>Apple Symbols</vt:lpstr>
      <vt:lpstr>Arial</vt:lpstr>
      <vt:lpstr>Calibri</vt:lpstr>
      <vt:lpstr>Cambria Math</vt:lpstr>
      <vt:lpstr>Helvetica Light</vt:lpstr>
      <vt:lpstr>Symbol</vt:lpstr>
      <vt:lpstr>Times New Roman</vt:lpstr>
      <vt:lpstr>Wingdings</vt:lpstr>
      <vt:lpstr>Office 主题​​</vt:lpstr>
      <vt:lpstr>PowerPoint 演示文稿</vt:lpstr>
      <vt:lpstr>PowerPoint 演示文稿</vt:lpstr>
      <vt:lpstr>PowerPoint 演示文稿</vt:lpstr>
      <vt:lpstr>业务背景</vt:lpstr>
      <vt:lpstr>业务背景</vt:lpstr>
      <vt:lpstr>业务背景</vt:lpstr>
      <vt:lpstr>PowerPoint 演示文稿</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系统框架以及基本概念</vt:lpstr>
      <vt:lpstr>PowerPoint 演示文稿</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策略及特征介绍</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新人策略串讲</dc:title>
  <dc:creator>Microsoft Office User</dc:creator>
  <cp:lastModifiedBy>kun Cai</cp:lastModifiedBy>
  <cp:revision>96</cp:revision>
  <dcterms:created xsi:type="dcterms:W3CDTF">2022-08-09T08:40:47Z</dcterms:created>
  <dcterms:modified xsi:type="dcterms:W3CDTF">2022-08-13T10:25:27Z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2DE4D731910A45E0501DF2624E3DA66D</vt:lpwstr>
  </property>
  <property fmtid="{D5CDD505-2E9C-101B-9397-08002B2CF9AE}" pid="3" name="KSOProductBuildVer">
    <vt:lpwstr>2052-4.5.0.7415</vt:lpwstr>
  </property>
</Properties>
</file>