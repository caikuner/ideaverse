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325" r:id="rId2"/>
    <p:sldId id="273" r:id="rId3"/>
    <p:sldId id="326" r:id="rId4"/>
    <p:sldId id="327" r:id="rId5"/>
    <p:sldId id="328" r:id="rId6"/>
    <p:sldId id="329" r:id="rId7"/>
    <p:sldId id="330" r:id="rId8"/>
    <p:sldId id="331" r:id="rId9"/>
    <p:sldId id="333" r:id="rId10"/>
    <p:sldId id="332" r:id="rId11"/>
    <p:sldId id="334" r:id="rId12"/>
    <p:sldId id="335" r:id="rId13"/>
    <p:sldId id="336" r:id="rId14"/>
  </p:sldIdLst>
  <p:sldSz cx="9144000" cy="6858000" type="screen4x3"/>
  <p:notesSz cx="6797675" cy="987425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ianlong" initials="qianlon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FFFF"/>
    <a:srgbClr val="5B9BD5"/>
    <a:srgbClr val="2318DE"/>
    <a:srgbClr val="3333FF"/>
    <a:srgbClr val="996633"/>
    <a:srgbClr val="006600"/>
    <a:srgbClr val="FF66FF"/>
    <a:srgbClr val="E10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0" autoAdjust="0"/>
    <p:restoredTop sz="90258" autoAdjust="0"/>
  </p:normalViewPr>
  <p:slideViewPr>
    <p:cSldViewPr>
      <p:cViewPr varScale="1">
        <p:scale>
          <a:sx n="105" d="100"/>
          <a:sy n="105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1788" y="-10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E32413D-CFA6-4869-B8E2-83A8538A18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3871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00B07E5-79FE-45CB-8FAA-E30D805D46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86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011C4C-387B-4071-9561-D4CAA368B6A3}" type="slidenum">
              <a:rPr lang="en-US"/>
              <a:pPr/>
              <a:t>1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950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2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833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3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zh-CN" altLang="en-US" dirty="0" smtClean="0"/>
              <a:t>单特征过滤，不支持多特征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53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4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83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5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675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6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zh-CN" altLang="en-US" dirty="0" smtClean="0"/>
              <a:t>所有类均可以继承重写，组件相互独立，修改其中一个模块不影响其他的模块实现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15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7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zh-CN" altLang="en-US" dirty="0" smtClean="0"/>
              <a:t>对象实现自己的</a:t>
            </a:r>
            <a:r>
              <a:rPr lang="en-US" altLang="zh-CN" dirty="0" smtClean="0"/>
              <a:t>load</a:t>
            </a:r>
            <a:r>
              <a:rPr lang="zh-CN" altLang="en-US" dirty="0" smtClean="0"/>
              <a:t>函数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分析是否需要</a:t>
            </a:r>
            <a:r>
              <a:rPr lang="en-US" altLang="zh-CN" dirty="0" smtClean="0"/>
              <a:t>reload</a:t>
            </a:r>
            <a:r>
              <a:rPr lang="zh-CN" altLang="en-US" dirty="0" smtClean="0"/>
              <a:t>，反馈修改时间</a:t>
            </a:r>
            <a:r>
              <a:rPr lang="en-US" altLang="zh-CN" dirty="0" smtClean="0"/>
              <a:t>)</a:t>
            </a:r>
          </a:p>
          <a:p>
            <a:pPr marL="228600" indent="-228600">
              <a:buNone/>
            </a:pPr>
            <a:r>
              <a:rPr lang="en-US" altLang="zh-CN" dirty="0" err="1" smtClean="0"/>
              <a:t>Shard_ptr</a:t>
            </a:r>
            <a:r>
              <a:rPr lang="zh-CN" altLang="en-US" smtClean="0"/>
              <a:t>保证交换后的原始词表依然可用，且再次获得新的对象实例的时候，可以销毁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8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en-US" altLang="zh-CN" dirty="0" err="1" smtClean="0"/>
              <a:t>OutputStream</a:t>
            </a:r>
            <a:r>
              <a:rPr lang="zh-CN" altLang="en-US" dirty="0" smtClean="0"/>
              <a:t>定义输出，</a:t>
            </a:r>
            <a:r>
              <a:rPr lang="en-US" altLang="zh-CN" dirty="0" err="1" smtClean="0"/>
              <a:t>TaskOutputStream</a:t>
            </a:r>
            <a:r>
              <a:rPr lang="zh-CN" altLang="en-US" dirty="0" smtClean="0"/>
              <a:t>定义在</a:t>
            </a:r>
            <a:r>
              <a:rPr lang="en-US" altLang="zh-CN" dirty="0" err="1" smtClean="0"/>
              <a:t>OutputStream</a:t>
            </a:r>
            <a:r>
              <a:rPr lang="zh-CN" altLang="en-US" dirty="0" smtClean="0"/>
              <a:t>之上，从</a:t>
            </a:r>
            <a:r>
              <a:rPr lang="en-US" altLang="zh-CN" dirty="0" err="1" smtClean="0"/>
              <a:t>TaskOutputStream</a:t>
            </a:r>
            <a:r>
              <a:rPr lang="zh-CN" altLang="en-US" dirty="0" smtClean="0"/>
              <a:t>中获得多路输出的</a:t>
            </a:r>
            <a:r>
              <a:rPr lang="en-US" altLang="zh-CN" dirty="0" smtClean="0"/>
              <a:t>Entry</a:t>
            </a:r>
            <a:r>
              <a:rPr lang="zh-CN" altLang="en-US" dirty="0" smtClean="0"/>
              <a:t>，同一个</a:t>
            </a:r>
            <a:r>
              <a:rPr lang="en-US" altLang="zh-CN" dirty="0" smtClean="0"/>
              <a:t>Pipeline</a:t>
            </a:r>
            <a:r>
              <a:rPr lang="zh-CN" altLang="en-US" dirty="0" smtClean="0"/>
              <a:t>可以对应多个</a:t>
            </a:r>
            <a:r>
              <a:rPr lang="en-US" altLang="zh-CN" dirty="0" smtClean="0"/>
              <a:t>group</a:t>
            </a:r>
            <a:r>
              <a:rPr lang="zh-CN" altLang="en-US" dirty="0" smtClean="0"/>
              <a:t>的输出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86559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9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92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10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en-US" altLang="zh-CN" dirty="0" smtClean="0"/>
              <a:t>Multi</a:t>
            </a:r>
            <a:r>
              <a:rPr lang="zh-CN" altLang="en-US" dirty="0" smtClean="0"/>
              <a:t>为了支持多级结构，实现日志逻辑上展平，物理上还是一个</a:t>
            </a:r>
            <a:r>
              <a:rPr lang="en-US" altLang="zh-CN" dirty="0" smtClean="0"/>
              <a:t>log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cache</a:t>
            </a:r>
          </a:p>
          <a:p>
            <a:pPr marL="228600" indent="-228600">
              <a:buNone/>
            </a:pPr>
            <a:r>
              <a:rPr lang="en-US" altLang="zh-CN" dirty="0" err="1" smtClean="0"/>
              <a:t>AspLogRecord</a:t>
            </a:r>
            <a:r>
              <a:rPr lang="zh-CN" altLang="en-US" dirty="0" smtClean="0"/>
              <a:t>持有多个</a:t>
            </a:r>
            <a:r>
              <a:rPr lang="en-US" altLang="zh-CN" dirty="0" err="1" smtClean="0"/>
              <a:t>viewExtractor</a:t>
            </a:r>
            <a:r>
              <a:rPr lang="en-US" altLang="zh-CN" dirty="0" smtClean="0"/>
              <a:t>(</a:t>
            </a:r>
            <a:r>
              <a:rPr lang="zh-CN" altLang="en-US" dirty="0" smtClean="0"/>
              <a:t>来自</a:t>
            </a:r>
            <a:r>
              <a:rPr lang="en-US" altLang="zh-CN" dirty="0" err="1" smtClean="0"/>
              <a:t>record.conf</a:t>
            </a:r>
            <a:r>
              <a:rPr lang="en-US" altLang="zh-CN" dirty="0" smtClean="0"/>
              <a:t>)</a:t>
            </a:r>
            <a:r>
              <a:rPr lang="zh-CN" altLang="en-US" dirty="0" smtClean="0"/>
              <a:t>用于抽取维度</a:t>
            </a:r>
            <a:endParaRPr lang="en-US" altLang="zh-CN" dirty="0" smtClean="0"/>
          </a:p>
          <a:p>
            <a:pPr marL="228600" indent="-228600">
              <a:buNone/>
            </a:pPr>
            <a:r>
              <a:rPr lang="zh-CN" altLang="en-US" dirty="0" smtClean="0"/>
              <a:t>传递多个描述器，自己组合两个三个维度。</a:t>
            </a:r>
            <a:endParaRPr lang="en-US" altLang="zh-CN" dirty="0" smtClean="0"/>
          </a:p>
          <a:p>
            <a:pPr marL="228600" indent="-228600">
              <a:buNone/>
            </a:pPr>
            <a:r>
              <a:rPr lang="zh-CN" altLang="en-US" dirty="0" smtClean="0"/>
              <a:t>每个类定义自己的抽取函数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599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11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r>
              <a:rPr lang="zh-CN" altLang="en-US" dirty="0" smtClean="0"/>
              <a:t>抽取函数针对多个原始字段</a:t>
            </a:r>
            <a:endParaRPr lang="en-US" altLang="zh-CN" dirty="0" smtClean="0"/>
          </a:p>
          <a:p>
            <a:pPr marL="228600" indent="-228600">
              <a:buNone/>
            </a:pPr>
            <a:r>
              <a:rPr lang="zh-CN" altLang="en-US" dirty="0" smtClean="0"/>
              <a:t>后处理函数针对单个原始字段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4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12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41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0988-6BA5-4194-9E49-CF46B9B2DEC6}" type="slidenum">
              <a:rPr lang="en-US"/>
              <a:pPr/>
              <a:t>13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34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2667000"/>
            <a:ext cx="7848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37160" tIns="0" rIns="164592" bIns="0" anchor="ctr"/>
          <a:lstStyle/>
          <a:p>
            <a:pPr fontAlgn="ctr">
              <a:defRPr/>
            </a:pPr>
            <a:endParaRPr lang="zh-CN" altLang="zh-CN" sz="4800">
              <a:solidFill>
                <a:schemeClr val="bg2"/>
              </a:solidFill>
            </a:endParaRPr>
          </a:p>
        </p:txBody>
      </p:sp>
      <p:sp>
        <p:nvSpPr>
          <p:cNvPr id="3" name="Rectangle 3"/>
          <p:cNvSpPr>
            <a:spLocks/>
          </p:cNvSpPr>
          <p:nvPr/>
        </p:nvSpPr>
        <p:spPr bwMode="auto">
          <a:xfrm>
            <a:off x="3744913" y="4114800"/>
            <a:ext cx="827087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4572000" y="4114800"/>
            <a:ext cx="827088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5" name="Picture 5" descr="logone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0" y="990600"/>
            <a:ext cx="19050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00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304800" y="304800"/>
            <a:ext cx="8534400" cy="838200"/>
          </a:xfrm>
          <a:prstGeom prst="rect">
            <a:avLst/>
          </a:prstGeom>
          <a:noFill/>
          <a:ln w="9525" cmpd="sng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137160" tIns="0" rIns="164592" bIns="0" anchor="ctr"/>
          <a:lstStyle/>
          <a:p>
            <a:pPr algn="l">
              <a:defRPr/>
            </a:pPr>
            <a:endParaRPr lang="zh-CN" altLang="zh-CN" sz="3200" b="1">
              <a:solidFill>
                <a:schemeClr val="bg1"/>
              </a:solidFill>
            </a:endParaRPr>
          </a:p>
        </p:txBody>
      </p:sp>
      <p:sp>
        <p:nvSpPr>
          <p:cNvPr id="52228" name="Rectangle 4"/>
          <p:cNvSpPr>
            <a:spLocks/>
          </p:cNvSpPr>
          <p:nvPr/>
        </p:nvSpPr>
        <p:spPr bwMode="auto">
          <a:xfrm>
            <a:off x="304800" y="1143000"/>
            <a:ext cx="1079500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2229" name="Rectangle 5"/>
          <p:cNvSpPr>
            <a:spLocks/>
          </p:cNvSpPr>
          <p:nvPr/>
        </p:nvSpPr>
        <p:spPr bwMode="auto">
          <a:xfrm>
            <a:off x="1212850" y="1143000"/>
            <a:ext cx="539750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1030" name="Picture 6" descr="logonew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39000" y="5943600"/>
            <a:ext cx="15240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800">
          <a:solidFill>
            <a:schemeClr val="tx1"/>
          </a:solidFill>
          <a:latin typeface="+mj-lt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2400">
          <a:solidFill>
            <a:schemeClr val="tx1"/>
          </a:solidFill>
          <a:latin typeface="+mj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000">
          <a:solidFill>
            <a:schemeClr val="tx1"/>
          </a:solidFill>
          <a:latin typeface="+mj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j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Visio___1.vsd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714348" y="2693988"/>
            <a:ext cx="7786742" cy="1470025"/>
          </a:xfrm>
          <a:prstGeom prst="rect">
            <a:avLst/>
          </a:prstGeom>
          <a:ln/>
        </p:spPr>
        <p:txBody>
          <a:bodyPr lIns="137160" tIns="0" rIns="164592" bIns="0" anchor="ctr"/>
          <a:lstStyle/>
          <a:p>
            <a:pPr algn="ctr" fontAlgn="ctr"/>
            <a:r>
              <a:rPr lang="en-US" altLang="zh-CN" sz="2400" b="0" dirty="0" smtClean="0">
                <a:solidFill>
                  <a:schemeClr val="tx1"/>
                </a:solidFill>
                <a:ea typeface="黑体" pitchFamily="2" charset="-122"/>
              </a:rPr>
              <a:t>Themis</a:t>
            </a:r>
            <a:r>
              <a:rPr lang="zh-CN" altLang="en-US" sz="2400" b="0" dirty="0" smtClean="0">
                <a:solidFill>
                  <a:schemeClr val="tx1"/>
                </a:solidFill>
                <a:ea typeface="黑体" pitchFamily="2" charset="-122"/>
              </a:rPr>
              <a:t>串讲</a:t>
            </a:r>
            <a:r>
              <a:rPr lang="en-US" altLang="zh-CN" sz="2400" b="0" dirty="0" smtClean="0">
                <a:solidFill>
                  <a:schemeClr val="tx1"/>
                </a:solidFill>
                <a:ea typeface="黑体" pitchFamily="2" charset="-122"/>
              </a:rPr>
              <a:t/>
            </a:r>
            <a:br>
              <a:rPr lang="en-US" altLang="zh-CN" sz="2400" b="0" dirty="0" smtClean="0">
                <a:solidFill>
                  <a:schemeClr val="tx1"/>
                </a:solidFill>
                <a:ea typeface="黑体" pitchFamily="2" charset="-122"/>
              </a:rPr>
            </a:br>
            <a:r>
              <a:rPr lang="en-US" altLang="zh-CN" sz="2400" b="0" dirty="0" smtClean="0">
                <a:solidFill>
                  <a:schemeClr val="tx1"/>
                </a:solidFill>
                <a:ea typeface="黑体" pitchFamily="2" charset="-122"/>
              </a:rPr>
              <a:t>Worker-lib &amp; Parser-lib</a:t>
            </a:r>
            <a:endParaRPr lang="zh-CN" altLang="en-US" sz="2400" b="0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934223" y="4941888"/>
            <a:ext cx="13644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smtClean="0">
                <a:ea typeface="黑体" pitchFamily="2" charset="-122"/>
              </a:rPr>
              <a:t>2015-12-14</a:t>
            </a:r>
          </a:p>
          <a:p>
            <a:r>
              <a:rPr lang="zh-CN" altLang="en-US" dirty="0" smtClean="0">
                <a:ea typeface="黑体" pitchFamily="2" charset="-122"/>
              </a:rPr>
              <a:t>易文</a:t>
            </a:r>
            <a:endParaRPr lang="en-US" altLang="zh-CN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8596" y="1643050"/>
            <a:ext cx="7095732" cy="3802174"/>
          </a:xfrm>
        </p:spPr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altLang="zh-CN" sz="3200" dirty="0" smtClean="0">
                <a:latin typeface="+mn-lt"/>
                <a:ea typeface="黑体" pitchFamily="2" charset="-122"/>
                <a:cs typeface="+mn-cs"/>
              </a:rPr>
              <a:t>Themis</a:t>
            </a:r>
            <a:r>
              <a:rPr lang="zh-CN" altLang="en-US" sz="3200" dirty="0" smtClean="0">
                <a:latin typeface="+mn-lt"/>
                <a:ea typeface="黑体" pitchFamily="2" charset="-122"/>
                <a:cs typeface="+mn-cs"/>
              </a:rPr>
              <a:t>简介</a:t>
            </a:r>
            <a:endParaRPr lang="en-US" altLang="zh-CN" sz="3200" dirty="0" smtClean="0">
              <a:latin typeface="+mn-lt"/>
              <a:ea typeface="黑体" pitchFamily="2" charset="-122"/>
              <a:cs typeface="+mn-cs"/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dirty="0" smtClean="0">
                <a:latin typeface="+mn-lt"/>
                <a:ea typeface="黑体" pitchFamily="2" charset="-122"/>
                <a:cs typeface="+mn-cs"/>
              </a:rPr>
              <a:t>串讲主体</a:t>
            </a:r>
            <a:endParaRPr lang="en-US" altLang="zh-CN" sz="3200" dirty="0" smtClean="0">
              <a:latin typeface="+mn-lt"/>
              <a:ea typeface="黑体" pitchFamily="2" charset="-122"/>
              <a:cs typeface="+mn-cs"/>
            </a:endParaRPr>
          </a:p>
          <a:p>
            <a:pPr marL="742950" lvl="2" indent="-342900"/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Worker-Lib</a:t>
            </a:r>
          </a:p>
          <a:p>
            <a:pPr marL="742950" lvl="2" indent="-342900"/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Parser-Lib</a:t>
            </a:r>
          </a:p>
          <a:p>
            <a:pPr marL="342900" lvl="1" indent="-342900">
              <a:buFontTx/>
              <a:buChar char="•"/>
            </a:pPr>
            <a:r>
              <a:rPr lang="en-US" altLang="zh-CN" sz="3200" dirty="0" smtClean="0">
                <a:latin typeface="+mn-lt"/>
                <a:ea typeface="黑体" pitchFamily="2" charset="-122"/>
                <a:cs typeface="+mn-cs"/>
              </a:rPr>
              <a:t>Q&amp;A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4000" dirty="0" smtClean="0">
                <a:ea typeface="黑体" pitchFamily="2" charset="-122"/>
              </a:rPr>
              <a:t>主要内容</a:t>
            </a:r>
            <a:endParaRPr lang="zh-CN" altLang="en-US" sz="4000" b="0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dirty="0" smtClean="0">
                <a:ea typeface="黑体" pitchFamily="2" charset="-122"/>
              </a:rPr>
              <a:t>Themis</a:t>
            </a:r>
            <a:r>
              <a:rPr lang="zh-CN" altLang="en-US" sz="4000" dirty="0" smtClean="0">
                <a:ea typeface="黑体" pitchFamily="2" charset="-122"/>
              </a:rPr>
              <a:t>简介</a:t>
            </a:r>
            <a:endParaRPr lang="zh-CN" altLang="en-US" sz="4000" b="0" dirty="0">
              <a:ea typeface="黑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342" y="1875835"/>
            <a:ext cx="2160240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策略串行</a:t>
            </a:r>
            <a:endParaRPr lang="zh-CN" altLang="en-US" sz="1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342" y="2416506"/>
            <a:ext cx="2160240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系统异构，维护成本大</a:t>
            </a:r>
            <a:endParaRPr lang="zh-CN" altLang="en-US" sz="1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41" y="2922051"/>
            <a:ext cx="2160240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过滤结构单一</a:t>
            </a:r>
            <a:endParaRPr lang="zh-CN" altLang="en-US" sz="1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481891"/>
            <a:ext cx="4176464" cy="237915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44223" y="1875835"/>
            <a:ext cx="2160240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层间串行，层内并行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44223" y="2416505"/>
            <a:ext cx="2160240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模块组件同构，独立部署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4223" y="2922050"/>
            <a:ext cx="2160240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多特征过滤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80320" y="4588281"/>
            <a:ext cx="2297540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数据层</a:t>
            </a:r>
            <a:r>
              <a:rPr lang="en-US" altLang="zh-CN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过滤层</a:t>
            </a:r>
            <a:endParaRPr lang="zh-CN" altLang="en-US" sz="1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80320" y="4211796"/>
            <a:ext cx="2297540" cy="36933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Remora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77860" y="4588280"/>
            <a:ext cx="2297540" cy="30777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数据层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特征层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过滤层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80320" y="4921423"/>
            <a:ext cx="4595080" cy="523220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支持特征多策略复用</a:t>
            </a:r>
            <a:endParaRPr lang="en-US" altLang="zh-CN" sz="1400" dirty="0" smtClean="0">
              <a:solidFill>
                <a:srgbClr val="5B9BD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 smtClean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特征抽取与特征过滤解耦</a:t>
            </a:r>
            <a:endParaRPr lang="zh-CN" altLang="en-US" sz="1400" dirty="0">
              <a:solidFill>
                <a:srgbClr val="5B9BD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77860" y="4211795"/>
            <a:ext cx="2297540" cy="369332"/>
          </a:xfrm>
          <a:prstGeom prst="rect">
            <a:avLst/>
          </a:prstGeom>
          <a:solidFill>
            <a:srgbClr val="92D050"/>
          </a:solidFill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15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smtClean="0">
                <a:ea typeface="黑体" pitchFamily="2" charset="-122"/>
              </a:rPr>
              <a:t>Themis</a:t>
            </a:r>
            <a:r>
              <a:rPr lang="zh-CN" altLang="en-US" sz="4000" b="0" dirty="0" smtClean="0">
                <a:ea typeface="黑体" pitchFamily="2" charset="-122"/>
              </a:rPr>
              <a:t>模块</a:t>
            </a:r>
            <a:r>
              <a:rPr lang="zh-CN" altLang="en-US" sz="4000" dirty="0" smtClean="0">
                <a:ea typeface="黑体" pitchFamily="2" charset="-122"/>
              </a:rPr>
              <a:t>与部署</a:t>
            </a:r>
            <a:endParaRPr lang="zh-CN" altLang="en-US" sz="4000" b="0" dirty="0">
              <a:ea typeface="黑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026773"/>
            <a:ext cx="4536504" cy="44985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32046" y="2218592"/>
            <a:ext cx="2297540" cy="95410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L1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产出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Normal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L2</a:t>
            </a: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条流，部署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selector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容灾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shard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32046" y="1842107"/>
            <a:ext cx="2297540" cy="369332"/>
          </a:xfrm>
          <a:prstGeom prst="rect">
            <a:avLst/>
          </a:prstGeom>
          <a:solidFill>
            <a:srgbClr val="92D050"/>
          </a:solidFill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 Click-FC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21743" y="3697868"/>
            <a:ext cx="2297540" cy="73866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单层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条流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shard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21743" y="3321383"/>
            <a:ext cx="2297540" cy="369332"/>
          </a:xfrm>
          <a:prstGeom prst="rect">
            <a:avLst/>
          </a:prstGeom>
          <a:solidFill>
            <a:srgbClr val="92D050"/>
          </a:solidFill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 Click-other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21743" y="4944483"/>
            <a:ext cx="2297540" cy="73866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单层</a:t>
            </a:r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单条流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TD 32 /Common 64 shard</a:t>
            </a:r>
            <a:endParaRPr lang="zh-CN" altLang="en-US" sz="1400" dirty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21743" y="4567998"/>
            <a:ext cx="2297540" cy="369332"/>
          </a:xfrm>
          <a:prstGeom prst="rect">
            <a:avLst/>
          </a:prstGeom>
          <a:solidFill>
            <a:srgbClr val="92D050"/>
          </a:solidFill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 Asp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361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8596" y="1643050"/>
            <a:ext cx="7095732" cy="3802174"/>
          </a:xfrm>
        </p:spPr>
        <p:txBody>
          <a:bodyPr/>
          <a:lstStyle/>
          <a:p>
            <a:pPr marL="342900" lvl="1" indent="-342900">
              <a:buFontTx/>
              <a:buChar char="•"/>
            </a:pPr>
            <a:r>
              <a:rPr lang="zh-CN" altLang="en-US" sz="3200" dirty="0" smtClean="0">
                <a:latin typeface="+mn-lt"/>
                <a:ea typeface="黑体" pitchFamily="2" charset="-122"/>
                <a:cs typeface="+mn-cs"/>
              </a:rPr>
              <a:t>整体架构</a:t>
            </a:r>
            <a:endParaRPr lang="en-US" altLang="zh-CN" sz="3200" dirty="0" smtClean="0">
              <a:latin typeface="+mn-lt"/>
              <a:ea typeface="黑体" pitchFamily="2" charset="-122"/>
              <a:cs typeface="+mn-cs"/>
            </a:endParaRPr>
          </a:p>
          <a:p>
            <a:pPr marL="742950" lvl="2" indent="-342900"/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Launcher/Worker/Container/Consumer/</a:t>
            </a:r>
            <a:r>
              <a:rPr lang="en-US" altLang="zh-CN" dirty="0" err="1" smtClean="0">
                <a:latin typeface="+mn-lt"/>
                <a:ea typeface="黑体" pitchFamily="2" charset="-122"/>
                <a:cs typeface="+mn-cs"/>
              </a:rPr>
              <a:t>Reloader</a:t>
            </a:r>
            <a:endParaRPr lang="en-US" altLang="zh-CN" dirty="0" smtClean="0">
              <a:latin typeface="+mn-lt"/>
              <a:ea typeface="黑体" pitchFamily="2" charset="-122"/>
              <a:cs typeface="+mn-cs"/>
            </a:endParaRPr>
          </a:p>
          <a:p>
            <a:pPr marL="742950" lvl="2" indent="-342900"/>
            <a:r>
              <a:rPr lang="zh-CN" altLang="en-US" dirty="0" smtClean="0">
                <a:latin typeface="+mn-lt"/>
                <a:ea typeface="黑体" pitchFamily="2" charset="-122"/>
                <a:cs typeface="+mn-cs"/>
              </a:rPr>
              <a:t>模板组件化各个类，实现灵活复用。</a:t>
            </a:r>
            <a:endParaRPr lang="en-US" altLang="zh-CN" dirty="0">
              <a:latin typeface="+mn-lt"/>
              <a:ea typeface="黑体" pitchFamily="2" charset="-122"/>
              <a:cs typeface="+mn-cs"/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dirty="0" smtClean="0">
                <a:latin typeface="+mn-lt"/>
                <a:ea typeface="黑体" pitchFamily="2" charset="-122"/>
                <a:cs typeface="+mn-cs"/>
              </a:rPr>
              <a:t>其他组件</a:t>
            </a:r>
            <a:endParaRPr lang="en-US" altLang="zh-CN" sz="3200" dirty="0" smtClean="0">
              <a:latin typeface="+mn-lt"/>
              <a:ea typeface="黑体" pitchFamily="2" charset="-122"/>
              <a:cs typeface="+mn-cs"/>
            </a:endParaRPr>
          </a:p>
          <a:p>
            <a:pPr marL="742950" lvl="2" indent="-342900"/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Token/</a:t>
            </a:r>
            <a:r>
              <a:rPr lang="en-US" altLang="zh-CN" dirty="0" err="1" smtClean="0">
                <a:latin typeface="+mn-lt"/>
                <a:ea typeface="黑体" pitchFamily="2" charset="-122"/>
                <a:cs typeface="+mn-cs"/>
              </a:rPr>
              <a:t>ChunkFile</a:t>
            </a:r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/</a:t>
            </a:r>
            <a:r>
              <a:rPr lang="en-US" altLang="zh-CN" dirty="0" err="1" smtClean="0">
                <a:latin typeface="+mn-lt"/>
                <a:ea typeface="黑体" pitchFamily="2" charset="-122"/>
                <a:cs typeface="+mn-cs"/>
              </a:rPr>
              <a:t>OutputStream</a:t>
            </a:r>
            <a:r>
              <a:rPr lang="en-US" altLang="zh-CN" dirty="0" smtClean="0">
                <a:latin typeface="+mn-lt"/>
                <a:ea typeface="黑体" pitchFamily="2" charset="-122"/>
                <a:cs typeface="+mn-cs"/>
              </a:rPr>
              <a:t>/</a:t>
            </a:r>
            <a:r>
              <a:rPr lang="en-US" altLang="zh-CN" dirty="0" err="1" smtClean="0">
                <a:latin typeface="+mn-lt"/>
                <a:ea typeface="黑体" pitchFamily="2" charset="-122"/>
                <a:cs typeface="+mn-cs"/>
              </a:rPr>
              <a:t>TaskFether&amp;Updater</a:t>
            </a:r>
            <a:endParaRPr lang="en-US" altLang="zh-CN" dirty="0" smtClean="0">
              <a:latin typeface="+mn-lt"/>
              <a:ea typeface="黑体" pitchFamily="2" charset="-122"/>
              <a:cs typeface="+mn-cs"/>
            </a:endParaRPr>
          </a:p>
          <a:p>
            <a:pPr marL="342900" lvl="1" indent="-342900">
              <a:buFontTx/>
              <a:buChar char="•"/>
            </a:pPr>
            <a:endParaRPr lang="en-US" altLang="zh-CN" sz="3200" dirty="0" smtClean="0">
              <a:latin typeface="+mn-lt"/>
              <a:ea typeface="黑体" pitchFamily="2" charset="-122"/>
              <a:cs typeface="+mn-cs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dirty="0" smtClean="0">
                <a:ea typeface="黑体" pitchFamily="2" charset="-122"/>
              </a:rPr>
              <a:t>Worker-lib</a:t>
            </a:r>
            <a:endParaRPr lang="zh-CN" altLang="en-US" sz="4000" b="0" dirty="0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241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4000" b="0" dirty="0" smtClean="0">
                <a:ea typeface="黑体" pitchFamily="2" charset="-122"/>
              </a:rPr>
              <a:t>整体架构</a:t>
            </a:r>
            <a:endParaRPr lang="zh-CN" altLang="en-US" sz="4000" b="0" dirty="0">
              <a:ea typeface="黑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1" y="1292056"/>
            <a:ext cx="8892480" cy="54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6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dirty="0" err="1" smtClean="0">
                <a:ea typeface="黑体" pitchFamily="2" charset="-122"/>
              </a:rPr>
              <a:t>Reloader</a:t>
            </a:r>
            <a:endParaRPr lang="zh-CN" altLang="en-US" sz="4000" b="0" dirty="0">
              <a:ea typeface="黑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52" y="1484784"/>
            <a:ext cx="6501383" cy="53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4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4000" dirty="0" smtClean="0">
                <a:ea typeface="黑体" pitchFamily="2" charset="-122"/>
              </a:rPr>
              <a:t>其他组件</a:t>
            </a:r>
            <a:endParaRPr lang="zh-CN" altLang="en-US" sz="4000" b="0" dirty="0">
              <a:ea typeface="黑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412776"/>
            <a:ext cx="7287245" cy="513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3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err="1" smtClean="0">
                <a:ea typeface="黑体" pitchFamily="2" charset="-122"/>
              </a:rPr>
              <a:t>OutputStream</a:t>
            </a:r>
            <a:endParaRPr lang="en-US" altLang="zh-CN" sz="4000" b="0" dirty="0" smtClean="0">
              <a:ea typeface="黑体" pitchFamily="2" charset="-122"/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813238"/>
            <a:ext cx="5040560" cy="1705452"/>
          </a:xfr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268760"/>
            <a:ext cx="7146582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3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smtClean="0">
                <a:ea typeface="黑体" pitchFamily="2" charset="-122"/>
              </a:rPr>
              <a:t>Parser-Lib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1772815"/>
            <a:ext cx="116545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00261"/>
              </p:ext>
            </p:extLst>
          </p:nvPr>
        </p:nvGraphicFramePr>
        <p:xfrm>
          <a:off x="683568" y="1628800"/>
          <a:ext cx="7409855" cy="4176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Visio" r:id="rId4" imgW="8658301" imgH="4886460" progId="Visio.Drawing.15">
                  <p:embed/>
                </p:oleObj>
              </mc:Choice>
              <mc:Fallback>
                <p:oleObj name="Visio" r:id="rId4" imgW="8658301" imgH="488646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628800"/>
                        <a:ext cx="7409855" cy="41764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539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smtClean="0">
                <a:ea typeface="黑体" pitchFamily="2" charset="-122"/>
              </a:rPr>
              <a:t>Parser-Lib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1772815"/>
            <a:ext cx="116545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95" y="3861048"/>
            <a:ext cx="4467225" cy="12096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268" y="2509617"/>
            <a:ext cx="2297540" cy="95410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单条日志</a:t>
            </a:r>
            <a:endParaRPr lang="en-US" altLang="zh-CN" sz="1400" dirty="0" smtClean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特征自行组合</a:t>
            </a:r>
            <a:r>
              <a:rPr lang="en-US" altLang="zh-CN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View</a:t>
            </a:r>
          </a:p>
          <a:p>
            <a:r>
              <a:rPr lang="zh-CN" altLang="en-US" sz="14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抽取函数，提取阶段处理函数，后处理</a:t>
            </a:r>
            <a:endParaRPr lang="zh-CN" altLang="en-US" sz="1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6268" y="2133132"/>
            <a:ext cx="2297540" cy="369332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Remora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43808" y="2509616"/>
            <a:ext cx="2297540" cy="95410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展平多条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 err="1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ViewValue</a:t>
            </a:r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组合值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抽取函数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 smtClean="0">
                <a:solidFill>
                  <a:srgbClr val="92D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后处理函数</a:t>
            </a:r>
            <a:endParaRPr lang="en-US" altLang="zh-CN" sz="1400" dirty="0" smtClean="0">
              <a:solidFill>
                <a:srgbClr val="92D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43808" y="2133131"/>
            <a:ext cx="2297540" cy="369332"/>
          </a:xfrm>
          <a:prstGeom prst="rect">
            <a:avLst/>
          </a:prstGeom>
          <a:solidFill>
            <a:srgbClr val="92D050"/>
          </a:solidFill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Themis</a:t>
            </a:r>
            <a:endParaRPr lang="zh-CN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2102448"/>
            <a:ext cx="36766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smtClean="0">
                <a:ea typeface="黑体" pitchFamily="2" charset="-122"/>
              </a:rPr>
              <a:t>Parser-Lib</a:t>
            </a:r>
            <a:r>
              <a:rPr lang="zh-CN" altLang="en-US" sz="4000" b="0" dirty="0" smtClean="0">
                <a:ea typeface="黑体" pitchFamily="2" charset="-122"/>
              </a:rPr>
              <a:t>配置</a:t>
            </a:r>
            <a:endParaRPr lang="en-US" altLang="zh-CN" sz="4000" b="0" dirty="0" smtClean="0">
              <a:ea typeface="黑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1772815"/>
            <a:ext cx="116545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00808"/>
            <a:ext cx="76485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9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75485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4000" b="0" dirty="0" smtClean="0">
                <a:ea typeface="黑体" pitchFamily="2" charset="-122"/>
              </a:rPr>
              <a:t>Q&amp;A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1772815"/>
            <a:ext cx="116545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93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idu_PPT">
  <a:themeElements>
    <a:clrScheme name="Baidu_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aidu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Baidu_PPT</Template>
  <TotalTime>13364</TotalTime>
  <Words>353</Words>
  <Application>Microsoft Office PowerPoint</Application>
  <PresentationFormat>全屏显示(4:3)</PresentationFormat>
  <Paragraphs>83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黑体</vt:lpstr>
      <vt:lpstr>华文黑体</vt:lpstr>
      <vt:lpstr>宋体</vt:lpstr>
      <vt:lpstr>微软雅黑</vt:lpstr>
      <vt:lpstr>Arial</vt:lpstr>
      <vt:lpstr>Baidu_PPT</vt:lpstr>
      <vt:lpstr>Microsoft Visio 绘图</vt:lpstr>
      <vt:lpstr>Themis串讲 Worker-lib &amp; Parser-lib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Yi,Wen(ANTI)</cp:lastModifiedBy>
  <cp:revision>1571</cp:revision>
  <dcterms:created xsi:type="dcterms:W3CDTF">2005-07-11T03:26:51Z</dcterms:created>
  <dcterms:modified xsi:type="dcterms:W3CDTF">2015-12-14T05:26:35Z</dcterms:modified>
</cp:coreProperties>
</file>