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6549" r:id="rId1"/>
    <p:sldMasterId id="2147486536" r:id="rId2"/>
    <p:sldMasterId id="2147486523" r:id="rId3"/>
  </p:sldMasterIdLst>
  <p:notesMasterIdLst>
    <p:notesMasterId r:id="rId28"/>
  </p:notesMasterIdLst>
  <p:handoutMasterIdLst>
    <p:handoutMasterId r:id="rId29"/>
  </p:handoutMasterIdLst>
  <p:sldIdLst>
    <p:sldId id="256" r:id="rId4"/>
    <p:sldId id="362" r:id="rId5"/>
    <p:sldId id="357" r:id="rId6"/>
    <p:sldId id="330" r:id="rId7"/>
    <p:sldId id="331" r:id="rId8"/>
    <p:sldId id="337" r:id="rId9"/>
    <p:sldId id="350" r:id="rId10"/>
    <p:sldId id="358" r:id="rId11"/>
    <p:sldId id="339" r:id="rId12"/>
    <p:sldId id="340" r:id="rId13"/>
    <p:sldId id="334" r:id="rId14"/>
    <p:sldId id="341" r:id="rId15"/>
    <p:sldId id="352" r:id="rId16"/>
    <p:sldId id="355" r:id="rId17"/>
    <p:sldId id="344" r:id="rId18"/>
    <p:sldId id="359" r:id="rId19"/>
    <p:sldId id="351" r:id="rId20"/>
    <p:sldId id="360" r:id="rId21"/>
    <p:sldId id="349" r:id="rId22"/>
    <p:sldId id="364" r:id="rId23"/>
    <p:sldId id="354" r:id="rId24"/>
    <p:sldId id="345" r:id="rId25"/>
    <p:sldId id="361" r:id="rId26"/>
    <p:sldId id="348" r:id="rId27"/>
  </p:sldIdLst>
  <p:sldSz cx="9144000" cy="6858000" type="screen4x3"/>
  <p:notesSz cx="6735763" cy="98663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99"/>
    <a:srgbClr val="E7F3F4"/>
    <a:srgbClr val="F3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79150" autoAdjust="0"/>
  </p:normalViewPr>
  <p:slideViewPr>
    <p:cSldViewPr>
      <p:cViewPr varScale="1">
        <p:scale>
          <a:sx n="89" d="100"/>
          <a:sy n="89" d="100"/>
        </p:scale>
        <p:origin x="1644" y="6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712" y="-9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8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CE8C77-137A-48CD-B612-7BF81119C33D}" type="doc">
      <dgm:prSet loTypeId="urn:microsoft.com/office/officeart/2005/8/layout/cycle6" loCatId="cycle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zh-CN" altLang="en-US"/>
        </a:p>
      </dgm:t>
    </dgm:pt>
    <dgm:pt modelId="{CA8DC694-011B-428E-87CA-B9582A53DC53}">
      <dgm:prSet phldrT="[文本]" custT="1"/>
      <dgm:spPr>
        <a:solidFill>
          <a:srgbClr val="4D5577"/>
        </a:solidFill>
      </dgm:spPr>
      <dgm:t>
        <a:bodyPr/>
        <a:lstStyle/>
        <a:p>
          <a:r>
            <a:rPr lang="zh-CN" altLang="en-US" sz="1800" dirty="0" smtClean="0">
              <a:latin typeface="微软雅黑" pitchFamily="34" charset="-122"/>
              <a:ea typeface="微软雅黑" pitchFamily="34" charset="-122"/>
            </a:rPr>
            <a:t>整合多类数据</a:t>
          </a:r>
          <a:endParaRPr lang="zh-CN" altLang="en-US" sz="1800" dirty="0">
            <a:latin typeface="微软雅黑" pitchFamily="34" charset="-122"/>
            <a:ea typeface="微软雅黑" pitchFamily="34" charset="-122"/>
          </a:endParaRPr>
        </a:p>
      </dgm:t>
    </dgm:pt>
    <dgm:pt modelId="{2731D4AA-85D4-49F7-98A9-D8E8BB50519E}" type="parTrans" cxnId="{F52E8032-CB86-46F6-AC29-DA9EB6C516F9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8A68E1BB-8548-4484-99B6-D8D9686B2823}" type="sibTrans" cxnId="{F52E8032-CB86-46F6-AC29-DA9EB6C516F9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87CC039A-2E0B-4062-A0D2-A1E6D46E4B9A}">
      <dgm:prSet phldrT="[文本]" custT="1"/>
      <dgm:spPr>
        <a:solidFill>
          <a:srgbClr val="4D5577"/>
        </a:solidFill>
      </dgm:spPr>
      <dgm:t>
        <a:bodyPr/>
        <a:lstStyle/>
        <a:p>
          <a:r>
            <a:rPr lang="zh-CN" altLang="en-US" sz="1800" dirty="0" smtClean="0">
              <a:latin typeface="微软雅黑" pitchFamily="34" charset="-122"/>
              <a:ea typeface="微软雅黑" pitchFamily="34" charset="-122"/>
            </a:rPr>
            <a:t>扩展反作弊应用</a:t>
          </a:r>
          <a:endParaRPr lang="zh-CN" altLang="en-US" sz="1800" dirty="0">
            <a:latin typeface="微软雅黑" pitchFamily="34" charset="-122"/>
            <a:ea typeface="微软雅黑" pitchFamily="34" charset="-122"/>
          </a:endParaRPr>
        </a:p>
      </dgm:t>
    </dgm:pt>
    <dgm:pt modelId="{0BBA02B2-C5B4-4FD0-9DDB-9F37FDEF8D96}" type="parTrans" cxnId="{ABBE733B-7584-4288-B31D-47C8E6483258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7F6B24D1-95BA-4611-954D-294195BF3910}" type="sibTrans" cxnId="{ABBE733B-7584-4288-B31D-47C8E6483258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8C837B7E-5D50-4908-AE2B-5B81504FBEBB}">
      <dgm:prSet phldrT="[文本]" custT="1"/>
      <dgm:spPr>
        <a:solidFill>
          <a:srgbClr val="4D5577"/>
        </a:solidFill>
      </dgm:spPr>
      <dgm:t>
        <a:bodyPr/>
        <a:lstStyle/>
        <a:p>
          <a:r>
            <a:rPr lang="zh-CN" altLang="en-US" sz="1800" dirty="0" smtClean="0">
              <a:latin typeface="微软雅黑" pitchFamily="34" charset="-122"/>
              <a:ea typeface="微软雅黑" pitchFamily="34" charset="-122"/>
            </a:rPr>
            <a:t>建立离线反作弊统一框架</a:t>
          </a:r>
          <a:endParaRPr lang="zh-CN" altLang="en-US" sz="1800" dirty="0">
            <a:latin typeface="微软雅黑" pitchFamily="34" charset="-122"/>
            <a:ea typeface="微软雅黑" pitchFamily="34" charset="-122"/>
          </a:endParaRPr>
        </a:p>
      </dgm:t>
    </dgm:pt>
    <dgm:pt modelId="{EDED2041-F0B4-4E81-B5AF-6FDBBE5115BA}" type="parTrans" cxnId="{322CA162-51F0-4A9A-9A47-4BBC9C80DA66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8451614C-FDA5-45B3-B5E7-0F60EEBA153F}" type="sibTrans" cxnId="{322CA162-51F0-4A9A-9A47-4BBC9C80DA66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0D605974-C3ED-4D7B-8696-D0805E78BC65}">
      <dgm:prSet phldrT="[文本]" custT="1"/>
      <dgm:spPr>
        <a:solidFill>
          <a:srgbClr val="4D5577"/>
        </a:solidFill>
      </dgm:spPr>
      <dgm:t>
        <a:bodyPr/>
        <a:lstStyle/>
        <a:p>
          <a:r>
            <a:rPr lang="zh-CN" altLang="en-US" sz="1800" dirty="0" smtClean="0">
              <a:latin typeface="微软雅黑" pitchFamily="34" charset="-122"/>
              <a:ea typeface="微软雅黑" pitchFamily="34" charset="-122"/>
            </a:rPr>
            <a:t>丰富特征算法</a:t>
          </a:r>
          <a:endParaRPr lang="zh-CN" altLang="en-US" sz="1800" dirty="0">
            <a:latin typeface="微软雅黑" pitchFamily="34" charset="-122"/>
            <a:ea typeface="微软雅黑" pitchFamily="34" charset="-122"/>
          </a:endParaRPr>
        </a:p>
      </dgm:t>
    </dgm:pt>
    <dgm:pt modelId="{8FD3920D-A402-49F0-A1BB-6A52EC5B6227}" type="parTrans" cxnId="{110F9FF4-5A73-4683-A800-3588B2F8AC82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E22F7892-D74E-4284-A6DB-0F2536D8C622}" type="sibTrans" cxnId="{110F9FF4-5A73-4683-A800-3588B2F8AC82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E6CB2B7F-CA35-483C-AE25-847718C3BF8F}">
      <dgm:prSet phldrT="[文本]" custT="1"/>
      <dgm:spPr>
        <a:solidFill>
          <a:srgbClr val="4D5577"/>
        </a:solidFill>
      </dgm:spPr>
      <dgm:t>
        <a:bodyPr/>
        <a:lstStyle/>
        <a:p>
          <a:r>
            <a:rPr lang="zh-CN" altLang="en-US" sz="1800" dirty="0" smtClean="0">
              <a:latin typeface="微软雅黑" pitchFamily="34" charset="-122"/>
              <a:ea typeface="微软雅黑" pitchFamily="34" charset="-122"/>
            </a:rPr>
            <a:t>提升反作弊实力</a:t>
          </a:r>
          <a:endParaRPr lang="zh-CN" altLang="en-US" sz="1800" dirty="0">
            <a:latin typeface="微软雅黑" pitchFamily="34" charset="-122"/>
            <a:ea typeface="微软雅黑" pitchFamily="34" charset="-122"/>
          </a:endParaRPr>
        </a:p>
      </dgm:t>
    </dgm:pt>
    <dgm:pt modelId="{098FE4F5-1E8A-490D-8B95-E9239F7C5C80}" type="parTrans" cxnId="{2F1EF4B4-9AE1-4902-9011-A399E8596622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82AB26B5-E5CB-4E1B-A8E1-A1F217278F83}" type="sibTrans" cxnId="{2F1EF4B4-9AE1-4902-9011-A399E8596622}">
      <dgm:prSet/>
      <dgm:spPr/>
      <dgm:t>
        <a:bodyPr/>
        <a:lstStyle/>
        <a:p>
          <a:endParaRPr lang="zh-CN" altLang="en-US" sz="1400">
            <a:latin typeface="微软雅黑" pitchFamily="34" charset="-122"/>
            <a:ea typeface="微软雅黑" pitchFamily="34" charset="-122"/>
          </a:endParaRPr>
        </a:p>
      </dgm:t>
    </dgm:pt>
    <dgm:pt modelId="{AE107BBA-FABC-4C8B-AB2D-09A1D2AEA0F1}" type="pres">
      <dgm:prSet presAssocID="{6BCE8C77-137A-48CD-B612-7BF81119C33D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C03B5B6E-128F-4D3F-A9D9-60DF5976ED80}" type="pres">
      <dgm:prSet presAssocID="{CA8DC694-011B-428E-87CA-B9582A53DC53}" presName="node" presStyleLbl="node1" presStyleIdx="0" presStyleCnt="5" custScaleY="5971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606F46-5C5B-4006-A18C-CC214162E3F8}" type="pres">
      <dgm:prSet presAssocID="{CA8DC694-011B-428E-87CA-B9582A53DC53}" presName="spNode" presStyleCnt="0"/>
      <dgm:spPr/>
    </dgm:pt>
    <dgm:pt modelId="{32D79192-2409-44D1-8D42-40FD38A8DA3B}" type="pres">
      <dgm:prSet presAssocID="{8A68E1BB-8548-4484-99B6-D8D9686B2823}" presName="sibTrans" presStyleLbl="sibTrans1D1" presStyleIdx="0" presStyleCnt="5"/>
      <dgm:spPr/>
      <dgm:t>
        <a:bodyPr/>
        <a:lstStyle/>
        <a:p>
          <a:endParaRPr lang="zh-CN" altLang="en-US"/>
        </a:p>
      </dgm:t>
    </dgm:pt>
    <dgm:pt modelId="{C8E7BEB1-CE0F-4864-A7C7-E602C585174F}" type="pres">
      <dgm:prSet presAssocID="{87CC039A-2E0B-4062-A0D2-A1E6D46E4B9A}" presName="node" presStyleLbl="node1" presStyleIdx="1" presStyleCnt="5" custScaleY="48058" custRadScaleRad="96482" custRadScaleInc="5882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ED9A379-B512-45A9-B7C0-DA14F4B5D098}" type="pres">
      <dgm:prSet presAssocID="{87CC039A-2E0B-4062-A0D2-A1E6D46E4B9A}" presName="spNode" presStyleCnt="0"/>
      <dgm:spPr/>
    </dgm:pt>
    <dgm:pt modelId="{813FE839-5542-4A87-9910-53E69953B9B5}" type="pres">
      <dgm:prSet presAssocID="{7F6B24D1-95BA-4611-954D-294195BF3910}" presName="sibTrans" presStyleLbl="sibTrans1D1" presStyleIdx="1" presStyleCnt="5"/>
      <dgm:spPr/>
      <dgm:t>
        <a:bodyPr/>
        <a:lstStyle/>
        <a:p>
          <a:endParaRPr lang="zh-CN" altLang="en-US"/>
        </a:p>
      </dgm:t>
    </dgm:pt>
    <dgm:pt modelId="{211EB270-665C-42F0-84A9-F0BC9C9BB651}" type="pres">
      <dgm:prSet presAssocID="{E6CB2B7F-CA35-483C-AE25-847718C3BF8F}" presName="node" presStyleLbl="node1" presStyleIdx="2" presStyleCnt="5" custScaleY="5817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5AE6E23-0C36-4F2E-95C5-5BEBF10B5F96}" type="pres">
      <dgm:prSet presAssocID="{E6CB2B7F-CA35-483C-AE25-847718C3BF8F}" presName="spNode" presStyleCnt="0"/>
      <dgm:spPr/>
    </dgm:pt>
    <dgm:pt modelId="{A6820AF8-BDBD-4672-8F44-200E7DB80AE5}" type="pres">
      <dgm:prSet presAssocID="{82AB26B5-E5CB-4E1B-A8E1-A1F217278F83}" presName="sibTrans" presStyleLbl="sibTrans1D1" presStyleIdx="2" presStyleCnt="5"/>
      <dgm:spPr/>
      <dgm:t>
        <a:bodyPr/>
        <a:lstStyle/>
        <a:p>
          <a:endParaRPr lang="zh-CN" altLang="en-US"/>
        </a:p>
      </dgm:t>
    </dgm:pt>
    <dgm:pt modelId="{1AC6572F-79BB-4350-ADD5-D93869CF456B}" type="pres">
      <dgm:prSet presAssocID="{8C837B7E-5D50-4908-AE2B-5B81504FBEBB}" presName="node" presStyleLbl="node1" presStyleIdx="3" presStyleCnt="5" custScaleY="5817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190370-8AC0-4D36-A0EF-7FA291737513}" type="pres">
      <dgm:prSet presAssocID="{8C837B7E-5D50-4908-AE2B-5B81504FBEBB}" presName="spNode" presStyleCnt="0"/>
      <dgm:spPr/>
    </dgm:pt>
    <dgm:pt modelId="{59637AF0-C649-41F8-98E4-0E4E5338CD8C}" type="pres">
      <dgm:prSet presAssocID="{8451614C-FDA5-45B3-B5E7-0F60EEBA153F}" presName="sibTrans" presStyleLbl="sibTrans1D1" presStyleIdx="3" presStyleCnt="5"/>
      <dgm:spPr/>
      <dgm:t>
        <a:bodyPr/>
        <a:lstStyle/>
        <a:p>
          <a:endParaRPr lang="zh-CN" altLang="en-US"/>
        </a:p>
      </dgm:t>
    </dgm:pt>
    <dgm:pt modelId="{43AEF890-35D9-4A39-B672-A2504372D9A5}" type="pres">
      <dgm:prSet presAssocID="{0D605974-C3ED-4D7B-8696-D0805E78BC65}" presName="node" presStyleLbl="node1" presStyleIdx="4" presStyleCnt="5" custScaleY="52287" custRadScaleRad="98506" custRadScaleInc="-1911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3ABE6DE-E11C-4780-86E5-87255AFE5D31}" type="pres">
      <dgm:prSet presAssocID="{0D605974-C3ED-4D7B-8696-D0805E78BC65}" presName="spNode" presStyleCnt="0"/>
      <dgm:spPr/>
    </dgm:pt>
    <dgm:pt modelId="{AC5DEA4A-5678-43F4-BB8E-15D47D6814F2}" type="pres">
      <dgm:prSet presAssocID="{E22F7892-D74E-4284-A6DB-0F2536D8C622}" presName="sibTrans" presStyleLbl="sibTrans1D1" presStyleIdx="4" presStyleCnt="5"/>
      <dgm:spPr/>
      <dgm:t>
        <a:bodyPr/>
        <a:lstStyle/>
        <a:p>
          <a:endParaRPr lang="zh-CN" altLang="en-US"/>
        </a:p>
      </dgm:t>
    </dgm:pt>
  </dgm:ptLst>
  <dgm:cxnLst>
    <dgm:cxn modelId="{10529512-6119-43BF-8FBB-FD2F8763F067}" type="presOf" srcId="{7F6B24D1-95BA-4611-954D-294195BF3910}" destId="{813FE839-5542-4A87-9910-53E69953B9B5}" srcOrd="0" destOrd="0" presId="urn:microsoft.com/office/officeart/2005/8/layout/cycle6"/>
    <dgm:cxn modelId="{830B0142-F44F-4629-AC97-BE8CE11E795B}" type="presOf" srcId="{E6CB2B7F-CA35-483C-AE25-847718C3BF8F}" destId="{211EB270-665C-42F0-84A9-F0BC9C9BB651}" srcOrd="0" destOrd="0" presId="urn:microsoft.com/office/officeart/2005/8/layout/cycle6"/>
    <dgm:cxn modelId="{71DE0D87-083A-4549-8844-235CC4FBE512}" type="presOf" srcId="{8A68E1BB-8548-4484-99B6-D8D9686B2823}" destId="{32D79192-2409-44D1-8D42-40FD38A8DA3B}" srcOrd="0" destOrd="0" presId="urn:microsoft.com/office/officeart/2005/8/layout/cycle6"/>
    <dgm:cxn modelId="{3DEE26B3-BE47-4699-B85B-DE4381CAE75F}" type="presOf" srcId="{8C837B7E-5D50-4908-AE2B-5B81504FBEBB}" destId="{1AC6572F-79BB-4350-ADD5-D93869CF456B}" srcOrd="0" destOrd="0" presId="urn:microsoft.com/office/officeart/2005/8/layout/cycle6"/>
    <dgm:cxn modelId="{28C5C2BB-9075-42A2-8D6B-1BEA34D93D63}" type="presOf" srcId="{82AB26B5-E5CB-4E1B-A8E1-A1F217278F83}" destId="{A6820AF8-BDBD-4672-8F44-200E7DB80AE5}" srcOrd="0" destOrd="0" presId="urn:microsoft.com/office/officeart/2005/8/layout/cycle6"/>
    <dgm:cxn modelId="{043781D2-DD1E-4E48-89C3-34060475ADA6}" type="presOf" srcId="{CA8DC694-011B-428E-87CA-B9582A53DC53}" destId="{C03B5B6E-128F-4D3F-A9D9-60DF5976ED80}" srcOrd="0" destOrd="0" presId="urn:microsoft.com/office/officeart/2005/8/layout/cycle6"/>
    <dgm:cxn modelId="{F80DF4CE-F89A-4A4F-861F-C9791082F138}" type="presOf" srcId="{0D605974-C3ED-4D7B-8696-D0805E78BC65}" destId="{43AEF890-35D9-4A39-B672-A2504372D9A5}" srcOrd="0" destOrd="0" presId="urn:microsoft.com/office/officeart/2005/8/layout/cycle6"/>
    <dgm:cxn modelId="{110F9FF4-5A73-4683-A800-3588B2F8AC82}" srcId="{6BCE8C77-137A-48CD-B612-7BF81119C33D}" destId="{0D605974-C3ED-4D7B-8696-D0805E78BC65}" srcOrd="4" destOrd="0" parTransId="{8FD3920D-A402-49F0-A1BB-6A52EC5B6227}" sibTransId="{E22F7892-D74E-4284-A6DB-0F2536D8C622}"/>
    <dgm:cxn modelId="{322CA162-51F0-4A9A-9A47-4BBC9C80DA66}" srcId="{6BCE8C77-137A-48CD-B612-7BF81119C33D}" destId="{8C837B7E-5D50-4908-AE2B-5B81504FBEBB}" srcOrd="3" destOrd="0" parTransId="{EDED2041-F0B4-4E81-B5AF-6FDBBE5115BA}" sibTransId="{8451614C-FDA5-45B3-B5E7-0F60EEBA153F}"/>
    <dgm:cxn modelId="{837E96E2-8D9D-40C0-9990-18CFD7F2B876}" type="presOf" srcId="{6BCE8C77-137A-48CD-B612-7BF81119C33D}" destId="{AE107BBA-FABC-4C8B-AB2D-09A1D2AEA0F1}" srcOrd="0" destOrd="0" presId="urn:microsoft.com/office/officeart/2005/8/layout/cycle6"/>
    <dgm:cxn modelId="{2F1EF4B4-9AE1-4902-9011-A399E8596622}" srcId="{6BCE8C77-137A-48CD-B612-7BF81119C33D}" destId="{E6CB2B7F-CA35-483C-AE25-847718C3BF8F}" srcOrd="2" destOrd="0" parTransId="{098FE4F5-1E8A-490D-8B95-E9239F7C5C80}" sibTransId="{82AB26B5-E5CB-4E1B-A8E1-A1F217278F83}"/>
    <dgm:cxn modelId="{ABBE733B-7584-4288-B31D-47C8E6483258}" srcId="{6BCE8C77-137A-48CD-B612-7BF81119C33D}" destId="{87CC039A-2E0B-4062-A0D2-A1E6D46E4B9A}" srcOrd="1" destOrd="0" parTransId="{0BBA02B2-C5B4-4FD0-9DDB-9F37FDEF8D96}" sibTransId="{7F6B24D1-95BA-4611-954D-294195BF3910}"/>
    <dgm:cxn modelId="{4EF44680-9DE4-4E8B-A671-283709AEF799}" type="presOf" srcId="{87CC039A-2E0B-4062-A0D2-A1E6D46E4B9A}" destId="{C8E7BEB1-CE0F-4864-A7C7-E602C585174F}" srcOrd="0" destOrd="0" presId="urn:microsoft.com/office/officeart/2005/8/layout/cycle6"/>
    <dgm:cxn modelId="{F52E8032-CB86-46F6-AC29-DA9EB6C516F9}" srcId="{6BCE8C77-137A-48CD-B612-7BF81119C33D}" destId="{CA8DC694-011B-428E-87CA-B9582A53DC53}" srcOrd="0" destOrd="0" parTransId="{2731D4AA-85D4-49F7-98A9-D8E8BB50519E}" sibTransId="{8A68E1BB-8548-4484-99B6-D8D9686B2823}"/>
    <dgm:cxn modelId="{3A8AA443-A3F3-4FA8-9E01-466AB6D62998}" type="presOf" srcId="{8451614C-FDA5-45B3-B5E7-0F60EEBA153F}" destId="{59637AF0-C649-41F8-98E4-0E4E5338CD8C}" srcOrd="0" destOrd="0" presId="urn:microsoft.com/office/officeart/2005/8/layout/cycle6"/>
    <dgm:cxn modelId="{2613D4B2-E56F-45E6-8136-9BB34899FDDF}" type="presOf" srcId="{E22F7892-D74E-4284-A6DB-0F2536D8C622}" destId="{AC5DEA4A-5678-43F4-BB8E-15D47D6814F2}" srcOrd="0" destOrd="0" presId="urn:microsoft.com/office/officeart/2005/8/layout/cycle6"/>
    <dgm:cxn modelId="{1C586CA1-8BDB-47F7-93A1-A79262728635}" type="presParOf" srcId="{AE107BBA-FABC-4C8B-AB2D-09A1D2AEA0F1}" destId="{C03B5B6E-128F-4D3F-A9D9-60DF5976ED80}" srcOrd="0" destOrd="0" presId="urn:microsoft.com/office/officeart/2005/8/layout/cycle6"/>
    <dgm:cxn modelId="{6BF3E271-F3C8-4F11-BAD9-C39039092C10}" type="presParOf" srcId="{AE107BBA-FABC-4C8B-AB2D-09A1D2AEA0F1}" destId="{EC606F46-5C5B-4006-A18C-CC214162E3F8}" srcOrd="1" destOrd="0" presId="urn:microsoft.com/office/officeart/2005/8/layout/cycle6"/>
    <dgm:cxn modelId="{7FE0A591-EFE2-4D46-AC3A-C633C1EA9377}" type="presParOf" srcId="{AE107BBA-FABC-4C8B-AB2D-09A1D2AEA0F1}" destId="{32D79192-2409-44D1-8D42-40FD38A8DA3B}" srcOrd="2" destOrd="0" presId="urn:microsoft.com/office/officeart/2005/8/layout/cycle6"/>
    <dgm:cxn modelId="{1564FE2C-B2FA-41A7-BD6E-CF2E28AC5E51}" type="presParOf" srcId="{AE107BBA-FABC-4C8B-AB2D-09A1D2AEA0F1}" destId="{C8E7BEB1-CE0F-4864-A7C7-E602C585174F}" srcOrd="3" destOrd="0" presId="urn:microsoft.com/office/officeart/2005/8/layout/cycle6"/>
    <dgm:cxn modelId="{5A80632E-0353-4DC9-8DDF-D619F73EBD34}" type="presParOf" srcId="{AE107BBA-FABC-4C8B-AB2D-09A1D2AEA0F1}" destId="{6ED9A379-B512-45A9-B7C0-DA14F4B5D098}" srcOrd="4" destOrd="0" presId="urn:microsoft.com/office/officeart/2005/8/layout/cycle6"/>
    <dgm:cxn modelId="{662C32C0-F320-4A6D-AC49-59535D832988}" type="presParOf" srcId="{AE107BBA-FABC-4C8B-AB2D-09A1D2AEA0F1}" destId="{813FE839-5542-4A87-9910-53E69953B9B5}" srcOrd="5" destOrd="0" presId="urn:microsoft.com/office/officeart/2005/8/layout/cycle6"/>
    <dgm:cxn modelId="{097BE8FC-18D2-4B20-A960-66BE419D10A0}" type="presParOf" srcId="{AE107BBA-FABC-4C8B-AB2D-09A1D2AEA0F1}" destId="{211EB270-665C-42F0-84A9-F0BC9C9BB651}" srcOrd="6" destOrd="0" presId="urn:microsoft.com/office/officeart/2005/8/layout/cycle6"/>
    <dgm:cxn modelId="{5CB0554C-1D9E-4555-BD64-EACA93DBE644}" type="presParOf" srcId="{AE107BBA-FABC-4C8B-AB2D-09A1D2AEA0F1}" destId="{E5AE6E23-0C36-4F2E-95C5-5BEBF10B5F96}" srcOrd="7" destOrd="0" presId="urn:microsoft.com/office/officeart/2005/8/layout/cycle6"/>
    <dgm:cxn modelId="{FBC2A588-0E18-4350-A1B6-FA360B73C59A}" type="presParOf" srcId="{AE107BBA-FABC-4C8B-AB2D-09A1D2AEA0F1}" destId="{A6820AF8-BDBD-4672-8F44-200E7DB80AE5}" srcOrd="8" destOrd="0" presId="urn:microsoft.com/office/officeart/2005/8/layout/cycle6"/>
    <dgm:cxn modelId="{C9E9F976-94CF-4C80-8E28-001F59286D2A}" type="presParOf" srcId="{AE107BBA-FABC-4C8B-AB2D-09A1D2AEA0F1}" destId="{1AC6572F-79BB-4350-ADD5-D93869CF456B}" srcOrd="9" destOrd="0" presId="urn:microsoft.com/office/officeart/2005/8/layout/cycle6"/>
    <dgm:cxn modelId="{419256BC-0AF1-4F0D-8D41-8A6D4804488B}" type="presParOf" srcId="{AE107BBA-FABC-4C8B-AB2D-09A1D2AEA0F1}" destId="{88190370-8AC0-4D36-A0EF-7FA291737513}" srcOrd="10" destOrd="0" presId="urn:microsoft.com/office/officeart/2005/8/layout/cycle6"/>
    <dgm:cxn modelId="{D5EF9614-7B29-444F-9F19-49062A9AD62E}" type="presParOf" srcId="{AE107BBA-FABC-4C8B-AB2D-09A1D2AEA0F1}" destId="{59637AF0-C649-41F8-98E4-0E4E5338CD8C}" srcOrd="11" destOrd="0" presId="urn:microsoft.com/office/officeart/2005/8/layout/cycle6"/>
    <dgm:cxn modelId="{49F97A8E-B269-4706-8346-593DFA286445}" type="presParOf" srcId="{AE107BBA-FABC-4C8B-AB2D-09A1D2AEA0F1}" destId="{43AEF890-35D9-4A39-B672-A2504372D9A5}" srcOrd="12" destOrd="0" presId="urn:microsoft.com/office/officeart/2005/8/layout/cycle6"/>
    <dgm:cxn modelId="{7620763B-AF99-4BBD-A018-B5013DA6D8EE}" type="presParOf" srcId="{AE107BBA-FABC-4C8B-AB2D-09A1D2AEA0F1}" destId="{C3ABE6DE-E11C-4780-86E5-87255AFE5D31}" srcOrd="13" destOrd="0" presId="urn:microsoft.com/office/officeart/2005/8/layout/cycle6"/>
    <dgm:cxn modelId="{CF2A638F-3F6E-4E13-B4C3-C5DC3F2A4FCB}" type="presParOf" srcId="{AE107BBA-FABC-4C8B-AB2D-09A1D2AEA0F1}" destId="{AC5DEA4A-5678-43F4-BB8E-15D47D6814F2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77A295-31A8-4563-A116-BA3D0927EF41}" type="doc">
      <dgm:prSet loTypeId="urn:microsoft.com/office/officeart/2005/8/layout/radial6" loCatId="cycle" qsTypeId="urn:microsoft.com/office/officeart/2005/8/quickstyle/3d1" qsCatId="3D" csTypeId="urn:microsoft.com/office/officeart/2005/8/colors/colorful1#8" csCatId="colorful" phldr="1"/>
      <dgm:spPr/>
      <dgm:t>
        <a:bodyPr/>
        <a:lstStyle/>
        <a:p>
          <a:endParaRPr lang="zh-CN" altLang="en-US"/>
        </a:p>
      </dgm:t>
    </dgm:pt>
    <dgm:pt modelId="{52036E8A-43B7-4700-BD9B-1A9E59C661A5}">
      <dgm:prSet phldrT="[文本]" custT="1"/>
      <dgm:spPr/>
      <dgm:t>
        <a:bodyPr/>
        <a:lstStyle/>
        <a:p>
          <a:r>
            <a:rPr lang="zh-CN" altLang="en-US" sz="1600" b="1" dirty="0" smtClean="0">
              <a:latin typeface="微软雅黑" pitchFamily="34" charset="-122"/>
              <a:ea typeface="微软雅黑" pitchFamily="34" charset="-122"/>
            </a:rPr>
            <a:t>监控作弊器</a:t>
          </a:r>
          <a:endParaRPr lang="zh-CN" altLang="en-US" sz="1600" b="1" dirty="0">
            <a:latin typeface="微软雅黑" pitchFamily="34" charset="-122"/>
            <a:ea typeface="微软雅黑" pitchFamily="34" charset="-122"/>
          </a:endParaRPr>
        </a:p>
      </dgm:t>
    </dgm:pt>
    <dgm:pt modelId="{67A27436-2398-4F60-A97D-8B0C709A9F4A}" type="parTrans" cxnId="{0B26EFFD-F763-4B44-A17A-043345F0CBC4}">
      <dgm:prSet/>
      <dgm:spPr/>
      <dgm:t>
        <a:bodyPr/>
        <a:lstStyle/>
        <a:p>
          <a:endParaRPr lang="zh-CN" altLang="en-US" sz="1600"/>
        </a:p>
      </dgm:t>
    </dgm:pt>
    <dgm:pt modelId="{0F9C27A0-6C50-4FC3-BE5F-0F989E9EF360}" type="sibTrans" cxnId="{0B26EFFD-F763-4B44-A17A-043345F0CBC4}">
      <dgm:prSet/>
      <dgm:spPr/>
      <dgm:t>
        <a:bodyPr/>
        <a:lstStyle/>
        <a:p>
          <a:endParaRPr lang="zh-CN" altLang="en-US" sz="1600"/>
        </a:p>
      </dgm:t>
    </dgm:pt>
    <dgm:pt modelId="{DC96B56A-0E91-45C1-95C2-C07E0D2B2267}">
      <dgm:prSet phldrT="[文本]" custT="1"/>
      <dgm:spPr/>
      <dgm:t>
        <a:bodyPr/>
        <a:lstStyle/>
        <a:p>
          <a:r>
            <a:rPr lang="zh-CN" altLang="en-US" sz="1600" b="1" dirty="0" smtClean="0">
              <a:latin typeface="微软雅黑" pitchFamily="34" charset="-122"/>
              <a:ea typeface="微软雅黑" pitchFamily="34" charset="-122"/>
            </a:rPr>
            <a:t>打击作弊器</a:t>
          </a:r>
          <a:endParaRPr lang="zh-CN" altLang="en-US" sz="1600" b="1" dirty="0">
            <a:latin typeface="微软雅黑" pitchFamily="34" charset="-122"/>
            <a:ea typeface="微软雅黑" pitchFamily="34" charset="-122"/>
          </a:endParaRPr>
        </a:p>
      </dgm:t>
    </dgm:pt>
    <dgm:pt modelId="{B23BDCDB-E050-47C2-B594-04593945A953}" type="parTrans" cxnId="{DE79F0AB-289E-48FF-B2D6-0CC16C9D3C3E}">
      <dgm:prSet/>
      <dgm:spPr/>
      <dgm:t>
        <a:bodyPr/>
        <a:lstStyle/>
        <a:p>
          <a:endParaRPr lang="zh-CN" altLang="en-US" sz="1600"/>
        </a:p>
      </dgm:t>
    </dgm:pt>
    <dgm:pt modelId="{4B89C0ED-D71C-4EF2-B3FF-1CD428FD4AEF}" type="sibTrans" cxnId="{DE79F0AB-289E-48FF-B2D6-0CC16C9D3C3E}">
      <dgm:prSet/>
      <dgm:spPr/>
      <dgm:t>
        <a:bodyPr/>
        <a:lstStyle/>
        <a:p>
          <a:endParaRPr lang="zh-CN" altLang="en-US" sz="1600"/>
        </a:p>
      </dgm:t>
    </dgm:pt>
    <dgm:pt modelId="{A8159B3D-78C7-4AC8-81DE-259E99376CB8}">
      <dgm:prSet phldrT="[文本]" custT="1"/>
      <dgm:spPr/>
      <dgm:t>
        <a:bodyPr/>
        <a:lstStyle/>
        <a:p>
          <a:r>
            <a:rPr lang="zh-CN" altLang="en-US" sz="1600" b="1" dirty="0" smtClean="0">
              <a:latin typeface="微软雅黑" pitchFamily="34" charset="-122"/>
              <a:ea typeface="微软雅黑" pitchFamily="34" charset="-122"/>
            </a:rPr>
            <a:t>收集作弊器</a:t>
          </a:r>
          <a:endParaRPr lang="zh-CN" altLang="en-US" sz="1600" b="1" dirty="0">
            <a:latin typeface="微软雅黑" pitchFamily="34" charset="-122"/>
            <a:ea typeface="微软雅黑" pitchFamily="34" charset="-122"/>
          </a:endParaRPr>
        </a:p>
      </dgm:t>
    </dgm:pt>
    <dgm:pt modelId="{EF92A4D1-7DA0-4C1C-B06F-30ABE0CD58D1}" type="sibTrans" cxnId="{99133BE6-3B46-4175-A8EC-6B71897B8571}">
      <dgm:prSet/>
      <dgm:spPr/>
      <dgm:t>
        <a:bodyPr/>
        <a:lstStyle/>
        <a:p>
          <a:endParaRPr lang="zh-CN" altLang="en-US" sz="1600"/>
        </a:p>
      </dgm:t>
    </dgm:pt>
    <dgm:pt modelId="{7B625774-E2B9-4707-A63A-7CF8C1BB8816}" type="parTrans" cxnId="{99133BE6-3B46-4175-A8EC-6B71897B8571}">
      <dgm:prSet/>
      <dgm:spPr/>
      <dgm:t>
        <a:bodyPr/>
        <a:lstStyle/>
        <a:p>
          <a:endParaRPr lang="zh-CN" altLang="en-US" sz="1600"/>
        </a:p>
      </dgm:t>
    </dgm:pt>
    <dgm:pt modelId="{34C9293F-A095-45F4-8A6C-A37B20B94025}">
      <dgm:prSet phldrT="[文本]" custT="1"/>
      <dgm:spPr/>
      <dgm:t>
        <a:bodyPr/>
        <a:lstStyle/>
        <a:p>
          <a:r>
            <a:rPr lang="zh-CN" altLang="en-US" sz="1600" b="1" dirty="0" smtClean="0">
              <a:latin typeface="微软雅黑" pitchFamily="34" charset="-122"/>
              <a:ea typeface="微软雅黑" pitchFamily="34" charset="-122"/>
            </a:rPr>
            <a:t>优化策略，竞品分析</a:t>
          </a:r>
          <a:endParaRPr lang="zh-CN" altLang="en-US" sz="1600" b="1" dirty="0">
            <a:latin typeface="微软雅黑" pitchFamily="34" charset="-122"/>
            <a:ea typeface="微软雅黑" pitchFamily="34" charset="-122"/>
          </a:endParaRPr>
        </a:p>
      </dgm:t>
    </dgm:pt>
    <dgm:pt modelId="{28DA6F7C-371A-4172-BBCF-2FB254D0BC8E}" type="parTrans" cxnId="{B69C1126-F7C1-41AC-BEDA-DC2729BD217A}">
      <dgm:prSet/>
      <dgm:spPr/>
      <dgm:t>
        <a:bodyPr/>
        <a:lstStyle/>
        <a:p>
          <a:endParaRPr lang="zh-CN" altLang="en-US" sz="1600"/>
        </a:p>
      </dgm:t>
    </dgm:pt>
    <dgm:pt modelId="{C44AC6A3-B901-4000-84D3-5E4480FF07EB}" type="sibTrans" cxnId="{B69C1126-F7C1-41AC-BEDA-DC2729BD217A}">
      <dgm:prSet/>
      <dgm:spPr/>
      <dgm:t>
        <a:bodyPr/>
        <a:lstStyle/>
        <a:p>
          <a:endParaRPr lang="zh-CN" altLang="en-US" sz="1600"/>
        </a:p>
      </dgm:t>
    </dgm:pt>
    <dgm:pt modelId="{E66ED1DF-FEFC-4BA5-860A-68E6BFC77916}">
      <dgm:prSet phldrT="[文本]" custT="1"/>
      <dgm:spPr/>
      <dgm:t>
        <a:bodyPr/>
        <a:lstStyle/>
        <a:p>
          <a:r>
            <a:rPr lang="zh-CN" altLang="en-US" sz="1600" b="0" dirty="0" smtClean="0">
              <a:latin typeface="微软雅黑" pitchFamily="34" charset="-122"/>
              <a:ea typeface="微软雅黑" pitchFamily="34" charset="-122"/>
            </a:rPr>
            <a:t>作弊器市场调研、打击</a:t>
          </a:r>
          <a:endParaRPr lang="zh-CN" altLang="en-US" sz="1600" b="1" dirty="0">
            <a:latin typeface="微软雅黑" pitchFamily="34" charset="-122"/>
            <a:ea typeface="微软雅黑" pitchFamily="34" charset="-122"/>
          </a:endParaRPr>
        </a:p>
      </dgm:t>
    </dgm:pt>
    <dgm:pt modelId="{6FC9C774-D9B4-48C7-80BC-A3DCB9FD8673}" type="parTrans" cxnId="{BA3CF6AF-407F-4DE1-A6B3-5A4F4F5782D5}">
      <dgm:prSet/>
      <dgm:spPr/>
      <dgm:t>
        <a:bodyPr/>
        <a:lstStyle/>
        <a:p>
          <a:endParaRPr lang="zh-CN" altLang="en-US" sz="1600"/>
        </a:p>
      </dgm:t>
    </dgm:pt>
    <dgm:pt modelId="{9CFDD646-C664-4DFE-91FF-741328FFCC60}" type="sibTrans" cxnId="{BA3CF6AF-407F-4DE1-A6B3-5A4F4F5782D5}">
      <dgm:prSet/>
      <dgm:spPr/>
      <dgm:t>
        <a:bodyPr/>
        <a:lstStyle/>
        <a:p>
          <a:endParaRPr lang="zh-CN" altLang="en-US" sz="1600"/>
        </a:p>
      </dgm:t>
    </dgm:pt>
    <dgm:pt modelId="{23EE2611-774B-4AA8-9A02-D82B45D07B19}" type="pres">
      <dgm:prSet presAssocID="{2177A295-31A8-4563-A116-BA3D0927EF4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A702918-F1BA-4AA6-838B-BB1B1F1F9F5E}" type="pres">
      <dgm:prSet presAssocID="{E66ED1DF-FEFC-4BA5-860A-68E6BFC77916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A1133942-ED14-439D-9537-9FA70747F15F}" type="pres">
      <dgm:prSet presAssocID="{A8159B3D-78C7-4AC8-81DE-259E99376CB8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DC83AFA-ED90-444A-9169-1A18CBFA937A}" type="pres">
      <dgm:prSet presAssocID="{A8159B3D-78C7-4AC8-81DE-259E99376CB8}" presName="dummy" presStyleCnt="0"/>
      <dgm:spPr/>
      <dgm:t>
        <a:bodyPr/>
        <a:lstStyle/>
        <a:p>
          <a:endParaRPr lang="zh-CN" altLang="en-US"/>
        </a:p>
      </dgm:t>
    </dgm:pt>
    <dgm:pt modelId="{BF7EF6FF-2B04-4AF9-9B5C-061F60B529F0}" type="pres">
      <dgm:prSet presAssocID="{EF92A4D1-7DA0-4C1C-B06F-30ABE0CD58D1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C968766B-4354-4182-A1BE-7096ADAC9605}" type="pres">
      <dgm:prSet presAssocID="{52036E8A-43B7-4700-BD9B-1A9E59C661A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C2E83C8-93B4-4893-B167-15215DAFEB9A}" type="pres">
      <dgm:prSet presAssocID="{52036E8A-43B7-4700-BD9B-1A9E59C661A5}" presName="dummy" presStyleCnt="0"/>
      <dgm:spPr/>
      <dgm:t>
        <a:bodyPr/>
        <a:lstStyle/>
        <a:p>
          <a:endParaRPr lang="zh-CN" altLang="en-US"/>
        </a:p>
      </dgm:t>
    </dgm:pt>
    <dgm:pt modelId="{E6416A91-F722-4CE0-B78C-29690CD4D5B9}" type="pres">
      <dgm:prSet presAssocID="{0F9C27A0-6C50-4FC3-BE5F-0F989E9EF360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7BA5A30C-54EB-4C97-B0BE-1ADFD52AAA1E}" type="pres">
      <dgm:prSet presAssocID="{34C9293F-A095-45F4-8A6C-A37B20B9402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24F8CA1-ACA5-4EF8-B0EB-E2EFCF0FBCA3}" type="pres">
      <dgm:prSet presAssocID="{34C9293F-A095-45F4-8A6C-A37B20B94025}" presName="dummy" presStyleCnt="0"/>
      <dgm:spPr/>
      <dgm:t>
        <a:bodyPr/>
        <a:lstStyle/>
        <a:p>
          <a:endParaRPr lang="zh-CN" altLang="en-US"/>
        </a:p>
      </dgm:t>
    </dgm:pt>
    <dgm:pt modelId="{D6C615D0-C8A4-425F-B25E-4F430055502F}" type="pres">
      <dgm:prSet presAssocID="{C44AC6A3-B901-4000-84D3-5E4480FF07EB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4C282743-1886-4A8A-9122-B2CA847EB9EC}" type="pres">
      <dgm:prSet presAssocID="{DC96B56A-0E91-45C1-95C2-C07E0D2B226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7DEFB45-D9A2-42D8-B5D1-C9CF07579512}" type="pres">
      <dgm:prSet presAssocID="{DC96B56A-0E91-45C1-95C2-C07E0D2B2267}" presName="dummy" presStyleCnt="0"/>
      <dgm:spPr/>
      <dgm:t>
        <a:bodyPr/>
        <a:lstStyle/>
        <a:p>
          <a:endParaRPr lang="zh-CN" altLang="en-US"/>
        </a:p>
      </dgm:t>
    </dgm:pt>
    <dgm:pt modelId="{C8F77541-F2EE-408C-8629-D3489F19930F}" type="pres">
      <dgm:prSet presAssocID="{4B89C0ED-D71C-4EF2-B3FF-1CD428FD4AEF}" presName="sibTrans" presStyleLbl="sibTrans2D1" presStyleIdx="3" presStyleCnt="4"/>
      <dgm:spPr/>
      <dgm:t>
        <a:bodyPr/>
        <a:lstStyle/>
        <a:p>
          <a:endParaRPr lang="zh-CN" altLang="en-US"/>
        </a:p>
      </dgm:t>
    </dgm:pt>
  </dgm:ptLst>
  <dgm:cxnLst>
    <dgm:cxn modelId="{04FDCA79-5599-42F7-AC16-00422E909C90}" type="presOf" srcId="{34C9293F-A095-45F4-8A6C-A37B20B94025}" destId="{7BA5A30C-54EB-4C97-B0BE-1ADFD52AAA1E}" srcOrd="0" destOrd="0" presId="urn:microsoft.com/office/officeart/2005/8/layout/radial6"/>
    <dgm:cxn modelId="{1C847F5B-8730-430B-AEB9-D30BC925F854}" type="presOf" srcId="{4B89C0ED-D71C-4EF2-B3FF-1CD428FD4AEF}" destId="{C8F77541-F2EE-408C-8629-D3489F19930F}" srcOrd="0" destOrd="0" presId="urn:microsoft.com/office/officeart/2005/8/layout/radial6"/>
    <dgm:cxn modelId="{4AD76271-29E2-4D3E-B620-6BB5A7AEE1D7}" type="presOf" srcId="{C44AC6A3-B901-4000-84D3-5E4480FF07EB}" destId="{D6C615D0-C8A4-425F-B25E-4F430055502F}" srcOrd="0" destOrd="0" presId="urn:microsoft.com/office/officeart/2005/8/layout/radial6"/>
    <dgm:cxn modelId="{B69C1126-F7C1-41AC-BEDA-DC2729BD217A}" srcId="{E66ED1DF-FEFC-4BA5-860A-68E6BFC77916}" destId="{34C9293F-A095-45F4-8A6C-A37B20B94025}" srcOrd="2" destOrd="0" parTransId="{28DA6F7C-371A-4172-BBCF-2FB254D0BC8E}" sibTransId="{C44AC6A3-B901-4000-84D3-5E4480FF07EB}"/>
    <dgm:cxn modelId="{088C29EF-8F59-4BE1-8FAE-4D59332519D3}" type="presOf" srcId="{E66ED1DF-FEFC-4BA5-860A-68E6BFC77916}" destId="{FA702918-F1BA-4AA6-838B-BB1B1F1F9F5E}" srcOrd="0" destOrd="0" presId="urn:microsoft.com/office/officeart/2005/8/layout/radial6"/>
    <dgm:cxn modelId="{6E54F136-4876-4717-B232-7FC257D9ECF6}" type="presOf" srcId="{0F9C27A0-6C50-4FC3-BE5F-0F989E9EF360}" destId="{E6416A91-F722-4CE0-B78C-29690CD4D5B9}" srcOrd="0" destOrd="0" presId="urn:microsoft.com/office/officeart/2005/8/layout/radial6"/>
    <dgm:cxn modelId="{24477A86-B85A-463D-97ED-05BE7D73F9E3}" type="presOf" srcId="{A8159B3D-78C7-4AC8-81DE-259E99376CB8}" destId="{A1133942-ED14-439D-9537-9FA70747F15F}" srcOrd="0" destOrd="0" presId="urn:microsoft.com/office/officeart/2005/8/layout/radial6"/>
    <dgm:cxn modelId="{BA3CF6AF-407F-4DE1-A6B3-5A4F4F5782D5}" srcId="{2177A295-31A8-4563-A116-BA3D0927EF41}" destId="{E66ED1DF-FEFC-4BA5-860A-68E6BFC77916}" srcOrd="0" destOrd="0" parTransId="{6FC9C774-D9B4-48C7-80BC-A3DCB9FD8673}" sibTransId="{9CFDD646-C664-4DFE-91FF-741328FFCC60}"/>
    <dgm:cxn modelId="{6A4A411C-79C1-4DAA-9723-C0EBFBBF9892}" type="presOf" srcId="{DC96B56A-0E91-45C1-95C2-C07E0D2B2267}" destId="{4C282743-1886-4A8A-9122-B2CA847EB9EC}" srcOrd="0" destOrd="0" presId="urn:microsoft.com/office/officeart/2005/8/layout/radial6"/>
    <dgm:cxn modelId="{99133BE6-3B46-4175-A8EC-6B71897B8571}" srcId="{E66ED1DF-FEFC-4BA5-860A-68E6BFC77916}" destId="{A8159B3D-78C7-4AC8-81DE-259E99376CB8}" srcOrd="0" destOrd="0" parTransId="{7B625774-E2B9-4707-A63A-7CF8C1BB8816}" sibTransId="{EF92A4D1-7DA0-4C1C-B06F-30ABE0CD58D1}"/>
    <dgm:cxn modelId="{DCBE26E3-9661-4CB1-AC56-298156E63784}" type="presOf" srcId="{EF92A4D1-7DA0-4C1C-B06F-30ABE0CD58D1}" destId="{BF7EF6FF-2B04-4AF9-9B5C-061F60B529F0}" srcOrd="0" destOrd="0" presId="urn:microsoft.com/office/officeart/2005/8/layout/radial6"/>
    <dgm:cxn modelId="{0B26EFFD-F763-4B44-A17A-043345F0CBC4}" srcId="{E66ED1DF-FEFC-4BA5-860A-68E6BFC77916}" destId="{52036E8A-43B7-4700-BD9B-1A9E59C661A5}" srcOrd="1" destOrd="0" parTransId="{67A27436-2398-4F60-A97D-8B0C709A9F4A}" sibTransId="{0F9C27A0-6C50-4FC3-BE5F-0F989E9EF360}"/>
    <dgm:cxn modelId="{A08C6DC0-FCCF-4374-8591-D5137AE50B29}" type="presOf" srcId="{52036E8A-43B7-4700-BD9B-1A9E59C661A5}" destId="{C968766B-4354-4182-A1BE-7096ADAC9605}" srcOrd="0" destOrd="0" presId="urn:microsoft.com/office/officeart/2005/8/layout/radial6"/>
    <dgm:cxn modelId="{DE79F0AB-289E-48FF-B2D6-0CC16C9D3C3E}" srcId="{E66ED1DF-FEFC-4BA5-860A-68E6BFC77916}" destId="{DC96B56A-0E91-45C1-95C2-C07E0D2B2267}" srcOrd="3" destOrd="0" parTransId="{B23BDCDB-E050-47C2-B594-04593945A953}" sibTransId="{4B89C0ED-D71C-4EF2-B3FF-1CD428FD4AEF}"/>
    <dgm:cxn modelId="{BAF2760C-D9F2-4DF5-B907-2D1770BAE802}" type="presOf" srcId="{2177A295-31A8-4563-A116-BA3D0927EF41}" destId="{23EE2611-774B-4AA8-9A02-D82B45D07B19}" srcOrd="0" destOrd="0" presId="urn:microsoft.com/office/officeart/2005/8/layout/radial6"/>
    <dgm:cxn modelId="{9A5AD548-72FC-477D-B638-54D6254DF286}" type="presParOf" srcId="{23EE2611-774B-4AA8-9A02-D82B45D07B19}" destId="{FA702918-F1BA-4AA6-838B-BB1B1F1F9F5E}" srcOrd="0" destOrd="0" presId="urn:microsoft.com/office/officeart/2005/8/layout/radial6"/>
    <dgm:cxn modelId="{D50DE6AC-ADF2-485D-B21F-0039912A541F}" type="presParOf" srcId="{23EE2611-774B-4AA8-9A02-D82B45D07B19}" destId="{A1133942-ED14-439D-9537-9FA70747F15F}" srcOrd="1" destOrd="0" presId="urn:microsoft.com/office/officeart/2005/8/layout/radial6"/>
    <dgm:cxn modelId="{F35101F0-E097-492F-83A4-451AF2D41D4C}" type="presParOf" srcId="{23EE2611-774B-4AA8-9A02-D82B45D07B19}" destId="{1DC83AFA-ED90-444A-9169-1A18CBFA937A}" srcOrd="2" destOrd="0" presId="urn:microsoft.com/office/officeart/2005/8/layout/radial6"/>
    <dgm:cxn modelId="{D827A2E4-1139-44EE-86FE-0DDB2CF8C9EE}" type="presParOf" srcId="{23EE2611-774B-4AA8-9A02-D82B45D07B19}" destId="{BF7EF6FF-2B04-4AF9-9B5C-061F60B529F0}" srcOrd="3" destOrd="0" presId="urn:microsoft.com/office/officeart/2005/8/layout/radial6"/>
    <dgm:cxn modelId="{E34C0470-2CB3-43FB-83B2-4F794E23CA38}" type="presParOf" srcId="{23EE2611-774B-4AA8-9A02-D82B45D07B19}" destId="{C968766B-4354-4182-A1BE-7096ADAC9605}" srcOrd="4" destOrd="0" presId="urn:microsoft.com/office/officeart/2005/8/layout/radial6"/>
    <dgm:cxn modelId="{4BFFF8A3-68E6-4721-A122-7AC90866693C}" type="presParOf" srcId="{23EE2611-774B-4AA8-9A02-D82B45D07B19}" destId="{9C2E83C8-93B4-4893-B167-15215DAFEB9A}" srcOrd="5" destOrd="0" presId="urn:microsoft.com/office/officeart/2005/8/layout/radial6"/>
    <dgm:cxn modelId="{46DA218F-0EAD-44A4-9EEC-D6CC110825DB}" type="presParOf" srcId="{23EE2611-774B-4AA8-9A02-D82B45D07B19}" destId="{E6416A91-F722-4CE0-B78C-29690CD4D5B9}" srcOrd="6" destOrd="0" presId="urn:microsoft.com/office/officeart/2005/8/layout/radial6"/>
    <dgm:cxn modelId="{A4EC50E8-9D69-4B40-84FF-4929150122EA}" type="presParOf" srcId="{23EE2611-774B-4AA8-9A02-D82B45D07B19}" destId="{7BA5A30C-54EB-4C97-B0BE-1ADFD52AAA1E}" srcOrd="7" destOrd="0" presId="urn:microsoft.com/office/officeart/2005/8/layout/radial6"/>
    <dgm:cxn modelId="{26F3F68E-AE6F-4D16-8B29-4CFB62D52F24}" type="presParOf" srcId="{23EE2611-774B-4AA8-9A02-D82B45D07B19}" destId="{024F8CA1-ACA5-4EF8-B0EB-E2EFCF0FBCA3}" srcOrd="8" destOrd="0" presId="urn:microsoft.com/office/officeart/2005/8/layout/radial6"/>
    <dgm:cxn modelId="{A32386DC-9414-4E76-ACF6-CD060FEE3779}" type="presParOf" srcId="{23EE2611-774B-4AA8-9A02-D82B45D07B19}" destId="{D6C615D0-C8A4-425F-B25E-4F430055502F}" srcOrd="9" destOrd="0" presId="urn:microsoft.com/office/officeart/2005/8/layout/radial6"/>
    <dgm:cxn modelId="{3FB66D89-FAD6-466F-9C81-61FF06AB53BB}" type="presParOf" srcId="{23EE2611-774B-4AA8-9A02-D82B45D07B19}" destId="{4C282743-1886-4A8A-9122-B2CA847EB9EC}" srcOrd="10" destOrd="0" presId="urn:microsoft.com/office/officeart/2005/8/layout/radial6"/>
    <dgm:cxn modelId="{B1F987C2-B4FE-4899-99A7-18F661A4A9D2}" type="presParOf" srcId="{23EE2611-774B-4AA8-9A02-D82B45D07B19}" destId="{77DEFB45-D9A2-42D8-B5D1-C9CF07579512}" srcOrd="11" destOrd="0" presId="urn:microsoft.com/office/officeart/2005/8/layout/radial6"/>
    <dgm:cxn modelId="{BB3E837C-FAA9-4681-BB05-506B1BBAE769}" type="presParOf" srcId="{23EE2611-774B-4AA8-9A02-D82B45D07B19}" destId="{C8F77541-F2EE-408C-8629-D3489F19930F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B5B6E-128F-4D3F-A9D9-60DF5976ED80}">
      <dsp:nvSpPr>
        <dsp:cNvPr id="0" name=""/>
        <dsp:cNvSpPr/>
      </dsp:nvSpPr>
      <dsp:spPr>
        <a:xfrm>
          <a:off x="3506249" y="124881"/>
          <a:ext cx="1844484" cy="715943"/>
        </a:xfrm>
        <a:prstGeom prst="roundRect">
          <a:avLst/>
        </a:prstGeom>
        <a:solidFill>
          <a:srgbClr val="4D5577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itchFamily="34" charset="-122"/>
              <a:ea typeface="微软雅黑" pitchFamily="34" charset="-122"/>
            </a:rPr>
            <a:t>整合多类数据</a:t>
          </a:r>
          <a:endParaRPr lang="zh-CN" altLang="en-US" sz="18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3541198" y="159830"/>
        <a:ext cx="1774586" cy="646045"/>
      </dsp:txXfrm>
    </dsp:sp>
    <dsp:sp modelId="{32D79192-2409-44D1-8D42-40FD38A8DA3B}">
      <dsp:nvSpPr>
        <dsp:cNvPr id="0" name=""/>
        <dsp:cNvSpPr/>
      </dsp:nvSpPr>
      <dsp:spPr>
        <a:xfrm>
          <a:off x="1941535" y="441600"/>
          <a:ext cx="4787550" cy="4787550"/>
        </a:xfrm>
        <a:custGeom>
          <a:avLst/>
          <a:gdLst/>
          <a:ahLst/>
          <a:cxnLst/>
          <a:rect l="0" t="0" r="0" b="0"/>
          <a:pathLst>
            <a:path>
              <a:moveTo>
                <a:pt x="3429242" y="235542"/>
              </a:moveTo>
              <a:arcTo wR="2393775" hR="2393775" stAng="17737832" swAng="3248446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E7BEB1-CE0F-4864-A7C7-E602C585174F}">
      <dsp:nvSpPr>
        <dsp:cNvPr id="0" name=""/>
        <dsp:cNvSpPr/>
      </dsp:nvSpPr>
      <dsp:spPr>
        <a:xfrm>
          <a:off x="5810510" y="2432141"/>
          <a:ext cx="1844484" cy="576174"/>
        </a:xfrm>
        <a:prstGeom prst="roundRect">
          <a:avLst/>
        </a:prstGeom>
        <a:solidFill>
          <a:srgbClr val="4D5577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itchFamily="34" charset="-122"/>
              <a:ea typeface="微软雅黑" pitchFamily="34" charset="-122"/>
            </a:rPr>
            <a:t>扩展反作弊应用</a:t>
          </a:r>
          <a:endParaRPr lang="zh-CN" altLang="en-US" sz="18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5838636" y="2460267"/>
        <a:ext cx="1788232" cy="519922"/>
      </dsp:txXfrm>
    </dsp:sp>
    <dsp:sp modelId="{813FE839-5542-4A87-9910-53E69953B9B5}">
      <dsp:nvSpPr>
        <dsp:cNvPr id="0" name=""/>
        <dsp:cNvSpPr/>
      </dsp:nvSpPr>
      <dsp:spPr>
        <a:xfrm>
          <a:off x="1946895" y="587825"/>
          <a:ext cx="4787550" cy="4787550"/>
        </a:xfrm>
        <a:custGeom>
          <a:avLst/>
          <a:gdLst/>
          <a:ahLst/>
          <a:cxnLst/>
          <a:rect l="0" t="0" r="0" b="0"/>
          <a:pathLst>
            <a:path>
              <a:moveTo>
                <a:pt x="4787179" y="2435932"/>
              </a:moveTo>
              <a:arcTo wR="2393775" hR="2393775" stAng="60546" swAng="2213970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1EB270-665C-42F0-84A9-F0BC9C9BB651}">
      <dsp:nvSpPr>
        <dsp:cNvPr id="0" name=""/>
        <dsp:cNvSpPr/>
      </dsp:nvSpPr>
      <dsp:spPr>
        <a:xfrm>
          <a:off x="4913275" y="4464499"/>
          <a:ext cx="1844484" cy="697468"/>
        </a:xfrm>
        <a:prstGeom prst="roundRect">
          <a:avLst/>
        </a:prstGeom>
        <a:solidFill>
          <a:srgbClr val="4D5577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itchFamily="34" charset="-122"/>
              <a:ea typeface="微软雅黑" pitchFamily="34" charset="-122"/>
            </a:rPr>
            <a:t>提升反作弊实力</a:t>
          </a:r>
          <a:endParaRPr lang="zh-CN" altLang="en-US" sz="18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4947323" y="4498547"/>
        <a:ext cx="1776388" cy="629372"/>
      </dsp:txXfrm>
    </dsp:sp>
    <dsp:sp modelId="{A6820AF8-BDBD-4672-8F44-200E7DB80AE5}">
      <dsp:nvSpPr>
        <dsp:cNvPr id="0" name=""/>
        <dsp:cNvSpPr/>
      </dsp:nvSpPr>
      <dsp:spPr>
        <a:xfrm>
          <a:off x="2034716" y="482853"/>
          <a:ext cx="4787550" cy="4787550"/>
        </a:xfrm>
        <a:custGeom>
          <a:avLst/>
          <a:gdLst/>
          <a:ahLst/>
          <a:cxnLst/>
          <a:rect l="0" t="0" r="0" b="0"/>
          <a:pathLst>
            <a:path>
              <a:moveTo>
                <a:pt x="3092471" y="4683313"/>
              </a:moveTo>
              <a:arcTo wR="2393775" hR="2393775" stAng="4381766" swAng="2036468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6572F-79BB-4350-ADD5-D93869CF456B}">
      <dsp:nvSpPr>
        <dsp:cNvPr id="0" name=""/>
        <dsp:cNvSpPr/>
      </dsp:nvSpPr>
      <dsp:spPr>
        <a:xfrm>
          <a:off x="2099224" y="4464499"/>
          <a:ext cx="1844484" cy="697468"/>
        </a:xfrm>
        <a:prstGeom prst="roundRect">
          <a:avLst/>
        </a:prstGeom>
        <a:solidFill>
          <a:srgbClr val="4D5577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itchFamily="34" charset="-122"/>
              <a:ea typeface="微软雅黑" pitchFamily="34" charset="-122"/>
            </a:rPr>
            <a:t>建立离线反作弊统一框架</a:t>
          </a:r>
          <a:endParaRPr lang="zh-CN" altLang="en-US" sz="18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133272" y="4498547"/>
        <a:ext cx="1776388" cy="629372"/>
      </dsp:txXfrm>
    </dsp:sp>
    <dsp:sp modelId="{59637AF0-C649-41F8-98E4-0E4E5338CD8C}">
      <dsp:nvSpPr>
        <dsp:cNvPr id="0" name=""/>
        <dsp:cNvSpPr/>
      </dsp:nvSpPr>
      <dsp:spPr>
        <a:xfrm>
          <a:off x="2066748" y="519741"/>
          <a:ext cx="4787550" cy="4787550"/>
        </a:xfrm>
        <a:custGeom>
          <a:avLst/>
          <a:gdLst/>
          <a:ahLst/>
          <a:cxnLst/>
          <a:rect l="0" t="0" r="0" b="0"/>
          <a:pathLst>
            <a:path>
              <a:moveTo>
                <a:pt x="558143" y="3930205"/>
              </a:moveTo>
              <a:arcTo wR="2393775" hR="2393775" stAng="8404233" swAng="2757608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AEF890-35D9-4A39-B672-A2504372D9A5}">
      <dsp:nvSpPr>
        <dsp:cNvPr id="0" name=""/>
        <dsp:cNvSpPr/>
      </dsp:nvSpPr>
      <dsp:spPr>
        <a:xfrm>
          <a:off x="1212552" y="2016220"/>
          <a:ext cx="1844484" cy="626876"/>
        </a:xfrm>
        <a:prstGeom prst="roundRect">
          <a:avLst/>
        </a:prstGeom>
        <a:solidFill>
          <a:srgbClr val="4D5577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>
              <a:latin typeface="微软雅黑" pitchFamily="34" charset="-122"/>
              <a:ea typeface="微软雅黑" pitchFamily="34" charset="-122"/>
            </a:rPr>
            <a:t>丰富特征算法</a:t>
          </a:r>
          <a:endParaRPr lang="zh-CN" altLang="en-US" sz="18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1243154" y="2046822"/>
        <a:ext cx="1783280" cy="565672"/>
      </dsp:txXfrm>
    </dsp:sp>
    <dsp:sp modelId="{AC5DEA4A-5678-43F4-BB8E-15D47D6814F2}">
      <dsp:nvSpPr>
        <dsp:cNvPr id="0" name=""/>
        <dsp:cNvSpPr/>
      </dsp:nvSpPr>
      <dsp:spPr>
        <a:xfrm>
          <a:off x="2080576" y="463143"/>
          <a:ext cx="4787550" cy="4787550"/>
        </a:xfrm>
        <a:custGeom>
          <a:avLst/>
          <a:gdLst/>
          <a:ahLst/>
          <a:cxnLst/>
          <a:rect l="0" t="0" r="0" b="0"/>
          <a:pathLst>
            <a:path>
              <a:moveTo>
                <a:pt x="159064" y="1535737"/>
              </a:moveTo>
              <a:arcTo wR="2393775" hR="2393775" stAng="12060286" swAng="2681775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77541-F2EE-408C-8629-D3489F19930F}">
      <dsp:nvSpPr>
        <dsp:cNvPr id="0" name=""/>
        <dsp:cNvSpPr/>
      </dsp:nvSpPr>
      <dsp:spPr>
        <a:xfrm>
          <a:off x="951124" y="631534"/>
          <a:ext cx="4209539" cy="4209539"/>
        </a:xfrm>
        <a:prstGeom prst="blockArc">
          <a:avLst>
            <a:gd name="adj1" fmla="val 10800000"/>
            <a:gd name="adj2" fmla="val 16200000"/>
            <a:gd name="adj3" fmla="val 4638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C615D0-C8A4-425F-B25E-4F430055502F}">
      <dsp:nvSpPr>
        <dsp:cNvPr id="0" name=""/>
        <dsp:cNvSpPr/>
      </dsp:nvSpPr>
      <dsp:spPr>
        <a:xfrm>
          <a:off x="951124" y="631534"/>
          <a:ext cx="4209539" cy="4209539"/>
        </a:xfrm>
        <a:prstGeom prst="blockArc">
          <a:avLst>
            <a:gd name="adj1" fmla="val 5400000"/>
            <a:gd name="adj2" fmla="val 10800000"/>
            <a:gd name="adj3" fmla="val 4638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416A91-F722-4CE0-B78C-29690CD4D5B9}">
      <dsp:nvSpPr>
        <dsp:cNvPr id="0" name=""/>
        <dsp:cNvSpPr/>
      </dsp:nvSpPr>
      <dsp:spPr>
        <a:xfrm>
          <a:off x="951124" y="631534"/>
          <a:ext cx="4209539" cy="4209539"/>
        </a:xfrm>
        <a:prstGeom prst="blockArc">
          <a:avLst>
            <a:gd name="adj1" fmla="val 0"/>
            <a:gd name="adj2" fmla="val 5400000"/>
            <a:gd name="adj3" fmla="val 4638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7EF6FF-2B04-4AF9-9B5C-061F60B529F0}">
      <dsp:nvSpPr>
        <dsp:cNvPr id="0" name=""/>
        <dsp:cNvSpPr/>
      </dsp:nvSpPr>
      <dsp:spPr>
        <a:xfrm>
          <a:off x="951124" y="631534"/>
          <a:ext cx="4209539" cy="4209539"/>
        </a:xfrm>
        <a:prstGeom prst="blockArc">
          <a:avLst>
            <a:gd name="adj1" fmla="val 16200000"/>
            <a:gd name="adj2" fmla="val 0"/>
            <a:gd name="adj3" fmla="val 4638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702918-F1BA-4AA6-838B-BB1B1F1F9F5E}">
      <dsp:nvSpPr>
        <dsp:cNvPr id="0" name=""/>
        <dsp:cNvSpPr/>
      </dsp:nvSpPr>
      <dsp:spPr>
        <a:xfrm>
          <a:off x="2087497" y="1767907"/>
          <a:ext cx="1936792" cy="19367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0" kern="1200" dirty="0" smtClean="0">
              <a:latin typeface="微软雅黑" pitchFamily="34" charset="-122"/>
              <a:ea typeface="微软雅黑" pitchFamily="34" charset="-122"/>
            </a:rPr>
            <a:t>作弊器市场调研、打击</a:t>
          </a:r>
          <a:endParaRPr lang="zh-CN" altLang="en-US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2371134" y="2051544"/>
        <a:ext cx="1369518" cy="1369518"/>
      </dsp:txXfrm>
    </dsp:sp>
    <dsp:sp modelId="{A1133942-ED14-439D-9537-9FA70747F15F}">
      <dsp:nvSpPr>
        <dsp:cNvPr id="0" name=""/>
        <dsp:cNvSpPr/>
      </dsp:nvSpPr>
      <dsp:spPr>
        <a:xfrm>
          <a:off x="2378016" y="2464"/>
          <a:ext cx="1355754" cy="135575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>
              <a:latin typeface="微软雅黑" pitchFamily="34" charset="-122"/>
              <a:ea typeface="微软雅黑" pitchFamily="34" charset="-122"/>
            </a:rPr>
            <a:t>收集作弊器</a:t>
          </a:r>
          <a:endParaRPr lang="zh-CN" altLang="en-US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2576562" y="201010"/>
        <a:ext cx="958662" cy="958662"/>
      </dsp:txXfrm>
    </dsp:sp>
    <dsp:sp modelId="{C968766B-4354-4182-A1BE-7096ADAC9605}">
      <dsp:nvSpPr>
        <dsp:cNvPr id="0" name=""/>
        <dsp:cNvSpPr/>
      </dsp:nvSpPr>
      <dsp:spPr>
        <a:xfrm>
          <a:off x="4433979" y="2058426"/>
          <a:ext cx="1355754" cy="135575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>
              <a:latin typeface="微软雅黑" pitchFamily="34" charset="-122"/>
              <a:ea typeface="微软雅黑" pitchFamily="34" charset="-122"/>
            </a:rPr>
            <a:t>监控作弊器</a:t>
          </a:r>
          <a:endParaRPr lang="zh-CN" altLang="en-US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4632525" y="2256972"/>
        <a:ext cx="958662" cy="958662"/>
      </dsp:txXfrm>
    </dsp:sp>
    <dsp:sp modelId="{7BA5A30C-54EB-4C97-B0BE-1ADFD52AAA1E}">
      <dsp:nvSpPr>
        <dsp:cNvPr id="0" name=""/>
        <dsp:cNvSpPr/>
      </dsp:nvSpPr>
      <dsp:spPr>
        <a:xfrm>
          <a:off x="2378016" y="4114389"/>
          <a:ext cx="1355754" cy="135575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>
              <a:latin typeface="微软雅黑" pitchFamily="34" charset="-122"/>
              <a:ea typeface="微软雅黑" pitchFamily="34" charset="-122"/>
            </a:rPr>
            <a:t>优化策略，竞品分析</a:t>
          </a:r>
          <a:endParaRPr lang="zh-CN" altLang="en-US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2576562" y="4312935"/>
        <a:ext cx="958662" cy="958662"/>
      </dsp:txXfrm>
    </dsp:sp>
    <dsp:sp modelId="{4C282743-1886-4A8A-9122-B2CA847EB9EC}">
      <dsp:nvSpPr>
        <dsp:cNvPr id="0" name=""/>
        <dsp:cNvSpPr/>
      </dsp:nvSpPr>
      <dsp:spPr>
        <a:xfrm>
          <a:off x="322054" y="2058426"/>
          <a:ext cx="1355754" cy="135575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>
              <a:latin typeface="微软雅黑" pitchFamily="34" charset="-122"/>
              <a:ea typeface="微软雅黑" pitchFamily="34" charset="-122"/>
            </a:rPr>
            <a:t>打击作弊器</a:t>
          </a:r>
          <a:endParaRPr lang="zh-CN" altLang="en-US" sz="16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520600" y="2256972"/>
        <a:ext cx="958662" cy="9586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4856" tIns="47428" rIns="94856" bIns="47428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4856" tIns="47428" rIns="94856" bIns="47428" rtlCol="0"/>
          <a:lstStyle>
            <a:lvl1pPr algn="r">
              <a:defRPr sz="1200"/>
            </a:lvl1pPr>
          </a:lstStyle>
          <a:p>
            <a:pPr>
              <a:defRPr/>
            </a:pPr>
            <a:fld id="{D76C74D7-7052-4929-8F99-D69F740763A3}" type="datetimeFigureOut">
              <a:rPr lang="zh-CN" altLang="en-US"/>
              <a:pPr>
                <a:defRPr/>
              </a:pPr>
              <a:t>2013-08-22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4856" tIns="47428" rIns="94856" bIns="47428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4856" tIns="47428" rIns="94856" bIns="4742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39FBBB9-E107-45A7-9895-0B42F3E58A8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5174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4856" tIns="47428" rIns="94856" bIns="4742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4856" tIns="47428" rIns="94856" bIns="4742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4DAE88B-A3D0-4122-8E0D-2C8549EF79C4}" type="datetimeFigureOut">
              <a:rPr lang="zh-CN" altLang="en-US"/>
              <a:pPr>
                <a:defRPr/>
              </a:pPr>
              <a:t>2013-08-22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6" tIns="47428" rIns="94856" bIns="47428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4856" tIns="47428" rIns="94856" bIns="47428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4856" tIns="47428" rIns="94856" bIns="4742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4856" tIns="47428" rIns="94856" bIns="4742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2EEC6ED-BEC4-425D-88F9-EF344B9BDC0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2923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024B88-88B6-4289-9638-8724CF6E6E2B}" type="slidenum">
              <a:rPr lang="en-US" altLang="zh-CN"/>
              <a:pPr eaLnBrk="1" hangingPunct="1"/>
              <a:t>1</a:t>
            </a:fld>
            <a:endParaRPr lang="en-US" altLang="zh-CN" dirty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 smtClean="0">
                <a:latin typeface="Arial" panose="020B0604020202020204" pitchFamily="34" charset="0"/>
              </a:rPr>
              <a:t>很高兴有机会跟大家交流点击反作弊。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 smtClean="0">
                <a:latin typeface="Arial" panose="020B0604020202020204" pitchFamily="34" charset="0"/>
              </a:rPr>
              <a:t>待会在介绍的过程中，如果大家有什么疑问，可以随时打断我。</a:t>
            </a:r>
            <a:endParaRPr lang="en-US" altLang="zh-CN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4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今天的内容分为三</a:t>
            </a:r>
            <a:r>
              <a:rPr lang="zh-CN" altLang="en-US" dirty="0" smtClean="0"/>
              <a:t>个方面。</a:t>
            </a:r>
            <a:endParaRPr lang="en-US" altLang="zh-CN" dirty="0" smtClean="0"/>
          </a:p>
          <a:p>
            <a:r>
              <a:rPr lang="zh-CN" altLang="en-US" dirty="0" smtClean="0"/>
              <a:t>首先是总体介绍一下点击反作弊的工作内容、以及面对的挑战。</a:t>
            </a:r>
            <a:endParaRPr lang="en-US" altLang="zh-CN" dirty="0" smtClean="0"/>
          </a:p>
          <a:p>
            <a:r>
              <a:rPr lang="zh-CN" altLang="en-US" dirty="0" smtClean="0"/>
              <a:t>接下来是介绍我们的反作弊体系，包括技术上是如何过滤的、以及在业务上所做的努力。</a:t>
            </a:r>
            <a:endParaRPr lang="en-US" altLang="zh-CN" dirty="0" smtClean="0"/>
          </a:p>
          <a:p>
            <a:r>
              <a:rPr lang="zh-CN" altLang="en-US" dirty="0" smtClean="0"/>
              <a:t>第三部分算是个人的总结，跟大家聊一聊分析思路。</a:t>
            </a:r>
            <a:endParaRPr lang="en-US" altLang="zh-CN" dirty="0" smtClean="0"/>
          </a:p>
          <a:p>
            <a:r>
              <a:rPr lang="zh-CN" altLang="en-US" dirty="0" smtClean="0"/>
              <a:t>最后是问答环节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176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首先要说明一下，我们组负责了蛮多的产品线，</a:t>
            </a:r>
            <a:r>
              <a:rPr lang="zh-CN" altLang="en-US" sz="1200" dirty="0" smtClean="0"/>
              <a:t>既有商业产品的部分，也有用户产品部分。包括新的产品形态的知心和</a:t>
            </a:r>
            <a:r>
              <a:rPr lang="en-US" altLang="zh-CN" sz="1200" dirty="0" smtClean="0"/>
              <a:t>SIVA</a:t>
            </a:r>
            <a:r>
              <a:rPr lang="zh-CN" altLang="en-US" sz="1200" dirty="0" smtClean="0"/>
              <a:t>。</a:t>
            </a:r>
            <a:endParaRPr lang="en-US" altLang="zh-CN" sz="1200" dirty="0" smtClean="0"/>
          </a:p>
          <a:p>
            <a:endParaRPr lang="en-US" altLang="zh-CN" sz="1200" dirty="0" smtClean="0"/>
          </a:p>
          <a:p>
            <a:r>
              <a:rPr lang="zh-CN" altLang="en-US" sz="1200" dirty="0" smtClean="0"/>
              <a:t>总体上可以分为检索反作弊、展现反作弊、以及点击反作弊。</a:t>
            </a:r>
            <a:endParaRPr lang="en-US" altLang="zh-CN" sz="1200" dirty="0" smtClean="0"/>
          </a:p>
          <a:p>
            <a:r>
              <a:rPr lang="zh-CN" altLang="en-US" sz="1200" dirty="0" smtClean="0"/>
              <a:t>今天主要是介绍凤巢广告的点击反</a:t>
            </a:r>
            <a:r>
              <a:rPr lang="zh-CN" altLang="en-US" sz="1200" dirty="0" smtClean="0"/>
              <a:t>作弊。</a:t>
            </a:r>
            <a:endParaRPr lang="en-US" altLang="zh-CN" sz="1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54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1800" dirty="0" smtClean="0">
                <a:latin typeface="+mn-ea"/>
                <a:ea typeface="+mn-ea"/>
              </a:rPr>
              <a:t>如图所示，红框部分是一个凤巢广告示例。</a:t>
            </a:r>
            <a:endParaRPr lang="en-US" altLang="zh-CN" sz="1800" dirty="0" smtClean="0">
              <a:latin typeface="+mn-ea"/>
              <a:ea typeface="+mn-ea"/>
            </a:endParaRPr>
          </a:p>
          <a:p>
            <a:r>
              <a:rPr lang="zh-CN" altLang="en-US" sz="1800" dirty="0" smtClean="0">
                <a:latin typeface="+mn-ea"/>
                <a:ea typeface="+mn-ea"/>
              </a:rPr>
              <a:t>按照</a:t>
            </a:r>
            <a:r>
              <a:rPr lang="en-US" altLang="zh-CN" sz="1800" dirty="0" smtClean="0">
                <a:latin typeface="+mn-ea"/>
                <a:ea typeface="+mn-ea"/>
              </a:rPr>
              <a:t>CPC</a:t>
            </a:r>
            <a:r>
              <a:rPr lang="zh-CN" altLang="en-US" sz="1800" dirty="0" smtClean="0">
                <a:latin typeface="+mn-ea"/>
                <a:ea typeface="+mn-ea"/>
              </a:rPr>
              <a:t>模式计费，也就是说展现不收费、有用户点击才收费。</a:t>
            </a:r>
            <a:endParaRPr lang="en-US" altLang="zh-CN" sz="1800" dirty="0" smtClean="0">
              <a:latin typeface="+mn-ea"/>
              <a:ea typeface="+mn-ea"/>
            </a:endParaRPr>
          </a:p>
          <a:p>
            <a:r>
              <a:rPr lang="zh-CN" altLang="en-US" sz="1800" dirty="0" smtClean="0">
                <a:latin typeface="+mn-ea"/>
                <a:ea typeface="+mn-ea"/>
              </a:rPr>
              <a:t>广告排序方式：广告竞价</a:t>
            </a:r>
            <a:r>
              <a:rPr lang="en-US" altLang="zh-CN" sz="1800" dirty="0" smtClean="0">
                <a:latin typeface="+mn-ea"/>
                <a:ea typeface="+mn-ea"/>
              </a:rPr>
              <a:t> </a:t>
            </a:r>
            <a:r>
              <a:rPr lang="zh-CN" altLang="en-US" sz="1800" dirty="0" smtClean="0">
                <a:latin typeface="+mn-ea"/>
                <a:ea typeface="+mn-ea"/>
              </a:rPr>
              <a:t>* 广告质量度 （质量度达到一定的阈值，才能机会在左边展现。）</a:t>
            </a:r>
            <a:endParaRPr lang="en-US" altLang="zh-CN" sz="1800" dirty="0" smtClean="0">
              <a:latin typeface="+mn-ea"/>
              <a:ea typeface="+mn-ea"/>
            </a:endParaRPr>
          </a:p>
          <a:p>
            <a:endParaRPr lang="en-US" altLang="zh-CN" sz="1800" dirty="0" smtClean="0">
              <a:latin typeface="+mn-ea"/>
              <a:ea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+mn-ea"/>
                <a:ea typeface="+mn-ea"/>
              </a:rPr>
              <a:t>这里面的利益是巨大：</a:t>
            </a:r>
            <a:endParaRPr lang="en-US" altLang="zh-CN" sz="1200" dirty="0" smtClean="0">
              <a:latin typeface="+mn-ea"/>
              <a:ea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+mn-ea"/>
                <a:ea typeface="+mn-ea"/>
              </a:rPr>
              <a:t>1</a:t>
            </a:r>
            <a:r>
              <a:rPr lang="zh-CN" altLang="en-US" sz="1200" dirty="0" smtClean="0">
                <a:latin typeface="+mn-ea"/>
                <a:ea typeface="+mn-ea"/>
              </a:rPr>
              <a:t>）</a:t>
            </a:r>
            <a:r>
              <a:rPr lang="zh-CN" altLang="en-US" sz="1200" baseline="0" dirty="0" smtClean="0">
                <a:latin typeface="+mn-ea"/>
                <a:ea typeface="+mn-ea"/>
              </a:rPr>
              <a:t> </a:t>
            </a:r>
            <a:r>
              <a:rPr lang="zh-CN" altLang="en-US" sz="1200" dirty="0" smtClean="0">
                <a:latin typeface="+mn-ea"/>
                <a:ea typeface="+mn-ea"/>
              </a:rPr>
              <a:t>左边的广告关注度是右边的</a:t>
            </a:r>
            <a:r>
              <a:rPr lang="en-US" altLang="zh-CN" sz="1200" dirty="0" smtClean="0">
                <a:latin typeface="+mn-ea"/>
                <a:ea typeface="+mn-ea"/>
              </a:rPr>
              <a:t>10</a:t>
            </a:r>
            <a:r>
              <a:rPr lang="zh-CN" altLang="en-US" sz="1200" dirty="0" smtClean="0">
                <a:latin typeface="+mn-ea"/>
                <a:ea typeface="+mn-ea"/>
              </a:rPr>
              <a:t>倍以上。</a:t>
            </a:r>
            <a:endParaRPr lang="en-US" altLang="zh-CN" sz="1200" dirty="0" smtClean="0">
              <a:latin typeface="+mn-ea"/>
              <a:ea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+mn-ea"/>
                <a:ea typeface="+mn-ea"/>
              </a:rPr>
              <a:t>2</a:t>
            </a:r>
            <a:r>
              <a:rPr lang="zh-CN" altLang="en-US" sz="1200" dirty="0" smtClean="0">
                <a:latin typeface="+mn-ea"/>
                <a:ea typeface="+mn-ea"/>
              </a:rPr>
              <a:t>）</a:t>
            </a:r>
            <a:r>
              <a:rPr lang="en-US" altLang="zh-CN" sz="1200" baseline="0" dirty="0" smtClean="0">
                <a:latin typeface="+mn-ea"/>
                <a:ea typeface="+mn-ea"/>
              </a:rPr>
              <a:t> </a:t>
            </a:r>
            <a:r>
              <a:rPr lang="zh-CN" altLang="en-US" sz="1200" dirty="0" smtClean="0">
                <a:latin typeface="+mn-ea"/>
                <a:ea typeface="+mn-ea"/>
              </a:rPr>
              <a:t>排名靠前的广告，关注度是后面广告的几倍。</a:t>
            </a:r>
            <a:endParaRPr lang="en-US" altLang="zh-CN" sz="1200" dirty="0" smtClean="0">
              <a:latin typeface="+mn-ea"/>
              <a:ea typeface="+mn-ea"/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广告主想要吸引更多的用户，就要努力使自己的广告排到左边靠前的位置。</a:t>
            </a:r>
            <a:endParaRPr lang="en-US" altLang="zh-CN" dirty="0" smtClean="0"/>
          </a:p>
          <a:p>
            <a:r>
              <a:rPr lang="zh-CN" altLang="en-US" dirty="0" smtClean="0"/>
              <a:t>提高排名无非几种方式：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、优化广告质量度；</a:t>
            </a:r>
            <a:r>
              <a:rPr lang="en-US" altLang="zh-CN" dirty="0" smtClean="0"/>
              <a:t>2</a:t>
            </a:r>
            <a:r>
              <a:rPr lang="zh-CN" altLang="en-US" dirty="0" smtClean="0"/>
              <a:t>、提高竞价；</a:t>
            </a:r>
            <a:r>
              <a:rPr lang="en-US" altLang="zh-CN" dirty="0" smtClean="0"/>
              <a:t>3</a:t>
            </a:r>
            <a:r>
              <a:rPr lang="zh-CN" altLang="en-US" dirty="0" smtClean="0"/>
              <a:t>、想办法让竞争</a:t>
            </a:r>
            <a:r>
              <a:rPr lang="zh-CN" altLang="en-US" dirty="0" smtClean="0"/>
              <a:t>对手下线</a:t>
            </a:r>
            <a:endParaRPr lang="en-US" altLang="zh-CN" dirty="0" smtClean="0"/>
          </a:p>
          <a:p>
            <a:r>
              <a:rPr lang="zh-CN" altLang="en-US" dirty="0" smtClean="0"/>
              <a:t>部分广告主采取了第三种方法，于是有了点击反作弊这项工作。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PPT</a:t>
            </a:r>
            <a:r>
              <a:rPr lang="zh-CN" altLang="en-US" dirty="0" smtClean="0"/>
              <a:t>的最下面是广告链接</a:t>
            </a:r>
            <a:r>
              <a:rPr lang="en-US" altLang="zh-CN" dirty="0" err="1" smtClean="0"/>
              <a:t>url</a:t>
            </a:r>
            <a:r>
              <a:rPr lang="zh-CN" altLang="en-US" dirty="0" smtClean="0"/>
              <a:t>，前缀是</a:t>
            </a:r>
            <a:r>
              <a:rPr lang="en-US" altLang="zh-CN" dirty="0" err="1" smtClean="0"/>
              <a:t>baidu.php</a:t>
            </a:r>
            <a:r>
              <a:rPr lang="zh-CN" altLang="en-US" dirty="0" smtClean="0"/>
              <a:t>开头，中间的一大长串是加密内容，</a:t>
            </a:r>
            <a:r>
              <a:rPr lang="en-US" altLang="zh-CN" dirty="0" err="1" smtClean="0"/>
              <a:t>url</a:t>
            </a:r>
            <a:r>
              <a:rPr lang="zh-CN" altLang="en-US" dirty="0" smtClean="0"/>
              <a:t>尾部记录了用户的鼠标行为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当用户点击了广告，就进入了反作弊的模块。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9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无效</a:t>
            </a:r>
            <a:r>
              <a:rPr lang="zh-CN" altLang="en-US" dirty="0" smtClean="0"/>
              <a:t>点击是业务上的一些定义，比如相同用户短时间的重复点击，不会多次计费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作弊动机中最主要的原因就是攻击竞争对手。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696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28600" indent="-228600">
              <a:buAutoNum type="arabicPeriod"/>
            </a:pPr>
            <a:r>
              <a:rPr lang="zh-CN" altLang="en-US" dirty="0" smtClean="0"/>
              <a:t>作弊者的门槛是很低的，用户点击广告不需要登录账号。</a:t>
            </a:r>
            <a:endParaRPr lang="en-US" altLang="zh-CN" dirty="0" smtClean="0"/>
          </a:p>
          <a:p>
            <a:pPr marL="228600" indent="-228600">
              <a:buAutoNum type="arabicPeriod"/>
            </a:pP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这听起来有点矫情</a:t>
            </a:r>
            <a:r>
              <a:rPr lang="zh-CN" altLang="en-US" baseline="0" dirty="0" smtClean="0"/>
              <a:t>，在</a:t>
            </a:r>
            <a:r>
              <a:rPr lang="zh-CN" altLang="en-US" baseline="0" dirty="0" smtClean="0"/>
              <a:t>某些行业，广告的价格是很高的。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    </a:t>
            </a:r>
            <a:r>
              <a:rPr lang="zh-CN" altLang="en-US" baseline="0" dirty="0" smtClean="0"/>
              <a:t>我第一次看到这个数字时，惊呆了。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3. </a:t>
            </a:r>
            <a:r>
              <a:rPr lang="zh-CN" altLang="en-US" dirty="0" smtClean="0"/>
              <a:t>前面提到我们的目标是过滤动机不纯的点击。但是用户点击广告的真正目的，只有他自己知道。</a:t>
            </a:r>
            <a:endParaRPr lang="en-US" altLang="zh-CN" dirty="0" smtClean="0"/>
          </a:p>
          <a:p>
            <a:r>
              <a:rPr lang="zh-CN" altLang="en-US" dirty="0" smtClean="0"/>
              <a:t>    我们只能从他的行为去猜测，他很大的概率是在作弊。</a:t>
            </a:r>
            <a:endParaRPr lang="en-US" altLang="zh-CN" dirty="0" smtClean="0"/>
          </a:p>
          <a:p>
            <a:r>
              <a:rPr lang="en-US" altLang="zh-CN" dirty="0" smtClean="0"/>
              <a:t>    </a:t>
            </a:r>
            <a:r>
              <a:rPr lang="zh-CN" altLang="en-US" dirty="0" smtClean="0"/>
              <a:t>另外，反作弊能利用的信息比较少，能利用的也就是用户信息和行为信息。而用户信息是靠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来维系的。</a:t>
            </a:r>
            <a:r>
              <a:rPr lang="en-US" altLang="zh-CN" dirty="0" smtClean="0"/>
              <a:t>    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点击作弊发展到现在，变成了一个庞大的产业。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    </a:t>
            </a:r>
            <a:r>
              <a:rPr lang="zh-CN" altLang="en-US" dirty="0" smtClean="0"/>
              <a:t>掌握作弊技术的团伙，会不断的推销他的产品。曾经有一个作弊器</a:t>
            </a:r>
            <a:r>
              <a:rPr lang="en-US" altLang="zh-CN" dirty="0" smtClean="0"/>
              <a:t>slogan</a:t>
            </a:r>
            <a:r>
              <a:rPr lang="zh-CN" altLang="en-US" dirty="0" smtClean="0"/>
              <a:t>是百度有广告主，他们就要发展多少用户，当然后来它消亡了。</a:t>
            </a:r>
            <a:endParaRPr lang="en-US" altLang="zh-CN" dirty="0" smtClean="0"/>
          </a:p>
          <a:p>
            <a:r>
              <a:rPr lang="en-US" altLang="zh-CN" dirty="0" smtClean="0"/>
              <a:t>    </a:t>
            </a:r>
            <a:r>
              <a:rPr lang="zh-CN" altLang="en-US" dirty="0" smtClean="0"/>
              <a:t>也有人当起了中介，搭建任务平台，连接任务发布者和廉价的水军。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5. </a:t>
            </a:r>
            <a:r>
              <a:rPr lang="zh-CN" altLang="en-US" dirty="0" smtClean="0"/>
              <a:t>准确率和召回率对我们来说，都很重要。有句话说得很形象，手心手背都是肉</a:t>
            </a:r>
            <a:r>
              <a:rPr lang="zh-CN" altLang="en-US" dirty="0" smtClean="0"/>
              <a:t>。无论准确率和召回率，哪一个出问题，最终百度都是受害者。</a:t>
            </a:r>
            <a:endParaRPr lang="en-US" altLang="zh-CN" dirty="0" smtClean="0"/>
          </a:p>
          <a:p>
            <a:r>
              <a:rPr lang="zh-CN" altLang="en-US" dirty="0" smtClean="0"/>
              <a:t>介绍到这里，相信</a:t>
            </a:r>
            <a:r>
              <a:rPr lang="zh-CN" altLang="en-US" dirty="0" smtClean="0"/>
              <a:t>大家对点击</a:t>
            </a:r>
            <a:r>
              <a:rPr lang="zh-CN" altLang="en-US" dirty="0" smtClean="0"/>
              <a:t>反作弊有一个初步的认识。</a:t>
            </a:r>
            <a:endParaRPr lang="en-US" altLang="zh-CN" dirty="0" smtClean="0"/>
          </a:p>
          <a:p>
            <a:r>
              <a:rPr lang="zh-CN" altLang="en-US" dirty="0" smtClean="0"/>
              <a:t>我们介绍了解决的是什么样的问题、以及遇到的挑战。</a:t>
            </a:r>
            <a:endParaRPr lang="en-US" altLang="zh-CN" dirty="0" smtClean="0"/>
          </a:p>
          <a:p>
            <a:r>
              <a:rPr lang="zh-CN" altLang="en-US" dirty="0" smtClean="0"/>
              <a:t>下面会介绍反作弊的体系。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58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反作弊系统主要包含</a:t>
            </a:r>
            <a:r>
              <a:rPr lang="en-US" altLang="zh-CN" sz="1200" dirty="0" smtClean="0">
                <a:solidFill>
                  <a:prstClr val="black"/>
                </a:solidFill>
                <a:latin typeface="+mn-ea"/>
              </a:rPr>
              <a:t>4</a:t>
            </a: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个部分，前三个部分跟</a:t>
            </a:r>
            <a:r>
              <a:rPr lang="zh-CN" altLang="en-US" sz="1200" baseline="0" dirty="0" smtClean="0">
                <a:solidFill>
                  <a:prstClr val="black"/>
                </a:solidFill>
                <a:latin typeface="+mn-ea"/>
              </a:rPr>
              <a:t>社区反作弊的事前、事中、事后很相似。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第一部分是前端拦截，偏业务多一点。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我们希望将一些作弊者抵达在外，同时不能对正常用户产生误判，最好是只有作弊用户能够感受到。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第二部分是技术过滤部分，包含了实时过滤和离线过滤两部分。后面会详细介绍。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第三部分是效果监控，实际上，这部分做得会更主动一些。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我们不是单纯的监控各个维度指标是否正常、策略波动是否正常。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最主要的是，我们会主动收集市面上的作弊器进行分析、打击。也会主动寻找反作弊系统的漏洞。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第四部分客户满意度部分，通俗点说就是处理广告主投诉。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96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前端拦截目前包含了三个方向。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主动</a:t>
            </a:r>
            <a:r>
              <a:rPr lang="zh-CN" altLang="en-US" dirty="0" smtClean="0"/>
              <a:t>防御：小插曲，广告主投诉看不到自己投放的广告，查了半天发现是被我们主动防御了。查看日志发现，该广告主在疯狂的点击自己的广告，这让我们百思不得其解。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经过沟通，广告主承认确实在点击自己的广告。原因是他以为广告点击率高，也许排名就能靠前一些。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怎么说呢，这让我想起了三国杀中的黄盖。首先不鼓励这种行为，其次这样做是没有效果的。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回过头想想，这也让我们意识到凤巢广告的竞争有多激烈。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变脸：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通过变换模板，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401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模块关系图从上到下，分为了三部分：</a:t>
            </a:r>
            <a:endParaRPr lang="en-US" altLang="zh-CN" dirty="0" smtClean="0"/>
          </a:p>
          <a:p>
            <a:r>
              <a:rPr lang="zh-CN" altLang="en-US" dirty="0" smtClean="0"/>
              <a:t>最上面是数据层，包括点击数据、检索数据、网站统计数据、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数据。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中间部分包含了实时过滤模块和离线过滤模块。</a:t>
            </a:r>
            <a:endParaRPr lang="en-US" altLang="zh-CN" dirty="0" smtClean="0"/>
          </a:p>
          <a:p>
            <a:r>
              <a:rPr lang="zh-CN" altLang="en-US" dirty="0" smtClean="0"/>
              <a:t>这个图的意思，不单单是说过滤模块使用了多个数据源。</a:t>
            </a:r>
            <a:endParaRPr lang="en-US" altLang="zh-CN" dirty="0" smtClean="0"/>
          </a:p>
          <a:p>
            <a:r>
              <a:rPr lang="zh-CN" altLang="en-US" dirty="0" smtClean="0"/>
              <a:t>更重要的是想说明，下游的众多模块，是依赖于反作弊的输出的。</a:t>
            </a:r>
            <a:endParaRPr lang="en-US" altLang="zh-CN" dirty="0" smtClean="0"/>
          </a:p>
          <a:p>
            <a:r>
              <a:rPr lang="zh-CN" altLang="en-US" dirty="0" smtClean="0"/>
              <a:t>包括计费、广告</a:t>
            </a:r>
            <a:r>
              <a:rPr lang="en-US" altLang="zh-CN" dirty="0" smtClean="0"/>
              <a:t>CTR</a:t>
            </a:r>
            <a:r>
              <a:rPr lang="zh-CN" altLang="en-US" dirty="0" smtClean="0"/>
              <a:t>预估、各种</a:t>
            </a:r>
            <a:r>
              <a:rPr lang="zh-CN" altLang="en-US" dirty="0" smtClean="0"/>
              <a:t>报表。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Budget</a:t>
            </a:r>
            <a:r>
              <a:rPr lang="en-US" altLang="zh-CN" baseline="0" dirty="0" smtClean="0"/>
              <a:t> Server</a:t>
            </a:r>
            <a:r>
              <a:rPr lang="zh-CN" altLang="en-US" baseline="0" dirty="0" smtClean="0"/>
              <a:t>模块就是今年获得了百万大奖的通宝项目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这么多下游，给</a:t>
            </a:r>
            <a:r>
              <a:rPr lang="zh-CN" altLang="en-US" dirty="0" smtClean="0"/>
              <a:t>反作弊带来很大的压力，要保证服务的问题和策略效果。</a:t>
            </a:r>
            <a:endParaRPr lang="en-US" altLang="zh-CN" dirty="0" smtClean="0"/>
          </a:p>
          <a:p>
            <a:r>
              <a:rPr lang="zh-CN" altLang="en-US" dirty="0" smtClean="0"/>
              <a:t>很长一段时间，点击反作弊只有实时模块，局限性比较大。</a:t>
            </a:r>
            <a:endParaRPr lang="en-US" altLang="zh-CN" dirty="0" smtClean="0"/>
          </a:p>
          <a:p>
            <a:r>
              <a:rPr lang="zh-CN" altLang="en-US" dirty="0" smtClean="0"/>
              <a:t>现在我们有了离线反作弊，允许对已经计费的点击进行修正。</a:t>
            </a:r>
            <a:r>
              <a:rPr lang="zh-CN" altLang="en-US" dirty="0" smtClean="0"/>
              <a:t>这给反</a:t>
            </a:r>
            <a:r>
              <a:rPr lang="zh-CN" altLang="en-US" dirty="0" smtClean="0"/>
              <a:t>作弊争取了宝贵的时间。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080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实时模块是毫秒级的延时，处理完的点击没</a:t>
            </a:r>
            <a:r>
              <a:rPr lang="zh-CN" altLang="en-US" dirty="0" smtClean="0"/>
              <a:t>办法再进行修改</a:t>
            </a:r>
            <a:r>
              <a:rPr lang="zh-CN" altLang="en-US" dirty="0" smtClean="0"/>
              <a:t>的。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能够利用的特征主要是用户客户端信息、访问来源，以及点击广告前的鼠标行为。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利用的手段主要是统计规则，有次数统计、比例统计。统计全局的分布，如果置信</a:t>
            </a:r>
            <a:r>
              <a:rPr lang="zh-CN" altLang="en-US" dirty="0" smtClean="0"/>
              <a:t>度较低，</a:t>
            </a:r>
            <a:r>
              <a:rPr lang="zh-CN" altLang="en-US" dirty="0" smtClean="0"/>
              <a:t>则</a:t>
            </a:r>
            <a:r>
              <a:rPr lang="zh-CN" altLang="en-US" dirty="0" smtClean="0"/>
              <a:t>认为作弊。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比较有特色的是分布的卡方检测，我们会用基准分布（可以理解为无作弊的正常分布），和待检测的特征分布，计算</a:t>
            </a:r>
            <a:r>
              <a:rPr lang="en-US" altLang="zh-CN" dirty="0" smtClean="0"/>
              <a:t>diff</a:t>
            </a:r>
            <a:r>
              <a:rPr lang="zh-CN" altLang="en-US" dirty="0" smtClean="0"/>
              <a:t>值。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如下图所示，黄色部分明显是异常的。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因为基准分布数据</a:t>
            </a:r>
            <a:r>
              <a:rPr lang="zh-CN" altLang="zh-CN" dirty="0" smtClean="0"/>
              <a:t>只有百度才有，使作弊者难以模仿，提高作弊门槛。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我觉得反作弊和作弊者相比，最大的优势在于信息不对称，我们能拿到比他们多得多的信息，所以</a:t>
            </a:r>
            <a:r>
              <a:rPr lang="zh-CN" altLang="en-US" dirty="0" smtClean="0"/>
              <a:t>才能凭几个人，</a:t>
            </a:r>
            <a:r>
              <a:rPr lang="zh-CN" altLang="en-US" dirty="0" smtClean="0"/>
              <a:t>对抗一个行业。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自动封禁包括两部分功能：</a:t>
            </a:r>
            <a:endParaRPr lang="en-US" altLang="zh-CN" dirty="0" smtClean="0"/>
          </a:p>
          <a:p>
            <a:pPr marL="228600" marR="0" lvl="1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baseline="0" dirty="0" smtClean="0"/>
              <a:t>第一个功能是对作弊者进行封禁、作弊</a:t>
            </a:r>
            <a:r>
              <a:rPr lang="zh-CN" altLang="en-US" baseline="0" dirty="0" smtClean="0"/>
              <a:t>者被多次识别后，会进入黑名单。直到不再作弊为止。 进入和放出跟作弊程度有关，是自动计算的。</a:t>
            </a:r>
            <a:endParaRPr lang="en-US" altLang="zh-CN" baseline="0" dirty="0" smtClean="0"/>
          </a:p>
          <a:p>
            <a:pPr marL="228600" marR="0" lvl="1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baseline="0" dirty="0" smtClean="0"/>
              <a:t>另外还有一个功能是，如果检测到广告主遭受了大规模攻击、也会暂时保护起来。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统计规则是基于时间窗口，既有短时间的窗口，比如</a:t>
            </a:r>
            <a:r>
              <a:rPr lang="en-US" altLang="zh-CN" dirty="0" smtClean="0"/>
              <a:t>10</a:t>
            </a:r>
            <a:r>
              <a:rPr lang="zh-CN" altLang="en-US" dirty="0" smtClean="0"/>
              <a:t>分钟、一个小时。也有长时间的窗口，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天、</a:t>
            </a:r>
            <a:r>
              <a:rPr lang="en-US" altLang="zh-CN" dirty="0" smtClean="0"/>
              <a:t>7</a:t>
            </a:r>
            <a:r>
              <a:rPr lang="zh-CN" altLang="en-US" dirty="0" smtClean="0"/>
              <a:t>天。可以很方便的配置。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229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实时反</a:t>
            </a:r>
            <a:r>
              <a:rPr lang="zh-CN" altLang="en-US" dirty="0" smtClean="0"/>
              <a:t>作弊发挥了中流砥柱的作用，但是也存在一定</a:t>
            </a:r>
            <a:r>
              <a:rPr lang="zh-CN" altLang="en-US" dirty="0" smtClean="0"/>
              <a:t>的</a:t>
            </a:r>
            <a:r>
              <a:rPr lang="zh-CN" altLang="en-US" dirty="0" smtClean="0"/>
              <a:t>局限性。</a:t>
            </a:r>
            <a:endParaRPr lang="en-US" altLang="zh-CN" dirty="0" smtClean="0"/>
          </a:p>
          <a:p>
            <a:r>
              <a:rPr lang="zh-CN" altLang="en-US" dirty="0" smtClean="0"/>
              <a:t>由于时间紧、能够利用的信息优先，难免存在</a:t>
            </a:r>
            <a:r>
              <a:rPr lang="zh-CN" altLang="en-US" dirty="0" smtClean="0"/>
              <a:t>召回不足的问题。</a:t>
            </a:r>
            <a:endParaRPr lang="en-US" altLang="zh-CN" dirty="0" smtClean="0"/>
          </a:p>
          <a:p>
            <a:r>
              <a:rPr lang="zh-CN" altLang="en-US" dirty="0" smtClean="0"/>
              <a:t>这也是离线反作弊存在的价值。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概括来说离线反作弊的优点在于：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baseline="0" dirty="0" smtClean="0"/>
              <a:t>可以整合多类数据</a:t>
            </a:r>
            <a:endParaRPr lang="en-US" altLang="zh-CN" baseline="0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运用更丰富的特征算法，甚至是专门的挖掘流程。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zh-CN" altLang="en-US" dirty="0" smtClean="0"/>
              <a:t>能够提升反作弊的实力，发现更多的作弊、提高召回。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075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离线反作弊在特征挖掘上做了一些工作，下面介绍其中几个。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实时</a:t>
            </a:r>
            <a:r>
              <a:rPr lang="zh-CN" altLang="en-US" dirty="0" smtClean="0"/>
              <a:t>过滤大都是统计意义上的，在时间序列上考虑的较少。</a:t>
            </a:r>
            <a:endParaRPr lang="en-US" altLang="zh-CN" dirty="0" smtClean="0"/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而实际上，时间序列上的突增突降波动往往有较大的作弊嫌疑。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分析这一部分数据，可以突破只在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PV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特征异常上分析的局限；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同时由于可以分析历史数据，增大了作弊的模拟难度。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在方法选择上，一开始调研了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差分自回归移动平均模型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，发现比较复杂，而且周期性变化预测在目前反作弊应用中贡献不大。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所以采用了相对简单的指数移动平均，以及计算均值和方差。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291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序列相似性算法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主要用来解决一类机器作弊问题，他们在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时间序列上特征明显的问题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比如是平稳的直线，或者是锯齿状。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解释一下锯齿状的原因，是因为点击任务设定了每小时的工作量，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调度没做好，在每小时的开始时间就把任务完成了，然后等待下一个小时的到来。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我们可以总结一些作弊序列，然后计算当前待序列和作弊序列的相似性。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如果拟合程度很高，则认为是相同类型的作弊。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842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Action</a:t>
            </a:r>
            <a:r>
              <a:rPr lang="zh-CN" altLang="en-US" dirty="0" smtClean="0"/>
              <a:t>：一次具体的检索、点击行为</a:t>
            </a:r>
            <a:endParaRPr lang="en-US" altLang="zh-CN" dirty="0" smtClean="0"/>
          </a:p>
          <a:p>
            <a:r>
              <a:rPr lang="en-US" altLang="zh-CN" dirty="0" err="1" smtClean="0"/>
              <a:t>Action_type</a:t>
            </a:r>
            <a:r>
              <a:rPr lang="en-US" altLang="zh-CN" dirty="0" smtClean="0"/>
              <a:t>:</a:t>
            </a:r>
            <a:r>
              <a:rPr lang="en-US" altLang="zh-CN" baseline="0" dirty="0" smtClean="0"/>
              <a:t> </a:t>
            </a:r>
            <a:r>
              <a:rPr lang="en-US" altLang="zh-CN" dirty="0" smtClean="0"/>
              <a:t>action</a:t>
            </a:r>
            <a:r>
              <a:rPr lang="zh-CN" altLang="zh-CN" dirty="0" smtClean="0"/>
              <a:t>对应的类型，比如：首次搜索、更改查询搜索、翻页搜索、相关搜索，</a:t>
            </a:r>
            <a:r>
              <a:rPr lang="en-US" altLang="zh-CN" dirty="0" smtClean="0"/>
              <a:t>suggest</a:t>
            </a:r>
            <a:r>
              <a:rPr lang="zh-CN" altLang="zh-CN" dirty="0" smtClean="0"/>
              <a:t>搜索、自然点击、广告点击等</a:t>
            </a:r>
            <a:endParaRPr lang="en-US" altLang="zh-CN" dirty="0" smtClean="0"/>
          </a:p>
          <a:p>
            <a:r>
              <a:rPr lang="en-US" altLang="zh-CN" dirty="0" smtClean="0"/>
              <a:t>Link</a:t>
            </a:r>
            <a:r>
              <a:rPr lang="zh-CN" altLang="en-US" dirty="0" smtClean="0"/>
              <a:t>：两个</a:t>
            </a:r>
            <a:r>
              <a:rPr lang="en-US" altLang="zh-CN" dirty="0" smtClean="0"/>
              <a:t>action</a:t>
            </a:r>
            <a:r>
              <a:rPr lang="zh-CN" altLang="en-US" dirty="0" smtClean="0"/>
              <a:t>之间的</a:t>
            </a:r>
            <a:r>
              <a:rPr lang="zh-CN" altLang="zh-CN" dirty="0" smtClean="0"/>
              <a:t>连接边，可以带属性，比如权重、时间间隔等等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session: </a:t>
            </a:r>
            <a:r>
              <a:rPr lang="zh-CN" altLang="zh-CN" dirty="0" smtClean="0"/>
              <a:t>有关联的</a:t>
            </a:r>
            <a:r>
              <a:rPr lang="en-US" altLang="zh-CN" dirty="0" smtClean="0"/>
              <a:t>action</a:t>
            </a:r>
            <a:r>
              <a:rPr lang="zh-CN" altLang="zh-CN" dirty="0" smtClean="0"/>
              <a:t>及其</a:t>
            </a:r>
            <a:r>
              <a:rPr lang="en-US" altLang="zh-CN" dirty="0" smtClean="0"/>
              <a:t>link</a:t>
            </a:r>
            <a:r>
              <a:rPr lang="zh-CN" altLang="zh-CN" dirty="0" smtClean="0"/>
              <a:t>的集合，可用一棵树表示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组合成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后，在按照</a:t>
            </a:r>
            <a:r>
              <a:rPr lang="en-US" altLang="zh-CN" dirty="0" err="1" smtClean="0"/>
              <a:t>ip</a:t>
            </a:r>
            <a:r>
              <a:rPr lang="zh-CN" altLang="en-US" dirty="0" smtClean="0"/>
              <a:t>或者</a:t>
            </a:r>
            <a:r>
              <a:rPr lang="en-US" altLang="zh-CN" dirty="0" err="1" smtClean="0"/>
              <a:t>baiduid</a:t>
            </a:r>
            <a:r>
              <a:rPr lang="zh-CN" altLang="en-US" dirty="0" smtClean="0"/>
              <a:t>等纬度聚合，得到</a:t>
            </a:r>
            <a:r>
              <a:rPr lang="en-US" altLang="zh-CN" dirty="0" err="1" smtClean="0"/>
              <a:t>action_group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然后识别这些</a:t>
            </a:r>
            <a:r>
              <a:rPr lang="en-US" altLang="zh-CN" dirty="0" err="1" smtClean="0"/>
              <a:t>action_group</a:t>
            </a:r>
            <a:r>
              <a:rPr lang="zh-CN" altLang="en-US" dirty="0" smtClean="0"/>
              <a:t>是否异常。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比如说一次检索一次点击、只点击广告、不点击自然结果。</a:t>
            </a:r>
            <a:endParaRPr lang="zh-CN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528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人工团伙作弊指的是通过任务分发平台，发布广告点击任务。然后由水军来执行任务。</a:t>
            </a:r>
            <a:endParaRPr lang="en-US" altLang="zh-CN" dirty="0" smtClean="0"/>
          </a:p>
          <a:p>
            <a:r>
              <a:rPr lang="zh-CN" altLang="en-US" dirty="0" smtClean="0"/>
              <a:t>任务可以指定执行区域，限制每个</a:t>
            </a:r>
            <a:r>
              <a:rPr lang="en-US" altLang="zh-CN" dirty="0" smtClean="0"/>
              <a:t>IP</a:t>
            </a:r>
            <a:r>
              <a:rPr lang="zh-CN" altLang="en-US" dirty="0" smtClean="0"/>
              <a:t>不重复点击、每个小时点击完成量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难点在于由于是人为点击，在单个点击行为上发现不了明显异常。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实际上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水军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的收益并不大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大家猜一下水军完成一次广告点击可以赚多少钱？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答案是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VIP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用户是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钱，普通用户是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分钱。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要想赚钱，就要多完成任务。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这也成为我们挖掘的核心思想：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水军不会只攻击一个广告主，否则赚不到钱。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网站也不会只被一个水军攻击，因为任务平台限制了单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重复点击。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因此攻击者和广告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主会交织在一起，形成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密集的子图。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820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介绍完实时和离线的算法，这里要提一下主动返款项目。</a:t>
            </a:r>
            <a:endParaRPr lang="en-US" altLang="zh-CN" dirty="0" smtClean="0"/>
          </a:p>
          <a:p>
            <a:r>
              <a:rPr lang="zh-CN" altLang="en-US" dirty="0" smtClean="0"/>
              <a:t>我个人认为这个项目既是水到渠成的，又有里程碑的意义。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我们会将离线系统挖掘出的作弊点击涉及到的金额，返还给用户。</a:t>
            </a:r>
            <a:endParaRPr lang="en-US" altLang="zh-CN" dirty="0" smtClean="0"/>
          </a:p>
          <a:p>
            <a:r>
              <a:rPr lang="zh-CN" altLang="en-US" dirty="0" smtClean="0"/>
              <a:t>因为实时系统没有识别出来的话，计费就已经扣款了。</a:t>
            </a:r>
            <a:endParaRPr lang="en-US" altLang="zh-CN" dirty="0" smtClean="0"/>
          </a:p>
          <a:p>
            <a:r>
              <a:rPr lang="zh-CN" altLang="en-US" dirty="0" smtClean="0"/>
              <a:t>这相当于让公司把已经拿到手的钱，吐出来。</a:t>
            </a:r>
            <a:endParaRPr lang="en-US" altLang="zh-CN" dirty="0" smtClean="0"/>
          </a:p>
          <a:p>
            <a:r>
              <a:rPr lang="zh-CN" altLang="en-US" dirty="0" smtClean="0"/>
              <a:t>我们认为这是有意义的，带来</a:t>
            </a:r>
            <a:r>
              <a:rPr lang="zh-CN" altLang="en-US" dirty="0" smtClean="0"/>
              <a:t>的直接好处</a:t>
            </a:r>
            <a:r>
              <a:rPr lang="zh-CN" altLang="en-US" dirty="0" smtClean="0"/>
              <a:t>是提高了反作弊的效果。</a:t>
            </a:r>
            <a:endParaRPr lang="en-US" altLang="zh-CN" dirty="0" smtClean="0"/>
          </a:p>
          <a:p>
            <a:r>
              <a:rPr lang="zh-CN" altLang="en-US" dirty="0" smtClean="0"/>
              <a:t>更长远来看增强</a:t>
            </a:r>
            <a:r>
              <a:rPr lang="zh-CN" altLang="en-US" dirty="0" smtClean="0"/>
              <a:t>了广告主的信息</a:t>
            </a:r>
            <a:r>
              <a:rPr lang="zh-CN" altLang="en-US" dirty="0" smtClean="0"/>
              <a:t>，提高</a:t>
            </a:r>
            <a:r>
              <a:rPr lang="zh-CN" altLang="en-US" dirty="0" smtClean="0"/>
              <a:t>百度的形象。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主动返款灰度上线那天，我们给广告主返了第一个点击，我看了一下周围的同事，大家很平静，很多人还开会去了。</a:t>
            </a:r>
            <a:endParaRPr lang="en-US" altLang="zh-CN" dirty="0" smtClean="0"/>
          </a:p>
          <a:p>
            <a:r>
              <a:rPr lang="zh-CN" altLang="en-US" dirty="0" smtClean="0"/>
              <a:t>这说明百度的会比较多</a:t>
            </a:r>
            <a:r>
              <a:rPr lang="en-US" altLang="zh-CN" dirty="0" smtClean="0"/>
              <a:t>^-^</a:t>
            </a:r>
          </a:p>
          <a:p>
            <a:r>
              <a:rPr lang="zh-CN" altLang="en-US" dirty="0" smtClean="0"/>
              <a:t>当然</a:t>
            </a:r>
            <a:r>
              <a:rPr lang="zh-CN" altLang="en-US" dirty="0" smtClean="0"/>
              <a:t>我们内心还是很激动的，这是反作弊的一小步，确实百度的一大步。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928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前面提到效果监控不单单是监控。</a:t>
            </a:r>
            <a:endParaRPr lang="en-US" altLang="zh-CN" dirty="0" smtClean="0"/>
          </a:p>
          <a:p>
            <a:r>
              <a:rPr lang="zh-CN" altLang="en-US" dirty="0" smtClean="0"/>
              <a:t>我们还主动收集作弊器进行研究。</a:t>
            </a:r>
            <a:endParaRPr lang="en-US" altLang="zh-CN" dirty="0" smtClean="0"/>
          </a:p>
          <a:p>
            <a:r>
              <a:rPr lang="zh-CN" altLang="en-US" dirty="0" smtClean="0"/>
              <a:t>对于一些作弊器会联系法务进行打击，比如关闭官网、电话警示，甚至是立案。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策略</a:t>
            </a:r>
            <a:r>
              <a:rPr lang="zh-CN" altLang="en-US" dirty="0" smtClean="0"/>
              <a:t>方面，我们会对作弊器进行研究，了解他们是如何做的。</a:t>
            </a:r>
            <a:endParaRPr lang="en-US" altLang="zh-CN" dirty="0" smtClean="0"/>
          </a:p>
          <a:p>
            <a:r>
              <a:rPr lang="zh-CN" altLang="en-US" dirty="0" smtClean="0"/>
              <a:t>有</a:t>
            </a:r>
            <a:r>
              <a:rPr lang="zh-CN" altLang="en-US" dirty="0" smtClean="0"/>
              <a:t>针对性的</a:t>
            </a:r>
            <a:r>
              <a:rPr lang="zh-CN" altLang="en-US" dirty="0" smtClean="0"/>
              <a:t>进行策略优化。</a:t>
            </a:r>
            <a:endParaRPr lang="en-US" altLang="zh-CN" dirty="0" smtClean="0"/>
          </a:p>
          <a:p>
            <a:r>
              <a:rPr lang="zh-CN" altLang="en-US" dirty="0" smtClean="0"/>
              <a:t>竞品分析，在竞品上也有测试账户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广告主报表不能太详细，作弊者也有很多测试账号。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043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概括起来，泥潭项目做了三件方面的事情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泥潭项目取得了不错的进展。对于市面上主流作弊器都摸了个遍。</a:t>
            </a:r>
            <a:endParaRPr lang="en-US" altLang="zh-CN" dirty="0" smtClean="0"/>
          </a:p>
          <a:p>
            <a:r>
              <a:rPr lang="zh-CN" altLang="en-US" dirty="0" smtClean="0"/>
              <a:t>我们想更进一步。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190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那就是自己开发作弊器。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84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这是评估平台其中一个截图，页面后面的内容没截到。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除了样本的基本信息，还有扩展信息，比如</a:t>
            </a:r>
            <a:r>
              <a:rPr lang="en-US" altLang="zh-CN" dirty="0" smtClean="0"/>
              <a:t>IP</a:t>
            </a:r>
            <a:r>
              <a:rPr lang="zh-CN" altLang="en-US" dirty="0" smtClean="0"/>
              <a:t>纬度、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纬度。</a:t>
            </a:r>
            <a:endParaRPr lang="en-US" altLang="zh-CN" dirty="0" smtClean="0"/>
          </a:p>
          <a:p>
            <a:r>
              <a:rPr lang="zh-CN" altLang="en-US" dirty="0" smtClean="0"/>
              <a:t>每个扩展信息按钮，能看到扩展纬度的点击汇总。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025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介绍完了反作弊体系。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indent="0">
              <a:spcBef>
                <a:spcPct val="0"/>
              </a:spcBef>
              <a:buFont typeface="Arial" pitchFamily="34" charset="0"/>
              <a:buNone/>
              <a:defRPr/>
            </a:pP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indent="0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主要介绍了前端拦截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indent="0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实时和离线过滤算法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  <a:p>
            <a:pPr marL="0" indent="0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以及效果监控：泥潭、红黑</a:t>
            </a:r>
            <a:r>
              <a:rPr lang="en-US" altLang="zh-CN" sz="1200" dirty="0" smtClean="0">
                <a:solidFill>
                  <a:prstClr val="black"/>
                </a:solidFill>
                <a:latin typeface="+mn-ea"/>
              </a:rPr>
              <a:t>team</a:t>
            </a:r>
            <a:r>
              <a:rPr lang="zh-CN" altLang="en-US" sz="1200" dirty="0" smtClean="0">
                <a:solidFill>
                  <a:prstClr val="black"/>
                </a:solidFill>
                <a:latin typeface="+mn-ea"/>
              </a:rPr>
              <a:t>、评估平台</a:t>
            </a:r>
            <a:endParaRPr lang="en-US" altLang="zh-CN" sz="1200" dirty="0" smtClean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631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爬虫作弊指的是不需要通过浏览器，程序通过</a:t>
            </a:r>
            <a:r>
              <a:rPr lang="en-US" altLang="zh-CN" dirty="0" smtClean="0"/>
              <a:t>HTTP</a:t>
            </a:r>
            <a:r>
              <a:rPr lang="zh-CN" altLang="en-US" dirty="0" smtClean="0"/>
              <a:t>协议，网络通讯跟百度进行交互。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简单</a:t>
            </a:r>
            <a:r>
              <a:rPr lang="zh-CN" altLang="en-US" dirty="0" smtClean="0"/>
              <a:t>作弊：简单作弊指的是非常明显的作弊行为，例如：</a:t>
            </a:r>
            <a:endParaRPr lang="en-US" altLang="zh-CN" dirty="0" smtClean="0"/>
          </a:p>
          <a:p>
            <a:r>
              <a:rPr lang="zh-CN" altLang="en-US" dirty="0" smtClean="0"/>
              <a:t>此</a:t>
            </a:r>
            <a:r>
              <a:rPr lang="zh-CN" altLang="en-US" dirty="0" smtClean="0"/>
              <a:t>类攻击基本不构成威胁，需要保证召回率，因为漏过的话，广告主感知明显。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放一下录像。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594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EEC6ED-BEC4-425D-88F9-EF344B9BDC04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51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37A45-3399-4730-BAD0-3317539AEB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309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14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00" name="think-cell Slide" r:id="rId7" imgW="0" imgH="0" progId="TCLayout.ActiveDocument.1">
                  <p:embed/>
                </p:oleObj>
              </mc:Choice>
              <mc:Fallback>
                <p:oleObj name="think-cell Slide" r:id="rId7" imgW="0" imgH="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255" y="432800"/>
            <a:ext cx="6778625" cy="777875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352D6D5-FA06-4632-8EF2-407CF5F712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4978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58BDE-DEF0-40BC-BD41-3985834D82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8932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C6833-C206-4BBF-BC5A-2D0DC62026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01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44DE54-C696-4EE6-B713-B62C1362A3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1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D81D8-5815-4F51-9D0A-98CD70F145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93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134BC5-15CF-4D81-83AD-0FFFEAFF61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697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1F60F3-B9B6-4CB8-975E-DF7F1510FA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57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CDB5C-F093-408D-BC36-669D6A77B5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949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EE738-3A8E-4A5D-9D6B-0085D7656A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636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E66FD8-156A-48D8-836B-D270E9D728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69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53FC4-C722-46F9-B014-9271B73CA9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4709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685800" y="2667000"/>
            <a:ext cx="7848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7160" tIns="0" rIns="164592" bIns="0" anchor="ctr"/>
          <a:lstStyle/>
          <a:p>
            <a:pPr algn="ctr" fontAlgn="ctr">
              <a:defRPr/>
            </a:pPr>
            <a:endParaRPr lang="zh-CN" altLang="zh-CN" sz="4800">
              <a:solidFill>
                <a:schemeClr val="bg2"/>
              </a:solidFill>
              <a:ea typeface="微软雅黑" pitchFamily="34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3744913" y="4114800"/>
            <a:ext cx="827087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>
              <a:ea typeface="微软雅黑" pitchFamily="34" charset="-122"/>
            </a:endParaRPr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4572000" y="4114800"/>
            <a:ext cx="827088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940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685800" y="2667000"/>
            <a:ext cx="7848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7160" tIns="0" rIns="164592" bIns="0" anchor="ctr"/>
          <a:lstStyle/>
          <a:p>
            <a:pPr algn="ctr" fontAlgn="ctr">
              <a:defRPr/>
            </a:pPr>
            <a:endParaRPr lang="zh-CN" altLang="zh-CN" sz="4800">
              <a:solidFill>
                <a:schemeClr val="bg2"/>
              </a:solidFill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3744913" y="4114800"/>
            <a:ext cx="827087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4572000" y="4114800"/>
            <a:ext cx="827088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990600"/>
            <a:ext cx="1905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474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582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6905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392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762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18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509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896926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41B719-3D96-4470-8F49-0C257C6795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403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71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7025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2669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Light horizontal"/>
          <p:cNvSpPr>
            <a:spLocks noChangeArrowheads="1"/>
          </p:cNvSpPr>
          <p:nvPr/>
        </p:nvSpPr>
        <p:spPr bwMode="gray">
          <a:xfrm>
            <a:off x="0" y="9525"/>
            <a:ext cx="1476375" cy="6848475"/>
          </a:xfrm>
          <a:prstGeom prst="rect">
            <a:avLst/>
          </a:prstGeom>
          <a:pattFill prst="ltHorz">
            <a:fgClr>
              <a:srgbClr val="DDDDDD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" name="Picture 5" descr="logone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6215063"/>
            <a:ext cx="1293813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1603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685800" y="2667000"/>
            <a:ext cx="78486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137160" tIns="0" rIns="164592" bIns="0" anchor="ctr"/>
          <a:lstStyle/>
          <a:p>
            <a:pPr algn="ctr" fontAlgn="ctr">
              <a:defRPr/>
            </a:pPr>
            <a:endParaRPr lang="zh-CN" altLang="zh-CN" sz="4800">
              <a:solidFill>
                <a:schemeClr val="bg2"/>
              </a:solidFill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3744913" y="4114800"/>
            <a:ext cx="827087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4572000" y="4114800"/>
            <a:ext cx="827088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5" name="Picture 16" descr="logonew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990600"/>
            <a:ext cx="19050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5400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369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832446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70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894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11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9392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5154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00396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997D617-9020-47FB-9184-BCBD7468FCB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56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168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8162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049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Light horizontal"/>
          <p:cNvSpPr>
            <a:spLocks noChangeArrowheads="1"/>
          </p:cNvSpPr>
          <p:nvPr/>
        </p:nvSpPr>
        <p:spPr bwMode="gray">
          <a:xfrm>
            <a:off x="0" y="9525"/>
            <a:ext cx="1476375" cy="6848475"/>
          </a:xfrm>
          <a:prstGeom prst="rect">
            <a:avLst/>
          </a:prstGeom>
          <a:pattFill prst="ltHorz">
            <a:fgClr>
              <a:srgbClr val="DDDDDD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" name="Picture 5" descr="logonew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6215063"/>
            <a:ext cx="1293813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80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53525" cy="6480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99" name="标题占位符 1"/>
          <p:cNvSpPr>
            <a:spLocks noGrp="1"/>
          </p:cNvSpPr>
          <p:nvPr>
            <p:ph type="title"/>
          </p:nvPr>
        </p:nvSpPr>
        <p:spPr bwMode="auto">
          <a:xfrm>
            <a:off x="385763" y="466725"/>
            <a:ext cx="67786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10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390525" y="12684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5895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58958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58958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F9FCBEB-A948-4817-9408-252BE5A6BD0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2" name="矩形 8"/>
          <p:cNvSpPr>
            <a:spLocks noChangeArrowheads="1"/>
          </p:cNvSpPr>
          <p:nvPr/>
        </p:nvSpPr>
        <p:spPr bwMode="auto">
          <a:xfrm>
            <a:off x="504825" y="6410325"/>
            <a:ext cx="457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企业的</a:t>
            </a:r>
            <a:r>
              <a:rPr lang="en-US" altLang="zh-CN" sz="1600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SOLOGEN</a:t>
            </a:r>
            <a:endParaRPr lang="zh-CN" altLang="en-US" sz="1600" b="1">
              <a:solidFill>
                <a:schemeClr val="bg1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4105" name="图片 11" descr="截图05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620713"/>
            <a:ext cx="13271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0" y="6696075"/>
          <a:ext cx="9144000" cy="177800"/>
        </p:xfrm>
        <a:graphic>
          <a:graphicData uri="http://schemas.openxmlformats.org/drawingml/2006/table">
            <a:tbl>
              <a:tblPr/>
              <a:tblGrid>
                <a:gridCol w="6114698"/>
                <a:gridCol w="3029302"/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　</a:t>
                      </a:r>
                    </a:p>
                  </a:txBody>
                  <a:tcPr marL="9525" marR="9525" marT="955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60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latin typeface="Tahoma"/>
                        </a:rPr>
                        <a:t>　</a:t>
                      </a:r>
                    </a:p>
                  </a:txBody>
                  <a:tcPr marL="9525" marR="9525" marT="9559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9DC"/>
                    </a:solidFill>
                  </a:tcPr>
                </a:tc>
              </a:tr>
            </a:tbl>
          </a:graphicData>
        </a:graphic>
      </p:graphicFrame>
      <p:cxnSp>
        <p:nvCxnSpPr>
          <p:cNvPr id="14" name="直接连接符 13"/>
          <p:cNvCxnSpPr/>
          <p:nvPr userDrawn="1"/>
        </p:nvCxnSpPr>
        <p:spPr>
          <a:xfrm>
            <a:off x="395288" y="1125538"/>
            <a:ext cx="5400675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32" r:id="rId1"/>
    <p:sldLayoutId id="2147487545" r:id="rId2"/>
    <p:sldLayoutId id="2147487533" r:id="rId3"/>
    <p:sldLayoutId id="2147487534" r:id="rId4"/>
    <p:sldLayoutId id="2147487535" r:id="rId5"/>
    <p:sldLayoutId id="2147487536" r:id="rId6"/>
    <p:sldLayoutId id="2147487537" r:id="rId7"/>
    <p:sldLayoutId id="2147487538" r:id="rId8"/>
    <p:sldLayoutId id="2147487539" r:id="rId9"/>
    <p:sldLayoutId id="2147487540" r:id="rId10"/>
    <p:sldLayoutId id="2147487541" r:id="rId11"/>
    <p:sldLayoutId id="2147487542" r:id="rId12"/>
    <p:sldLayoutId id="2147487546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rgbClr val="716F70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716F70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716F7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rgbClr val="716F7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716F7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716F7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716F7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0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2051" name="Rectangle 18"/>
          <p:cNvSpPr>
            <a:spLocks/>
          </p:cNvSpPr>
          <p:nvPr/>
        </p:nvSpPr>
        <p:spPr bwMode="auto">
          <a:xfrm>
            <a:off x="304800" y="1143000"/>
            <a:ext cx="1079500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52" name="Rectangle 20"/>
          <p:cNvSpPr>
            <a:spLocks/>
          </p:cNvSpPr>
          <p:nvPr/>
        </p:nvSpPr>
        <p:spPr bwMode="auto">
          <a:xfrm>
            <a:off x="1212850" y="1143000"/>
            <a:ext cx="539750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5125" name="Picture 21" descr="logonew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943600"/>
            <a:ext cx="15240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07A3FC9-8756-43EA-9C3B-AE8EA68D68E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48" r:id="rId1"/>
    <p:sldLayoutId id="2147487549" r:id="rId2"/>
    <p:sldLayoutId id="2147487550" r:id="rId3"/>
    <p:sldLayoutId id="2147487551" r:id="rId4"/>
    <p:sldLayoutId id="2147487552" r:id="rId5"/>
    <p:sldLayoutId id="2147487553" r:id="rId6"/>
    <p:sldLayoutId id="2147487554" r:id="rId7"/>
    <p:sldLayoutId id="2147487555" r:id="rId8"/>
    <p:sldLayoutId id="2147487543" r:id="rId9"/>
    <p:sldLayoutId id="2147487556" r:id="rId10"/>
    <p:sldLayoutId id="2147487557" r:id="rId11"/>
    <p:sldLayoutId id="2147487558" r:id="rId12"/>
    <p:sldLayoutId id="2147487559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华文黑体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70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5" name="Rectangle 18"/>
          <p:cNvSpPr>
            <a:spLocks/>
          </p:cNvSpPr>
          <p:nvPr/>
        </p:nvSpPr>
        <p:spPr bwMode="auto">
          <a:xfrm>
            <a:off x="304800" y="1143000"/>
            <a:ext cx="1079500" cy="15240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76" name="Rectangle 20"/>
          <p:cNvSpPr>
            <a:spLocks/>
          </p:cNvSpPr>
          <p:nvPr/>
        </p:nvSpPr>
        <p:spPr bwMode="auto">
          <a:xfrm>
            <a:off x="1212850" y="1143000"/>
            <a:ext cx="539750" cy="15240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149" name="Picture 21" descr="logonew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5943600"/>
            <a:ext cx="15240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793C0564-5D6D-4959-8948-C5A065C2E43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60" r:id="rId1"/>
    <p:sldLayoutId id="2147487561" r:id="rId2"/>
    <p:sldLayoutId id="2147487562" r:id="rId3"/>
    <p:sldLayoutId id="2147487563" r:id="rId4"/>
    <p:sldLayoutId id="2147487564" r:id="rId5"/>
    <p:sldLayoutId id="2147487565" r:id="rId6"/>
    <p:sldLayoutId id="2147487566" r:id="rId7"/>
    <p:sldLayoutId id="2147487567" r:id="rId8"/>
    <p:sldLayoutId id="2147487544" r:id="rId9"/>
    <p:sldLayoutId id="2147487568" r:id="rId10"/>
    <p:sldLayoutId id="2147487569" r:id="rId11"/>
    <p:sldLayoutId id="2147487570" r:id="rId12"/>
    <p:sldLayoutId id="214748757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华文黑体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  <a:cs typeface="华文黑体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华文黑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2318DE"/>
        </a:buClr>
        <a:buSzPct val="15000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403350" y="2524125"/>
            <a:ext cx="6121400" cy="2119313"/>
          </a:xfrm>
        </p:spPr>
        <p:txBody>
          <a:bodyPr lIns="137160" tIns="0" rIns="164592" bIns="0"/>
          <a:lstStyle/>
          <a:p>
            <a:pPr algn="ctr" fontAlgn="ctr"/>
            <a:r>
              <a:rPr lang="zh-CN" altLang="en-US" sz="39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凤巢点击反作弊</a:t>
            </a:r>
            <a:r>
              <a:rPr lang="en-US" altLang="zh-CN" sz="39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/>
            </a:r>
            <a:br>
              <a:rPr lang="en-US" altLang="zh-CN" sz="39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1800" dirty="0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lixuekai@baidu.com</a:t>
            </a:r>
            <a:r>
              <a:rPr lang="en-US" altLang="zh-CN" sz="39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/>
            </a:r>
            <a:br>
              <a:rPr lang="en-US" altLang="zh-CN" sz="39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总体介绍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作弊体系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分析思路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306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827585" y="1560860"/>
            <a:ext cx="4248472" cy="6440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lang="zh-CN" altLang="en-US" sz="32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商业产品</a:t>
            </a:r>
            <a:endParaRPr kumimoji="0" lang="zh-CN" altLang="en-US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652120" y="1560860"/>
            <a:ext cx="2592288" cy="6440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lang="zh-CN" altLang="en-US" sz="32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用户产品</a:t>
            </a:r>
            <a:endParaRPr kumimoji="0" lang="zh-CN" altLang="en-US" sz="3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827584" y="2952841"/>
            <a:ext cx="1842467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凤巢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467544" y="2564904"/>
            <a:ext cx="7992888" cy="0"/>
          </a:xfrm>
          <a:prstGeom prst="line">
            <a:avLst/>
          </a:prstGeom>
          <a:ln w="28575" cap="rnd">
            <a:solidFill>
              <a:srgbClr val="333300"/>
            </a:solidFill>
            <a:prstDash val="dash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0" name="矩形 9"/>
          <p:cNvSpPr/>
          <p:nvPr/>
        </p:nvSpPr>
        <p:spPr bwMode="auto">
          <a:xfrm>
            <a:off x="3233590" y="4521053"/>
            <a:ext cx="1842467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网盟</a:t>
            </a:r>
          </a:p>
        </p:txBody>
      </p:sp>
      <p:sp>
        <p:nvSpPr>
          <p:cNvPr id="11" name="矩形 10"/>
          <p:cNvSpPr/>
          <p:nvPr/>
        </p:nvSpPr>
        <p:spPr bwMode="auto">
          <a:xfrm>
            <a:off x="827585" y="3732388"/>
            <a:ext cx="1296144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无线</a:t>
            </a:r>
          </a:p>
        </p:txBody>
      </p:sp>
      <p:sp>
        <p:nvSpPr>
          <p:cNvPr id="12" name="矩形 11"/>
          <p:cNvSpPr/>
          <p:nvPr/>
        </p:nvSpPr>
        <p:spPr bwMode="auto">
          <a:xfrm>
            <a:off x="857970" y="4524476"/>
            <a:ext cx="1842467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大客户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5652120" y="2937290"/>
            <a:ext cx="2507226" cy="5332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PC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和</a:t>
            </a: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无线搜索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6027030" y="3732388"/>
            <a:ext cx="1842467" cy="5332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zh-CN" altLang="en-US" sz="28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 百</a:t>
            </a:r>
            <a:r>
              <a:rPr lang="zh-CN" altLang="en-US" sz="2800" b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度首页</a:t>
            </a:r>
            <a:endParaRPr lang="en-US" altLang="zh-CN" sz="28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57416" y="4524476"/>
            <a:ext cx="1842467" cy="5332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buClr>
                <a:schemeClr val="bg2"/>
              </a:buClr>
            </a:pPr>
            <a:r>
              <a:rPr lang="zh-CN" altLang="en-US" sz="2800" b="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搜索推荐</a:t>
            </a:r>
            <a:endParaRPr lang="zh-CN" altLang="en-US" sz="28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67544" y="5401113"/>
            <a:ext cx="7992888" cy="0"/>
          </a:xfrm>
          <a:prstGeom prst="line">
            <a:avLst/>
          </a:prstGeom>
          <a:ln w="28575" cap="rnd">
            <a:solidFill>
              <a:srgbClr val="333300"/>
            </a:solidFill>
            <a:prstDash val="dash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sp>
        <p:nvSpPr>
          <p:cNvPr id="17" name="矩形 16"/>
          <p:cNvSpPr/>
          <p:nvPr/>
        </p:nvSpPr>
        <p:spPr bwMode="auto">
          <a:xfrm>
            <a:off x="2339752" y="5589240"/>
            <a:ext cx="4248472" cy="644004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rgbClr val="333300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检索、展现</a:t>
            </a:r>
            <a:r>
              <a:rPr lang="zh-CN" altLang="en-US" sz="3200" b="0" dirty="0" smtClean="0">
                <a:solidFill>
                  <a:srgbClr val="3333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、</a:t>
            </a:r>
            <a:r>
              <a:rPr lang="zh-CN" altLang="en-US" sz="3200" dirty="0">
                <a:solidFill>
                  <a:srgbClr val="33330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点击</a:t>
            </a:r>
          </a:p>
        </p:txBody>
      </p:sp>
      <p:sp>
        <p:nvSpPr>
          <p:cNvPr id="19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总体介绍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303749" y="3708956"/>
            <a:ext cx="1296144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知心</a:t>
            </a:r>
          </a:p>
        </p:txBody>
      </p:sp>
      <p:sp>
        <p:nvSpPr>
          <p:cNvPr id="22" name="矩形 21"/>
          <p:cNvSpPr/>
          <p:nvPr/>
        </p:nvSpPr>
        <p:spPr bwMode="auto">
          <a:xfrm>
            <a:off x="3779913" y="3713067"/>
            <a:ext cx="1296144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SIVA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233589" y="2970206"/>
            <a:ext cx="1842467" cy="5332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72000" tIns="72000" rIns="72000" bIns="72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Arial" charset="0"/>
              </a:rPr>
              <a:t>搜索联盟</a:t>
            </a:r>
          </a:p>
        </p:txBody>
      </p:sp>
    </p:spTree>
    <p:extLst>
      <p:ext uri="{BB962C8B-B14F-4D97-AF65-F5344CB8AC3E}">
        <p14:creationId xmlns:p14="http://schemas.microsoft.com/office/powerpoint/2010/main" val="249243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总体介绍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39757" y="5589240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http://www.baidu.com/baidu.php?url=</a:t>
            </a:r>
            <a:r>
              <a:rPr lang="zh-CN" altLang="en-US" sz="900" dirty="0" smtClean="0">
                <a:latin typeface="Cambria" panose="02040503050406030204" pitchFamily="18" charset="0"/>
              </a:rPr>
              <a:t>3OcK00KjXmCAlKUjRRLczoMRWGu7h3JFMpNsS7bP2tUZ690SCp7KRpOcTXBDF_17nFVRLRI5ztAPKz3cgm_FLZFAw3UijzA9rKl8iLqXc96rBc84hm-u0qgL0gBlqrPUNU0KIub.7Y_jCX17N6u4c5CxWqSSKWk_zUE7HReiM-kl-9h9mLXPxHYJ.U1Yk0ZDq1tJeJ0KY5TO28l60pyYqnW0Y0ATqmh3sP0KdpHdBmy-bIfKspyfqnfKWpyfqn16d0AdY5HDsnHIxnH0kn-tznj0kg1D0pvbqn0KzIjYYnWm0uy-b5HDYPH-xn1D1rNtzrHTvg1c4rjKxn104n7t1njc4g1cLnjc0mhbqrj6Yr0KVm1Y1PjmdPjR1Pdt1nWfsP1msn7tzP1b4nHNxnW0kP16dnHn40Z7spyfqn0Kkmv-b5H00ThIYmyTqn0KEIhsq0A7B5HKxn0K-ThTqn0KsTjYLPWf3nHbsn1f0UMus5H08nj0snj0snj00Ugws5H00ThCqn0KbugmqTAn0mhsqn0KWThnqnWfdPjm&amp;</a:t>
            </a:r>
            <a:r>
              <a:rPr lang="zh-CN" altLang="en-US" sz="9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ck=7727.25.134.198.119.633.139.1343</a:t>
            </a:r>
            <a:endParaRPr lang="zh-CN" altLang="en-US" sz="9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7" y="1268760"/>
            <a:ext cx="6660631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0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目标：过滤动机不纯的广告点击和无效点击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作弊动机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60120" lvl="1" indent="-457200">
              <a:buFont typeface="+mj-lt"/>
              <a:buAutoNum type="arabicPeriod"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主要原因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攻击竞争对手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60120" lvl="1" indent="-457200">
              <a:buFont typeface="+mj-lt"/>
              <a:buAutoNum type="arabicPeriod"/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联盟作弊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提高分成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60120" lvl="1" indent="-457200">
              <a:buFont typeface="+mj-lt"/>
              <a:buAutoNum type="arabicPeriod"/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群体事件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攻击百度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60120" lvl="1" indent="-457200">
              <a:buFont typeface="+mj-lt"/>
              <a:buAutoNum type="arabicPeriod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检索作弊波及点击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反作弊策略参考检索信息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60120" lvl="1" indent="-457200">
              <a:buFont typeface="+mj-lt"/>
              <a:buAutoNum type="arabicPeriod"/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业务层面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无效点击：例如用户重复点击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总体介绍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302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面临的挑战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作弊门槛低：点击广告不需要登录账号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见效快：</a:t>
            </a:r>
            <a:r>
              <a:rPr lang="zh-CN" altLang="en-US" sz="2000" dirty="0" smtClean="0">
                <a:solidFill>
                  <a:schemeClr val="tx1"/>
                </a:solidFill>
              </a:rPr>
              <a:t>少量的点击就可以消耗目标广告主的预算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隐蔽：</a:t>
            </a:r>
            <a:r>
              <a:rPr lang="zh-CN" altLang="en-US" sz="2000" dirty="0">
                <a:solidFill>
                  <a:schemeClr val="tx1"/>
                </a:solidFill>
              </a:rPr>
              <a:t>系统只能</a:t>
            </a:r>
            <a:r>
              <a:rPr lang="zh-CN" altLang="en-US" sz="2000" dirty="0" smtClean="0">
                <a:solidFill>
                  <a:schemeClr val="tx1"/>
                </a:solidFill>
              </a:rPr>
              <a:t>猜测用户的意图、信息少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zh-CN" sz="2000" dirty="0" smtClean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产业化：作弊软件规模化、任务发布平台兴起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准召率兼顾：准确率不够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公司遭受损失；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召回率不够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广告主离开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劣币驱逐良币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总体介绍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92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/>
        </p:nvSpPr>
        <p:spPr>
          <a:xfrm rot="10800000">
            <a:off x="2066925" y="1331913"/>
            <a:ext cx="5184775" cy="4438650"/>
          </a:xfrm>
          <a:prstGeom prst="triangl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任意多边形 4"/>
          <p:cNvSpPr/>
          <p:nvPr/>
        </p:nvSpPr>
        <p:spPr>
          <a:xfrm>
            <a:off x="3074988" y="1476375"/>
            <a:ext cx="3168650" cy="1266824"/>
          </a:xfrm>
          <a:custGeom>
            <a:avLst/>
            <a:gdLst>
              <a:gd name="connsiteX0" fmla="*/ 0 w 2482710"/>
              <a:gd name="connsiteY0" fmla="*/ 213075 h 1278423"/>
              <a:gd name="connsiteX1" fmla="*/ 213075 w 2482710"/>
              <a:gd name="connsiteY1" fmla="*/ 0 h 1278423"/>
              <a:gd name="connsiteX2" fmla="*/ 2269635 w 2482710"/>
              <a:gd name="connsiteY2" fmla="*/ 0 h 1278423"/>
              <a:gd name="connsiteX3" fmla="*/ 2482710 w 2482710"/>
              <a:gd name="connsiteY3" fmla="*/ 213075 h 1278423"/>
              <a:gd name="connsiteX4" fmla="*/ 2482710 w 2482710"/>
              <a:gd name="connsiteY4" fmla="*/ 1065348 h 1278423"/>
              <a:gd name="connsiteX5" fmla="*/ 2269635 w 2482710"/>
              <a:gd name="connsiteY5" fmla="*/ 1278423 h 1278423"/>
              <a:gd name="connsiteX6" fmla="*/ 213075 w 2482710"/>
              <a:gd name="connsiteY6" fmla="*/ 1278423 h 1278423"/>
              <a:gd name="connsiteX7" fmla="*/ 0 w 2482710"/>
              <a:gd name="connsiteY7" fmla="*/ 1065348 h 1278423"/>
              <a:gd name="connsiteX8" fmla="*/ 0 w 2482710"/>
              <a:gd name="connsiteY8" fmla="*/ 213075 h 12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710" h="1278423">
                <a:moveTo>
                  <a:pt x="0" y="213075"/>
                </a:moveTo>
                <a:cubicBezTo>
                  <a:pt x="0" y="95397"/>
                  <a:pt x="95397" y="0"/>
                  <a:pt x="213075" y="0"/>
                </a:cubicBezTo>
                <a:lnTo>
                  <a:pt x="2269635" y="0"/>
                </a:lnTo>
                <a:cubicBezTo>
                  <a:pt x="2387313" y="0"/>
                  <a:pt x="2482710" y="95397"/>
                  <a:pt x="2482710" y="213075"/>
                </a:cubicBezTo>
                <a:lnTo>
                  <a:pt x="2482710" y="1065348"/>
                </a:lnTo>
                <a:cubicBezTo>
                  <a:pt x="2482710" y="1183026"/>
                  <a:pt x="2387313" y="1278423"/>
                  <a:pt x="2269635" y="1278423"/>
                </a:cubicBezTo>
                <a:lnTo>
                  <a:pt x="213075" y="1278423"/>
                </a:lnTo>
                <a:cubicBezTo>
                  <a:pt x="95397" y="1278423"/>
                  <a:pt x="0" y="1183026"/>
                  <a:pt x="0" y="1065348"/>
                </a:cubicBezTo>
                <a:lnTo>
                  <a:pt x="0" y="213075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38607" tIns="138607" rIns="138607" bIns="138607"/>
          <a:lstStyle/>
          <a:p>
            <a:pPr algn="ctr" defTabSz="889000" fontAlgn="base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</a:rPr>
              <a:t>前端</a:t>
            </a:r>
            <a:r>
              <a:rPr lang="zh-CN" altLang="en-US" sz="2400" b="1" dirty="0">
                <a:solidFill>
                  <a:srgbClr val="000000"/>
                </a:solidFill>
              </a:rPr>
              <a:t>拦截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主动防御</a:t>
            </a: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变脸</a:t>
            </a:r>
            <a:r>
              <a:rPr lang="zh-CN" altLang="en-US" sz="1600" dirty="0" smtClean="0">
                <a:solidFill>
                  <a:srgbClr val="000000"/>
                </a:solidFill>
              </a:rPr>
              <a:t>项目</a:t>
            </a:r>
            <a:endParaRPr lang="en-US" altLang="zh-CN" sz="1600" dirty="0" smtClean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蜜罐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3074988" y="2959100"/>
            <a:ext cx="3168650" cy="1181100"/>
          </a:xfrm>
          <a:custGeom>
            <a:avLst/>
            <a:gdLst>
              <a:gd name="connsiteX0" fmla="*/ 0 w 2482710"/>
              <a:gd name="connsiteY0" fmla="*/ 213075 h 1278423"/>
              <a:gd name="connsiteX1" fmla="*/ 213075 w 2482710"/>
              <a:gd name="connsiteY1" fmla="*/ 0 h 1278423"/>
              <a:gd name="connsiteX2" fmla="*/ 2269635 w 2482710"/>
              <a:gd name="connsiteY2" fmla="*/ 0 h 1278423"/>
              <a:gd name="connsiteX3" fmla="*/ 2482710 w 2482710"/>
              <a:gd name="connsiteY3" fmla="*/ 213075 h 1278423"/>
              <a:gd name="connsiteX4" fmla="*/ 2482710 w 2482710"/>
              <a:gd name="connsiteY4" fmla="*/ 1065348 h 1278423"/>
              <a:gd name="connsiteX5" fmla="*/ 2269635 w 2482710"/>
              <a:gd name="connsiteY5" fmla="*/ 1278423 h 1278423"/>
              <a:gd name="connsiteX6" fmla="*/ 213075 w 2482710"/>
              <a:gd name="connsiteY6" fmla="*/ 1278423 h 1278423"/>
              <a:gd name="connsiteX7" fmla="*/ 0 w 2482710"/>
              <a:gd name="connsiteY7" fmla="*/ 1065348 h 1278423"/>
              <a:gd name="connsiteX8" fmla="*/ 0 w 2482710"/>
              <a:gd name="connsiteY8" fmla="*/ 213075 h 12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710" h="1278423">
                <a:moveTo>
                  <a:pt x="0" y="213075"/>
                </a:moveTo>
                <a:cubicBezTo>
                  <a:pt x="0" y="95397"/>
                  <a:pt x="95397" y="0"/>
                  <a:pt x="213075" y="0"/>
                </a:cubicBezTo>
                <a:lnTo>
                  <a:pt x="2269635" y="0"/>
                </a:lnTo>
                <a:cubicBezTo>
                  <a:pt x="2387313" y="0"/>
                  <a:pt x="2482710" y="95397"/>
                  <a:pt x="2482710" y="213075"/>
                </a:cubicBezTo>
                <a:lnTo>
                  <a:pt x="2482710" y="1065348"/>
                </a:lnTo>
                <a:cubicBezTo>
                  <a:pt x="2482710" y="1183026"/>
                  <a:pt x="2387313" y="1278423"/>
                  <a:pt x="2269635" y="1278423"/>
                </a:cubicBezTo>
                <a:lnTo>
                  <a:pt x="213075" y="1278423"/>
                </a:lnTo>
                <a:cubicBezTo>
                  <a:pt x="95397" y="1278423"/>
                  <a:pt x="0" y="1183026"/>
                  <a:pt x="0" y="1065348"/>
                </a:cubicBezTo>
                <a:lnTo>
                  <a:pt x="0" y="213075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38607" tIns="138607" rIns="138607" bIns="138607"/>
          <a:lstStyle/>
          <a:p>
            <a:pPr algn="ctr" defTabSz="889000" fontAlgn="base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</a:rPr>
              <a:t>实时过滤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大禹</a:t>
            </a:r>
            <a:r>
              <a:rPr lang="zh-CN" altLang="en-US" sz="1600" dirty="0" smtClean="0">
                <a:solidFill>
                  <a:srgbClr val="000000"/>
                </a:solidFill>
              </a:rPr>
              <a:t>，架构</a:t>
            </a:r>
            <a:endParaRPr lang="en-US" altLang="zh-CN" sz="1600" dirty="0" smtClean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 smtClean="0">
                <a:solidFill>
                  <a:srgbClr val="000000"/>
                </a:solidFill>
              </a:rPr>
              <a:t>算法，开发模式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3074988" y="4429125"/>
            <a:ext cx="3168650" cy="1125538"/>
          </a:xfrm>
          <a:custGeom>
            <a:avLst/>
            <a:gdLst>
              <a:gd name="connsiteX0" fmla="*/ 0 w 2482710"/>
              <a:gd name="connsiteY0" fmla="*/ 213075 h 1278423"/>
              <a:gd name="connsiteX1" fmla="*/ 213075 w 2482710"/>
              <a:gd name="connsiteY1" fmla="*/ 0 h 1278423"/>
              <a:gd name="connsiteX2" fmla="*/ 2269635 w 2482710"/>
              <a:gd name="connsiteY2" fmla="*/ 0 h 1278423"/>
              <a:gd name="connsiteX3" fmla="*/ 2482710 w 2482710"/>
              <a:gd name="connsiteY3" fmla="*/ 213075 h 1278423"/>
              <a:gd name="connsiteX4" fmla="*/ 2482710 w 2482710"/>
              <a:gd name="connsiteY4" fmla="*/ 1065348 h 1278423"/>
              <a:gd name="connsiteX5" fmla="*/ 2269635 w 2482710"/>
              <a:gd name="connsiteY5" fmla="*/ 1278423 h 1278423"/>
              <a:gd name="connsiteX6" fmla="*/ 213075 w 2482710"/>
              <a:gd name="connsiteY6" fmla="*/ 1278423 h 1278423"/>
              <a:gd name="connsiteX7" fmla="*/ 0 w 2482710"/>
              <a:gd name="connsiteY7" fmla="*/ 1065348 h 1278423"/>
              <a:gd name="connsiteX8" fmla="*/ 0 w 2482710"/>
              <a:gd name="connsiteY8" fmla="*/ 213075 h 12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710" h="1278423">
                <a:moveTo>
                  <a:pt x="0" y="213075"/>
                </a:moveTo>
                <a:cubicBezTo>
                  <a:pt x="0" y="95397"/>
                  <a:pt x="95397" y="0"/>
                  <a:pt x="213075" y="0"/>
                </a:cubicBezTo>
                <a:lnTo>
                  <a:pt x="2269635" y="0"/>
                </a:lnTo>
                <a:cubicBezTo>
                  <a:pt x="2387313" y="0"/>
                  <a:pt x="2482710" y="95397"/>
                  <a:pt x="2482710" y="213075"/>
                </a:cubicBezTo>
                <a:lnTo>
                  <a:pt x="2482710" y="1065348"/>
                </a:lnTo>
                <a:cubicBezTo>
                  <a:pt x="2482710" y="1183026"/>
                  <a:pt x="2387313" y="1278423"/>
                  <a:pt x="2269635" y="1278423"/>
                </a:cubicBezTo>
                <a:lnTo>
                  <a:pt x="213075" y="1278423"/>
                </a:lnTo>
                <a:cubicBezTo>
                  <a:pt x="95397" y="1278423"/>
                  <a:pt x="0" y="1183026"/>
                  <a:pt x="0" y="1065348"/>
                </a:cubicBezTo>
                <a:lnTo>
                  <a:pt x="0" y="213075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38607" tIns="138607" rIns="138607" bIns="138607"/>
          <a:lstStyle/>
          <a:p>
            <a:pPr algn="ctr" defTabSz="889000" fontAlgn="base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</a:rPr>
              <a:t>离线</a:t>
            </a:r>
            <a:r>
              <a:rPr lang="zh-CN" altLang="en-US" sz="2400" b="1" dirty="0">
                <a:solidFill>
                  <a:srgbClr val="000000"/>
                </a:solidFill>
              </a:rPr>
              <a:t>挖掘</a:t>
            </a: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离线过滤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主动返款</a:t>
            </a:r>
          </a:p>
        </p:txBody>
      </p:sp>
      <p:grpSp>
        <p:nvGrpSpPr>
          <p:cNvPr id="8" name="组合 30"/>
          <p:cNvGrpSpPr>
            <a:grpSpLocks/>
          </p:cNvGrpSpPr>
          <p:nvPr/>
        </p:nvGrpSpPr>
        <p:grpSpPr bwMode="auto">
          <a:xfrm>
            <a:off x="1001713" y="2027238"/>
            <a:ext cx="1425575" cy="3057525"/>
            <a:chOff x="1051992" y="3193661"/>
            <a:chExt cx="1857374" cy="2352083"/>
          </a:xfrm>
        </p:grpSpPr>
        <p:sp>
          <p:nvSpPr>
            <p:cNvPr id="9" name="任意多边形 8"/>
            <p:cNvSpPr/>
            <p:nvPr/>
          </p:nvSpPr>
          <p:spPr>
            <a:xfrm>
              <a:off x="1051992" y="3193661"/>
              <a:ext cx="1857374" cy="926911"/>
            </a:xfrm>
            <a:custGeom>
              <a:avLst/>
              <a:gdLst>
                <a:gd name="connsiteX0" fmla="*/ 0 w 1857374"/>
                <a:gd name="connsiteY0" fmla="*/ 0 h 742949"/>
                <a:gd name="connsiteX1" fmla="*/ 1857374 w 1857374"/>
                <a:gd name="connsiteY1" fmla="*/ 0 h 742949"/>
                <a:gd name="connsiteX2" fmla="*/ 1857374 w 1857374"/>
                <a:gd name="connsiteY2" fmla="*/ 742949 h 742949"/>
                <a:gd name="connsiteX3" fmla="*/ 0 w 1857374"/>
                <a:gd name="connsiteY3" fmla="*/ 742949 h 742949"/>
                <a:gd name="connsiteX4" fmla="*/ 0 w 1857374"/>
                <a:gd name="connsiteY4" fmla="*/ 0 h 742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42949">
                  <a:moveTo>
                    <a:pt x="0" y="0"/>
                  </a:moveTo>
                  <a:lnTo>
                    <a:pt x="1857374" y="0"/>
                  </a:lnTo>
                  <a:lnTo>
                    <a:pt x="1857374" y="742949"/>
                  </a:lnTo>
                  <a:lnTo>
                    <a:pt x="0" y="7429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2240" tIns="81280" rIns="142240" bIns="81280" spcCol="1270" anchor="ctr"/>
            <a:lstStyle/>
            <a:p>
              <a:pPr algn="ctr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sz="2400" dirty="0">
                  <a:solidFill>
                    <a:prstClr val="white"/>
                  </a:solidFill>
                </a:rPr>
                <a:t>客户满意度</a:t>
              </a: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051992" y="4149881"/>
              <a:ext cx="1857374" cy="1395863"/>
            </a:xfrm>
            <a:custGeom>
              <a:avLst/>
              <a:gdLst>
                <a:gd name="connsiteX0" fmla="*/ 0 w 1857374"/>
                <a:gd name="connsiteY0" fmla="*/ 0 h 1141919"/>
                <a:gd name="connsiteX1" fmla="*/ 1857374 w 1857374"/>
                <a:gd name="connsiteY1" fmla="*/ 0 h 1141919"/>
                <a:gd name="connsiteX2" fmla="*/ 1857374 w 1857374"/>
                <a:gd name="connsiteY2" fmla="*/ 1141919 h 1141919"/>
                <a:gd name="connsiteX3" fmla="*/ 0 w 1857374"/>
                <a:gd name="connsiteY3" fmla="*/ 1141919 h 1141919"/>
                <a:gd name="connsiteX4" fmla="*/ 0 w 1857374"/>
                <a:gd name="connsiteY4" fmla="*/ 0 h 114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141919">
                  <a:moveTo>
                    <a:pt x="0" y="0"/>
                  </a:moveTo>
                  <a:lnTo>
                    <a:pt x="1857374" y="0"/>
                  </a:lnTo>
                  <a:lnTo>
                    <a:pt x="1857374" y="1141919"/>
                  </a:lnTo>
                  <a:lnTo>
                    <a:pt x="0" y="11419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06680" tIns="106680" rIns="142240" bIns="160020" spcCol="1270"/>
            <a:lstStyle/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直通车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异常分析平台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绿色通道</a:t>
              </a:r>
            </a:p>
          </p:txBody>
        </p:sp>
      </p:grpSp>
      <p:grpSp>
        <p:nvGrpSpPr>
          <p:cNvPr id="11" name="组合 34"/>
          <p:cNvGrpSpPr>
            <a:grpSpLocks/>
          </p:cNvGrpSpPr>
          <p:nvPr/>
        </p:nvGrpSpPr>
        <p:grpSpPr bwMode="auto">
          <a:xfrm>
            <a:off x="6891338" y="2027238"/>
            <a:ext cx="1425575" cy="3057525"/>
            <a:chOff x="1051992" y="3193660"/>
            <a:chExt cx="1857374" cy="1884868"/>
          </a:xfrm>
        </p:grpSpPr>
        <p:sp>
          <p:nvSpPr>
            <p:cNvPr id="12" name="任意多边形 11"/>
            <p:cNvSpPr/>
            <p:nvPr/>
          </p:nvSpPr>
          <p:spPr>
            <a:xfrm>
              <a:off x="1051992" y="3193660"/>
              <a:ext cx="1857374" cy="742790"/>
            </a:xfrm>
            <a:custGeom>
              <a:avLst/>
              <a:gdLst>
                <a:gd name="connsiteX0" fmla="*/ 0 w 1857374"/>
                <a:gd name="connsiteY0" fmla="*/ 0 h 742949"/>
                <a:gd name="connsiteX1" fmla="*/ 1857374 w 1857374"/>
                <a:gd name="connsiteY1" fmla="*/ 0 h 742949"/>
                <a:gd name="connsiteX2" fmla="*/ 1857374 w 1857374"/>
                <a:gd name="connsiteY2" fmla="*/ 742949 h 742949"/>
                <a:gd name="connsiteX3" fmla="*/ 0 w 1857374"/>
                <a:gd name="connsiteY3" fmla="*/ 742949 h 742949"/>
                <a:gd name="connsiteX4" fmla="*/ 0 w 1857374"/>
                <a:gd name="connsiteY4" fmla="*/ 0 h 742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42949">
                  <a:moveTo>
                    <a:pt x="0" y="0"/>
                  </a:moveTo>
                  <a:lnTo>
                    <a:pt x="1857374" y="0"/>
                  </a:lnTo>
                  <a:lnTo>
                    <a:pt x="1857374" y="742949"/>
                  </a:lnTo>
                  <a:lnTo>
                    <a:pt x="0" y="7429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2240" tIns="81280" rIns="142240" bIns="81280" spcCol="1270" anchor="ctr"/>
            <a:lstStyle/>
            <a:p>
              <a:pPr algn="ctr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sz="2400" dirty="0">
                  <a:solidFill>
                    <a:prstClr val="white"/>
                  </a:solidFill>
                </a:rPr>
                <a:t>效果监控</a:t>
              </a: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1051992" y="3936450"/>
              <a:ext cx="1857374" cy="1142078"/>
            </a:xfrm>
            <a:custGeom>
              <a:avLst/>
              <a:gdLst>
                <a:gd name="connsiteX0" fmla="*/ 0 w 1857374"/>
                <a:gd name="connsiteY0" fmla="*/ 0 h 1141919"/>
                <a:gd name="connsiteX1" fmla="*/ 1857374 w 1857374"/>
                <a:gd name="connsiteY1" fmla="*/ 0 h 1141919"/>
                <a:gd name="connsiteX2" fmla="*/ 1857374 w 1857374"/>
                <a:gd name="connsiteY2" fmla="*/ 1141919 h 1141919"/>
                <a:gd name="connsiteX3" fmla="*/ 0 w 1857374"/>
                <a:gd name="connsiteY3" fmla="*/ 1141919 h 1141919"/>
                <a:gd name="connsiteX4" fmla="*/ 0 w 1857374"/>
                <a:gd name="connsiteY4" fmla="*/ 0 h 114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141919">
                  <a:moveTo>
                    <a:pt x="0" y="0"/>
                  </a:moveTo>
                  <a:lnTo>
                    <a:pt x="1857374" y="0"/>
                  </a:lnTo>
                  <a:lnTo>
                    <a:pt x="1857374" y="1141919"/>
                  </a:lnTo>
                  <a:lnTo>
                    <a:pt x="0" y="11419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06680" tIns="106680" rIns="142240" bIns="160020" spcCol="1270"/>
            <a:lstStyle/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泥潭项目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zh-CN" sz="16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Dashboard</a:t>
              </a: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评估平台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红黑</a:t>
              </a:r>
              <a:r>
                <a:rPr lang="en-US" altLang="zh-CN" sz="1600" dirty="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team</a:t>
              </a: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zh-CN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Case</a:t>
              </a:r>
              <a:r>
                <a:rPr lang="zh-CN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挖掘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4" name="圆角矩形 13"/>
          <p:cNvSpPr/>
          <p:nvPr/>
        </p:nvSpPr>
        <p:spPr>
          <a:xfrm>
            <a:off x="2700338" y="5800725"/>
            <a:ext cx="3819525" cy="50958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cs typeface="Lao UI" pitchFamily="34" charset="0"/>
              </a:rPr>
              <a:t>应用推广</a:t>
            </a:r>
            <a:endParaRPr lang="zh-CN" altLang="en-US" b="1" dirty="0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427288" y="2962275"/>
            <a:ext cx="647700" cy="766763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  <p:sp>
        <p:nvSpPr>
          <p:cNvPr id="16" name="右箭头 15"/>
          <p:cNvSpPr/>
          <p:nvPr/>
        </p:nvSpPr>
        <p:spPr>
          <a:xfrm rot="10800000">
            <a:off x="6203950" y="2994025"/>
            <a:ext cx="647700" cy="765175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627313" y="434975"/>
            <a:ext cx="3892550" cy="511175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cs typeface="Lao UI" pitchFamily="34" charset="0"/>
              </a:rPr>
              <a:t>反作弊体系</a:t>
            </a:r>
            <a:endParaRPr lang="zh-CN" altLang="en-US" b="1" dirty="0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20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0525" y="1268412"/>
            <a:ext cx="8229600" cy="5400947"/>
          </a:xfrm>
        </p:spPr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主动防御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严重的用户，不展现广告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prstClr val="black"/>
                </a:solidFill>
              </a:rPr>
              <a:t>广告主遭受攻击，虽然没有效果，仍会没有安全感。</a:t>
            </a:r>
            <a:endParaRPr lang="en-US" altLang="zh-CN" dirty="0">
              <a:solidFill>
                <a:prstClr val="black"/>
              </a:solidFill>
            </a:endParaRPr>
          </a:p>
          <a:p>
            <a:pPr marL="742950" lvl="2" indent="-342900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增加客户投放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信心。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作弊成本，打击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变脸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</a:t>
            </a:r>
            <a:r>
              <a:rPr lang="zh-CN" altLang="en-US" dirty="0">
                <a:solidFill>
                  <a:prstClr val="black"/>
                </a:solidFill>
              </a:rPr>
              <a:t>页面模板结构清晰，作弊器解析页面难度</a:t>
            </a:r>
            <a:r>
              <a:rPr lang="zh-CN" altLang="en-US" dirty="0" smtClean="0">
                <a:solidFill>
                  <a:prstClr val="black"/>
                </a:solidFill>
              </a:rPr>
              <a:t>低。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变换页面模板，</a:t>
            </a:r>
            <a:r>
              <a:rPr lang="zh-CN" altLang="en-US" dirty="0">
                <a:solidFill>
                  <a:prstClr val="black"/>
                </a:solidFill>
                <a:latin typeface="+mn-ea"/>
              </a:rPr>
              <a:t>增加</a:t>
            </a:r>
            <a:r>
              <a:rPr lang="zh-CN" altLang="en-US" dirty="0" smtClean="0">
                <a:solidFill>
                  <a:prstClr val="black"/>
                </a:solidFill>
                <a:latin typeface="+mn-ea"/>
              </a:rPr>
              <a:t>机器作弊</a:t>
            </a:r>
            <a:r>
              <a:rPr lang="zh-CN" altLang="en-US" dirty="0">
                <a:solidFill>
                  <a:prstClr val="black"/>
                </a:solidFill>
                <a:latin typeface="+mn-ea"/>
              </a:rPr>
              <a:t>难度，提高作弊成本</a:t>
            </a:r>
            <a:r>
              <a:rPr lang="zh-CN" altLang="en-US" dirty="0" smtClean="0">
                <a:solidFill>
                  <a:prstClr val="black"/>
                </a:solidFill>
                <a:latin typeface="+mn-ea"/>
              </a:rPr>
              <a:t>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蜜罐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随机展现诱饵广告，正常用户看不到。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点击诱饵广告的一定是作弊，用来收集作弊</a:t>
            </a:r>
            <a:r>
              <a:rPr lang="en-US" altLang="zh-CN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前端拦截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28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模块关系图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0768"/>
            <a:ext cx="6840760" cy="510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043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响应时间：毫秒级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方法：统计规则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基本思想：基于特征在统计上的异常来识别作弊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手段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次数、比例、分布卡方检测、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封禁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时间窗口：短时间和长时间组合、滑动窗口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特征：客户端信息、访问来源、鼠标行为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实时反作弊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3933056"/>
            <a:ext cx="4543425" cy="2705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31" y="3933056"/>
            <a:ext cx="44767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0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作弊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3964531937"/>
              </p:ext>
            </p:extLst>
          </p:nvPr>
        </p:nvGraphicFramePr>
        <p:xfrm>
          <a:off x="107504" y="1124744"/>
          <a:ext cx="8856984" cy="561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椭圆 13"/>
          <p:cNvSpPr/>
          <p:nvPr/>
        </p:nvSpPr>
        <p:spPr bwMode="auto">
          <a:xfrm>
            <a:off x="3707904" y="3284984"/>
            <a:ext cx="1778496" cy="1416287"/>
          </a:xfrm>
          <a:prstGeom prst="ellipse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/>
          <a:lstStyle/>
          <a:p>
            <a:pPr algn="ctr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</a:rPr>
              <a:t>离线</a:t>
            </a:r>
            <a:endParaRPr lang="en-US" altLang="zh-CN" sz="2000" dirty="0">
              <a:solidFill>
                <a:schemeClr val="tx1"/>
              </a:solidFill>
              <a:latin typeface="微软雅黑" pitchFamily="34" charset="-122"/>
            </a:endParaRPr>
          </a:p>
          <a:p>
            <a:pPr algn="ctr">
              <a:defRPr/>
            </a:pPr>
            <a:r>
              <a:rPr lang="zh-CN" altLang="en-US" sz="2000" dirty="0">
                <a:solidFill>
                  <a:schemeClr val="tx1"/>
                </a:solidFill>
                <a:latin typeface="微软雅黑" pitchFamily="34" charset="-122"/>
              </a:rPr>
              <a:t>反作弊</a:t>
            </a: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5435600" y="1143000"/>
            <a:ext cx="237648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多类型数据：搜索、点击、转化、用户行为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统一挖掘、统一过滤</a:t>
            </a:r>
          </a:p>
        </p:txBody>
      </p: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200025" y="1474788"/>
            <a:ext cx="2376488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充分利用上下文数据：解决实时漏过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扩展特征：序列特征、行为特征、多数据特征、特征组合变换等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加强离线算法：尝试更多算法</a:t>
            </a:r>
          </a:p>
        </p:txBody>
      </p:sp>
      <p:sp>
        <p:nvSpPr>
          <p:cNvPr id="17" name="矩形 6"/>
          <p:cNvSpPr>
            <a:spLocks noChangeArrowheads="1"/>
          </p:cNvSpPr>
          <p:nvPr/>
        </p:nvSpPr>
        <p:spPr bwMode="auto">
          <a:xfrm>
            <a:off x="0" y="4700588"/>
            <a:ext cx="2241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统一离线过滤框架：实现数据特征算法共享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不断完善架构，方便支持扩展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提供统一的产出接口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7"/>
          <p:cNvSpPr>
            <a:spLocks noChangeArrowheads="1"/>
          </p:cNvSpPr>
          <p:nvPr/>
        </p:nvSpPr>
        <p:spPr bwMode="auto">
          <a:xfrm>
            <a:off x="6842125" y="4365625"/>
            <a:ext cx="2376488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认知：帮助发现和理解未知作弊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能力：加强监控预警、提升反作弊及时响应处理能力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效果：全网数据反作弊，大幅提升准召回率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8"/>
          <p:cNvSpPr>
            <a:spLocks noChangeArrowheads="1"/>
          </p:cNvSpPr>
          <p:nvPr/>
        </p:nvSpPr>
        <p:spPr bwMode="auto">
          <a:xfrm>
            <a:off x="6532563" y="2382838"/>
            <a:ext cx="25193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离线过滤、人工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自动返款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联盟作弊封禁、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smartbid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、分成打折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产出名单，加强实时过滤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949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时间序列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思想：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时间序列上的突增突降波动往往有较大的作弊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嫌疑。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方法：指数移动平均、均值方差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离线反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作弊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629867"/>
            <a:ext cx="2449512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377705"/>
            <a:ext cx="2520950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348880"/>
            <a:ext cx="2376487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/>
          <p:cNvSpPr/>
          <p:nvPr/>
        </p:nvSpPr>
        <p:spPr bwMode="auto">
          <a:xfrm>
            <a:off x="827088" y="2629867"/>
            <a:ext cx="2665412" cy="488950"/>
          </a:xfrm>
          <a:prstGeom prst="rect">
            <a:avLst/>
          </a:prstGeom>
          <a:noFill/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>
              <a:lnSpc>
                <a:spcPct val="90000"/>
              </a:lnSpc>
              <a:buClr>
                <a:schemeClr val="bg2"/>
              </a:buClr>
              <a:defRPr/>
            </a:pPr>
            <a:endParaRPr lang="zh-CN" altLang="en-US" sz="1400" dirty="0">
              <a:solidFill>
                <a:schemeClr val="tx1"/>
              </a:solidFill>
              <a:latin typeface="Arial" charset="0"/>
              <a:ea typeface="华文楷体" pitchFamily="2" charset="-122"/>
              <a:cs typeface="Arial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1763713" y="4620592"/>
            <a:ext cx="1079500" cy="1008063"/>
          </a:xfrm>
          <a:prstGeom prst="rect">
            <a:avLst/>
          </a:prstGeom>
          <a:noFill/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>
              <a:lnSpc>
                <a:spcPct val="90000"/>
              </a:lnSpc>
              <a:buClr>
                <a:schemeClr val="bg2"/>
              </a:buClr>
              <a:defRPr/>
            </a:pPr>
            <a:endParaRPr lang="zh-CN" altLang="en-US" sz="1400" dirty="0">
              <a:solidFill>
                <a:schemeClr val="tx1"/>
              </a:solidFill>
              <a:latin typeface="Arial" charset="0"/>
              <a:ea typeface="华文楷体" pitchFamily="2" charset="-122"/>
              <a:cs typeface="Arial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4572000" y="2782267"/>
            <a:ext cx="2663825" cy="488950"/>
          </a:xfrm>
          <a:prstGeom prst="rect">
            <a:avLst/>
          </a:prstGeom>
          <a:noFill/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defRPr/>
            </a:pPr>
            <a:endParaRPr lang="zh-CN" altLang="en-US" sz="1400" b="1" dirty="0">
              <a:solidFill>
                <a:schemeClr val="tx1"/>
              </a:solidFill>
              <a:latin typeface="Arial" charset="0"/>
              <a:ea typeface="华文楷体" pitchFamily="2" charset="-122"/>
              <a:cs typeface="Arial" charset="0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864942"/>
            <a:ext cx="30099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/>
          <p:nvPr/>
        </p:nvSpPr>
        <p:spPr bwMode="auto">
          <a:xfrm>
            <a:off x="4789488" y="4377705"/>
            <a:ext cx="2665412" cy="1103312"/>
          </a:xfrm>
          <a:prstGeom prst="rect">
            <a:avLst/>
          </a:prstGeom>
          <a:noFill/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/>
          <a:lstStyle/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defRPr/>
            </a:pPr>
            <a:endParaRPr lang="zh-CN" altLang="en-US" sz="1400" b="1" dirty="0">
              <a:solidFill>
                <a:schemeClr val="tx1"/>
              </a:solidFill>
              <a:latin typeface="Arial" charset="0"/>
              <a:ea typeface="华文楷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06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相似性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思想：通过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判断某特征序列和预定义序列的相似性来发现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手段：皮尔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逊系数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、余弦相似度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离线反作弊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2564904"/>
            <a:ext cx="2771813" cy="336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图片 12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5157192"/>
            <a:ext cx="2376264" cy="714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5"/>
          <p:cNvSpPr txBox="1"/>
          <p:nvPr/>
        </p:nvSpPr>
        <p:spPr>
          <a:xfrm>
            <a:off x="2339752" y="60212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异常</a:t>
            </a:r>
            <a:endParaRPr lang="zh-CN" altLang="en-US" dirty="0"/>
          </a:p>
        </p:txBody>
      </p:sp>
      <p:sp>
        <p:nvSpPr>
          <p:cNvPr id="23" name="TextBox 6"/>
          <p:cNvSpPr txBox="1"/>
          <p:nvPr/>
        </p:nvSpPr>
        <p:spPr>
          <a:xfrm>
            <a:off x="5796136" y="59492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正常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3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思想：将用户的多次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拼接为树状的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。从而通过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的形态发现异常用户。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离线反作弊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436835"/>
              </p:ext>
            </p:extLst>
          </p:nvPr>
        </p:nvGraphicFramePr>
        <p:xfrm>
          <a:off x="-468560" y="2744878"/>
          <a:ext cx="5461924" cy="3046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78" name="Visio" r:id="rId4" imgW="7026045" imgH="3901062" progId="Visio.Drawing.11">
                  <p:embed/>
                </p:oleObj>
              </mc:Choice>
              <mc:Fallback>
                <p:oleObj name="Visio" r:id="rId4" imgW="7026045" imgH="390106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68560" y="2744878"/>
                        <a:ext cx="5461924" cy="30466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33768"/>
              </p:ext>
            </p:extLst>
          </p:nvPr>
        </p:nvGraphicFramePr>
        <p:xfrm>
          <a:off x="4796928" y="2607267"/>
          <a:ext cx="4462810" cy="31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79" name="Visio" r:id="rId6" imgW="7026045" imgH="4992721" progId="Visio.Drawing.11">
                  <p:embed/>
                </p:oleObj>
              </mc:Choice>
              <mc:Fallback>
                <p:oleObj name="Visio" r:id="rId6" imgW="7026045" imgH="499272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6928" y="2607267"/>
                        <a:ext cx="4462810" cy="31842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4993364" y="2348880"/>
            <a:ext cx="0" cy="388843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31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团伙作弊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思想：单个点击行为发现不了明显异常，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用户和广告主的二部图，找出有共同“爱好”的用户。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方法：类似推荐系统，购买过改商品的用户，同时还喜欢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离线反作弊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9330" name="Picture 2" descr="说明: http://www.hongtaiyang99.com/master/images/jc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3005140"/>
            <a:ext cx="4522316" cy="309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3779912" y="4077072"/>
            <a:ext cx="5274310" cy="253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反作弊体系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主动返款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915621"/>
            <a:ext cx="3657600" cy="1257300"/>
          </a:xfrm>
          <a:prstGeom prst="rect">
            <a:avLst/>
          </a:prstGeom>
        </p:spPr>
      </p:pic>
      <p:sp>
        <p:nvSpPr>
          <p:cNvPr id="9" name="TextBox 4"/>
          <p:cNvSpPr txBox="1"/>
          <p:nvPr/>
        </p:nvSpPr>
        <p:spPr>
          <a:xfrm>
            <a:off x="1367645" y="3068960"/>
            <a:ext cx="187220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小离线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5580112" y="3072795"/>
            <a:ext cx="187220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大离线</a:t>
            </a:r>
          </a:p>
        </p:txBody>
      </p:sp>
      <p:sp>
        <p:nvSpPr>
          <p:cNvPr id="11" name="矩形 10"/>
          <p:cNvSpPr/>
          <p:nvPr/>
        </p:nvSpPr>
        <p:spPr>
          <a:xfrm>
            <a:off x="624612" y="3849356"/>
            <a:ext cx="39604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半小时准实时迅速返款</a:t>
            </a: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全下游数据修正</a:t>
            </a: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04048" y="3849357"/>
            <a:ext cx="34563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半个月内的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返款</a:t>
            </a: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直接对接财务平台</a:t>
            </a: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0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12" y="4915621"/>
            <a:ext cx="3743325" cy="514350"/>
          </a:xfrm>
          <a:prstGeom prst="rect">
            <a:avLst/>
          </a:prstGeom>
        </p:spPr>
      </p:pic>
      <p:cxnSp>
        <p:nvCxnSpPr>
          <p:cNvPr id="15" name="直接连接符 14"/>
          <p:cNvCxnSpPr/>
          <p:nvPr/>
        </p:nvCxnSpPr>
        <p:spPr>
          <a:xfrm>
            <a:off x="4644008" y="3197723"/>
            <a:ext cx="0" cy="308500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14325" y="1329996"/>
            <a:ext cx="2787943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反作弊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增强广告主信心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提升百度形象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844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图示 16"/>
          <p:cNvGraphicFramePr/>
          <p:nvPr/>
        </p:nvGraphicFramePr>
        <p:xfrm>
          <a:off x="1475656" y="1340768"/>
          <a:ext cx="6111788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5"/>
          <p:cNvSpPr txBox="1"/>
          <p:nvPr/>
        </p:nvSpPr>
        <p:spPr>
          <a:xfrm>
            <a:off x="5278438" y="1412875"/>
            <a:ext cx="3887787" cy="1323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285750" indent="-285750" algn="just">
              <a:buFont typeface="Arial" pitchFamily="34" charset="0"/>
              <a:buChar char="•"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CRM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收集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18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款作弊器，点击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</a:t>
            </a:r>
          </a:p>
          <a:p>
            <a:pPr marL="285750" indent="-285750" algn="just">
              <a:buFont typeface="Arial" pitchFamily="34" charset="0"/>
              <a:buChar char="•"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Family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收集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33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款作弊器，点击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15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</a:t>
            </a:r>
          </a:p>
          <a:p>
            <a:pPr marL="285750" indent="-285750" algn="just">
              <a:buFont typeface="Arial" pitchFamily="34" charset="0"/>
              <a:buChar char="•"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WWW2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收集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58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款作弊器，点击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27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</a:t>
            </a:r>
          </a:p>
          <a:p>
            <a:pPr marL="285750" indent="-285750" algn="just">
              <a:buFont typeface="Arial" pitchFamily="34" charset="0"/>
              <a:buChar char="•"/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投诉收集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款作弊器，点击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</a:t>
            </a:r>
          </a:p>
          <a:p>
            <a:pPr marL="285750" indent="-285750" algn="just">
              <a:buFont typeface="Arial" pitchFamily="34" charset="0"/>
              <a:buChar char="•"/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QQ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群收集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8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款作弊器，点击</a:t>
            </a:r>
            <a:r>
              <a:rPr lang="en-US" altLang="zh-CN" sz="1600" b="1" dirty="0">
                <a:solidFill>
                  <a:srgbClr val="FF0000"/>
                </a:solidFill>
                <a:latin typeface="+mj-ea"/>
                <a:ea typeface="+mj-ea"/>
              </a:rPr>
              <a:t>8</a:t>
            </a:r>
            <a:r>
              <a:rPr lang="zh-CN" altLang="en-US" sz="1600" b="1" dirty="0">
                <a:solidFill>
                  <a:srgbClr val="FF0000"/>
                </a:solidFill>
                <a:latin typeface="+mj-ea"/>
                <a:ea typeface="+mj-ea"/>
              </a:rPr>
              <a:t>款</a:t>
            </a:r>
          </a:p>
        </p:txBody>
      </p:sp>
      <p:sp>
        <p:nvSpPr>
          <p:cNvPr id="19" name="TextBox 6"/>
          <p:cNvSpPr txBox="1"/>
          <p:nvPr/>
        </p:nvSpPr>
        <p:spPr>
          <a:xfrm>
            <a:off x="6948488" y="4584700"/>
            <a:ext cx="2087562" cy="1076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zh-CN" altLang="en-US" sz="1600" b="1" dirty="0">
                <a:solidFill>
                  <a:srgbClr val="92D050"/>
                </a:solidFill>
                <a:latin typeface="+mj-ea"/>
                <a:ea typeface="+mj-ea"/>
              </a:rPr>
              <a:t>筛选跟进</a:t>
            </a:r>
            <a:r>
              <a:rPr lang="en-US" altLang="zh-CN" sz="1600" b="1" dirty="0">
                <a:solidFill>
                  <a:srgbClr val="92D050"/>
                </a:solidFill>
                <a:latin typeface="+mj-ea"/>
                <a:ea typeface="+mj-ea"/>
              </a:rPr>
              <a:t>33</a:t>
            </a:r>
            <a:r>
              <a:rPr lang="zh-CN" altLang="en-US" sz="1600" b="1" dirty="0">
                <a:solidFill>
                  <a:srgbClr val="92D050"/>
                </a:solidFill>
                <a:latin typeface="+mj-ea"/>
                <a:ea typeface="+mj-ea"/>
              </a:rPr>
              <a:t>款点击作弊器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zh-CN" altLang="en-US" sz="1600" b="1" dirty="0">
                <a:solidFill>
                  <a:srgbClr val="92D050"/>
                </a:solidFill>
                <a:latin typeface="+mj-ea"/>
                <a:ea typeface="+mj-ea"/>
              </a:rPr>
              <a:t>测试</a:t>
            </a:r>
            <a:r>
              <a:rPr lang="en-US" altLang="zh-CN" sz="1600" b="1" dirty="0">
                <a:solidFill>
                  <a:srgbClr val="92D050"/>
                </a:solidFill>
                <a:latin typeface="+mj-ea"/>
                <a:ea typeface="+mj-ea"/>
              </a:rPr>
              <a:t>18</a:t>
            </a:r>
            <a:r>
              <a:rPr lang="zh-CN" altLang="en-US" sz="1600" b="1" dirty="0">
                <a:solidFill>
                  <a:srgbClr val="92D050"/>
                </a:solidFill>
                <a:latin typeface="+mj-ea"/>
                <a:ea typeface="+mj-ea"/>
              </a:rPr>
              <a:t>款恶意广告点击作弊器</a:t>
            </a:r>
            <a:endParaRPr lang="en-US" altLang="zh-CN" sz="1600" b="1" dirty="0">
              <a:solidFill>
                <a:srgbClr val="92D050"/>
              </a:solidFill>
              <a:latin typeface="+mj-ea"/>
              <a:ea typeface="+mj-ea"/>
            </a:endParaRPr>
          </a:p>
        </p:txBody>
      </p:sp>
      <p:sp>
        <p:nvSpPr>
          <p:cNvPr id="20" name="TextBox 7"/>
          <p:cNvSpPr txBox="1">
            <a:spLocks noChangeArrowheads="1"/>
          </p:cNvSpPr>
          <p:nvPr/>
        </p:nvSpPr>
        <p:spPr bwMode="auto">
          <a:xfrm>
            <a:off x="165100" y="4876195"/>
            <a:ext cx="26654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了解作弊器企图绕过反作弊的方式</a:t>
            </a:r>
            <a:endParaRPr lang="en-US" altLang="zh-CN" sz="1600" b="1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优化系统对作弊器的过滤效果</a:t>
            </a:r>
            <a:endParaRPr lang="en-US" altLang="zh-CN" sz="1600" b="1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对比竞品对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同款作弊器</a:t>
            </a:r>
            <a:r>
              <a:rPr lang="zh-CN" altLang="en-US" sz="16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的过滤效果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8"/>
          <p:cNvSpPr txBox="1">
            <a:spLocks noChangeArrowheads="1"/>
          </p:cNvSpPr>
          <p:nvPr/>
        </p:nvSpPr>
        <p:spPr bwMode="auto">
          <a:xfrm>
            <a:off x="165100" y="1408113"/>
            <a:ext cx="22463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B0F0"/>
                </a:solidFill>
              </a:rPr>
              <a:t>关闭</a:t>
            </a:r>
            <a:r>
              <a:rPr lang="en-US" altLang="zh-CN" sz="1600" b="1" dirty="0">
                <a:solidFill>
                  <a:srgbClr val="00B0F0"/>
                </a:solidFill>
              </a:rPr>
              <a:t>6</a:t>
            </a:r>
            <a:r>
              <a:rPr lang="zh-CN" altLang="en-US" sz="1600" b="1" dirty="0">
                <a:solidFill>
                  <a:srgbClr val="00B0F0"/>
                </a:solidFill>
              </a:rPr>
              <a:t>款恶意点击作弊器的</a:t>
            </a:r>
            <a:r>
              <a:rPr lang="en-US" altLang="zh-CN" sz="1600" b="1" dirty="0">
                <a:solidFill>
                  <a:srgbClr val="00B0F0"/>
                </a:solidFill>
              </a:rPr>
              <a:t>7</a:t>
            </a:r>
            <a:r>
              <a:rPr lang="zh-CN" altLang="en-US" sz="1600" b="1" dirty="0">
                <a:solidFill>
                  <a:srgbClr val="00B0F0"/>
                </a:solidFill>
              </a:rPr>
              <a:t>个官方网站</a:t>
            </a:r>
            <a:endParaRPr lang="zh-CN" altLang="en-US" sz="16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B0F0"/>
                </a:solidFill>
              </a:rPr>
              <a:t>电话警示</a:t>
            </a:r>
            <a:r>
              <a:rPr lang="en-US" altLang="zh-CN" sz="1600" b="1" dirty="0">
                <a:solidFill>
                  <a:srgbClr val="00B0F0"/>
                </a:solidFill>
              </a:rPr>
              <a:t>6</a:t>
            </a:r>
            <a:r>
              <a:rPr lang="zh-CN" altLang="en-US" sz="1600" b="1" dirty="0">
                <a:solidFill>
                  <a:srgbClr val="00B0F0"/>
                </a:solidFill>
              </a:rPr>
              <a:t>款恶意点击作弊器</a:t>
            </a:r>
            <a:endParaRPr lang="en-US" altLang="zh-CN" sz="1600" b="1" dirty="0">
              <a:solidFill>
                <a:srgbClr val="00B0F0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B0F0"/>
                </a:solidFill>
              </a:rPr>
              <a:t>推进</a:t>
            </a:r>
            <a:r>
              <a:rPr lang="en-US" altLang="zh-CN" sz="1600" b="1" dirty="0">
                <a:solidFill>
                  <a:srgbClr val="00B0F0"/>
                </a:solidFill>
              </a:rPr>
              <a:t>3</a:t>
            </a:r>
            <a:r>
              <a:rPr lang="zh-CN" altLang="en-US" sz="1600" b="1" dirty="0">
                <a:solidFill>
                  <a:srgbClr val="00B0F0"/>
                </a:solidFill>
              </a:rPr>
              <a:t>款点击作弊器立案</a:t>
            </a:r>
            <a:r>
              <a:rPr lang="zh-CN" altLang="en-US" sz="1600" b="1" dirty="0" smtClean="0">
                <a:solidFill>
                  <a:srgbClr val="00B0F0"/>
                </a:solidFill>
              </a:rPr>
              <a:t>打击</a:t>
            </a:r>
            <a:endParaRPr lang="en-US" altLang="zh-CN" sz="1600" b="1" dirty="0">
              <a:solidFill>
                <a:srgbClr val="00B0F0"/>
              </a:solidFill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监控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泥潭项目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53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效果监控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泥潭项目</a:t>
            </a:r>
          </a:p>
        </p:txBody>
      </p:sp>
      <p:sp>
        <p:nvSpPr>
          <p:cNvPr id="4" name="矩形 3"/>
          <p:cNvSpPr/>
          <p:nvPr/>
        </p:nvSpPr>
        <p:spPr>
          <a:xfrm>
            <a:off x="359772" y="1342752"/>
            <a:ext cx="5192447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深入虎穴：混入作弊群体，了解市场动向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钓鱼执法：购买作弊器，攻击测试账号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收集证据：配合警方抓捕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 descr="QQ作弊器跟进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4235" y="-326"/>
            <a:ext cx="2001971" cy="681337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682084" y="2564904"/>
            <a:ext cx="4547821" cy="3109248"/>
            <a:chOff x="682084" y="2564904"/>
            <a:chExt cx="4547821" cy="3109248"/>
          </a:xfrm>
        </p:grpSpPr>
        <p:pic>
          <p:nvPicPr>
            <p:cNvPr id="23" name="图片 22" descr="金手指326截图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2084" y="2564904"/>
              <a:ext cx="4547821" cy="3109248"/>
            </a:xfrm>
            <a:prstGeom prst="rect">
              <a:avLst/>
            </a:prstGeom>
          </p:spPr>
        </p:pic>
        <p:sp>
          <p:nvSpPr>
            <p:cNvPr id="9" name="椭圆 8"/>
            <p:cNvSpPr/>
            <p:nvPr/>
          </p:nvSpPr>
          <p:spPr>
            <a:xfrm>
              <a:off x="755576" y="2636912"/>
              <a:ext cx="1008112" cy="927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 smtClean="0"/>
            </a:p>
          </p:txBody>
        </p:sp>
      </p:grpSp>
      <p:pic>
        <p:nvPicPr>
          <p:cNvPr id="26" name="Picture 3" descr="E:\上海抓捕\10630321\DSC0256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14193" y="3657181"/>
            <a:ext cx="4226060" cy="2808312"/>
          </a:xfrm>
          <a:prstGeom prst="rect">
            <a:avLst/>
          </a:prstGeom>
          <a:noFill/>
        </p:spPr>
      </p:pic>
      <p:pic>
        <p:nvPicPr>
          <p:cNvPr id="24" name="Picture 6" descr="E:\上海抓捕\10630321\DSC02617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72000" y="3573016"/>
            <a:ext cx="4402320" cy="2925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07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思想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知己知彼：实际开发作弊器，更能了解作弊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的思路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靶场：测试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系统对主流作弊方式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准召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未雨绸缪：主动发现系统漏洞，提前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修复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开发了浏览器版本和爬虫版本的作弊器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能够模拟几乎所有的程序作弊方式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效果监控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红黑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team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000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效果监控</a:t>
            </a:r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评估平台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196752"/>
            <a:ext cx="7236296" cy="539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/>
        </p:nvSpPr>
        <p:spPr>
          <a:xfrm rot="10800000">
            <a:off x="2066925" y="1331913"/>
            <a:ext cx="5184775" cy="4438650"/>
          </a:xfrm>
          <a:prstGeom prst="triangl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任意多边形 4"/>
          <p:cNvSpPr/>
          <p:nvPr/>
        </p:nvSpPr>
        <p:spPr>
          <a:xfrm>
            <a:off x="3074988" y="1476375"/>
            <a:ext cx="3168650" cy="1235075"/>
          </a:xfrm>
          <a:custGeom>
            <a:avLst/>
            <a:gdLst>
              <a:gd name="connsiteX0" fmla="*/ 0 w 2482710"/>
              <a:gd name="connsiteY0" fmla="*/ 213075 h 1278423"/>
              <a:gd name="connsiteX1" fmla="*/ 213075 w 2482710"/>
              <a:gd name="connsiteY1" fmla="*/ 0 h 1278423"/>
              <a:gd name="connsiteX2" fmla="*/ 2269635 w 2482710"/>
              <a:gd name="connsiteY2" fmla="*/ 0 h 1278423"/>
              <a:gd name="connsiteX3" fmla="*/ 2482710 w 2482710"/>
              <a:gd name="connsiteY3" fmla="*/ 213075 h 1278423"/>
              <a:gd name="connsiteX4" fmla="*/ 2482710 w 2482710"/>
              <a:gd name="connsiteY4" fmla="*/ 1065348 h 1278423"/>
              <a:gd name="connsiteX5" fmla="*/ 2269635 w 2482710"/>
              <a:gd name="connsiteY5" fmla="*/ 1278423 h 1278423"/>
              <a:gd name="connsiteX6" fmla="*/ 213075 w 2482710"/>
              <a:gd name="connsiteY6" fmla="*/ 1278423 h 1278423"/>
              <a:gd name="connsiteX7" fmla="*/ 0 w 2482710"/>
              <a:gd name="connsiteY7" fmla="*/ 1065348 h 1278423"/>
              <a:gd name="connsiteX8" fmla="*/ 0 w 2482710"/>
              <a:gd name="connsiteY8" fmla="*/ 213075 h 12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710" h="1278423">
                <a:moveTo>
                  <a:pt x="0" y="213075"/>
                </a:moveTo>
                <a:cubicBezTo>
                  <a:pt x="0" y="95397"/>
                  <a:pt x="95397" y="0"/>
                  <a:pt x="213075" y="0"/>
                </a:cubicBezTo>
                <a:lnTo>
                  <a:pt x="2269635" y="0"/>
                </a:lnTo>
                <a:cubicBezTo>
                  <a:pt x="2387313" y="0"/>
                  <a:pt x="2482710" y="95397"/>
                  <a:pt x="2482710" y="213075"/>
                </a:cubicBezTo>
                <a:lnTo>
                  <a:pt x="2482710" y="1065348"/>
                </a:lnTo>
                <a:cubicBezTo>
                  <a:pt x="2482710" y="1183026"/>
                  <a:pt x="2387313" y="1278423"/>
                  <a:pt x="2269635" y="1278423"/>
                </a:cubicBezTo>
                <a:lnTo>
                  <a:pt x="213075" y="1278423"/>
                </a:lnTo>
                <a:cubicBezTo>
                  <a:pt x="95397" y="1278423"/>
                  <a:pt x="0" y="1183026"/>
                  <a:pt x="0" y="1065348"/>
                </a:cubicBezTo>
                <a:lnTo>
                  <a:pt x="0" y="213075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38607" tIns="138607" rIns="138607" bIns="138607"/>
          <a:lstStyle/>
          <a:p>
            <a:pPr algn="ctr" defTabSz="889000" fontAlgn="base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</a:rPr>
              <a:t>前端</a:t>
            </a:r>
            <a:r>
              <a:rPr lang="zh-CN" altLang="en-US" sz="2400" b="1" dirty="0">
                <a:solidFill>
                  <a:srgbClr val="000000"/>
                </a:solidFill>
              </a:rPr>
              <a:t>拦截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主动防御</a:t>
            </a: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变脸</a:t>
            </a:r>
            <a:r>
              <a:rPr lang="zh-CN" altLang="en-US" sz="1600" dirty="0" smtClean="0">
                <a:solidFill>
                  <a:srgbClr val="000000"/>
                </a:solidFill>
              </a:rPr>
              <a:t>项目</a:t>
            </a:r>
            <a:endParaRPr lang="en-US" altLang="zh-CN" sz="1600" dirty="0" smtClean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蜜罐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3074988" y="2959100"/>
            <a:ext cx="3168650" cy="1181100"/>
          </a:xfrm>
          <a:custGeom>
            <a:avLst/>
            <a:gdLst>
              <a:gd name="connsiteX0" fmla="*/ 0 w 2482710"/>
              <a:gd name="connsiteY0" fmla="*/ 213075 h 1278423"/>
              <a:gd name="connsiteX1" fmla="*/ 213075 w 2482710"/>
              <a:gd name="connsiteY1" fmla="*/ 0 h 1278423"/>
              <a:gd name="connsiteX2" fmla="*/ 2269635 w 2482710"/>
              <a:gd name="connsiteY2" fmla="*/ 0 h 1278423"/>
              <a:gd name="connsiteX3" fmla="*/ 2482710 w 2482710"/>
              <a:gd name="connsiteY3" fmla="*/ 213075 h 1278423"/>
              <a:gd name="connsiteX4" fmla="*/ 2482710 w 2482710"/>
              <a:gd name="connsiteY4" fmla="*/ 1065348 h 1278423"/>
              <a:gd name="connsiteX5" fmla="*/ 2269635 w 2482710"/>
              <a:gd name="connsiteY5" fmla="*/ 1278423 h 1278423"/>
              <a:gd name="connsiteX6" fmla="*/ 213075 w 2482710"/>
              <a:gd name="connsiteY6" fmla="*/ 1278423 h 1278423"/>
              <a:gd name="connsiteX7" fmla="*/ 0 w 2482710"/>
              <a:gd name="connsiteY7" fmla="*/ 1065348 h 1278423"/>
              <a:gd name="connsiteX8" fmla="*/ 0 w 2482710"/>
              <a:gd name="connsiteY8" fmla="*/ 213075 h 12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710" h="1278423">
                <a:moveTo>
                  <a:pt x="0" y="213075"/>
                </a:moveTo>
                <a:cubicBezTo>
                  <a:pt x="0" y="95397"/>
                  <a:pt x="95397" y="0"/>
                  <a:pt x="213075" y="0"/>
                </a:cubicBezTo>
                <a:lnTo>
                  <a:pt x="2269635" y="0"/>
                </a:lnTo>
                <a:cubicBezTo>
                  <a:pt x="2387313" y="0"/>
                  <a:pt x="2482710" y="95397"/>
                  <a:pt x="2482710" y="213075"/>
                </a:cubicBezTo>
                <a:lnTo>
                  <a:pt x="2482710" y="1065348"/>
                </a:lnTo>
                <a:cubicBezTo>
                  <a:pt x="2482710" y="1183026"/>
                  <a:pt x="2387313" y="1278423"/>
                  <a:pt x="2269635" y="1278423"/>
                </a:cubicBezTo>
                <a:lnTo>
                  <a:pt x="213075" y="1278423"/>
                </a:lnTo>
                <a:cubicBezTo>
                  <a:pt x="95397" y="1278423"/>
                  <a:pt x="0" y="1183026"/>
                  <a:pt x="0" y="1065348"/>
                </a:cubicBezTo>
                <a:lnTo>
                  <a:pt x="0" y="213075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38607" tIns="138607" rIns="138607" bIns="138607"/>
          <a:lstStyle/>
          <a:p>
            <a:pPr algn="ctr" defTabSz="889000" fontAlgn="base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</a:rPr>
              <a:t>实时过滤</a:t>
            </a:r>
            <a:endParaRPr lang="zh-CN" altLang="en-US" sz="1600" dirty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大禹</a:t>
            </a:r>
            <a:r>
              <a:rPr lang="zh-CN" altLang="en-US" sz="1600" dirty="0" smtClean="0">
                <a:solidFill>
                  <a:srgbClr val="000000"/>
                </a:solidFill>
              </a:rPr>
              <a:t>，架构</a:t>
            </a:r>
            <a:endParaRPr lang="en-US" altLang="zh-CN" sz="1600" dirty="0" smtClean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 smtClean="0">
                <a:solidFill>
                  <a:srgbClr val="000000"/>
                </a:solidFill>
              </a:rPr>
              <a:t>算法，开发模式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3074988" y="4429125"/>
            <a:ext cx="3168650" cy="1125538"/>
          </a:xfrm>
          <a:custGeom>
            <a:avLst/>
            <a:gdLst>
              <a:gd name="connsiteX0" fmla="*/ 0 w 2482710"/>
              <a:gd name="connsiteY0" fmla="*/ 213075 h 1278423"/>
              <a:gd name="connsiteX1" fmla="*/ 213075 w 2482710"/>
              <a:gd name="connsiteY1" fmla="*/ 0 h 1278423"/>
              <a:gd name="connsiteX2" fmla="*/ 2269635 w 2482710"/>
              <a:gd name="connsiteY2" fmla="*/ 0 h 1278423"/>
              <a:gd name="connsiteX3" fmla="*/ 2482710 w 2482710"/>
              <a:gd name="connsiteY3" fmla="*/ 213075 h 1278423"/>
              <a:gd name="connsiteX4" fmla="*/ 2482710 w 2482710"/>
              <a:gd name="connsiteY4" fmla="*/ 1065348 h 1278423"/>
              <a:gd name="connsiteX5" fmla="*/ 2269635 w 2482710"/>
              <a:gd name="connsiteY5" fmla="*/ 1278423 h 1278423"/>
              <a:gd name="connsiteX6" fmla="*/ 213075 w 2482710"/>
              <a:gd name="connsiteY6" fmla="*/ 1278423 h 1278423"/>
              <a:gd name="connsiteX7" fmla="*/ 0 w 2482710"/>
              <a:gd name="connsiteY7" fmla="*/ 1065348 h 1278423"/>
              <a:gd name="connsiteX8" fmla="*/ 0 w 2482710"/>
              <a:gd name="connsiteY8" fmla="*/ 213075 h 127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710" h="1278423">
                <a:moveTo>
                  <a:pt x="0" y="213075"/>
                </a:moveTo>
                <a:cubicBezTo>
                  <a:pt x="0" y="95397"/>
                  <a:pt x="95397" y="0"/>
                  <a:pt x="213075" y="0"/>
                </a:cubicBezTo>
                <a:lnTo>
                  <a:pt x="2269635" y="0"/>
                </a:lnTo>
                <a:cubicBezTo>
                  <a:pt x="2387313" y="0"/>
                  <a:pt x="2482710" y="95397"/>
                  <a:pt x="2482710" y="213075"/>
                </a:cubicBezTo>
                <a:lnTo>
                  <a:pt x="2482710" y="1065348"/>
                </a:lnTo>
                <a:cubicBezTo>
                  <a:pt x="2482710" y="1183026"/>
                  <a:pt x="2387313" y="1278423"/>
                  <a:pt x="2269635" y="1278423"/>
                </a:cubicBezTo>
                <a:lnTo>
                  <a:pt x="213075" y="1278423"/>
                </a:lnTo>
                <a:cubicBezTo>
                  <a:pt x="95397" y="1278423"/>
                  <a:pt x="0" y="1183026"/>
                  <a:pt x="0" y="1065348"/>
                </a:cubicBezTo>
                <a:lnTo>
                  <a:pt x="0" y="213075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38607" tIns="138607" rIns="138607" bIns="138607"/>
          <a:lstStyle/>
          <a:p>
            <a:pPr algn="ctr" defTabSz="889000" fontAlgn="base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2400" b="1" dirty="0" smtClean="0">
                <a:solidFill>
                  <a:srgbClr val="000000"/>
                </a:solidFill>
              </a:rPr>
              <a:t>离线</a:t>
            </a:r>
            <a:r>
              <a:rPr lang="zh-CN" altLang="en-US" sz="2400" b="1" dirty="0">
                <a:solidFill>
                  <a:srgbClr val="000000"/>
                </a:solidFill>
              </a:rPr>
              <a:t>挖掘</a:t>
            </a: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离线过滤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lvl="1" algn="ctr" defTabSz="889000" fontAlgn="base">
              <a:lnSpc>
                <a:spcPts val="12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1600" dirty="0">
                <a:solidFill>
                  <a:srgbClr val="000000"/>
                </a:solidFill>
              </a:rPr>
              <a:t>主动返款</a:t>
            </a:r>
          </a:p>
        </p:txBody>
      </p:sp>
      <p:grpSp>
        <p:nvGrpSpPr>
          <p:cNvPr id="8" name="组合 30"/>
          <p:cNvGrpSpPr>
            <a:grpSpLocks/>
          </p:cNvGrpSpPr>
          <p:nvPr/>
        </p:nvGrpSpPr>
        <p:grpSpPr bwMode="auto">
          <a:xfrm>
            <a:off x="1001713" y="2027238"/>
            <a:ext cx="1425575" cy="3057525"/>
            <a:chOff x="1051992" y="3193661"/>
            <a:chExt cx="1857374" cy="2352083"/>
          </a:xfrm>
        </p:grpSpPr>
        <p:sp>
          <p:nvSpPr>
            <p:cNvPr id="9" name="任意多边形 8"/>
            <p:cNvSpPr/>
            <p:nvPr/>
          </p:nvSpPr>
          <p:spPr>
            <a:xfrm>
              <a:off x="1051992" y="3193661"/>
              <a:ext cx="1857374" cy="926911"/>
            </a:xfrm>
            <a:custGeom>
              <a:avLst/>
              <a:gdLst>
                <a:gd name="connsiteX0" fmla="*/ 0 w 1857374"/>
                <a:gd name="connsiteY0" fmla="*/ 0 h 742949"/>
                <a:gd name="connsiteX1" fmla="*/ 1857374 w 1857374"/>
                <a:gd name="connsiteY1" fmla="*/ 0 h 742949"/>
                <a:gd name="connsiteX2" fmla="*/ 1857374 w 1857374"/>
                <a:gd name="connsiteY2" fmla="*/ 742949 h 742949"/>
                <a:gd name="connsiteX3" fmla="*/ 0 w 1857374"/>
                <a:gd name="connsiteY3" fmla="*/ 742949 h 742949"/>
                <a:gd name="connsiteX4" fmla="*/ 0 w 1857374"/>
                <a:gd name="connsiteY4" fmla="*/ 0 h 742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42949">
                  <a:moveTo>
                    <a:pt x="0" y="0"/>
                  </a:moveTo>
                  <a:lnTo>
                    <a:pt x="1857374" y="0"/>
                  </a:lnTo>
                  <a:lnTo>
                    <a:pt x="1857374" y="742949"/>
                  </a:lnTo>
                  <a:lnTo>
                    <a:pt x="0" y="7429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2240" tIns="81280" rIns="142240" bIns="81280" spcCol="1270" anchor="ctr"/>
            <a:lstStyle/>
            <a:p>
              <a:pPr algn="ctr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sz="2400" dirty="0">
                  <a:solidFill>
                    <a:prstClr val="white"/>
                  </a:solidFill>
                </a:rPr>
                <a:t>客户满意度</a:t>
              </a: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051992" y="4149881"/>
              <a:ext cx="1857374" cy="1395863"/>
            </a:xfrm>
            <a:custGeom>
              <a:avLst/>
              <a:gdLst>
                <a:gd name="connsiteX0" fmla="*/ 0 w 1857374"/>
                <a:gd name="connsiteY0" fmla="*/ 0 h 1141919"/>
                <a:gd name="connsiteX1" fmla="*/ 1857374 w 1857374"/>
                <a:gd name="connsiteY1" fmla="*/ 0 h 1141919"/>
                <a:gd name="connsiteX2" fmla="*/ 1857374 w 1857374"/>
                <a:gd name="connsiteY2" fmla="*/ 1141919 h 1141919"/>
                <a:gd name="connsiteX3" fmla="*/ 0 w 1857374"/>
                <a:gd name="connsiteY3" fmla="*/ 1141919 h 1141919"/>
                <a:gd name="connsiteX4" fmla="*/ 0 w 1857374"/>
                <a:gd name="connsiteY4" fmla="*/ 0 h 114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141919">
                  <a:moveTo>
                    <a:pt x="0" y="0"/>
                  </a:moveTo>
                  <a:lnTo>
                    <a:pt x="1857374" y="0"/>
                  </a:lnTo>
                  <a:lnTo>
                    <a:pt x="1857374" y="1141919"/>
                  </a:lnTo>
                  <a:lnTo>
                    <a:pt x="0" y="11419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06680" tIns="106680" rIns="142240" bIns="160020" spcCol="1270"/>
            <a:lstStyle/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直通车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异常分析平台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绿色通道</a:t>
              </a:r>
            </a:p>
          </p:txBody>
        </p:sp>
      </p:grpSp>
      <p:grpSp>
        <p:nvGrpSpPr>
          <p:cNvPr id="11" name="组合 34"/>
          <p:cNvGrpSpPr>
            <a:grpSpLocks/>
          </p:cNvGrpSpPr>
          <p:nvPr/>
        </p:nvGrpSpPr>
        <p:grpSpPr bwMode="auto">
          <a:xfrm>
            <a:off x="6891338" y="2027238"/>
            <a:ext cx="1425575" cy="3057525"/>
            <a:chOff x="1051992" y="3193660"/>
            <a:chExt cx="1857374" cy="1884868"/>
          </a:xfrm>
        </p:grpSpPr>
        <p:sp>
          <p:nvSpPr>
            <p:cNvPr id="12" name="任意多边形 11"/>
            <p:cNvSpPr/>
            <p:nvPr/>
          </p:nvSpPr>
          <p:spPr>
            <a:xfrm>
              <a:off x="1051992" y="3193660"/>
              <a:ext cx="1857374" cy="742790"/>
            </a:xfrm>
            <a:custGeom>
              <a:avLst/>
              <a:gdLst>
                <a:gd name="connsiteX0" fmla="*/ 0 w 1857374"/>
                <a:gd name="connsiteY0" fmla="*/ 0 h 742949"/>
                <a:gd name="connsiteX1" fmla="*/ 1857374 w 1857374"/>
                <a:gd name="connsiteY1" fmla="*/ 0 h 742949"/>
                <a:gd name="connsiteX2" fmla="*/ 1857374 w 1857374"/>
                <a:gd name="connsiteY2" fmla="*/ 742949 h 742949"/>
                <a:gd name="connsiteX3" fmla="*/ 0 w 1857374"/>
                <a:gd name="connsiteY3" fmla="*/ 742949 h 742949"/>
                <a:gd name="connsiteX4" fmla="*/ 0 w 1857374"/>
                <a:gd name="connsiteY4" fmla="*/ 0 h 742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742949">
                  <a:moveTo>
                    <a:pt x="0" y="0"/>
                  </a:moveTo>
                  <a:lnTo>
                    <a:pt x="1857374" y="0"/>
                  </a:lnTo>
                  <a:lnTo>
                    <a:pt x="1857374" y="742949"/>
                  </a:lnTo>
                  <a:lnTo>
                    <a:pt x="0" y="74294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2240" tIns="81280" rIns="142240" bIns="81280" spcCol="1270" anchor="ctr"/>
            <a:lstStyle/>
            <a:p>
              <a:pPr algn="ctr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zh-CN" altLang="en-US" sz="2400" dirty="0">
                  <a:solidFill>
                    <a:prstClr val="white"/>
                  </a:solidFill>
                </a:rPr>
                <a:t>效果监控</a:t>
              </a: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1051992" y="3936450"/>
              <a:ext cx="1857374" cy="1142078"/>
            </a:xfrm>
            <a:custGeom>
              <a:avLst/>
              <a:gdLst>
                <a:gd name="connsiteX0" fmla="*/ 0 w 1857374"/>
                <a:gd name="connsiteY0" fmla="*/ 0 h 1141919"/>
                <a:gd name="connsiteX1" fmla="*/ 1857374 w 1857374"/>
                <a:gd name="connsiteY1" fmla="*/ 0 h 1141919"/>
                <a:gd name="connsiteX2" fmla="*/ 1857374 w 1857374"/>
                <a:gd name="connsiteY2" fmla="*/ 1141919 h 1141919"/>
                <a:gd name="connsiteX3" fmla="*/ 0 w 1857374"/>
                <a:gd name="connsiteY3" fmla="*/ 1141919 h 1141919"/>
                <a:gd name="connsiteX4" fmla="*/ 0 w 1857374"/>
                <a:gd name="connsiteY4" fmla="*/ 0 h 114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7374" h="1141919">
                  <a:moveTo>
                    <a:pt x="0" y="0"/>
                  </a:moveTo>
                  <a:lnTo>
                    <a:pt x="1857374" y="0"/>
                  </a:lnTo>
                  <a:lnTo>
                    <a:pt x="1857374" y="1141919"/>
                  </a:lnTo>
                  <a:lnTo>
                    <a:pt x="0" y="114191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06680" tIns="106680" rIns="142240" bIns="160020" spcCol="1270"/>
            <a:lstStyle/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泥潭项目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zh-CN" sz="16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Dashboard</a:t>
              </a: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评估平台</a:t>
              </a:r>
              <a:endPara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endParaRP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红黑</a:t>
              </a:r>
              <a:r>
                <a:rPr lang="en-US" altLang="zh-CN" sz="1600" dirty="0" smtClean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team</a:t>
              </a:r>
            </a:p>
            <a:p>
              <a:pPr marL="228600" lvl="1" indent="-228600" defTabSz="889000" fontAlgn="base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  <a:defRPr/>
              </a:pPr>
              <a:r>
                <a:rPr lang="en-US" altLang="zh-CN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Case</a:t>
              </a:r>
              <a:r>
                <a:rPr lang="zh-CN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挖掘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14" name="圆角矩形 13"/>
          <p:cNvSpPr/>
          <p:nvPr/>
        </p:nvSpPr>
        <p:spPr>
          <a:xfrm>
            <a:off x="2700338" y="5800725"/>
            <a:ext cx="3819525" cy="50958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cs typeface="Lao UI" pitchFamily="34" charset="0"/>
              </a:rPr>
              <a:t>应用推广</a:t>
            </a:r>
            <a:endParaRPr lang="zh-CN" altLang="en-US" b="1" dirty="0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427288" y="2962275"/>
            <a:ext cx="647700" cy="766763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  <p:sp>
        <p:nvSpPr>
          <p:cNvPr id="16" name="右箭头 15"/>
          <p:cNvSpPr/>
          <p:nvPr/>
        </p:nvSpPr>
        <p:spPr>
          <a:xfrm rot="10800000">
            <a:off x="6203950" y="2994025"/>
            <a:ext cx="647700" cy="765175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627313" y="434975"/>
            <a:ext cx="3892550" cy="511175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cs typeface="Lao UI" pitchFamily="34" charset="0"/>
              </a:rPr>
              <a:t>反作弊体系</a:t>
            </a:r>
            <a:endParaRPr lang="zh-CN" altLang="en-US" b="1" dirty="0">
              <a:solidFill>
                <a:prstClr val="white"/>
              </a:solidFill>
              <a:latin typeface="微软雅黑" pitchFamily="34" charset="-122"/>
              <a:cs typeface="Lao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56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0525" y="1268412"/>
            <a:ext cx="8229600" cy="5184923"/>
          </a:xfrm>
        </p:spPr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对作弊类型分类</a:t>
            </a:r>
            <a:endParaRPr lang="en-US" altLang="zh-CN" sz="2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作弊：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程序打开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作弊：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爬虫作弊：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人工作弊：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分类的好处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有利于策略调研，解决特定的小问题，有明确的目标。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方便效果评估，了解每种作弊问题的解决情况。</a:t>
            </a:r>
          </a:p>
          <a:p>
            <a:pPr marL="742950" lvl="2" indent="-342900"/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</a:rPr>
              <a:t>站在作弊者的角度思考问题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</a:rPr>
              <a:t>从作弊行为推导能利用的特征，而不是反过来。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</a:rPr>
              <a:t>作弊特征只是表象，可能会变化，要理解这些作弊特征产生的原因，才可能抓住更深层的作弊特征。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分析思路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55776" y="1628800"/>
            <a:ext cx="1296144" cy="33855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单人点击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67944" y="1628800"/>
            <a:ext cx="1296144" cy="33855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单机点击器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0112" y="1639763"/>
            <a:ext cx="1440160" cy="33855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初级程序攻击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67944" y="2144759"/>
            <a:ext cx="1296144" cy="33855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ADSL</a:t>
            </a:r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断网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80112" y="2144759"/>
            <a:ext cx="1296144" cy="33855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代理</a:t>
            </a:r>
            <a:r>
              <a:rPr lang="en-US" altLang="zh-CN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IP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55776" y="2756936"/>
            <a:ext cx="1656184" cy="338554"/>
          </a:xfrm>
          <a:prstGeom prst="rect">
            <a:avLst/>
          </a:prstGeom>
          <a:solidFill>
            <a:srgbClr val="00B0F0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任务分发平台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76138" y="2144759"/>
            <a:ext cx="1296144" cy="33855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  <a:cs typeface="Lao UI" pitchFamily="34" charset="0"/>
              </a:rPr>
              <a:t>分布式</a:t>
            </a:r>
            <a:endParaRPr lang="zh-CN" altLang="en-US" sz="1600" b="1" dirty="0">
              <a:latin typeface="微软雅黑" pitchFamily="34" charset="-122"/>
              <a:ea typeface="微软雅黑" pitchFamily="34" charset="-122"/>
              <a:cs typeface="Lao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9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0525" y="1268412"/>
            <a:ext cx="8229600" cy="5184923"/>
          </a:xfrm>
        </p:spPr>
        <p:txBody>
          <a:bodyPr/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程序打开浏览器作弊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市面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上主流作弊器的工作模式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寻找机械模拟，跟正常用户不一样的行为，例如：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3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点击广告前的鼠标行为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3" indent="-342900"/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用户点击模式（一次搜索一次点击）</a:t>
            </a:r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3" indent="-342900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</a:t>
            </a:r>
            <a:r>
              <a:rPr lang="zh-CN" altLang="en-US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空缓存</a:t>
            </a:r>
          </a:p>
          <a:p>
            <a:pPr marL="742950" lvl="2" indent="-342900"/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</a:rPr>
              <a:t>爬虫作弊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</a:rPr>
              <a:t>不</a:t>
            </a:r>
            <a:r>
              <a:rPr lang="zh-CN" altLang="en-US" dirty="0">
                <a:solidFill>
                  <a:schemeClr val="tx1"/>
                </a:solidFill>
              </a:rPr>
              <a:t>需要打开浏览器，直接用网络通讯的方式来模拟</a:t>
            </a:r>
            <a:r>
              <a:rPr lang="zh-CN" altLang="en-US" dirty="0" smtClean="0">
                <a:solidFill>
                  <a:schemeClr val="tx1"/>
                </a:solidFill>
              </a:rPr>
              <a:t>点击。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742950" lvl="2" indent="-342900"/>
            <a:r>
              <a:rPr lang="zh-CN" altLang="en-US" dirty="0" smtClean="0">
                <a:solidFill>
                  <a:schemeClr val="tx1"/>
                </a:solidFill>
              </a:rPr>
              <a:t>变脸、蜜罐提高作弊难度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742950" lvl="2" indent="-342900"/>
            <a:r>
              <a:rPr lang="zh-CN" altLang="en-US" dirty="0">
                <a:solidFill>
                  <a:schemeClr val="tx1"/>
                </a:solidFill>
              </a:rPr>
              <a:t>通过发包模拟浏览器点击，会考虑不周全，从而留下一些</a:t>
            </a:r>
            <a:r>
              <a:rPr lang="zh-CN" altLang="en-US" dirty="0" smtClean="0">
                <a:solidFill>
                  <a:schemeClr val="tx1"/>
                </a:solidFill>
              </a:rPr>
              <a:t>痕迹：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200150" lvl="3" indent="-342900"/>
            <a:r>
              <a:rPr lang="zh-CN" altLang="en-US" dirty="0" smtClean="0">
                <a:solidFill>
                  <a:schemeClr val="tx1"/>
                </a:solidFill>
              </a:rPr>
              <a:t>关键字段缺失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200150" lvl="3" indent="-342900"/>
            <a:r>
              <a:rPr lang="zh-CN" altLang="en-US" dirty="0" smtClean="0">
                <a:solidFill>
                  <a:schemeClr val="tx1"/>
                </a:solidFill>
              </a:rPr>
              <a:t>客户端信息单一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200150" lvl="3" indent="-342900"/>
            <a:r>
              <a:rPr lang="zh-CN" altLang="en-US" dirty="0" smtClean="0">
                <a:solidFill>
                  <a:schemeClr val="tx1"/>
                </a:solidFill>
              </a:rPr>
              <a:t>访问来源</a:t>
            </a:r>
            <a:r>
              <a:rPr lang="zh-CN" altLang="en-US" dirty="0">
                <a:solidFill>
                  <a:schemeClr val="tx1"/>
                </a:solidFill>
              </a:rPr>
              <a:t>固定</a:t>
            </a:r>
            <a:endParaRPr lang="en-US" altLang="zh-CN" dirty="0">
              <a:solidFill>
                <a:schemeClr val="tx1"/>
              </a:solidFill>
            </a:endParaRPr>
          </a:p>
          <a:p>
            <a:pPr marL="857250" lvl="3" indent="0">
              <a:buNone/>
            </a:pPr>
            <a:endParaRPr lang="en-US" altLang="zh-CN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314325" y="357188"/>
            <a:ext cx="8145463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分析思路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125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LINE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115888"/>
            <a:ext cx="8651875" cy="640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47813" y="2700338"/>
            <a:ext cx="7200900" cy="428625"/>
          </a:xfrm>
          <a:prstGeom prst="rect">
            <a:avLst/>
          </a:prstGeom>
          <a:ln/>
        </p:spPr>
        <p:txBody>
          <a:bodyPr lIns="137160" tIns="0" rIns="164592" bIns="0" anchor="ctr"/>
          <a:lstStyle/>
          <a:p>
            <a:pPr algn="r" fontAlgn="ctr">
              <a:lnSpc>
                <a:spcPts val="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prstClr val="black"/>
                </a:solidFill>
                <a:latin typeface="微软雅黑" pitchFamily="34" charset="-122"/>
                <a:cs typeface="Arial Unicode MS" pitchFamily="34" charset="-122"/>
              </a:rPr>
              <a:t>THANKS</a:t>
            </a:r>
          </a:p>
        </p:txBody>
      </p:sp>
      <p:pic>
        <p:nvPicPr>
          <p:cNvPr id="6" name="Picture 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2514600"/>
            <a:ext cx="1379538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301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8MMApnbvE6Ld9BrxmWTE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SlbVrGOCE.8xaofPTaTj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JLUL1KS3kOo_qwnKXUASA"/>
</p:tagLst>
</file>

<file path=ppt/theme/theme1.xml><?xml version="1.0" encoding="utf-8"?>
<a:theme xmlns:a="http://schemas.openxmlformats.org/drawingml/2006/main" name="演示文稿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Franklin Gothic Medium"/>
        <a:ea typeface="微软雅黑"/>
        <a:cs typeface=""/>
      </a:majorFont>
      <a:minorFont>
        <a:latin typeface="Franklin Gothic Book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127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square">
        <a:spAutoFit/>
      </a:bodyPr>
      <a:lstStyle>
        <a:defPPr>
          <a:defRPr sz="1600" b="1">
            <a:solidFill>
              <a:schemeClr val="bg1"/>
            </a:solidFill>
            <a:latin typeface="微软雅黑" pitchFamily="34" charset="-122"/>
            <a:ea typeface="微软雅黑" pitchFamily="34" charset="-122"/>
            <a:cs typeface="Lao UI" pitchFamily="34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华文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华文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14761</TotalTime>
  <Words>4048</Words>
  <Application>Microsoft Office PowerPoint</Application>
  <PresentationFormat>全屏显示(4:3)</PresentationFormat>
  <Paragraphs>436</Paragraphs>
  <Slides>24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 Unicode MS</vt:lpstr>
      <vt:lpstr>华文黑体</vt:lpstr>
      <vt:lpstr>华文楷体</vt:lpstr>
      <vt:lpstr>宋体</vt:lpstr>
      <vt:lpstr>微软雅黑</vt:lpstr>
      <vt:lpstr>幼圆</vt:lpstr>
      <vt:lpstr>Arial</vt:lpstr>
      <vt:lpstr>Calibri</vt:lpstr>
      <vt:lpstr>Cambria</vt:lpstr>
      <vt:lpstr>Franklin Gothic Book</vt:lpstr>
      <vt:lpstr>Lao UI</vt:lpstr>
      <vt:lpstr>Tahoma</vt:lpstr>
      <vt:lpstr>Wingdings</vt:lpstr>
      <vt:lpstr>演示文稿1</vt:lpstr>
      <vt:lpstr>默认设计模板</vt:lpstr>
      <vt:lpstr>1_默认设计模板</vt:lpstr>
      <vt:lpstr>think-cell Slide</vt:lpstr>
      <vt:lpstr>Visio</vt:lpstr>
      <vt:lpstr>凤巢点击反作弊 lixuekai@baidu.com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baidu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lijianghong</dc:creator>
  <cp:lastModifiedBy>李学凯</cp:lastModifiedBy>
  <cp:revision>2397</cp:revision>
  <dcterms:created xsi:type="dcterms:W3CDTF">2010-06-01T10:09:31Z</dcterms:created>
  <dcterms:modified xsi:type="dcterms:W3CDTF">2013-08-22T05:43:59Z</dcterms:modified>
</cp:coreProperties>
</file>