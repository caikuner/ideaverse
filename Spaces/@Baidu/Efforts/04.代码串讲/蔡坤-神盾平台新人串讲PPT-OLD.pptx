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2.xml" ContentType="application/vnd.openxmlformats-officedocument.presentationml.comments+xml"/>
  <Override PartName="/ppt/notesSlides/notesSlide12.xml" ContentType="application/vnd.openxmlformats-officedocument.presentationml.notesSlide+xml"/>
  <Override PartName="/ppt/comments/comment3.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omments/comment4.xml" ContentType="application/vnd.openxmlformats-officedocument.presentationml.comment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5"/>
  </p:notesMasterIdLst>
  <p:sldIdLst>
    <p:sldId id="256" r:id="rId2"/>
    <p:sldId id="257" r:id="rId3"/>
    <p:sldId id="258" r:id="rId4"/>
    <p:sldId id="259" r:id="rId5"/>
    <p:sldId id="370" r:id="rId6"/>
    <p:sldId id="371" r:id="rId7"/>
    <p:sldId id="260" r:id="rId8"/>
    <p:sldId id="285" r:id="rId9"/>
    <p:sldId id="262" r:id="rId10"/>
    <p:sldId id="269" r:id="rId11"/>
    <p:sldId id="375" r:id="rId12"/>
    <p:sldId id="286" r:id="rId13"/>
    <p:sldId id="303" r:id="rId14"/>
    <p:sldId id="287" r:id="rId15"/>
    <p:sldId id="402" r:id="rId16"/>
    <p:sldId id="296" r:id="rId17"/>
    <p:sldId id="304" r:id="rId18"/>
    <p:sldId id="289" r:id="rId19"/>
    <p:sldId id="329" r:id="rId20"/>
    <p:sldId id="290" r:id="rId21"/>
    <p:sldId id="401" r:id="rId22"/>
    <p:sldId id="301" r:id="rId23"/>
    <p:sldId id="403" r:id="rId24"/>
    <p:sldId id="307" r:id="rId25"/>
    <p:sldId id="263" r:id="rId26"/>
    <p:sldId id="377" r:id="rId27"/>
    <p:sldId id="410" r:id="rId28"/>
    <p:sldId id="407" r:id="rId29"/>
    <p:sldId id="406" r:id="rId30"/>
    <p:sldId id="396" r:id="rId31"/>
    <p:sldId id="385" r:id="rId32"/>
    <p:sldId id="399" r:id="rId33"/>
    <p:sldId id="416" r:id="rId34"/>
    <p:sldId id="411" r:id="rId35"/>
    <p:sldId id="408" r:id="rId36"/>
    <p:sldId id="386" r:id="rId37"/>
    <p:sldId id="415" r:id="rId38"/>
    <p:sldId id="413" r:id="rId39"/>
    <p:sldId id="387" r:id="rId40"/>
    <p:sldId id="389" r:id="rId41"/>
    <p:sldId id="390" r:id="rId42"/>
    <p:sldId id="261" r:id="rId43"/>
    <p:sldId id="397" r:id="rId44"/>
    <p:sldId id="404" r:id="rId45"/>
    <p:sldId id="291" r:id="rId46"/>
    <p:sldId id="288" r:id="rId47"/>
    <p:sldId id="295" r:id="rId48"/>
    <p:sldId id="380" r:id="rId49"/>
    <p:sldId id="381" r:id="rId50"/>
    <p:sldId id="394" r:id="rId51"/>
    <p:sldId id="365" r:id="rId52"/>
    <p:sldId id="366" r:id="rId53"/>
    <p:sldId id="379" r:id="rId54"/>
  </p:sldIdLst>
  <p:sldSz cx="9144000" cy="5143500" type="screen16x9"/>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DF93483-7297-4577-8D16-A153D0EF39E2}">
          <p14:sldIdLst>
            <p14:sldId id="256"/>
            <p14:sldId id="257"/>
          </p14:sldIdLst>
        </p14:section>
        <p14:section name="01" id="{44A5430E-A219-4118-8DF0-E6956B1B439A}">
          <p14:sldIdLst>
            <p14:sldId id="258"/>
            <p14:sldId id="259"/>
            <p14:sldId id="370"/>
            <p14:sldId id="371"/>
            <p14:sldId id="260"/>
            <p14:sldId id="285"/>
          </p14:sldIdLst>
        </p14:section>
        <p14:section name="02" id="{35E30AB4-DA4A-4137-8E1A-EB45BD638C9A}">
          <p14:sldIdLst>
            <p14:sldId id="262"/>
            <p14:sldId id="269"/>
            <p14:sldId id="375"/>
            <p14:sldId id="286"/>
            <p14:sldId id="303"/>
            <p14:sldId id="287"/>
            <p14:sldId id="402"/>
            <p14:sldId id="296"/>
            <p14:sldId id="304"/>
            <p14:sldId id="289"/>
            <p14:sldId id="329"/>
            <p14:sldId id="290"/>
            <p14:sldId id="401"/>
            <p14:sldId id="301"/>
            <p14:sldId id="403"/>
            <p14:sldId id="307"/>
          </p14:sldIdLst>
        </p14:section>
        <p14:section name="弃用" id="{6655116C-90B1-F545-A334-6148B4202CD6}">
          <p14:sldIdLst/>
        </p14:section>
        <p14:section name="03" id="{546FB346-9A9B-4BCF-A161-04E4D08A2A19}">
          <p14:sldIdLst>
            <p14:sldId id="263"/>
            <p14:sldId id="377"/>
            <p14:sldId id="410"/>
            <p14:sldId id="407"/>
            <p14:sldId id="406"/>
            <p14:sldId id="396"/>
            <p14:sldId id="385"/>
            <p14:sldId id="399"/>
            <p14:sldId id="416"/>
            <p14:sldId id="411"/>
            <p14:sldId id="408"/>
            <p14:sldId id="386"/>
            <p14:sldId id="415"/>
            <p14:sldId id="413"/>
            <p14:sldId id="387"/>
            <p14:sldId id="389"/>
            <p14:sldId id="390"/>
          </p14:sldIdLst>
        </p14:section>
        <p14:section name="结尾" id="{94B28BA2-8CE3-49F9-9042-779E7362081C}">
          <p14:sldIdLst>
            <p14:sldId id="261"/>
          </p14:sldIdLst>
        </p14:section>
        <p14:section name="附录" id="{1E86C91F-7AD5-464E-94B5-1930BDEAA5A7}">
          <p14:sldIdLst>
            <p14:sldId id="397"/>
            <p14:sldId id="404"/>
            <p14:sldId id="291"/>
            <p14:sldId id="288"/>
            <p14:sldId id="295"/>
            <p14:sldId id="380"/>
            <p14:sldId id="381"/>
            <p14:sldId id="394"/>
            <p14:sldId id="365"/>
            <p14:sldId id="366"/>
            <p14:sldId id="37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ikun01" initials="c" lastIdx="1" clrIdx="0"/>
  <p:cmAuthor id="2" name="kun Cai" initials="kC" lastIdx="6" clrIdx="1">
    <p:extLst>
      <p:ext uri="{19B8F6BF-5375-455C-9EA6-DF929625EA0E}">
        <p15:presenceInfo xmlns:p15="http://schemas.microsoft.com/office/powerpoint/2012/main" userId="860d2e2b137292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A8CEE7"/>
    <a:srgbClr val="94C6F2"/>
    <a:srgbClr val="92C6EE"/>
    <a:srgbClr val="86C6E8"/>
    <a:srgbClr val="0062B0"/>
    <a:srgbClr val="0062FF"/>
    <a:srgbClr val="2932FF"/>
    <a:srgbClr val="E10611"/>
    <a:srgbClr val="1D0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45" autoAdjust="0"/>
    <p:restoredTop sz="86639" autoAdjust="0"/>
  </p:normalViewPr>
  <p:slideViewPr>
    <p:cSldViewPr snapToGrid="0" snapToObjects="1">
      <p:cViewPr>
        <p:scale>
          <a:sx n="98" d="100"/>
          <a:sy n="98" d="100"/>
        </p:scale>
        <p:origin x="456" y="93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2-08-18T11:13:18.519" idx="3">
    <p:pos x="5051" y="564"/>
    <p:text>检索日志从哪落</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2-08-17T19:29:50.399" idx="2">
    <p:pos x="10" y="10"/>
    <p:text>输出</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2-08-16T15:32:01.287" idx="1">
    <p:pos x="10" y="10"/>
    <p:text>Q1</p:text>
    <p:extLst>
      <p:ext uri="{C676402C-5697-4E1C-873F-D02D1690AC5C}">
        <p15:threadingInfo xmlns:p15="http://schemas.microsoft.com/office/powerpoint/2012/main" timeZoneBias="-4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2-08-18T17:46:46.339" idx="5">
    <p:pos x="5034" y="529"/>
    <p:text>补充：加上登录鉴权中间件 等</p:text>
    <p:extLst>
      <p:ext uri="{C676402C-5697-4E1C-873F-D02D1690AC5C}">
        <p15:threadingInfo xmlns:p15="http://schemas.microsoft.com/office/powerpoint/2012/main" timeZoneBias="-480"/>
      </p:ext>
    </p:extLst>
  </p:cm>
</p:cmLst>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3CFC41F-D94C-4D2A-989A-2D97E4C93557}" type="doc">
      <dgm:prSet loTypeId="urn:microsoft.com/office/officeart/2005/8/layout/cycle7#1" loCatId="cycle" qsTypeId="urn:microsoft.com/office/officeart/2005/8/quickstyle/simple1#1" qsCatId="simple" csTypeId="urn:microsoft.com/office/officeart/2005/8/colors/colorful1#1" csCatId="colorful" phldr="1"/>
      <dgm:spPr/>
      <dgm:t>
        <a:bodyPr/>
        <a:lstStyle/>
        <a:p>
          <a:endParaRPr lang="zh-CN" altLang="en-US"/>
        </a:p>
      </dgm:t>
    </dgm:pt>
    <dgm:pt modelId="{491798FE-E380-40B2-AB89-279E6843B487}">
      <dgm:prSet phldrT="[文本]"/>
      <dgm:spPr>
        <a:xfrm>
          <a:off x="1565171" y="738"/>
          <a:ext cx="1118128" cy="559064"/>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等线"/>
              <a:ea typeface="等线" panose="02010600030101010101" pitchFamily="2" charset="-122"/>
              <a:cs typeface="+mn-cs"/>
            </a:rPr>
            <a:t>广告主</a:t>
          </a:r>
        </a:p>
      </dgm:t>
    </dgm:pt>
    <dgm:pt modelId="{828C9797-592C-4C65-BB17-AD449EEE4116}" type="parTrans" cxnId="{E3D45DB2-E483-46E4-86B1-63C7A380D0C3}">
      <dgm:prSet/>
      <dgm:spPr/>
      <dgm:t>
        <a:bodyPr/>
        <a:lstStyle/>
        <a:p>
          <a:endParaRPr lang="zh-CN" altLang="en-US"/>
        </a:p>
      </dgm:t>
    </dgm:pt>
    <dgm:pt modelId="{86256C80-CE88-417F-9DEB-5AE3CDD62CBA}" type="sibTrans" cxnId="{E3D45DB2-E483-46E4-86B1-63C7A380D0C3}">
      <dgm:prSet/>
      <dgm:spPr>
        <a:xfrm rot="3217651">
          <a:off x="2207217" y="982652"/>
          <a:ext cx="1012796" cy="195672"/>
        </a:xfrm>
        <a:prstGeom prst="leftRightArrow">
          <a:avLst>
            <a:gd name="adj1" fmla="val 60000"/>
            <a:gd name="adj2" fmla="val 50000"/>
          </a:avLst>
        </a:prstGeom>
        <a:solidFill>
          <a:srgbClr val="ED7D31">
            <a:hueOff val="0"/>
            <a:satOff val="0"/>
            <a:lumOff val="0"/>
            <a:alphaOff val="0"/>
          </a:srgbClr>
        </a:solidFill>
        <a:ln>
          <a:noFill/>
        </a:ln>
        <a:effectLst/>
      </dgm:spPr>
      <dgm:t>
        <a:bodyPr/>
        <a:lstStyle/>
        <a:p>
          <a:pPr>
            <a:buNone/>
          </a:pPr>
          <a:endParaRPr lang="zh-CN" altLang="en-US" dirty="0">
            <a:solidFill>
              <a:sysClr val="window" lastClr="FFFFFF"/>
            </a:solidFill>
            <a:latin typeface="等线"/>
            <a:ea typeface="等线" panose="02010600030101010101" pitchFamily="2" charset="-122"/>
            <a:cs typeface="+mn-cs"/>
          </a:endParaRPr>
        </a:p>
      </dgm:t>
    </dgm:pt>
    <dgm:pt modelId="{BCE1FFAA-90D0-4B62-B40B-BF6917531D7A}">
      <dgm:prSet phldrT="[文本]"/>
      <dgm:spPr>
        <a:xfrm>
          <a:off x="2743930" y="1601175"/>
          <a:ext cx="1118128" cy="559064"/>
        </a:xfrm>
        <a:prstGeom prst="roundRect">
          <a:avLst>
            <a:gd name="adj" fmla="val 10000"/>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等线"/>
              <a:ea typeface="等线" panose="02010600030101010101" pitchFamily="2" charset="-122"/>
              <a:cs typeface="+mn-cs"/>
            </a:rPr>
            <a:t>网民</a:t>
          </a:r>
        </a:p>
      </dgm:t>
    </dgm:pt>
    <dgm:pt modelId="{DE270CBB-573F-4D29-A606-524263751D3B}" type="parTrans" cxnId="{81A48DCE-6A6A-4C1C-8EB0-9AC530DCEA7F}">
      <dgm:prSet/>
      <dgm:spPr/>
      <dgm:t>
        <a:bodyPr/>
        <a:lstStyle/>
        <a:p>
          <a:endParaRPr lang="zh-CN" altLang="en-US"/>
        </a:p>
      </dgm:t>
    </dgm:pt>
    <dgm:pt modelId="{F5C6D198-3602-4757-AD22-5123C361BB9E}" type="sibTrans" cxnId="{81A48DCE-6A6A-4C1C-8EB0-9AC530DCEA7F}">
      <dgm:prSet/>
      <dgm:spPr>
        <a:xfrm rot="10800000">
          <a:off x="1604534" y="1782871"/>
          <a:ext cx="1012796" cy="195672"/>
        </a:xfrm>
        <a:prstGeom prst="leftRightArrow">
          <a:avLst>
            <a:gd name="adj1" fmla="val 60000"/>
            <a:gd name="adj2" fmla="val 50000"/>
          </a:avLst>
        </a:prstGeom>
        <a:solidFill>
          <a:srgbClr val="A5A5A5">
            <a:hueOff val="0"/>
            <a:satOff val="0"/>
            <a:lumOff val="0"/>
            <a:alphaOff val="0"/>
          </a:srgbClr>
        </a:solidFill>
        <a:ln>
          <a:noFill/>
        </a:ln>
        <a:effectLst/>
      </dgm:spPr>
      <dgm:t>
        <a:bodyPr/>
        <a:lstStyle/>
        <a:p>
          <a:pPr>
            <a:buNone/>
          </a:pPr>
          <a:endParaRPr lang="zh-CN" altLang="en-US">
            <a:solidFill>
              <a:sysClr val="window" lastClr="FFFFFF"/>
            </a:solidFill>
            <a:latin typeface="等线"/>
            <a:ea typeface="等线" panose="02010600030101010101" pitchFamily="2" charset="-122"/>
            <a:cs typeface="+mn-cs"/>
          </a:endParaRPr>
        </a:p>
      </dgm:t>
    </dgm:pt>
    <dgm:pt modelId="{57C1AF08-4362-4930-BCC0-84B58DDE224A}">
      <dgm:prSet phldrT="[文本]"/>
      <dgm:spPr>
        <a:xfrm>
          <a:off x="359806" y="1601175"/>
          <a:ext cx="1118128" cy="559064"/>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等线"/>
              <a:ea typeface="等线" panose="02010600030101010101" pitchFamily="2" charset="-122"/>
              <a:cs typeface="+mn-cs"/>
            </a:rPr>
            <a:t>百度</a:t>
          </a:r>
        </a:p>
      </dgm:t>
    </dgm:pt>
    <dgm:pt modelId="{213EF44F-62C1-4928-8335-473AF18E17DC}" type="parTrans" cxnId="{BC43C7C8-9B69-448E-9DDA-38E76F2AE2B7}">
      <dgm:prSet/>
      <dgm:spPr/>
      <dgm:t>
        <a:bodyPr/>
        <a:lstStyle/>
        <a:p>
          <a:endParaRPr lang="zh-CN" altLang="en-US"/>
        </a:p>
      </dgm:t>
    </dgm:pt>
    <dgm:pt modelId="{2424DE64-1439-4EC2-AB9C-A3EC2E308D24}" type="sibTrans" cxnId="{BC43C7C8-9B69-448E-9DDA-38E76F2AE2B7}">
      <dgm:prSet/>
      <dgm:spPr>
        <a:xfrm rot="18419108">
          <a:off x="1015155" y="982652"/>
          <a:ext cx="1012796" cy="195672"/>
        </a:xfrm>
        <a:prstGeom prst="leftRightArrow">
          <a:avLst>
            <a:gd name="adj1" fmla="val 60000"/>
            <a:gd name="adj2" fmla="val 50000"/>
          </a:avLst>
        </a:prstGeom>
        <a:solidFill>
          <a:srgbClr val="FFC000">
            <a:hueOff val="0"/>
            <a:satOff val="0"/>
            <a:lumOff val="0"/>
            <a:alphaOff val="0"/>
          </a:srgbClr>
        </a:solidFill>
        <a:ln>
          <a:noFill/>
        </a:ln>
        <a:effectLst/>
      </dgm:spPr>
      <dgm:t>
        <a:bodyPr/>
        <a:lstStyle/>
        <a:p>
          <a:pPr>
            <a:buNone/>
          </a:pPr>
          <a:endParaRPr lang="zh-CN" altLang="en-US">
            <a:solidFill>
              <a:sysClr val="window" lastClr="FFFFFF"/>
            </a:solidFill>
            <a:latin typeface="等线"/>
            <a:ea typeface="等线" panose="02010600030101010101" pitchFamily="2" charset="-122"/>
            <a:cs typeface="+mn-cs"/>
          </a:endParaRPr>
        </a:p>
      </dgm:t>
    </dgm:pt>
    <dgm:pt modelId="{250115E6-FA17-43E4-BC9F-73C7130A1DBA}" type="pres">
      <dgm:prSet presAssocID="{03CFC41F-D94C-4D2A-989A-2D97E4C93557}" presName="Name0" presStyleCnt="0">
        <dgm:presLayoutVars>
          <dgm:dir/>
          <dgm:resizeHandles val="exact"/>
        </dgm:presLayoutVars>
      </dgm:prSet>
      <dgm:spPr/>
    </dgm:pt>
    <dgm:pt modelId="{8D051C71-2E87-4E10-BFAD-48D14F8B5C71}" type="pres">
      <dgm:prSet presAssocID="{491798FE-E380-40B2-AB89-279E6843B487}" presName="node" presStyleLbl="node1" presStyleIdx="0" presStyleCnt="3">
        <dgm:presLayoutVars>
          <dgm:bulletEnabled val="1"/>
        </dgm:presLayoutVars>
      </dgm:prSet>
      <dgm:spPr/>
    </dgm:pt>
    <dgm:pt modelId="{E35B8973-ECBE-440A-A903-9388DFE79E4C}" type="pres">
      <dgm:prSet presAssocID="{86256C80-CE88-417F-9DEB-5AE3CDD62CBA}" presName="sibTrans" presStyleLbl="sibTrans2D1" presStyleIdx="0" presStyleCnt="3"/>
      <dgm:spPr/>
    </dgm:pt>
    <dgm:pt modelId="{3A09CE41-0E76-4B09-ABFB-6A1B200EE14C}" type="pres">
      <dgm:prSet presAssocID="{86256C80-CE88-417F-9DEB-5AE3CDD62CBA}" presName="connectorText" presStyleLbl="sibTrans2D1" presStyleIdx="0" presStyleCnt="3"/>
      <dgm:spPr/>
    </dgm:pt>
    <dgm:pt modelId="{6B92D6B2-2593-48E9-9288-45C4C2A55968}" type="pres">
      <dgm:prSet presAssocID="{BCE1FFAA-90D0-4B62-B40B-BF6917531D7A}" presName="node" presStyleLbl="node1" presStyleIdx="1" presStyleCnt="3" custRadScaleRad="126956" custRadScaleInc="-883">
        <dgm:presLayoutVars>
          <dgm:bulletEnabled val="1"/>
        </dgm:presLayoutVars>
      </dgm:prSet>
      <dgm:spPr/>
    </dgm:pt>
    <dgm:pt modelId="{67D6846B-933E-4FDD-BBFF-662C3964D907}" type="pres">
      <dgm:prSet presAssocID="{F5C6D198-3602-4757-AD22-5123C361BB9E}" presName="sibTrans" presStyleLbl="sibTrans2D1" presStyleIdx="1" presStyleCnt="3"/>
      <dgm:spPr/>
    </dgm:pt>
    <dgm:pt modelId="{783598DF-13CC-4B85-8A6B-11EE482E3C56}" type="pres">
      <dgm:prSet presAssocID="{F5C6D198-3602-4757-AD22-5123C361BB9E}" presName="connectorText" presStyleLbl="sibTrans2D1" presStyleIdx="1" presStyleCnt="3"/>
      <dgm:spPr/>
    </dgm:pt>
    <dgm:pt modelId="{21D0F7F7-7207-4AEA-9D3A-BE2A69757B25}" type="pres">
      <dgm:prSet presAssocID="{57C1AF08-4362-4930-BCC0-84B58DDE224A}" presName="node" presStyleLbl="node1" presStyleIdx="2" presStyleCnt="3" custRadScaleRad="129837" custRadScaleInc="863">
        <dgm:presLayoutVars>
          <dgm:bulletEnabled val="1"/>
        </dgm:presLayoutVars>
      </dgm:prSet>
      <dgm:spPr/>
    </dgm:pt>
    <dgm:pt modelId="{3312CCA1-B17F-44F8-BA97-09A750C8A542}" type="pres">
      <dgm:prSet presAssocID="{2424DE64-1439-4EC2-AB9C-A3EC2E308D24}" presName="sibTrans" presStyleLbl="sibTrans2D1" presStyleIdx="2" presStyleCnt="3"/>
      <dgm:spPr/>
    </dgm:pt>
    <dgm:pt modelId="{D381E308-0C4B-474D-940B-05C6655FDB76}" type="pres">
      <dgm:prSet presAssocID="{2424DE64-1439-4EC2-AB9C-A3EC2E308D24}" presName="connectorText" presStyleLbl="sibTrans2D1" presStyleIdx="2" presStyleCnt="3"/>
      <dgm:spPr/>
    </dgm:pt>
  </dgm:ptLst>
  <dgm:cxnLst>
    <dgm:cxn modelId="{4BDE9309-04AA-4414-9B1C-E25AE86CEF41}" type="presOf" srcId="{03CFC41F-D94C-4D2A-989A-2D97E4C93557}" destId="{250115E6-FA17-43E4-BC9F-73C7130A1DBA}" srcOrd="0" destOrd="0" presId="urn:microsoft.com/office/officeart/2005/8/layout/cycle7#1"/>
    <dgm:cxn modelId="{DD742E28-CB95-42AE-B1CD-241E18E6F478}" type="presOf" srcId="{57C1AF08-4362-4930-BCC0-84B58DDE224A}" destId="{21D0F7F7-7207-4AEA-9D3A-BE2A69757B25}" srcOrd="0" destOrd="0" presId="urn:microsoft.com/office/officeart/2005/8/layout/cycle7#1"/>
    <dgm:cxn modelId="{9DC99648-7F56-482E-865D-6243174B1760}" type="presOf" srcId="{86256C80-CE88-417F-9DEB-5AE3CDD62CBA}" destId="{E35B8973-ECBE-440A-A903-9388DFE79E4C}" srcOrd="0" destOrd="0" presId="urn:microsoft.com/office/officeart/2005/8/layout/cycle7#1"/>
    <dgm:cxn modelId="{577CE162-C5D3-4901-9353-21C4DA520ECE}" type="presOf" srcId="{2424DE64-1439-4EC2-AB9C-A3EC2E308D24}" destId="{3312CCA1-B17F-44F8-BA97-09A750C8A542}" srcOrd="0" destOrd="0" presId="urn:microsoft.com/office/officeart/2005/8/layout/cycle7#1"/>
    <dgm:cxn modelId="{8929A16C-6E71-4DA2-9B0D-6DC372B993F2}" type="presOf" srcId="{F5C6D198-3602-4757-AD22-5123C361BB9E}" destId="{67D6846B-933E-4FDD-BBFF-662C3964D907}" srcOrd="0" destOrd="0" presId="urn:microsoft.com/office/officeart/2005/8/layout/cycle7#1"/>
    <dgm:cxn modelId="{A7B66C81-61C9-4A48-ADEE-61CA3231FF11}" type="presOf" srcId="{86256C80-CE88-417F-9DEB-5AE3CDD62CBA}" destId="{3A09CE41-0E76-4B09-ABFB-6A1B200EE14C}" srcOrd="1" destOrd="0" presId="urn:microsoft.com/office/officeart/2005/8/layout/cycle7#1"/>
    <dgm:cxn modelId="{A064498E-BA66-4802-A991-B9672EB747DA}" type="presOf" srcId="{2424DE64-1439-4EC2-AB9C-A3EC2E308D24}" destId="{D381E308-0C4B-474D-940B-05C6655FDB76}" srcOrd="1" destOrd="0" presId="urn:microsoft.com/office/officeart/2005/8/layout/cycle7#1"/>
    <dgm:cxn modelId="{77CED896-5DA4-4FF4-9892-41E4D40166F2}" type="presOf" srcId="{491798FE-E380-40B2-AB89-279E6843B487}" destId="{8D051C71-2E87-4E10-BFAD-48D14F8B5C71}" srcOrd="0" destOrd="0" presId="urn:microsoft.com/office/officeart/2005/8/layout/cycle7#1"/>
    <dgm:cxn modelId="{E3D45DB2-E483-46E4-86B1-63C7A380D0C3}" srcId="{03CFC41F-D94C-4D2A-989A-2D97E4C93557}" destId="{491798FE-E380-40B2-AB89-279E6843B487}" srcOrd="0" destOrd="0" parTransId="{828C9797-592C-4C65-BB17-AD449EEE4116}" sibTransId="{86256C80-CE88-417F-9DEB-5AE3CDD62CBA}"/>
    <dgm:cxn modelId="{F2D174C4-B0AF-43C0-9112-20CFFA19BCBF}" type="presOf" srcId="{BCE1FFAA-90D0-4B62-B40B-BF6917531D7A}" destId="{6B92D6B2-2593-48E9-9288-45C4C2A55968}" srcOrd="0" destOrd="0" presId="urn:microsoft.com/office/officeart/2005/8/layout/cycle7#1"/>
    <dgm:cxn modelId="{BC43C7C8-9B69-448E-9DDA-38E76F2AE2B7}" srcId="{03CFC41F-D94C-4D2A-989A-2D97E4C93557}" destId="{57C1AF08-4362-4930-BCC0-84B58DDE224A}" srcOrd="2" destOrd="0" parTransId="{213EF44F-62C1-4928-8335-473AF18E17DC}" sibTransId="{2424DE64-1439-4EC2-AB9C-A3EC2E308D24}"/>
    <dgm:cxn modelId="{7012ACCC-5023-45A1-B099-867C2B8364AD}" type="presOf" srcId="{F5C6D198-3602-4757-AD22-5123C361BB9E}" destId="{783598DF-13CC-4B85-8A6B-11EE482E3C56}" srcOrd="1" destOrd="0" presId="urn:microsoft.com/office/officeart/2005/8/layout/cycle7#1"/>
    <dgm:cxn modelId="{81A48DCE-6A6A-4C1C-8EB0-9AC530DCEA7F}" srcId="{03CFC41F-D94C-4D2A-989A-2D97E4C93557}" destId="{BCE1FFAA-90D0-4B62-B40B-BF6917531D7A}" srcOrd="1" destOrd="0" parTransId="{DE270CBB-573F-4D29-A606-524263751D3B}" sibTransId="{F5C6D198-3602-4757-AD22-5123C361BB9E}"/>
    <dgm:cxn modelId="{179C7743-A6BA-4C5F-80B2-1628174A5B11}" type="presParOf" srcId="{250115E6-FA17-43E4-BC9F-73C7130A1DBA}" destId="{8D051C71-2E87-4E10-BFAD-48D14F8B5C71}" srcOrd="0" destOrd="0" presId="urn:microsoft.com/office/officeart/2005/8/layout/cycle7#1"/>
    <dgm:cxn modelId="{1A0E21C6-F6D6-4E0F-BF06-5AC7E022BE35}" type="presParOf" srcId="{250115E6-FA17-43E4-BC9F-73C7130A1DBA}" destId="{E35B8973-ECBE-440A-A903-9388DFE79E4C}" srcOrd="1" destOrd="0" presId="urn:microsoft.com/office/officeart/2005/8/layout/cycle7#1"/>
    <dgm:cxn modelId="{CD2B7B04-D5F6-4F92-8A35-00EF316B8D0E}" type="presParOf" srcId="{E35B8973-ECBE-440A-A903-9388DFE79E4C}" destId="{3A09CE41-0E76-4B09-ABFB-6A1B200EE14C}" srcOrd="0" destOrd="0" presId="urn:microsoft.com/office/officeart/2005/8/layout/cycle7#1"/>
    <dgm:cxn modelId="{D92BA074-44A4-41D9-B7E3-601087B02B20}" type="presParOf" srcId="{250115E6-FA17-43E4-BC9F-73C7130A1DBA}" destId="{6B92D6B2-2593-48E9-9288-45C4C2A55968}" srcOrd="2" destOrd="0" presId="urn:microsoft.com/office/officeart/2005/8/layout/cycle7#1"/>
    <dgm:cxn modelId="{8099C448-4687-4484-9DFF-A46D08581F6F}" type="presParOf" srcId="{250115E6-FA17-43E4-BC9F-73C7130A1DBA}" destId="{67D6846B-933E-4FDD-BBFF-662C3964D907}" srcOrd="3" destOrd="0" presId="urn:microsoft.com/office/officeart/2005/8/layout/cycle7#1"/>
    <dgm:cxn modelId="{1BCF2791-6CA1-436A-8E6D-57B25DAD6FE1}" type="presParOf" srcId="{67D6846B-933E-4FDD-BBFF-662C3964D907}" destId="{783598DF-13CC-4B85-8A6B-11EE482E3C56}" srcOrd="0" destOrd="0" presId="urn:microsoft.com/office/officeart/2005/8/layout/cycle7#1"/>
    <dgm:cxn modelId="{B1641A59-10E6-439C-A131-80D657178AA9}" type="presParOf" srcId="{250115E6-FA17-43E4-BC9F-73C7130A1DBA}" destId="{21D0F7F7-7207-4AEA-9D3A-BE2A69757B25}" srcOrd="4" destOrd="0" presId="urn:microsoft.com/office/officeart/2005/8/layout/cycle7#1"/>
    <dgm:cxn modelId="{2D7E6CC2-0A9F-453F-87B9-0C113AC95C06}" type="presParOf" srcId="{250115E6-FA17-43E4-BC9F-73C7130A1DBA}" destId="{3312CCA1-B17F-44F8-BA97-09A750C8A542}" srcOrd="5" destOrd="0" presId="urn:microsoft.com/office/officeart/2005/8/layout/cycle7#1"/>
    <dgm:cxn modelId="{7EED7F59-9B30-4432-809B-7B311778914F}" type="presParOf" srcId="{3312CCA1-B17F-44F8-BA97-09A750C8A542}" destId="{D381E308-0C4B-474D-940B-05C6655FDB76}" srcOrd="0" destOrd="0" presId="urn:microsoft.com/office/officeart/2005/8/layout/cycle7#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1C71-2E87-4E10-BFAD-48D14F8B5C71}">
      <dsp:nvSpPr>
        <dsp:cNvPr id="0" name=""/>
        <dsp:cNvSpPr/>
      </dsp:nvSpPr>
      <dsp:spPr>
        <a:xfrm>
          <a:off x="1301637" y="664"/>
          <a:ext cx="1180618" cy="590309"/>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广告主</a:t>
          </a:r>
        </a:p>
      </dsp:txBody>
      <dsp:txXfrm>
        <a:off x="1318927" y="17954"/>
        <a:ext cx="1146038" cy="555729"/>
      </dsp:txXfrm>
    </dsp:sp>
    <dsp:sp modelId="{E35B8973-ECBE-440A-A903-9388DFE79E4C}">
      <dsp:nvSpPr>
        <dsp:cNvPr id="0" name=""/>
        <dsp:cNvSpPr/>
      </dsp:nvSpPr>
      <dsp:spPr>
        <a:xfrm rot="3217540">
          <a:off x="1979700" y="1037104"/>
          <a:ext cx="1068694" cy="206608"/>
        </a:xfrm>
        <a:prstGeom prst="leftRightArrow">
          <a:avLst>
            <a:gd name="adj1" fmla="val 60000"/>
            <a:gd name="adj2" fmla="val 50000"/>
          </a:avLst>
        </a:prstGeom>
        <a:solidFill>
          <a:srgbClr val="ED7D31">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dirty="0">
            <a:solidFill>
              <a:sysClr val="window" lastClr="FFFFFF"/>
            </a:solidFill>
            <a:latin typeface="等线"/>
            <a:ea typeface="等线" panose="02010600030101010101" pitchFamily="2" charset="-122"/>
            <a:cs typeface="+mn-cs"/>
          </a:endParaRPr>
        </a:p>
      </dsp:txBody>
      <dsp:txXfrm>
        <a:off x="2041682" y="1078426"/>
        <a:ext cx="944730" cy="123964"/>
      </dsp:txXfrm>
    </dsp:sp>
    <dsp:sp modelId="{6B92D6B2-2593-48E9-9288-45C4C2A55968}">
      <dsp:nvSpPr>
        <dsp:cNvPr id="0" name=""/>
        <dsp:cNvSpPr/>
      </dsp:nvSpPr>
      <dsp:spPr>
        <a:xfrm>
          <a:off x="2545838" y="1689842"/>
          <a:ext cx="1180618" cy="590309"/>
        </a:xfrm>
        <a:prstGeom prst="roundRect">
          <a:avLst>
            <a:gd name="adj" fmla="val 10000"/>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网民</a:t>
          </a:r>
        </a:p>
      </dsp:txBody>
      <dsp:txXfrm>
        <a:off x="2563128" y="1707132"/>
        <a:ext cx="1146038" cy="555729"/>
      </dsp:txXfrm>
    </dsp:sp>
    <dsp:sp modelId="{67D6846B-933E-4FDD-BBFF-662C3964D907}">
      <dsp:nvSpPr>
        <dsp:cNvPr id="0" name=""/>
        <dsp:cNvSpPr/>
      </dsp:nvSpPr>
      <dsp:spPr>
        <a:xfrm rot="10800000">
          <a:off x="1343557" y="1881693"/>
          <a:ext cx="1068694" cy="206608"/>
        </a:xfrm>
        <a:prstGeom prst="leftRightArrow">
          <a:avLst>
            <a:gd name="adj1" fmla="val 60000"/>
            <a:gd name="adj2" fmla="val 50000"/>
          </a:avLst>
        </a:prstGeom>
        <a:solidFill>
          <a:srgbClr val="A5A5A5">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solidFill>
              <a:sysClr val="window" lastClr="FFFFFF"/>
            </a:solidFill>
            <a:latin typeface="等线"/>
            <a:ea typeface="等线" panose="02010600030101010101" pitchFamily="2" charset="-122"/>
            <a:cs typeface="+mn-cs"/>
          </a:endParaRPr>
        </a:p>
      </dsp:txBody>
      <dsp:txXfrm rot="10800000">
        <a:off x="1405539" y="1923015"/>
        <a:ext cx="944730" cy="123964"/>
      </dsp:txXfrm>
    </dsp:sp>
    <dsp:sp modelId="{21D0F7F7-7207-4AEA-9D3A-BE2A69757B25}">
      <dsp:nvSpPr>
        <dsp:cNvPr id="0" name=""/>
        <dsp:cNvSpPr/>
      </dsp:nvSpPr>
      <dsp:spPr>
        <a:xfrm>
          <a:off x="29351" y="1689842"/>
          <a:ext cx="1180618" cy="590309"/>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百度</a:t>
          </a:r>
        </a:p>
      </dsp:txBody>
      <dsp:txXfrm>
        <a:off x="46641" y="1707132"/>
        <a:ext cx="1146038" cy="555729"/>
      </dsp:txXfrm>
    </dsp:sp>
    <dsp:sp modelId="{3312CCA1-B17F-44F8-BA97-09A750C8A542}">
      <dsp:nvSpPr>
        <dsp:cNvPr id="0" name=""/>
        <dsp:cNvSpPr/>
      </dsp:nvSpPr>
      <dsp:spPr>
        <a:xfrm rot="18419220">
          <a:off x="721456" y="1037104"/>
          <a:ext cx="1068694" cy="206608"/>
        </a:xfrm>
        <a:prstGeom prst="leftRigh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solidFill>
              <a:sysClr val="window" lastClr="FFFFFF"/>
            </a:solidFill>
            <a:latin typeface="等线"/>
            <a:ea typeface="等线" panose="02010600030101010101" pitchFamily="2" charset="-122"/>
            <a:cs typeface="+mn-cs"/>
          </a:endParaRPr>
        </a:p>
      </dsp:txBody>
      <dsp:txXfrm>
        <a:off x="783438" y="1078426"/>
        <a:ext cx="944730" cy="123964"/>
      </dsp:txXfrm>
    </dsp:sp>
  </dsp:spTree>
</dsp:drawing>
</file>

<file path=ppt/diagrams/layout1.xml><?xml version="1.0" encoding="utf-8"?>
<dgm:layoutDef xmlns:dgm="http://schemas.openxmlformats.org/drawingml/2006/diagram" xmlns:a="http://schemas.openxmlformats.org/drawingml/2006/main" uniqueId="urn:microsoft.com/office/officeart/2005/8/layout/cycle7#1">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Sty" val="arr"/>
                    <dgm:param type="endSty" val="arr"/>
                    <dgm:param type="begPts" val="radial"/>
                    <dgm:param type="endPts" val="radial"/>
                  </dgm:alg>
                </dgm:if>
                <dgm:else name="Name8">
                  <dgm:alg type="conn">
                    <dgm:param type="begSty" val="arr"/>
                    <dgm:param type="endSty" val="arr"/>
                    <dgm:param type="begPts" val="auto"/>
                    <dgm:param type="endPts" val="auto"/>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C5A5E5-8105-7145-B4A3-136A17E536EC}" type="datetimeFigureOut">
              <a:rPr kumimoji="1" lang="zh-CN" altLang="en-US" smtClean="0"/>
              <a:t>2022/8/13</a:t>
            </a:fld>
            <a:endParaRPr kumimoji="1"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24CCF0-5633-634F-B6D6-5507779C9B9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首先是从业务背景开始讲起，主要介绍反作弊的由来和要解决的问题；</a:t>
            </a:r>
            <a:endParaRPr lang="en-US" altLang="zh-CN" dirty="0"/>
          </a:p>
          <a:p>
            <a:r>
              <a:rPr lang="zh-CN" altLang="en-US" dirty="0"/>
              <a:t>其次是对反作弊的系统结构进行简单的介绍，并引入一些基本的概念；</a:t>
            </a:r>
            <a:endParaRPr lang="en-US" altLang="zh-CN" dirty="0"/>
          </a:p>
          <a:p>
            <a:r>
              <a:rPr lang="zh-CN" altLang="en-US" dirty="0"/>
              <a:t>第三部分介绍具体的策略管理平台。</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矛盾：</a:t>
            </a: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用户不想看到太多的广告 </a:t>
            </a:r>
            <a:r>
              <a:rPr lang="en-US" altLang="zh-CN" sz="1200" kern="1200" dirty="0">
                <a:solidFill>
                  <a:schemeClr val="tx1"/>
                </a:solidFill>
                <a:effectLst/>
                <a:latin typeface="Arial" panose="020B0604020202020204" pitchFamily="34" charset="0"/>
                <a:ea typeface="+mn-ea"/>
                <a:cs typeface="+mn-cs"/>
              </a:rPr>
              <a:t>-&gt;</a:t>
            </a:r>
            <a:r>
              <a:rPr lang="zh-CN" altLang="en-US" sz="1200" kern="1200" dirty="0">
                <a:solidFill>
                  <a:schemeClr val="tx1"/>
                </a:solidFill>
                <a:effectLst/>
                <a:latin typeface="Arial" panose="020B0604020202020204" pitchFamily="34" charset="0"/>
                <a:ea typeface="+mn-ea"/>
                <a:cs typeface="+mn-cs"/>
              </a:rPr>
              <a:t> 需要良好的用户体验；</a:t>
            </a: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百度想要更多的利润 </a:t>
            </a:r>
            <a:r>
              <a:rPr lang="en-US" altLang="zh-CN" sz="1200" kern="1200" dirty="0">
                <a:solidFill>
                  <a:schemeClr val="tx1"/>
                </a:solidFill>
                <a:effectLst/>
                <a:latin typeface="Arial" panose="020B0604020202020204" pitchFamily="34" charset="0"/>
                <a:ea typeface="+mn-ea"/>
                <a:cs typeface="+mn-cs"/>
              </a:rPr>
              <a:t>-&gt;</a:t>
            </a:r>
            <a:r>
              <a:rPr lang="zh-CN" altLang="en-US" sz="1200" kern="1200" dirty="0">
                <a:solidFill>
                  <a:schemeClr val="tx1"/>
                </a:solidFill>
                <a:effectLst/>
                <a:latin typeface="Arial" panose="020B0604020202020204" pitchFamily="34" charset="0"/>
                <a:ea typeface="+mn-ea"/>
                <a:cs typeface="+mn-cs"/>
              </a:rPr>
              <a:t> 广告多 </a:t>
            </a:r>
            <a:r>
              <a:rPr lang="en-US" altLang="zh-CN" sz="1200" kern="1200" dirty="0">
                <a:solidFill>
                  <a:schemeClr val="tx1"/>
                </a:solidFill>
                <a:effectLst/>
                <a:latin typeface="Arial" panose="020B0604020202020204" pitchFamily="34" charset="0"/>
                <a:ea typeface="+mn-ea"/>
                <a:cs typeface="+mn-cs"/>
              </a:rPr>
              <a:t>-&gt;</a:t>
            </a:r>
            <a:r>
              <a:rPr lang="zh-CN" altLang="en-US" sz="1200" kern="1200" dirty="0">
                <a:solidFill>
                  <a:schemeClr val="tx1"/>
                </a:solidFill>
                <a:effectLst/>
                <a:latin typeface="Arial" panose="020B0604020202020204" pitchFamily="34" charset="0"/>
                <a:ea typeface="+mn-ea"/>
                <a:cs typeface="+mn-cs"/>
              </a:rPr>
              <a:t> 用户体验不好</a:t>
            </a: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平衡：</a:t>
            </a: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广告不能太多，而且要精准</a:t>
            </a:r>
            <a:endParaRPr lang="en-US" altLang="zh-CN" sz="1200" kern="1200" dirty="0">
              <a:solidFill>
                <a:schemeClr val="tx1"/>
              </a:solidFill>
              <a:effectLst/>
              <a:latin typeface="Arial" panose="020B0604020202020204" pitchFamily="34" charset="0"/>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F124CCF0-5633-634F-B6D6-5507779C9B99}" type="slidenum">
              <a:rPr kumimoji="1" lang="zh-CN" altLang="en-US" smtClean="0"/>
              <a:t>4</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zh-CN" alt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zh-CN" altLang="en-US" sz="1200"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55046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zh-CN" altLang="en-US" sz="1200" dirty="0"/>
              <a:t>计费方式：转化是最精准的，像抖音这种展现、点击、付费过程都在同一平台内部流转的，很容易做到转化计费。</a:t>
            </a: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r>
              <a:rPr kumimoji="1" lang="zh-CN" altLang="en-US" sz="1200" dirty="0"/>
              <a:t>但是百度搜索是展现搜索结果，只能收集当前结果页面的用户行为，很难拿到 转化的完成结果，所以目前还是点击计费为主。</a:t>
            </a: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zh-CN" sz="1200" dirty="0"/>
              <a:t>Ocpc</a:t>
            </a:r>
            <a:r>
              <a:rPr kumimoji="1" lang="zh-CN" altLang="en-US" sz="1200" dirty="0"/>
              <a:t>相比于</a:t>
            </a:r>
            <a:r>
              <a:rPr kumimoji="1" lang="en-US" altLang="zh-CN" sz="1200" dirty="0"/>
              <a:t>cpc</a:t>
            </a:r>
            <a:r>
              <a:rPr kumimoji="1" lang="zh-CN" altLang="en-US" sz="1200" dirty="0"/>
              <a:t>：</a:t>
            </a: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 altLang="zh-CN" sz="1200" b="1" i="0" kern="1200" dirty="0">
                <a:solidFill>
                  <a:schemeClr val="tx1"/>
                </a:solidFill>
                <a:effectLst/>
                <a:latin typeface="+mn-lt"/>
                <a:ea typeface="+mn-ea"/>
                <a:cs typeface="+mn-cs"/>
              </a:rPr>
              <a:t>o</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是 </a:t>
            </a:r>
            <a:r>
              <a:rPr lang="en" altLang="zh-CN" sz="1200" b="0" i="0" kern="1200" dirty="0">
                <a:solidFill>
                  <a:schemeClr val="tx1"/>
                </a:solidFill>
                <a:effectLst/>
                <a:latin typeface="+mn-lt"/>
                <a:ea typeface="+mn-ea"/>
                <a:cs typeface="+mn-cs"/>
              </a:rPr>
              <a:t>Optimized</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优化。</a:t>
            </a:r>
            <a:r>
              <a:rPr lang="en-US" altLang="zh-CN" sz="1200" b="0" i="0" kern="1200" dirty="0">
                <a:solidFill>
                  <a:schemeClr val="tx1"/>
                </a:solidFill>
                <a:effectLst/>
                <a:latin typeface="+mn-lt"/>
                <a:ea typeface="+mn-ea"/>
                <a:cs typeface="+mn-cs"/>
              </a:rPr>
              <a:t>Ocpc</a:t>
            </a:r>
            <a:r>
              <a:rPr lang="zh-CN" altLang="en-US" sz="1200" b="0" i="0" kern="1200" dirty="0">
                <a:solidFill>
                  <a:schemeClr val="tx1"/>
                </a:solidFill>
                <a:effectLst/>
                <a:latin typeface="+mn-lt"/>
                <a:ea typeface="+mn-ea"/>
                <a:cs typeface="+mn-cs"/>
              </a:rPr>
              <a:t>，可优化 </a:t>
            </a:r>
            <a:r>
              <a:rPr lang="en" altLang="zh-CN" sz="1200" b="0" i="0" kern="1200" dirty="0">
                <a:solidFill>
                  <a:schemeClr val="tx1"/>
                </a:solidFill>
                <a:effectLst/>
                <a:latin typeface="+mn-lt"/>
                <a:ea typeface="+mn-ea"/>
                <a:cs typeface="+mn-cs"/>
              </a:rPr>
              <a:t>Action </a:t>
            </a:r>
            <a:r>
              <a:rPr lang="zh-CN" altLang="en-US" sz="1200" b="0" i="0" kern="1200" dirty="0">
                <a:solidFill>
                  <a:schemeClr val="tx1"/>
                </a:solidFill>
                <a:effectLst/>
                <a:latin typeface="+mn-lt"/>
                <a:ea typeface="+mn-ea"/>
                <a:cs typeface="+mn-cs"/>
              </a:rPr>
              <a:t>转化效果的</a:t>
            </a:r>
            <a:r>
              <a:rPr lang="en-US" altLang="zh-CN" sz="1200" b="0" i="0" kern="1200" dirty="0">
                <a:solidFill>
                  <a:schemeClr val="tx1"/>
                </a:solidFill>
                <a:effectLst/>
                <a:latin typeface="+mn-lt"/>
                <a:ea typeface="+mn-ea"/>
                <a:cs typeface="+mn-cs"/>
              </a:rPr>
              <a:t>cpc</a:t>
            </a:r>
            <a:r>
              <a:rPr lang="zh-CN" altLang="en-US" sz="1200" b="0" i="0" kern="1200" dirty="0">
                <a:solidFill>
                  <a:schemeClr val="tx1"/>
                </a:solidFill>
                <a:effectLst/>
                <a:latin typeface="+mn-lt"/>
                <a:ea typeface="+mn-ea"/>
                <a:cs typeface="+mn-cs"/>
              </a:rPr>
              <a:t>。在传统</a:t>
            </a:r>
            <a:r>
              <a:rPr lang="en-US" altLang="zh-CN" sz="1200" b="0" i="0" kern="1200" dirty="0">
                <a:solidFill>
                  <a:schemeClr val="tx1"/>
                </a:solidFill>
                <a:effectLst/>
                <a:latin typeface="+mn-lt"/>
                <a:ea typeface="+mn-ea"/>
                <a:cs typeface="+mn-cs"/>
              </a:rPr>
              <a:t>cpc</a:t>
            </a:r>
            <a:r>
              <a:rPr lang="zh-CN" altLang="en-US" sz="1200" b="0" i="0" kern="1200" dirty="0">
                <a:solidFill>
                  <a:schemeClr val="tx1"/>
                </a:solidFill>
                <a:effectLst/>
                <a:latin typeface="+mn-lt"/>
                <a:ea typeface="+mn-ea"/>
                <a:cs typeface="+mn-cs"/>
              </a:rPr>
              <a:t>结算的基础之上，加入了广告平台方的数据及算法能力，可进一步对转化效果目标进行优化。</a:t>
            </a:r>
            <a:r>
              <a:rPr lang="zh-CN" altLang="en-US" sz="1200" b="1" i="0" kern="1200" dirty="0">
                <a:solidFill>
                  <a:schemeClr val="tx1"/>
                </a:solidFill>
                <a:effectLst/>
                <a:latin typeface="+mn-lt"/>
                <a:ea typeface="+mn-ea"/>
                <a:cs typeface="+mn-cs"/>
              </a:rPr>
              <a:t>适用于那些更追求点击以及转化质量的投放。</a:t>
            </a:r>
            <a:endParaRPr lang="en-US" altLang="zh-CN"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结算依旧按 </a:t>
            </a:r>
            <a:r>
              <a:rPr lang="en" altLang="zh-CN" sz="1200" b="0" i="0" kern="1200" dirty="0">
                <a:solidFill>
                  <a:schemeClr val="tx1"/>
                </a:solidFill>
                <a:effectLst/>
                <a:latin typeface="+mn-lt"/>
                <a:ea typeface="+mn-ea"/>
                <a:cs typeface="+mn-cs"/>
              </a:rPr>
              <a:t>CPC </a:t>
            </a:r>
            <a:r>
              <a:rPr lang="zh-CN" altLang="en-US" sz="1200" b="0" i="0" kern="1200" dirty="0">
                <a:solidFill>
                  <a:schemeClr val="tx1"/>
                </a:solidFill>
                <a:effectLst/>
                <a:latin typeface="+mn-lt"/>
                <a:ea typeface="+mn-ea"/>
                <a:cs typeface="+mn-cs"/>
              </a:rPr>
              <a:t>点击扣费。广告主投放在第一阶段时，系统按预估点击率优化，系统积累了一些历史转化数据后（学习已回传的转化数据），广告主可设定二阶段的转化成本目标，然后由系统算法自动优化。优化以转化成本目标为目标，算法按预估的点击率和点击转化率（简称点转率）自动决定出价，但由于是预估的，可能出现没有产生转化的情况，但结算按 </a:t>
            </a:r>
            <a:r>
              <a:rPr lang="en" altLang="zh-CN" sz="1200" b="0" i="0" kern="1200" dirty="0">
                <a:solidFill>
                  <a:schemeClr val="tx1"/>
                </a:solidFill>
                <a:effectLst/>
                <a:latin typeface="+mn-lt"/>
                <a:ea typeface="+mn-ea"/>
                <a:cs typeface="+mn-cs"/>
              </a:rPr>
              <a:t>CPC </a:t>
            </a:r>
            <a:r>
              <a:rPr lang="zh-CN" altLang="en-US" sz="1200" b="0" i="0" kern="1200" dirty="0">
                <a:solidFill>
                  <a:schemeClr val="tx1"/>
                </a:solidFill>
                <a:effectLst/>
                <a:latin typeface="+mn-lt"/>
                <a:ea typeface="+mn-ea"/>
                <a:cs typeface="+mn-cs"/>
              </a:rPr>
              <a:t>结算，此情景下也会扣费。当然报表中能看到转化成本表现情况，若广告主无法接受，可进行停投处理。</a:t>
            </a:r>
            <a:r>
              <a:rPr lang="en" altLang="zh-CN" sz="1200" b="0" i="0" kern="1200" dirty="0" err="1">
                <a:solidFill>
                  <a:schemeClr val="tx1"/>
                </a:solidFill>
                <a:effectLst/>
                <a:latin typeface="+mn-lt"/>
                <a:ea typeface="+mn-ea"/>
                <a:cs typeface="+mn-cs"/>
              </a:rPr>
              <a:t>oCPC</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即优化点击也同时优化转化。</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zh-CN" altLang="en-US" sz="1200"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7505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sz="1200" kern="1200" dirty="0">
                <a:solidFill>
                  <a:schemeClr val="tx1"/>
                </a:solidFill>
                <a:effectLst/>
                <a:latin typeface="Arial" panose="020B0604020202020204" pitchFamily="34" charset="0"/>
                <a:ea typeface="宋体" pitchFamily="2" charset="-122"/>
                <a:cs typeface="+mn-cs"/>
              </a:rPr>
              <a:t>检索作弊</a:t>
            </a:r>
          </a:p>
          <a:p>
            <a:pPr lvl="0"/>
            <a:r>
              <a:rPr lang="en-US" altLang="zh-CN" sz="1200" kern="1200" dirty="0">
                <a:solidFill>
                  <a:schemeClr val="tx1"/>
                </a:solidFill>
                <a:effectLst/>
                <a:latin typeface="Arial" panose="020B0604020202020204" pitchFamily="34" charset="0"/>
                <a:ea typeface="宋体" pitchFamily="2" charset="-122"/>
                <a:cs typeface="+mn-cs"/>
              </a:rPr>
              <a:t>1.</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学术研究，比如使用脚本或软件获取搜索引擎信息，作为其研究数据。</a:t>
            </a:r>
          </a:p>
          <a:p>
            <a:pPr lvl="0"/>
            <a:r>
              <a:rPr lang="en-US" altLang="zh-CN" sz="1200" kern="1200" dirty="0">
                <a:solidFill>
                  <a:schemeClr val="tx1"/>
                </a:solidFill>
                <a:effectLst/>
                <a:latin typeface="Arial" panose="020B0604020202020204" pitchFamily="34" charset="0"/>
                <a:ea typeface="宋体" pitchFamily="2" charset="-122"/>
                <a:cs typeface="+mn-cs"/>
              </a:rPr>
              <a:t>2.</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第三方评估，评估机构使用脚本或软件进行自动检索，来对搜索引擎的性能，相关性等进行评估测试。</a:t>
            </a:r>
            <a:endParaRPr lang="zh-CN" altLang="en-US" sz="1200" kern="1200" dirty="0">
              <a:solidFill>
                <a:schemeClr val="tx1"/>
              </a:solidFill>
              <a:effectLst/>
              <a:latin typeface="Arial" panose="020B0604020202020204" pitchFamily="34"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kern="1200" dirty="0">
                <a:solidFill>
                  <a:schemeClr val="tx1"/>
                </a:solidFill>
                <a:effectLst/>
                <a:latin typeface="Arial" panose="020B0604020202020204" pitchFamily="34" charset="0"/>
                <a:ea typeface="宋体" pitchFamily="2" charset="-122"/>
                <a:cs typeface="+mn-cs"/>
              </a:rPr>
              <a:t>3.</a:t>
            </a:r>
            <a:r>
              <a:rPr lang="zh-CN" altLang="zh-CN" sz="1200" kern="1200" dirty="0">
                <a:solidFill>
                  <a:schemeClr val="tx1"/>
                </a:solidFill>
                <a:effectLst/>
                <a:latin typeface="Arial" panose="020B0604020202020204" pitchFamily="34" charset="0"/>
                <a:ea typeface="宋体" pitchFamily="2" charset="-122"/>
                <a:cs typeface="+mn-cs"/>
              </a:rPr>
              <a:t>爬虫获取信息，一些个人，机构，或者小的搜索引擎，以百度搜索作为互联网入口，根据某个或某类关键词大量检索信息。</a:t>
            </a:r>
          </a:p>
          <a:p>
            <a:pPr lvl="0"/>
            <a:r>
              <a:rPr lang="en-US" altLang="zh-CN" sz="1200" kern="1200" dirty="0">
                <a:solidFill>
                  <a:schemeClr val="tx1"/>
                </a:solidFill>
                <a:effectLst/>
                <a:latin typeface="Arial" panose="020B0604020202020204" pitchFamily="34" charset="0"/>
                <a:ea typeface="宋体" pitchFamily="2" charset="-122"/>
                <a:cs typeface="+mn-cs"/>
              </a:rPr>
              <a:t>4.</a:t>
            </a:r>
            <a:r>
              <a:rPr lang="zh-CN" altLang="en-US" sz="1200" kern="1200" dirty="0">
                <a:solidFill>
                  <a:schemeClr val="tx1"/>
                </a:solidFill>
                <a:effectLst/>
                <a:latin typeface="Arial" panose="020B0604020202020204" pitchFamily="34" charset="0"/>
                <a:ea typeface="宋体" pitchFamily="2" charset="-122"/>
                <a:cs typeface="+mn-cs"/>
              </a:rPr>
              <a:t> </a:t>
            </a:r>
            <a:r>
              <a:rPr lang="en-US" altLang="zh-CN" sz="1200" kern="1200" dirty="0">
                <a:solidFill>
                  <a:schemeClr val="tx1"/>
                </a:solidFill>
                <a:effectLst/>
                <a:latin typeface="Arial" panose="020B0604020202020204" pitchFamily="34" charset="0"/>
                <a:ea typeface="宋体" pitchFamily="2" charset="-122"/>
                <a:cs typeface="+mn-cs"/>
              </a:rPr>
              <a:t>SEO</a:t>
            </a:r>
            <a:r>
              <a:rPr lang="zh-CN" altLang="zh-CN" sz="1200" kern="1200" dirty="0">
                <a:solidFill>
                  <a:schemeClr val="tx1"/>
                </a:solidFill>
                <a:effectLst/>
                <a:latin typeface="Arial" panose="020B0604020202020204" pitchFamily="34" charset="0"/>
                <a:ea typeface="宋体" pitchFamily="2" charset="-122"/>
                <a:cs typeface="+mn-cs"/>
              </a:rPr>
              <a:t>优化。</a:t>
            </a:r>
            <a:r>
              <a:rPr lang="zh-CN" altLang="en-US" sz="1200" kern="1200" dirty="0">
                <a:solidFill>
                  <a:schemeClr val="tx1"/>
                </a:solidFill>
                <a:effectLst/>
                <a:latin typeface="Arial" panose="020B0604020202020204" pitchFamily="34" charset="0"/>
                <a:ea typeface="宋体" pitchFamily="2" charset="-122"/>
                <a:cs typeface="+mn-cs"/>
              </a:rPr>
              <a:t>搜索引擎优化，</a:t>
            </a:r>
            <a:r>
              <a:rPr lang="zh-CN" altLang="zh-CN" sz="1200" kern="1200" dirty="0">
                <a:solidFill>
                  <a:schemeClr val="tx1"/>
                </a:solidFill>
                <a:effectLst/>
                <a:latin typeface="Arial" panose="020B0604020202020204" pitchFamily="34" charset="0"/>
                <a:ea typeface="宋体" pitchFamily="2" charset="-122"/>
                <a:cs typeface="+mn-cs"/>
              </a:rPr>
              <a:t>通过不停地获取搜索引擎的排名结果，对其</a:t>
            </a:r>
            <a:r>
              <a:rPr lang="en-US" altLang="zh-CN" sz="1200" kern="1200" dirty="0">
                <a:solidFill>
                  <a:schemeClr val="tx1"/>
                </a:solidFill>
                <a:effectLst/>
                <a:latin typeface="Arial" panose="020B0604020202020204" pitchFamily="34" charset="0"/>
                <a:ea typeface="宋体" pitchFamily="2" charset="-122"/>
                <a:cs typeface="+mn-cs"/>
              </a:rPr>
              <a:t>SEO</a:t>
            </a:r>
            <a:r>
              <a:rPr lang="zh-CN" altLang="zh-CN" sz="1200" kern="1200" dirty="0">
                <a:solidFill>
                  <a:schemeClr val="tx1"/>
                </a:solidFill>
                <a:effectLst/>
                <a:latin typeface="Arial" panose="020B0604020202020204" pitchFamily="34" charset="0"/>
                <a:ea typeface="宋体" pitchFamily="2" charset="-122"/>
                <a:cs typeface="+mn-cs"/>
              </a:rPr>
              <a:t>的结果进行评价，并由此进行相应调整。</a:t>
            </a:r>
          </a:p>
          <a:p>
            <a:pPr lvl="0"/>
            <a:r>
              <a:rPr lang="en-US" altLang="zh-CN" sz="1200" kern="1200" dirty="0">
                <a:solidFill>
                  <a:schemeClr val="tx1"/>
                </a:solidFill>
                <a:effectLst/>
                <a:latin typeface="Arial" panose="020B0604020202020204" pitchFamily="34" charset="0"/>
                <a:ea typeface="宋体" pitchFamily="2" charset="-122"/>
                <a:cs typeface="+mn-cs"/>
              </a:rPr>
              <a:t>5.</a:t>
            </a:r>
            <a:r>
              <a:rPr lang="zh-CN" altLang="en-US" sz="1200" kern="1200" dirty="0">
                <a:solidFill>
                  <a:schemeClr val="tx1"/>
                </a:solidFill>
                <a:effectLst/>
                <a:latin typeface="Arial" panose="020B0604020202020204" pitchFamily="34" charset="0"/>
                <a:ea typeface="宋体" pitchFamily="2" charset="-122"/>
                <a:cs typeface="+mn-cs"/>
              </a:rPr>
              <a:t> </a:t>
            </a:r>
            <a:r>
              <a:rPr lang="en-US" altLang="zh-CN" sz="1200" kern="1200" dirty="0">
                <a:solidFill>
                  <a:schemeClr val="tx1"/>
                </a:solidFill>
                <a:effectLst/>
                <a:latin typeface="Arial" panose="020B0604020202020204" pitchFamily="34" charset="0"/>
                <a:ea typeface="宋体" pitchFamily="2" charset="-122"/>
                <a:cs typeface="+mn-cs"/>
              </a:rPr>
              <a:t>SEM</a:t>
            </a:r>
            <a:r>
              <a:rPr lang="zh-CN" altLang="zh-CN" sz="1200" kern="1200" dirty="0">
                <a:solidFill>
                  <a:schemeClr val="tx1"/>
                </a:solidFill>
                <a:effectLst/>
                <a:latin typeface="Arial" panose="020B0604020202020204" pitchFamily="34" charset="0"/>
                <a:ea typeface="宋体" pitchFamily="2" charset="-122"/>
                <a:cs typeface="+mn-cs"/>
              </a:rPr>
              <a:t>优化。</a:t>
            </a:r>
            <a:r>
              <a:rPr lang="zh-CN" altLang="en-US" sz="1200" kern="1200" dirty="0">
                <a:solidFill>
                  <a:schemeClr val="tx1"/>
                </a:solidFill>
                <a:effectLst/>
                <a:latin typeface="Arial" panose="020B0604020202020204" pitchFamily="34" charset="0"/>
                <a:ea typeface="宋体" pitchFamily="2" charset="-122"/>
                <a:cs typeface="+mn-cs"/>
              </a:rPr>
              <a:t>搜索引擎营销，</a:t>
            </a:r>
            <a:r>
              <a:rPr lang="zh-CN" altLang="zh-CN" sz="1200" kern="1200" dirty="0">
                <a:solidFill>
                  <a:schemeClr val="tx1"/>
                </a:solidFill>
                <a:effectLst/>
                <a:latin typeface="Arial" panose="020B0604020202020204" pitchFamily="34" charset="0"/>
                <a:ea typeface="宋体" pitchFamily="2" charset="-122"/>
                <a:cs typeface="+mn-cs"/>
              </a:rPr>
              <a:t>通过不停的获取搜索引擎的排名结果，对其在百度进行</a:t>
            </a:r>
            <a:r>
              <a:rPr lang="en-US" altLang="zh-CN" sz="1200" kern="1200" dirty="0">
                <a:solidFill>
                  <a:schemeClr val="tx1"/>
                </a:solidFill>
                <a:effectLst/>
                <a:latin typeface="Arial" panose="020B0604020202020204" pitchFamily="34" charset="0"/>
                <a:ea typeface="宋体" pitchFamily="2" charset="-122"/>
                <a:cs typeface="+mn-cs"/>
              </a:rPr>
              <a:t>SEM</a:t>
            </a:r>
            <a:r>
              <a:rPr lang="zh-CN" altLang="zh-CN" sz="1200" kern="1200" dirty="0">
                <a:solidFill>
                  <a:schemeClr val="tx1"/>
                </a:solidFill>
                <a:effectLst/>
                <a:latin typeface="Arial" panose="020B0604020202020204" pitchFamily="34" charset="0"/>
                <a:ea typeface="宋体" pitchFamily="2" charset="-122"/>
                <a:cs typeface="+mn-cs"/>
              </a:rPr>
              <a:t>推广的排名和出价进行优化调整。</a:t>
            </a:r>
          </a:p>
          <a:p>
            <a:pPr lvl="0"/>
            <a:r>
              <a:rPr lang="en-US" altLang="zh-CN" sz="1200" kern="1200" dirty="0">
                <a:solidFill>
                  <a:schemeClr val="tx1"/>
                </a:solidFill>
                <a:effectLst/>
                <a:latin typeface="Arial" panose="020B0604020202020204" pitchFamily="34" charset="0"/>
                <a:ea typeface="宋体" pitchFamily="2" charset="-122"/>
                <a:cs typeface="+mn-cs"/>
              </a:rPr>
              <a:t>6.</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网络攻击前期准备，使用搜索引擎自动搜集脆弱站点信息。</a:t>
            </a:r>
          </a:p>
          <a:p>
            <a:pPr lvl="0"/>
            <a:r>
              <a:rPr lang="en-US" altLang="zh-CN" sz="1200" kern="1200" dirty="0">
                <a:solidFill>
                  <a:schemeClr val="tx1"/>
                </a:solidFill>
                <a:effectLst/>
                <a:latin typeface="Arial" panose="020B0604020202020204" pitchFamily="34" charset="0"/>
                <a:ea typeface="宋体" pitchFamily="2" charset="-122"/>
                <a:cs typeface="+mn-cs"/>
              </a:rPr>
              <a:t>7.</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刷搜索风云榜。网络推广公司、网络推手或者某些产品公司为能够获取搜索风云榜的排行而进行的检索作弊流量。</a:t>
            </a:r>
          </a:p>
          <a:p>
            <a:pPr lvl="0"/>
            <a:r>
              <a:rPr lang="en-US" altLang="zh-CN" sz="1200" kern="1200" dirty="0">
                <a:solidFill>
                  <a:schemeClr val="tx1"/>
                </a:solidFill>
                <a:effectLst/>
                <a:latin typeface="Arial" panose="020B0604020202020204" pitchFamily="34" charset="0"/>
                <a:ea typeface="宋体" pitchFamily="2" charset="-122"/>
                <a:cs typeface="+mn-cs"/>
              </a:rPr>
              <a:t>8.</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刷搜索下拉框、相关搜索。网络推广公司、网络推手或者其他公司为获得搜索推荐关键字、相关搜索等搜索工具的展示，而采取的增大某些检索流量的行为。</a:t>
            </a:r>
          </a:p>
          <a:p>
            <a:pPr lvl="0"/>
            <a:r>
              <a:rPr lang="en-US" altLang="zh-CN" sz="1200" kern="1200" dirty="0">
                <a:solidFill>
                  <a:schemeClr val="tx1"/>
                </a:solidFill>
                <a:effectLst/>
                <a:latin typeface="Arial" panose="020B0604020202020204" pitchFamily="34" charset="0"/>
                <a:ea typeface="宋体" pitchFamily="2" charset="-122"/>
                <a:cs typeface="+mn-cs"/>
              </a:rPr>
              <a:t>9.</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点击作弊掩护，为避免点击作弊被发现而发起的检索作弊背景流量。</a:t>
            </a:r>
            <a:endParaRPr lang="en-US" altLang="zh-CN" sz="1200" kern="1200" dirty="0">
              <a:solidFill>
                <a:schemeClr val="tx1"/>
              </a:solidFill>
              <a:effectLst/>
              <a:latin typeface="Arial" panose="020B0604020202020204" pitchFamily="34" charset="0"/>
              <a:ea typeface="宋体" pitchFamily="2"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panose="020B0604020202020204" pitchFamily="34" charset="0"/>
                <a:ea typeface="+mn-ea"/>
                <a:cs typeface="+mn-cs"/>
              </a:rPr>
              <a:t>10.</a:t>
            </a:r>
            <a:r>
              <a:rPr lang="zh-CN" altLang="en-US" sz="1200" kern="1200" dirty="0">
                <a:solidFill>
                  <a:schemeClr val="tx1"/>
                </a:solidFill>
                <a:effectLst/>
                <a:latin typeface="Arial" panose="020B0604020202020204" pitchFamily="34" charset="0"/>
                <a:ea typeface="+mn-ea"/>
                <a:cs typeface="+mn-cs"/>
              </a:rPr>
              <a:t> 针对一些</a:t>
            </a:r>
            <a:r>
              <a:rPr lang="en-US" altLang="zh-CN" sz="1200" kern="1200" dirty="0">
                <a:solidFill>
                  <a:schemeClr val="tx1"/>
                </a:solidFill>
                <a:effectLst/>
                <a:latin typeface="Arial" panose="020B0604020202020204" pitchFamily="34" charset="0"/>
                <a:ea typeface="+mn-ea"/>
                <a:cs typeface="+mn-cs"/>
              </a:rPr>
              <a:t>CPM</a:t>
            </a:r>
            <a:r>
              <a:rPr lang="zh-CN" altLang="en-US" sz="1200" kern="1200" dirty="0">
                <a:solidFill>
                  <a:schemeClr val="tx1"/>
                </a:solidFill>
                <a:effectLst/>
                <a:latin typeface="Arial" panose="020B0604020202020204" pitchFamily="34" charset="0"/>
                <a:ea typeface="+mn-ea"/>
                <a:cs typeface="+mn-cs"/>
              </a:rPr>
              <a:t>类的计费模式，按照检索进行分成，联盟伙伴通过检索作弊增大检索流量，来赚取不正当的分成。</a:t>
            </a:r>
            <a:r>
              <a:rPr lang="zh-CN" altLang="zh-CN" sz="1200" kern="1200" dirty="0">
                <a:solidFill>
                  <a:schemeClr val="tx1"/>
                </a:solidFill>
                <a:effectLst/>
                <a:latin typeface="Arial" panose="020B0604020202020204" pitchFamily="34" charset="0"/>
                <a:ea typeface="+mn-ea"/>
                <a:cs typeface="+mn-cs"/>
              </a:rPr>
              <a:t> </a:t>
            </a:r>
          </a:p>
          <a:p>
            <a:pPr lvl="0"/>
            <a:endParaRPr lang="en-US" altLang="zh-CN" sz="1200" kern="1200" dirty="0">
              <a:solidFill>
                <a:schemeClr val="tx1"/>
              </a:solidFill>
              <a:effectLst/>
              <a:latin typeface="Arial" panose="020B0604020202020204" pitchFamily="34" charset="0"/>
              <a:ea typeface="宋体" pitchFamily="2" charset="-122"/>
              <a:cs typeface="+mn-cs"/>
            </a:endParaRPr>
          </a:p>
          <a:p>
            <a:pPr lvl="0"/>
            <a:endParaRPr lang="zh-CN" altLang="en-US" sz="1200" kern="1200" dirty="0">
              <a:solidFill>
                <a:schemeClr val="tx1"/>
              </a:solidFill>
              <a:effectLst/>
              <a:latin typeface="Arial" panose="020B0604020202020204" pitchFamily="34" charset="0"/>
              <a:ea typeface="宋体" pitchFamily="2" charset="-122"/>
              <a:cs typeface="+mn-cs"/>
            </a:endParaRPr>
          </a:p>
          <a:p>
            <a:pPr lvl="0"/>
            <a:r>
              <a:rPr lang="zh-CN" altLang="zh-CN" sz="1200" kern="1200" dirty="0">
                <a:solidFill>
                  <a:schemeClr val="tx1"/>
                </a:solidFill>
                <a:effectLst/>
                <a:latin typeface="Arial" panose="020B0604020202020204" pitchFamily="34" charset="0"/>
                <a:ea typeface="宋体" pitchFamily="2" charset="-122"/>
                <a:cs typeface="+mn-cs"/>
              </a:rPr>
              <a:t>点击作弊</a:t>
            </a:r>
          </a:p>
          <a:p>
            <a:pPr lvl="0"/>
            <a:r>
              <a:rPr lang="en-US" altLang="zh-CN" sz="1200" kern="1200" dirty="0">
                <a:solidFill>
                  <a:schemeClr val="tx1"/>
                </a:solidFill>
                <a:effectLst/>
                <a:latin typeface="Arial" panose="020B0604020202020204" pitchFamily="34" charset="0"/>
                <a:ea typeface="宋体" pitchFamily="2" charset="-122"/>
                <a:cs typeface="+mn-cs"/>
              </a:rPr>
              <a:t>1.</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打击竞争对手：对于搜索推广的广告主而言，由于广告的排序与用户的出价有较强的正相关关系，因此一些广告主期望通过打击相同关键词，相同行业广告的竞争对手，消耗竞争对手的广告预算，从而达到降低自身广告推广开支的目的。</a:t>
            </a:r>
          </a:p>
          <a:p>
            <a:pPr lvl="0"/>
            <a:r>
              <a:rPr lang="en-US" altLang="zh-CN" sz="1200" kern="1200" dirty="0">
                <a:solidFill>
                  <a:schemeClr val="tx1"/>
                </a:solidFill>
                <a:effectLst/>
                <a:latin typeface="Arial" panose="020B0604020202020204" pitchFamily="34" charset="0"/>
                <a:ea typeface="宋体" pitchFamily="2" charset="-122"/>
                <a:cs typeface="+mn-cs"/>
              </a:rPr>
              <a:t>2.</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赚取不正当分成：百度拥有众多联盟合作伙伴，包括软件，搜索框等，并从联盟处获得了可观的流量。百度通过与联盟合作伙伴进行分成，共享广告收益。但是由于分成获取利益的驱动，一部分联盟伙伴存在制造虚假点击，诱导获得更多点击，劫持窃取他人流量的动力，从而赚取不正当分成。</a:t>
            </a:r>
            <a:endParaRPr lang="en-US" altLang="zh-CN" sz="1200" kern="1200" dirty="0">
              <a:solidFill>
                <a:schemeClr val="tx1"/>
              </a:solidFill>
              <a:effectLst/>
              <a:latin typeface="Arial" panose="020B0604020202020204" pitchFamily="34" charset="0"/>
              <a:ea typeface="宋体" pitchFamily="2" charset="-122"/>
              <a:cs typeface="+mn-cs"/>
            </a:endParaRPr>
          </a:p>
          <a:p>
            <a:pPr lvl="0"/>
            <a:endParaRPr lang="en-US" altLang="zh-CN" sz="1200" kern="1200" dirty="0">
              <a:solidFill>
                <a:schemeClr val="tx1"/>
              </a:solidFill>
              <a:effectLst/>
              <a:latin typeface="Arial" panose="020B0604020202020204" pitchFamily="34" charset="0"/>
              <a:ea typeface="宋体" pitchFamily="2"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zh-CN" altLang="en-US" sz="1200" dirty="0">
                <a:latin typeface="微软雅黑" panose="020B0503020204020204" pitchFamily="34" charset="-122"/>
                <a:ea typeface="微软雅黑" panose="020B0503020204020204" pitchFamily="34" charset="-122"/>
              </a:rPr>
              <a:t>转化作弊：消磨广告主，消耗广告主计费池，打击竞争对手。</a:t>
            </a:r>
          </a:p>
          <a:p>
            <a:pPr lvl="0"/>
            <a:endParaRPr lang="zh-CN" altLang="zh-CN" sz="1200" kern="1200" dirty="0">
              <a:solidFill>
                <a:schemeClr val="tx1"/>
              </a:solidFill>
              <a:effectLst/>
              <a:latin typeface="Arial" panose="020B0604020202020204" pitchFamily="34" charset="0"/>
              <a:ea typeface="宋体" pitchFamily="2" charset="-122"/>
              <a:cs typeface="+mn-cs"/>
            </a:endParaRPr>
          </a:p>
          <a:p>
            <a:endParaRPr kumimoji="1" lang="zh-CN" altLang="en-US" dirty="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7</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dirty="0">
                <a:solidFill>
                  <a:schemeClr val="tx1"/>
                </a:solidFill>
                <a:latin typeface="微软雅黑" panose="020B0503020204020204" pitchFamily="34" charset="-122"/>
                <a:ea typeface="微软雅黑" panose="020B0503020204020204" pitchFamily="34" charset="-122"/>
                <a:cs typeface="宋体" charset="0"/>
              </a:rPr>
              <a:t>纯净的数据，能够使凤巢</a:t>
            </a:r>
            <a:r>
              <a:rPr kumimoji="1" lang="en-US" altLang="zh-CN" sz="1200" dirty="0" err="1">
                <a:solidFill>
                  <a:schemeClr val="tx1"/>
                </a:solidFill>
                <a:latin typeface="微软雅黑" panose="020B0503020204020204" pitchFamily="34" charset="-122"/>
                <a:ea typeface="微软雅黑" panose="020B0503020204020204" pitchFamily="34" charset="-122"/>
                <a:cs typeface="宋体" charset="0"/>
              </a:rPr>
              <a:t>ctr</a:t>
            </a:r>
            <a:r>
              <a:rPr kumimoji="1" lang="zh-CN" altLang="en-US" sz="1200" dirty="0">
                <a:solidFill>
                  <a:schemeClr val="tx1"/>
                </a:solidFill>
                <a:latin typeface="微软雅黑" panose="020B0503020204020204" pitchFamily="34" charset="-122"/>
                <a:ea typeface="微软雅黑" panose="020B0503020204020204" pitchFamily="34" charset="-122"/>
                <a:cs typeface="宋体" charset="0"/>
              </a:rPr>
              <a:t>预估更为精准，</a:t>
            </a:r>
            <a:r>
              <a:rPr kumimoji="1" lang="en-US" altLang="zh-CN" sz="1200" dirty="0">
                <a:solidFill>
                  <a:schemeClr val="tx1"/>
                </a:solidFill>
                <a:latin typeface="微软雅黑" panose="020B0503020204020204" pitchFamily="34" charset="-122"/>
                <a:ea typeface="微软雅黑" panose="020B0503020204020204" pitchFamily="34" charset="-122"/>
                <a:cs typeface="宋体" charset="0"/>
              </a:rPr>
              <a:t>rank</a:t>
            </a:r>
            <a:r>
              <a:rPr kumimoji="1" lang="zh-CN" altLang="en-US" sz="1200" dirty="0">
                <a:solidFill>
                  <a:schemeClr val="tx1"/>
                </a:solidFill>
                <a:latin typeface="微软雅黑" panose="020B0503020204020204" pitchFamily="34" charset="-122"/>
                <a:ea typeface="微软雅黑" panose="020B0503020204020204" pitchFamily="34" charset="-122"/>
                <a:cs typeface="宋体" charset="0"/>
              </a:rPr>
              <a:t>训练出的</a:t>
            </a:r>
            <a:r>
              <a:rPr kumimoji="1" lang="en-US" altLang="zh-CN" sz="1200" dirty="0">
                <a:solidFill>
                  <a:schemeClr val="tx1"/>
                </a:solidFill>
                <a:latin typeface="微软雅黑" panose="020B0503020204020204" pitchFamily="34" charset="-122"/>
                <a:ea typeface="微软雅黑" panose="020B0503020204020204" pitchFamily="34" charset="-122"/>
                <a:cs typeface="宋体" charset="0"/>
              </a:rPr>
              <a:t>model</a:t>
            </a:r>
            <a:r>
              <a:rPr kumimoji="1" lang="zh-CN" altLang="en-US" sz="1200" dirty="0">
                <a:solidFill>
                  <a:schemeClr val="tx1"/>
                </a:solidFill>
                <a:latin typeface="微软雅黑" panose="020B0503020204020204" pitchFamily="34" charset="-122"/>
                <a:ea typeface="微软雅黑" panose="020B0503020204020204" pitchFamily="34" charset="-122"/>
                <a:cs typeface="宋体" charset="0"/>
              </a:rPr>
              <a:t>，可信度和准确率更高。</a:t>
            </a:r>
          </a:p>
          <a:p>
            <a:pPr marL="0" marR="0" lvl="0" indent="0" algn="l" defTabSz="4572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Arial" panose="020B0604020202020204" pitchFamily="34" charset="0"/>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8</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r>
              <a:rPr lang="zh-CN" altLang="en-US" dirty="0"/>
              <a:t>流式反作弊 </a:t>
            </a:r>
            <a:r>
              <a:rPr lang="en-US" altLang="zh-CN" dirty="0"/>
              <a:t>TM</a:t>
            </a:r>
          </a:p>
          <a:p>
            <a:r>
              <a:rPr lang="zh-CN" altLang="en-US" dirty="0"/>
              <a:t>在线反作弊 </a:t>
            </a:r>
            <a:r>
              <a:rPr lang="en-US" altLang="zh-CN" dirty="0"/>
              <a:t>AS</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10</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广告点击流量中，简单作弊形式（爬虫、刷词等）波动幅度大，但是容易识别，预先过滤掉简单作弊形式可以使剩余流量之上统计特征的表现更加稳定，防止流量较小的高级作弊形式淹没在大量的简单作弊中。 </a:t>
            </a:r>
          </a:p>
          <a:p>
            <a:endParaRPr lang="zh-CN" altLang="en-US" dirty="0"/>
          </a:p>
          <a:p>
            <a:r>
              <a:rPr lang="zh-CN" altLang="en-US" dirty="0"/>
              <a:t>三层抽象之上能够较容易地支持特征复用、多特征策略（包括模型过滤），此外单独的特征层也使外部特征值的引入以及内部特征值的导出成为可能。</a:t>
            </a:r>
            <a:endParaRPr lang="en-US" altLang="zh-CN"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11</a:t>
            </a:fld>
            <a:endParaRPr kumimoji="1" lang="zh-CN" altLang="en-US"/>
          </a:p>
        </p:txBody>
      </p:sp>
    </p:spTree>
    <p:extLst>
      <p:ext uri="{BB962C8B-B14F-4D97-AF65-F5344CB8AC3E}">
        <p14:creationId xmlns:p14="http://schemas.microsoft.com/office/powerpoint/2010/main" val="3148725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数据层：</a:t>
            </a:r>
            <a:r>
              <a:rPr lang="en-US" altLang="zh-CN" sz="1200" b="0" i="0" u="none" strike="noStrike" kern="1200" dirty="0">
                <a:solidFill>
                  <a:schemeClr val="tx1"/>
                </a:solidFill>
                <a:effectLst/>
                <a:latin typeface="+mn-lt"/>
                <a:ea typeface="+mn-ea"/>
                <a:cs typeface="+mn-cs"/>
              </a:rPr>
              <a:t>log-parser-lib</a:t>
            </a:r>
            <a:r>
              <a:rPr lang="zh-CN" altLang="en-US" sz="1200" b="0" i="0" u="none" strike="noStrike" kern="1200" dirty="0">
                <a:solidFill>
                  <a:schemeClr val="tx1"/>
                </a:solidFill>
                <a:effectLst/>
                <a:latin typeface="+mn-lt"/>
                <a:ea typeface="+mn-ea"/>
                <a:cs typeface="+mn-cs"/>
              </a:rPr>
              <a:t>吧原始</a:t>
            </a:r>
            <a:r>
              <a:rPr lang="en-US" altLang="zh-CN" sz="1200" b="0" i="0" u="none" strike="noStrike" kern="1200" dirty="0">
                <a:solidFill>
                  <a:schemeClr val="tx1"/>
                </a:solidFill>
                <a:effectLst/>
                <a:latin typeface="+mn-lt"/>
                <a:ea typeface="+mn-ea"/>
                <a:cs typeface="+mn-cs"/>
              </a:rPr>
              <a:t>log</a:t>
            </a:r>
            <a:r>
              <a:rPr lang="zh-CN" altLang="en-US" sz="1200" b="0" i="0" u="none" strike="noStrike" kern="1200" dirty="0">
                <a:solidFill>
                  <a:schemeClr val="tx1"/>
                </a:solidFill>
                <a:effectLst/>
                <a:latin typeface="+mn-lt"/>
                <a:ea typeface="+mn-ea"/>
                <a:cs typeface="+mn-cs"/>
              </a:rPr>
              <a:t>日志解析为单条日志的</a:t>
            </a:r>
            <a:r>
              <a:rPr lang="en-US" altLang="zh-CN" sz="1200" b="0" i="0" u="none" strike="noStrike" kern="1200" dirty="0" err="1">
                <a:solidFill>
                  <a:schemeClr val="tx1"/>
                </a:solidFill>
                <a:effectLst/>
                <a:latin typeface="+mn-lt"/>
                <a:ea typeface="+mn-ea"/>
                <a:cs typeface="+mn-cs"/>
              </a:rPr>
              <a:t>Log_Record</a:t>
            </a:r>
            <a:r>
              <a:rPr lang="zh-CN" altLang="en-US" sz="1200" b="0" i="0" u="none" strike="noStrike" kern="1200" dirty="0">
                <a:solidFill>
                  <a:schemeClr val="tx1"/>
                </a:solidFill>
                <a:effectLst/>
                <a:latin typeface="+mn-lt"/>
                <a:ea typeface="+mn-ea"/>
                <a:cs typeface="+mn-cs"/>
              </a:rPr>
              <a:t>（</a:t>
            </a:r>
            <a:r>
              <a:rPr lang="en-US" altLang="zh-CN" sz="1200" b="0" i="0" u="none" strike="noStrike" kern="1200" dirty="0" err="1">
                <a:solidFill>
                  <a:schemeClr val="tx1"/>
                </a:solidFill>
                <a:effectLst/>
                <a:latin typeface="+mn-lt"/>
                <a:ea typeface="+mn-ea"/>
                <a:cs typeface="+mn-cs"/>
              </a:rPr>
              <a:t>view_value_proto</a:t>
            </a:r>
            <a:r>
              <a:rPr lang="zh-CN" altLang="en-US" sz="1200" b="0" i="0" u="none" strike="noStrike" kern="1200" dirty="0">
                <a:solidFill>
                  <a:schemeClr val="tx1"/>
                </a:solidFill>
                <a:effectLst/>
                <a:latin typeface="+mn-lt"/>
                <a:ea typeface="+mn-ea"/>
                <a:cs typeface="+mn-cs"/>
              </a:rPr>
              <a:t>）</a:t>
            </a:r>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对特征进行抽取时，</a:t>
            </a:r>
            <a:r>
              <a:rPr lang="en-US" altLang="zh-CN" sz="1200" b="0" i="0" u="none" strike="noStrike" kern="1200" dirty="0">
                <a:solidFill>
                  <a:schemeClr val="tx1"/>
                </a:solidFill>
                <a:effectLst/>
                <a:latin typeface="+mn-lt"/>
                <a:ea typeface="+mn-ea"/>
                <a:cs typeface="+mn-cs"/>
              </a:rPr>
              <a:t>view</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record</a:t>
            </a:r>
            <a:r>
              <a:rPr lang="zh-CN" altLang="en-US" sz="1200" b="0" i="0" u="none" strike="noStrike" kern="1200" dirty="0">
                <a:solidFill>
                  <a:schemeClr val="tx1"/>
                </a:solidFill>
                <a:effectLst/>
                <a:latin typeface="+mn-lt"/>
                <a:ea typeface="+mn-ea"/>
                <a:cs typeface="+mn-cs"/>
              </a:rPr>
              <a:t>定义了维度名，维度层级，抽取函数，后处理函数，以及默认值，用于初始化。</a:t>
            </a:r>
            <a:endParaRPr lang="en-US" altLang="zh-CN" sz="1200" b="0" i="0" u="none" strike="noStrike"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1200" b="0" i="0" u="none" strike="noStrike" kern="1200" dirty="0">
                <a:solidFill>
                  <a:schemeClr val="tx1"/>
                </a:solidFill>
                <a:effectLst/>
                <a:latin typeface="+mn-lt"/>
                <a:ea typeface="+mn-ea"/>
                <a:cs typeface="+mn-cs"/>
              </a:rPr>
              <a:t>如果对应字段为空，将用其对应维度的默认值进行填充。例如，</a:t>
            </a:r>
            <a:r>
              <a:rPr lang="en-GB" altLang="zh-CN" sz="1200" b="0" i="0" u="none" strike="noStrike" kern="1200" dirty="0" err="1">
                <a:solidFill>
                  <a:schemeClr val="tx1"/>
                </a:solidFill>
                <a:effectLst/>
                <a:latin typeface="+mn-lt"/>
                <a:ea typeface="+mn-ea"/>
                <a:cs typeface="+mn-cs"/>
              </a:rPr>
              <a:t>pn</a:t>
            </a:r>
            <a:r>
              <a:rPr lang="zh-CN" altLang="en-US" sz="1200" b="0" i="0" u="none" strike="noStrike" kern="1200" dirty="0">
                <a:solidFill>
                  <a:schemeClr val="tx1"/>
                </a:solidFill>
                <a:effectLst/>
                <a:latin typeface="+mn-lt"/>
                <a:ea typeface="+mn-ea"/>
                <a:cs typeface="+mn-cs"/>
              </a:rPr>
              <a:t>默认值为</a:t>
            </a:r>
            <a:r>
              <a:rPr lang="en-US" altLang="zh-CN" sz="1200" b="0" i="0" u="none" strike="noStrike" kern="1200" dirty="0">
                <a:solidFill>
                  <a:schemeClr val="tx1"/>
                </a:solidFill>
                <a:effectLst/>
                <a:latin typeface="+mn-lt"/>
                <a:ea typeface="+mn-ea"/>
                <a:cs typeface="+mn-cs"/>
              </a:rPr>
              <a:t>0</a:t>
            </a:r>
            <a:r>
              <a:rPr lang="zh-CN" altLang="en-US"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userid</a:t>
            </a:r>
            <a:r>
              <a:rPr lang="zh-CN" altLang="en-US" sz="1200" b="0" i="0" u="none" strike="noStrike" kern="1200" dirty="0">
                <a:solidFill>
                  <a:schemeClr val="tx1"/>
                </a:solidFill>
                <a:effectLst/>
                <a:latin typeface="+mn-lt"/>
                <a:ea typeface="+mn-ea"/>
                <a:cs typeface="+mn-cs"/>
              </a:rPr>
              <a:t>默认值为</a:t>
            </a:r>
            <a:r>
              <a:rPr lang="en-US" altLang="zh-CN" sz="1200" b="0" i="0" u="none" strike="noStrike" kern="1200" dirty="0">
                <a:solidFill>
                  <a:schemeClr val="tx1"/>
                </a:solidFill>
                <a:effectLst/>
                <a:latin typeface="+mn-lt"/>
                <a:ea typeface="+mn-ea"/>
                <a:cs typeface="+mn-cs"/>
              </a:rPr>
              <a:t>-10000</a:t>
            </a:r>
            <a:r>
              <a:rPr lang="zh-CN" altLang="en-US"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url_sign</a:t>
            </a:r>
            <a:r>
              <a:rPr lang="zh-CN" altLang="en-US" sz="1200" b="0" i="0" u="none" strike="noStrike" kern="1200" dirty="0">
                <a:solidFill>
                  <a:schemeClr val="tx1"/>
                </a:solidFill>
                <a:effectLst/>
                <a:latin typeface="+mn-lt"/>
                <a:ea typeface="+mn-ea"/>
                <a:cs typeface="+mn-cs"/>
              </a:rPr>
              <a:t>默认值为</a:t>
            </a:r>
            <a:r>
              <a:rPr lang="en-US" altLang="zh-CN"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NULL-</a:t>
            </a:r>
            <a:r>
              <a:rPr lang="zh-CN" altLang="en-GB" sz="1200" b="0" i="0" u="none" strike="noStrike" kern="1200" dirty="0">
                <a:solidFill>
                  <a:schemeClr val="tx1"/>
                </a:solidFill>
                <a:effectLst/>
                <a:latin typeface="+mn-lt"/>
                <a:ea typeface="+mn-ea"/>
                <a:cs typeface="+mn-cs"/>
              </a:rPr>
              <a:t>。</a:t>
            </a:r>
          </a:p>
          <a:p>
            <a:endParaRPr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抽取完成，得到 </a:t>
            </a:r>
            <a:r>
              <a:rPr lang="en-US" altLang="zh-CN" sz="1200" b="0" i="0" u="none" strike="noStrike" kern="1200" dirty="0" err="1">
                <a:solidFill>
                  <a:schemeClr val="tx1"/>
                </a:solidFill>
                <a:effectLst/>
                <a:latin typeface="+mn-lt"/>
                <a:ea typeface="+mn-ea"/>
                <a:cs typeface="+mn-cs"/>
              </a:rPr>
              <a:t>FeatureValue</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err="1">
                <a:solidFill>
                  <a:schemeClr val="tx1"/>
                </a:solidFill>
                <a:effectLst/>
                <a:latin typeface="+mn-lt"/>
                <a:ea typeface="+mn-ea"/>
                <a:cs typeface="+mn-cs"/>
              </a:rPr>
              <a:t>feature_id,view,value,logid</a:t>
            </a:r>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将 </a:t>
            </a:r>
            <a:r>
              <a:rPr lang="en-US" altLang="zh-CN" sz="1200" b="0" i="0" u="none" strike="noStrike" kern="1200" dirty="0" err="1">
                <a:solidFill>
                  <a:schemeClr val="tx1"/>
                </a:solidFill>
                <a:effectLst/>
                <a:latin typeface="+mn-lt"/>
                <a:ea typeface="+mn-ea"/>
                <a:cs typeface="+mn-cs"/>
              </a:rPr>
              <a:t>FeatureValue</a:t>
            </a:r>
            <a:r>
              <a:rPr lang="zh-CN" altLang="en-US" sz="1200" b="0" i="0" u="none" strike="noStrike" kern="1200" dirty="0">
                <a:solidFill>
                  <a:schemeClr val="tx1"/>
                </a:solidFill>
                <a:effectLst/>
                <a:latin typeface="+mn-lt"/>
                <a:ea typeface="+mn-ea"/>
                <a:cs typeface="+mn-cs"/>
              </a:rPr>
              <a:t> 按照 </a:t>
            </a:r>
            <a:r>
              <a:rPr lang="en-US" altLang="zh-CN" sz="1200" b="0" i="0" u="none" strike="noStrike" kern="1200" dirty="0" err="1">
                <a:solidFill>
                  <a:schemeClr val="tx1"/>
                </a:solidFill>
                <a:effectLst/>
                <a:latin typeface="+mn-lt"/>
                <a:ea typeface="+mn-ea"/>
                <a:cs typeface="+mn-cs"/>
              </a:rPr>
              <a:t>feature_id</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view</a:t>
            </a:r>
            <a:r>
              <a:rPr lang="zh-CN" altLang="en-US" sz="1200" b="0" i="0" u="none" strike="noStrike" kern="1200" dirty="0">
                <a:solidFill>
                  <a:schemeClr val="tx1"/>
                </a:solidFill>
                <a:effectLst/>
                <a:latin typeface="+mn-lt"/>
                <a:ea typeface="+mn-ea"/>
                <a:cs typeface="+mn-cs"/>
              </a:rPr>
              <a:t> 分组，将其</a:t>
            </a:r>
            <a:r>
              <a:rPr lang="zh-CN" altLang="en-US" dirty="0"/>
              <a:t>输入到一个分片中，进行</a:t>
            </a:r>
            <a:r>
              <a:rPr lang="en-US" altLang="zh-CN" sz="1200" b="0" i="0" u="none" strike="noStrike" kern="1200" dirty="0">
                <a:solidFill>
                  <a:schemeClr val="tx1"/>
                </a:solidFill>
                <a:effectLst/>
                <a:latin typeface="+mn-lt"/>
                <a:ea typeface="+mn-ea"/>
                <a:cs typeface="+mn-cs"/>
              </a:rPr>
              <a:t>value</a:t>
            </a:r>
            <a:r>
              <a:rPr lang="zh-CN" altLang="en-US" sz="1200" b="0" i="0" u="none" strike="noStrike" kern="1200" dirty="0">
                <a:solidFill>
                  <a:schemeClr val="tx1"/>
                </a:solidFill>
                <a:effectLst/>
                <a:latin typeface="+mn-lt"/>
                <a:ea typeface="+mn-ea"/>
                <a:cs typeface="+mn-cs"/>
              </a:rPr>
              <a:t>累计</a:t>
            </a:r>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4.</a:t>
            </a:r>
            <a:r>
              <a:rPr lang="zh-CN" altLang="en-US" sz="1200" b="0" i="0" u="none" strike="noStrike" kern="1200" dirty="0">
                <a:solidFill>
                  <a:schemeClr val="tx1"/>
                </a:solidFill>
                <a:effectLst/>
                <a:latin typeface="+mn-lt"/>
                <a:ea typeface="+mn-ea"/>
                <a:cs typeface="+mn-cs"/>
              </a:rPr>
              <a:t>过滤前，先按照</a:t>
            </a:r>
            <a:r>
              <a:rPr lang="en-US" altLang="zh-CN" sz="1200" b="0" i="0" u="none" strike="noStrike" kern="1200" dirty="0" err="1">
                <a:solidFill>
                  <a:schemeClr val="tx1"/>
                </a:solidFill>
                <a:effectLst/>
                <a:latin typeface="+mn-lt"/>
                <a:ea typeface="+mn-ea"/>
                <a:cs typeface="+mn-cs"/>
              </a:rPr>
              <a:t>logid</a:t>
            </a:r>
            <a:r>
              <a:rPr lang="zh-CN" altLang="en-US" sz="1200" b="0" i="0" u="none" strike="noStrike" kern="1200" dirty="0">
                <a:solidFill>
                  <a:schemeClr val="tx1"/>
                </a:solidFill>
                <a:effectLst/>
                <a:latin typeface="+mn-lt"/>
                <a:ea typeface="+mn-ea"/>
                <a:cs typeface="+mn-cs"/>
              </a:rPr>
              <a:t>分组（以便最后打入原日志），进行策略过滤，得到</a:t>
            </a:r>
            <a:r>
              <a:rPr lang="en" altLang="zh-CN" sz="1200" b="0" i="0" kern="1200" dirty="0" err="1">
                <a:solidFill>
                  <a:schemeClr val="tx1"/>
                </a:solidFill>
                <a:effectLst/>
                <a:latin typeface="+mn-lt"/>
                <a:ea typeface="+mn-ea"/>
                <a:cs typeface="+mn-cs"/>
              </a:rPr>
              <a:t>PolicyResult</a:t>
            </a:r>
            <a:endParaRPr lang="en" altLang="zh-CN" sz="1200" b="0" i="0" kern="1200" dirty="0">
              <a:solidFill>
                <a:schemeClr val="tx1"/>
              </a:solidFill>
              <a:effectLst/>
              <a:latin typeface="+mn-lt"/>
              <a:ea typeface="+mn-ea"/>
              <a:cs typeface="+mn-cs"/>
            </a:endParaRPr>
          </a:p>
          <a:p>
            <a:endParaRPr lang="en"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5.</a:t>
            </a:r>
            <a:r>
              <a:rPr lang="zh-CN" altLang="en-US" sz="1200" dirty="0">
                <a:solidFill>
                  <a:schemeClr val="accent6">
                    <a:lumMod val="50000"/>
                  </a:schemeClr>
                </a:solidFill>
                <a:latin typeface="Times New Roman" panose="02020603050405020304" pitchFamily="18" charset="0"/>
                <a:ea typeface="微软雅黑" panose="020B0503020204020204" pitchFamily="34" charset="-122"/>
              </a:rPr>
              <a:t>对各个策略的判定结果进行加权求和，并根据阈值，输出 最终的判定结果 </a:t>
            </a:r>
            <a:r>
              <a:rPr lang="en-US" altLang="zh-CN" sz="1200" dirty="0">
                <a:solidFill>
                  <a:schemeClr val="accent6">
                    <a:lumMod val="50000"/>
                  </a:schemeClr>
                </a:solidFill>
                <a:latin typeface="Times New Roman" panose="02020603050405020304" pitchFamily="18" charset="0"/>
                <a:ea typeface="微软雅黑" panose="020B0503020204020204" pitchFamily="34" charset="-122"/>
              </a:rPr>
              <a:t>normal</a:t>
            </a:r>
            <a:r>
              <a:rPr lang="zh-CN" altLang="en-US" sz="1200" dirty="0">
                <a:solidFill>
                  <a:schemeClr val="accent6">
                    <a:lumMod val="50000"/>
                  </a:schemeClr>
                </a:solidFill>
                <a:latin typeface="Times New Roman" panose="02020603050405020304" pitchFamily="18" charset="0"/>
                <a:ea typeface="微软雅黑" panose="020B0503020204020204" pitchFamily="34" charset="-122"/>
              </a:rPr>
              <a:t>／</a:t>
            </a:r>
            <a:r>
              <a:rPr lang="en-US" altLang="zh-CN" sz="1200" dirty="0">
                <a:solidFill>
                  <a:schemeClr val="accent6">
                    <a:lumMod val="50000"/>
                  </a:schemeClr>
                </a:solidFill>
                <a:latin typeface="Times New Roman" panose="02020603050405020304" pitchFamily="18" charset="0"/>
                <a:ea typeface="微软雅黑" panose="020B0503020204020204" pitchFamily="34" charset="-122"/>
              </a:rPr>
              <a:t>spam</a:t>
            </a:r>
          </a:p>
          <a:p>
            <a:endParaRPr lang="en-US" altLang="zh-CN"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endParaRPr>
          </a:p>
          <a:p>
            <a:r>
              <a:rPr lang="en-US" altLang="zh-CN"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rPr>
              <a:t>6.</a:t>
            </a:r>
            <a:r>
              <a:rPr lang="zh-CN" altLang="en-US"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rPr>
              <a:t>最终，将结果按照</a:t>
            </a:r>
            <a:r>
              <a:rPr lang="en-US" altLang="zh-CN" sz="1200" b="0" i="0" u="none" strike="noStrike" kern="1200" dirty="0" err="1">
                <a:solidFill>
                  <a:schemeClr val="accent6">
                    <a:lumMod val="50000"/>
                  </a:schemeClr>
                </a:solidFill>
                <a:effectLst/>
                <a:latin typeface="Times New Roman" panose="02020603050405020304" pitchFamily="18" charset="0"/>
                <a:ea typeface="微软雅黑" panose="020B0503020204020204" pitchFamily="34" charset="-122"/>
                <a:cs typeface="+mn-cs"/>
              </a:rPr>
              <a:t>logid</a:t>
            </a:r>
            <a:r>
              <a:rPr lang="zh-CN" altLang="en-US"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rPr>
              <a:t>拼接进原始</a:t>
            </a:r>
            <a:r>
              <a:rPr lang="en-US" altLang="zh-CN"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rPr>
              <a:t>log</a:t>
            </a:r>
            <a:endParaRPr lang="zh-CN" altLang="en-US" sz="1200" b="0" i="0" u="none" strike="noStrike" kern="1200" dirty="0">
              <a:solidFill>
                <a:schemeClr val="tx1"/>
              </a:solidFill>
              <a:effectLst/>
              <a:latin typeface="+mn-lt"/>
              <a:ea typeface="+mn-ea"/>
              <a:cs typeface="+mn-cs"/>
            </a:endParaRPr>
          </a:p>
          <a:p>
            <a:endParaRPr lang="en-US" altLang="zh-CN" dirty="0"/>
          </a:p>
          <a:p>
            <a:r>
              <a:rPr lang="en-US" altLang="zh-CN" dirty="0"/>
              <a:t>---</a:t>
            </a:r>
          </a:p>
          <a:p>
            <a:endParaRPr lang="en-US" altLang="zh-CN" dirty="0"/>
          </a:p>
          <a:p>
            <a:r>
              <a:rPr lang="en-US" altLang="zh-CN" dirty="0" err="1"/>
              <a:t>Textractor</a:t>
            </a:r>
            <a:r>
              <a:rPr lang="zh-CN" altLang="en-US" dirty="0"/>
              <a:t>抽取特征是相对于单个特征而言，输入是单条日志，输出是包含</a:t>
            </a:r>
            <a:r>
              <a:rPr lang="en-US" altLang="zh-CN" dirty="0" err="1"/>
              <a:t>feature_id</a:t>
            </a:r>
            <a:r>
              <a:rPr lang="en-US" altLang="zh-CN" dirty="0"/>
              <a:t>, </a:t>
            </a:r>
            <a:r>
              <a:rPr lang="en-US" altLang="zh-CN" dirty="0" err="1"/>
              <a:t>log_time</a:t>
            </a:r>
            <a:r>
              <a:rPr lang="en-US" altLang="zh-CN" dirty="0"/>
              <a:t>, value</a:t>
            </a:r>
            <a:r>
              <a:rPr lang="zh-CN" altLang="en-US" dirty="0"/>
              <a:t>等信息的特征变量（</a:t>
            </a:r>
            <a:r>
              <a:rPr lang="en-US" altLang="zh-CN" dirty="0" err="1"/>
              <a:t>FeatureValueProto</a:t>
            </a:r>
            <a:r>
              <a:rPr lang="zh-CN" altLang="en-US" dirty="0"/>
              <a:t>类型）</a:t>
            </a:r>
            <a:endParaRPr lang="en-US" altLang="zh-CN" dirty="0"/>
          </a:p>
          <a:p>
            <a:r>
              <a:rPr lang="en-US" altLang="zh-CN" dirty="0" err="1"/>
              <a:t>Taccumulator</a:t>
            </a:r>
            <a:r>
              <a:rPr lang="zh-CN" altLang="en-US" dirty="0"/>
              <a:t>这一层主要是为了统计特征，</a:t>
            </a:r>
            <a:r>
              <a:rPr lang="en-US" altLang="zh-CN" dirty="0" err="1"/>
              <a:t>Textractor</a:t>
            </a:r>
            <a:r>
              <a:rPr lang="zh-CN" altLang="en-US" dirty="0"/>
              <a:t>将属于不同日志相同</a:t>
            </a:r>
            <a:r>
              <a:rPr lang="en-US" altLang="zh-CN" dirty="0" err="1"/>
              <a:t>feature_id</a:t>
            </a:r>
            <a:r>
              <a:rPr lang="zh-CN" altLang="en-US" dirty="0"/>
              <a:t>的特征输入到一个分片中</a:t>
            </a:r>
            <a:r>
              <a:rPr lang="en-US" altLang="zh-CN" dirty="0"/>
              <a:t>(</a:t>
            </a:r>
            <a:r>
              <a:rPr lang="zh-CN" altLang="en-US" dirty="0"/>
              <a:t>基本有序</a:t>
            </a:r>
            <a:r>
              <a:rPr lang="en-US" altLang="zh-CN" dirty="0"/>
              <a:t>)</a:t>
            </a:r>
            <a:r>
              <a:rPr lang="zh-CN" altLang="en-US" dirty="0"/>
              <a:t>，</a:t>
            </a:r>
            <a:r>
              <a:rPr lang="en-US" altLang="zh-CN" dirty="0" err="1"/>
              <a:t>Taccumulator</a:t>
            </a:r>
            <a:r>
              <a:rPr lang="zh-CN" altLang="en-US" dirty="0"/>
              <a:t>则对单个分片进行累积，计算一段内的统计特征。</a:t>
            </a:r>
            <a:endParaRPr lang="en-US" altLang="zh-CN" dirty="0"/>
          </a:p>
          <a:p>
            <a:r>
              <a:rPr lang="en-US" altLang="zh-CN" dirty="0" err="1"/>
              <a:t>TaskMerger</a:t>
            </a:r>
            <a:r>
              <a:rPr lang="zh-CN" altLang="en-US" dirty="0"/>
              <a:t>这一层则在特征统计完成之后进行整理，方便过滤层进行判定</a:t>
            </a:r>
            <a:endParaRPr lang="en-US" altLang="zh-CN" dirty="0"/>
          </a:p>
          <a:p>
            <a:endParaRPr lang="en-US" altLang="zh-CN" dirty="0"/>
          </a:p>
          <a:p>
            <a:r>
              <a:rPr lang="en-US" altLang="zh-CN" dirty="0" err="1"/>
              <a:t>Tfiler</a:t>
            </a:r>
            <a:r>
              <a:rPr lang="zh-CN" altLang="en-US" dirty="0"/>
              <a:t>并行地计算不同策略的判定结果</a:t>
            </a:r>
            <a:endParaRPr lang="en-US" altLang="zh-CN" dirty="0"/>
          </a:p>
          <a:p>
            <a:r>
              <a:rPr lang="en-US" altLang="zh-CN" dirty="0" err="1"/>
              <a:t>LogMerger</a:t>
            </a:r>
            <a:r>
              <a:rPr lang="zh-CN" altLang="en-US" dirty="0"/>
              <a:t>输出最后的结果，也可以叫做</a:t>
            </a:r>
            <a:r>
              <a:rPr lang="en-US" altLang="zh-CN" dirty="0"/>
              <a:t>judge</a:t>
            </a:r>
            <a:r>
              <a:rPr lang="zh-CN" altLang="en-US" dirty="0"/>
              <a:t>层。</a:t>
            </a:r>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12</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dirty="0">
                <a:latin typeface="微软雅黑" panose="020B0503020204020204" pitchFamily="34" charset="-122"/>
                <a:ea typeface="微软雅黑" panose="020B0503020204020204" pitchFamily="34" charset="-122"/>
                <a:cs typeface="宋体" charset="0"/>
              </a:rPr>
              <a:t>前面讲了日志的过滤过程，而目前实际运行的系统底层已经写好，反作弊系统运行的基础就是：脚本加配置文件，因此需要管理好相关的配置，这也是神盾策略管理平台做的事情。</a:t>
            </a:r>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zh-CN" altLang="en-US" sz="1200" dirty="0">
                <a:latin typeface="微软雅黑" panose="020B0503020204020204" pitchFamily="34" charset="-122"/>
                <a:ea typeface="微软雅黑" panose="020B0503020204020204" pitchFamily="34" charset="-122"/>
                <a:cs typeface="宋体" charset="0"/>
              </a:rPr>
              <a:t>其中配置主要有这么几种。</a:t>
            </a:r>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en-US" altLang="zh-CN" sz="1200" dirty="0">
                <a:latin typeface="微软雅黑" panose="020B0503020204020204" pitchFamily="34" charset="-122"/>
                <a:ea typeface="微软雅黑" panose="020B0503020204020204" pitchFamily="34" charset="-122"/>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r</a:t>
            </a:r>
            <a:r>
              <a:rPr lang="en-GB" altLang="zh-CN" sz="1200" b="0" i="0" u="none" strike="noStrike" kern="1200" dirty="0" err="1">
                <a:solidFill>
                  <a:schemeClr val="tx1"/>
                </a:solidFill>
                <a:effectLst/>
                <a:latin typeface="+mn-lt"/>
                <a:ea typeface="+mn-ea"/>
                <a:cs typeface="+mn-cs"/>
              </a:rPr>
              <a:t>ecord.conf</a:t>
            </a:r>
            <a:r>
              <a:rPr lang="zh-CN" altLang="en-US" sz="1200" b="0" i="0" u="none" strike="noStrike" kern="1200" dirty="0">
                <a:solidFill>
                  <a:schemeClr val="tx1"/>
                </a:solidFill>
                <a:effectLst/>
                <a:latin typeface="+mn-lt"/>
                <a:ea typeface="+mn-ea"/>
                <a:cs typeface="+mn-cs"/>
              </a:rPr>
              <a:t>：定义了维度名，维度层级，抽取函数，后处理函数，以及默认值信息，用于初始化。对日志进行特征抽取时，在处理空间之前，</a:t>
            </a:r>
            <a:r>
              <a:rPr lang="en-GB" altLang="zh-CN" sz="1200" b="0" i="0" u="none" strike="noStrike" kern="1200" dirty="0">
                <a:solidFill>
                  <a:schemeClr val="tx1"/>
                </a:solidFill>
                <a:effectLst/>
                <a:latin typeface="+mn-lt"/>
                <a:ea typeface="+mn-ea"/>
                <a:cs typeface="+mn-cs"/>
              </a:rPr>
              <a:t>log-parser-lib</a:t>
            </a:r>
            <a:r>
              <a:rPr lang="zh-CN" altLang="en-US" sz="1200" b="0" i="0" u="none" strike="noStrike" kern="1200" dirty="0">
                <a:solidFill>
                  <a:schemeClr val="tx1"/>
                </a:solidFill>
                <a:effectLst/>
                <a:latin typeface="+mn-lt"/>
                <a:ea typeface="+mn-ea"/>
                <a:cs typeface="+mn-cs"/>
              </a:rPr>
              <a:t>提取基础字段，当存在一些字段取不到时，就去</a:t>
            </a:r>
            <a:r>
              <a:rPr lang="en-GB" altLang="zh-CN" sz="1200" b="0" i="0" u="none" strike="noStrike" kern="1200" dirty="0" err="1">
                <a:solidFill>
                  <a:schemeClr val="tx1"/>
                </a:solidFill>
                <a:effectLst/>
                <a:latin typeface="+mn-lt"/>
                <a:ea typeface="+mn-ea"/>
                <a:cs typeface="+mn-cs"/>
              </a:rPr>
              <a:t>record.conf</a:t>
            </a:r>
            <a:r>
              <a:rPr lang="zh-CN" altLang="en-US" sz="1200" b="0" i="0" u="none" strike="noStrike" kern="1200" dirty="0">
                <a:solidFill>
                  <a:schemeClr val="tx1"/>
                </a:solidFill>
                <a:effectLst/>
                <a:latin typeface="+mn-lt"/>
                <a:ea typeface="+mn-ea"/>
                <a:cs typeface="+mn-cs"/>
              </a:rPr>
              <a:t>中去查看，通过后处理函数去获取。在各个</a:t>
            </a:r>
            <a:r>
              <a:rPr lang="en-GB" altLang="zh-CN" sz="1200" b="0" i="0" u="none" strike="noStrike" kern="1200" dirty="0">
                <a:solidFill>
                  <a:schemeClr val="tx1"/>
                </a:solidFill>
                <a:effectLst/>
                <a:latin typeface="+mn-lt"/>
                <a:ea typeface="+mn-ea"/>
                <a:cs typeface="+mn-cs"/>
              </a:rPr>
              <a:t>proto</a:t>
            </a:r>
            <a:r>
              <a:rPr lang="zh-CN" altLang="en-US" sz="1200" b="0" i="0" u="none" strike="noStrike" kern="1200" dirty="0">
                <a:solidFill>
                  <a:schemeClr val="tx1"/>
                </a:solidFill>
                <a:effectLst/>
                <a:latin typeface="+mn-lt"/>
                <a:ea typeface="+mn-ea"/>
                <a:cs typeface="+mn-cs"/>
              </a:rPr>
              <a:t>文件中给出了字段的含义和定义类型。</a:t>
            </a:r>
            <a:endParaRPr lang="en-US" altLang="zh-CN" sz="1200" b="0" i="0" u="none" strike="noStrike"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b="0" i="0" u="none" strike="noStrike"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err="1">
                <a:solidFill>
                  <a:schemeClr val="tx1"/>
                </a:solidFill>
                <a:effectLst/>
                <a:latin typeface="+mn-lt"/>
                <a:ea typeface="+mn-ea"/>
                <a:cs typeface="+mn-cs"/>
              </a:rPr>
              <a:t>dict.conf</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 记录</a:t>
            </a:r>
            <a:r>
              <a:rPr lang="en-US" altLang="zh-CN" sz="1200" b="0" i="0" u="none" strike="noStrike" kern="1200" dirty="0" err="1">
                <a:solidFill>
                  <a:schemeClr val="tx1"/>
                </a:solidFill>
                <a:effectLst/>
                <a:latin typeface="+mn-lt"/>
                <a:ea typeface="+mn-ea"/>
                <a:cs typeface="+mn-cs"/>
              </a:rPr>
              <a:t>dict</a:t>
            </a:r>
            <a:r>
              <a:rPr lang="zh-CN" altLang="en-US" sz="1200" b="0" i="0" u="none" strike="noStrike" kern="1200" dirty="0">
                <a:solidFill>
                  <a:schemeClr val="tx1"/>
                </a:solidFill>
                <a:effectLst/>
                <a:latin typeface="+mn-lt"/>
                <a:ea typeface="+mn-ea"/>
                <a:cs typeface="+mn-cs"/>
              </a:rPr>
              <a:t>文件的位置</a:t>
            </a:r>
            <a:endParaRPr lang="en-US" altLang="zh-CN" sz="1200" b="0" i="0" u="none" strike="noStrike"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zh-CN" sz="1200" dirty="0" err="1">
                <a:latin typeface="微软雅黑" panose="020B0503020204020204" pitchFamily="34" charset="-122"/>
                <a:ea typeface="微软雅黑" panose="020B0503020204020204" pitchFamily="34" charset="-122"/>
                <a:cs typeface="宋体" charset="0"/>
              </a:rPr>
              <a:t>judge.conf</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过滤阈值和策略权重配置文件</a:t>
            </a:r>
            <a:endParaRPr kumimoji="1" lang="en-US" altLang="zh-CN" sz="1200" dirty="0">
              <a:latin typeface="微软雅黑" panose="020B0503020204020204" pitchFamily="34" charset="-122"/>
              <a:ea typeface="微软雅黑" panose="020B0503020204020204" pitchFamily="34" charset="-122"/>
              <a:cs typeface="宋体"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zh-CN" sz="1200" dirty="0">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0410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策略和特征是过滤过程中不可或缺的要素，那么特征和策略从哪来呢。</a:t>
            </a:r>
            <a:endParaRPr lang="en-US" altLang="zh-CN" dirty="0"/>
          </a:p>
          <a:p>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Arial" panose="020B0604020202020204" pitchFamily="34" charset="0"/>
                <a:ea typeface="+mn-ea"/>
                <a:cs typeface="+mn-cs"/>
              </a:rPr>
              <a:t>一个计费名下可能点击量较小，我们通过</a:t>
            </a:r>
            <a:r>
              <a:rPr lang="en-US" altLang="zh-CN" sz="1200" kern="1200" dirty="0" err="1">
                <a:solidFill>
                  <a:schemeClr val="tx1"/>
                </a:solidFill>
                <a:effectLst/>
                <a:latin typeface="Arial" panose="020B0604020202020204" pitchFamily="34" charset="0"/>
                <a:ea typeface="+mn-ea"/>
                <a:cs typeface="+mn-cs"/>
              </a:rPr>
              <a:t>baiduid</a:t>
            </a:r>
            <a:r>
              <a:rPr lang="zh-CN" altLang="zh-CN" sz="1200" kern="1200" dirty="0">
                <a:solidFill>
                  <a:schemeClr val="tx1"/>
                </a:solidFill>
                <a:effectLst/>
                <a:latin typeface="Arial" panose="020B0604020202020204" pitchFamily="34" charset="0"/>
                <a:ea typeface="+mn-ea"/>
                <a:cs typeface="+mn-cs"/>
              </a:rPr>
              <a:t>将同一个</a:t>
            </a:r>
            <a:r>
              <a:rPr lang="en-US" altLang="zh-CN" sz="1200" kern="1200" dirty="0" err="1">
                <a:solidFill>
                  <a:schemeClr val="tx1"/>
                </a:solidFill>
                <a:effectLst/>
                <a:latin typeface="Arial" panose="020B0604020202020204" pitchFamily="34" charset="0"/>
                <a:ea typeface="+mn-ea"/>
                <a:cs typeface="+mn-cs"/>
              </a:rPr>
              <a:t>baiduid</a:t>
            </a:r>
            <a:r>
              <a:rPr lang="zh-CN" altLang="zh-CN" sz="1200" kern="1200" dirty="0">
                <a:solidFill>
                  <a:schemeClr val="tx1"/>
                </a:solidFill>
                <a:effectLst/>
                <a:latin typeface="Arial" panose="020B0604020202020204" pitchFamily="34" charset="0"/>
                <a:ea typeface="+mn-ea"/>
                <a:cs typeface="+mn-cs"/>
              </a:rPr>
              <a:t>点击的计费名聚合成一个新的维度，因为团伙作弊一般较为集中于某一些计费名，通过将相关联计费名聚合起来，更具有统计意义，主要用于发现人工团伙少量作弊。</a:t>
            </a:r>
          </a:p>
          <a:p>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Arial" panose="020B0604020202020204" pitchFamily="34" charset="0"/>
                <a:ea typeface="+mn-ea"/>
                <a:cs typeface="+mn-cs"/>
              </a:rPr>
              <a:t>针对变换</a:t>
            </a:r>
            <a:r>
              <a:rPr lang="en-US" altLang="zh-CN" sz="1200" kern="1200" dirty="0">
                <a:solidFill>
                  <a:schemeClr val="tx1"/>
                </a:solidFill>
                <a:effectLst/>
                <a:latin typeface="Arial" panose="020B0604020202020204" pitchFamily="34" charset="0"/>
                <a:ea typeface="+mn-ea"/>
                <a:cs typeface="+mn-cs"/>
              </a:rPr>
              <a:t>query</a:t>
            </a:r>
            <a:r>
              <a:rPr lang="zh-CN" altLang="zh-CN" sz="1200" kern="1200" dirty="0">
                <a:solidFill>
                  <a:schemeClr val="tx1"/>
                </a:solidFill>
                <a:effectLst/>
                <a:latin typeface="Arial" panose="020B0604020202020204" pitchFamily="34" charset="0"/>
                <a:ea typeface="+mn-ea"/>
                <a:cs typeface="+mn-cs"/>
              </a:rPr>
              <a:t>但是</a:t>
            </a:r>
            <a:r>
              <a:rPr lang="en-US" altLang="zh-CN" sz="1200" kern="1200" dirty="0">
                <a:solidFill>
                  <a:schemeClr val="tx1"/>
                </a:solidFill>
                <a:effectLst/>
                <a:latin typeface="Arial" panose="020B0604020202020204" pitchFamily="34" charset="0"/>
                <a:ea typeface="+mn-ea"/>
                <a:cs typeface="+mn-cs"/>
              </a:rPr>
              <a:t>query</a:t>
            </a:r>
            <a:r>
              <a:rPr lang="zh-CN" altLang="zh-CN" sz="1200" kern="1200" dirty="0">
                <a:solidFill>
                  <a:schemeClr val="tx1"/>
                </a:solidFill>
                <a:effectLst/>
                <a:latin typeface="Arial" panose="020B0604020202020204" pitchFamily="34" charset="0"/>
                <a:ea typeface="+mn-ea"/>
                <a:cs typeface="+mn-cs"/>
              </a:rPr>
              <a:t>中有重复片段的作弊场景</a:t>
            </a:r>
            <a:r>
              <a:rPr lang="zh-CN" altLang="en-US" sz="1200" kern="1200" dirty="0">
                <a:solidFill>
                  <a:schemeClr val="tx1"/>
                </a:solidFill>
                <a:effectLst/>
                <a:latin typeface="Arial" panose="020B0604020202020204" pitchFamily="34" charset="0"/>
                <a:ea typeface="+mn-ea"/>
                <a:cs typeface="+mn-cs"/>
              </a:rPr>
              <a:t>，</a:t>
            </a:r>
            <a:r>
              <a:rPr lang="zh-CN" altLang="zh-CN" sz="1200" kern="1200" dirty="0">
                <a:solidFill>
                  <a:schemeClr val="tx1"/>
                </a:solidFill>
                <a:effectLst/>
                <a:latin typeface="Arial" panose="020B0604020202020204" pitchFamily="34" charset="0"/>
                <a:ea typeface="+mn-ea"/>
                <a:cs typeface="+mn-cs"/>
              </a:rPr>
              <a:t>将</a:t>
            </a:r>
            <a:r>
              <a:rPr lang="en-US" altLang="zh-CN" sz="1200" kern="1200" dirty="0">
                <a:solidFill>
                  <a:schemeClr val="tx1"/>
                </a:solidFill>
                <a:effectLst/>
                <a:latin typeface="Arial" panose="020B0604020202020204" pitchFamily="34" charset="0"/>
                <a:ea typeface="+mn-ea"/>
                <a:cs typeface="+mn-cs"/>
              </a:rPr>
              <a:t>query</a:t>
            </a:r>
            <a:r>
              <a:rPr lang="zh-CN" altLang="zh-CN" sz="1200" kern="1200" dirty="0">
                <a:solidFill>
                  <a:schemeClr val="tx1"/>
                </a:solidFill>
                <a:effectLst/>
                <a:latin typeface="Arial" panose="020B0604020202020204" pitchFamily="34" charset="0"/>
                <a:ea typeface="+mn-ea"/>
                <a:cs typeface="+mn-cs"/>
              </a:rPr>
              <a:t>进行切词，对每个切好的分词片段作为一个维度对象</a:t>
            </a:r>
            <a:r>
              <a:rPr lang="en-US" altLang="zh-CN" sz="1200" kern="1200" dirty="0">
                <a:solidFill>
                  <a:schemeClr val="tx1"/>
                </a:solidFill>
                <a:effectLst/>
                <a:latin typeface="Arial" panose="020B0604020202020204" pitchFamily="34" charset="0"/>
                <a:ea typeface="+mn-ea"/>
                <a:cs typeface="+mn-cs"/>
              </a:rPr>
              <a:t>.</a:t>
            </a:r>
            <a:r>
              <a:rPr lang="zh-CN" altLang="zh-CN" sz="1200" kern="1200" dirty="0">
                <a:solidFill>
                  <a:schemeClr val="tx1"/>
                </a:solidFill>
                <a:effectLst/>
                <a:latin typeface="Arial" panose="020B0604020202020204" pitchFamily="34" charset="0"/>
                <a:ea typeface="+mn-ea"/>
                <a:cs typeface="+mn-cs"/>
              </a:rPr>
              <a:t>比如：</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加速器，</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加速，</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加速好不好，通过切词能将重复片段提取出来即</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，然后聚合成一定量</a:t>
            </a:r>
            <a:r>
              <a:rPr lang="zh-CN" altLang="en-US" sz="1200" kern="1200" dirty="0">
                <a:solidFill>
                  <a:schemeClr val="tx1"/>
                </a:solidFill>
                <a:effectLst/>
                <a:latin typeface="Arial" panose="020B0604020202020204" pitchFamily="34" charset="0"/>
                <a:ea typeface="+mn-ea"/>
                <a:cs typeface="+mn-cs"/>
              </a:rPr>
              <a:t>。</a:t>
            </a:r>
            <a:endParaRPr lang="en-US" altLang="zh-CN" sz="1200" kern="1200" dirty="0">
              <a:solidFill>
                <a:schemeClr val="tx1"/>
              </a:solidFill>
              <a:effectLst/>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Arial" panose="020B0604020202020204" pitchFamily="34" charset="0"/>
                <a:ea typeface="+mn-ea"/>
                <a:cs typeface="+mn-cs"/>
              </a:rPr>
              <a:t>将维度对象进行一定的处理，就得到简单特征。</a:t>
            </a:r>
            <a:endParaRPr lang="zh-CN" altLang="zh-CN" sz="1200" kern="1200" dirty="0">
              <a:solidFill>
                <a:schemeClr val="tx1"/>
              </a:solidFill>
              <a:effectLst/>
              <a:latin typeface="Arial" panose="020B0604020202020204" pitchFamily="34" charset="0"/>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14</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01220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16</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00185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a:solidFill>
                  <a:schemeClr val="tx1"/>
                </a:solidFill>
                <a:latin typeface="Arial" panose="020B0604020202020204" pitchFamily="34" charset="0"/>
                <a:ea typeface="宋体" charset="0"/>
                <a:cs typeface="宋体" charset="0"/>
              </a:rPr>
              <a:t>当日志满足</a:t>
            </a:r>
            <a:r>
              <a:rPr kumimoji="1" lang="en-US" altLang="zh-CN" sz="1200" kern="1200" dirty="0" err="1">
                <a:solidFill>
                  <a:schemeClr val="tx1"/>
                </a:solidFill>
                <a:latin typeface="Arial" panose="020B0604020202020204" pitchFamily="34" charset="0"/>
                <a:ea typeface="宋体" charset="0"/>
                <a:cs typeface="宋体" charset="0"/>
              </a:rPr>
              <a:t>carespace</a:t>
            </a:r>
            <a:r>
              <a:rPr kumimoji="1" lang="zh-CN" altLang="en-US" sz="1200" kern="1200" dirty="0">
                <a:solidFill>
                  <a:schemeClr val="tx1"/>
                </a:solidFill>
                <a:latin typeface="Arial" panose="020B0604020202020204" pitchFamily="34" charset="0"/>
                <a:ea typeface="宋体" charset="0"/>
                <a:cs typeface="宋体" charset="0"/>
              </a:rPr>
              <a:t>时，就执行特征抽取和特征累计过程</a:t>
            </a:r>
            <a:r>
              <a:rPr kumimoji="1" lang="en-US" altLang="zh-CN" sz="1200" kern="1200" dirty="0">
                <a:solidFill>
                  <a:schemeClr val="tx1"/>
                </a:solidFill>
                <a:latin typeface="Arial" panose="020B0604020202020204" pitchFamily="34" charset="0"/>
                <a:ea typeface="宋体" charset="0"/>
                <a:cs typeface="宋体" charset="0"/>
              </a:rPr>
              <a:t>(</a:t>
            </a:r>
            <a:r>
              <a:rPr kumimoji="1" lang="zh-CN" altLang="en-US" sz="1200" kern="1200" dirty="0">
                <a:solidFill>
                  <a:schemeClr val="tx1"/>
                </a:solidFill>
                <a:latin typeface="Arial" panose="020B0604020202020204" pitchFamily="34" charset="0"/>
                <a:ea typeface="宋体" charset="0"/>
                <a:cs typeface="宋体" charset="0"/>
              </a:rPr>
              <a:t>返回特征输出的结果</a:t>
            </a:r>
            <a:r>
              <a:rPr kumimoji="1" lang="en-US" altLang="zh-CN" sz="1200" kern="1200" dirty="0">
                <a:solidFill>
                  <a:schemeClr val="tx1"/>
                </a:solidFill>
                <a:latin typeface="Arial" panose="020B0604020202020204" pitchFamily="34" charset="0"/>
                <a:ea typeface="宋体" charset="0"/>
                <a:cs typeface="宋体" charset="0"/>
              </a:rPr>
              <a:t>)</a:t>
            </a:r>
            <a:r>
              <a:rPr kumimoji="1" lang="zh-CN" altLang="en-US" sz="1200" kern="1200" dirty="0">
                <a:solidFill>
                  <a:schemeClr val="tx1"/>
                </a:solidFill>
                <a:latin typeface="Arial" panose="020B0604020202020204" pitchFamily="34" charset="0"/>
                <a:ea typeface="宋体" charset="0"/>
                <a:cs typeface="宋体" charset="0"/>
              </a:rPr>
              <a:t>，如果不满足，就直接跳过日志，这时候该日志未被策略命中。</a:t>
            </a: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18</a:t>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19</a:t>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为什么会有段：</a:t>
            </a:r>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a:t>作弊者不断改进自己的作弊手法，高级的作弊仅从单条日志已经很难看出来了，这时候往往需要结合日志的上下文进行分析，</a:t>
            </a:r>
            <a:r>
              <a:rPr lang="zh-CN" altLang="zh-CN" sz="1200" kern="1200" dirty="0">
                <a:solidFill>
                  <a:schemeClr val="tx1"/>
                </a:solidFill>
                <a:effectLst/>
                <a:latin typeface="+mn-lt"/>
                <a:ea typeface="+mn-ea"/>
                <a:cs typeface="+mn-cs"/>
              </a:rPr>
              <a:t>主要因为</a:t>
            </a:r>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时间和流量首先具有连续可统计性，可分区间这样的自然特点</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而且作弊行为特点跟时间和日志到达先后有联系</a:t>
            </a:r>
            <a:r>
              <a:rPr lang="zh-CN" altLang="en-US" dirty="0"/>
              <a:t>。比如通过对用户行为学的分析，我们认为一秒内正常用户是不会重复点击两次的，那么这时候我们就可以统计一秒内来自同一</a:t>
            </a:r>
            <a:r>
              <a:rPr lang="en-US" altLang="zh-CN" dirty="0" err="1"/>
              <a:t>ip</a:t>
            </a:r>
            <a:r>
              <a:rPr lang="zh-CN" altLang="en-US" dirty="0"/>
              <a:t>的点击次数，如果超过</a:t>
            </a:r>
            <a:r>
              <a:rPr lang="en-US" altLang="zh-CN" dirty="0"/>
              <a:t>1</a:t>
            </a:r>
            <a:r>
              <a:rPr lang="zh-CN" altLang="en-US" dirty="0"/>
              <a:t>就认为是作弊行为，并采取过滤手段，这里</a:t>
            </a:r>
            <a:r>
              <a:rPr lang="en-US" altLang="zh-CN" dirty="0"/>
              <a:t>1</a:t>
            </a:r>
            <a:r>
              <a:rPr lang="zh-CN" altLang="en-US" dirty="0"/>
              <a:t>秒就是段。</a:t>
            </a:r>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a:t>日志的存储也会有乱序的情况，这是因为从使用者发出请求到记录这条检索的信息存在延迟。</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20</a:t>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dirty="0" err="1">
                <a:latin typeface="微软雅黑" panose="020B0503020204020204" pitchFamily="34" charset="-122"/>
                <a:ea typeface="微软雅黑" panose="020B0503020204020204" pitchFamily="34" charset="-122"/>
                <a:cs typeface="宋体" charset="0"/>
              </a:rPr>
              <a:t>Dict</a:t>
            </a:r>
            <a:endParaRPr kumimoji="1" lang="en-US" altLang="zh-CN" sz="1200" dirty="0">
              <a:latin typeface="微软雅黑" panose="020B0503020204020204" pitchFamily="34" charset="-122"/>
              <a:ea typeface="微软雅黑" panose="020B0503020204020204" pitchFamily="34" charset="-122"/>
              <a:cs typeface="宋体" charset="0"/>
            </a:endParaRPr>
          </a:p>
          <a:p>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en-US" altLang="zh-CN" sz="1200" dirty="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 特征抽取时（</a:t>
            </a:r>
            <a:r>
              <a:rPr kumimoji="1" lang="en-US" altLang="zh-CN" sz="1200" dirty="0">
                <a:latin typeface="微软雅黑" panose="020B0503020204020204" pitchFamily="34" charset="-122"/>
                <a:ea typeface="微软雅黑" panose="020B0503020204020204" pitchFamily="34" charset="-122"/>
                <a:cs typeface="宋体" charset="0"/>
              </a:rPr>
              <a:t>record</a:t>
            </a:r>
            <a:r>
              <a:rPr kumimoji="1" lang="zh-CN" altLang="en-US" sz="1200" dirty="0">
                <a:latin typeface="微软雅黑" panose="020B0503020204020204" pitchFamily="34" charset="-122"/>
                <a:ea typeface="微软雅黑" panose="020B0503020204020204" pitchFamily="34" charset="-122"/>
                <a:cs typeface="宋体" charset="0"/>
              </a:rPr>
              <a:t>）用的</a:t>
            </a:r>
            <a:r>
              <a:rPr kumimoji="1" lang="en-US" altLang="zh-CN" sz="1200" dirty="0" err="1">
                <a:latin typeface="微软雅黑" panose="020B0503020204020204" pitchFamily="34" charset="-122"/>
                <a:ea typeface="微软雅黑" panose="020B0503020204020204" pitchFamily="34" charset="-122"/>
                <a:cs typeface="宋体" charset="0"/>
              </a:rPr>
              <a:t>kv</a:t>
            </a:r>
            <a:r>
              <a:rPr kumimoji="1" lang="zh-CN" altLang="en-US" sz="1200" dirty="0">
                <a:latin typeface="微软雅黑" panose="020B0503020204020204" pitchFamily="34" charset="-122"/>
                <a:ea typeface="微软雅黑" panose="020B0503020204020204" pitchFamily="34" charset="-122"/>
                <a:cs typeface="宋体" charset="0"/>
              </a:rPr>
              <a:t>词表</a:t>
            </a:r>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en-US" altLang="zh-CN" sz="1200" dirty="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 上面</a:t>
            </a:r>
            <a:r>
              <a:rPr kumimoji="1" lang="en-US" altLang="zh-CN" sz="1200" dirty="0" err="1">
                <a:latin typeface="微软雅黑" panose="020B0503020204020204" pitchFamily="34" charset="-122"/>
                <a:ea typeface="微软雅黑" panose="020B0503020204020204" pitchFamily="34" charset="-122"/>
                <a:cs typeface="宋体" charset="0"/>
              </a:rPr>
              <a:t>Feture</a:t>
            </a:r>
            <a:r>
              <a:rPr kumimoji="1" lang="zh-CN" altLang="en-US" sz="1200" dirty="0">
                <a:latin typeface="微软雅黑" panose="020B0503020204020204" pitchFamily="34" charset="-122"/>
                <a:ea typeface="微软雅黑" panose="020B0503020204020204" pitchFamily="34" charset="-122"/>
                <a:cs typeface="宋体" charset="0"/>
              </a:rPr>
              <a:t>的</a:t>
            </a:r>
            <a:r>
              <a:rPr kumimoji="1" lang="en-US" altLang="zh-CN" sz="1200" dirty="0" err="1">
                <a:latin typeface="微软雅黑" panose="020B0503020204020204" pitchFamily="34" charset="-122"/>
                <a:ea typeface="微软雅黑" panose="020B0503020204020204" pitchFamily="34" charset="-122"/>
                <a:cs typeface="宋体" charset="0"/>
              </a:rPr>
              <a:t>carespace</a:t>
            </a:r>
            <a:r>
              <a:rPr kumimoji="1" lang="zh-CN" altLang="en-US" sz="1200" dirty="0">
                <a:latin typeface="微软雅黑" panose="020B0503020204020204" pitchFamily="34" charset="-122"/>
                <a:ea typeface="微软雅黑" panose="020B0503020204020204" pitchFamily="34" charset="-122"/>
                <a:cs typeface="宋体" charset="0"/>
              </a:rPr>
              <a:t>用的</a:t>
            </a:r>
            <a:r>
              <a:rPr kumimoji="1" lang="en-US" altLang="zh-CN" sz="1200" dirty="0">
                <a:latin typeface="微软雅黑" panose="020B0503020204020204" pitchFamily="34" charset="-122"/>
                <a:ea typeface="微软雅黑" panose="020B0503020204020204" pitchFamily="34" charset="-122"/>
                <a:cs typeface="宋体" charset="0"/>
              </a:rPr>
              <a:t>set</a:t>
            </a:r>
            <a:r>
              <a:rPr kumimoji="1" lang="zh-CN" altLang="en-US" sz="1200" dirty="0">
                <a:latin typeface="微软雅黑" panose="020B0503020204020204" pitchFamily="34" charset="-122"/>
                <a:ea typeface="微软雅黑" panose="020B0503020204020204" pitchFamily="34" charset="-122"/>
                <a:cs typeface="宋体" charset="0"/>
              </a:rPr>
              <a:t>词表</a:t>
            </a:r>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71274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690388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81524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19553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26</a:t>
            </a:fld>
            <a:endParaRPr kumimoji="1" lang="zh-CN" altLang="en-US"/>
          </a:p>
        </p:txBody>
      </p:sp>
    </p:spTree>
    <p:extLst>
      <p:ext uri="{BB962C8B-B14F-4D97-AF65-F5344CB8AC3E}">
        <p14:creationId xmlns:p14="http://schemas.microsoft.com/office/powerpoint/2010/main" val="2824626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神盾平台</a:t>
            </a:r>
            <a:endParaRPr lang="en-US" altLang="zh-CN" dirty="0"/>
          </a:p>
          <a:p>
            <a:endParaRPr lang="en-US" altLang="zh-CN" dirty="0"/>
          </a:p>
          <a:p>
            <a:r>
              <a:rPr lang="zh-CN" altLang="en-US" dirty="0"/>
              <a:t>日志和配置文件是反作弊系统运行的基础，神盾策略管理平台的主要任务就是管理五种配置文件的上线过程</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27</a:t>
            </a:fld>
            <a:endParaRPr kumimoji="1" lang="zh-CN" altLang="en-US"/>
          </a:p>
        </p:txBody>
      </p:sp>
    </p:spTree>
    <p:extLst>
      <p:ext uri="{BB962C8B-B14F-4D97-AF65-F5344CB8AC3E}">
        <p14:creationId xmlns:p14="http://schemas.microsoft.com/office/powerpoint/2010/main" val="1211671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神盾平台</a:t>
            </a:r>
            <a:endParaRPr lang="en-US" altLang="zh-CN" dirty="0"/>
          </a:p>
          <a:p>
            <a:endParaRPr lang="en-US" altLang="zh-CN" dirty="0"/>
          </a:p>
          <a:p>
            <a:r>
              <a:rPr lang="zh-CN" altLang="en-US" dirty="0"/>
              <a:t>日志和配置文件是反作弊系统运行的基础，神盾策略管理平台的主要任务就是：把数据库里面的配置进行文件化的管理。</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28</a:t>
            </a:fld>
            <a:endParaRPr kumimoji="1" lang="zh-CN" altLang="en-US"/>
          </a:p>
        </p:txBody>
      </p:sp>
    </p:spTree>
    <p:extLst>
      <p:ext uri="{BB962C8B-B14F-4D97-AF65-F5344CB8AC3E}">
        <p14:creationId xmlns:p14="http://schemas.microsoft.com/office/powerpoint/2010/main" val="214514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神盾平台</a:t>
            </a:r>
            <a:endParaRPr lang="en-US" altLang="zh-CN" dirty="0"/>
          </a:p>
          <a:p>
            <a:endParaRPr lang="en-US" altLang="zh-CN" dirty="0"/>
          </a:p>
          <a:p>
            <a:r>
              <a:rPr lang="zh-CN" altLang="en-US" dirty="0"/>
              <a:t>日志和配置文件是反作弊系统运行的基础，神盾策略管理平台的主要任务就是管理五种配置文件的上线过程</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29</a:t>
            </a:fld>
            <a:endParaRPr kumimoji="1" lang="zh-CN" altLang="en-US"/>
          </a:p>
        </p:txBody>
      </p:sp>
    </p:spTree>
    <p:extLst>
      <p:ext uri="{BB962C8B-B14F-4D97-AF65-F5344CB8AC3E}">
        <p14:creationId xmlns:p14="http://schemas.microsoft.com/office/powerpoint/2010/main" val="13842394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数据表简单介绍</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30</a:t>
            </a:fld>
            <a:endParaRPr kumimoji="1" lang="zh-CN" altLang="en-US"/>
          </a:p>
        </p:txBody>
      </p:sp>
    </p:spTree>
    <p:extLst>
      <p:ext uri="{BB962C8B-B14F-4D97-AF65-F5344CB8AC3E}">
        <p14:creationId xmlns:p14="http://schemas.microsoft.com/office/powerpoint/2010/main" val="8872724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配置文件管理</a:t>
            </a:r>
            <a:endParaRPr lang="en-US" altLang="zh-CN"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t>日志和配置文件是反作弊系统运行的基础，神盾策略管理平台的主要任务就是管理五种配置文件的上线过程。</a:t>
            </a:r>
            <a:endParaRPr lang="en-US" altLang="zh-CN" dirty="0"/>
          </a:p>
          <a:p>
            <a:r>
              <a:rPr lang="zh-CN" altLang="en-US" dirty="0"/>
              <a:t>在处理空间内，可以进行策略调整和上线等操作。在完成所有的空间审批流程后：</a:t>
            </a:r>
            <a:endParaRPr lang="en-US" altLang="zh-CN" dirty="0"/>
          </a:p>
          <a:p>
            <a:r>
              <a:rPr lang="zh-CN" altLang="en-US" dirty="0"/>
              <a:t>空间内对应的五个配置数据库表中的文件内容，就会构建输出到对应的</a:t>
            </a:r>
            <a:r>
              <a:rPr lang="en-US" altLang="zh-CN" dirty="0"/>
              <a:t>conf</a:t>
            </a:r>
            <a:r>
              <a:rPr lang="zh-CN" altLang="en-US" dirty="0"/>
              <a:t>文件中，然后部署到</a:t>
            </a:r>
            <a:r>
              <a:rPr lang="en-US" altLang="zh-CN" dirty="0"/>
              <a:t>AFS</a:t>
            </a:r>
            <a:r>
              <a:rPr lang="zh-CN" altLang="en-US" dirty="0"/>
              <a:t>的对应目录。</a:t>
            </a:r>
            <a:endParaRPr lang="en-US" altLang="zh-CN" dirty="0"/>
          </a:p>
          <a:p>
            <a:endParaRPr lang="en-US" altLang="zh-CN" dirty="0"/>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rPr>
              <a:t>其中，每个</a:t>
            </a:r>
            <a:r>
              <a:rPr lang="en-US" altLang="zh-CN" dirty="0">
                <a:solidFill>
                  <a:srgbClr val="FF0000"/>
                </a:solidFill>
              </a:rPr>
              <a:t>project</a:t>
            </a:r>
            <a:r>
              <a:rPr lang="zh-CN" altLang="en-US" dirty="0">
                <a:solidFill>
                  <a:srgbClr val="FF0000"/>
                </a:solidFill>
              </a:rPr>
              <a:t>对应一个</a:t>
            </a:r>
            <a:r>
              <a:rPr lang="en-US" altLang="zh-CN" dirty="0" err="1">
                <a:solidFill>
                  <a:srgbClr val="FF0000"/>
                </a:solidFill>
              </a:rPr>
              <a:t>icode</a:t>
            </a:r>
            <a:r>
              <a:rPr lang="zh-CN" altLang="en-US" dirty="0">
                <a:solidFill>
                  <a:srgbClr val="FF0000"/>
                </a:solidFill>
              </a:rPr>
              <a:t>代码库，</a:t>
            </a:r>
            <a:r>
              <a:rPr lang="zh-CN" altLang="en-US" dirty="0">
                <a:solidFill>
                  <a:srgbClr val="FF0000"/>
                </a:solidFill>
                <a:effectLst/>
              </a:rPr>
              <a:t>对应</a:t>
            </a:r>
            <a:r>
              <a:rPr lang="en" altLang="zh-CN" dirty="0" err="1">
                <a:solidFill>
                  <a:srgbClr val="FF0000"/>
                </a:solidFill>
                <a:effectLst/>
              </a:rPr>
              <a:t>icode</a:t>
            </a:r>
            <a:r>
              <a:rPr lang="zh-CN" altLang="en-US" dirty="0">
                <a:solidFill>
                  <a:srgbClr val="FF0000"/>
                </a:solidFill>
                <a:effectLst/>
              </a:rPr>
              <a:t>上的一个代码库，用于提交代码。</a:t>
            </a:r>
            <a:endParaRPr lang="en-US" altLang="zh-CN" dirty="0">
              <a:solidFill>
                <a:srgbClr val="FF0000"/>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effectLst/>
              </a:rPr>
              <a:t>一般情况下一个代码库对应一条过滤流（一套配置），比如</a:t>
            </a:r>
            <a:r>
              <a:rPr lang="en" altLang="zh-CN" dirty="0" err="1">
                <a:solidFill>
                  <a:srgbClr val="FF0000"/>
                </a:solidFill>
                <a:effectLst/>
              </a:rPr>
              <a:t>baidu</a:t>
            </a:r>
            <a:r>
              <a:rPr lang="en" altLang="zh-CN" dirty="0">
                <a:solidFill>
                  <a:srgbClr val="FF0000"/>
                </a:solidFill>
                <a:effectLst/>
              </a:rPr>
              <a:t>/anti/click-policy</a:t>
            </a:r>
            <a:r>
              <a:rPr lang="zh-CN" altLang="en" dirty="0">
                <a:solidFill>
                  <a:srgbClr val="FF0000"/>
                </a:solidFill>
                <a:effectLst/>
              </a:rPr>
              <a:t>。</a:t>
            </a:r>
            <a:r>
              <a:rPr lang="zh-CN" altLang="en-US" dirty="0">
                <a:solidFill>
                  <a:srgbClr val="FF0000"/>
                </a:solidFill>
                <a:effectLst/>
              </a:rPr>
              <a:t>但也有一个库有多个流的情况，因此</a:t>
            </a:r>
            <a:r>
              <a:rPr lang="en" altLang="zh-CN" dirty="0" err="1">
                <a:solidFill>
                  <a:srgbClr val="FF0000"/>
                </a:solidFill>
                <a:effectLst/>
              </a:rPr>
              <a:t>conf_project</a:t>
            </a:r>
            <a:endParaRPr lang="en" altLang="zh-CN" dirty="0">
              <a:solidFill>
                <a:srgbClr val="FF0000"/>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effectLst/>
              </a:rPr>
              <a:t>加了一个子库表</a:t>
            </a:r>
            <a:r>
              <a:rPr lang="en" altLang="zh-CN" dirty="0" err="1">
                <a:solidFill>
                  <a:srgbClr val="FF0000"/>
                </a:solidFill>
                <a:effectLst/>
              </a:rPr>
              <a:t>conf_secondproject</a:t>
            </a:r>
            <a:r>
              <a:rPr lang="zh-CN" altLang="en-US" dirty="0">
                <a:solidFill>
                  <a:srgbClr val="FF0000"/>
                </a:solidFill>
                <a:effectLst/>
              </a:rPr>
              <a:t>，</a:t>
            </a:r>
            <a:r>
              <a:rPr lang="zh-CN" altLang="en" dirty="0">
                <a:solidFill>
                  <a:srgbClr val="FF0000"/>
                </a:solidFill>
                <a:effectLst/>
              </a:rPr>
              <a:t>即</a:t>
            </a:r>
            <a:r>
              <a:rPr lang="zh-CN" altLang="en-US" dirty="0">
                <a:solidFill>
                  <a:srgbClr val="FF0000"/>
                </a:solidFill>
                <a:effectLst/>
              </a:rPr>
              <a:t>一个</a:t>
            </a:r>
            <a:r>
              <a:rPr lang="en-US" altLang="zh-CN" dirty="0">
                <a:solidFill>
                  <a:srgbClr val="FF0000"/>
                </a:solidFill>
                <a:effectLst/>
              </a:rPr>
              <a:t>project</a:t>
            </a:r>
            <a:r>
              <a:rPr lang="zh-CN" altLang="en-US" dirty="0">
                <a:solidFill>
                  <a:srgbClr val="FF0000"/>
                </a:solidFill>
                <a:effectLst/>
              </a:rPr>
              <a:t>对应 一或多个</a:t>
            </a:r>
            <a:r>
              <a:rPr lang="en-US" altLang="zh-CN" dirty="0" err="1">
                <a:solidFill>
                  <a:srgbClr val="FF0000"/>
                </a:solidFill>
                <a:effectLst/>
              </a:rPr>
              <a:t>secondproject</a:t>
            </a:r>
            <a:r>
              <a:rPr lang="zh-CN" altLang="en-US" dirty="0">
                <a:solidFill>
                  <a:srgbClr val="FF0000"/>
                </a:solidFill>
                <a:effectLst/>
              </a:rPr>
              <a:t>，一个</a:t>
            </a:r>
            <a:r>
              <a:rPr lang="en-US" altLang="zh-CN" dirty="0" err="1">
                <a:solidFill>
                  <a:srgbClr val="FF0000"/>
                </a:solidFill>
                <a:effectLst/>
              </a:rPr>
              <a:t>secondproject</a:t>
            </a:r>
            <a:r>
              <a:rPr lang="zh-CN" altLang="en-US" dirty="0">
                <a:solidFill>
                  <a:srgbClr val="FF0000"/>
                </a:solidFill>
                <a:effectLst/>
              </a:rPr>
              <a:t>对应一个过滤流。其他表的</a:t>
            </a:r>
            <a:r>
              <a:rPr lang="en-US" altLang="zh-CN" dirty="0" err="1">
                <a:solidFill>
                  <a:srgbClr val="FF0000"/>
                </a:solidFill>
                <a:effectLst/>
              </a:rPr>
              <a:t>project_id</a:t>
            </a:r>
            <a:r>
              <a:rPr lang="zh-CN" altLang="en-US" dirty="0">
                <a:solidFill>
                  <a:srgbClr val="FF0000"/>
                </a:solidFill>
                <a:effectLst/>
              </a:rPr>
              <a:t>也是对应于</a:t>
            </a:r>
            <a:r>
              <a:rPr lang="en-US" altLang="zh-CN" dirty="0" err="1">
                <a:solidFill>
                  <a:srgbClr val="FF0000"/>
                </a:solidFill>
                <a:effectLst/>
              </a:rPr>
              <a:t>secondproject</a:t>
            </a:r>
            <a:r>
              <a:rPr lang="zh-CN" altLang="en-US" dirty="0">
                <a:solidFill>
                  <a:srgbClr val="FF0000"/>
                </a:solidFill>
                <a:effectLst/>
              </a:rPr>
              <a:t>的主键</a:t>
            </a:r>
            <a:r>
              <a:rPr lang="en-US" altLang="zh-CN" dirty="0">
                <a:solidFill>
                  <a:srgbClr val="FF0000"/>
                </a:solidFill>
                <a:effectLst/>
              </a:rPr>
              <a:t>id</a:t>
            </a:r>
            <a:r>
              <a:rPr lang="zh-CN" altLang="en-US" dirty="0">
                <a:solidFill>
                  <a:srgbClr val="FF0000"/>
                </a:solidFill>
                <a:effectLst/>
              </a:rPr>
              <a:t>，而不是</a:t>
            </a:r>
            <a:r>
              <a:rPr lang="en-US" altLang="zh-CN" dirty="0">
                <a:solidFill>
                  <a:srgbClr val="FF0000"/>
                </a:solidFill>
                <a:effectLst/>
              </a:rPr>
              <a:t>project</a:t>
            </a:r>
            <a:r>
              <a:rPr lang="zh-CN" altLang="en-US" dirty="0">
                <a:solidFill>
                  <a:srgbClr val="FF0000"/>
                </a:solidFill>
                <a:effectLst/>
              </a:rPr>
              <a:t>的，要注意！</a:t>
            </a:r>
            <a:endParaRPr lang="en-US" altLang="zh-CN" dirty="0">
              <a:solidFill>
                <a:srgbClr val="FF0000"/>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dirty="0">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t>每套流有一套配置文件</a:t>
            </a:r>
            <a:r>
              <a:rPr lang="en-US" altLang="zh-CN" dirty="0" err="1"/>
              <a:t>conf_file</a:t>
            </a:r>
            <a:r>
              <a:rPr lang="zh-CN" altLang="en-US" dirty="0"/>
              <a:t>，部署到</a:t>
            </a:r>
            <a:r>
              <a:rPr lang="en-US" altLang="zh-CN" dirty="0"/>
              <a:t>AFS</a:t>
            </a:r>
            <a:r>
              <a:rPr lang="zh-CN" altLang="en-US" dirty="0"/>
              <a:t>的一个文件夹，比如</a:t>
            </a:r>
            <a:r>
              <a:rPr lang="en-US" altLang="zh-CN" dirty="0"/>
              <a:t>click-</a:t>
            </a:r>
            <a:r>
              <a:rPr lang="en-US" altLang="zh-CN" dirty="0" err="1"/>
              <a:t>cpc</a:t>
            </a:r>
            <a:r>
              <a:rPr lang="en-US" altLang="zh-CN" dirty="0"/>
              <a:t>/conf</a:t>
            </a:r>
            <a:r>
              <a:rPr lang="zh-CN" altLang="en-US" dirty="0"/>
              <a:t>。</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31</a:t>
            </a:fld>
            <a:endParaRPr kumimoji="1" lang="zh-CN" altLang="en-US"/>
          </a:p>
        </p:txBody>
      </p:sp>
    </p:spTree>
    <p:extLst>
      <p:ext uri="{BB962C8B-B14F-4D97-AF65-F5344CB8AC3E}">
        <p14:creationId xmlns:p14="http://schemas.microsoft.com/office/powerpoint/2010/main" val="41887886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32</a:t>
            </a:fld>
            <a:endParaRPr kumimoji="1" lang="zh-CN" altLang="en-US"/>
          </a:p>
        </p:txBody>
      </p:sp>
    </p:spTree>
    <p:extLst>
      <p:ext uri="{BB962C8B-B14F-4D97-AF65-F5344CB8AC3E}">
        <p14:creationId xmlns:p14="http://schemas.microsoft.com/office/powerpoint/2010/main" val="15632400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33</a:t>
            </a:fld>
            <a:endParaRPr kumimoji="1" lang="zh-CN" altLang="en-US"/>
          </a:p>
        </p:txBody>
      </p:sp>
    </p:spTree>
    <p:extLst>
      <p:ext uri="{BB962C8B-B14F-4D97-AF65-F5344CB8AC3E}">
        <p14:creationId xmlns:p14="http://schemas.microsoft.com/office/powerpoint/2010/main" val="15338610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34</a:t>
            </a:fld>
            <a:endParaRPr kumimoji="1" lang="zh-CN" altLang="en-US"/>
          </a:p>
        </p:txBody>
      </p:sp>
    </p:spTree>
    <p:extLst>
      <p:ext uri="{BB962C8B-B14F-4D97-AF65-F5344CB8AC3E}">
        <p14:creationId xmlns:p14="http://schemas.microsoft.com/office/powerpoint/2010/main" val="12447713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 配置文件的管理是以</a:t>
            </a:r>
            <a:r>
              <a:rPr lang="en-US" altLang="zh-CN" dirty="0"/>
              <a:t>project</a:t>
            </a:r>
            <a:r>
              <a:rPr lang="zh-CN" altLang="en-US" dirty="0"/>
              <a:t>为基础，系统实现上则是以</a:t>
            </a:r>
            <a:r>
              <a:rPr lang="en-US" altLang="zh-CN" dirty="0" err="1"/>
              <a:t>casespace</a:t>
            </a:r>
            <a:r>
              <a:rPr lang="zh-CN" altLang="en-US" dirty="0"/>
              <a:t>为基础，操作都是空间中进行，比如策略上线。</a:t>
            </a:r>
            <a:endParaRPr lang="en-US" altLang="zh-CN" dirty="0"/>
          </a:p>
          <a:p>
            <a:endParaRPr lang="en-US" altLang="zh-CN" dirty="0"/>
          </a:p>
          <a:p>
            <a:r>
              <a:rPr lang="en-US" altLang="zh-CN" dirty="0"/>
              <a:t>-</a:t>
            </a:r>
            <a:r>
              <a:rPr lang="zh-CN" altLang="en-US" dirty="0"/>
              <a:t> </a:t>
            </a:r>
            <a:r>
              <a:rPr lang="en-US" altLang="zh-CN" dirty="0"/>
              <a:t>Process</a:t>
            </a:r>
            <a:r>
              <a:rPr lang="zh-CN" altLang="en-US" dirty="0"/>
              <a:t> </a:t>
            </a:r>
            <a:r>
              <a:rPr lang="en-US" altLang="zh-CN" dirty="0"/>
              <a:t>-&gt;</a:t>
            </a:r>
            <a:r>
              <a:rPr lang="zh-CN" altLang="en-US" dirty="0"/>
              <a:t> </a:t>
            </a:r>
            <a:r>
              <a:rPr lang="en-US" altLang="zh-CN" dirty="0"/>
              <a:t>Section</a:t>
            </a:r>
          </a:p>
          <a:p>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35</a:t>
            </a:fld>
            <a:endParaRPr kumimoji="1" lang="zh-CN" altLang="en-US"/>
          </a:p>
        </p:txBody>
      </p:sp>
    </p:spTree>
    <p:extLst>
      <p:ext uri="{BB962C8B-B14F-4D97-AF65-F5344CB8AC3E}">
        <p14:creationId xmlns:p14="http://schemas.microsoft.com/office/powerpoint/2010/main" val="9726184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 配置文件的管理是以</a:t>
            </a:r>
            <a:r>
              <a:rPr lang="en-US" altLang="zh-CN" dirty="0"/>
              <a:t>project</a:t>
            </a:r>
            <a:r>
              <a:rPr lang="zh-CN" altLang="en-US" dirty="0"/>
              <a:t>为基础，系统实现上则是以</a:t>
            </a:r>
            <a:r>
              <a:rPr lang="en-US" altLang="zh-CN" dirty="0" err="1"/>
              <a:t>casespace</a:t>
            </a:r>
            <a:r>
              <a:rPr lang="zh-CN" altLang="en-US" dirty="0"/>
              <a:t>为基础，操作都是空间中进行，比如策略上线。</a:t>
            </a:r>
            <a:endParaRPr lang="en-US" altLang="zh-CN" dirty="0"/>
          </a:p>
          <a:p>
            <a:endParaRPr lang="en-US" altLang="zh-CN" dirty="0"/>
          </a:p>
          <a:p>
            <a:r>
              <a:rPr lang="en-US" altLang="zh-CN" dirty="0"/>
              <a:t>-</a:t>
            </a:r>
            <a:r>
              <a:rPr lang="zh-CN" altLang="en-US" dirty="0"/>
              <a:t> </a:t>
            </a:r>
            <a:r>
              <a:rPr lang="en-US" altLang="zh-CN" dirty="0"/>
              <a:t>Process</a:t>
            </a:r>
            <a:r>
              <a:rPr lang="zh-CN" altLang="en-US" dirty="0"/>
              <a:t> </a:t>
            </a:r>
            <a:r>
              <a:rPr lang="en-US" altLang="zh-CN" dirty="0"/>
              <a:t>-&gt;</a:t>
            </a:r>
            <a:r>
              <a:rPr lang="zh-CN" altLang="en-US" dirty="0"/>
              <a:t> </a:t>
            </a:r>
            <a:r>
              <a:rPr lang="en-US" altLang="zh-CN" dirty="0"/>
              <a:t>Section</a:t>
            </a:r>
          </a:p>
          <a:p>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36</a:t>
            </a:fld>
            <a:endParaRPr kumimoji="1" lang="zh-CN" altLang="en-US"/>
          </a:p>
        </p:txBody>
      </p:sp>
    </p:spTree>
    <p:extLst>
      <p:ext uri="{BB962C8B-B14F-4D97-AF65-F5344CB8AC3E}">
        <p14:creationId xmlns:p14="http://schemas.microsoft.com/office/powerpoint/2010/main" val="31147846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 配置文件的管理是以</a:t>
            </a:r>
            <a:r>
              <a:rPr lang="en-US" altLang="zh-CN" dirty="0"/>
              <a:t>project</a:t>
            </a:r>
            <a:r>
              <a:rPr lang="zh-CN" altLang="en-US" dirty="0"/>
              <a:t>为基础，系统实现上则是以</a:t>
            </a:r>
            <a:r>
              <a:rPr lang="en-US" altLang="zh-CN" dirty="0" err="1"/>
              <a:t>casespace</a:t>
            </a:r>
            <a:r>
              <a:rPr lang="zh-CN" altLang="en-US" dirty="0"/>
              <a:t>为基础，操作都是空间中进行，比如策略上线。</a:t>
            </a:r>
            <a:endParaRPr lang="en-US" altLang="zh-CN" dirty="0"/>
          </a:p>
          <a:p>
            <a:endParaRPr lang="en-US" altLang="zh-CN" dirty="0"/>
          </a:p>
          <a:p>
            <a:r>
              <a:rPr lang="en-US" altLang="zh-CN" dirty="0"/>
              <a:t>Section</a:t>
            </a:r>
            <a:r>
              <a:rPr lang="zh-CN" altLang="en-US" dirty="0"/>
              <a:t> </a:t>
            </a:r>
            <a:r>
              <a:rPr lang="en-US" altLang="zh-CN" dirty="0"/>
              <a:t>-&gt;</a:t>
            </a:r>
            <a:r>
              <a:rPr lang="zh-CN" altLang="en-US" dirty="0"/>
              <a:t> </a:t>
            </a:r>
            <a:r>
              <a:rPr lang="en-US" altLang="zh-CN" dirty="0"/>
              <a:t>A</a:t>
            </a:r>
            <a:r>
              <a:rPr lang="en" altLang="zh-CN" dirty="0" err="1"/>
              <a:t>pprove</a:t>
            </a:r>
            <a:r>
              <a:rPr lang="en-US" altLang="zh-CN" dirty="0"/>
              <a:t>Section</a:t>
            </a:r>
            <a:r>
              <a:rPr lang="zh-CN" altLang="en-US" dirty="0"/>
              <a:t> </a:t>
            </a:r>
            <a:r>
              <a:rPr lang="en-US" altLang="zh-CN" dirty="0"/>
              <a:t>-&gt;</a:t>
            </a:r>
            <a:r>
              <a:rPr lang="zh-CN" altLang="en-US" dirty="0"/>
              <a:t> </a:t>
            </a:r>
            <a:r>
              <a:rPr lang="en-US" altLang="zh-CN" dirty="0" err="1"/>
              <a:t>AntiApproveSection</a:t>
            </a:r>
            <a:r>
              <a:rPr lang="zh-CN" altLang="en-US" dirty="0"/>
              <a:t> </a:t>
            </a:r>
            <a:r>
              <a:rPr lang="en-US" altLang="zh-CN" dirty="0"/>
              <a:t>-&gt;</a:t>
            </a:r>
            <a:r>
              <a:rPr lang="zh-CN" altLang="en-US" dirty="0"/>
              <a:t> </a:t>
            </a:r>
            <a:r>
              <a:rPr lang="en-US" altLang="zh-CN" dirty="0" err="1"/>
              <a:t>PolicyProcess</a:t>
            </a:r>
            <a:r>
              <a:rPr lang="zh-CN" altLang="en-US" dirty="0"/>
              <a:t> </a:t>
            </a:r>
            <a:r>
              <a:rPr lang="en-US" altLang="zh-CN" dirty="0"/>
              <a:t>&lt;-</a:t>
            </a:r>
            <a:r>
              <a:rPr lang="zh-CN" altLang="en-US" dirty="0"/>
              <a:t> </a:t>
            </a:r>
            <a:r>
              <a:rPr lang="en-US" altLang="zh-CN" dirty="0"/>
              <a:t>Process</a:t>
            </a:r>
          </a:p>
          <a:p>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37</a:t>
            </a:fld>
            <a:endParaRPr kumimoji="1" lang="zh-CN" altLang="en-US"/>
          </a:p>
        </p:txBody>
      </p:sp>
    </p:spTree>
    <p:extLst>
      <p:ext uri="{BB962C8B-B14F-4D97-AF65-F5344CB8AC3E}">
        <p14:creationId xmlns:p14="http://schemas.microsoft.com/office/powerpoint/2010/main" val="6637836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前面两个重要模块之外的主要内容</a:t>
            </a:r>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38</a:t>
            </a:fld>
            <a:endParaRPr kumimoji="1" lang="zh-CN" altLang="en-US"/>
          </a:p>
        </p:txBody>
      </p:sp>
    </p:spTree>
    <p:extLst>
      <p:ext uri="{BB962C8B-B14F-4D97-AF65-F5344CB8AC3E}">
        <p14:creationId xmlns:p14="http://schemas.microsoft.com/office/powerpoint/2010/main" val="28480965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先了解下神盾代码的结构（</a:t>
            </a:r>
            <a:r>
              <a:rPr lang="en-US" altLang="zh-CN" dirty="0" err="1"/>
              <a:t>django</a:t>
            </a:r>
            <a:r>
              <a:rPr lang="zh-CN" altLang="en-US" dirty="0"/>
              <a:t>）</a:t>
            </a:r>
            <a:r>
              <a:rPr lang="en-US" altLang="zh-CN" dirty="0"/>
              <a:t>,</a:t>
            </a:r>
            <a:r>
              <a:rPr lang="zh-CN" altLang="en-US" dirty="0"/>
              <a:t>以</a:t>
            </a:r>
            <a:r>
              <a:rPr lang="en-US" altLang="zh-CN" dirty="0" err="1"/>
              <a:t>casespace</a:t>
            </a:r>
            <a:r>
              <a:rPr lang="zh-CN" altLang="en-US" dirty="0"/>
              <a:t>为例</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39</a:t>
            </a:fld>
            <a:endParaRPr kumimoji="1" lang="zh-CN" altLang="en-US"/>
          </a:p>
        </p:txBody>
      </p:sp>
    </p:spTree>
    <p:extLst>
      <p:ext uri="{BB962C8B-B14F-4D97-AF65-F5344CB8AC3E}">
        <p14:creationId xmlns:p14="http://schemas.microsoft.com/office/powerpoint/2010/main" val="28468362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上述流程中，新建空间的代码流程</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40</a:t>
            </a:fld>
            <a:endParaRPr kumimoji="1" lang="zh-CN" altLang="en-US"/>
          </a:p>
        </p:txBody>
      </p:sp>
    </p:spTree>
    <p:extLst>
      <p:ext uri="{BB962C8B-B14F-4D97-AF65-F5344CB8AC3E}">
        <p14:creationId xmlns:p14="http://schemas.microsoft.com/office/powerpoint/2010/main" val="6264213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t>上述流程中，新建策略的代码流程</a:t>
            </a: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41</a:t>
            </a:fld>
            <a:endParaRPr kumimoji="1" lang="zh-CN" altLang="en-US"/>
          </a:p>
        </p:txBody>
      </p:sp>
    </p:spTree>
    <p:extLst>
      <p:ext uri="{BB962C8B-B14F-4D97-AF65-F5344CB8AC3E}">
        <p14:creationId xmlns:p14="http://schemas.microsoft.com/office/powerpoint/2010/main" val="27413959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dirty="0" err="1">
                <a:latin typeface="微软雅黑" panose="020B0503020204020204" pitchFamily="34" charset="-122"/>
                <a:ea typeface="微软雅黑" panose="020B0503020204020204" pitchFamily="34" charset="-122"/>
                <a:cs typeface="宋体" charset="0"/>
              </a:rPr>
              <a:t>Dict</a:t>
            </a:r>
            <a:endParaRPr kumimoji="1" lang="en-US" altLang="zh-CN" sz="1200" dirty="0">
              <a:latin typeface="微软雅黑" panose="020B0503020204020204" pitchFamily="34" charset="-122"/>
              <a:ea typeface="微软雅黑" panose="020B0503020204020204" pitchFamily="34" charset="-122"/>
              <a:cs typeface="宋体" charset="0"/>
            </a:endParaRPr>
          </a:p>
          <a:p>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zh-CN" altLang="en-US" sz="1200" dirty="0">
                <a:latin typeface="微软雅黑" panose="020B0503020204020204" pitchFamily="34" charset="-122"/>
                <a:ea typeface="微软雅黑" panose="020B0503020204020204" pitchFamily="34" charset="-122"/>
                <a:cs typeface="宋体" charset="0"/>
              </a:rPr>
              <a:t>特征抽取时用的</a:t>
            </a:r>
            <a:r>
              <a:rPr kumimoji="1" lang="en-US" altLang="zh-CN" sz="1200" dirty="0" err="1">
                <a:latin typeface="微软雅黑" panose="020B0503020204020204" pitchFamily="34" charset="-122"/>
                <a:ea typeface="微软雅黑" panose="020B0503020204020204" pitchFamily="34" charset="-122"/>
                <a:cs typeface="宋体" charset="0"/>
              </a:rPr>
              <a:t>kv</a:t>
            </a:r>
            <a:r>
              <a:rPr kumimoji="1" lang="zh-CN" altLang="en-US" sz="1200" dirty="0">
                <a:latin typeface="微软雅黑" panose="020B0503020204020204" pitchFamily="34" charset="-122"/>
                <a:ea typeface="微软雅黑" panose="020B0503020204020204" pitchFamily="34" charset="-122"/>
                <a:cs typeface="宋体" charset="0"/>
              </a:rPr>
              <a:t>词表</a:t>
            </a:r>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en-US" altLang="zh-CN" sz="1200" dirty="0" err="1">
                <a:latin typeface="微软雅黑" panose="020B0503020204020204" pitchFamily="34" charset="-122"/>
                <a:ea typeface="微软雅黑" panose="020B0503020204020204" pitchFamily="34" charset="-122"/>
                <a:cs typeface="宋体" charset="0"/>
              </a:rPr>
              <a:t>Feture</a:t>
            </a:r>
            <a:r>
              <a:rPr kumimoji="1" lang="zh-CN" altLang="en-US" sz="1200" dirty="0">
                <a:latin typeface="微软雅黑" panose="020B0503020204020204" pitchFamily="34" charset="-122"/>
                <a:ea typeface="微软雅黑" panose="020B0503020204020204" pitchFamily="34" charset="-122"/>
                <a:cs typeface="宋体" charset="0"/>
              </a:rPr>
              <a:t>的</a:t>
            </a:r>
            <a:r>
              <a:rPr kumimoji="1" lang="en-US" altLang="zh-CN" sz="1200" dirty="0" err="1">
                <a:latin typeface="微软雅黑" panose="020B0503020204020204" pitchFamily="34" charset="-122"/>
                <a:ea typeface="微软雅黑" panose="020B0503020204020204" pitchFamily="34" charset="-122"/>
                <a:cs typeface="宋体" charset="0"/>
              </a:rPr>
              <a:t>carespace</a:t>
            </a:r>
            <a:r>
              <a:rPr kumimoji="1" lang="zh-CN" altLang="en-US" sz="1200" dirty="0">
                <a:latin typeface="微软雅黑" panose="020B0503020204020204" pitchFamily="34" charset="-122"/>
                <a:ea typeface="微软雅黑" panose="020B0503020204020204" pitchFamily="34" charset="-122"/>
                <a:cs typeface="宋体" charset="0"/>
              </a:rPr>
              <a:t>用的</a:t>
            </a:r>
            <a:r>
              <a:rPr kumimoji="1" lang="en-US" altLang="zh-CN" sz="1200" dirty="0">
                <a:latin typeface="微软雅黑" panose="020B0503020204020204" pitchFamily="34" charset="-122"/>
                <a:ea typeface="微软雅黑" panose="020B0503020204020204" pitchFamily="34" charset="-122"/>
                <a:cs typeface="宋体" charset="0"/>
              </a:rPr>
              <a:t>set</a:t>
            </a:r>
            <a:r>
              <a:rPr kumimoji="1" lang="zh-CN" altLang="en-US" sz="1200" dirty="0">
                <a:latin typeface="微软雅黑" panose="020B0503020204020204" pitchFamily="34" charset="-122"/>
                <a:ea typeface="微软雅黑" panose="020B0503020204020204" pitchFamily="34" charset="-122"/>
                <a:cs typeface="宋体" charset="0"/>
              </a:rPr>
              <a:t>词表</a:t>
            </a:r>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724472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a:solidFill>
                  <a:schemeClr val="tx1"/>
                </a:solidFill>
                <a:latin typeface="Arial" panose="020B0604020202020204" pitchFamily="34" charset="0"/>
                <a:ea typeface="宋体" charset="0"/>
                <a:cs typeface="宋体" charset="0"/>
              </a:rPr>
              <a:t>当日志满足</a:t>
            </a:r>
            <a:r>
              <a:rPr kumimoji="1" lang="en-US" altLang="zh-CN" sz="1200" kern="1200" dirty="0" err="1">
                <a:solidFill>
                  <a:schemeClr val="tx1"/>
                </a:solidFill>
                <a:latin typeface="Arial" panose="020B0604020202020204" pitchFamily="34" charset="0"/>
                <a:ea typeface="宋体" charset="0"/>
                <a:cs typeface="宋体" charset="0"/>
              </a:rPr>
              <a:t>carespace</a:t>
            </a:r>
            <a:r>
              <a:rPr kumimoji="1" lang="zh-CN" altLang="en-US" sz="1200" kern="1200" dirty="0">
                <a:solidFill>
                  <a:schemeClr val="tx1"/>
                </a:solidFill>
                <a:latin typeface="Arial" panose="020B0604020202020204" pitchFamily="34" charset="0"/>
                <a:ea typeface="宋体" charset="0"/>
                <a:cs typeface="宋体" charset="0"/>
              </a:rPr>
              <a:t>时，就执行特征抽取和特征累计过程，如果不满足，就直接跳过日志。</a:t>
            </a:r>
          </a:p>
          <a:p>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处理</a:t>
            </a:r>
            <a:r>
              <a:rPr lang="zh-CN" altLang="en-US" sz="1200" kern="1200" dirty="0">
                <a:solidFill>
                  <a:schemeClr val="tx1"/>
                </a:solidFill>
                <a:effectLst/>
                <a:latin typeface="+mn-lt"/>
                <a:ea typeface="+mn-ea"/>
                <a:cs typeface="+mn-cs"/>
              </a:rPr>
              <a:t>条件表达式</a:t>
            </a:r>
            <a:r>
              <a:rPr lang="zh-CN" altLang="zh-CN" sz="1200" kern="1200" dirty="0">
                <a:solidFill>
                  <a:schemeClr val="tx1"/>
                </a:solidFill>
                <a:effectLst/>
                <a:latin typeface="+mn-lt"/>
                <a:ea typeface="+mn-ea"/>
                <a:cs typeface="+mn-cs"/>
              </a:rPr>
              <a:t>时首先进行约束表达式集合的解析，用</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拆分，用［］拆分，再识别左值右值和运算符，然后计算每个约束表达式的</a:t>
            </a:r>
            <a:r>
              <a:rPr lang="en-US" altLang="zh-CN" sz="1200" kern="1200" dirty="0" err="1">
                <a:solidFill>
                  <a:schemeClr val="tx1"/>
                </a:solidFill>
                <a:effectLst/>
                <a:latin typeface="+mn-lt"/>
                <a:ea typeface="+mn-ea"/>
                <a:cs typeface="+mn-cs"/>
              </a:rPr>
              <a:t>bool</a:t>
            </a:r>
            <a:r>
              <a:rPr lang="zh-CN" altLang="zh-CN" sz="1200" kern="1200" dirty="0">
                <a:solidFill>
                  <a:schemeClr val="tx1"/>
                </a:solidFill>
                <a:effectLst/>
                <a:latin typeface="+mn-lt"/>
                <a:ea typeface="+mn-ea"/>
                <a:cs typeface="+mn-cs"/>
              </a:rPr>
              <a:t>型结果进行逻辑</a:t>
            </a:r>
            <a:r>
              <a:rPr lang="en-US" altLang="zh-CN" sz="1200" kern="1200" dirty="0">
                <a:solidFill>
                  <a:schemeClr val="tx1"/>
                </a:solidFill>
                <a:effectLst/>
                <a:latin typeface="+mn-lt"/>
                <a:ea typeface="+mn-ea"/>
                <a:cs typeface="+mn-cs"/>
              </a:rPr>
              <a:t>&amp;&amp;</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最终得到整个集合的结果。</a:t>
            </a: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586031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运算符的对应含义表</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42687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defTabSz="914400">
              <a:lnSpc>
                <a:spcPct val="150000"/>
              </a:lnSpc>
              <a:spcBef>
                <a:spcPts val="0"/>
              </a:spcBef>
              <a:buFont typeface="Wingdings" pitchFamily="2" charset="2"/>
              <a:buChar char="Ø"/>
            </a:pPr>
            <a:r>
              <a:rPr kumimoji="1" lang="en-US" altLang="zh-CN" sz="1200" dirty="0">
                <a:latin typeface="微软雅黑" panose="020B0503020204020204" pitchFamily="34" charset="-122"/>
                <a:ea typeface="微软雅黑" panose="020B0503020204020204" pitchFamily="34" charset="-122"/>
              </a:rPr>
              <a:t>1.</a:t>
            </a:r>
            <a:r>
              <a:rPr kumimoji="1" lang="zh-CN" altLang="en-US" sz="1200" dirty="0">
                <a:latin typeface="微软雅黑" panose="020B0503020204020204" pitchFamily="34" charset="-122"/>
                <a:ea typeface="微软雅黑" panose="020B0503020204020204" pitchFamily="34" charset="-122"/>
              </a:rPr>
              <a:t> </a:t>
            </a:r>
            <a:r>
              <a:rPr kumimoji="1" lang="en-US" altLang="zh-CN" sz="1200" dirty="0" err="1">
                <a:latin typeface="微软雅黑" panose="020B0503020204020204" pitchFamily="34" charset="-122"/>
                <a:ea typeface="微软雅黑" panose="020B0503020204020204" pitchFamily="34" charset="-122"/>
              </a:rPr>
              <a:t>baiduid</a:t>
            </a:r>
            <a:endParaRPr kumimoji="1" lang="en-US" altLang="zh-CN" sz="12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r>
              <a:rPr kumimoji="1" lang="en-US"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：新用户访问百度产品后，将根据用户当前</a:t>
            </a:r>
            <a:r>
              <a:rPr kumimoji="1" lang="en-GB" altLang="zh-CN" sz="1200" dirty="0" err="1">
                <a:latin typeface="微软雅黑" panose="020B0503020204020204" pitchFamily="34" charset="-122"/>
                <a:ea typeface="微软雅黑" panose="020B0503020204020204" pitchFamily="34" charset="-122"/>
              </a:rPr>
              <a:t>clientip</a:t>
            </a:r>
            <a:r>
              <a:rPr kumimoji="1" lang="en-GB" altLang="zh-CN" sz="1200" dirty="0">
                <a:latin typeface="微软雅黑" panose="020B0503020204020204" pitchFamily="34" charset="-122"/>
                <a:ea typeface="微软雅黑" panose="020B0503020204020204" pitchFamily="34" charset="-122"/>
              </a:rPr>
              <a:t> + </a:t>
            </a:r>
            <a:r>
              <a:rPr kumimoji="1" lang="en-GB" altLang="zh-CN" sz="1200" dirty="0" err="1">
                <a:latin typeface="微软雅黑" panose="020B0503020204020204" pitchFamily="34" charset="-122"/>
                <a:ea typeface="微软雅黑" panose="020B0503020204020204" pitchFamily="34" charset="-122"/>
              </a:rPr>
              <a:t>reqtime</a:t>
            </a:r>
            <a:r>
              <a:rPr kumimoji="1" lang="en-GB" altLang="zh-CN" sz="1200" dirty="0">
                <a:latin typeface="微软雅黑" panose="020B0503020204020204" pitchFamily="34" charset="-122"/>
                <a:ea typeface="微软雅黑" panose="020B0503020204020204" pitchFamily="34" charset="-122"/>
              </a:rPr>
              <a:t> + rand + checksum (</a:t>
            </a:r>
            <a:r>
              <a:rPr kumimoji="1" lang="zh-CN" altLang="en-US" sz="1200" dirty="0">
                <a:latin typeface="微软雅黑" panose="020B0503020204020204" pitchFamily="34" charset="-122"/>
                <a:ea typeface="微软雅黑" panose="020B0503020204020204" pitchFamily="34" charset="-122"/>
              </a:rPr>
              <a:t>校验值</a:t>
            </a:r>
            <a:r>
              <a:rPr kumimoji="1" lang="en-US" altLang="zh-CN" sz="1200" dirty="0">
                <a:latin typeface="微软雅黑" panose="020B0503020204020204" pitchFamily="34" charset="-122"/>
                <a:ea typeface="微软雅黑" panose="020B0503020204020204" pitchFamily="34" charset="-122"/>
              </a:rPr>
              <a:t>) </a:t>
            </a:r>
            <a:r>
              <a:rPr kumimoji="1" lang="zh-CN" altLang="en-GB"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生成一个</a:t>
            </a:r>
            <a:r>
              <a:rPr kumimoji="1" lang="en-US" altLang="zh-CN" sz="1200" dirty="0">
                <a:latin typeface="微软雅黑" panose="020B0503020204020204" pitchFamily="34" charset="-122"/>
                <a:ea typeface="微软雅黑" panose="020B0503020204020204" pitchFamily="34" charset="-122"/>
              </a:rPr>
              <a:t>32</a:t>
            </a:r>
            <a:r>
              <a:rPr kumimoji="1" lang="zh-CN" altLang="en-US" sz="1200" dirty="0">
                <a:latin typeface="微软雅黑" panose="020B0503020204020204" pitchFamily="34" charset="-122"/>
                <a:ea typeface="微软雅黑" panose="020B0503020204020204" pitchFamily="34" charset="-122"/>
              </a:rPr>
              <a:t>位的字符串，存在本地</a:t>
            </a:r>
            <a:r>
              <a:rPr kumimoji="1" lang="en-GB" altLang="zh-CN" sz="1200" dirty="0">
                <a:latin typeface="微软雅黑" panose="020B0503020204020204" pitchFamily="34" charset="-122"/>
                <a:ea typeface="微软雅黑" panose="020B0503020204020204" pitchFamily="34" charset="-122"/>
              </a:rPr>
              <a:t>cookie</a:t>
            </a:r>
            <a:r>
              <a:rPr kumimoji="1" lang="zh-CN" altLang="en-US" sz="1200" dirty="0">
                <a:latin typeface="微软雅黑" panose="020B0503020204020204" pitchFamily="34" charset="-122"/>
                <a:ea typeface="微软雅黑" panose="020B0503020204020204" pitchFamily="34" charset="-122"/>
              </a:rPr>
              <a:t>中，也被叫做</a:t>
            </a:r>
            <a:r>
              <a:rPr kumimoji="1" lang="en-GB" altLang="zh-CN" sz="1200" dirty="0" err="1">
                <a:latin typeface="微软雅黑" panose="020B0503020204020204" pitchFamily="34" charset="-122"/>
                <a:ea typeface="微软雅黑" panose="020B0503020204020204" pitchFamily="34" charset="-122"/>
              </a:rPr>
              <a:t>baiduid</a:t>
            </a:r>
            <a:r>
              <a:rPr kumimoji="1" lang="zh-CN" altLang="en-GB"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用户不清缓存的情况下，</a:t>
            </a:r>
            <a:r>
              <a:rPr kumimoji="1" lang="en-GB"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保持不变，因此可用来唯一标识用户。</a:t>
            </a:r>
            <a:endParaRPr kumimoji="1" lang="en-US" altLang="zh-CN" sz="12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新鲜度：当前的点击或者检索时间减去浏览器</a:t>
            </a: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生成的时间。</a:t>
            </a: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zh-CN" altLang="en-US" sz="1200" dirty="0">
                <a:latin typeface="微软雅黑" panose="020B0503020204020204" pitchFamily="34" charset="-122"/>
                <a:ea typeface="微软雅黑" panose="020B0503020204020204" pitchFamily="34" charset="-122"/>
              </a:rPr>
              <a:t>常见作弊表现为清</a:t>
            </a:r>
            <a:r>
              <a:rPr kumimoji="1" lang="en" altLang="zh-CN" sz="1200" dirty="0">
                <a:latin typeface="微软雅黑" panose="020B0503020204020204" pitchFamily="34" charset="-122"/>
                <a:ea typeface="微软雅黑" panose="020B0503020204020204" pitchFamily="34" charset="-122"/>
              </a:rPr>
              <a:t>cookie</a:t>
            </a:r>
            <a:r>
              <a:rPr kumimoji="1" lang="zh-CN" altLang="en"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在特征上表现为</a:t>
            </a: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新鲜度较小。</a:t>
            </a: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dirty="0">
              <a:latin typeface="+mn-ea"/>
            </a:endParaRP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1200" dirty="0" err="1">
                <a:latin typeface="+mn-ea"/>
              </a:rPr>
              <a:t>Baiduid</a:t>
            </a:r>
            <a:r>
              <a:rPr lang="zh-CN" altLang="en-US" sz="1200" dirty="0">
                <a:latin typeface="+mn-ea"/>
              </a:rPr>
              <a:t>新鲜度的作用：常见</a:t>
            </a:r>
            <a:r>
              <a:rPr lang="zh-CN" altLang="en-US" sz="1200" dirty="0">
                <a:solidFill>
                  <a:srgbClr val="FF0000"/>
                </a:solidFill>
                <a:latin typeface="+mn-ea"/>
              </a:rPr>
              <a:t>作弊</a:t>
            </a:r>
            <a:r>
              <a:rPr lang="zh-CN" altLang="en-US" sz="1200" dirty="0">
                <a:latin typeface="+mn-ea"/>
              </a:rPr>
              <a:t>都是频繁检索或点击，防止被发现伪装成不同的人，频繁清</a:t>
            </a:r>
            <a:r>
              <a:rPr lang="en-US" altLang="zh-CN" sz="1200" dirty="0">
                <a:latin typeface="+mn-ea"/>
              </a:rPr>
              <a:t>cookie</a:t>
            </a:r>
            <a:r>
              <a:rPr lang="zh-CN" altLang="en-US" sz="1200" dirty="0">
                <a:latin typeface="+mn-ea"/>
              </a:rPr>
              <a:t>，</a:t>
            </a:r>
            <a:r>
              <a:rPr lang="en-US" altLang="zh-CN" sz="1200" dirty="0" err="1">
                <a:solidFill>
                  <a:srgbClr val="FF0000"/>
                </a:solidFill>
                <a:latin typeface="+mn-ea"/>
              </a:rPr>
              <a:t>baiduid</a:t>
            </a:r>
            <a:r>
              <a:rPr lang="zh-CN" altLang="en-US" sz="1200" dirty="0">
                <a:solidFill>
                  <a:srgbClr val="FF0000"/>
                </a:solidFill>
                <a:latin typeface="+mn-ea"/>
              </a:rPr>
              <a:t>新鲜度较小</a:t>
            </a:r>
            <a:r>
              <a:rPr lang="zh-CN" altLang="en-US" sz="1200" dirty="0">
                <a:latin typeface="+mn-ea"/>
              </a:rPr>
              <a:t>。</a:t>
            </a:r>
            <a:endParaRPr lang="zh-CN" altLang="zh-CN" sz="1200" dirty="0"/>
          </a:p>
          <a:p>
            <a:endParaRPr lang="en-US" altLang="zh-CN" dirty="0"/>
          </a:p>
          <a:p>
            <a:r>
              <a:rPr lang="zh-CN" altLang="en-US" sz="1200" b="0" i="0" u="none" strike="noStrike" kern="1200" dirty="0">
                <a:solidFill>
                  <a:schemeClr val="tx1"/>
                </a:solidFill>
                <a:effectLst/>
                <a:latin typeface="+mn-lt"/>
                <a:ea typeface="+mn-ea"/>
                <a:cs typeface="+mn-cs"/>
              </a:rPr>
              <a:t>保存在用户的浏览器</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a:t>
            </a:r>
            <a:r>
              <a:rPr lang="en-GB" altLang="zh-CN" sz="1200" b="0" i="0" u="none" strike="noStrike" kern="1200" dirty="0" err="1">
                <a:solidFill>
                  <a:schemeClr val="tx1"/>
                </a:solidFill>
                <a:effectLst/>
                <a:latin typeface="+mn-lt"/>
                <a:ea typeface="+mn-ea"/>
                <a:cs typeface="+mn-cs"/>
              </a:rPr>
              <a:t>baidu</a:t>
            </a:r>
            <a:r>
              <a:rPr lang="zh-CN" altLang="en-US" sz="1200" b="0" i="0" u="none" strike="noStrike" kern="1200" dirty="0">
                <a:solidFill>
                  <a:schemeClr val="tx1"/>
                </a:solidFill>
                <a:effectLst/>
                <a:latin typeface="+mn-lt"/>
                <a:ea typeface="+mn-ea"/>
                <a:cs typeface="+mn-cs"/>
              </a:rPr>
              <a:t>域中，作为</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的唯一标示，数据格式是</a:t>
            </a:r>
            <a:r>
              <a:rPr lang="en-US" altLang="zh-CN" sz="1200" b="0" i="0" u="none" strike="noStrike" kern="1200" dirty="0">
                <a:solidFill>
                  <a:schemeClr val="tx1"/>
                </a:solidFill>
                <a:effectLst/>
                <a:latin typeface="+mn-lt"/>
                <a:ea typeface="+mn-ea"/>
                <a:cs typeface="+mn-cs"/>
              </a:rPr>
              <a:t>32</a:t>
            </a:r>
            <a:r>
              <a:rPr lang="zh-CN" altLang="en-US" sz="1200" b="0" i="0" u="none" strike="noStrike" kern="1200" dirty="0">
                <a:solidFill>
                  <a:schemeClr val="tx1"/>
                </a:solidFill>
                <a:effectLst/>
                <a:latin typeface="+mn-lt"/>
                <a:ea typeface="+mn-ea"/>
                <a:cs typeface="+mn-cs"/>
              </a:rPr>
              <a:t>位</a:t>
            </a:r>
            <a:r>
              <a:rPr lang="en-US" altLang="zh-CN" sz="1200" b="0" i="0" u="none" strike="noStrike" kern="1200" dirty="0">
                <a:solidFill>
                  <a:schemeClr val="tx1"/>
                </a:solidFill>
                <a:effectLst/>
                <a:latin typeface="+mn-lt"/>
                <a:ea typeface="+mn-ea"/>
                <a:cs typeface="+mn-cs"/>
              </a:rPr>
              <a:t>16</a:t>
            </a:r>
            <a:r>
              <a:rPr lang="zh-CN" altLang="en-US" sz="1200" b="0" i="0" u="none" strike="noStrike" kern="1200" dirty="0">
                <a:solidFill>
                  <a:schemeClr val="tx1"/>
                </a:solidFill>
                <a:effectLst/>
                <a:latin typeface="+mn-lt"/>
                <a:ea typeface="+mn-ea"/>
                <a:cs typeface="+mn-cs"/>
              </a:rPr>
              <a:t>进制   </a:t>
            </a:r>
            <a:endParaRPr lang="en-US" altLang="zh-CN" sz="1200" b="0" i="0" u="none" strike="noStrike" kern="1200" dirty="0">
              <a:solidFill>
                <a:schemeClr val="tx1"/>
              </a:solidFill>
              <a:effectLst/>
              <a:latin typeface="+mn-lt"/>
              <a:ea typeface="+mn-ea"/>
              <a:cs typeface="+mn-cs"/>
            </a:endParaRPr>
          </a:p>
          <a:p>
            <a:r>
              <a:rPr lang="en-US" altLang="zh-CN" dirty="0">
                <a:effectLst/>
              </a:rPr>
              <a:t>1.360</a:t>
            </a:r>
            <a:r>
              <a:rPr lang="zh-CN" altLang="en-US" dirty="0">
                <a:effectLst/>
              </a:rPr>
              <a:t>会清理百度域的</a:t>
            </a:r>
            <a:r>
              <a:rPr lang="en-GB" altLang="zh-CN" dirty="0">
                <a:effectLst/>
              </a:rPr>
              <a:t>cookie </a:t>
            </a:r>
          </a:p>
          <a:p>
            <a:r>
              <a:rPr lang="en-GB" altLang="zh-CN" dirty="0">
                <a:effectLst/>
              </a:rPr>
              <a:t>2.</a:t>
            </a:r>
            <a:r>
              <a:rPr lang="zh-CN" altLang="en-US" dirty="0">
                <a:effectLst/>
              </a:rPr>
              <a:t>部分网吧的机器启动时会自动清理</a:t>
            </a:r>
            <a:r>
              <a:rPr lang="en-GB" altLang="zh-CN" dirty="0">
                <a:effectLst/>
              </a:rPr>
              <a:t>cookie </a:t>
            </a:r>
          </a:p>
          <a:p>
            <a:r>
              <a:rPr lang="en-GB" altLang="zh-CN" dirty="0">
                <a:effectLst/>
              </a:rPr>
              <a:t>3.</a:t>
            </a:r>
            <a:r>
              <a:rPr lang="zh-CN" altLang="en-US" dirty="0">
                <a:effectLst/>
              </a:rPr>
              <a:t>同一个用户使用不同浏览器会对应不同</a:t>
            </a:r>
            <a:r>
              <a:rPr lang="en-GB" altLang="zh-CN" dirty="0">
                <a:effectLst/>
              </a:rPr>
              <a:t>cookie</a:t>
            </a:r>
          </a:p>
          <a:p>
            <a:endParaRPr lang="en-GB" altLang="zh-CN" dirty="0">
              <a:effectLst/>
            </a:endParaRPr>
          </a:p>
          <a:p>
            <a:r>
              <a:rPr kumimoji="1" lang="en-US" altLang="zh-CN" sz="1200" b="1" dirty="0" err="1"/>
              <a:t>Baiduid</a:t>
            </a:r>
            <a:r>
              <a:rPr kumimoji="1" lang="zh-CN" altLang="en-US" sz="1200" b="1" dirty="0"/>
              <a:t>种重：</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由于生成函数有多个、可能出现</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种重（既不同用户拥有同样的</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现象）</a:t>
            </a:r>
          </a:p>
          <a:p>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种重的判定：可以根据同一</a:t>
            </a:r>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下的</a:t>
            </a:r>
            <a:r>
              <a:rPr lang="en-GB" altLang="zh-CN" sz="1200" b="0" i="0" u="none" strike="noStrike" kern="1200" dirty="0" err="1">
                <a:solidFill>
                  <a:schemeClr val="tx1"/>
                </a:solidFill>
                <a:effectLst/>
                <a:latin typeface="+mn-lt"/>
                <a:ea typeface="+mn-ea"/>
                <a:cs typeface="+mn-cs"/>
              </a:rPr>
              <a:t>ua</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ip</a:t>
            </a:r>
            <a:r>
              <a:rPr lang="zh-CN" altLang="en-US" sz="1200" b="0" i="0" u="none" strike="noStrike" kern="1200" dirty="0">
                <a:solidFill>
                  <a:schemeClr val="tx1"/>
                </a:solidFill>
                <a:effectLst/>
                <a:latin typeface="+mn-lt"/>
                <a:ea typeface="+mn-ea"/>
                <a:cs typeface="+mn-cs"/>
              </a:rPr>
              <a:t>的个数和查询意图来判断。种重不是作弊。</a:t>
            </a:r>
          </a:p>
          <a:p>
            <a:endParaRPr lang="en-US" altLang="zh-CN"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访问百度产品</a:t>
            </a:r>
            <a:r>
              <a:rPr lang="zh-CN" altLang="en-US" sz="1200" b="0" i="0" kern="1200" dirty="0">
                <a:solidFill>
                  <a:schemeClr val="tx1"/>
                </a:solidFill>
                <a:effectLst/>
                <a:latin typeface="+mn-lt"/>
                <a:ea typeface="+mn-ea"/>
                <a:cs typeface="+mn-cs"/>
              </a:rPr>
              <a:t>是指打开一个网页或者</a:t>
            </a:r>
            <a:r>
              <a:rPr lang="en-GB" altLang="zh-CN" sz="1200" b="0" i="0" kern="1200" dirty="0">
                <a:solidFill>
                  <a:schemeClr val="tx1"/>
                </a:solidFill>
                <a:effectLst/>
                <a:latin typeface="+mn-lt"/>
                <a:ea typeface="+mn-ea"/>
                <a:cs typeface="+mn-cs"/>
              </a:rPr>
              <a:t>APP</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与百度有合作关系的网页或者</a:t>
            </a:r>
            <a:r>
              <a:rPr lang="en-US" altLang="zh-CN" sz="1200" b="0" i="0" kern="1200" dirty="0">
                <a:solidFill>
                  <a:schemeClr val="tx1"/>
                </a:solidFill>
                <a:effectLst/>
                <a:latin typeface="+mn-lt"/>
                <a:ea typeface="+mn-ea"/>
                <a:cs typeface="+mn-cs"/>
              </a:rPr>
              <a:t>app</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en-GB" altLang="zh-CN" sz="1200" b="0" i="0" kern="1200" dirty="0">
              <a:solidFill>
                <a:schemeClr val="tx1"/>
              </a:solidFill>
              <a:effectLst/>
              <a:latin typeface="+mn-lt"/>
              <a:ea typeface="+mn-ea"/>
              <a:cs typeface="+mn-cs"/>
            </a:endParaRPr>
          </a:p>
          <a:p>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新鲜度有可能小于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。当用户发生检索或点击后，再清除浏览器的</a:t>
            </a:r>
            <a:r>
              <a:rPr lang="en-GB" altLang="zh-CN" sz="1200" b="0" i="0" kern="1200" dirty="0">
                <a:solidFill>
                  <a:schemeClr val="tx1"/>
                </a:solidFill>
                <a:effectLst/>
                <a:latin typeface="+mn-lt"/>
                <a:ea typeface="+mn-ea"/>
                <a:cs typeface="+mn-cs"/>
              </a:rPr>
              <a:t>cookie</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此时</a:t>
            </a:r>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新鲜度会小于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a:t>
            </a:r>
          </a:p>
          <a:p>
            <a:endParaRPr lang="en-US" altLang="zh-CN" dirty="0"/>
          </a:p>
          <a:p>
            <a:r>
              <a:rPr lang="en-US" altLang="zh-CN" dirty="0"/>
              <a:t>---</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85217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93037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049472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defTabSz="914400">
              <a:lnSpc>
                <a:spcPct val="150000"/>
              </a:lnSpc>
              <a:spcBef>
                <a:spcPts val="0"/>
              </a:spcBef>
              <a:buFont typeface="Wingdings" pitchFamily="2" charset="2"/>
              <a:buChar char="Ø"/>
            </a:pPr>
            <a:r>
              <a:rPr kumimoji="1" lang="en-US" altLang="zh-CN" sz="1200" dirty="0">
                <a:latin typeface="微软雅黑" panose="020B0503020204020204" pitchFamily="34" charset="-122"/>
                <a:ea typeface="微软雅黑" panose="020B0503020204020204" pitchFamily="34" charset="-122"/>
              </a:rPr>
              <a:t>1.</a:t>
            </a:r>
            <a:r>
              <a:rPr kumimoji="1" lang="zh-CN" altLang="en-US" sz="1200" dirty="0">
                <a:latin typeface="微软雅黑" panose="020B0503020204020204" pitchFamily="34" charset="-122"/>
                <a:ea typeface="微软雅黑" panose="020B0503020204020204" pitchFamily="34" charset="-122"/>
              </a:rPr>
              <a:t> </a:t>
            </a:r>
            <a:r>
              <a:rPr kumimoji="1" lang="en-US" altLang="zh-CN" sz="1200" dirty="0" err="1">
                <a:latin typeface="微软雅黑" panose="020B0503020204020204" pitchFamily="34" charset="-122"/>
                <a:ea typeface="微软雅黑" panose="020B0503020204020204" pitchFamily="34" charset="-122"/>
              </a:rPr>
              <a:t>baiduid</a:t>
            </a:r>
            <a:endParaRPr kumimoji="1" lang="en-US" altLang="zh-CN" sz="12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r>
              <a:rPr kumimoji="1" lang="en-US"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：新用户访问百度产品后，将根据用户当前</a:t>
            </a:r>
            <a:r>
              <a:rPr kumimoji="1" lang="en-GB" altLang="zh-CN" sz="1200" dirty="0" err="1">
                <a:latin typeface="微软雅黑" panose="020B0503020204020204" pitchFamily="34" charset="-122"/>
                <a:ea typeface="微软雅黑" panose="020B0503020204020204" pitchFamily="34" charset="-122"/>
              </a:rPr>
              <a:t>clientip</a:t>
            </a:r>
            <a:r>
              <a:rPr kumimoji="1" lang="en-GB" altLang="zh-CN" sz="1200" dirty="0">
                <a:latin typeface="微软雅黑" panose="020B0503020204020204" pitchFamily="34" charset="-122"/>
                <a:ea typeface="微软雅黑" panose="020B0503020204020204" pitchFamily="34" charset="-122"/>
              </a:rPr>
              <a:t> + </a:t>
            </a:r>
            <a:r>
              <a:rPr kumimoji="1" lang="en-GB" altLang="zh-CN" sz="1200" dirty="0" err="1">
                <a:latin typeface="微软雅黑" panose="020B0503020204020204" pitchFamily="34" charset="-122"/>
                <a:ea typeface="微软雅黑" panose="020B0503020204020204" pitchFamily="34" charset="-122"/>
              </a:rPr>
              <a:t>reqtime</a:t>
            </a:r>
            <a:r>
              <a:rPr kumimoji="1" lang="en-GB" altLang="zh-CN" sz="1200" dirty="0">
                <a:latin typeface="微软雅黑" panose="020B0503020204020204" pitchFamily="34" charset="-122"/>
                <a:ea typeface="微软雅黑" panose="020B0503020204020204" pitchFamily="34" charset="-122"/>
              </a:rPr>
              <a:t> + rand + checksum (</a:t>
            </a:r>
            <a:r>
              <a:rPr kumimoji="1" lang="zh-CN" altLang="en-US" sz="1200" dirty="0">
                <a:latin typeface="微软雅黑" panose="020B0503020204020204" pitchFamily="34" charset="-122"/>
                <a:ea typeface="微软雅黑" panose="020B0503020204020204" pitchFamily="34" charset="-122"/>
              </a:rPr>
              <a:t>校验值</a:t>
            </a:r>
            <a:r>
              <a:rPr kumimoji="1" lang="en-US" altLang="zh-CN" sz="1200" dirty="0">
                <a:latin typeface="微软雅黑" panose="020B0503020204020204" pitchFamily="34" charset="-122"/>
                <a:ea typeface="微软雅黑" panose="020B0503020204020204" pitchFamily="34" charset="-122"/>
              </a:rPr>
              <a:t>) </a:t>
            </a:r>
            <a:r>
              <a:rPr kumimoji="1" lang="zh-CN" altLang="en-GB"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生成一个</a:t>
            </a:r>
            <a:r>
              <a:rPr kumimoji="1" lang="en-US" altLang="zh-CN" sz="1200" dirty="0">
                <a:latin typeface="微软雅黑" panose="020B0503020204020204" pitchFamily="34" charset="-122"/>
                <a:ea typeface="微软雅黑" panose="020B0503020204020204" pitchFamily="34" charset="-122"/>
              </a:rPr>
              <a:t>32</a:t>
            </a:r>
            <a:r>
              <a:rPr kumimoji="1" lang="zh-CN" altLang="en-US" sz="1200" dirty="0">
                <a:latin typeface="微软雅黑" panose="020B0503020204020204" pitchFamily="34" charset="-122"/>
                <a:ea typeface="微软雅黑" panose="020B0503020204020204" pitchFamily="34" charset="-122"/>
              </a:rPr>
              <a:t>位的字符串，存在本地</a:t>
            </a:r>
            <a:r>
              <a:rPr kumimoji="1" lang="en-GB" altLang="zh-CN" sz="1200" dirty="0">
                <a:latin typeface="微软雅黑" panose="020B0503020204020204" pitchFamily="34" charset="-122"/>
                <a:ea typeface="微软雅黑" panose="020B0503020204020204" pitchFamily="34" charset="-122"/>
              </a:rPr>
              <a:t>cookie</a:t>
            </a:r>
            <a:r>
              <a:rPr kumimoji="1" lang="zh-CN" altLang="en-US" sz="1200" dirty="0">
                <a:latin typeface="微软雅黑" panose="020B0503020204020204" pitchFamily="34" charset="-122"/>
                <a:ea typeface="微软雅黑" panose="020B0503020204020204" pitchFamily="34" charset="-122"/>
              </a:rPr>
              <a:t>中，也被叫做</a:t>
            </a:r>
            <a:r>
              <a:rPr kumimoji="1" lang="en-GB" altLang="zh-CN" sz="1200" dirty="0" err="1">
                <a:latin typeface="微软雅黑" panose="020B0503020204020204" pitchFamily="34" charset="-122"/>
                <a:ea typeface="微软雅黑" panose="020B0503020204020204" pitchFamily="34" charset="-122"/>
              </a:rPr>
              <a:t>baiduid</a:t>
            </a:r>
            <a:r>
              <a:rPr kumimoji="1" lang="zh-CN" altLang="en-GB"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用户不清缓存的情况下，</a:t>
            </a:r>
            <a:r>
              <a:rPr kumimoji="1" lang="en-GB"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保持不变，因此可用来唯一标识用户。</a:t>
            </a:r>
            <a:endParaRPr kumimoji="1" lang="en-US" altLang="zh-CN" sz="12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新鲜度：当前的点击或者检索时间减去浏览器</a:t>
            </a: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生成的时间。</a:t>
            </a: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zh-CN" altLang="en-US" sz="1200" dirty="0">
                <a:latin typeface="微软雅黑" panose="020B0503020204020204" pitchFamily="34" charset="-122"/>
                <a:ea typeface="微软雅黑" panose="020B0503020204020204" pitchFamily="34" charset="-122"/>
              </a:rPr>
              <a:t>常见作弊表现为清</a:t>
            </a:r>
            <a:r>
              <a:rPr kumimoji="1" lang="en" altLang="zh-CN" sz="1200" dirty="0">
                <a:latin typeface="微软雅黑" panose="020B0503020204020204" pitchFamily="34" charset="-122"/>
                <a:ea typeface="微软雅黑" panose="020B0503020204020204" pitchFamily="34" charset="-122"/>
              </a:rPr>
              <a:t>cookie</a:t>
            </a:r>
            <a:r>
              <a:rPr kumimoji="1" lang="zh-CN" altLang="en"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在特征上表现为</a:t>
            </a: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新鲜度较小。</a:t>
            </a: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dirty="0">
              <a:latin typeface="+mn-ea"/>
            </a:endParaRP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1200" dirty="0" err="1">
                <a:latin typeface="+mn-ea"/>
              </a:rPr>
              <a:t>Baiduid</a:t>
            </a:r>
            <a:r>
              <a:rPr lang="zh-CN" altLang="en-US" sz="1200" dirty="0">
                <a:latin typeface="+mn-ea"/>
              </a:rPr>
              <a:t>新鲜度的作用：常见</a:t>
            </a:r>
            <a:r>
              <a:rPr lang="zh-CN" altLang="en-US" sz="1200" dirty="0">
                <a:solidFill>
                  <a:srgbClr val="FF0000"/>
                </a:solidFill>
                <a:latin typeface="+mn-ea"/>
              </a:rPr>
              <a:t>作弊</a:t>
            </a:r>
            <a:r>
              <a:rPr lang="zh-CN" altLang="en-US" sz="1200" dirty="0">
                <a:latin typeface="+mn-ea"/>
              </a:rPr>
              <a:t>都是频繁检索或点击，防止被发现伪装成不同的人，频繁清</a:t>
            </a:r>
            <a:r>
              <a:rPr lang="en-US" altLang="zh-CN" sz="1200" dirty="0">
                <a:latin typeface="+mn-ea"/>
              </a:rPr>
              <a:t>cookie</a:t>
            </a:r>
            <a:r>
              <a:rPr lang="zh-CN" altLang="en-US" sz="1200" dirty="0">
                <a:latin typeface="+mn-ea"/>
              </a:rPr>
              <a:t>，</a:t>
            </a:r>
            <a:r>
              <a:rPr lang="en-US" altLang="zh-CN" sz="1200" dirty="0" err="1">
                <a:solidFill>
                  <a:srgbClr val="FF0000"/>
                </a:solidFill>
                <a:latin typeface="+mn-ea"/>
              </a:rPr>
              <a:t>baiduid</a:t>
            </a:r>
            <a:r>
              <a:rPr lang="zh-CN" altLang="en-US" sz="1200" dirty="0">
                <a:solidFill>
                  <a:srgbClr val="FF0000"/>
                </a:solidFill>
                <a:latin typeface="+mn-ea"/>
              </a:rPr>
              <a:t>新鲜度较小</a:t>
            </a:r>
            <a:r>
              <a:rPr lang="zh-CN" altLang="en-US" sz="1200" dirty="0">
                <a:latin typeface="+mn-ea"/>
              </a:rPr>
              <a:t>。</a:t>
            </a:r>
            <a:endParaRPr lang="zh-CN" altLang="zh-CN" sz="1200" dirty="0"/>
          </a:p>
          <a:p>
            <a:endParaRPr lang="en-US" altLang="zh-CN" dirty="0"/>
          </a:p>
          <a:p>
            <a:r>
              <a:rPr lang="zh-CN" altLang="en-US" sz="1200" b="0" i="0" u="none" strike="noStrike" kern="1200" dirty="0">
                <a:solidFill>
                  <a:schemeClr val="tx1"/>
                </a:solidFill>
                <a:effectLst/>
                <a:latin typeface="+mn-lt"/>
                <a:ea typeface="+mn-ea"/>
                <a:cs typeface="+mn-cs"/>
              </a:rPr>
              <a:t>保存在用户的浏览器</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a:t>
            </a:r>
            <a:r>
              <a:rPr lang="en-GB" altLang="zh-CN" sz="1200" b="0" i="0" u="none" strike="noStrike" kern="1200" dirty="0" err="1">
                <a:solidFill>
                  <a:schemeClr val="tx1"/>
                </a:solidFill>
                <a:effectLst/>
                <a:latin typeface="+mn-lt"/>
                <a:ea typeface="+mn-ea"/>
                <a:cs typeface="+mn-cs"/>
              </a:rPr>
              <a:t>baidu</a:t>
            </a:r>
            <a:r>
              <a:rPr lang="zh-CN" altLang="en-US" sz="1200" b="0" i="0" u="none" strike="noStrike" kern="1200" dirty="0">
                <a:solidFill>
                  <a:schemeClr val="tx1"/>
                </a:solidFill>
                <a:effectLst/>
                <a:latin typeface="+mn-lt"/>
                <a:ea typeface="+mn-ea"/>
                <a:cs typeface="+mn-cs"/>
              </a:rPr>
              <a:t>域中，作为</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的唯一标示，数据格式是</a:t>
            </a:r>
            <a:r>
              <a:rPr lang="en-US" altLang="zh-CN" sz="1200" b="0" i="0" u="none" strike="noStrike" kern="1200" dirty="0">
                <a:solidFill>
                  <a:schemeClr val="tx1"/>
                </a:solidFill>
                <a:effectLst/>
                <a:latin typeface="+mn-lt"/>
                <a:ea typeface="+mn-ea"/>
                <a:cs typeface="+mn-cs"/>
              </a:rPr>
              <a:t>32</a:t>
            </a:r>
            <a:r>
              <a:rPr lang="zh-CN" altLang="en-US" sz="1200" b="0" i="0" u="none" strike="noStrike" kern="1200" dirty="0">
                <a:solidFill>
                  <a:schemeClr val="tx1"/>
                </a:solidFill>
                <a:effectLst/>
                <a:latin typeface="+mn-lt"/>
                <a:ea typeface="+mn-ea"/>
                <a:cs typeface="+mn-cs"/>
              </a:rPr>
              <a:t>位</a:t>
            </a:r>
            <a:r>
              <a:rPr lang="en-US" altLang="zh-CN" sz="1200" b="0" i="0" u="none" strike="noStrike" kern="1200" dirty="0">
                <a:solidFill>
                  <a:schemeClr val="tx1"/>
                </a:solidFill>
                <a:effectLst/>
                <a:latin typeface="+mn-lt"/>
                <a:ea typeface="+mn-ea"/>
                <a:cs typeface="+mn-cs"/>
              </a:rPr>
              <a:t>16</a:t>
            </a:r>
            <a:r>
              <a:rPr lang="zh-CN" altLang="en-US" sz="1200" b="0" i="0" u="none" strike="noStrike" kern="1200" dirty="0">
                <a:solidFill>
                  <a:schemeClr val="tx1"/>
                </a:solidFill>
                <a:effectLst/>
                <a:latin typeface="+mn-lt"/>
                <a:ea typeface="+mn-ea"/>
                <a:cs typeface="+mn-cs"/>
              </a:rPr>
              <a:t>进制   </a:t>
            </a:r>
            <a:endParaRPr lang="en-US" altLang="zh-CN" sz="1200" b="0" i="0" u="none" strike="noStrike" kern="1200" dirty="0">
              <a:solidFill>
                <a:schemeClr val="tx1"/>
              </a:solidFill>
              <a:effectLst/>
              <a:latin typeface="+mn-lt"/>
              <a:ea typeface="+mn-ea"/>
              <a:cs typeface="+mn-cs"/>
            </a:endParaRPr>
          </a:p>
          <a:p>
            <a:r>
              <a:rPr lang="en-US" altLang="zh-CN" dirty="0">
                <a:effectLst/>
              </a:rPr>
              <a:t>1.360</a:t>
            </a:r>
            <a:r>
              <a:rPr lang="zh-CN" altLang="en-US" dirty="0">
                <a:effectLst/>
              </a:rPr>
              <a:t>会清理百度域的</a:t>
            </a:r>
            <a:r>
              <a:rPr lang="en-GB" altLang="zh-CN" dirty="0">
                <a:effectLst/>
              </a:rPr>
              <a:t>cookie </a:t>
            </a:r>
          </a:p>
          <a:p>
            <a:r>
              <a:rPr lang="en-GB" altLang="zh-CN" dirty="0">
                <a:effectLst/>
              </a:rPr>
              <a:t>2.</a:t>
            </a:r>
            <a:r>
              <a:rPr lang="zh-CN" altLang="en-US" dirty="0">
                <a:effectLst/>
              </a:rPr>
              <a:t>部分网吧的机器启动时会自动清理</a:t>
            </a:r>
            <a:r>
              <a:rPr lang="en-GB" altLang="zh-CN" dirty="0">
                <a:effectLst/>
              </a:rPr>
              <a:t>cookie </a:t>
            </a:r>
          </a:p>
          <a:p>
            <a:r>
              <a:rPr lang="en-GB" altLang="zh-CN" dirty="0">
                <a:effectLst/>
              </a:rPr>
              <a:t>3.</a:t>
            </a:r>
            <a:r>
              <a:rPr lang="zh-CN" altLang="en-US" dirty="0">
                <a:effectLst/>
              </a:rPr>
              <a:t>同一个用户使用不同浏览器会对应不同</a:t>
            </a:r>
            <a:r>
              <a:rPr lang="en-GB" altLang="zh-CN" dirty="0">
                <a:effectLst/>
              </a:rPr>
              <a:t>cookie</a:t>
            </a:r>
          </a:p>
          <a:p>
            <a:endParaRPr lang="en-GB" altLang="zh-CN" dirty="0">
              <a:effectLst/>
            </a:endParaRPr>
          </a:p>
          <a:p>
            <a:r>
              <a:rPr kumimoji="1" lang="en-US" altLang="zh-CN" sz="1200" b="1" dirty="0" err="1"/>
              <a:t>Baiduid</a:t>
            </a:r>
            <a:r>
              <a:rPr kumimoji="1" lang="zh-CN" altLang="en-US" sz="1200" b="1" dirty="0"/>
              <a:t>种重：</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由于生成函数有多个、可能出现</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种重（既不同用户拥有同样的</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现象）</a:t>
            </a:r>
          </a:p>
          <a:p>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种重的判定：可以根据同一</a:t>
            </a:r>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下的</a:t>
            </a:r>
            <a:r>
              <a:rPr lang="en-GB" altLang="zh-CN" sz="1200" b="0" i="0" u="none" strike="noStrike" kern="1200" dirty="0" err="1">
                <a:solidFill>
                  <a:schemeClr val="tx1"/>
                </a:solidFill>
                <a:effectLst/>
                <a:latin typeface="+mn-lt"/>
                <a:ea typeface="+mn-ea"/>
                <a:cs typeface="+mn-cs"/>
              </a:rPr>
              <a:t>ua</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ip</a:t>
            </a:r>
            <a:r>
              <a:rPr lang="zh-CN" altLang="en-US" sz="1200" b="0" i="0" u="none" strike="noStrike" kern="1200" dirty="0">
                <a:solidFill>
                  <a:schemeClr val="tx1"/>
                </a:solidFill>
                <a:effectLst/>
                <a:latin typeface="+mn-lt"/>
                <a:ea typeface="+mn-ea"/>
                <a:cs typeface="+mn-cs"/>
              </a:rPr>
              <a:t>的个数和查询意图来判断。种重不是作弊。</a:t>
            </a:r>
          </a:p>
          <a:p>
            <a:endParaRPr lang="en-US" altLang="zh-CN"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访问百度产品</a:t>
            </a:r>
            <a:r>
              <a:rPr lang="zh-CN" altLang="en-US" sz="1200" b="0" i="0" kern="1200" dirty="0">
                <a:solidFill>
                  <a:schemeClr val="tx1"/>
                </a:solidFill>
                <a:effectLst/>
                <a:latin typeface="+mn-lt"/>
                <a:ea typeface="+mn-ea"/>
                <a:cs typeface="+mn-cs"/>
              </a:rPr>
              <a:t>是指打开一个网页或者</a:t>
            </a:r>
            <a:r>
              <a:rPr lang="en-GB" altLang="zh-CN" sz="1200" b="0" i="0" kern="1200" dirty="0">
                <a:solidFill>
                  <a:schemeClr val="tx1"/>
                </a:solidFill>
                <a:effectLst/>
                <a:latin typeface="+mn-lt"/>
                <a:ea typeface="+mn-ea"/>
                <a:cs typeface="+mn-cs"/>
              </a:rPr>
              <a:t>APP</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与百度有合作关系的网页或者</a:t>
            </a:r>
            <a:r>
              <a:rPr lang="en-US" altLang="zh-CN" sz="1200" b="0" i="0" kern="1200" dirty="0">
                <a:solidFill>
                  <a:schemeClr val="tx1"/>
                </a:solidFill>
                <a:effectLst/>
                <a:latin typeface="+mn-lt"/>
                <a:ea typeface="+mn-ea"/>
                <a:cs typeface="+mn-cs"/>
              </a:rPr>
              <a:t>app</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en-GB" altLang="zh-CN" sz="1200" b="0" i="0" kern="1200" dirty="0">
              <a:solidFill>
                <a:schemeClr val="tx1"/>
              </a:solidFill>
              <a:effectLst/>
              <a:latin typeface="+mn-lt"/>
              <a:ea typeface="+mn-ea"/>
              <a:cs typeface="+mn-cs"/>
            </a:endParaRPr>
          </a:p>
          <a:p>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新鲜度有可能小于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。当用户发生检索或点击后，再清除浏览器的</a:t>
            </a:r>
            <a:r>
              <a:rPr lang="en-GB" altLang="zh-CN" sz="1200" b="0" i="0" kern="1200" dirty="0">
                <a:solidFill>
                  <a:schemeClr val="tx1"/>
                </a:solidFill>
                <a:effectLst/>
                <a:latin typeface="+mn-lt"/>
                <a:ea typeface="+mn-ea"/>
                <a:cs typeface="+mn-cs"/>
              </a:rPr>
              <a:t>cookie</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此时</a:t>
            </a:r>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新鲜度会小于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a:t>
            </a:r>
          </a:p>
          <a:p>
            <a:endParaRPr lang="en-US" altLang="zh-CN" dirty="0"/>
          </a:p>
          <a:p>
            <a:r>
              <a:rPr lang="en-US" altLang="zh-CN" dirty="0"/>
              <a:t>---</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50</a:t>
            </a:fld>
            <a:endParaRPr kumimoji="1" lang="zh-CN" altLang="en-US"/>
          </a:p>
        </p:txBody>
      </p:sp>
    </p:spTree>
    <p:extLst>
      <p:ext uri="{BB962C8B-B14F-4D97-AF65-F5344CB8AC3E}">
        <p14:creationId xmlns:p14="http://schemas.microsoft.com/office/powerpoint/2010/main" val="1312413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defRPr/>
            </a:pPr>
            <a:r>
              <a:rPr lang="zh-CN" altLang="en-US" sz="1200" b="0" i="0" u="none" strike="noStrike" kern="1200" dirty="0">
                <a:solidFill>
                  <a:schemeClr val="tx1"/>
                </a:solidFill>
                <a:effectLst/>
                <a:latin typeface="+mn-lt"/>
                <a:ea typeface="+mn-ea"/>
                <a:cs typeface="+mn-cs"/>
              </a:rPr>
              <a:t>一条日志的</a:t>
            </a:r>
            <a:r>
              <a:rPr lang="en-GB" altLang="zh-CN" sz="1200" b="0" i="0" u="none" strike="noStrike" kern="1200" dirty="0">
                <a:solidFill>
                  <a:schemeClr val="tx1"/>
                </a:solidFill>
                <a:effectLst/>
                <a:latin typeface="+mn-lt"/>
                <a:ea typeface="+mn-ea"/>
                <a:cs typeface="+mn-cs"/>
              </a:rPr>
              <a:t>ck</a:t>
            </a:r>
            <a:r>
              <a:rPr lang="zh-CN" altLang="en-US" sz="1200" b="0" i="0" u="none" strike="noStrike" kern="1200" dirty="0">
                <a:solidFill>
                  <a:schemeClr val="tx1"/>
                </a:solidFill>
                <a:effectLst/>
                <a:latin typeface="+mn-lt"/>
                <a:ea typeface="+mn-ea"/>
                <a:cs typeface="+mn-cs"/>
              </a:rPr>
              <a:t>域在检索端返回搜索结果的时候就已经生成了？？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GB" altLang="zh-CN"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b="0" i="0" u="none" strike="noStrike" kern="1200" dirty="0">
                <a:solidFill>
                  <a:schemeClr val="tx1"/>
                </a:solidFill>
                <a:effectLst/>
                <a:latin typeface="+mn-lt"/>
                <a:ea typeface="+mn-ea"/>
                <a:cs typeface="+mn-cs"/>
              </a:rPr>
              <a:t>us</a:t>
            </a:r>
            <a:r>
              <a:rPr lang="zh-CN" altLang="en-US" sz="1200" b="0" i="0" u="none" strike="noStrike" kern="1200" dirty="0">
                <a:solidFill>
                  <a:schemeClr val="tx1"/>
                </a:solidFill>
                <a:effectLst/>
                <a:latin typeface="+mn-lt"/>
                <a:ea typeface="+mn-ea"/>
                <a:cs typeface="+mn-cs"/>
              </a:rPr>
              <a:t>字段是扩展字段，接入方如果有信息在</a:t>
            </a:r>
            <a:r>
              <a:rPr lang="en-GB" altLang="zh-CN" sz="1200" b="0" i="0" u="none" strike="noStrike" kern="1200" dirty="0" err="1">
                <a:solidFill>
                  <a:schemeClr val="tx1"/>
                </a:solidFill>
                <a:effectLst/>
                <a:latin typeface="+mn-lt"/>
                <a:ea typeface="+mn-ea"/>
                <a:cs typeface="+mn-cs"/>
              </a:rPr>
              <a:t>i,j,k</a:t>
            </a:r>
            <a:r>
              <a:rPr lang="zh-CN" altLang="en-US" sz="1200" b="0" i="0" u="none" strike="noStrike" kern="1200" dirty="0">
                <a:solidFill>
                  <a:schemeClr val="tx1"/>
                </a:solidFill>
                <a:effectLst/>
                <a:latin typeface="+mn-lt"/>
                <a:ea typeface="+mn-ea"/>
                <a:cs typeface="+mn-cs"/>
              </a:rPr>
              <a:t>和</a:t>
            </a:r>
            <a:r>
              <a:rPr lang="en-GB" altLang="zh-CN" sz="1200" b="0" i="0" u="none" strike="noStrike" kern="1200" dirty="0">
                <a:solidFill>
                  <a:schemeClr val="tx1"/>
                </a:solidFill>
                <a:effectLst/>
                <a:latin typeface="+mn-lt"/>
                <a:ea typeface="+mn-ea"/>
                <a:cs typeface="+mn-cs"/>
              </a:rPr>
              <a:t>ck</a:t>
            </a:r>
            <a:r>
              <a:rPr lang="zh-CN" altLang="en-US" sz="1200" b="0" i="0" u="none" strike="noStrike" kern="1200" dirty="0">
                <a:solidFill>
                  <a:schemeClr val="tx1"/>
                </a:solidFill>
                <a:effectLst/>
                <a:latin typeface="+mn-lt"/>
                <a:ea typeface="+mn-ea"/>
                <a:cs typeface="+mn-cs"/>
              </a:rPr>
              <a:t>域不能完全表达，则可将信息放入</a:t>
            </a:r>
            <a:r>
              <a:rPr lang="en-GB" altLang="zh-CN" sz="1200" b="0" i="0" u="none" strike="noStrike" kern="1200" dirty="0">
                <a:solidFill>
                  <a:schemeClr val="tx1"/>
                </a:solidFill>
                <a:effectLst/>
                <a:latin typeface="+mn-lt"/>
                <a:ea typeface="+mn-ea"/>
                <a:cs typeface="+mn-cs"/>
              </a:rPr>
              <a:t>us</a:t>
            </a:r>
            <a:r>
              <a:rPr lang="zh-CN" altLang="en-US" sz="1200" b="0" i="0" u="none" strike="noStrike" kern="1200" dirty="0">
                <a:solidFill>
                  <a:schemeClr val="tx1"/>
                </a:solidFill>
                <a:effectLst/>
                <a:latin typeface="+mn-lt"/>
                <a:ea typeface="+mn-ea"/>
                <a:cs typeface="+mn-cs"/>
              </a:rPr>
              <a:t>域中，</a:t>
            </a:r>
            <a:r>
              <a:rPr lang="en-GB" altLang="zh-CN" sz="1200" b="0" i="0" u="none" strike="noStrike" kern="1200" dirty="0">
                <a:solidFill>
                  <a:schemeClr val="tx1"/>
                </a:solidFill>
                <a:effectLst/>
                <a:latin typeface="+mn-lt"/>
                <a:ea typeface="+mn-ea"/>
                <a:cs typeface="+mn-cs"/>
              </a:rPr>
              <a:t>us</a:t>
            </a:r>
            <a:r>
              <a:rPr lang="zh-CN" altLang="en-US" sz="1200" b="0" i="0" u="none" strike="noStrike" kern="1200" dirty="0">
                <a:solidFill>
                  <a:schemeClr val="tx1"/>
                </a:solidFill>
                <a:effectLst/>
                <a:latin typeface="+mn-lt"/>
                <a:ea typeface="+mn-ea"/>
                <a:cs typeface="+mn-cs"/>
              </a:rPr>
              <a:t>域不能使用的特殊字符”</a:t>
            </a:r>
            <a:r>
              <a:rPr lang="en-US" altLang="zh-CN" sz="1200" b="0" i="0" u="none" strike="noStrike" kern="1200" dirty="0">
                <a:solidFill>
                  <a:schemeClr val="tx1"/>
                </a:solidFill>
                <a:effectLst/>
                <a:latin typeface="+mn-lt"/>
                <a:ea typeface="+mn-ea"/>
                <a:cs typeface="+mn-cs"/>
              </a:rPr>
              <a:t>,=&amp;”,</a:t>
            </a:r>
            <a:r>
              <a:rPr lang="zh-CN" altLang="en-US" sz="1200" b="0" i="0" u="none" strike="noStrike" kern="1200" dirty="0">
                <a:solidFill>
                  <a:schemeClr val="tx1"/>
                </a:solidFill>
                <a:effectLst/>
                <a:latin typeface="+mn-lt"/>
                <a:ea typeface="+mn-ea"/>
                <a:cs typeface="+mn-cs"/>
              </a:rPr>
              <a:t>且限长</a:t>
            </a:r>
            <a:r>
              <a:rPr lang="en-US" altLang="zh-CN" sz="1200" b="0" i="0" u="none" strike="noStrike" kern="1200" dirty="0">
                <a:solidFill>
                  <a:schemeClr val="tx1"/>
                </a:solidFill>
                <a:effectLst/>
                <a:latin typeface="+mn-lt"/>
                <a:ea typeface="+mn-ea"/>
                <a:cs typeface="+mn-cs"/>
              </a:rPr>
              <a:t>255</a:t>
            </a:r>
            <a:r>
              <a:rPr lang="zh-CN" altLang="en-US" sz="1200" b="0" i="0" u="none" strike="noStrike" kern="1200" dirty="0">
                <a:solidFill>
                  <a:schemeClr val="tx1"/>
                </a:solidFill>
                <a:effectLst/>
                <a:latin typeface="+mn-lt"/>
                <a:ea typeface="+mn-ea"/>
                <a:cs typeface="+mn-cs"/>
              </a:rPr>
              <a:t>字节。</a:t>
            </a:r>
          </a:p>
          <a:p>
            <a:endParaRPr kumimoji="1" lang="en-US" altLang="zh-CN" dirty="0"/>
          </a:p>
          <a:p>
            <a:r>
              <a:rPr kumimoji="1" lang="en-US" altLang="zh-CN" dirty="0"/>
              <a:t>BFE</a:t>
            </a:r>
            <a:r>
              <a:rPr kumimoji="1" lang="zh-CN" altLang="en-US" dirty="0"/>
              <a:t>：百度七层流量接入平台。核心功能是：接入和转发、全局流量调度、安全和防攻击、数据分析。</a:t>
            </a:r>
            <a:endParaRPr kumimoji="1" lang="en-US" altLang="zh-CN" dirty="0"/>
          </a:p>
          <a:p>
            <a:endParaRPr kumimoji="1" lang="en-US" altLang="zh-CN" noProof="0" dirty="0"/>
          </a:p>
          <a:p>
            <a:r>
              <a:rPr kumimoji="1" lang="en-US" altLang="zh-CN" dirty="0" err="1"/>
              <a:t>Rcv</a:t>
            </a:r>
            <a:r>
              <a:rPr kumimoji="1" lang="zh-CN" altLang="en-US" dirty="0"/>
              <a:t>：点击主要是指用户点击广告的行为，当用户点击了检索结果中的某条广告，点击请求被转发到</a:t>
            </a:r>
            <a:r>
              <a:rPr kumimoji="1" lang="en-US" altLang="zh-CN" dirty="0"/>
              <a:t>BFE</a:t>
            </a:r>
            <a:r>
              <a:rPr kumimoji="1" lang="zh-CN" altLang="en-US" dirty="0"/>
              <a:t>，</a:t>
            </a:r>
            <a:r>
              <a:rPr kumimoji="1" lang="en-US" altLang="zh-CN" dirty="0"/>
              <a:t>BFE</a:t>
            </a:r>
            <a:r>
              <a:rPr kumimoji="1" lang="zh-CN" altLang="en-US" dirty="0"/>
              <a:t>将请求转发到某个机房的</a:t>
            </a:r>
            <a:r>
              <a:rPr kumimoji="1" lang="en-US" altLang="zh-CN" dirty="0"/>
              <a:t>RCV</a:t>
            </a:r>
            <a:r>
              <a:rPr kumimoji="1" lang="zh-CN" altLang="en-US" dirty="0"/>
              <a:t>服务器，</a:t>
            </a:r>
            <a:r>
              <a:rPr kumimoji="1" lang="en-US" altLang="zh-CN" dirty="0"/>
              <a:t>RCV</a:t>
            </a:r>
            <a:r>
              <a:rPr kumimoji="1" lang="zh-CN" altLang="en-US" dirty="0"/>
              <a:t>服务器从点击串提取必要字段，生成一条点击日志落到本地，然后返回本次点击需要跳转的</a:t>
            </a:r>
            <a:r>
              <a:rPr kumimoji="1" lang="en-US" altLang="zh-CN" dirty="0"/>
              <a:t>URL</a:t>
            </a:r>
            <a:r>
              <a:rPr kumimoji="1" lang="zh-CN" altLang="en-US" dirty="0"/>
              <a:t>，客户端根据该</a:t>
            </a:r>
            <a:r>
              <a:rPr kumimoji="1" lang="en-US" altLang="zh-CN" dirty="0"/>
              <a:t>URL</a:t>
            </a:r>
            <a:r>
              <a:rPr kumimoji="1" lang="zh-CN" altLang="en-US" dirty="0"/>
              <a:t>跳转到广告页面。</a:t>
            </a:r>
          </a:p>
          <a:p>
            <a:endParaRPr kumimoji="1" lang="zh-CN" altLang="en-US"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123118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368043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altLang="zh-CN" sz="1200" kern="1200" dirty="0" err="1">
                <a:solidFill>
                  <a:schemeClr val="tx1"/>
                </a:solidFill>
                <a:effectLst/>
                <a:latin typeface="+mn-lt"/>
                <a:ea typeface="+mn-ea"/>
                <a:cs typeface="+mn-cs"/>
              </a:rPr>
              <a:t>winfoid</a:t>
            </a:r>
            <a:r>
              <a:rPr lang="zh-CN" altLang="en-GB" sz="1200" kern="1200" dirty="0">
                <a:solidFill>
                  <a:schemeClr val="tx1"/>
                </a:solidFill>
                <a:effectLst/>
                <a:latin typeface="+mn-lt"/>
                <a:ea typeface="+mn-ea"/>
                <a:cs typeface="+mn-cs"/>
              </a:rPr>
              <a:t>：</a:t>
            </a:r>
            <a:r>
              <a:rPr lang="en-GB"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每条广告的投放</a:t>
            </a:r>
            <a:r>
              <a:rPr lang="en-GB" altLang="zh-CN" sz="1200" kern="1200" dirty="0">
                <a:solidFill>
                  <a:schemeClr val="tx1"/>
                </a:solidFill>
                <a:effectLst/>
                <a:latin typeface="+mn-lt"/>
                <a:ea typeface="+mn-ea"/>
                <a:cs typeface="+mn-cs"/>
              </a:rPr>
              <a:t>id</a:t>
            </a:r>
            <a:r>
              <a:rPr lang="zh-CN" altLang="en-GB" sz="1200" kern="1200" dirty="0">
                <a:solidFill>
                  <a:schemeClr val="tx1"/>
                </a:solidFill>
                <a:effectLst/>
                <a:latin typeface="+mn-lt"/>
                <a:ea typeface="+mn-ea"/>
                <a:cs typeface="+mn-cs"/>
              </a:rPr>
              <a:t>；</a:t>
            </a:r>
            <a:r>
              <a:rPr lang="en-GB" altLang="zh-CN" sz="1200" kern="1200" dirty="0" err="1">
                <a:solidFill>
                  <a:schemeClr val="tx1"/>
                </a:solidFill>
                <a:effectLst/>
                <a:latin typeface="+mn-lt"/>
                <a:ea typeface="+mn-ea"/>
                <a:cs typeface="+mn-cs"/>
              </a:rPr>
              <a:t>url_sign</a:t>
            </a:r>
            <a:r>
              <a:rPr lang="en-GB" altLang="zh-CN" sz="1200" kern="1200" dirty="0">
                <a:solidFill>
                  <a:schemeClr val="tx1"/>
                </a:solidFill>
                <a:effectLst/>
                <a:latin typeface="+mn-lt"/>
                <a:ea typeface="+mn-ea"/>
                <a:cs typeface="+mn-cs"/>
              </a:rPr>
              <a:t>: </a:t>
            </a:r>
            <a:r>
              <a:rPr lang="en-GB" altLang="zh-CN" sz="1200" kern="1200" dirty="0" err="1">
                <a:solidFill>
                  <a:schemeClr val="tx1"/>
                </a:solidFill>
                <a:effectLst/>
                <a:latin typeface="+mn-lt"/>
                <a:ea typeface="+mn-ea"/>
                <a:cs typeface="+mn-cs"/>
              </a:rPr>
              <a:t>kv</a:t>
            </a:r>
            <a:r>
              <a:rPr lang="zh-CN" altLang="en-US" sz="1200" kern="1200" dirty="0">
                <a:solidFill>
                  <a:schemeClr val="tx1"/>
                </a:solidFill>
                <a:effectLst/>
                <a:latin typeface="+mn-lt"/>
                <a:ea typeface="+mn-ea"/>
                <a:cs typeface="+mn-cs"/>
              </a:rPr>
              <a:t>域里</a:t>
            </a:r>
            <a:r>
              <a:rPr lang="en-US" altLang="zh-CN" sz="1200" kern="1200" dirty="0" err="1">
                <a:solidFill>
                  <a:schemeClr val="tx1"/>
                </a:solidFill>
                <a:effectLst/>
                <a:latin typeface="+mn-lt"/>
                <a:ea typeface="+mn-ea"/>
                <a:cs typeface="+mn-cs"/>
              </a:rPr>
              <a:t>url</a:t>
            </a:r>
            <a:r>
              <a:rPr lang="zh-CN" altLang="en-US" sz="1200" kern="1200" dirty="0">
                <a:solidFill>
                  <a:schemeClr val="tx1"/>
                </a:solidFill>
                <a:effectLst/>
                <a:latin typeface="+mn-lt"/>
                <a:ea typeface="+mn-ea"/>
                <a:cs typeface="+mn-cs"/>
              </a:rPr>
              <a:t>的签名 </a:t>
            </a:r>
            <a:r>
              <a:rPr lang="en-US" altLang="zh-CN" sz="1200" kern="1200" dirty="0" err="1">
                <a:solidFill>
                  <a:schemeClr val="tx1"/>
                </a:solidFill>
                <a:effectLst/>
                <a:latin typeface="+mn-lt"/>
                <a:ea typeface="+mn-ea"/>
                <a:cs typeface="+mn-cs"/>
              </a:rPr>
              <a:t>winfoid</a:t>
            </a:r>
            <a:r>
              <a:rPr lang="zh-CN" altLang="en-US" sz="1200" kern="1200" dirty="0">
                <a:solidFill>
                  <a:schemeClr val="tx1"/>
                </a:solidFill>
                <a:effectLst/>
                <a:latin typeface="+mn-lt"/>
                <a:ea typeface="+mn-ea"/>
                <a:cs typeface="+mn-cs"/>
              </a:rPr>
              <a:t>广告</a:t>
            </a:r>
            <a:r>
              <a:rPr lang="en-US" altLang="zh-CN" sz="1200" kern="1200" dirty="0">
                <a:solidFill>
                  <a:schemeClr val="tx1"/>
                </a:solidFill>
                <a:effectLst/>
                <a:latin typeface="+mn-lt"/>
                <a:ea typeface="+mn-ea"/>
                <a:cs typeface="+mn-cs"/>
              </a:rPr>
              <a:t>id</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tu</a:t>
            </a:r>
            <a:r>
              <a:rPr lang="zh-CN" altLang="en-US" sz="1200" kern="1200" dirty="0">
                <a:solidFill>
                  <a:schemeClr val="tx1"/>
                </a:solidFill>
                <a:effectLst/>
                <a:latin typeface="+mn-lt"/>
                <a:ea typeface="+mn-ea"/>
                <a:cs typeface="+mn-cs"/>
              </a:rPr>
              <a:t> 广告位</a:t>
            </a:r>
            <a:r>
              <a:rPr lang="en-US" altLang="zh-CN" sz="1200" kern="1200" dirty="0">
                <a:solidFill>
                  <a:schemeClr val="tx1"/>
                </a:solidFill>
                <a:effectLst/>
                <a:latin typeface="+mn-lt"/>
                <a:ea typeface="+mn-ea"/>
                <a:cs typeface="+mn-cs"/>
              </a:rPr>
              <a:t>id</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72340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kumimoji="1"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kumimoji="1"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kumimoji="1"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kumimoji="1"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457200" y="154781"/>
            <a:ext cx="6019800" cy="329088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2022/8/13</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A884C5F-F626-6D4F-AF36-64933E703500}" type="datetimeFigureOut">
              <a:rPr kumimoji="1" lang="zh-CN" altLang="en-US" smtClean="0"/>
              <a:t>2022/8/13</a:t>
            </a:fld>
            <a:endParaRPr kumimoji="1"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6A738F2-617A-654C-BA20-6329BEB1AAD2}"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comments" Target="../comments/commen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comments" Target="../comments/comment4.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3000375" y="2251710"/>
            <a:ext cx="5351145" cy="1076325"/>
          </a:xfrm>
          <a:prstGeom prst="rect">
            <a:avLst/>
          </a:prstGeom>
          <a:noFill/>
        </p:spPr>
        <p:txBody>
          <a:bodyPr wrap="square" rtlCol="0">
            <a:spAutoFit/>
          </a:bodyPr>
          <a:lstStyle/>
          <a:p>
            <a:pPr algn="ctr"/>
            <a:r>
              <a:rPr kumimoji="1" lang="zh-CN" altLang="en-US" sz="3200" spc="200" dirty="0">
                <a:solidFill>
                  <a:schemeClr val="tx1">
                    <a:lumMod val="75000"/>
                    <a:lumOff val="25000"/>
                  </a:schemeClr>
                </a:solidFill>
                <a:latin typeface="微软雅黑"/>
                <a:ea typeface="微软雅黑"/>
                <a:cs typeface="微软雅黑"/>
              </a:rPr>
              <a:t>反作弊策略管理平台</a:t>
            </a:r>
          </a:p>
          <a:p>
            <a:pPr algn="ctr"/>
            <a:r>
              <a:rPr kumimoji="1" lang="zh-CN" altLang="en-US" sz="3200" spc="200" dirty="0">
                <a:solidFill>
                  <a:schemeClr val="tx1">
                    <a:lumMod val="75000"/>
                    <a:lumOff val="25000"/>
                  </a:schemeClr>
                </a:solidFill>
                <a:latin typeface="微软雅黑"/>
                <a:ea typeface="微软雅黑"/>
                <a:cs typeface="微软雅黑"/>
              </a:rPr>
              <a:t>新人串讲</a:t>
            </a:r>
            <a:endParaRPr kumimoji="1" lang="en-US" altLang="zh-CN" sz="3200" spc="200" dirty="0">
              <a:solidFill>
                <a:schemeClr val="tx1">
                  <a:lumMod val="75000"/>
                  <a:lumOff val="25000"/>
                </a:schemeClr>
              </a:solidFill>
              <a:latin typeface="微软雅黑"/>
              <a:ea typeface="微软雅黑"/>
              <a:cs typeface="微软雅黑"/>
            </a:endParaRPr>
          </a:p>
        </p:txBody>
      </p:sp>
      <p:sp>
        <p:nvSpPr>
          <p:cNvPr id="4" name="文本框 3"/>
          <p:cNvSpPr txBox="1"/>
          <p:nvPr/>
        </p:nvSpPr>
        <p:spPr>
          <a:xfrm>
            <a:off x="1545244" y="3075806"/>
            <a:ext cx="3048000" cy="553998"/>
          </a:xfrm>
          <a:prstGeom prst="rect">
            <a:avLst/>
          </a:prstGeom>
          <a:noFill/>
        </p:spPr>
        <p:txBody>
          <a:bodyPr wrap="square" rtlCol="0">
            <a:spAutoFit/>
          </a:bodyPr>
          <a:lstStyle/>
          <a:p>
            <a:r>
              <a:rPr kumimoji="1" lang="en-US" altLang="zh-CN" sz="1000" spc="480" dirty="0">
                <a:solidFill>
                  <a:schemeClr val="bg1"/>
                </a:solidFill>
                <a:latin typeface="微软雅黑"/>
                <a:ea typeface="微软雅黑"/>
                <a:cs typeface="微软雅黑"/>
              </a:rPr>
              <a:t>2018</a:t>
            </a:r>
          </a:p>
          <a:p>
            <a:r>
              <a:rPr kumimoji="1" lang="zh-CN" altLang="en-US" sz="1000" spc="480" dirty="0">
                <a:solidFill>
                  <a:schemeClr val="bg1"/>
                </a:solidFill>
                <a:latin typeface="微软雅黑"/>
                <a:ea typeface="微软雅黑"/>
                <a:cs typeface="微软雅黑"/>
              </a:rPr>
              <a:t>／</a:t>
            </a:r>
            <a:r>
              <a:rPr kumimoji="1" lang="en-US" altLang="zh-CN" sz="1000" spc="480" dirty="0">
                <a:solidFill>
                  <a:schemeClr val="bg1"/>
                </a:solidFill>
                <a:latin typeface="微软雅黑"/>
                <a:ea typeface="微软雅黑"/>
                <a:cs typeface="微软雅黑"/>
              </a:rPr>
              <a:t>09</a:t>
            </a:r>
          </a:p>
          <a:p>
            <a:r>
              <a:rPr kumimoji="1" lang="zh-CN" altLang="en-US" sz="1000" spc="480" dirty="0">
                <a:solidFill>
                  <a:schemeClr val="bg1"/>
                </a:solidFill>
                <a:latin typeface="微软雅黑"/>
                <a:ea typeface="微软雅黑"/>
                <a:cs typeface="微软雅黑"/>
              </a:rPr>
              <a:t>／</a:t>
            </a:r>
            <a:r>
              <a:rPr kumimoji="1" lang="en-US" altLang="zh-CN" sz="1000" spc="480" dirty="0">
                <a:solidFill>
                  <a:schemeClr val="bg1"/>
                </a:solidFill>
                <a:latin typeface="微软雅黑"/>
                <a:ea typeface="微软雅黑"/>
                <a:cs typeface="微软雅黑"/>
              </a:rPr>
              <a:t>13</a:t>
            </a:r>
            <a:endParaRPr kumimoji="1" lang="zh-CN" altLang="en-US" sz="1000" spc="480" dirty="0">
              <a:solidFill>
                <a:schemeClr val="bg1"/>
              </a:solidFill>
              <a:latin typeface="微软雅黑"/>
              <a:ea typeface="微软雅黑"/>
              <a:cs typeface="微软雅黑"/>
            </a:endParaRPr>
          </a:p>
        </p:txBody>
      </p:sp>
      <p:sp>
        <p:nvSpPr>
          <p:cNvPr id="2" name="文本框 1"/>
          <p:cNvSpPr txBox="1"/>
          <p:nvPr/>
        </p:nvSpPr>
        <p:spPr>
          <a:xfrm>
            <a:off x="4000537" y="3638747"/>
            <a:ext cx="3351121" cy="645160"/>
          </a:xfrm>
          <a:prstGeom prst="rect">
            <a:avLst/>
          </a:prstGeom>
          <a:noFill/>
        </p:spPr>
        <p:txBody>
          <a:bodyPr wrap="square" rtlCol="0">
            <a:spAutoFit/>
          </a:bodyPr>
          <a:lstStyle/>
          <a:p>
            <a:pPr algn="ctr"/>
            <a:r>
              <a:rPr lang="zh-CN" altLang="en-US" dirty="0">
                <a:latin typeface="楷体" panose="02010609060101010101" pitchFamily="49" charset="-122"/>
                <a:ea typeface="楷体" panose="02010609060101010101" pitchFamily="49" charset="-122"/>
              </a:rPr>
              <a:t>蔡坤</a:t>
            </a:r>
            <a:endParaRPr lang="en-US" altLang="zh-CN" dirty="0">
              <a:latin typeface="楷体" panose="02010609060101010101" pitchFamily="49" charset="-122"/>
              <a:ea typeface="楷体" panose="02010609060101010101" pitchFamily="49" charset="-122"/>
            </a:endParaRPr>
          </a:p>
          <a:p>
            <a:pPr algn="ctr"/>
            <a:r>
              <a:rPr lang="en-US" altLang="zh-CN" dirty="0">
                <a:latin typeface="楷体" panose="02010609060101010101" pitchFamily="49" charset="-122"/>
                <a:ea typeface="楷体" panose="02010609060101010101" pitchFamily="49" charset="-122"/>
              </a:rPr>
              <a:t>caikun01@baidu.com</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4096031" y="1469413"/>
            <a:ext cx="1770678" cy="400110"/>
          </a:xfrm>
          <a:prstGeom prst="rect">
            <a:avLst/>
          </a:prstGeom>
          <a:noFill/>
        </p:spPr>
        <p:txBody>
          <a:bodyPr wrap="none" rtlCol="0">
            <a:spAutoFit/>
          </a:bodyPr>
          <a:lstStyle/>
          <a:p>
            <a:r>
              <a:rPr kumimoji="1" lang="zh-CN" altLang="zh-CN" sz="2000" spc="170" dirty="0">
                <a:solidFill>
                  <a:srgbClr val="E10611"/>
                </a:solidFill>
                <a:latin typeface="微软雅黑"/>
                <a:ea typeface="微软雅黑"/>
                <a:cs typeface="微软雅黑"/>
              </a:rPr>
              <a:t>0</a:t>
            </a:r>
            <a:r>
              <a:rPr kumimoji="1" lang="en-US" altLang="zh-CN" sz="2000" spc="170" dirty="0">
                <a:solidFill>
                  <a:srgbClr val="E10611"/>
                </a:solidFill>
                <a:latin typeface="微软雅黑"/>
                <a:ea typeface="微软雅黑"/>
                <a:cs typeface="微软雅黑"/>
              </a:rPr>
              <a:t>1 </a:t>
            </a:r>
            <a:r>
              <a:rPr kumimoji="1" lang="zh-CN" altLang="en-US" sz="2000" spc="230" dirty="0">
                <a:solidFill>
                  <a:schemeClr val="tx1">
                    <a:lumMod val="75000"/>
                    <a:lumOff val="25000"/>
                  </a:schemeClr>
                </a:solidFill>
                <a:latin typeface="微软雅黑"/>
                <a:ea typeface="微软雅黑"/>
                <a:cs typeface="微软雅黑"/>
              </a:rPr>
              <a:t>业务背景</a:t>
            </a:r>
          </a:p>
        </p:txBody>
      </p:sp>
      <p:sp>
        <p:nvSpPr>
          <p:cNvPr id="4" name="文本框 3"/>
          <p:cNvSpPr txBox="1"/>
          <p:nvPr/>
        </p:nvSpPr>
        <p:spPr>
          <a:xfrm>
            <a:off x="4096031" y="2004151"/>
            <a:ext cx="3884077" cy="707886"/>
          </a:xfrm>
          <a:prstGeom prst="rect">
            <a:avLst/>
          </a:prstGeom>
          <a:noFill/>
        </p:spPr>
        <p:txBody>
          <a:bodyPr wrap="none" rtlCol="0">
            <a:spAutoFit/>
          </a:bodyPr>
          <a:lstStyle/>
          <a:p>
            <a:r>
              <a:rPr kumimoji="1" lang="zh-CN" altLang="zh-CN" sz="2000" spc="170" dirty="0">
                <a:solidFill>
                  <a:srgbClr val="E10611"/>
                </a:solidFill>
                <a:latin typeface="微软雅黑"/>
                <a:ea typeface="微软雅黑"/>
                <a:cs typeface="微软雅黑"/>
              </a:rPr>
              <a:t>0</a:t>
            </a:r>
            <a:r>
              <a:rPr kumimoji="1" lang="en-US" altLang="zh-CN" sz="2000" spc="170" dirty="0">
                <a:solidFill>
                  <a:srgbClr val="E10611"/>
                </a:solidFill>
                <a:latin typeface="微软雅黑"/>
                <a:ea typeface="微软雅黑"/>
                <a:cs typeface="微软雅黑"/>
              </a:rPr>
              <a:t>2</a:t>
            </a:r>
            <a:r>
              <a:rPr kumimoji="1" lang="zh-CN" altLang="en-US" sz="2000" spc="170" dirty="0">
                <a:solidFill>
                  <a:srgbClr val="E10611"/>
                </a:solidFill>
                <a:latin typeface="微软雅黑"/>
                <a:ea typeface="微软雅黑"/>
                <a:cs typeface="微软雅黑"/>
              </a:rPr>
              <a:t> </a:t>
            </a:r>
            <a:r>
              <a:rPr kumimoji="1" lang="zh-CN" altLang="en-US" sz="2000" spc="540" dirty="0">
                <a:solidFill>
                  <a:schemeClr val="tx1">
                    <a:lumMod val="75000"/>
                    <a:lumOff val="25000"/>
                  </a:schemeClr>
                </a:solidFill>
                <a:latin typeface="微软雅黑"/>
                <a:ea typeface="微软雅黑"/>
                <a:cs typeface="微软雅黑"/>
              </a:rPr>
              <a:t>反作弊系统及基本概念</a:t>
            </a:r>
            <a:endParaRPr kumimoji="1" lang="en-US" altLang="zh-CN" sz="2000" spc="540" dirty="0">
              <a:solidFill>
                <a:schemeClr val="tx1">
                  <a:lumMod val="75000"/>
                  <a:lumOff val="25000"/>
                </a:schemeClr>
              </a:solidFill>
              <a:latin typeface="微软雅黑"/>
              <a:ea typeface="微软雅黑"/>
              <a:cs typeface="微软雅黑"/>
            </a:endParaRPr>
          </a:p>
          <a:p>
            <a:endParaRPr kumimoji="1" lang="zh-CN" altLang="en-US" sz="2000" spc="230" dirty="0">
              <a:solidFill>
                <a:schemeClr val="tx1">
                  <a:lumMod val="75000"/>
                  <a:lumOff val="25000"/>
                </a:schemeClr>
              </a:solidFill>
              <a:latin typeface="微软雅黑"/>
              <a:ea typeface="微软雅黑"/>
              <a:cs typeface="微软雅黑"/>
            </a:endParaRPr>
          </a:p>
        </p:txBody>
      </p:sp>
      <p:sp>
        <p:nvSpPr>
          <p:cNvPr id="5" name="文本框 4"/>
          <p:cNvSpPr txBox="1"/>
          <p:nvPr/>
        </p:nvSpPr>
        <p:spPr>
          <a:xfrm>
            <a:off x="4096031" y="2538887"/>
            <a:ext cx="2914580" cy="400110"/>
          </a:xfrm>
          <a:prstGeom prst="rect">
            <a:avLst/>
          </a:prstGeom>
          <a:noFill/>
        </p:spPr>
        <p:txBody>
          <a:bodyPr wrap="none" rtlCol="0">
            <a:spAutoFit/>
          </a:bodyPr>
          <a:lstStyle/>
          <a:p>
            <a:r>
              <a:rPr kumimoji="1" lang="zh-CN" altLang="zh-CN" sz="2000" spc="170" dirty="0">
                <a:solidFill>
                  <a:srgbClr val="E10611"/>
                </a:solidFill>
                <a:latin typeface="微软雅黑"/>
                <a:ea typeface="微软雅黑"/>
                <a:cs typeface="微软雅黑"/>
              </a:rPr>
              <a:t>0</a:t>
            </a:r>
            <a:r>
              <a:rPr kumimoji="1" lang="en-US" altLang="zh-CN" sz="2000" spc="170" dirty="0">
                <a:solidFill>
                  <a:srgbClr val="E10611"/>
                </a:solidFill>
                <a:latin typeface="微软雅黑"/>
                <a:ea typeface="微软雅黑"/>
                <a:cs typeface="微软雅黑"/>
              </a:rPr>
              <a:t>3 </a:t>
            </a:r>
            <a:r>
              <a:rPr kumimoji="1" lang="zh-CN" altLang="en-US" sz="2000" spc="230" dirty="0">
                <a:solidFill>
                  <a:schemeClr val="tx1">
                    <a:lumMod val="75000"/>
                    <a:lumOff val="25000"/>
                  </a:schemeClr>
                </a:solidFill>
                <a:latin typeface="微软雅黑"/>
                <a:ea typeface="微软雅黑"/>
                <a:cs typeface="微软雅黑"/>
              </a:rPr>
              <a:t>神盾策略管理平台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4066942" y="1669365"/>
            <a:ext cx="2132690" cy="533288"/>
          </a:xfrm>
          <a:prstGeom prst="rect">
            <a:avLst/>
          </a:prstGeom>
          <a:noFill/>
        </p:spPr>
        <p:txBody>
          <a:bodyPr wrap="square" rtlCol="0">
            <a:spAutoFit/>
          </a:bodyPr>
          <a:lstStyle/>
          <a:p>
            <a:pPr>
              <a:lnSpc>
                <a:spcPct val="110000"/>
              </a:lnSpc>
            </a:pPr>
            <a:r>
              <a:rPr kumimoji="1" lang="zh-CN" altLang="en-US" sz="2800" spc="540" dirty="0">
                <a:solidFill>
                  <a:schemeClr val="tx1">
                    <a:lumMod val="75000"/>
                    <a:lumOff val="25000"/>
                  </a:schemeClr>
                </a:solidFill>
                <a:latin typeface="微软雅黑"/>
                <a:ea typeface="微软雅黑"/>
                <a:cs typeface="微软雅黑"/>
              </a:rPr>
              <a:t>业务背景</a:t>
            </a:r>
            <a:endParaRPr kumimoji="1" lang="zh-CN" altLang="en-US" sz="2400" spc="70" dirty="0">
              <a:solidFill>
                <a:schemeClr val="tx1">
                  <a:lumMod val="75000"/>
                  <a:lumOff val="25000"/>
                </a:schemeClr>
              </a:solidFill>
              <a:latin typeface="微软雅黑"/>
              <a:ea typeface="微软雅黑"/>
              <a:cs typeface="微软雅黑"/>
            </a:endParaRPr>
          </a:p>
        </p:txBody>
      </p:sp>
      <p:sp>
        <p:nvSpPr>
          <p:cNvPr id="10" name="文本框 9">
            <a:extLst>
              <a:ext uri="{FF2B5EF4-FFF2-40B4-BE49-F238E27FC236}">
                <a16:creationId xmlns:a16="http://schemas.microsoft.com/office/drawing/2014/main" id="{4A587B4B-C3D1-204B-6A86-96C8C2E90106}"/>
              </a:ext>
            </a:extLst>
          </p:cNvPr>
          <p:cNvSpPr txBox="1"/>
          <p:nvPr/>
        </p:nvSpPr>
        <p:spPr>
          <a:xfrm>
            <a:off x="4105656" y="2587752"/>
            <a:ext cx="2496312" cy="115813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600" dirty="0"/>
              <a:t>百度的搜索与广告</a:t>
            </a:r>
            <a:endParaRPr kumimoji="1" lang="en-US" altLang="zh-CN" sz="1600" dirty="0"/>
          </a:p>
          <a:p>
            <a:pPr marL="285750" indent="-285750">
              <a:lnSpc>
                <a:spcPct val="150000"/>
              </a:lnSpc>
              <a:buFont typeface="Arial" panose="020B0604020202020204" pitchFamily="34" charset="0"/>
              <a:buChar char="•"/>
            </a:pPr>
            <a:r>
              <a:rPr kumimoji="1" lang="zh-CN" altLang="en-US" sz="1600" dirty="0"/>
              <a:t>作弊</a:t>
            </a:r>
            <a:endParaRPr kumimoji="1" lang="en-US" altLang="zh-CN" sz="1600" dirty="0"/>
          </a:p>
          <a:p>
            <a:pPr marL="285750" indent="-285750">
              <a:lnSpc>
                <a:spcPct val="150000"/>
              </a:lnSpc>
              <a:buFont typeface="Arial" panose="020B0604020202020204" pitchFamily="34" charset="0"/>
              <a:buChar char="•"/>
            </a:pPr>
            <a:r>
              <a:rPr kumimoji="1" lang="zh-CN" altLang="en-US" sz="1600" dirty="0"/>
              <a:t>反作弊</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12" name="文本框 11"/>
          <p:cNvSpPr txBox="1"/>
          <p:nvPr/>
        </p:nvSpPr>
        <p:spPr>
          <a:xfrm>
            <a:off x="828448" y="404225"/>
            <a:ext cx="3112616" cy="361253"/>
          </a:xfrm>
          <a:prstGeom prst="rect">
            <a:avLst/>
          </a:prstGeom>
          <a:noFill/>
        </p:spPr>
        <p:txBody>
          <a:bodyPr wrap="square" rtlCol="0">
            <a:spAutoFit/>
          </a:bodyPr>
          <a:lstStyle/>
          <a:p>
            <a:pPr>
              <a:lnSpc>
                <a:spcPct val="140000"/>
              </a:lnSpc>
            </a:pPr>
            <a:r>
              <a:rPr kumimoji="1" lang="zh-CN" altLang="en-US" sz="1400" b="1" spc="200" dirty="0">
                <a:latin typeface="微软雅黑"/>
                <a:ea typeface="微软雅黑"/>
                <a:cs typeface="微软雅黑"/>
              </a:rPr>
              <a:t>业务背景</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百度的广告商业模式</a:t>
            </a:r>
          </a:p>
        </p:txBody>
      </p:sp>
      <p:sp>
        <p:nvSpPr>
          <p:cNvPr id="55" name="文本框 54"/>
          <p:cNvSpPr txBox="1"/>
          <p:nvPr/>
        </p:nvSpPr>
        <p:spPr>
          <a:xfrm>
            <a:off x="4951529" y="1087771"/>
            <a:ext cx="3783893" cy="3636060"/>
          </a:xfrm>
          <a:prstGeom prst="rect">
            <a:avLst/>
          </a:prstGeom>
          <a:noFill/>
        </p:spPr>
        <p:txBody>
          <a:bodyPr wrap="square" rtlCol="0">
            <a:spAutoFit/>
          </a:bodyPr>
          <a:lstStyle/>
          <a:p>
            <a:pPr>
              <a:lnSpc>
                <a:spcPct val="140000"/>
              </a:lnSpc>
            </a:pPr>
            <a:r>
              <a:rPr kumimoji="1" lang="zh-CN" altLang="en-US" dirty="0">
                <a:latin typeface="微软雅黑"/>
                <a:ea typeface="微软雅黑"/>
                <a:cs typeface="微软雅黑"/>
              </a:rPr>
              <a:t>三方参与：</a:t>
            </a:r>
            <a:r>
              <a:rPr kumimoji="1" lang="zh-CN" altLang="en-US" sz="1600" dirty="0">
                <a:latin typeface="微软雅黑"/>
                <a:ea typeface="微软雅黑"/>
                <a:cs typeface="微软雅黑"/>
              </a:rPr>
              <a:t>百度、广告主、网民用户</a:t>
            </a:r>
            <a:endParaRPr kumimoji="1" lang="en-US" altLang="zh-CN" sz="1600" dirty="0">
              <a:latin typeface="微软雅黑"/>
              <a:ea typeface="微软雅黑"/>
              <a:cs typeface="微软雅黑"/>
            </a:endParaRPr>
          </a:p>
          <a:p>
            <a:pPr marL="285750" indent="-285750">
              <a:lnSpc>
                <a:spcPct val="140000"/>
              </a:lnSpc>
              <a:buFont typeface="Arial" panose="020B0604020202020204" pitchFamily="34" charset="0"/>
              <a:buChar char="•"/>
            </a:pPr>
            <a:endParaRPr kumimoji="1" lang="en-US" altLang="zh-CN" sz="1600" dirty="0">
              <a:latin typeface="微软雅黑"/>
              <a:ea typeface="微软雅黑"/>
              <a:cs typeface="微软雅黑"/>
            </a:endParaRPr>
          </a:p>
          <a:p>
            <a:pPr marL="285750" indent="-285750">
              <a:lnSpc>
                <a:spcPct val="140000"/>
              </a:lnSpc>
              <a:buFont typeface="Arial" panose="020B0604020202020204" pitchFamily="34" charset="0"/>
              <a:buChar char="•"/>
            </a:pPr>
            <a:r>
              <a:rPr kumimoji="1" lang="zh-CN" altLang="en-US" sz="1400" dirty="0">
                <a:latin typeface="微软雅黑"/>
                <a:ea typeface="微软雅黑"/>
                <a:cs typeface="微软雅黑"/>
              </a:rPr>
              <a:t>百度向用户提供免费的搜索服务，向广告主提供推广服务获得营收</a:t>
            </a:r>
            <a:endParaRPr kumimoji="1" lang="en-US" altLang="zh-CN" sz="1400" dirty="0">
              <a:latin typeface="微软雅黑"/>
              <a:ea typeface="微软雅黑"/>
              <a:cs typeface="微软雅黑"/>
            </a:endParaRPr>
          </a:p>
          <a:p>
            <a:pPr marL="285750" indent="-285750">
              <a:lnSpc>
                <a:spcPct val="140000"/>
              </a:lnSpc>
              <a:buFont typeface="Arial" panose="020B0604020202020204" pitchFamily="34" charset="0"/>
              <a:buChar char="•"/>
            </a:pPr>
            <a:r>
              <a:rPr kumimoji="1" lang="zh-CN" altLang="en-US" sz="1400" dirty="0">
                <a:latin typeface="微软雅黑"/>
                <a:ea typeface="微软雅黑"/>
                <a:cs typeface="微软雅黑"/>
              </a:rPr>
              <a:t>广告主利用百度推广平台，付费投放广告，获得想要的流量、用户、转化</a:t>
            </a:r>
            <a:endParaRPr kumimoji="1" lang="en-US" altLang="zh-CN" sz="1400" dirty="0">
              <a:latin typeface="微软雅黑"/>
              <a:ea typeface="微软雅黑"/>
              <a:cs typeface="微软雅黑"/>
            </a:endParaRPr>
          </a:p>
          <a:p>
            <a:pPr marL="285750" indent="-285750">
              <a:lnSpc>
                <a:spcPct val="140000"/>
              </a:lnSpc>
              <a:buFont typeface="Arial" panose="020B0604020202020204" pitchFamily="34" charset="0"/>
              <a:buChar char="•"/>
            </a:pPr>
            <a:r>
              <a:rPr kumimoji="1" lang="zh-CN" altLang="en-US" sz="1400" dirty="0">
                <a:latin typeface="微软雅黑"/>
                <a:ea typeface="微软雅黑"/>
                <a:cs typeface="微软雅黑"/>
              </a:rPr>
              <a:t>用户搜索信息的同时，获得感兴趣、有需求的广告</a:t>
            </a:r>
            <a:endParaRPr kumimoji="1" lang="en-US" altLang="zh-CN" sz="1400" dirty="0">
              <a:latin typeface="微软雅黑"/>
              <a:ea typeface="微软雅黑"/>
              <a:cs typeface="微软雅黑"/>
            </a:endParaRPr>
          </a:p>
          <a:p>
            <a:pPr>
              <a:lnSpc>
                <a:spcPct val="140000"/>
              </a:lnSpc>
            </a:pPr>
            <a:endParaRPr kumimoji="1" lang="en-US" altLang="zh-CN" sz="1600" dirty="0">
              <a:latin typeface="微软雅黑"/>
              <a:ea typeface="微软雅黑"/>
              <a:cs typeface="微软雅黑"/>
            </a:endParaRPr>
          </a:p>
          <a:p>
            <a:pPr>
              <a:lnSpc>
                <a:spcPct val="140000"/>
              </a:lnSpc>
            </a:pPr>
            <a:r>
              <a:rPr kumimoji="1" lang="zh-CN" altLang="en-US" sz="1400" dirty="0">
                <a:solidFill>
                  <a:prstClr val="black"/>
                </a:solidFill>
                <a:latin typeface="等线"/>
                <a:ea typeface="等线" panose="02010600030101010101" pitchFamily="2" charset="-122"/>
              </a:rPr>
              <a:t>百度以搜索为基础，利用广告推广获取现金流，从而维护这个循环的良好运作。</a:t>
            </a:r>
            <a:endParaRPr kumimoji="1" lang="en-US" altLang="zh-CN" sz="1400" dirty="0">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9944040B-38BE-F46A-EE3F-1DC54D704D33}"/>
              </a:ext>
            </a:extLst>
          </p:cNvPr>
          <p:cNvGrpSpPr/>
          <p:nvPr/>
        </p:nvGrpSpPr>
        <p:grpSpPr>
          <a:xfrm>
            <a:off x="533149" y="1588429"/>
            <a:ext cx="3783893" cy="2389211"/>
            <a:chOff x="4797992" y="1505552"/>
            <a:chExt cx="4248472" cy="2263564"/>
          </a:xfrm>
        </p:grpSpPr>
        <p:graphicFrame>
          <p:nvGraphicFramePr>
            <p:cNvPr id="22" name="图示 21">
              <a:extLst>
                <a:ext uri="{FF2B5EF4-FFF2-40B4-BE49-F238E27FC236}">
                  <a16:creationId xmlns:a16="http://schemas.microsoft.com/office/drawing/2014/main" id="{6BA68425-3FDC-B294-2FDE-935BDD0EF34C}"/>
                </a:ext>
              </a:extLst>
            </p:cNvPr>
            <p:cNvGraphicFramePr/>
            <p:nvPr>
              <p:extLst>
                <p:ext uri="{D42A27DB-BD31-4B8C-83A1-F6EECF244321}">
                  <p14:modId xmlns:p14="http://schemas.microsoft.com/office/powerpoint/2010/main" val="1691504463"/>
                </p:ext>
              </p:extLst>
            </p:nvPr>
          </p:nvGraphicFramePr>
          <p:xfrm>
            <a:off x="4797992" y="1505552"/>
            <a:ext cx="4248472" cy="21602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3" name="文本框 22">
              <a:extLst>
                <a:ext uri="{FF2B5EF4-FFF2-40B4-BE49-F238E27FC236}">
                  <a16:creationId xmlns:a16="http://schemas.microsoft.com/office/drawing/2014/main" id="{A0764828-6A23-F0AF-AD55-5C8137203566}"/>
                </a:ext>
              </a:extLst>
            </p:cNvPr>
            <p:cNvSpPr txBox="1"/>
            <p:nvPr/>
          </p:nvSpPr>
          <p:spPr>
            <a:xfrm>
              <a:off x="7328777" y="2412332"/>
              <a:ext cx="1377696"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需求对接</a:t>
              </a:r>
            </a:p>
          </p:txBody>
        </p:sp>
        <p:sp>
          <p:nvSpPr>
            <p:cNvPr id="24" name="文本框 23">
              <a:extLst>
                <a:ext uri="{FF2B5EF4-FFF2-40B4-BE49-F238E27FC236}">
                  <a16:creationId xmlns:a16="http://schemas.microsoft.com/office/drawing/2014/main" id="{34A4E488-D476-9028-8F9B-5E4F03CF58A1}"/>
                </a:ext>
              </a:extLst>
            </p:cNvPr>
            <p:cNvSpPr txBox="1"/>
            <p:nvPr/>
          </p:nvSpPr>
          <p:spPr>
            <a:xfrm>
              <a:off x="5138235" y="2410843"/>
              <a:ext cx="1377696"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广告投放</a:t>
              </a:r>
            </a:p>
          </p:txBody>
        </p:sp>
        <p:sp>
          <p:nvSpPr>
            <p:cNvPr id="25" name="文本框 24">
              <a:extLst>
                <a:ext uri="{FF2B5EF4-FFF2-40B4-BE49-F238E27FC236}">
                  <a16:creationId xmlns:a16="http://schemas.microsoft.com/office/drawing/2014/main" id="{7C8CA283-CF6E-2B4B-608C-99E19E1DDB45}"/>
                </a:ext>
              </a:extLst>
            </p:cNvPr>
            <p:cNvSpPr txBox="1"/>
            <p:nvPr/>
          </p:nvSpPr>
          <p:spPr>
            <a:xfrm>
              <a:off x="6233379" y="3461339"/>
              <a:ext cx="1377696"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搜索服务</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2499968" cy="36125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业务背景</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百度推广平台</a:t>
            </a:r>
          </a:p>
        </p:txBody>
      </p:sp>
      <p:sp>
        <p:nvSpPr>
          <p:cNvPr id="9" name="内容占位符 2"/>
          <p:cNvSpPr txBox="1"/>
          <p:nvPr/>
        </p:nvSpPr>
        <p:spPr>
          <a:xfrm>
            <a:off x="516474" y="1096928"/>
            <a:ext cx="8091078" cy="3328768"/>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Tx/>
              <a:buSzPct val="120000"/>
              <a:buFont typeface="Arial" panose="020B0604020202020204"/>
              <a:buNone/>
              <a:tabLst/>
              <a:defRPr/>
            </a:pP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charset="0"/>
            </a:endParaRPr>
          </a:p>
        </p:txBody>
      </p:sp>
      <p:sp>
        <p:nvSpPr>
          <p:cNvPr id="3" name="文本框 2">
            <a:extLst>
              <a:ext uri="{FF2B5EF4-FFF2-40B4-BE49-F238E27FC236}">
                <a16:creationId xmlns:a16="http://schemas.microsoft.com/office/drawing/2014/main" id="{55CF747C-7A70-5124-6A61-83C8EF5B57E2}"/>
              </a:ext>
            </a:extLst>
          </p:cNvPr>
          <p:cNvSpPr txBox="1"/>
          <p:nvPr/>
        </p:nvSpPr>
        <p:spPr>
          <a:xfrm>
            <a:off x="840141" y="1096928"/>
            <a:ext cx="3605736" cy="277396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dirty="0"/>
              <a:t>凤巢</a:t>
            </a:r>
            <a:endParaRPr kumimoji="1" lang="en-US" altLang="zh-CN" dirty="0"/>
          </a:p>
          <a:p>
            <a:pPr marL="742950" lvl="1" indent="-285750">
              <a:lnSpc>
                <a:spcPct val="150000"/>
              </a:lnSpc>
              <a:buFont typeface="Arial" panose="020B0604020202020204" pitchFamily="34" charset="0"/>
              <a:buChar char="•"/>
            </a:pPr>
            <a:r>
              <a:rPr kumimoji="1" lang="zh-CN" altLang="en-US" sz="1600" dirty="0"/>
              <a:t>搜索广告</a:t>
            </a:r>
            <a:endParaRPr kumimoji="1" lang="en-US" altLang="zh-CN" sz="1600" dirty="0"/>
          </a:p>
          <a:p>
            <a:pPr marL="285750" indent="-285750">
              <a:lnSpc>
                <a:spcPct val="150000"/>
              </a:lnSpc>
              <a:buFont typeface="Arial" panose="020B0604020202020204" pitchFamily="34" charset="0"/>
              <a:buChar char="•"/>
            </a:pPr>
            <a:r>
              <a:rPr kumimoji="1" lang="zh-CN" altLang="en-US" dirty="0"/>
              <a:t>信息流</a:t>
            </a:r>
            <a:r>
              <a:rPr kumimoji="1" lang="en-US" altLang="zh-CN" dirty="0"/>
              <a:t>Feed</a:t>
            </a:r>
          </a:p>
          <a:p>
            <a:pPr marL="742950" lvl="1" indent="-285750">
              <a:lnSpc>
                <a:spcPct val="150000"/>
              </a:lnSpc>
              <a:buFont typeface="Arial" panose="020B0604020202020204" pitchFamily="34" charset="0"/>
              <a:buChar char="•"/>
            </a:pPr>
            <a:r>
              <a:rPr lang="zh-CN" altLang="en-US" sz="1600" dirty="0"/>
              <a:t>百度 </a:t>
            </a:r>
            <a:r>
              <a:rPr lang="en" altLang="zh-CN" sz="1600" dirty="0"/>
              <a:t>APP</a:t>
            </a:r>
            <a:r>
              <a:rPr lang="zh-CN" altLang="en" sz="1600" dirty="0"/>
              <a:t>、</a:t>
            </a:r>
            <a:r>
              <a:rPr lang="zh-CN" altLang="en-US" sz="1600" dirty="0"/>
              <a:t>贴吧、好看视频、等资讯流中穿插展现的广告</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dirty="0"/>
              <a:t>网盟 </a:t>
            </a:r>
            <a:r>
              <a:rPr kumimoji="1" lang="en-US" altLang="zh-CN" dirty="0" err="1"/>
              <a:t>cpro</a:t>
            </a:r>
            <a:endParaRPr kumimoji="1" lang="en-US" altLang="zh-CN" dirty="0"/>
          </a:p>
          <a:p>
            <a:pPr marL="742950" lvl="1" indent="-285750">
              <a:lnSpc>
                <a:spcPct val="150000"/>
              </a:lnSpc>
              <a:buFont typeface="Arial" panose="020B0604020202020204" pitchFamily="34" charset="0"/>
              <a:buChar char="•"/>
            </a:pPr>
            <a:r>
              <a:rPr kumimoji="1" lang="zh-CN" altLang="en-US" sz="1600" dirty="0"/>
              <a:t>第三方流量媒体的广告位</a:t>
            </a:r>
          </a:p>
        </p:txBody>
      </p:sp>
      <p:sp>
        <p:nvSpPr>
          <p:cNvPr id="24" name="文本框 23">
            <a:extLst>
              <a:ext uri="{FF2B5EF4-FFF2-40B4-BE49-F238E27FC236}">
                <a16:creationId xmlns:a16="http://schemas.microsoft.com/office/drawing/2014/main" id="{42A0C824-7C8A-B2A2-C2AF-58121A6CF726}"/>
              </a:ext>
            </a:extLst>
          </p:cNvPr>
          <p:cNvSpPr txBox="1"/>
          <p:nvPr/>
        </p:nvSpPr>
        <p:spPr>
          <a:xfrm>
            <a:off x="5526286" y="1166177"/>
            <a:ext cx="3379286" cy="2635465"/>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1" lang="zh-CN" altLang="en-US" sz="1600" dirty="0"/>
              <a:t>凤巢：</a:t>
            </a:r>
            <a:endParaRPr kumimoji="1" lang="en-US" altLang="zh-CN" sz="1600" dirty="0"/>
          </a:p>
          <a:p>
            <a:pPr marL="0" marR="0" lvl="0" indent="0" algn="l" defTabSz="457200" rtl="0" eaLnBrk="1" fontAlgn="auto" latinLnBrk="0" hangingPunct="1">
              <a:lnSpc>
                <a:spcPct val="150000"/>
              </a:lnSpc>
              <a:spcBef>
                <a:spcPts val="0"/>
              </a:spcBef>
              <a:spcAft>
                <a:spcPts val="0"/>
              </a:spcAft>
              <a:buClrTx/>
              <a:buSzTx/>
              <a:buFontTx/>
              <a:buNone/>
              <a:tabLst/>
              <a:defRPr/>
            </a:pPr>
            <a:r>
              <a:rPr kumimoji="1" lang="zh-CN" altLang="en-US" sz="1600" dirty="0"/>
              <a:t>广告主竞拍关键词，凤巢系统根据竞拍价格、用户检索的关键词决定广告投放与否及广告的投放量展现在搜索结果页面中，广告每被点击一次，搜索引擎从广告主的资金池中扣费。</a:t>
            </a:r>
            <a:endParaRPr kumimoji="1" lang="en-US" altLang="zh-CN" sz="1600" dirty="0"/>
          </a:p>
        </p:txBody>
      </p:sp>
      <p:cxnSp>
        <p:nvCxnSpPr>
          <p:cNvPr id="26" name="直线连接符 25">
            <a:extLst>
              <a:ext uri="{FF2B5EF4-FFF2-40B4-BE49-F238E27FC236}">
                <a16:creationId xmlns:a16="http://schemas.microsoft.com/office/drawing/2014/main" id="{C5E997A5-99B2-C23F-93B2-0D60B1C7CB04}"/>
              </a:ext>
            </a:extLst>
          </p:cNvPr>
          <p:cNvCxnSpPr/>
          <p:nvPr/>
        </p:nvCxnSpPr>
        <p:spPr>
          <a:xfrm>
            <a:off x="4918841" y="1799240"/>
            <a:ext cx="0" cy="154502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3631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2499968" cy="36125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业务背景</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点击计费</a:t>
            </a:r>
          </a:p>
        </p:txBody>
      </p:sp>
      <p:sp>
        <p:nvSpPr>
          <p:cNvPr id="9" name="内容占位符 2"/>
          <p:cNvSpPr txBox="1"/>
          <p:nvPr/>
        </p:nvSpPr>
        <p:spPr>
          <a:xfrm>
            <a:off x="516474" y="1096928"/>
            <a:ext cx="8091078" cy="3328768"/>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Tx/>
              <a:buSzPct val="120000"/>
              <a:buFont typeface="Arial" panose="020B0604020202020204"/>
              <a:buNone/>
              <a:tabLst/>
              <a:defRPr/>
            </a:pP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charset="0"/>
            </a:endParaRPr>
          </a:p>
        </p:txBody>
      </p:sp>
      <p:grpSp>
        <p:nvGrpSpPr>
          <p:cNvPr id="20" name="组合 19">
            <a:extLst>
              <a:ext uri="{FF2B5EF4-FFF2-40B4-BE49-F238E27FC236}">
                <a16:creationId xmlns:a16="http://schemas.microsoft.com/office/drawing/2014/main" id="{A09E7C78-6F69-6EB1-CC9C-648D6928BA27}"/>
              </a:ext>
            </a:extLst>
          </p:cNvPr>
          <p:cNvGrpSpPr/>
          <p:nvPr/>
        </p:nvGrpSpPr>
        <p:grpSpPr>
          <a:xfrm>
            <a:off x="936127" y="1054474"/>
            <a:ext cx="2284609" cy="3105641"/>
            <a:chOff x="6580758" y="1018929"/>
            <a:chExt cx="2284609" cy="3105641"/>
          </a:xfrm>
        </p:grpSpPr>
        <p:grpSp>
          <p:nvGrpSpPr>
            <p:cNvPr id="16" name="组合 15">
              <a:extLst>
                <a:ext uri="{FF2B5EF4-FFF2-40B4-BE49-F238E27FC236}">
                  <a16:creationId xmlns:a16="http://schemas.microsoft.com/office/drawing/2014/main" id="{C85CAB82-6481-6C15-0348-02DE036DB955}"/>
                </a:ext>
              </a:extLst>
            </p:cNvPr>
            <p:cNvGrpSpPr/>
            <p:nvPr/>
          </p:nvGrpSpPr>
          <p:grpSpPr>
            <a:xfrm>
              <a:off x="6580758" y="1018929"/>
              <a:ext cx="1550429" cy="3105641"/>
              <a:chOff x="6624307" y="966487"/>
              <a:chExt cx="1550429" cy="3105641"/>
            </a:xfrm>
            <a:solidFill>
              <a:schemeClr val="accent1"/>
            </a:solidFill>
          </p:grpSpPr>
          <p:grpSp>
            <p:nvGrpSpPr>
              <p:cNvPr id="4" name="组合 3">
                <a:extLst>
                  <a:ext uri="{FF2B5EF4-FFF2-40B4-BE49-F238E27FC236}">
                    <a16:creationId xmlns:a16="http://schemas.microsoft.com/office/drawing/2014/main" id="{32C1F973-740F-109B-4D22-B652639B35E5}"/>
                  </a:ext>
                </a:extLst>
              </p:cNvPr>
              <p:cNvGrpSpPr/>
              <p:nvPr/>
            </p:nvGrpSpPr>
            <p:grpSpPr>
              <a:xfrm>
                <a:off x="6624307" y="1673091"/>
                <a:ext cx="1550429" cy="576333"/>
                <a:chOff x="1301637" y="664"/>
                <a:chExt cx="1180618" cy="590309"/>
              </a:xfrm>
              <a:grpFill/>
            </p:grpSpPr>
            <p:sp>
              <p:nvSpPr>
                <p:cNvPr id="5" name="圆角矩形 4">
                  <a:extLst>
                    <a:ext uri="{FF2B5EF4-FFF2-40B4-BE49-F238E27FC236}">
                      <a16:creationId xmlns:a16="http://schemas.microsoft.com/office/drawing/2014/main" id="{F9EAD0D7-9EB8-A57F-F80C-6FBEA41E59FE}"/>
                    </a:ext>
                  </a:extLst>
                </p:cNvPr>
                <p:cNvSpPr/>
                <p:nvPr/>
              </p:nvSpPr>
              <p:spPr>
                <a:xfrm>
                  <a:off x="1301637" y="664"/>
                  <a:ext cx="1180618" cy="590309"/>
                </a:xfrm>
                <a:prstGeom prst="roundRect">
                  <a:avLst>
                    <a:gd name="adj" fmla="val 10000"/>
                  </a:avLst>
                </a:prstGeom>
                <a:grp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sp>
            <p:sp>
              <p:nvSpPr>
                <p:cNvPr id="6" name="圆角矩形 4">
                  <a:extLst>
                    <a:ext uri="{FF2B5EF4-FFF2-40B4-BE49-F238E27FC236}">
                      <a16:creationId xmlns:a16="http://schemas.microsoft.com/office/drawing/2014/main" id="{4F9C25F3-B54C-03B0-0FDD-CBB4155E038D}"/>
                    </a:ext>
                  </a:extLst>
                </p:cNvPr>
                <p:cNvSpPr txBox="1"/>
                <p:nvPr/>
              </p:nvSpPr>
              <p:spPr>
                <a:xfrm>
                  <a:off x="1318927" y="17954"/>
                  <a:ext cx="1146038" cy="555729"/>
                </a:xfrm>
                <a:prstGeom prst="rect">
                  <a:avLst/>
                </a:prstGeom>
                <a:solidFill>
                  <a:schemeClr val="accent1"/>
                </a:solid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曝光</a:t>
                  </a:r>
                  <a:r>
                    <a:rPr lang="en-US" altLang="zh-CN" sz="2300" kern="1200" dirty="0">
                      <a:solidFill>
                        <a:sysClr val="window" lastClr="FFFFFF"/>
                      </a:solidFill>
                      <a:latin typeface="等线"/>
                      <a:ea typeface="等线" panose="02010600030101010101" pitchFamily="2" charset="-122"/>
                      <a:cs typeface="+mn-cs"/>
                    </a:rPr>
                    <a:t>/</a:t>
                  </a:r>
                  <a:r>
                    <a:rPr lang="zh-CN" altLang="en-US" sz="2300" kern="1200" dirty="0">
                      <a:solidFill>
                        <a:sysClr val="window" lastClr="FFFFFF"/>
                      </a:solidFill>
                      <a:latin typeface="等线"/>
                      <a:ea typeface="等线" panose="02010600030101010101" pitchFamily="2" charset="-122"/>
                      <a:cs typeface="+mn-cs"/>
                    </a:rPr>
                    <a:t>展现</a:t>
                  </a:r>
                </a:p>
              </p:txBody>
            </p:sp>
          </p:grpSp>
          <p:grpSp>
            <p:nvGrpSpPr>
              <p:cNvPr id="7" name="组合 6">
                <a:extLst>
                  <a:ext uri="{FF2B5EF4-FFF2-40B4-BE49-F238E27FC236}">
                    <a16:creationId xmlns:a16="http://schemas.microsoft.com/office/drawing/2014/main" id="{26799ECA-5FC3-C2C0-7107-61DA0B8D3538}"/>
                  </a:ext>
                </a:extLst>
              </p:cNvPr>
              <p:cNvGrpSpPr/>
              <p:nvPr/>
            </p:nvGrpSpPr>
            <p:grpSpPr>
              <a:xfrm>
                <a:off x="6871195" y="2604308"/>
                <a:ext cx="1111517" cy="576333"/>
                <a:chOff x="1301637" y="664"/>
                <a:chExt cx="1180618" cy="590309"/>
              </a:xfrm>
              <a:grpFill/>
            </p:grpSpPr>
            <p:sp>
              <p:nvSpPr>
                <p:cNvPr id="10" name="圆角矩形 9">
                  <a:extLst>
                    <a:ext uri="{FF2B5EF4-FFF2-40B4-BE49-F238E27FC236}">
                      <a16:creationId xmlns:a16="http://schemas.microsoft.com/office/drawing/2014/main" id="{37D1E076-BBE0-CA68-1C8D-A4C2DD2614F3}"/>
                    </a:ext>
                  </a:extLst>
                </p:cNvPr>
                <p:cNvSpPr/>
                <p:nvPr/>
              </p:nvSpPr>
              <p:spPr>
                <a:xfrm>
                  <a:off x="1301637" y="664"/>
                  <a:ext cx="1180618" cy="590309"/>
                </a:xfrm>
                <a:prstGeom prst="roundRect">
                  <a:avLst>
                    <a:gd name="adj" fmla="val 10000"/>
                  </a:avLst>
                </a:prstGeom>
                <a:grp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sp>
            <p:sp>
              <p:nvSpPr>
                <p:cNvPr id="11" name="圆角矩形 4">
                  <a:extLst>
                    <a:ext uri="{FF2B5EF4-FFF2-40B4-BE49-F238E27FC236}">
                      <a16:creationId xmlns:a16="http://schemas.microsoft.com/office/drawing/2014/main" id="{79963D8A-FEA1-5B38-53BF-6EEB4A8449FA}"/>
                    </a:ext>
                  </a:extLst>
                </p:cNvPr>
                <p:cNvSpPr txBox="1"/>
                <p:nvPr/>
              </p:nvSpPr>
              <p:spPr>
                <a:xfrm>
                  <a:off x="1318927" y="17954"/>
                  <a:ext cx="1146038" cy="555729"/>
                </a:xfrm>
                <a:prstGeom prst="rect">
                  <a:avLst/>
                </a:prstGeom>
                <a:solidFill>
                  <a:schemeClr val="accent6">
                    <a:lumMod val="75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点击</a:t>
                  </a:r>
                </a:p>
              </p:txBody>
            </p:sp>
          </p:grpSp>
          <p:grpSp>
            <p:nvGrpSpPr>
              <p:cNvPr id="12" name="组合 11">
                <a:extLst>
                  <a:ext uri="{FF2B5EF4-FFF2-40B4-BE49-F238E27FC236}">
                    <a16:creationId xmlns:a16="http://schemas.microsoft.com/office/drawing/2014/main" id="{95FC0BDE-9673-6212-E829-1467FDF01E9D}"/>
                  </a:ext>
                </a:extLst>
              </p:cNvPr>
              <p:cNvGrpSpPr/>
              <p:nvPr/>
            </p:nvGrpSpPr>
            <p:grpSpPr>
              <a:xfrm>
                <a:off x="6887473" y="3495795"/>
                <a:ext cx="1111517" cy="576333"/>
                <a:chOff x="1301637" y="664"/>
                <a:chExt cx="1180618" cy="590309"/>
              </a:xfrm>
              <a:grpFill/>
            </p:grpSpPr>
            <p:sp>
              <p:nvSpPr>
                <p:cNvPr id="13" name="圆角矩形 12">
                  <a:extLst>
                    <a:ext uri="{FF2B5EF4-FFF2-40B4-BE49-F238E27FC236}">
                      <a16:creationId xmlns:a16="http://schemas.microsoft.com/office/drawing/2014/main" id="{F538D008-B825-D02C-6BE7-46D9F3A98A28}"/>
                    </a:ext>
                  </a:extLst>
                </p:cNvPr>
                <p:cNvSpPr/>
                <p:nvPr/>
              </p:nvSpPr>
              <p:spPr>
                <a:xfrm>
                  <a:off x="1301637" y="664"/>
                  <a:ext cx="1180618" cy="590309"/>
                </a:xfrm>
                <a:prstGeom prst="roundRect">
                  <a:avLst>
                    <a:gd name="adj" fmla="val 10000"/>
                  </a:avLst>
                </a:prstGeom>
                <a:grp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sp>
            <p:sp>
              <p:nvSpPr>
                <p:cNvPr id="14" name="圆角矩形 4">
                  <a:extLst>
                    <a:ext uri="{FF2B5EF4-FFF2-40B4-BE49-F238E27FC236}">
                      <a16:creationId xmlns:a16="http://schemas.microsoft.com/office/drawing/2014/main" id="{2BB9B6E7-6EE7-4EE4-F7AC-3D5CF33FEA05}"/>
                    </a:ext>
                  </a:extLst>
                </p:cNvPr>
                <p:cNvSpPr txBox="1"/>
                <p:nvPr/>
              </p:nvSpPr>
              <p:spPr>
                <a:xfrm>
                  <a:off x="1318927" y="17954"/>
                  <a:ext cx="1146038" cy="55572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转化</a:t>
                  </a:r>
                </a:p>
              </p:txBody>
            </p:sp>
          </p:grpSp>
          <p:sp>
            <p:nvSpPr>
              <p:cNvPr id="15" name="文本框 14">
                <a:extLst>
                  <a:ext uri="{FF2B5EF4-FFF2-40B4-BE49-F238E27FC236}">
                    <a16:creationId xmlns:a16="http://schemas.microsoft.com/office/drawing/2014/main" id="{869715DF-0C97-14FC-FDD2-92A33BFDB898}"/>
                  </a:ext>
                </a:extLst>
              </p:cNvPr>
              <p:cNvSpPr txBox="1"/>
              <p:nvPr/>
            </p:nvSpPr>
            <p:spPr>
              <a:xfrm>
                <a:off x="6855453" y="966487"/>
                <a:ext cx="1143000" cy="369332"/>
              </a:xfrm>
              <a:prstGeom prst="rect">
                <a:avLst/>
              </a:prstGeom>
              <a:noFill/>
            </p:spPr>
            <p:txBody>
              <a:bodyPr wrap="square" rtlCol="0">
                <a:spAutoFit/>
              </a:bodyPr>
              <a:lstStyle/>
              <a:p>
                <a:r>
                  <a:rPr kumimoji="1" lang="zh-CN" altLang="en-US" dirty="0"/>
                  <a:t>计费方式</a:t>
                </a:r>
              </a:p>
            </p:txBody>
          </p:sp>
        </p:grpSp>
        <p:sp>
          <p:nvSpPr>
            <p:cNvPr id="17" name="文本框 16">
              <a:extLst>
                <a:ext uri="{FF2B5EF4-FFF2-40B4-BE49-F238E27FC236}">
                  <a16:creationId xmlns:a16="http://schemas.microsoft.com/office/drawing/2014/main" id="{98EDC2D2-C6B7-DDC6-3576-1ED704A7856E}"/>
                </a:ext>
              </a:extLst>
            </p:cNvPr>
            <p:cNvSpPr txBox="1"/>
            <p:nvPr/>
          </p:nvSpPr>
          <p:spPr>
            <a:xfrm>
              <a:off x="8174736" y="1762978"/>
              <a:ext cx="588623" cy="369332"/>
            </a:xfrm>
            <a:prstGeom prst="rect">
              <a:avLst/>
            </a:prstGeom>
            <a:noFill/>
          </p:spPr>
          <p:txBody>
            <a:bodyPr wrap="none" rtlCol="0">
              <a:spAutoFit/>
            </a:bodyPr>
            <a:lstStyle/>
            <a:p>
              <a:r>
                <a:rPr kumimoji="1" lang="en-US" altLang="zh-CN" dirty="0"/>
                <a:t>cpm</a:t>
              </a:r>
              <a:endParaRPr kumimoji="1" lang="zh-CN" altLang="en-US" dirty="0"/>
            </a:p>
          </p:txBody>
        </p:sp>
        <p:sp>
          <p:nvSpPr>
            <p:cNvPr id="18" name="文本框 17">
              <a:extLst>
                <a:ext uri="{FF2B5EF4-FFF2-40B4-BE49-F238E27FC236}">
                  <a16:creationId xmlns:a16="http://schemas.microsoft.com/office/drawing/2014/main" id="{8A0C8C01-7E2A-459F-FD6B-91B841105863}"/>
                </a:ext>
              </a:extLst>
            </p:cNvPr>
            <p:cNvSpPr txBox="1"/>
            <p:nvPr/>
          </p:nvSpPr>
          <p:spPr>
            <a:xfrm>
              <a:off x="8187560" y="2539126"/>
              <a:ext cx="677807" cy="646331"/>
            </a:xfrm>
            <a:prstGeom prst="rect">
              <a:avLst/>
            </a:prstGeom>
            <a:noFill/>
          </p:spPr>
          <p:txBody>
            <a:bodyPr wrap="square" rtlCol="0">
              <a:spAutoFit/>
            </a:bodyPr>
            <a:lstStyle/>
            <a:p>
              <a:r>
                <a:rPr kumimoji="1" lang="en-US" altLang="zh-CN" dirty="0"/>
                <a:t>cpc</a:t>
              </a:r>
            </a:p>
            <a:p>
              <a:r>
                <a:rPr kumimoji="1" lang="en-US" altLang="zh-CN" dirty="0"/>
                <a:t>ocpc</a:t>
              </a:r>
              <a:endParaRPr kumimoji="1" lang="zh-CN" altLang="en-US" dirty="0"/>
            </a:p>
          </p:txBody>
        </p:sp>
        <p:sp>
          <p:nvSpPr>
            <p:cNvPr id="19" name="文本框 18">
              <a:extLst>
                <a:ext uri="{FF2B5EF4-FFF2-40B4-BE49-F238E27FC236}">
                  <a16:creationId xmlns:a16="http://schemas.microsoft.com/office/drawing/2014/main" id="{F4FEFD1C-1517-3977-2C32-4D277ED9D194}"/>
                </a:ext>
              </a:extLst>
            </p:cNvPr>
            <p:cNvSpPr txBox="1"/>
            <p:nvPr/>
          </p:nvSpPr>
          <p:spPr>
            <a:xfrm>
              <a:off x="8174736" y="3599295"/>
              <a:ext cx="514885" cy="369332"/>
            </a:xfrm>
            <a:prstGeom prst="rect">
              <a:avLst/>
            </a:prstGeom>
            <a:noFill/>
          </p:spPr>
          <p:txBody>
            <a:bodyPr wrap="none" rtlCol="0">
              <a:spAutoFit/>
            </a:bodyPr>
            <a:lstStyle/>
            <a:p>
              <a:r>
                <a:rPr kumimoji="1" lang="en-US" altLang="zh-CN" dirty="0"/>
                <a:t>cpa</a:t>
              </a:r>
              <a:endParaRPr kumimoji="1" lang="zh-CN" altLang="en-US" dirty="0"/>
            </a:p>
          </p:txBody>
        </p:sp>
      </p:grpSp>
      <p:sp>
        <p:nvSpPr>
          <p:cNvPr id="22" name="文本框 21">
            <a:extLst>
              <a:ext uri="{FF2B5EF4-FFF2-40B4-BE49-F238E27FC236}">
                <a16:creationId xmlns:a16="http://schemas.microsoft.com/office/drawing/2014/main" id="{F5EBCCAA-8105-2606-B85A-F1125C7A5101}"/>
              </a:ext>
            </a:extLst>
          </p:cNvPr>
          <p:cNvSpPr txBox="1"/>
          <p:nvPr/>
        </p:nvSpPr>
        <p:spPr>
          <a:xfrm>
            <a:off x="4651542" y="1160473"/>
            <a:ext cx="4219903" cy="3003451"/>
          </a:xfrm>
          <a:prstGeom prst="rect">
            <a:avLst/>
          </a:prstGeom>
          <a:noFill/>
        </p:spPr>
        <p:txBody>
          <a:bodyPr wrap="square">
            <a:spAutoFit/>
          </a:bodyPr>
          <a:lstStyle/>
          <a:p>
            <a:pPr marL="285750" lvl="0" indent="-285750" algn="l" defTabSz="914400">
              <a:lnSpc>
                <a:spcPct val="150000"/>
              </a:lnSpc>
              <a:spcBef>
                <a:spcPts val="0"/>
              </a:spcBef>
              <a:buFont typeface="Wingdings" panose="05000000000000000000" pitchFamily="2" charset="2"/>
              <a:buChar char="Ø"/>
            </a:pPr>
            <a:r>
              <a:rPr lang="zh-CN" altLang="zh-CN" sz="1600" dirty="0">
                <a:solidFill>
                  <a:prstClr val="black"/>
                </a:solidFill>
                <a:latin typeface="微软雅黑" panose="020B0503020204020204" pitchFamily="34" charset="-122"/>
                <a:ea typeface="微软雅黑" panose="020B0503020204020204" pitchFamily="34" charset="-122"/>
              </a:rPr>
              <a:t>用户</a:t>
            </a:r>
            <a:r>
              <a:rPr lang="zh-CN" altLang="zh-CN" sz="1600" b="1" dirty="0">
                <a:solidFill>
                  <a:srgbClr val="0070C0"/>
                </a:solidFill>
                <a:latin typeface="微软雅黑" panose="020B0503020204020204" pitchFamily="34" charset="-122"/>
                <a:ea typeface="微软雅黑" panose="020B0503020204020204" pitchFamily="34" charset="-122"/>
              </a:rPr>
              <a:t>检索</a:t>
            </a:r>
            <a:r>
              <a:rPr lang="zh-CN" altLang="zh-CN" sz="1600" dirty="0">
                <a:solidFill>
                  <a:prstClr val="black"/>
                </a:solidFill>
                <a:latin typeface="微软雅黑" panose="020B0503020204020204" pitchFamily="34" charset="-122"/>
                <a:ea typeface="微软雅黑" panose="020B0503020204020204" pitchFamily="34" charset="-122"/>
              </a:rPr>
              <a:t>信息</a:t>
            </a:r>
            <a:r>
              <a:rPr lang="zh-CN" altLang="en-US" sz="1600" dirty="0">
                <a:solidFill>
                  <a:prstClr val="black"/>
                </a:solidFill>
                <a:latin typeface="微软雅黑" panose="020B0503020204020204" pitchFamily="34" charset="-122"/>
                <a:ea typeface="微软雅黑" panose="020B0503020204020204" pitchFamily="34" charset="-122"/>
              </a:rPr>
              <a:t> </a:t>
            </a:r>
            <a:r>
              <a:rPr lang="en-US" altLang="zh-CN"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 </a:t>
            </a:r>
            <a:r>
              <a:rPr lang="zh-CN" altLang="zh-CN" sz="1600" dirty="0">
                <a:solidFill>
                  <a:prstClr val="black"/>
                </a:solidFill>
                <a:latin typeface="微软雅黑" panose="020B0503020204020204" pitchFamily="34" charset="-122"/>
                <a:ea typeface="微软雅黑" panose="020B0503020204020204" pitchFamily="34" charset="-122"/>
              </a:rPr>
              <a:t>凤巢系统根据用户检索的关键词决定</a:t>
            </a:r>
            <a:r>
              <a:rPr lang="zh-CN" altLang="zh-CN" sz="1600" b="1" dirty="0">
                <a:solidFill>
                  <a:srgbClr val="0070C0"/>
                </a:solidFill>
                <a:latin typeface="微软雅黑" panose="020B0503020204020204" pitchFamily="34" charset="-122"/>
                <a:ea typeface="微软雅黑" panose="020B0503020204020204" pitchFamily="34" charset="-122"/>
              </a:rPr>
              <a:t>广告投放</a:t>
            </a:r>
            <a:r>
              <a:rPr lang="zh-CN" altLang="zh-CN" sz="1600" dirty="0">
                <a:solidFill>
                  <a:prstClr val="black"/>
                </a:solidFill>
                <a:latin typeface="微软雅黑" panose="020B0503020204020204" pitchFamily="34" charset="-122"/>
                <a:ea typeface="微软雅黑" panose="020B0503020204020204" pitchFamily="34" charset="-122"/>
              </a:rPr>
              <a:t>与否及广告的</a:t>
            </a:r>
            <a:r>
              <a:rPr lang="zh-CN" altLang="zh-CN" sz="1600" b="1" dirty="0">
                <a:solidFill>
                  <a:srgbClr val="0070C0"/>
                </a:solidFill>
                <a:latin typeface="微软雅黑" panose="020B0503020204020204" pitchFamily="34" charset="-122"/>
                <a:ea typeface="微软雅黑" panose="020B0503020204020204" pitchFamily="34" charset="-122"/>
              </a:rPr>
              <a:t>投放量</a:t>
            </a:r>
            <a:r>
              <a:rPr lang="zh-CN" altLang="zh-CN" sz="1600" dirty="0">
                <a:solidFill>
                  <a:prstClr val="black"/>
                </a:solidFill>
                <a:latin typeface="微软雅黑" panose="020B0503020204020204" pitchFamily="34" charset="-122"/>
                <a:ea typeface="微软雅黑" panose="020B0503020204020204" pitchFamily="34" charset="-122"/>
              </a:rPr>
              <a:t>，与检索</a:t>
            </a:r>
            <a:r>
              <a:rPr lang="zh-CN" altLang="en-US" sz="1600" dirty="0">
                <a:solidFill>
                  <a:prstClr val="black"/>
                </a:solidFill>
                <a:latin typeface="微软雅黑" panose="020B0503020204020204" pitchFamily="34" charset="-122"/>
                <a:ea typeface="微软雅黑" panose="020B0503020204020204" pitchFamily="34" charset="-122"/>
              </a:rPr>
              <a:t>自然</a:t>
            </a:r>
            <a:r>
              <a:rPr lang="zh-CN" altLang="zh-CN" sz="1600" dirty="0">
                <a:solidFill>
                  <a:prstClr val="black"/>
                </a:solidFill>
                <a:latin typeface="微软雅黑" panose="020B0503020204020204" pitchFamily="34" charset="-122"/>
                <a:ea typeface="微软雅黑" panose="020B0503020204020204" pitchFamily="34" charset="-122"/>
              </a:rPr>
              <a:t>结果共同组成检索展示</a:t>
            </a:r>
            <a:endParaRPr lang="en-US" altLang="zh-CN" sz="1600" dirty="0">
              <a:solidFill>
                <a:prstClr val="black"/>
              </a:solidFill>
              <a:latin typeface="微软雅黑" panose="020B0503020204020204" pitchFamily="34" charset="-122"/>
              <a:ea typeface="微软雅黑" panose="020B0503020204020204" pitchFamily="34" charset="-122"/>
            </a:endParaRPr>
          </a:p>
          <a:p>
            <a:pPr marL="285750" lvl="0" indent="-285750" algn="l" defTabSz="914400">
              <a:lnSpc>
                <a:spcPct val="150000"/>
              </a:lnSpc>
              <a:spcBef>
                <a:spcPts val="0"/>
              </a:spcBef>
              <a:buFont typeface="Wingdings" panose="05000000000000000000" pitchFamily="2" charset="2"/>
              <a:buChar char="Ø"/>
            </a:pPr>
            <a:r>
              <a:rPr lang="zh-CN" altLang="zh-CN" sz="1600" dirty="0">
                <a:solidFill>
                  <a:prstClr val="black"/>
                </a:solidFill>
                <a:latin typeface="微软雅黑" panose="020B0503020204020204" pitchFamily="34" charset="-122"/>
                <a:ea typeface="微软雅黑" panose="020B0503020204020204" pitchFamily="34" charset="-122"/>
              </a:rPr>
              <a:t>用户对检索出的结果进行选择性</a:t>
            </a:r>
            <a:r>
              <a:rPr lang="zh-CN" altLang="zh-CN" sz="1600" b="1" dirty="0">
                <a:solidFill>
                  <a:srgbClr val="0070C0"/>
                </a:solidFill>
                <a:latin typeface="微软雅黑" panose="020B0503020204020204" pitchFamily="34" charset="-122"/>
                <a:ea typeface="微软雅黑" panose="020B0503020204020204" pitchFamily="34" charset="-122"/>
              </a:rPr>
              <a:t>点击</a:t>
            </a:r>
            <a:r>
              <a:rPr lang="zh-CN" altLang="en-US" sz="1600" b="1" dirty="0">
                <a:solidFill>
                  <a:srgbClr val="0070C0"/>
                </a:solidFill>
                <a:latin typeface="微软雅黑" panose="020B0503020204020204" pitchFamily="34" charset="-122"/>
                <a:ea typeface="微软雅黑" panose="020B0503020204020204" pitchFamily="34" charset="-122"/>
              </a:rPr>
              <a:t> </a:t>
            </a:r>
            <a:r>
              <a:rPr lang="en-US" altLang="zh-CN"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 </a:t>
            </a:r>
            <a:r>
              <a:rPr lang="zh-CN" altLang="zh-CN" sz="1600" dirty="0">
                <a:solidFill>
                  <a:prstClr val="black"/>
                </a:solidFill>
                <a:latin typeface="微软雅黑" panose="020B0503020204020204" pitchFamily="34" charset="-122"/>
                <a:ea typeface="微软雅黑" panose="020B0503020204020204" pitchFamily="34" charset="-122"/>
              </a:rPr>
              <a:t>广告主为用户的点击行为</a:t>
            </a:r>
            <a:r>
              <a:rPr lang="zh-CN" altLang="zh-CN" sz="1600" b="1" dirty="0">
                <a:solidFill>
                  <a:srgbClr val="0070C0"/>
                </a:solidFill>
                <a:latin typeface="微软雅黑" panose="020B0503020204020204" pitchFamily="34" charset="-122"/>
                <a:ea typeface="微软雅黑" panose="020B0503020204020204" pitchFamily="34" charset="-122"/>
              </a:rPr>
              <a:t>付费</a:t>
            </a:r>
            <a:endParaRPr lang="en-US" altLang="zh-CN" sz="1600" b="1" dirty="0">
              <a:solidFill>
                <a:srgbClr val="0070C0"/>
              </a:solidFill>
              <a:latin typeface="微软雅黑" panose="020B0503020204020204" pitchFamily="34" charset="-122"/>
              <a:ea typeface="微软雅黑" panose="020B0503020204020204" pitchFamily="34" charset="-122"/>
            </a:endParaRPr>
          </a:p>
          <a:p>
            <a:pPr marL="285750" indent="-285750" algn="l" defTabSz="914400">
              <a:lnSpc>
                <a:spcPct val="150000"/>
              </a:lnSpc>
              <a:spcBef>
                <a:spcPts val="0"/>
              </a:spcBef>
              <a:buFont typeface="Wingdings" panose="05000000000000000000" pitchFamily="2" charset="2"/>
              <a:buChar char="Ø"/>
            </a:pPr>
            <a:r>
              <a:rPr lang="zh-CN" altLang="en-US"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用户完成广告点击后，可能发生深层的</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转化</a:t>
            </a:r>
            <a:r>
              <a:rPr lang="zh-CN" altLang="en-US" sz="16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：如表单咨询、</a:t>
            </a:r>
            <a:r>
              <a:rPr lang="en" altLang="zh-CN" sz="16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app</a:t>
            </a:r>
            <a:r>
              <a:rPr lang="zh-CN" altLang="en-US" sz="16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下载、用户注册、加购物车、付费购买</a:t>
            </a:r>
            <a:endParaRPr lang="en-US" altLang="zh-CN" sz="1600" dirty="0">
              <a:solidFill>
                <a:schemeClr val="tx1"/>
              </a:solidFill>
              <a:latin typeface="微软雅黑" panose="020B0503020204020204" pitchFamily="34" charset="-122"/>
              <a:ea typeface="微软雅黑" panose="020B0503020204020204" pitchFamily="34" charset="-122"/>
            </a:endParaRPr>
          </a:p>
        </p:txBody>
      </p:sp>
      <p:cxnSp>
        <p:nvCxnSpPr>
          <p:cNvPr id="21" name="直线箭头连接符 20">
            <a:extLst>
              <a:ext uri="{FF2B5EF4-FFF2-40B4-BE49-F238E27FC236}">
                <a16:creationId xmlns:a16="http://schemas.microsoft.com/office/drawing/2014/main" id="{CD89F666-D49E-BFD8-069A-25DE4171C1ED}"/>
              </a:ext>
            </a:extLst>
          </p:cNvPr>
          <p:cNvCxnSpPr>
            <a:cxnSpLocks/>
          </p:cNvCxnSpPr>
          <p:nvPr/>
        </p:nvCxnSpPr>
        <p:spPr>
          <a:xfrm flipV="1">
            <a:off x="3524600" y="2327757"/>
            <a:ext cx="752967" cy="553716"/>
          </a:xfrm>
          <a:prstGeom prst="straightConnector1">
            <a:avLst/>
          </a:prstGeom>
          <a:ln w="508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5626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2499968" cy="393954"/>
          </a:xfrm>
          <a:prstGeom prst="rect">
            <a:avLst/>
          </a:prstGeom>
          <a:noFill/>
        </p:spPr>
        <p:txBody>
          <a:bodyPr wrap="square" rtlCol="0">
            <a:spAutoFit/>
          </a:bodyPr>
          <a:lstStyle/>
          <a:p>
            <a:pPr>
              <a:lnSpc>
                <a:spcPct val="140000"/>
              </a:lnSpc>
            </a:pPr>
            <a:r>
              <a:rPr kumimoji="1" lang="zh-CN" altLang="en-US" sz="1400" b="1" spc="200" dirty="0">
                <a:latin typeface="微软雅黑"/>
                <a:ea typeface="微软雅黑"/>
                <a:cs typeface="微软雅黑"/>
              </a:rPr>
              <a:t>业务背景</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作弊</a:t>
            </a:r>
          </a:p>
        </p:txBody>
      </p:sp>
      <p:sp>
        <p:nvSpPr>
          <p:cNvPr id="9" name="内容占位符 2"/>
          <p:cNvSpPr txBox="1"/>
          <p:nvPr/>
        </p:nvSpPr>
        <p:spPr>
          <a:xfrm>
            <a:off x="516474" y="1096928"/>
            <a:ext cx="8091078" cy="3390989"/>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lvl="0" algn="l" defTabSz="914400">
              <a:lnSpc>
                <a:spcPct val="150000"/>
              </a:lnSpc>
              <a:spcBef>
                <a:spcPts val="0"/>
              </a:spcBef>
            </a:pPr>
            <a:r>
              <a:rPr lang="zh-CN" altLang="en-US" sz="1600" dirty="0">
                <a:solidFill>
                  <a:schemeClr val="tx1"/>
                </a:solidFill>
                <a:latin typeface="微软雅黑" panose="020B0503020204020204" pitchFamily="34" charset="-122"/>
                <a:ea typeface="微软雅黑" panose="020B0503020204020204" pitchFamily="34" charset="-122"/>
              </a:rPr>
              <a:t>广告有很多的相关利益方，因此除了那些无恶意的、机器产生的流量，也会经常遇到欺骗性的展示或点击行为，即作弊。</a:t>
            </a:r>
          </a:p>
          <a:p>
            <a:pPr lvl="0" algn="l" defTabSz="914400">
              <a:lnSpc>
                <a:spcPct val="150000"/>
              </a:lnSpc>
              <a:spcBef>
                <a:spcPts val="0"/>
              </a:spcBef>
            </a:pPr>
            <a:endParaRPr lang="en-US" altLang="zh-CN" sz="1600" b="1" dirty="0">
              <a:solidFill>
                <a:srgbClr val="0070C0"/>
              </a:solidFill>
              <a:latin typeface="微软雅黑" panose="020B0503020204020204" pitchFamily="34" charset="-122"/>
              <a:ea typeface="微软雅黑" panose="020B0503020204020204" pitchFamily="34" charset="-122"/>
            </a:endParaRPr>
          </a:p>
          <a:p>
            <a:pPr lvl="0" algn="l" defTabSz="914400">
              <a:lnSpc>
                <a:spcPct val="150000"/>
              </a:lnSpc>
              <a:spcBef>
                <a:spcPts val="0"/>
              </a:spcBef>
            </a:pPr>
            <a:r>
              <a:rPr lang="zh-CN" altLang="en-US" sz="1600" dirty="0">
                <a:solidFill>
                  <a:schemeClr val="tx1"/>
                </a:solidFill>
                <a:latin typeface="微软雅黑" panose="020B0503020204020204" pitchFamily="34" charset="-122"/>
                <a:ea typeface="微软雅黑" panose="020B0503020204020204" pitchFamily="34" charset="-122"/>
              </a:rPr>
              <a:t>广告活动是广告主、百度与用户之间三方交互的行为，其中百度方主要还包括：推广平台和第三方媒体</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indent="-285750" algn="l" defTabSz="914400">
              <a:lnSpc>
                <a:spcPct val="150000"/>
              </a:lnSpc>
              <a:spcBef>
                <a:spcPts val="0"/>
              </a:spcBef>
              <a:buFont typeface="Wingdings" pitchFamily="2" charset="2"/>
              <a:buChar char="Ø"/>
            </a:pPr>
            <a:r>
              <a:rPr lang="zh-CN" altLang="en-US" sz="1600" dirty="0">
                <a:solidFill>
                  <a:schemeClr val="tx1"/>
                </a:solidFill>
                <a:latin typeface="微软雅黑" panose="020B0503020204020204" pitchFamily="34" charset="-122"/>
                <a:ea typeface="微软雅黑" panose="020B0503020204020204" pitchFamily="34" charset="-122"/>
              </a:rPr>
              <a:t>平台作弊：制造虚假点击，冲业绩 </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lvl="0" indent="-285750" algn="l" defTabSz="914400">
              <a:lnSpc>
                <a:spcPct val="150000"/>
              </a:lnSpc>
              <a:spcBef>
                <a:spcPts val="0"/>
              </a:spcBef>
              <a:buFont typeface="Wingdings" pitchFamily="2" charset="2"/>
              <a:buChar char="Ø"/>
            </a:pPr>
            <a:r>
              <a:rPr lang="zh-CN" altLang="en-US" sz="1600" dirty="0">
                <a:solidFill>
                  <a:schemeClr val="tx1"/>
                </a:solidFill>
                <a:latin typeface="微软雅黑" panose="020B0503020204020204" pitchFamily="34" charset="-122"/>
                <a:ea typeface="微软雅黑" panose="020B0503020204020204" pitchFamily="34" charset="-122"/>
              </a:rPr>
              <a:t>媒体作弊：流量欺骗、劫持，骗取分成 （封禁 分成打折）</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lvl="0" indent="-285750" algn="l" defTabSz="914400">
              <a:lnSpc>
                <a:spcPct val="150000"/>
              </a:lnSpc>
              <a:spcBef>
                <a:spcPts val="0"/>
              </a:spcBef>
              <a:buFont typeface="Wingdings" pitchFamily="2" charset="2"/>
              <a:buChar char="Ø"/>
            </a:pPr>
            <a:r>
              <a:rPr lang="zh-CN" altLang="en-US" sz="1600" dirty="0">
                <a:solidFill>
                  <a:schemeClr val="tx1"/>
                </a:solidFill>
                <a:latin typeface="微软雅黑" panose="020B0503020204020204" pitchFamily="34" charset="-122"/>
                <a:ea typeface="微软雅黑" panose="020B0503020204020204" pitchFamily="34" charset="-122"/>
              </a:rPr>
              <a:t>其他广告主作弊：恶意打击竞争对手，耗光广告主资金池</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1725152" cy="393954"/>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业务背景</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反作弊</a:t>
            </a:r>
          </a:p>
        </p:txBody>
      </p:sp>
      <p:sp>
        <p:nvSpPr>
          <p:cNvPr id="9" name="内容占位符 2"/>
          <p:cNvSpPr txBox="1"/>
          <p:nvPr/>
        </p:nvSpPr>
        <p:spPr>
          <a:xfrm>
            <a:off x="505044" y="1240788"/>
            <a:ext cx="4066956" cy="3057943"/>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algn="l">
              <a:spcAft>
                <a:spcPts val="600"/>
              </a:spcAft>
              <a:buSzPct val="120000"/>
            </a:pPr>
            <a:r>
              <a:rPr kumimoji="1" lang="zh-CN" altLang="en-US" sz="1800" dirty="0">
                <a:solidFill>
                  <a:schemeClr val="tx1"/>
                </a:solidFill>
                <a:latin typeface="微软雅黑" panose="020B0503020204020204" pitchFamily="34" charset="-122"/>
                <a:ea typeface="微软雅黑" panose="020B0503020204020204" pitchFamily="34" charset="-122"/>
                <a:cs typeface="宋体" charset="0"/>
              </a:rPr>
              <a:t>反作弊的意义</a:t>
            </a:r>
            <a:endParaRPr kumimoji="1" lang="en-US" altLang="zh-CN" sz="18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lnSpc>
                <a:spcPct val="150000"/>
              </a:lnSpc>
              <a:spcAft>
                <a:spcPts val="600"/>
              </a:spcAft>
              <a:buSzPct val="120000"/>
              <a:buFont typeface="Arial" panose="020B0604020202020204" pitchFamily="34" charset="0"/>
              <a:buChar char="•"/>
            </a:pPr>
            <a:r>
              <a:rPr kumimoji="1" lang="zh-CN" altLang="en-US" sz="1600" dirty="0">
                <a:solidFill>
                  <a:schemeClr val="tx1"/>
                </a:solidFill>
                <a:latin typeface="微软雅黑" panose="020B0503020204020204" pitchFamily="34" charset="-122"/>
                <a:ea typeface="微软雅黑" panose="020B0503020204020204" pitchFamily="34" charset="-122"/>
                <a:cs typeface="宋体" charset="0"/>
              </a:rPr>
              <a:t>保护广告主在异常流量下的</a:t>
            </a:r>
            <a:r>
              <a:rPr kumimoji="1" lang="en" altLang="zh-CN" sz="1600" dirty="0">
                <a:solidFill>
                  <a:schemeClr val="tx1"/>
                </a:solidFill>
                <a:latin typeface="微软雅黑" panose="020B0503020204020204" pitchFamily="34" charset="-122"/>
                <a:ea typeface="微软雅黑" panose="020B0503020204020204" pitchFamily="34" charset="-122"/>
                <a:cs typeface="宋体" charset="0"/>
              </a:rPr>
              <a:t>ROI</a:t>
            </a:r>
            <a:r>
              <a:rPr kumimoji="1" lang="zh-CN" altLang="en" sz="1600" dirty="0">
                <a:solidFill>
                  <a:schemeClr val="tx1"/>
                </a:solidFill>
                <a:latin typeface="微软雅黑" panose="020B0503020204020204" pitchFamily="34" charset="-122"/>
                <a:ea typeface="微软雅黑" panose="020B0503020204020204" pitchFamily="34" charset="-122"/>
                <a:cs typeface="宋体" charset="0"/>
              </a:rPr>
              <a:t>（</a:t>
            </a:r>
            <a:r>
              <a:rPr kumimoji="1" lang="zh-CN" altLang="en-US" sz="1600" dirty="0">
                <a:solidFill>
                  <a:schemeClr val="tx1"/>
                </a:solidFill>
                <a:latin typeface="微软雅黑" panose="020B0503020204020204" pitchFamily="34" charset="-122"/>
                <a:ea typeface="微软雅黑" panose="020B0503020204020204" pitchFamily="34" charset="-122"/>
                <a:cs typeface="宋体" charset="0"/>
              </a:rPr>
              <a:t>投资回报率）稳定</a:t>
            </a:r>
          </a:p>
          <a:p>
            <a:pPr marL="285750" indent="-285750" algn="l">
              <a:lnSpc>
                <a:spcPct val="150000"/>
              </a:lnSpc>
              <a:spcAft>
                <a:spcPts val="600"/>
              </a:spcAft>
              <a:buSzPct val="120000"/>
              <a:buFont typeface="Arial" panose="020B0604020202020204" pitchFamily="34" charset="0"/>
              <a:buChar char="•"/>
            </a:pPr>
            <a:r>
              <a:rPr kumimoji="1" lang="zh-CN" altLang="en-US" sz="1600" dirty="0">
                <a:solidFill>
                  <a:schemeClr val="tx1"/>
                </a:solidFill>
                <a:latin typeface="微软雅黑" panose="020B0503020204020204" pitchFamily="34" charset="-122"/>
                <a:ea typeface="微软雅黑" panose="020B0503020204020204" pitchFamily="34" charset="-122"/>
                <a:cs typeface="宋体" charset="0"/>
              </a:rPr>
              <a:t>维护流量合作过程中的百度广告利益</a:t>
            </a:r>
            <a:endParaRPr kumimoji="1" lang="en-US" altLang="zh-CN" sz="16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lnSpc>
                <a:spcPct val="150000"/>
              </a:lnSpc>
              <a:spcAft>
                <a:spcPts val="600"/>
              </a:spcAft>
              <a:buSzPct val="120000"/>
              <a:buFont typeface="Arial" panose="020B0604020202020204" pitchFamily="34" charset="0"/>
              <a:buChar char="•"/>
            </a:pPr>
            <a:r>
              <a:rPr kumimoji="1" lang="zh-CN" altLang="en-US" sz="1600" dirty="0">
                <a:solidFill>
                  <a:schemeClr val="tx1"/>
                </a:solidFill>
                <a:latin typeface="微软雅黑" panose="020B0503020204020204" pitchFamily="34" charset="-122"/>
                <a:ea typeface="微软雅黑" panose="020B0503020204020204" pitchFamily="34" charset="-122"/>
                <a:cs typeface="宋体" charset="0"/>
              </a:rPr>
              <a:t>百度搜索产品和广告平台需要纯净的流量数据，作弊流量会造成很大影响</a:t>
            </a:r>
            <a:endParaRPr kumimoji="1" lang="en-US" altLang="zh-CN" sz="16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endParaRPr kumimoji="1" lang="zh-CN" altLang="en-US" sz="16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endParaRPr kumimoji="1" lang="zh-CN" altLang="en-US" sz="1600" dirty="0">
              <a:solidFill>
                <a:schemeClr val="tx1"/>
              </a:solidFill>
              <a:latin typeface="微软雅黑" panose="020B0503020204020204" pitchFamily="34" charset="-122"/>
              <a:ea typeface="微软雅黑" panose="020B0503020204020204" pitchFamily="34" charset="-122"/>
              <a:cs typeface="宋体" charset="0"/>
            </a:endParaRPr>
          </a:p>
        </p:txBody>
      </p:sp>
      <p:pic>
        <p:nvPicPr>
          <p:cNvPr id="10" name="Picture 2">
            <a:extLst>
              <a:ext uri="{FF2B5EF4-FFF2-40B4-BE49-F238E27FC236}">
                <a16:creationId xmlns:a16="http://schemas.microsoft.com/office/drawing/2014/main" id="{1B803B22-F7AA-BCA7-0E92-7CDFC3B693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406582"/>
            <a:ext cx="4262873" cy="27263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5" name="文本框 4"/>
          <p:cNvSpPr txBox="1"/>
          <p:nvPr/>
        </p:nvSpPr>
        <p:spPr>
          <a:xfrm>
            <a:off x="3335421" y="1722761"/>
            <a:ext cx="4547337" cy="533223"/>
          </a:xfrm>
          <a:prstGeom prst="rect">
            <a:avLst/>
          </a:prstGeom>
          <a:noFill/>
        </p:spPr>
        <p:txBody>
          <a:bodyPr wrap="square" rtlCol="0">
            <a:spAutoFit/>
          </a:bodyPr>
          <a:lstStyle/>
          <a:p>
            <a:pPr>
              <a:lnSpc>
                <a:spcPct val="110000"/>
              </a:lnSpc>
            </a:pPr>
            <a:r>
              <a:rPr kumimoji="1" lang="zh-CN" altLang="en-US" sz="2800" spc="540" dirty="0">
                <a:solidFill>
                  <a:schemeClr val="tx1">
                    <a:lumMod val="75000"/>
                    <a:lumOff val="25000"/>
                  </a:schemeClr>
                </a:solidFill>
                <a:latin typeface="微软雅黑"/>
                <a:ea typeface="微软雅黑"/>
                <a:cs typeface="微软雅黑"/>
              </a:rPr>
              <a:t>反作弊系统及基本概念</a:t>
            </a:r>
            <a:endParaRPr kumimoji="1" lang="en-US" altLang="zh-CN" sz="2800" spc="540" dirty="0">
              <a:solidFill>
                <a:schemeClr val="tx1">
                  <a:lumMod val="75000"/>
                  <a:lumOff val="25000"/>
                </a:schemeClr>
              </a:solidFill>
              <a:latin typeface="微软雅黑"/>
              <a:ea typeface="微软雅黑"/>
              <a:cs typeface="微软雅黑"/>
            </a:endParaRPr>
          </a:p>
        </p:txBody>
      </p:sp>
      <p:sp>
        <p:nvSpPr>
          <p:cNvPr id="4" name="文本框 3">
            <a:extLst>
              <a:ext uri="{FF2B5EF4-FFF2-40B4-BE49-F238E27FC236}">
                <a16:creationId xmlns:a16="http://schemas.microsoft.com/office/drawing/2014/main" id="{39736AAE-0C0B-8F7F-1EBA-777504A972D5}"/>
              </a:ext>
            </a:extLst>
          </p:cNvPr>
          <p:cNvSpPr txBox="1"/>
          <p:nvPr/>
        </p:nvSpPr>
        <p:spPr>
          <a:xfrm>
            <a:off x="3745356" y="2571750"/>
            <a:ext cx="3853307" cy="78887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600" dirty="0"/>
              <a:t>流程和系统框架</a:t>
            </a:r>
            <a:endParaRPr kumimoji="1" lang="en-US" altLang="zh-CN" sz="1600" dirty="0"/>
          </a:p>
          <a:p>
            <a:pPr marL="285750" indent="-285750">
              <a:lnSpc>
                <a:spcPct val="150000"/>
              </a:lnSpc>
              <a:buFont typeface="Arial" panose="020B0604020202020204" pitchFamily="34" charset="0"/>
              <a:buChar char="•"/>
            </a:pPr>
            <a:r>
              <a:rPr kumimoji="1" lang="zh-CN" altLang="en-US" sz="1600" dirty="0"/>
              <a:t>配置文件、基本概念</a:t>
            </a:r>
            <a:endParaRPr kumimoji="1" lang="en-US" altLang="zh-CN"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1725152"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流程</a:t>
            </a:r>
          </a:p>
        </p:txBody>
      </p:sp>
      <p:pic>
        <p:nvPicPr>
          <p:cNvPr id="6" name="图片 5">
            <a:extLst>
              <a:ext uri="{FF2B5EF4-FFF2-40B4-BE49-F238E27FC236}">
                <a16:creationId xmlns:a16="http://schemas.microsoft.com/office/drawing/2014/main" id="{9EDD92D6-9377-752E-1E25-8AEE8338736A}"/>
              </a:ext>
            </a:extLst>
          </p:cNvPr>
          <p:cNvPicPr>
            <a:picLocks noChangeAspect="1"/>
          </p:cNvPicPr>
          <p:nvPr/>
        </p:nvPicPr>
        <p:blipFill>
          <a:blip r:embed="rId4"/>
          <a:stretch>
            <a:fillRect/>
          </a:stretch>
        </p:blipFill>
        <p:spPr>
          <a:xfrm>
            <a:off x="828447" y="896046"/>
            <a:ext cx="7189279" cy="37391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340705"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流式和在线</a:t>
            </a:r>
          </a:p>
        </p:txBody>
      </p:sp>
      <p:sp>
        <p:nvSpPr>
          <p:cNvPr id="3" name="文本占位符 2">
            <a:extLst>
              <a:ext uri="{FF2B5EF4-FFF2-40B4-BE49-F238E27FC236}">
                <a16:creationId xmlns:a16="http://schemas.microsoft.com/office/drawing/2014/main" id="{815C4006-6B42-7E27-A03F-5751177A4FF2}"/>
              </a:ext>
            </a:extLst>
          </p:cNvPr>
          <p:cNvSpPr>
            <a:spLocks noGrp="1"/>
          </p:cNvSpPr>
          <p:nvPr>
            <p:ph type="body" idx="1"/>
          </p:nvPr>
        </p:nvSpPr>
        <p:spPr>
          <a:xfrm>
            <a:off x="457200" y="950615"/>
            <a:ext cx="4040188" cy="479822"/>
          </a:xfrm>
        </p:spPr>
        <p:txBody>
          <a:bodyPr>
            <a:normAutofit/>
          </a:bodyPr>
          <a:lstStyle/>
          <a:p>
            <a:r>
              <a:rPr lang="zh-CN" altLang="en-US" sz="1800" dirty="0"/>
              <a:t>流式反作弊 </a:t>
            </a:r>
            <a:r>
              <a:rPr lang="en-US" altLang="zh-CN" sz="1800" dirty="0"/>
              <a:t>TM</a:t>
            </a:r>
            <a:endParaRPr lang="zh-CN" altLang="en-US" sz="1800" dirty="0"/>
          </a:p>
        </p:txBody>
      </p:sp>
      <p:sp>
        <p:nvSpPr>
          <p:cNvPr id="5" name="内容占位符 4">
            <a:extLst>
              <a:ext uri="{FF2B5EF4-FFF2-40B4-BE49-F238E27FC236}">
                <a16:creationId xmlns:a16="http://schemas.microsoft.com/office/drawing/2014/main" id="{564D6D8D-5AA5-F84A-EB11-0263E04D7AF4}"/>
              </a:ext>
            </a:extLst>
          </p:cNvPr>
          <p:cNvSpPr>
            <a:spLocks noGrp="1"/>
          </p:cNvSpPr>
          <p:nvPr>
            <p:ph sz="half" idx="2"/>
          </p:nvPr>
        </p:nvSpPr>
        <p:spPr>
          <a:xfrm>
            <a:off x="457200" y="1430435"/>
            <a:ext cx="4040188" cy="3208471"/>
          </a:xfrm>
        </p:spPr>
        <p:txBody>
          <a:bodyPr>
            <a:normAutofit lnSpcReduction="10000"/>
          </a:bodyPr>
          <a:lstStyle/>
          <a:p>
            <a:endParaRPr lang="en-US" altLang="zh-CN" sz="1600" dirty="0"/>
          </a:p>
          <a:p>
            <a:r>
              <a:rPr lang="zh-CN" altLang="en-US" sz="1600" dirty="0"/>
              <a:t>对最终落到系统的日志进行作弊识别和过滤返款</a:t>
            </a:r>
            <a:endParaRPr lang="en-US" altLang="zh-CN" sz="1600" dirty="0"/>
          </a:p>
          <a:p>
            <a:endParaRPr lang="en-US" altLang="zh-CN" sz="1600" dirty="0"/>
          </a:p>
          <a:p>
            <a:r>
              <a:rPr lang="zh-CN" altLang="en-US" sz="1600" dirty="0"/>
              <a:t>响应时间长，可以进行复杂运算，确保识别结果准确</a:t>
            </a:r>
            <a:endParaRPr lang="en-US" altLang="zh-CN" sz="1600" dirty="0"/>
          </a:p>
          <a:p>
            <a:endParaRPr lang="en-US" altLang="zh-CN" sz="1600" dirty="0"/>
          </a:p>
          <a:p>
            <a:r>
              <a:rPr lang="zh-CN" altLang="en-US" sz="1600" dirty="0"/>
              <a:t>有问题的日志依然落到了系统，发生了转化，对广告主造成了人力耗费</a:t>
            </a:r>
            <a:endParaRPr lang="en-US" altLang="zh-CN" sz="1600" dirty="0"/>
          </a:p>
          <a:p>
            <a:endParaRPr lang="en-US" altLang="zh-CN" sz="1600" dirty="0"/>
          </a:p>
          <a:p>
            <a:r>
              <a:rPr lang="zh-CN" altLang="en-US" sz="1600" dirty="0"/>
              <a:t>流失反作弊的结果也可以用于优化</a:t>
            </a:r>
            <a:r>
              <a:rPr lang="en-US" altLang="zh-CN" sz="1600" dirty="0"/>
              <a:t>AS</a:t>
            </a:r>
            <a:endParaRPr lang="zh-CN" altLang="en-US" sz="1600" dirty="0"/>
          </a:p>
        </p:txBody>
      </p:sp>
      <p:sp>
        <p:nvSpPr>
          <p:cNvPr id="8" name="文本占位符 7">
            <a:extLst>
              <a:ext uri="{FF2B5EF4-FFF2-40B4-BE49-F238E27FC236}">
                <a16:creationId xmlns:a16="http://schemas.microsoft.com/office/drawing/2014/main" id="{F5CB68F0-D57D-30B2-A286-1D6B49536766}"/>
              </a:ext>
            </a:extLst>
          </p:cNvPr>
          <p:cNvSpPr>
            <a:spLocks noGrp="1"/>
          </p:cNvSpPr>
          <p:nvPr>
            <p:ph type="body" sz="quarter" idx="3"/>
          </p:nvPr>
        </p:nvSpPr>
        <p:spPr>
          <a:xfrm>
            <a:off x="4645026" y="950615"/>
            <a:ext cx="4041775" cy="479822"/>
          </a:xfrm>
        </p:spPr>
        <p:txBody>
          <a:bodyPr>
            <a:normAutofit/>
          </a:bodyPr>
          <a:lstStyle/>
          <a:p>
            <a:r>
              <a:rPr lang="zh-CN" altLang="en-US" sz="1800" dirty="0"/>
              <a:t>在线反作弊 </a:t>
            </a:r>
            <a:r>
              <a:rPr lang="en-US" altLang="zh-CN" sz="1800" dirty="0"/>
              <a:t>AS</a:t>
            </a:r>
            <a:endParaRPr lang="zh-CN" altLang="en-US" sz="1800" dirty="0"/>
          </a:p>
        </p:txBody>
      </p:sp>
      <p:sp>
        <p:nvSpPr>
          <p:cNvPr id="9" name="内容占位符 8">
            <a:extLst>
              <a:ext uri="{FF2B5EF4-FFF2-40B4-BE49-F238E27FC236}">
                <a16:creationId xmlns:a16="http://schemas.microsoft.com/office/drawing/2014/main" id="{2E521722-AFDB-7950-B116-BF1D9AE140C9}"/>
              </a:ext>
            </a:extLst>
          </p:cNvPr>
          <p:cNvSpPr>
            <a:spLocks noGrp="1"/>
          </p:cNvSpPr>
          <p:nvPr>
            <p:ph sz="quarter" idx="4"/>
          </p:nvPr>
        </p:nvSpPr>
        <p:spPr>
          <a:xfrm>
            <a:off x="4645026" y="1430436"/>
            <a:ext cx="4041775" cy="3208470"/>
          </a:xfrm>
        </p:spPr>
        <p:txBody>
          <a:bodyPr>
            <a:normAutofit lnSpcReduction="10000"/>
          </a:bodyPr>
          <a:lstStyle/>
          <a:p>
            <a:r>
              <a:rPr lang="zh-CN" altLang="en-US" sz="1600" dirty="0"/>
              <a:t>点击到达系统的第一时间判断当条点击是否有效</a:t>
            </a:r>
            <a:endParaRPr lang="en-US" altLang="zh-CN" sz="1600" dirty="0"/>
          </a:p>
          <a:p>
            <a:pPr marL="0" indent="0">
              <a:buNone/>
            </a:pPr>
            <a:endParaRPr lang="en-US" altLang="zh-CN" sz="1600" dirty="0"/>
          </a:p>
          <a:p>
            <a:r>
              <a:rPr lang="zh-CN" altLang="en-US" sz="1600" dirty="0"/>
              <a:t>响应要快速，计算和策略不能太复杂，因此可能误过，需要</a:t>
            </a:r>
            <a:r>
              <a:rPr lang="en-US" altLang="zh-CN" sz="1600" dirty="0"/>
              <a:t>TM</a:t>
            </a:r>
            <a:r>
              <a:rPr lang="zh-CN" altLang="en-US" sz="1600" dirty="0"/>
              <a:t>配合进行离线过滤后返款</a:t>
            </a:r>
            <a:endParaRPr lang="en-US" altLang="zh-CN" sz="1600" dirty="0"/>
          </a:p>
          <a:p>
            <a:endParaRPr lang="en-US" altLang="zh-CN" sz="1600" dirty="0"/>
          </a:p>
          <a:p>
            <a:r>
              <a:rPr lang="zh-CN" altLang="en-US" sz="1600" dirty="0"/>
              <a:t>有问题的日志会直接过滤，不会发生转化</a:t>
            </a:r>
            <a:endParaRPr lang="en-US" altLang="zh-CN" sz="1600" dirty="0"/>
          </a:p>
          <a:p>
            <a:endParaRPr lang="en-US" altLang="zh-CN" sz="1600" dirty="0"/>
          </a:p>
          <a:p>
            <a:r>
              <a:rPr lang="zh-CN" altLang="en-US" sz="1600" dirty="0"/>
              <a:t>直接过滤掉的问题日志不会落在系统，也减少了存储、运算成本</a:t>
            </a:r>
          </a:p>
        </p:txBody>
      </p:sp>
    </p:spTree>
    <p:extLst>
      <p:ext uri="{BB962C8B-B14F-4D97-AF65-F5344CB8AC3E}">
        <p14:creationId xmlns:p14="http://schemas.microsoft.com/office/powerpoint/2010/main" val="67978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过滤层级内部结构</a:t>
            </a:r>
          </a:p>
        </p:txBody>
      </p:sp>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4566" y="1166510"/>
            <a:ext cx="2535873" cy="2089646"/>
          </a:xfrm>
          <a:prstGeom prst="rect">
            <a:avLst/>
          </a:prstGeom>
        </p:spPr>
      </p:pic>
      <p:pic>
        <p:nvPicPr>
          <p:cNvPr id="6" name="图片 5">
            <a:extLst>
              <a:ext uri="{FF2B5EF4-FFF2-40B4-BE49-F238E27FC236}">
                <a16:creationId xmlns:a16="http://schemas.microsoft.com/office/drawing/2014/main" id="{76942C14-0A64-AF64-FC7C-701E9399C85E}"/>
              </a:ext>
            </a:extLst>
          </p:cNvPr>
          <p:cNvPicPr>
            <a:picLocks noChangeAspect="1"/>
          </p:cNvPicPr>
          <p:nvPr/>
        </p:nvPicPr>
        <p:blipFill>
          <a:blip r:embed="rId5"/>
          <a:stretch>
            <a:fillRect/>
          </a:stretch>
        </p:blipFill>
        <p:spPr>
          <a:xfrm>
            <a:off x="959075" y="765478"/>
            <a:ext cx="6225495" cy="40372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配置文件</a:t>
            </a:r>
          </a:p>
        </p:txBody>
      </p:sp>
      <p:sp>
        <p:nvSpPr>
          <p:cNvPr id="6" name="内容占位符 2"/>
          <p:cNvSpPr>
            <a:spLocks noGrp="1"/>
          </p:cNvSpPr>
          <p:nvPr>
            <p:ph idx="1"/>
          </p:nvPr>
        </p:nvSpPr>
        <p:spPr>
          <a:xfrm>
            <a:off x="480105" y="1002754"/>
            <a:ext cx="8143195" cy="3874046"/>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配置文件</a:t>
            </a:r>
            <a:endParaRPr kumimoji="1" lang="en-US" altLang="zh-CN" sz="1800" dirty="0">
              <a:latin typeface="微软雅黑" panose="020B0503020204020204" pitchFamily="34" charset="-122"/>
              <a:ea typeface="微软雅黑" panose="020B0503020204020204" pitchFamily="34" charset="-122"/>
              <a:cs typeface="宋体" charset="0"/>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配置文件中包含从特征到策略的全部信息，目前不同策略特征的底层实现已经写好，新建或是修改策略的时候只需要对配置文件进行编辑即可。</a:t>
            </a: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record.conf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日志读取</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维度日志抽取</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配置文件   </a:t>
            </a:r>
            <a:r>
              <a:rPr kumimoji="1" lang="en-US" altLang="zh-CN" sz="1600" dirty="0">
                <a:latin typeface="微软雅黑" panose="020B0503020204020204" pitchFamily="34" charset="-122"/>
                <a:ea typeface="微软雅黑" panose="020B0503020204020204" pitchFamily="34" charset="-122"/>
                <a:cs typeface="宋体" charset="0"/>
              </a:rPr>
              <a:t>log-parser-lib</a:t>
            </a: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dict.conf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词表配置文件 </a:t>
            </a:r>
            <a:r>
              <a:rPr kumimoji="1" lang="en-US" altLang="zh-CN" sz="1600" dirty="0" err="1">
                <a:latin typeface="微软雅黑" panose="020B0503020204020204" pitchFamily="34" charset="-122"/>
                <a:ea typeface="微软雅黑" panose="020B0503020204020204" pitchFamily="34" charset="-122"/>
                <a:cs typeface="宋体" charset="0"/>
              </a:rPr>
              <a:t>extractor+policy</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set</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for</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err="1">
                <a:latin typeface="微软雅黑" panose="020B0503020204020204" pitchFamily="34" charset="-122"/>
                <a:ea typeface="微软雅黑" panose="020B0503020204020204" pitchFamily="34" charset="-122"/>
                <a:cs typeface="宋体" charset="0"/>
              </a:rPr>
              <a:t>FeatureCarespace</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err="1">
                <a:latin typeface="微软雅黑" panose="020B0503020204020204" pitchFamily="34" charset="-122"/>
                <a:ea typeface="微软雅黑" panose="020B0503020204020204" pitchFamily="34" charset="-122"/>
                <a:cs typeface="宋体" charset="0"/>
              </a:rPr>
              <a:t>kv</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for</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record</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policy</a:t>
            </a:r>
            <a:r>
              <a:rPr kumimoji="1" lang="zh-CN" altLang="en-US" sz="1600" dirty="0">
                <a:latin typeface="微软雅黑" panose="020B0503020204020204" pitchFamily="34" charset="-122"/>
                <a:ea typeface="微软雅黑" panose="020B0503020204020204" pitchFamily="34" charset="-122"/>
                <a:cs typeface="宋体" charset="0"/>
              </a:rPr>
              <a:t>）</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feature.conf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特征配置文件     </a:t>
            </a:r>
            <a:r>
              <a:rPr kumimoji="1" lang="en-US" altLang="zh-CN" sz="1600" dirty="0">
                <a:latin typeface="微软雅黑" panose="020B0503020204020204" pitchFamily="34" charset="-122"/>
                <a:ea typeface="微软雅黑" panose="020B0503020204020204" pitchFamily="34" charset="-122"/>
                <a:cs typeface="宋体" charset="0"/>
              </a:rPr>
              <a:t>extractor</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accumulator</a:t>
            </a: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policy.conf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策略配置文件       </a:t>
            </a:r>
            <a:r>
              <a:rPr kumimoji="1" lang="en-US" altLang="zh-CN" sz="1600" dirty="0">
                <a:latin typeface="微软雅黑" panose="020B0503020204020204" pitchFamily="34" charset="-122"/>
                <a:ea typeface="微软雅黑" panose="020B0503020204020204" pitchFamily="34" charset="-122"/>
                <a:cs typeface="宋体" charset="0"/>
              </a:rPr>
              <a:t>policy</a:t>
            </a: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judge.conf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过滤阈值和策略权重配置文件    </a:t>
            </a:r>
            <a:r>
              <a:rPr kumimoji="1" lang="en-US" altLang="zh-CN" sz="1600" dirty="0">
                <a:latin typeface="微软雅黑" panose="020B0503020204020204" pitchFamily="34" charset="-122"/>
                <a:ea typeface="微软雅黑" panose="020B0503020204020204" pitchFamily="34" charset="-122"/>
                <a:cs typeface="宋体" charset="0"/>
              </a:rPr>
              <a:t>judge</a:t>
            </a:r>
          </a:p>
        </p:txBody>
      </p:sp>
    </p:spTree>
    <p:extLst>
      <p:ext uri="{BB962C8B-B14F-4D97-AF65-F5344CB8AC3E}">
        <p14:creationId xmlns:p14="http://schemas.microsoft.com/office/powerpoint/2010/main" val="948566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10807"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en-US" altLang="zh-CN" sz="1400" b="1" spc="200" dirty="0">
                <a:solidFill>
                  <a:prstClr val="black"/>
                </a:solidFill>
                <a:latin typeface="微软雅黑"/>
                <a:ea typeface="微软雅黑"/>
                <a:cs typeface="微软雅黑"/>
              </a:rPr>
              <a:t> </a:t>
            </a:r>
            <a:r>
              <a:rPr kumimoji="1" lang="en-US" altLang="zh-CN" sz="1400" b="1" spc="200" dirty="0" err="1">
                <a:solidFill>
                  <a:prstClr val="black"/>
                </a:solidFill>
                <a:latin typeface="微软雅黑"/>
                <a:ea typeface="微软雅黑"/>
                <a:cs typeface="微软雅黑"/>
              </a:rPr>
              <a:t>record.conf</a:t>
            </a:r>
            <a:endParaRPr kumimoji="1" lang="zh-CN" altLang="en-US" sz="1400" b="1" spc="200" dirty="0">
              <a:latin typeface="微软雅黑"/>
              <a:ea typeface="微软雅黑"/>
              <a:cs typeface="微软雅黑"/>
            </a:endParaRPr>
          </a:p>
        </p:txBody>
      </p:sp>
      <p:sp>
        <p:nvSpPr>
          <p:cNvPr id="3" name="矩形 2"/>
          <p:cNvSpPr/>
          <p:nvPr/>
        </p:nvSpPr>
        <p:spPr>
          <a:xfrm>
            <a:off x="472966" y="923969"/>
            <a:ext cx="8243332" cy="3972947"/>
          </a:xfrm>
          <a:prstGeom prst="rect">
            <a:avLst/>
          </a:prstGeom>
        </p:spPr>
        <p:txBody>
          <a:bodyPr wrap="square">
            <a:spAutoFit/>
          </a:bodyPr>
          <a:lstStyle/>
          <a:p>
            <a:pPr marL="285750" indent="-285750">
              <a:buFont typeface="Wingdings" pitchFamily="2" charset="2"/>
              <a:buChar char="l"/>
            </a:pPr>
            <a:r>
              <a:rPr lang="zh-CN" altLang="en-US" dirty="0">
                <a:latin typeface="微软雅黑" panose="020B0503020204020204" pitchFamily="34" charset="-122"/>
                <a:ea typeface="微软雅黑" panose="020B0503020204020204" pitchFamily="34" charset="-122"/>
              </a:rPr>
              <a:t>维度 </a:t>
            </a:r>
            <a:r>
              <a:rPr lang="en-US" altLang="zh-CN" dirty="0">
                <a:latin typeface="微软雅黑" panose="020B0503020204020204" pitchFamily="34" charset="-122"/>
                <a:ea typeface="微软雅黑" panose="020B0503020204020204" pitchFamily="34" charset="-122"/>
              </a:rPr>
              <a:t>view</a:t>
            </a:r>
          </a:p>
          <a:p>
            <a:pPr marL="285750" indent="-285750">
              <a:buFont typeface="Wingdings" pitchFamily="2" charset="2"/>
              <a:buChar char="l"/>
            </a:pPr>
            <a:endParaRPr lang="en-US" altLang="zh-CN" sz="1600" dirty="0">
              <a:latin typeface="微软雅黑" panose="020B0503020204020204" pitchFamily="34" charset="-122"/>
              <a:ea typeface="微软雅黑" panose="020B0503020204020204" pitchFamily="34" charset="-122"/>
            </a:endParaRPr>
          </a:p>
          <a:p>
            <a:pPr marL="285750" indent="-285750">
              <a:lnSpc>
                <a:spcPct val="125000"/>
              </a:lnSpc>
              <a:buFont typeface="Wingdings" pitchFamily="2" charset="2"/>
              <a:buChar char="Ø"/>
            </a:pPr>
            <a:r>
              <a:rPr kumimoji="1" lang="zh-CN" altLang="en-US" sz="1600" dirty="0">
                <a:latin typeface="微软雅黑" panose="020B0503020204020204" pitchFamily="34" charset="-122"/>
                <a:ea typeface="微软雅黑" panose="020B0503020204020204" pitchFamily="34" charset="-122"/>
              </a:rPr>
              <a:t>一个或多个属性</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字段，反映了统计的粒度和视角，表现在策略上就是“同一</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下”。</a:t>
            </a:r>
            <a:endParaRPr kumimoji="1" lang="en-US" altLang="zh-CN" sz="1600" dirty="0">
              <a:latin typeface="微软雅黑" panose="020B0503020204020204" pitchFamily="34" charset="-122"/>
              <a:ea typeface="微软雅黑" panose="020B0503020204020204" pitchFamily="34" charset="-122"/>
            </a:endParaRPr>
          </a:p>
          <a:p>
            <a:pPr marL="285750" indent="-285750">
              <a:lnSpc>
                <a:spcPct val="125000"/>
              </a:lnSpc>
              <a:buFont typeface="Wingdings" pitchFamily="2" charset="2"/>
              <a:buChar char="Ø"/>
            </a:pPr>
            <a:r>
              <a:rPr lang="zh-CN" altLang="en-US" sz="1600" dirty="0">
                <a:latin typeface="微软雅黑" panose="020B0503020204020204" pitchFamily="34" charset="-122"/>
                <a:ea typeface="微软雅黑" panose="020B0503020204020204" pitchFamily="34" charset="-122"/>
              </a:rPr>
              <a:t>分类：</a:t>
            </a:r>
            <a:endParaRPr lang="en-US" altLang="zh-CN" sz="1600" dirty="0">
              <a:latin typeface="微软雅黑" panose="020B0503020204020204" pitchFamily="34" charset="-122"/>
              <a:ea typeface="微软雅黑" panose="020B0503020204020204" pitchFamily="34" charset="-122"/>
            </a:endParaRPr>
          </a:p>
          <a:p>
            <a:pPr marL="742950" lvl="1" indent="-285750">
              <a:lnSpc>
                <a:spcPct val="125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基本维度：单一字段，如</a:t>
            </a:r>
            <a:r>
              <a:rPr lang="en-US" altLang="zh-CN" sz="1600" dirty="0" err="1">
                <a:latin typeface="微软雅黑" panose="020B0503020204020204" pitchFamily="34" charset="-122"/>
                <a:ea typeface="微软雅黑" panose="020B0503020204020204" pitchFamily="34" charset="-122"/>
              </a:rPr>
              <a:t>baiduid</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cntname</a:t>
            </a:r>
            <a:r>
              <a:rPr lang="zh-CN" altLang="en-US" sz="1600" dirty="0">
                <a:latin typeface="微软雅黑" panose="020B0503020204020204" pitchFamily="34" charset="-122"/>
                <a:ea typeface="微软雅黑" panose="020B0503020204020204" pitchFamily="34" charset="-122"/>
              </a:rPr>
              <a:t>（计费名），</a:t>
            </a:r>
            <a:r>
              <a:rPr lang="en-US" altLang="zh-CN" sz="1600" dirty="0" err="1">
                <a:latin typeface="微软雅黑" panose="020B0503020204020204" pitchFamily="34" charset="-122"/>
                <a:ea typeface="微软雅黑" panose="020B0503020204020204" pitchFamily="34" charset="-122"/>
              </a:rPr>
              <a:t>cmatch</a:t>
            </a:r>
            <a:r>
              <a:rPr lang="zh-CN" altLang="en-US" sz="1600" dirty="0">
                <a:latin typeface="微软雅黑" panose="020B0503020204020204" pitchFamily="34" charset="-122"/>
                <a:ea typeface="微软雅黑" panose="020B0503020204020204" pitchFamily="34" charset="-122"/>
              </a:rPr>
              <a:t>（广告位），</a:t>
            </a:r>
            <a:r>
              <a:rPr lang="en-US" altLang="zh-CN" sz="1600" dirty="0" err="1">
                <a:latin typeface="微软雅黑" panose="020B0503020204020204" pitchFamily="34" charset="-122"/>
                <a:ea typeface="微软雅黑" panose="020B0503020204020204" pitchFamily="34" charset="-122"/>
              </a:rPr>
              <a:t>userid</a:t>
            </a:r>
            <a:r>
              <a:rPr lang="zh-CN" altLang="en-US" sz="1600" dirty="0">
                <a:latin typeface="微软雅黑" panose="020B0503020204020204" pitchFamily="34" charset="-122"/>
                <a:ea typeface="微软雅黑" panose="020B0503020204020204" pitchFamily="34" charset="-122"/>
              </a:rPr>
              <a:t>（广告主）。</a:t>
            </a:r>
          </a:p>
          <a:p>
            <a:pPr marL="742950" lvl="1" indent="-285750">
              <a:lnSpc>
                <a:spcPct val="125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高级维度：</a:t>
            </a:r>
          </a:p>
          <a:p>
            <a:pPr marL="1200150" lvl="2" indent="-285750">
              <a:lnSpc>
                <a:spcPct val="125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community</a:t>
            </a:r>
            <a:r>
              <a:rPr lang="zh-CN" altLang="en-US" sz="1600" dirty="0">
                <a:latin typeface="微软雅黑" panose="020B0503020204020204" pitchFamily="34" charset="-122"/>
                <a:ea typeface="微软雅黑" panose="020B0503020204020204" pitchFamily="34" charset="-122"/>
              </a:rPr>
              <a:t>维度：比如同一个</a:t>
            </a:r>
            <a:r>
              <a:rPr lang="en-US" altLang="zh-CN" sz="1600" dirty="0" err="1">
                <a:latin typeface="微软雅黑" panose="020B0503020204020204" pitchFamily="34" charset="-122"/>
                <a:ea typeface="微软雅黑" panose="020B0503020204020204" pitchFamily="34" charset="-122"/>
              </a:rPr>
              <a:t>baiduid</a:t>
            </a:r>
            <a:r>
              <a:rPr lang="zh-CN" altLang="en-US" sz="1600" dirty="0">
                <a:latin typeface="微软雅黑" panose="020B0503020204020204" pitchFamily="34" charset="-122"/>
                <a:ea typeface="微软雅黑" panose="020B0503020204020204" pitchFamily="34" charset="-122"/>
              </a:rPr>
              <a:t>点击的一批计费名，基于同一</a:t>
            </a:r>
            <a:r>
              <a:rPr lang="en-US" altLang="zh-CN" sz="1600" dirty="0" err="1">
                <a:latin typeface="微软雅黑" panose="020B0503020204020204" pitchFamily="34" charset="-122"/>
                <a:ea typeface="微软雅黑" panose="020B0503020204020204" pitchFamily="34" charset="-122"/>
              </a:rPr>
              <a:t>baiduid</a:t>
            </a:r>
            <a:r>
              <a:rPr lang="zh-CN" altLang="en-US" sz="1600" dirty="0">
                <a:latin typeface="微软雅黑" panose="020B0503020204020204" pitchFamily="34" charset="-122"/>
                <a:ea typeface="微软雅黑" panose="020B0503020204020204" pitchFamily="34" charset="-122"/>
              </a:rPr>
              <a:t>，将相关联的</a:t>
            </a:r>
            <a:r>
              <a:rPr lang="en-US" altLang="zh-CN" sz="1600" dirty="0" err="1">
                <a:latin typeface="微软雅黑" panose="020B0503020204020204" pitchFamily="34" charset="-122"/>
                <a:ea typeface="微软雅黑" panose="020B0503020204020204" pitchFamily="34" charset="-122"/>
              </a:rPr>
              <a:t>cntname</a:t>
            </a:r>
            <a:r>
              <a:rPr lang="zh-CN" altLang="en-US" sz="1600" dirty="0">
                <a:latin typeface="微软雅黑" panose="020B0503020204020204" pitchFamily="34" charset="-122"/>
                <a:ea typeface="微软雅黑" panose="020B0503020204020204" pitchFamily="34" charset="-122"/>
              </a:rPr>
              <a:t>维度对象聚合起来。 </a:t>
            </a:r>
            <a:endParaRPr lang="en-US" altLang="zh-CN" sz="1600" dirty="0">
              <a:latin typeface="微软雅黑" panose="020B0503020204020204" pitchFamily="34" charset="-122"/>
              <a:ea typeface="微软雅黑" panose="020B0503020204020204" pitchFamily="34" charset="-122"/>
            </a:endParaRPr>
          </a:p>
          <a:p>
            <a:pPr marL="1200150" lvl="2" indent="-285750">
              <a:lnSpc>
                <a:spcPct val="125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query</a:t>
            </a:r>
            <a:r>
              <a:rPr lang="zh-CN" altLang="en-US" sz="1600" dirty="0">
                <a:latin typeface="微软雅黑" panose="020B0503020204020204" pitchFamily="34" charset="-122"/>
                <a:ea typeface="微软雅黑" panose="020B0503020204020204" pitchFamily="34" charset="-122"/>
              </a:rPr>
              <a:t>分词维度：对</a:t>
            </a:r>
            <a:r>
              <a:rPr lang="en-US" altLang="zh-CN" sz="1600" dirty="0">
                <a:latin typeface="微软雅黑" panose="020B0503020204020204" pitchFamily="34" charset="-122"/>
                <a:ea typeface="微软雅黑" panose="020B0503020204020204" pitchFamily="34" charset="-122"/>
              </a:rPr>
              <a:t>query</a:t>
            </a:r>
            <a:r>
              <a:rPr lang="zh-CN" altLang="en-US" sz="1600" dirty="0">
                <a:latin typeface="微软雅黑" panose="020B0503020204020204" pitchFamily="34" charset="-122"/>
                <a:ea typeface="微软雅黑" panose="020B0503020204020204" pitchFamily="34" charset="-122"/>
              </a:rPr>
              <a:t>进行分词，分词后的每一个分词片段作为维度。</a:t>
            </a:r>
          </a:p>
          <a:p>
            <a:pPr marL="742950" lvl="1" indent="-285750">
              <a:lnSpc>
                <a:spcPct val="125000"/>
              </a:lnSpc>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endParaRPr>
          </a:p>
          <a:p>
            <a:pPr marL="285750" indent="-285750">
              <a:lnSpc>
                <a:spcPct val="125000"/>
              </a:lnSpc>
              <a:buFont typeface="Wingdings" pitchFamily="2" charset="2"/>
              <a:buChar char="Ø"/>
            </a:pPr>
            <a:r>
              <a:rPr lang="zh-CN" altLang="en-US" sz="1600" dirty="0">
                <a:latin typeface="微软雅黑" panose="020B0503020204020204" pitchFamily="34" charset="-122"/>
                <a:ea typeface="微软雅黑" panose="020B0503020204020204" pitchFamily="34" charset="-122"/>
              </a:rPr>
              <a:t>维度对象：某个维度下的具体维度值，如</a:t>
            </a:r>
            <a:r>
              <a:rPr lang="en-US" altLang="zh-CN" sz="1600" dirty="0">
                <a:latin typeface="微软雅黑" panose="020B0503020204020204" pitchFamily="34" charset="-122"/>
                <a:ea typeface="微软雅黑" panose="020B0503020204020204" pitchFamily="34" charset="-122"/>
              </a:rPr>
              <a:t>220.181.38.110</a:t>
            </a:r>
            <a:r>
              <a:rPr lang="zh-CN" altLang="en-US" sz="1600" dirty="0">
                <a:latin typeface="微软雅黑" panose="020B0503020204020204" pitchFamily="34" charset="-122"/>
                <a:ea typeface="微软雅黑" panose="020B0503020204020204" pitchFamily="34" charset="-122"/>
              </a:rPr>
              <a:t>是维度</a:t>
            </a:r>
            <a:r>
              <a:rPr lang="en-US" altLang="zh-CN" sz="1600" dirty="0" err="1">
                <a:latin typeface="微软雅黑" panose="020B0503020204020204" pitchFamily="34" charset="-122"/>
                <a:ea typeface="微软雅黑" panose="020B0503020204020204" pitchFamily="34" charset="-122"/>
              </a:rPr>
              <a:t>clkip</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点击</a:t>
            </a:r>
            <a:r>
              <a:rPr lang="en-US" altLang="zh-CN" sz="1600" dirty="0" err="1">
                <a:latin typeface="微软雅黑" panose="020B0503020204020204" pitchFamily="34" charset="-122"/>
                <a:ea typeface="微软雅黑" panose="020B0503020204020204" pitchFamily="34" charset="-122"/>
              </a:rPr>
              <a:t>ip</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下的维度对象。</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632259"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-record</a:t>
            </a:r>
            <a:r>
              <a:rPr kumimoji="1" lang="en-US" altLang="zh-CN" sz="1400" b="1" spc="200" dirty="0">
                <a:solidFill>
                  <a:prstClr val="black"/>
                </a:solidFill>
                <a:latin typeface="微软雅黑"/>
                <a:ea typeface="微软雅黑"/>
                <a:cs typeface="微软雅黑"/>
              </a:rPr>
              <a:t>.</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pic>
        <p:nvPicPr>
          <p:cNvPr id="2" name="图片 1">
            <a:extLst>
              <a:ext uri="{FF2B5EF4-FFF2-40B4-BE49-F238E27FC236}">
                <a16:creationId xmlns:a16="http://schemas.microsoft.com/office/drawing/2014/main" id="{7E11E296-FFAB-4939-8A98-B7CDCFD72E74}"/>
              </a:ext>
            </a:extLst>
          </p:cNvPr>
          <p:cNvPicPr>
            <a:picLocks noChangeAspect="1"/>
          </p:cNvPicPr>
          <p:nvPr/>
        </p:nvPicPr>
        <p:blipFill rotWithShape="1">
          <a:blip r:embed="rId4"/>
          <a:srcRect t="3811" r="14340"/>
          <a:stretch/>
        </p:blipFill>
        <p:spPr>
          <a:xfrm>
            <a:off x="3723791" y="1554271"/>
            <a:ext cx="5097279" cy="705393"/>
          </a:xfrm>
          <a:prstGeom prst="rect">
            <a:avLst/>
          </a:prstGeom>
        </p:spPr>
      </p:pic>
      <p:pic>
        <p:nvPicPr>
          <p:cNvPr id="8" name="图片 7">
            <a:extLst>
              <a:ext uri="{FF2B5EF4-FFF2-40B4-BE49-F238E27FC236}">
                <a16:creationId xmlns:a16="http://schemas.microsoft.com/office/drawing/2014/main" id="{A8C411BE-99AA-6CB0-2F56-A9E02FD4E81E}"/>
              </a:ext>
            </a:extLst>
          </p:cNvPr>
          <p:cNvPicPr>
            <a:picLocks noChangeAspect="1"/>
          </p:cNvPicPr>
          <p:nvPr/>
        </p:nvPicPr>
        <p:blipFill>
          <a:blip r:embed="rId5"/>
          <a:stretch>
            <a:fillRect/>
          </a:stretch>
        </p:blipFill>
        <p:spPr>
          <a:xfrm>
            <a:off x="3723791" y="2831219"/>
            <a:ext cx="4834195" cy="966839"/>
          </a:xfrm>
          <a:prstGeom prst="rect">
            <a:avLst/>
          </a:prstGeom>
        </p:spPr>
      </p:pic>
      <p:sp>
        <p:nvSpPr>
          <p:cNvPr id="12" name="文本框 11">
            <a:extLst>
              <a:ext uri="{FF2B5EF4-FFF2-40B4-BE49-F238E27FC236}">
                <a16:creationId xmlns:a16="http://schemas.microsoft.com/office/drawing/2014/main" id="{1DC449EB-3740-02B7-46F8-C646673A74A7}"/>
              </a:ext>
            </a:extLst>
          </p:cNvPr>
          <p:cNvSpPr txBox="1"/>
          <p:nvPr/>
        </p:nvSpPr>
        <p:spPr>
          <a:xfrm>
            <a:off x="586014" y="1479143"/>
            <a:ext cx="2632259" cy="2185214"/>
          </a:xfrm>
          <a:prstGeom prst="rect">
            <a:avLst/>
          </a:prstGeom>
          <a:noFill/>
        </p:spPr>
        <p:txBody>
          <a:bodyPr wrap="square" rtlCol="0">
            <a:spAutoFit/>
          </a:bodyPr>
          <a:lstStyle/>
          <a:p>
            <a:pPr>
              <a:lnSpc>
                <a:spcPct val="150000"/>
              </a:lnSpc>
            </a:pPr>
            <a:r>
              <a:rPr lang="en-US" altLang="zh-CN" sz="1600" dirty="0"/>
              <a:t>view</a:t>
            </a:r>
            <a:r>
              <a:rPr lang="zh-CN" altLang="en-US" sz="1600" dirty="0"/>
              <a:t> </a:t>
            </a:r>
            <a:r>
              <a:rPr lang="en-US" altLang="zh-CN" sz="1600" dirty="0"/>
              <a:t>record</a:t>
            </a:r>
            <a:r>
              <a:rPr lang="zh-CN" altLang="en-US" sz="1600" dirty="0"/>
              <a:t> 配置文件用于日志读取解析。</a:t>
            </a:r>
            <a:endParaRPr lang="en-US" altLang="zh-CN" sz="1600" dirty="0"/>
          </a:p>
          <a:p>
            <a:pPr>
              <a:lnSpc>
                <a:spcPct val="150000"/>
              </a:lnSpc>
            </a:pPr>
            <a:r>
              <a:rPr lang="zh-CN" altLang="en-US" sz="1600" dirty="0"/>
              <a:t>定义了维度名，维度层级，抽取函数，后处理函数，以及默认值，用于初始化。</a:t>
            </a:r>
            <a:endParaRPr lang="en-US" altLang="zh-CN" sz="1600" dirty="0"/>
          </a:p>
          <a:p>
            <a:endParaRPr kumimoji="1" lang="zh-CN" altLang="en-US" sz="1600" dirty="0"/>
          </a:p>
        </p:txBody>
      </p:sp>
    </p:spTree>
    <p:extLst>
      <p:ext uri="{BB962C8B-B14F-4D97-AF65-F5344CB8AC3E}">
        <p14:creationId xmlns:p14="http://schemas.microsoft.com/office/powerpoint/2010/main" val="4092650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03075"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en-US" altLang="zh-CN" sz="1400" b="1" spc="200" dirty="0">
                <a:solidFill>
                  <a:prstClr val="black"/>
                </a:solidFill>
                <a:latin typeface="微软雅黑"/>
                <a:ea typeface="微软雅黑"/>
                <a:cs typeface="微软雅黑"/>
              </a:rPr>
              <a:t> </a:t>
            </a:r>
            <a:r>
              <a:rPr kumimoji="1" lang="en-US" altLang="zh-CN" sz="1400" b="1" spc="200" dirty="0" err="1">
                <a:solidFill>
                  <a:prstClr val="black"/>
                </a:solidFill>
                <a:latin typeface="微软雅黑"/>
                <a:ea typeface="微软雅黑"/>
                <a:cs typeface="微软雅黑"/>
              </a:rPr>
              <a:t>feature.conf</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6795" y="1008993"/>
            <a:ext cx="8170409" cy="3293639"/>
          </a:xfrm>
        </p:spPr>
        <p:txBody>
          <a:bodyPr>
            <a:noAutofit/>
          </a:bodyPr>
          <a:lstStyle/>
          <a:p>
            <a:pPr marL="285750" indent="-285750">
              <a:lnSpc>
                <a:spcPct val="150000"/>
              </a:lnSpc>
              <a:buFont typeface="Wingdings" panose="05000000000000000000" pitchFamily="2" charset="2"/>
              <a:buChar char="l"/>
            </a:pPr>
            <a:r>
              <a:rPr kumimoji="1" lang="zh-CN" altLang="en-US" sz="1800" dirty="0">
                <a:latin typeface="微软雅黑" panose="020B0503020204020204" pitchFamily="34" charset="-122"/>
                <a:ea typeface="微软雅黑" panose="020B0503020204020204" pitchFamily="34" charset="-122"/>
              </a:rPr>
              <a:t>特征 </a:t>
            </a:r>
            <a:r>
              <a:rPr kumimoji="1" lang="en-US" altLang="zh-CN" sz="1800" dirty="0">
                <a:latin typeface="微软雅黑" panose="020B0503020204020204" pitchFamily="34" charset="-122"/>
                <a:ea typeface="微软雅黑" panose="020B0503020204020204" pitchFamily="34" charset="-122"/>
              </a:rPr>
              <a:t>feature</a:t>
            </a:r>
          </a:p>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宋体" charset="0"/>
              </a:rPr>
              <a:t>在反作弊的系统中，从日志的维度中提取出来，用于区分一条日志作弊与否的信息。</a:t>
            </a:r>
            <a:endParaRPr kumimoji="1"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600" dirty="0">
                <a:latin typeface="微软雅黑" panose="020B0503020204020204" pitchFamily="34" charset="-122"/>
                <a:ea typeface="微软雅黑" panose="020B0503020204020204" pitchFamily="34" charset="-122"/>
              </a:rPr>
              <a:t>分类：</a:t>
            </a:r>
            <a:endParaRPr kumimoji="1"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基本特征：基于</a:t>
            </a:r>
            <a:r>
              <a:rPr kumimoji="1" lang="zh-CN" altLang="en-US" sz="1600" b="1" dirty="0">
                <a:latin typeface="微软雅黑" panose="020B0503020204020204" pitchFamily="34" charset="-122"/>
                <a:ea typeface="微软雅黑" panose="020B0503020204020204" pitchFamily="34" charset="-122"/>
              </a:rPr>
              <a:t>单条</a:t>
            </a:r>
            <a:r>
              <a:rPr kumimoji="1" lang="zh-CN" altLang="en-US" sz="1600" dirty="0">
                <a:latin typeface="微软雅黑" panose="020B0503020204020204" pitchFamily="34" charset="-122"/>
                <a:ea typeface="微软雅黑" panose="020B0503020204020204" pitchFamily="34" charset="-122"/>
              </a:rPr>
              <a:t>日志采集的特征</a:t>
            </a:r>
            <a:endParaRPr kumimoji="1" lang="en-US" altLang="zh-CN" sz="1600" dirty="0">
              <a:latin typeface="微软雅黑" panose="020B0503020204020204" pitchFamily="34" charset="-122"/>
              <a:ea typeface="微软雅黑" panose="020B0503020204020204" pitchFamily="34" charset="-122"/>
            </a:endParaRPr>
          </a:p>
          <a:p>
            <a:pPr marL="0" indent="0">
              <a:lnSpc>
                <a:spcPct val="150000"/>
              </a:lnSpc>
              <a:buNone/>
            </a:pPr>
            <a:r>
              <a:rPr lang="en-US" altLang="zh-CN" sz="1600" dirty="0"/>
              <a:t>	</a:t>
            </a:r>
            <a:r>
              <a:rPr lang="en-US" altLang="zh-CN" sz="1600" dirty="0" err="1"/>
              <a:t>baiduid</a:t>
            </a:r>
            <a:r>
              <a:rPr lang="zh-CN" altLang="en-US" sz="1600" dirty="0"/>
              <a:t>新鲜度         </a:t>
            </a:r>
            <a:r>
              <a:rPr lang="en-US" altLang="zh-CN" sz="1600" dirty="0" err="1"/>
              <a:t>shifen</a:t>
            </a:r>
            <a:r>
              <a:rPr lang="zh-CN" altLang="en-US" sz="1600" dirty="0"/>
              <a:t> </a:t>
            </a:r>
            <a:r>
              <a:rPr lang="en-US" altLang="zh-CN" sz="1600" dirty="0"/>
              <a:t>cookie</a:t>
            </a:r>
            <a:r>
              <a:rPr lang="zh-CN" altLang="en-US" sz="1600" dirty="0"/>
              <a:t>        点展时间差               </a:t>
            </a:r>
            <a:r>
              <a:rPr lang="en-US" altLang="zh-CN" sz="1600" dirty="0"/>
              <a:t>ck</a:t>
            </a:r>
            <a:r>
              <a:rPr lang="zh-CN" altLang="en-US" sz="1600" dirty="0"/>
              <a:t>特征</a:t>
            </a:r>
            <a:endParaRPr lang="en-US" altLang="zh-CN" sz="1600" dirty="0"/>
          </a:p>
          <a:p>
            <a:pPr marL="285750" indent="-2857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统计特征：基于</a:t>
            </a:r>
            <a:r>
              <a:rPr kumimoji="1" lang="zh-CN" altLang="en-US" sz="1600" b="1" dirty="0">
                <a:latin typeface="微软雅黑" panose="020B0503020204020204" pitchFamily="34" charset="-122"/>
                <a:ea typeface="微软雅黑" panose="020B0503020204020204" pitchFamily="34" charset="-122"/>
              </a:rPr>
              <a:t>多条</a:t>
            </a:r>
            <a:r>
              <a:rPr kumimoji="1" lang="zh-CN" altLang="en-US" sz="1600" dirty="0">
                <a:latin typeface="微软雅黑" panose="020B0503020204020204" pitchFamily="34" charset="-122"/>
                <a:ea typeface="微软雅黑" panose="020B0503020204020204" pitchFamily="34" charset="-122"/>
              </a:rPr>
              <a:t>日志进行统计的特征</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37712" cy="361253"/>
          </a:xfrm>
          <a:prstGeom prst="rect">
            <a:avLst/>
          </a:prstGeom>
          <a:noFill/>
        </p:spPr>
        <p:txBody>
          <a:bodyPr wrap="square" rtlCol="0">
            <a:spAutoFit/>
          </a:bodyPr>
          <a:lstStyle/>
          <a:p>
            <a:pPr marL="0" marR="0" lvl="0" indent="0"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en-US" altLang="zh-CN" sz="1400" b="1" i="0" u="none" strike="noStrike" kern="1200" cap="none" spc="200" normalizeH="0" baseline="0" noProof="0" dirty="0" err="1">
                <a:ln>
                  <a:noFill/>
                </a:ln>
                <a:solidFill>
                  <a:prstClr val="black"/>
                </a:solidFill>
                <a:effectLst/>
                <a:uLnTx/>
                <a:uFillTx/>
                <a:latin typeface="微软雅黑"/>
                <a:ea typeface="微软雅黑"/>
                <a:cs typeface="微软雅黑"/>
              </a:rPr>
              <a:t>feature.conf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sp>
        <p:nvSpPr>
          <p:cNvPr id="6" name="内容占位符 2"/>
          <p:cNvSpPr>
            <a:spLocks noGrp="1"/>
          </p:cNvSpPr>
          <p:nvPr>
            <p:ph idx="1"/>
          </p:nvPr>
        </p:nvSpPr>
        <p:spPr>
          <a:xfrm>
            <a:off x="480105" y="872035"/>
            <a:ext cx="3825885" cy="3874046"/>
          </a:xfrm>
        </p:spPr>
        <p:txBody>
          <a:bodyPr>
            <a:noAutofit/>
          </a:bodyPr>
          <a:lstStyle/>
          <a:p>
            <a:pPr marL="0" indent="0">
              <a:spcAft>
                <a:spcPts val="600"/>
              </a:spcAft>
              <a:buSzPct val="120000"/>
              <a:buNone/>
            </a:pP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feature_id</a:t>
            </a:r>
            <a:r>
              <a:rPr kumimoji="1" lang="zh-CN" altLang="en-US" sz="1200" dirty="0">
                <a:latin typeface="微软雅黑" panose="020B0503020204020204" pitchFamily="34" charset="-122"/>
                <a:ea typeface="微软雅黑" panose="020B0503020204020204" pitchFamily="34" charset="-122"/>
                <a:cs typeface="宋体" charset="0"/>
              </a:rPr>
              <a:t>：特征编号，一般与策略号相同</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feature_type</a:t>
            </a:r>
            <a:r>
              <a:rPr kumimoji="1" lang="zh-CN" altLang="en-US" sz="1200" dirty="0">
                <a:latin typeface="微软雅黑" panose="020B0503020204020204" pitchFamily="34" charset="-122"/>
                <a:ea typeface="微软雅黑" panose="020B0503020204020204" pitchFamily="34" charset="-122"/>
                <a:cs typeface="宋体" charset="0"/>
              </a:rPr>
              <a:t>：特征类型，</a:t>
            </a:r>
            <a:r>
              <a:rPr kumimoji="1" lang="en-US" altLang="zh-CN" sz="1200" dirty="0">
                <a:latin typeface="微软雅黑" panose="020B0503020204020204" pitchFamily="34" charset="-122"/>
                <a:ea typeface="微软雅黑" panose="020B0503020204020204" pitchFamily="34" charset="-122"/>
                <a:cs typeface="宋体" charset="0"/>
              </a:rPr>
              <a:t>ratio</a:t>
            </a:r>
            <a:r>
              <a:rPr kumimoji="1" lang="zh-CN" altLang="en-US" sz="1200" dirty="0">
                <a:latin typeface="微软雅黑" panose="020B0503020204020204" pitchFamily="34" charset="-122"/>
                <a:ea typeface="微软雅黑" panose="020B0503020204020204" pitchFamily="34" charset="-122"/>
                <a:cs typeface="宋体" charset="0"/>
              </a:rPr>
              <a:t>  </a:t>
            </a:r>
            <a:r>
              <a:rPr kumimoji="1" lang="en-US" altLang="zh-CN" sz="1200" dirty="0">
                <a:latin typeface="微软雅黑" panose="020B0503020204020204" pitchFamily="34" charset="-122"/>
                <a:ea typeface="微软雅黑" panose="020B0503020204020204" pitchFamily="34" charset="-122"/>
                <a:cs typeface="宋体" charset="0"/>
              </a:rPr>
              <a:t>segment</a:t>
            </a:r>
            <a:r>
              <a:rPr kumimoji="1" lang="zh-CN" altLang="en-US" sz="1200" dirty="0">
                <a:latin typeface="微软雅黑" panose="020B0503020204020204" pitchFamily="34" charset="-122"/>
                <a:ea typeface="微软雅黑" panose="020B0503020204020204" pitchFamily="34" charset="-122"/>
                <a:cs typeface="宋体" charset="0"/>
              </a:rPr>
              <a:t>等</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view_level</a:t>
            </a:r>
            <a:r>
              <a:rPr kumimoji="1" lang="zh-CN" altLang="en-US" sz="1200" dirty="0">
                <a:latin typeface="微软雅黑" panose="020B0503020204020204" pitchFamily="34" charset="-122"/>
                <a:ea typeface="微软雅黑" panose="020B0503020204020204" pitchFamily="34" charset="-122"/>
                <a:cs typeface="宋体" charset="0"/>
              </a:rPr>
              <a:t>：维度级别</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view</a:t>
            </a:r>
            <a:r>
              <a:rPr kumimoji="1" lang="zh-CN" altLang="en-US" sz="1200" dirty="0">
                <a:latin typeface="微软雅黑" panose="020B0503020204020204" pitchFamily="34" charset="-122"/>
                <a:ea typeface="微软雅黑" panose="020B0503020204020204" pitchFamily="34" charset="-122"/>
                <a:cs typeface="宋体" charset="0"/>
              </a:rPr>
              <a:t>：维度，统计的粒度</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Version:</a:t>
            </a:r>
            <a:r>
              <a:rPr kumimoji="1" lang="zh-CN" altLang="en-US" sz="1200" dirty="0">
                <a:latin typeface="微软雅黑" panose="020B0503020204020204" pitchFamily="34" charset="-122"/>
                <a:ea typeface="微软雅黑" panose="020B0503020204020204" pitchFamily="34" charset="-122"/>
                <a:cs typeface="宋体" charset="0"/>
              </a:rPr>
              <a:t>版本，每次上线</a:t>
            </a:r>
            <a:r>
              <a:rPr kumimoji="1" lang="en-US" altLang="zh-CN" sz="1200" dirty="0">
                <a:latin typeface="微软雅黑" panose="020B0503020204020204" pitchFamily="34" charset="-122"/>
                <a:ea typeface="微软雅黑" panose="020B0503020204020204" pitchFamily="34" charset="-122"/>
                <a:cs typeface="宋体" charset="0"/>
              </a:rPr>
              <a:t>version+1</a:t>
            </a: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care</a:t>
            </a:r>
            <a:r>
              <a:rPr kumimoji="1" lang="zh-CN" altLang="en-US" sz="1200" dirty="0">
                <a:latin typeface="微软雅黑" panose="020B0503020204020204" pitchFamily="34" charset="-122"/>
                <a:ea typeface="微软雅黑" panose="020B0503020204020204" pitchFamily="34" charset="-122"/>
                <a:cs typeface="宋体" charset="0"/>
              </a:rPr>
              <a:t>：圈定流量</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remain</a:t>
            </a:r>
          </a:p>
          <a:p>
            <a:pPr>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window_type</a:t>
            </a:r>
            <a:r>
              <a:rPr kumimoji="1" lang="zh-CN" altLang="en-US" sz="1200" dirty="0">
                <a:latin typeface="微软雅黑" panose="020B0503020204020204" pitchFamily="34" charset="-122"/>
                <a:ea typeface="微软雅黑" panose="020B0503020204020204" pitchFamily="34" charset="-122"/>
                <a:cs typeface="宋体" charset="0"/>
              </a:rPr>
              <a:t>：窗口类型，流量</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pv</a:t>
            </a:r>
            <a:r>
              <a:rPr kumimoji="1" lang="en-US" altLang="zh-CN" sz="1200" dirty="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或时间</a:t>
            </a:r>
            <a:r>
              <a:rPr kumimoji="1" lang="en-US" altLang="zh-CN" sz="1200" dirty="0">
                <a:latin typeface="微软雅黑" panose="020B0503020204020204" pitchFamily="34" charset="-122"/>
                <a:ea typeface="微软雅黑" panose="020B0503020204020204" pitchFamily="34" charset="-122"/>
                <a:cs typeface="宋体" charset="0"/>
              </a:rPr>
              <a:t>(time)</a:t>
            </a: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window_length</a:t>
            </a:r>
            <a:r>
              <a:rPr kumimoji="1" lang="zh-CN" altLang="en-US" sz="1200" dirty="0">
                <a:latin typeface="微软雅黑" panose="020B0503020204020204" pitchFamily="34" charset="-122"/>
                <a:ea typeface="微软雅黑" panose="020B0503020204020204" pitchFamily="34" charset="-122"/>
                <a:cs typeface="宋体" charset="0"/>
              </a:rPr>
              <a:t>：段长</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step_length</a:t>
            </a:r>
            <a:r>
              <a:rPr kumimoji="1" lang="zh-CN" altLang="en-US" sz="1200" dirty="0">
                <a:latin typeface="微软雅黑" panose="020B0503020204020204" pitchFamily="34" charset="-122"/>
                <a:ea typeface="微软雅黑" panose="020B0503020204020204" pitchFamily="34" charset="-122"/>
                <a:cs typeface="宋体" charset="0"/>
              </a:rPr>
              <a:t>：步长</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Click_mode</a:t>
            </a:r>
            <a:r>
              <a:rPr kumimoji="1" lang="en-US" altLang="zh-CN" sz="1200" dirty="0">
                <a:latin typeface="微软雅黑" panose="020B0503020204020204" pitchFamily="34" charset="-122"/>
                <a:ea typeface="微软雅黑" panose="020B0503020204020204" pitchFamily="34" charset="-122"/>
                <a:cs typeface="宋体" charset="0"/>
              </a:rPr>
              <a:t>=1</a:t>
            </a:r>
            <a:r>
              <a:rPr kumimoji="1" lang="zh-CN" altLang="en-US" sz="1200" dirty="0">
                <a:latin typeface="微软雅黑" panose="020B0503020204020204" pitchFamily="34" charset="-122"/>
                <a:ea typeface="微软雅黑" panose="020B0503020204020204" pitchFamily="34" charset="-122"/>
                <a:cs typeface="宋体" charset="0"/>
              </a:rPr>
              <a:t>，跳段</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p:txBody>
      </p:sp>
      <p:pic>
        <p:nvPicPr>
          <p:cNvPr id="2" name="图片 1">
            <a:extLst>
              <a:ext uri="{FF2B5EF4-FFF2-40B4-BE49-F238E27FC236}">
                <a16:creationId xmlns:a16="http://schemas.microsoft.com/office/drawing/2014/main" id="{16B4858F-0817-BDE7-10E6-890405214479}"/>
              </a:ext>
            </a:extLst>
          </p:cNvPr>
          <p:cNvPicPr>
            <a:picLocks noChangeAspect="1"/>
          </p:cNvPicPr>
          <p:nvPr/>
        </p:nvPicPr>
        <p:blipFill>
          <a:blip r:embed="rId4"/>
          <a:stretch>
            <a:fillRect/>
          </a:stretch>
        </p:blipFill>
        <p:spPr>
          <a:xfrm>
            <a:off x="4305990" y="989601"/>
            <a:ext cx="4635585" cy="3399429"/>
          </a:xfrm>
          <a:prstGeom prst="rect">
            <a:avLst/>
          </a:prstGeom>
        </p:spPr>
      </p:pic>
    </p:spTree>
    <p:extLst>
      <p:ext uri="{BB962C8B-B14F-4D97-AF65-F5344CB8AC3E}">
        <p14:creationId xmlns:p14="http://schemas.microsoft.com/office/powerpoint/2010/main" val="3126653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处理空间</a:t>
            </a:r>
          </a:p>
        </p:txBody>
      </p:sp>
      <p:sp>
        <p:nvSpPr>
          <p:cNvPr id="6" name="内容占位符 2"/>
          <p:cNvSpPr>
            <a:spLocks noGrp="1"/>
          </p:cNvSpPr>
          <p:nvPr>
            <p:ph idx="1"/>
          </p:nvPr>
        </p:nvSpPr>
        <p:spPr>
          <a:xfrm>
            <a:off x="480105" y="1002754"/>
            <a:ext cx="8170409" cy="3540218"/>
          </a:xfrm>
        </p:spPr>
        <p:txBody>
          <a:bodyPr>
            <a:normAutofit/>
          </a:bodyPr>
          <a:lstStyle/>
          <a:p>
            <a:pPr marL="285750" indent="-285750">
              <a:lnSpc>
                <a:spcPct val="150000"/>
              </a:lnSpc>
              <a:buFont typeface="Wingdings" panose="05000000000000000000" pitchFamily="2" charset="2"/>
              <a:buChar char="l"/>
            </a:pPr>
            <a:r>
              <a:rPr kumimoji="1" lang="zh-CN" altLang="en-US" sz="1800" dirty="0">
                <a:latin typeface="微软雅黑" panose="020B0503020204020204" pitchFamily="34" charset="-122"/>
                <a:ea typeface="微软雅黑" panose="020B0503020204020204" pitchFamily="34" charset="-122"/>
              </a:rPr>
              <a:t>处理空间 </a:t>
            </a:r>
            <a:r>
              <a:rPr kumimoji="1" lang="en-US" altLang="zh-CN" sz="1800" dirty="0">
                <a:latin typeface="微软雅黑" panose="020B0503020204020204" pitchFamily="34" charset="-122"/>
                <a:ea typeface="微软雅黑" panose="020B0503020204020204" pitchFamily="34" charset="-122"/>
              </a:rPr>
              <a:t>care</a:t>
            </a:r>
          </a:p>
          <a:p>
            <a:pPr marL="285750" indent="-285750">
              <a:lnSpc>
                <a:spcPct val="150000"/>
              </a:lnSpc>
              <a:buFont typeface="Wingdings" panose="05000000000000000000" pitchFamily="2" charset="2"/>
              <a:buChar char="Ø"/>
            </a:pPr>
            <a:r>
              <a:rPr kumimoji="1" lang="zh-CN" altLang="en-US" sz="1600" dirty="0">
                <a:latin typeface="微软雅黑" panose="020B0503020204020204" pitchFamily="34" charset="-122"/>
                <a:ea typeface="微软雅黑" panose="020B0503020204020204" pitchFamily="34" charset="-122"/>
              </a:rPr>
              <a:t>定义：</a:t>
            </a:r>
            <a:r>
              <a:rPr lang="zh-CN" altLang="en-US" sz="1600" dirty="0">
                <a:latin typeface="微软雅黑" panose="020B0503020204020204" pitchFamily="34" charset="-122"/>
                <a:ea typeface="微软雅黑" panose="020B0503020204020204" pitchFamily="34" charset="-122"/>
              </a:rPr>
              <a:t>主要用来圈定处理的流量范围。表现为条件表达式，即满足这些条件才计算特征。 </a:t>
            </a:r>
            <a:endParaRPr lang="en-US" altLang="zh-CN" sz="1600" dirty="0">
              <a:latin typeface="微软雅黑" panose="020B0503020204020204" pitchFamily="34" charset="-122"/>
              <a:ea typeface="微软雅黑" panose="020B0503020204020204" pitchFamily="34" charset="-122"/>
            </a:endParaRPr>
          </a:p>
          <a:p>
            <a:pPr marL="0" indent="0">
              <a:lnSpc>
                <a:spcPct val="150000"/>
              </a:lnSpc>
              <a:buNone/>
            </a:pP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600" dirty="0">
                <a:latin typeface="微软雅黑" panose="020B0503020204020204" pitchFamily="34" charset="-122"/>
                <a:ea typeface="微软雅黑" panose="020B0503020204020204" pitchFamily="34" charset="-122"/>
                <a:cs typeface="宋体" charset="0"/>
              </a:rPr>
              <a:t>配置：在</a:t>
            </a:r>
            <a:r>
              <a:rPr kumimoji="1" lang="en-US" altLang="zh-CN" sz="1600" dirty="0">
                <a:latin typeface="微软雅黑" panose="020B0503020204020204" pitchFamily="34" charset="-122"/>
                <a:ea typeface="微软雅黑" panose="020B0503020204020204" pitchFamily="34" charset="-122"/>
                <a:cs typeface="宋体" charset="0"/>
              </a:rPr>
              <a:t>feature</a:t>
            </a:r>
            <a:r>
              <a:rPr kumimoji="1" lang="zh-CN" altLang="en-US" sz="1600" dirty="0">
                <a:latin typeface="微软雅黑" panose="020B0503020204020204" pitchFamily="34" charset="-122"/>
                <a:ea typeface="微软雅黑" panose="020B0503020204020204" pitchFamily="34" charset="-122"/>
                <a:cs typeface="宋体" charset="0"/>
              </a:rPr>
              <a:t>配置文件中配置。</a:t>
            </a:r>
            <a:r>
              <a:rPr lang="zh-CN" altLang="en-US" sz="1600" dirty="0">
                <a:latin typeface="微软雅黑" panose="020B0503020204020204" pitchFamily="34" charset="-122"/>
                <a:ea typeface="微软雅黑" panose="020B0503020204020204" pitchFamily="34" charset="-122"/>
              </a:rPr>
              <a:t>例如，</a:t>
            </a:r>
            <a:endParaRPr lang="en-US" altLang="zh-CN" sz="1600" dirty="0">
              <a:latin typeface="微软雅黑" panose="020B0503020204020204" pitchFamily="34" charset="-122"/>
              <a:ea typeface="微软雅黑" panose="020B0503020204020204" pitchFamily="34" charset="-122"/>
            </a:endParaRPr>
          </a:p>
          <a:p>
            <a:pPr marL="0" indent="0">
              <a:lnSpc>
                <a:spcPct val="150000"/>
              </a:lnSpc>
              <a:buNone/>
            </a:pPr>
            <a:r>
              <a:rPr lang="en-GB" altLang="zh-CN" sz="1600" dirty="0">
                <a:latin typeface="微软雅黑" panose="020B0503020204020204" pitchFamily="34" charset="-122"/>
                <a:ea typeface="微软雅黑" panose="020B0503020204020204" pitchFamily="34" charset="-122"/>
              </a:rPr>
              <a:t>care: ['</a:t>
            </a:r>
            <a:r>
              <a:rPr lang="en-GB" altLang="zh-CN" sz="1600" dirty="0" err="1">
                <a:latin typeface="微软雅黑" panose="020B0503020204020204" pitchFamily="34" charset="-122"/>
                <a:ea typeface="微软雅黑" panose="020B0503020204020204" pitchFamily="34" charset="-122"/>
              </a:rPr>
              <a:t>is_wireless</a:t>
            </a:r>
            <a:r>
              <a:rPr lang="en-GB" altLang="zh-CN" sz="1600" dirty="0">
                <a:latin typeface="微软雅黑" panose="020B0503020204020204" pitchFamily="34" charset="-122"/>
                <a:ea typeface="微软雅黑" panose="020B0503020204020204" pitchFamily="34" charset="-122"/>
              </a:rPr>
              <a:t>':='0']</a:t>
            </a:r>
            <a:r>
              <a:rPr lang="zh-CN" altLang="en-GB"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即只处理</a:t>
            </a:r>
            <a:r>
              <a:rPr lang="en-GB" altLang="zh-CN" sz="1600" dirty="0">
                <a:latin typeface="微软雅黑" panose="020B0503020204020204" pitchFamily="34" charset="-122"/>
                <a:ea typeface="微软雅黑" panose="020B0503020204020204" pitchFamily="34" charset="-122"/>
              </a:rPr>
              <a:t>pc</a:t>
            </a:r>
            <a:r>
              <a:rPr lang="zh-CN" altLang="en-US" sz="1600" dirty="0">
                <a:latin typeface="微软雅黑" panose="020B0503020204020204" pitchFamily="34" charset="-122"/>
                <a:ea typeface="微软雅黑" panose="020B0503020204020204" pitchFamily="34" charset="-122"/>
              </a:rPr>
              <a:t>端的流量</a:t>
            </a:r>
            <a:endParaRPr lang="en-US" altLang="zh-CN" sz="1600" dirty="0">
              <a:latin typeface="微软雅黑" panose="020B0503020204020204" pitchFamily="34" charset="-122"/>
              <a:ea typeface="微软雅黑" panose="020B0503020204020204" pitchFamily="34" charset="-122"/>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p:txBody>
      </p:sp>
      <p:pic>
        <p:nvPicPr>
          <p:cNvPr id="2" name="图片 1"/>
          <p:cNvPicPr>
            <a:picLocks noChangeAspect="1"/>
          </p:cNvPicPr>
          <p:nvPr/>
        </p:nvPicPr>
        <p:blipFill>
          <a:blip r:embed="rId4"/>
          <a:stretch>
            <a:fillRect/>
          </a:stretch>
        </p:blipFill>
        <p:spPr>
          <a:xfrm>
            <a:off x="5171275" y="2127897"/>
            <a:ext cx="3479239" cy="143707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42957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 </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 </a:t>
            </a:r>
            <a:r>
              <a:rPr kumimoji="1" lang="en-US" altLang="zh-CN" sz="1400" b="1" spc="200" dirty="0">
                <a:latin typeface="微软雅黑"/>
                <a:ea typeface="微软雅黑"/>
                <a:cs typeface="微软雅黑"/>
              </a:rPr>
              <a:t>care_tag</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232095" cy="3874046"/>
          </a:xfrm>
        </p:spPr>
        <p:txBody>
          <a:bodyPr>
            <a:noAutofit/>
          </a:bodyPr>
          <a:lstStyle/>
          <a:p>
            <a:pPr>
              <a:spcAft>
                <a:spcPts val="600"/>
              </a:spcAft>
              <a:buSzPct val="120000"/>
              <a:buFont typeface="Wingdings" pitchFamily="2" charset="2"/>
              <a:buChar char="l"/>
            </a:pPr>
            <a:r>
              <a:rPr kumimoji="1" lang="en-US" altLang="zh-CN" sz="1800" dirty="0" err="1">
                <a:latin typeface="微软雅黑" panose="020B0503020204020204" pitchFamily="34" charset="-122"/>
                <a:ea typeface="微软雅黑" panose="020B0503020204020204" pitchFamily="34" charset="-122"/>
                <a:cs typeface="宋体" charset="0"/>
              </a:rPr>
              <a:t>care_tag</a:t>
            </a:r>
            <a:endParaRPr kumimoji="1" lang="en-US" altLang="zh-CN" sz="1800" dirty="0">
              <a:latin typeface="微软雅黑" panose="020B0503020204020204" pitchFamily="34" charset="-122"/>
              <a:ea typeface="微软雅黑" panose="020B0503020204020204" pitchFamily="34" charset="-122"/>
              <a:cs typeface="宋体" charset="0"/>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处理空间的表达式有时候过长，组合使用起来极不容易理解，也不容易修改。因此，使用</a:t>
            </a:r>
            <a:r>
              <a:rPr kumimoji="1" lang="en-US" altLang="zh-CN" sz="1600" dirty="0">
                <a:latin typeface="微软雅黑" panose="020B0503020204020204" pitchFamily="34" charset="-122"/>
                <a:ea typeface="微软雅黑" panose="020B0503020204020204" pitchFamily="34" charset="-122"/>
                <a:cs typeface="宋体" charset="0"/>
              </a:rPr>
              <a:t>care_tag</a:t>
            </a:r>
            <a:r>
              <a:rPr kumimoji="1" lang="zh-CN" altLang="en-US" sz="1600" dirty="0">
                <a:latin typeface="微软雅黑" panose="020B0503020204020204" pitchFamily="34" charset="-122"/>
                <a:ea typeface="微软雅黑" panose="020B0503020204020204" pitchFamily="34" charset="-122"/>
                <a:cs typeface="宋体" charset="0"/>
              </a:rPr>
              <a:t> 来标志 长的表达式组合。</a:t>
            </a: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lnSpc>
                <a:spcPct val="150000"/>
              </a:lnSpc>
              <a:spcAft>
                <a:spcPts val="600"/>
              </a:spcAft>
              <a:buSzPct val="120000"/>
              <a:buNone/>
            </a:pP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400" dirty="0">
                <a:latin typeface="微软雅黑" panose="020B0503020204020204" pitchFamily="34" charset="-122"/>
                <a:ea typeface="微软雅黑" panose="020B0503020204020204" pitchFamily="34" charset="-122"/>
                <a:cs typeface="宋体" charset="0"/>
              </a:rPr>
              <a:t>比如图</a:t>
            </a:r>
            <a:r>
              <a:rPr kumimoji="1" lang="en-US" altLang="zh-CN" sz="1400" dirty="0">
                <a:latin typeface="微软雅黑" panose="020B0503020204020204" pitchFamily="34" charset="-122"/>
                <a:ea typeface="微软雅黑" panose="020B0503020204020204" pitchFamily="34" charset="-122"/>
                <a:cs typeface="宋体" charset="0"/>
              </a:rPr>
              <a:t>a</a:t>
            </a:r>
            <a:r>
              <a:rPr kumimoji="1" lang="zh-CN" altLang="en-US" sz="1400" dirty="0">
                <a:latin typeface="微软雅黑" panose="020B0503020204020204" pitchFamily="34" charset="-122"/>
                <a:ea typeface="微软雅黑" panose="020B0503020204020204" pitchFamily="34" charset="-122"/>
                <a:cs typeface="宋体" charset="0"/>
              </a:rPr>
              <a:t>中的例子，在实际应用中等号左边与右边是等价的</a:t>
            </a:r>
            <a:endParaRPr kumimoji="1" lang="en-US" altLang="zh-CN" sz="1400" dirty="0">
              <a:latin typeface="微软雅黑" panose="020B0503020204020204" pitchFamily="34" charset="-122"/>
              <a:ea typeface="微软雅黑" panose="020B0503020204020204" pitchFamily="34" charset="-122"/>
              <a:cs typeface="宋体" charset="0"/>
            </a:endParaRPr>
          </a:p>
        </p:txBody>
      </p:sp>
      <p:pic>
        <p:nvPicPr>
          <p:cNvPr id="3" name="图片 2"/>
          <p:cNvPicPr>
            <a:picLocks noChangeAspect="1"/>
          </p:cNvPicPr>
          <p:nvPr/>
        </p:nvPicPr>
        <p:blipFill>
          <a:blip r:embed="rId4"/>
          <a:stretch>
            <a:fillRect/>
          </a:stretch>
        </p:blipFill>
        <p:spPr>
          <a:xfrm>
            <a:off x="2086313" y="2952281"/>
            <a:ext cx="5019675" cy="704850"/>
          </a:xfrm>
          <a:prstGeom prst="rect">
            <a:avLst/>
          </a:prstGeom>
        </p:spPr>
      </p:pic>
      <p:sp>
        <p:nvSpPr>
          <p:cNvPr id="5" name="文本框 4"/>
          <p:cNvSpPr txBox="1"/>
          <p:nvPr/>
        </p:nvSpPr>
        <p:spPr>
          <a:xfrm>
            <a:off x="3319801" y="3657131"/>
            <a:ext cx="2552700" cy="276999"/>
          </a:xfrm>
          <a:prstGeom prst="rect">
            <a:avLst/>
          </a:prstGeom>
          <a:noFill/>
        </p:spPr>
        <p:txBody>
          <a:bodyPr wrap="square" rtlCol="0">
            <a:spAutoFit/>
          </a:bodyPr>
          <a:lstStyle/>
          <a:p>
            <a:pPr algn="ctr"/>
            <a:r>
              <a:rPr lang="zh-CN" altLang="en-US" sz="1200" dirty="0">
                <a:latin typeface="+mn-ea"/>
              </a:rPr>
              <a:t>图</a:t>
            </a:r>
            <a:r>
              <a:rPr lang="en-US" altLang="zh-CN" sz="1200" dirty="0">
                <a:latin typeface="+mn-ea"/>
              </a:rPr>
              <a:t>a: </a:t>
            </a:r>
            <a:r>
              <a:rPr lang="en-US" altLang="zh-CN" sz="1200" dirty="0" err="1">
                <a:latin typeface="+mn-ea"/>
              </a:rPr>
              <a:t>care_tag</a:t>
            </a:r>
            <a:r>
              <a:rPr lang="zh-CN" altLang="en-US" sz="1200" dirty="0">
                <a:latin typeface="+mn-ea"/>
              </a:rPr>
              <a:t>示例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1519968"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段</a:t>
            </a:r>
          </a:p>
        </p:txBody>
      </p:sp>
      <p:sp>
        <p:nvSpPr>
          <p:cNvPr id="10" name="文本框 9">
            <a:extLst>
              <a:ext uri="{FF2B5EF4-FFF2-40B4-BE49-F238E27FC236}">
                <a16:creationId xmlns:a16="http://schemas.microsoft.com/office/drawing/2014/main" id="{5A998EFE-036D-C5A5-0B5B-F34CAEB05348}"/>
              </a:ext>
            </a:extLst>
          </p:cNvPr>
          <p:cNvSpPr txBox="1"/>
          <p:nvPr/>
        </p:nvSpPr>
        <p:spPr>
          <a:xfrm>
            <a:off x="378372" y="905717"/>
            <a:ext cx="8187559" cy="333206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sz="1600" dirty="0">
                <a:latin typeface="微软雅黑" panose="020B0503020204020204" pitchFamily="34" charset="-122"/>
                <a:ea typeface="微软雅黑" panose="020B0503020204020204" pitchFamily="34" charset="-122"/>
              </a:rPr>
              <a:t>段</a:t>
            </a:r>
            <a:r>
              <a:rPr kumimoji="1" lang="en-US" altLang="zh-CN" sz="1600" dirty="0">
                <a:latin typeface="微软雅黑" panose="020B0503020204020204" pitchFamily="34" charset="-122"/>
                <a:ea typeface="微软雅黑" panose="020B0503020204020204" pitchFamily="34" charset="-122"/>
              </a:rPr>
              <a:t> window</a:t>
            </a: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定义：统计特征的计算区间</a:t>
            </a:r>
            <a:endParaRPr kumimoji="1"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类型</a:t>
            </a:r>
            <a:r>
              <a:rPr kumimoji="1" lang="en-US" altLang="zh-CN" sz="1400" dirty="0">
                <a:latin typeface="微软雅黑" panose="020B0503020204020204" pitchFamily="34" charset="-122"/>
                <a:ea typeface="微软雅黑" panose="020B0503020204020204" pitchFamily="34" charset="-122"/>
              </a:rPr>
              <a:t> window_type</a:t>
            </a:r>
            <a:r>
              <a:rPr kumimoji="1" lang="zh-CN" altLang="en-US" sz="1400" dirty="0">
                <a:latin typeface="微软雅黑" panose="020B0503020204020204" pitchFamily="34" charset="-122"/>
                <a:ea typeface="微软雅黑" panose="020B0503020204020204" pitchFamily="34" charset="-122"/>
              </a:rPr>
              <a:t>：</a:t>
            </a:r>
            <a:endParaRPr kumimoji="1"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时间</a:t>
            </a:r>
            <a:r>
              <a:rPr kumimoji="1" lang="en-US" altLang="zh-CN" sz="1400" dirty="0">
                <a:latin typeface="微软雅黑" panose="020B0503020204020204" pitchFamily="34" charset="-122"/>
                <a:ea typeface="微软雅黑" panose="020B0503020204020204" pitchFamily="34" charset="-122"/>
              </a:rPr>
              <a:t> time</a:t>
            </a:r>
            <a:r>
              <a:rPr kumimoji="1" lang="zh-CN" altLang="en-US" sz="1400" dirty="0">
                <a:latin typeface="微软雅黑" panose="020B0503020204020204" pitchFamily="34" charset="-122"/>
                <a:ea typeface="微软雅黑" panose="020B0503020204020204" pitchFamily="34" charset="-122"/>
              </a:rPr>
              <a:t>：一定时间，比如分、时、天</a:t>
            </a:r>
            <a:endParaRPr kumimoji="1"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流量</a:t>
            </a:r>
            <a:r>
              <a:rPr kumimoji="1" lang="en-US" altLang="zh-CN" sz="1400" dirty="0">
                <a:latin typeface="微软雅黑" panose="020B0503020204020204" pitchFamily="34" charset="-122"/>
                <a:ea typeface="微软雅黑" panose="020B0503020204020204" pitchFamily="34" charset="-122"/>
              </a:rPr>
              <a:t> </a:t>
            </a:r>
            <a:r>
              <a:rPr kumimoji="1" lang="en-US" altLang="zh-CN" sz="1400" dirty="0" err="1">
                <a:latin typeface="微软雅黑" panose="020B0503020204020204" pitchFamily="34" charset="-122"/>
                <a:ea typeface="微软雅黑" panose="020B0503020204020204" pitchFamily="34" charset="-122"/>
              </a:rPr>
              <a:t>pv</a:t>
            </a:r>
            <a:r>
              <a:rPr kumimoji="1" lang="zh-CN" altLang="en-US" sz="1400" dirty="0">
                <a:latin typeface="微软雅黑" panose="020B0503020204020204" pitchFamily="34" charset="-122"/>
                <a:ea typeface="微软雅黑" panose="020B0503020204020204" pitchFamily="34" charset="-122"/>
              </a:rPr>
              <a:t>：定量，比如连续</a:t>
            </a:r>
            <a:r>
              <a:rPr kumimoji="1" lang="en-US" altLang="zh-CN" sz="1400" dirty="0">
                <a:latin typeface="微软雅黑" panose="020B0503020204020204" pitchFamily="34" charset="-122"/>
                <a:ea typeface="微软雅黑" panose="020B0503020204020204" pitchFamily="34" charset="-122"/>
              </a:rPr>
              <a:t>1000</a:t>
            </a:r>
            <a:r>
              <a:rPr kumimoji="1" lang="zh-CN" altLang="en-US" sz="1400" dirty="0">
                <a:latin typeface="微软雅黑" panose="020B0503020204020204" pitchFamily="34" charset="-122"/>
                <a:ea typeface="微软雅黑" panose="020B0503020204020204" pitchFamily="34" charset="-122"/>
              </a:rPr>
              <a:t>条日志</a:t>
            </a:r>
            <a:endParaRPr kumimoji="1"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段长</a:t>
            </a:r>
            <a:r>
              <a:rPr kumimoji="1" lang="en-US" altLang="zh-CN" sz="1400" dirty="0">
                <a:latin typeface="微软雅黑" panose="020B0503020204020204" pitchFamily="34" charset="-122"/>
                <a:ea typeface="微软雅黑" panose="020B0503020204020204" pitchFamily="34" charset="-122"/>
              </a:rPr>
              <a:t> </a:t>
            </a:r>
            <a:r>
              <a:rPr kumimoji="1" lang="en-US" altLang="zh-CN" sz="1400" dirty="0" err="1">
                <a:latin typeface="微软雅黑" panose="020B0503020204020204" pitchFamily="34" charset="-122"/>
                <a:ea typeface="微软雅黑" panose="020B0503020204020204" pitchFamily="34" charset="-122"/>
              </a:rPr>
              <a:t>window_length</a:t>
            </a:r>
            <a:r>
              <a:rPr kumimoji="1" lang="zh-CN" altLang="en-US" sz="1400" dirty="0">
                <a:latin typeface="微软雅黑" panose="020B0503020204020204" pitchFamily="34" charset="-122"/>
                <a:ea typeface="微软雅黑" panose="020B0503020204020204" pitchFamily="34" charset="-122"/>
              </a:rPr>
              <a:t>：统计窗口的长度</a:t>
            </a:r>
            <a:endParaRPr kumimoji="1"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步长</a:t>
            </a:r>
            <a:r>
              <a:rPr kumimoji="1" lang="en-US" altLang="zh-CN" sz="1400" dirty="0">
                <a:latin typeface="微软雅黑" panose="020B0503020204020204" pitchFamily="34" charset="-122"/>
                <a:ea typeface="微软雅黑" panose="020B0503020204020204" pitchFamily="34" charset="-122"/>
              </a:rPr>
              <a:t> step_length</a:t>
            </a:r>
            <a:r>
              <a:rPr kumimoji="1" lang="zh-CN" altLang="en-US" sz="1400" dirty="0">
                <a:latin typeface="微软雅黑" panose="020B0503020204020204" pitchFamily="34" charset="-122"/>
                <a:ea typeface="微软雅黑" panose="020B0503020204020204" pitchFamily="34" charset="-122"/>
              </a:rPr>
              <a:t>：段每次向后移动的距离</a:t>
            </a:r>
            <a:endParaRPr kumimoji="1"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段的类型：</a:t>
            </a:r>
          </a:p>
          <a:p>
            <a:pPr marL="742950" lvl="1" indent="-285750">
              <a:lnSpc>
                <a:spcPct val="15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跳段</a:t>
            </a:r>
            <a:r>
              <a:rPr kumimoji="1" lang="en-US" altLang="zh-CN" sz="1400" dirty="0">
                <a:latin typeface="微软雅黑" panose="020B0503020204020204" pitchFamily="34" charset="-122"/>
                <a:ea typeface="微软雅黑" panose="020B0503020204020204" pitchFamily="34" charset="-122"/>
              </a:rPr>
              <a:t> </a:t>
            </a:r>
            <a:r>
              <a:rPr kumimoji="1" lang="en-US" altLang="zh-CN" sz="1400" dirty="0" err="1">
                <a:latin typeface="微软雅黑" panose="020B0503020204020204" pitchFamily="34" charset="-122"/>
                <a:ea typeface="微软雅黑" panose="020B0503020204020204" pitchFamily="34" charset="-122"/>
              </a:rPr>
              <a:t>c</a:t>
            </a:r>
            <a:r>
              <a:rPr kumimoji="1" lang="en-US" altLang="zh-CN" sz="1400" dirty="0" err="1">
                <a:latin typeface="微软雅黑" panose="020B0503020204020204" pitchFamily="34" charset="-122"/>
                <a:ea typeface="微软雅黑" panose="020B0503020204020204" pitchFamily="34" charset="-122"/>
                <a:sym typeface="+mn-ea"/>
              </a:rPr>
              <a:t>lick_mode</a:t>
            </a:r>
            <a:r>
              <a:rPr kumimoji="1" lang="zh-CN" altLang="en-US" sz="1400" dirty="0">
                <a:latin typeface="微软雅黑" panose="020B0503020204020204" pitchFamily="34" charset="-122"/>
                <a:ea typeface="微软雅黑" panose="020B0503020204020204" pitchFamily="34" charset="-122"/>
                <a:sym typeface="+mn-ea"/>
              </a:rPr>
              <a:t> </a:t>
            </a:r>
            <a:r>
              <a:rPr kumimoji="1" lang="en-US" altLang="zh-CN" sz="1400" dirty="0">
                <a:latin typeface="微软雅黑" panose="020B0503020204020204" pitchFamily="34" charset="-122"/>
                <a:ea typeface="微软雅黑" panose="020B0503020204020204" pitchFamily="34" charset="-122"/>
                <a:sym typeface="+mn-ea"/>
              </a:rPr>
              <a:t>==1</a:t>
            </a:r>
            <a:r>
              <a:rPr kumimoji="1" lang="zh-CN" altLang="en-US" sz="1400" dirty="0">
                <a:latin typeface="微软雅黑" panose="020B0503020204020204" pitchFamily="34" charset="-122"/>
                <a:ea typeface="微软雅黑" panose="020B0503020204020204" pitchFamily="34" charset="-122"/>
              </a:rPr>
              <a:t>：段与段之间 挨着但不重叠，移动一个段长</a:t>
            </a:r>
            <a:endParaRPr kumimoji="1"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滑段</a:t>
            </a:r>
            <a:r>
              <a:rPr kumimoji="1" lang="en-US" altLang="zh-CN" sz="1400" dirty="0">
                <a:latin typeface="微软雅黑" panose="020B0503020204020204" pitchFamily="34" charset="-122"/>
                <a:ea typeface="微软雅黑" panose="020B0503020204020204" pitchFamily="34" charset="-122"/>
              </a:rPr>
              <a:t> </a:t>
            </a:r>
            <a:r>
              <a:rPr kumimoji="1" lang="en-US" altLang="zh-CN" sz="1400" dirty="0" err="1">
                <a:latin typeface="微软雅黑" panose="020B0503020204020204" pitchFamily="34" charset="-122"/>
                <a:ea typeface="微软雅黑" panose="020B0503020204020204" pitchFamily="34" charset="-122"/>
              </a:rPr>
              <a:t>c</a:t>
            </a:r>
            <a:r>
              <a:rPr kumimoji="1" lang="en-US" altLang="zh-CN" sz="1400" dirty="0" err="1">
                <a:latin typeface="微软雅黑" panose="020B0503020204020204" pitchFamily="34" charset="-122"/>
                <a:ea typeface="微软雅黑" panose="020B0503020204020204" pitchFamily="34" charset="-122"/>
                <a:sym typeface="+mn-ea"/>
              </a:rPr>
              <a:t>lick_mode</a:t>
            </a:r>
            <a:r>
              <a:rPr kumimoji="1" lang="zh-CN" altLang="en-US" sz="1400" dirty="0">
                <a:latin typeface="微软雅黑" panose="020B0503020204020204" pitchFamily="34" charset="-122"/>
                <a:ea typeface="微软雅黑" panose="020B0503020204020204" pitchFamily="34" charset="-122"/>
                <a:sym typeface="+mn-ea"/>
              </a:rPr>
              <a:t> </a:t>
            </a:r>
            <a:r>
              <a:rPr kumimoji="1" lang="en-US" altLang="zh-CN" sz="1400" dirty="0">
                <a:latin typeface="微软雅黑" panose="020B0503020204020204" pitchFamily="34" charset="-122"/>
                <a:ea typeface="微软雅黑" panose="020B0503020204020204" pitchFamily="34" charset="-122"/>
                <a:sym typeface="+mn-ea"/>
              </a:rPr>
              <a:t>==0</a:t>
            </a:r>
            <a:r>
              <a:rPr kumimoji="1" lang="zh-CN" altLang="en-US" sz="1400" dirty="0">
                <a:latin typeface="微软雅黑" panose="020B0503020204020204" pitchFamily="34" charset="-122"/>
                <a:ea typeface="微软雅黑" panose="020B0503020204020204" pitchFamily="34" charset="-122"/>
              </a:rPr>
              <a:t>：</a:t>
            </a:r>
            <a:r>
              <a:rPr kumimoji="1" lang="zh-CN" altLang="zh-CN" sz="1400" dirty="0">
                <a:latin typeface="微软雅黑" panose="020B0503020204020204" pitchFamily="34" charset="-122"/>
                <a:ea typeface="微软雅黑" panose="020B0503020204020204" pitchFamily="34" charset="-122"/>
              </a:rPr>
              <a:t>将段分为小步，按步滑动</a:t>
            </a:r>
            <a:r>
              <a:rPr kumimoji="1" lang="zh-CN" altLang="en-US" sz="1400" dirty="0">
                <a:latin typeface="微软雅黑" panose="020B0503020204020204" pitchFamily="34" charset="-122"/>
                <a:ea typeface="微软雅黑" panose="020B0503020204020204" pitchFamily="34" charset="-122"/>
              </a:rPr>
              <a:t>一个步长，可以缓解段首漏过</a:t>
            </a:r>
            <a:endParaRPr kumimoji="1" lang="zh-CN" altLang="zh-CN" sz="1400" dirty="0">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5E46FF60-AF74-FF31-4FBA-41B37B252999}"/>
              </a:ext>
            </a:extLst>
          </p:cNvPr>
          <p:cNvPicPr>
            <a:picLocks noChangeAspect="1"/>
          </p:cNvPicPr>
          <p:nvPr/>
        </p:nvPicPr>
        <p:blipFill>
          <a:blip r:embed="rId4"/>
          <a:stretch>
            <a:fillRect/>
          </a:stretch>
        </p:blipFill>
        <p:spPr>
          <a:xfrm>
            <a:off x="4571999" y="1049726"/>
            <a:ext cx="4320799" cy="228205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335896"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en-US" altLang="zh-CN" sz="1400" b="1" i="0" u="none" strike="noStrike" kern="1200" cap="none" spc="200" normalizeH="0" baseline="0" noProof="0" dirty="0" err="1">
                <a:ln>
                  <a:noFill/>
                </a:ln>
                <a:solidFill>
                  <a:prstClr val="black"/>
                </a:solidFill>
                <a:effectLst/>
                <a:uLnTx/>
                <a:uFillTx/>
                <a:latin typeface="微软雅黑"/>
                <a:ea typeface="微软雅黑"/>
                <a:cs typeface="微软雅黑"/>
              </a:rPr>
              <a:t>dict</a:t>
            </a:r>
            <a:r>
              <a:rPr kumimoji="1" lang="en-US" altLang="zh-CN" sz="1400" b="1" spc="200" dirty="0">
                <a:solidFill>
                  <a:prstClr val="black"/>
                </a:solidFill>
                <a:latin typeface="微软雅黑"/>
                <a:ea typeface="微软雅黑"/>
                <a:cs typeface="微软雅黑"/>
              </a:rPr>
              <a:t>.</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pic>
        <p:nvPicPr>
          <p:cNvPr id="10" name="图片 9">
            <a:extLst>
              <a:ext uri="{FF2B5EF4-FFF2-40B4-BE49-F238E27FC236}">
                <a16:creationId xmlns:a16="http://schemas.microsoft.com/office/drawing/2014/main" id="{4C4FEB6E-EB15-6239-046E-9B3781FF97D7}"/>
              </a:ext>
            </a:extLst>
          </p:cNvPr>
          <p:cNvPicPr>
            <a:picLocks noChangeAspect="1"/>
          </p:cNvPicPr>
          <p:nvPr/>
        </p:nvPicPr>
        <p:blipFill>
          <a:blip r:embed="rId4"/>
          <a:stretch>
            <a:fillRect/>
          </a:stretch>
        </p:blipFill>
        <p:spPr>
          <a:xfrm>
            <a:off x="2561542" y="3317376"/>
            <a:ext cx="6128478" cy="1045617"/>
          </a:xfrm>
          <a:prstGeom prst="rect">
            <a:avLst/>
          </a:prstGeom>
        </p:spPr>
      </p:pic>
      <p:pic>
        <p:nvPicPr>
          <p:cNvPr id="11" name="图片 10">
            <a:extLst>
              <a:ext uri="{FF2B5EF4-FFF2-40B4-BE49-F238E27FC236}">
                <a16:creationId xmlns:a16="http://schemas.microsoft.com/office/drawing/2014/main" id="{641B9E2F-CE46-6510-F0FA-C96AB5CABE31}"/>
              </a:ext>
            </a:extLst>
          </p:cNvPr>
          <p:cNvPicPr>
            <a:picLocks noChangeAspect="1"/>
          </p:cNvPicPr>
          <p:nvPr/>
        </p:nvPicPr>
        <p:blipFill rotWithShape="1">
          <a:blip r:embed="rId5"/>
          <a:srcRect r="14238" b="6126"/>
          <a:stretch/>
        </p:blipFill>
        <p:spPr>
          <a:xfrm>
            <a:off x="480105" y="1024591"/>
            <a:ext cx="4968868" cy="1141699"/>
          </a:xfrm>
          <a:prstGeom prst="rect">
            <a:avLst/>
          </a:prstGeom>
        </p:spPr>
      </p:pic>
      <p:pic>
        <p:nvPicPr>
          <p:cNvPr id="14" name="图片 13">
            <a:extLst>
              <a:ext uri="{FF2B5EF4-FFF2-40B4-BE49-F238E27FC236}">
                <a16:creationId xmlns:a16="http://schemas.microsoft.com/office/drawing/2014/main" id="{B49225B5-9B1E-2171-57B2-F6367E9046C3}"/>
              </a:ext>
            </a:extLst>
          </p:cNvPr>
          <p:cNvPicPr>
            <a:picLocks noChangeAspect="1"/>
          </p:cNvPicPr>
          <p:nvPr/>
        </p:nvPicPr>
        <p:blipFill>
          <a:blip r:embed="rId6"/>
          <a:stretch>
            <a:fillRect/>
          </a:stretch>
        </p:blipFill>
        <p:spPr>
          <a:xfrm>
            <a:off x="506231" y="2193487"/>
            <a:ext cx="4658214" cy="770661"/>
          </a:xfrm>
          <a:prstGeom prst="rect">
            <a:avLst/>
          </a:prstGeom>
        </p:spPr>
      </p:pic>
      <p:sp>
        <p:nvSpPr>
          <p:cNvPr id="18" name="文本框 17">
            <a:extLst>
              <a:ext uri="{FF2B5EF4-FFF2-40B4-BE49-F238E27FC236}">
                <a16:creationId xmlns:a16="http://schemas.microsoft.com/office/drawing/2014/main" id="{CC4FA69F-C1AB-2B05-E9B3-3EFFC1A9C717}"/>
              </a:ext>
            </a:extLst>
          </p:cNvPr>
          <p:cNvSpPr txBox="1"/>
          <p:nvPr/>
        </p:nvSpPr>
        <p:spPr>
          <a:xfrm>
            <a:off x="5668190" y="1241422"/>
            <a:ext cx="3311280" cy="1231106"/>
          </a:xfrm>
          <a:prstGeom prst="rect">
            <a:avLst/>
          </a:prstGeom>
          <a:noFill/>
        </p:spPr>
        <p:txBody>
          <a:bodyPr wrap="square">
            <a:spAutoFit/>
          </a:bodyPr>
          <a:lstStyle/>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file_key</a:t>
            </a:r>
            <a:r>
              <a:rPr kumimoji="1" lang="zh-CN" altLang="en-US" sz="1600" dirty="0">
                <a:latin typeface="微软雅黑" panose="020B0503020204020204" pitchFamily="34" charset="-122"/>
                <a:ea typeface="微软雅黑" panose="020B0503020204020204" pitchFamily="34" charset="-122"/>
                <a:cs typeface="宋体" charset="0"/>
              </a:rPr>
              <a:t>：文件</a:t>
            </a:r>
            <a:r>
              <a:rPr kumimoji="1" lang="en-US" altLang="zh-CN" sz="1600" dirty="0">
                <a:latin typeface="微软雅黑" panose="020B0503020204020204" pitchFamily="34" charset="-122"/>
                <a:ea typeface="微软雅黑" panose="020B0503020204020204" pitchFamily="34" charset="-122"/>
                <a:cs typeface="宋体" charset="0"/>
              </a:rPr>
              <a:t>key</a:t>
            </a:r>
            <a:r>
              <a:rPr kumimoji="1" lang="zh-CN" altLang="en-US" sz="1600" dirty="0">
                <a:latin typeface="微软雅黑" panose="020B0503020204020204" pitchFamily="34" charset="-122"/>
                <a:ea typeface="微软雅黑" panose="020B0503020204020204" pitchFamily="34" charset="-122"/>
                <a:cs typeface="宋体" charset="0"/>
              </a:rPr>
              <a:t>，用于取出词表文件实际路径</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file_type</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文件类型，</a:t>
            </a:r>
            <a:r>
              <a:rPr kumimoji="1" lang="en-US" altLang="zh-CN" sz="1600" dirty="0" err="1">
                <a:latin typeface="微软雅黑" panose="020B0503020204020204" pitchFamily="34" charset="-122"/>
                <a:ea typeface="微软雅黑" panose="020B0503020204020204" pitchFamily="34" charset="-122"/>
                <a:cs typeface="宋体" charset="0"/>
              </a:rPr>
              <a:t>kv</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set</a:t>
            </a: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file_path</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文件路径</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会有环境变量</a:t>
            </a:r>
            <a:endParaRPr kumimoji="1" lang="en-US" altLang="zh-CN" sz="16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1076667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656753" cy="361253"/>
          </a:xfrm>
          <a:prstGeom prst="rect">
            <a:avLst/>
          </a:prstGeom>
          <a:noFill/>
        </p:spPr>
        <p:txBody>
          <a:bodyPr wrap="none" rtlCol="0">
            <a:spAutoFit/>
          </a:bodyPr>
          <a:lstStyle/>
          <a:p>
            <a:pPr lvl="0">
              <a:lnSpc>
                <a:spcPct val="140000"/>
              </a:lnSpc>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spc="200" dirty="0">
                <a:solidFill>
                  <a:prstClr val="black"/>
                </a:solidFill>
                <a:latin typeface="微软雅黑"/>
                <a:ea typeface="微软雅黑"/>
                <a:cs typeface="微软雅黑"/>
              </a:rPr>
              <a:t>- </a:t>
            </a:r>
            <a:r>
              <a:rPr kumimoji="1" lang="en-US" altLang="zh-CN" sz="1400" b="1" spc="200" dirty="0" err="1">
                <a:solidFill>
                  <a:prstClr val="black"/>
                </a:solidFill>
                <a:latin typeface="微软雅黑"/>
                <a:ea typeface="微软雅黑"/>
                <a:cs typeface="微软雅黑"/>
              </a:rPr>
              <a:t>policy.conf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sp>
        <p:nvSpPr>
          <p:cNvPr id="6" name="内容占位符 2"/>
          <p:cNvSpPr>
            <a:spLocks noGrp="1"/>
          </p:cNvSpPr>
          <p:nvPr>
            <p:ph idx="1"/>
          </p:nvPr>
        </p:nvSpPr>
        <p:spPr>
          <a:xfrm>
            <a:off x="486795" y="865229"/>
            <a:ext cx="8170409" cy="3874046"/>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策略 </a:t>
            </a:r>
            <a:r>
              <a:rPr kumimoji="1" lang="en-US" altLang="zh-CN" sz="1800" dirty="0">
                <a:latin typeface="微软雅黑" panose="020B0503020204020204" pitchFamily="34" charset="-122"/>
                <a:ea typeface="微软雅黑" panose="020B0503020204020204" pitchFamily="34" charset="-122"/>
                <a:cs typeface="宋体" charset="0"/>
              </a:rPr>
              <a:t>policy</a:t>
            </a:r>
            <a:r>
              <a:rPr kumimoji="1" lang="zh-CN" altLang="en-US" sz="18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根据特征值判定日志是否正常</a:t>
            </a:r>
            <a:endParaRPr kumimoji="1" lang="en-US" altLang="zh-CN" sz="1600" dirty="0">
              <a:latin typeface="微软雅黑" panose="020B0503020204020204" pitchFamily="34" charset="-122"/>
              <a:ea typeface="微软雅黑" panose="020B0503020204020204" pitchFamily="34" charset="-122"/>
              <a:cs typeface="宋体" charset="0"/>
            </a:endParaRPr>
          </a:p>
          <a:p>
            <a:pPr marL="285750" lvl="0" indent="-285750">
              <a:lnSpc>
                <a:spcPct val="150000"/>
              </a:lnSpc>
              <a:spcBef>
                <a:spcPts val="0"/>
              </a:spcBef>
              <a:buFont typeface="Wingdings" panose="05000000000000000000" pitchFamily="2" charset="2"/>
              <a:buChar char="l"/>
            </a:pPr>
            <a:r>
              <a:rPr kumimoji="1" lang="zh-CN" altLang="en-US" sz="1600" dirty="0">
                <a:solidFill>
                  <a:prstClr val="black"/>
                </a:solidFill>
                <a:latin typeface="微软雅黑" panose="020B0503020204020204" pitchFamily="34" charset="-122"/>
                <a:ea typeface="微软雅黑" panose="020B0503020204020204" pitchFamily="34" charset="-122"/>
              </a:rPr>
              <a:t>规则策略 </a:t>
            </a:r>
            <a:r>
              <a:rPr kumimoji="1" lang="en-US" altLang="zh-CN" sz="1600" dirty="0" err="1">
                <a:solidFill>
                  <a:prstClr val="black"/>
                </a:solidFill>
                <a:latin typeface="微软雅黑" panose="020B0503020204020204" pitchFamily="34" charset="-122"/>
                <a:ea typeface="微软雅黑" panose="020B0503020204020204" pitchFamily="34" charset="-122"/>
              </a:rPr>
              <a:t>policy_type</a:t>
            </a:r>
            <a:r>
              <a:rPr kumimoji="1" lang="zh-CN" altLang="en-US" sz="1600" dirty="0">
                <a:solidFill>
                  <a:prstClr val="black"/>
                </a:solidFill>
                <a:latin typeface="微软雅黑" panose="020B0503020204020204" pitchFamily="34" charset="-122"/>
                <a:ea typeface="微软雅黑" panose="020B0503020204020204" pitchFamily="34" charset="-122"/>
              </a:rPr>
              <a:t> </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zh-CN" altLang="en-US" sz="1600" dirty="0">
                <a:solidFill>
                  <a:prstClr val="black"/>
                </a:solidFill>
                <a:latin typeface="微软雅黑" panose="020B0503020204020204" pitchFamily="34" charset="-122"/>
                <a:ea typeface="微软雅黑" panose="020B0503020204020204" pitchFamily="34" charset="-122"/>
              </a:rPr>
              <a:t> </a:t>
            </a:r>
            <a:r>
              <a:rPr kumimoji="1" lang="en-US" altLang="zh-CN" sz="1600" dirty="0">
                <a:solidFill>
                  <a:prstClr val="black"/>
                </a:solidFill>
                <a:latin typeface="微软雅黑" panose="020B0503020204020204" pitchFamily="34" charset="-122"/>
                <a:ea typeface="微软雅黑" panose="020B0503020204020204" pitchFamily="34" charset="-122"/>
              </a:rPr>
              <a:t>rule</a:t>
            </a: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频次规则：适用于 </a:t>
            </a:r>
            <a:r>
              <a:rPr lang="en-GB" altLang="zh-CN" sz="1600" dirty="0">
                <a:solidFill>
                  <a:prstClr val="black"/>
                </a:solidFill>
              </a:rPr>
              <a:t>segment</a:t>
            </a:r>
            <a:r>
              <a:rPr lang="zh-CN" altLang="en-GB" sz="1600" dirty="0">
                <a:solidFill>
                  <a:prstClr val="black"/>
                </a:solidFill>
              </a:rPr>
              <a:t>、</a:t>
            </a:r>
            <a:r>
              <a:rPr lang="en-GB" altLang="zh-CN" sz="1600" dirty="0" err="1">
                <a:solidFill>
                  <a:prstClr val="black"/>
                </a:solidFill>
              </a:rPr>
              <a:t>auto_segment</a:t>
            </a:r>
            <a:r>
              <a:rPr lang="zh-CN" altLang="en-GB" sz="1600" dirty="0">
                <a:solidFill>
                  <a:prstClr val="black"/>
                </a:solidFill>
              </a:rPr>
              <a:t>、</a:t>
            </a:r>
            <a:r>
              <a:rPr lang="en-GB" altLang="zh-CN" sz="1600" dirty="0">
                <a:solidFill>
                  <a:prstClr val="black"/>
                </a:solidFill>
              </a:rPr>
              <a:t>multi-segment</a:t>
            </a:r>
            <a:r>
              <a:rPr lang="zh-CN" altLang="en-GB" sz="1600" dirty="0">
                <a:solidFill>
                  <a:prstClr val="black"/>
                </a:solidFill>
              </a:rPr>
              <a:t>、</a:t>
            </a:r>
            <a:r>
              <a:rPr lang="en-GB" altLang="zh-CN" sz="1600" dirty="0" err="1">
                <a:solidFill>
                  <a:prstClr val="black"/>
                </a:solidFill>
              </a:rPr>
              <a:t>sum_segment</a:t>
            </a:r>
            <a:r>
              <a:rPr lang="zh-CN" altLang="en-US" sz="1600" dirty="0">
                <a:solidFill>
                  <a:prstClr val="black"/>
                </a:solidFill>
              </a:rPr>
              <a:t>和</a:t>
            </a:r>
            <a:r>
              <a:rPr lang="en-GB" altLang="zh-CN" sz="1600" dirty="0">
                <a:solidFill>
                  <a:prstClr val="black"/>
                </a:solidFill>
              </a:rPr>
              <a:t>distinct</a:t>
            </a:r>
            <a:r>
              <a:rPr lang="zh-CN" altLang="en-US" sz="1600" dirty="0">
                <a:solidFill>
                  <a:prstClr val="black"/>
                </a:solidFill>
              </a:rPr>
              <a:t>特征。</a:t>
            </a:r>
            <a:endParaRPr lang="en-US" altLang="zh-CN" sz="1600" dirty="0">
              <a:solidFill>
                <a:srgbClr val="FF0000"/>
              </a:solidFill>
            </a:endParaRP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比例规则：适用于</a:t>
            </a:r>
            <a:r>
              <a:rPr lang="en-GB" altLang="zh-CN" sz="1600" dirty="0">
                <a:solidFill>
                  <a:prstClr val="black"/>
                </a:solidFill>
              </a:rPr>
              <a:t>ratio</a:t>
            </a:r>
            <a:r>
              <a:rPr lang="zh-CN" altLang="en-US" sz="1600" dirty="0">
                <a:solidFill>
                  <a:prstClr val="black"/>
                </a:solidFill>
              </a:rPr>
              <a:t>和</a:t>
            </a:r>
            <a:r>
              <a:rPr lang="en-GB" altLang="zh-CN" sz="1600" dirty="0">
                <a:solidFill>
                  <a:prstClr val="black"/>
                </a:solidFill>
              </a:rPr>
              <a:t>concentration</a:t>
            </a:r>
            <a:r>
              <a:rPr lang="zh-CN" altLang="en-US" sz="1600" dirty="0">
                <a:solidFill>
                  <a:prstClr val="black"/>
                </a:solidFill>
              </a:rPr>
              <a:t>两个特征。 </a:t>
            </a:r>
            <a:endParaRPr lang="en-US" altLang="zh-CN" sz="1600" dirty="0">
              <a:solidFill>
                <a:prstClr val="black"/>
              </a:solidFill>
            </a:endParaRP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分布规则：适用于</a:t>
            </a:r>
            <a:r>
              <a:rPr lang="zh-CN" altLang="en-US" sz="1600" b="1" dirty="0">
                <a:solidFill>
                  <a:prstClr val="black"/>
                </a:solidFill>
              </a:rPr>
              <a:t>值分布、频次分布和独立量分布</a:t>
            </a:r>
            <a:r>
              <a:rPr lang="zh-CN" altLang="en-US" sz="1600" dirty="0">
                <a:solidFill>
                  <a:prstClr val="black"/>
                </a:solidFill>
              </a:rPr>
              <a:t>，当前桶概率大于基础概率才算命中，如果当前同概率小于基准概率，分布再偏也不命中。</a:t>
            </a:r>
            <a:endParaRPr lang="en-US" altLang="zh-CN" sz="1600" dirty="0">
              <a:solidFill>
                <a:prstClr val="black"/>
              </a:solidFill>
            </a:endParaRP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布尔规则：适用于词表和</a:t>
            </a:r>
            <a:r>
              <a:rPr lang="en-GB" altLang="zh-CN" sz="1600" dirty="0" err="1">
                <a:solidFill>
                  <a:prstClr val="black"/>
                </a:solidFill>
              </a:rPr>
              <a:t>carespace</a:t>
            </a:r>
            <a:r>
              <a:rPr lang="zh-CN" altLang="en-US" sz="1600" dirty="0">
                <a:solidFill>
                  <a:prstClr val="black"/>
                </a:solidFill>
              </a:rPr>
              <a:t>特征。 </a:t>
            </a:r>
            <a:endParaRPr lang="en-US" altLang="zh-CN" sz="1600" dirty="0">
              <a:solidFill>
                <a:prstClr val="black"/>
              </a:solidFill>
            </a:endParaRP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复合规则：支持特征加减乘除运算，运算结果与阈值比较。</a:t>
            </a:r>
            <a:endParaRPr lang="en-US" altLang="zh-CN" sz="1600" dirty="0">
              <a:solidFill>
                <a:prstClr val="black"/>
              </a:solidFill>
            </a:endParaRPr>
          </a:p>
          <a:p>
            <a:pPr marL="285750" lvl="0" indent="-285750">
              <a:lnSpc>
                <a:spcPct val="150000"/>
              </a:lnSpc>
              <a:spcBef>
                <a:spcPts val="0"/>
              </a:spcBef>
              <a:buFont typeface="Wingdings" panose="05000000000000000000" pitchFamily="2" charset="2"/>
              <a:buChar char="l"/>
            </a:pPr>
            <a:r>
              <a:rPr kumimoji="1" lang="zh-CN" altLang="en-US" sz="1600" dirty="0">
                <a:solidFill>
                  <a:prstClr val="black"/>
                </a:solidFill>
                <a:latin typeface="微软雅黑" panose="020B0503020204020204" pitchFamily="34" charset="-122"/>
                <a:ea typeface="微软雅黑" panose="020B0503020204020204" pitchFamily="34" charset="-122"/>
              </a:rPr>
              <a:t>模型策略 </a:t>
            </a:r>
            <a:r>
              <a:rPr kumimoji="1" lang="en-US" altLang="zh-CN" sz="1600" dirty="0" err="1">
                <a:solidFill>
                  <a:prstClr val="black"/>
                </a:solidFill>
                <a:latin typeface="微软雅黑" panose="020B0503020204020204" pitchFamily="34" charset="-122"/>
                <a:ea typeface="微软雅黑" panose="020B0503020204020204" pitchFamily="34" charset="-122"/>
              </a:rPr>
              <a:t>policy_type</a:t>
            </a:r>
            <a:r>
              <a:rPr kumimoji="1" lang="zh-CN" altLang="en-US" sz="1600" dirty="0">
                <a:solidFill>
                  <a:prstClr val="black"/>
                </a:solidFill>
                <a:latin typeface="微软雅黑" panose="020B0503020204020204" pitchFamily="34" charset="-122"/>
                <a:ea typeface="微软雅黑" panose="020B0503020204020204" pitchFamily="34" charset="-122"/>
              </a:rPr>
              <a:t> </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zh-CN" altLang="en-US" sz="1600" dirty="0">
                <a:solidFill>
                  <a:prstClr val="black"/>
                </a:solidFill>
                <a:latin typeface="微软雅黑" panose="020B0503020204020204" pitchFamily="34" charset="-122"/>
                <a:ea typeface="微软雅黑" panose="020B0503020204020204" pitchFamily="34" charset="-122"/>
              </a:rPr>
              <a:t> </a:t>
            </a:r>
            <a:r>
              <a:rPr kumimoji="1" lang="en-US" altLang="zh-CN" sz="1600" dirty="0" err="1">
                <a:solidFill>
                  <a:prstClr val="black"/>
                </a:solidFill>
                <a:latin typeface="微软雅黑" panose="020B0503020204020204" pitchFamily="34" charset="-122"/>
                <a:ea typeface="微软雅黑" panose="020B0503020204020204" pitchFamily="34" charset="-122"/>
              </a:rPr>
              <a:t>lr</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en-US" altLang="zh-CN" sz="1600" dirty="0" err="1">
                <a:solidFill>
                  <a:prstClr val="black"/>
                </a:solidFill>
                <a:latin typeface="微软雅黑" panose="020B0503020204020204" pitchFamily="34" charset="-122"/>
                <a:ea typeface="微软雅黑" panose="020B0503020204020204" pitchFamily="34" charset="-122"/>
              </a:rPr>
              <a:t>dnn</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en-US" altLang="zh-CN" sz="1600" dirty="0" err="1">
                <a:solidFill>
                  <a:prstClr val="black"/>
                </a:solidFill>
                <a:latin typeface="微软雅黑" panose="020B0503020204020204" pitchFamily="34" charset="-122"/>
                <a:ea typeface="微软雅黑" panose="020B0503020204020204" pitchFamily="34" charset="-122"/>
              </a:rPr>
              <a:t>gbdt</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en-US" altLang="zh-CN" sz="1600" dirty="0" err="1">
                <a:solidFill>
                  <a:prstClr val="black"/>
                </a:solidFill>
                <a:latin typeface="微软雅黑" panose="020B0503020204020204" pitchFamily="34" charset="-122"/>
                <a:ea typeface="微软雅黑" panose="020B0503020204020204" pitchFamily="34" charset="-122"/>
              </a:rPr>
              <a:t>xgboost</a:t>
            </a:r>
            <a:endParaRPr kumimoji="1" lang="en-US" altLang="zh-CN" sz="1600" dirty="0">
              <a:solidFill>
                <a:prstClr val="black"/>
              </a:solidFill>
              <a:latin typeface="微软雅黑" panose="020B0503020204020204" pitchFamily="34" charset="-122"/>
              <a:ea typeface="微软雅黑" panose="020B0503020204020204" pitchFamily="34" charset="-122"/>
            </a:endParaRPr>
          </a:p>
          <a:p>
            <a:pPr marL="0" lvl="0" indent="0">
              <a:lnSpc>
                <a:spcPct val="150000"/>
              </a:lnSpc>
              <a:spcBef>
                <a:spcPts val="0"/>
              </a:spcBef>
              <a:buNone/>
            </a:pPr>
            <a:r>
              <a:rPr kumimoji="1"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rPr>
              <a:t>模型策略分</a:t>
            </a:r>
            <a:r>
              <a:rPr lang="en-GB" altLang="zh-CN" sz="1600" dirty="0" err="1">
                <a:solidFill>
                  <a:prstClr val="black"/>
                </a:solidFill>
              </a:rPr>
              <a:t>lr</a:t>
            </a:r>
            <a:r>
              <a:rPr lang="zh-CN" altLang="en-GB" sz="1600" dirty="0">
                <a:solidFill>
                  <a:prstClr val="black"/>
                </a:solidFill>
              </a:rPr>
              <a:t>、</a:t>
            </a:r>
            <a:r>
              <a:rPr lang="en-GB" altLang="zh-CN" sz="1600" dirty="0" err="1">
                <a:solidFill>
                  <a:prstClr val="black"/>
                </a:solidFill>
              </a:rPr>
              <a:t>dnn</a:t>
            </a:r>
            <a:r>
              <a:rPr lang="zh-CN" altLang="en-US" sz="1600" dirty="0">
                <a:solidFill>
                  <a:prstClr val="black"/>
                </a:solidFill>
              </a:rPr>
              <a:t>和</a:t>
            </a:r>
            <a:r>
              <a:rPr lang="en-GB" altLang="zh-CN" sz="1600" dirty="0" err="1">
                <a:solidFill>
                  <a:prstClr val="black"/>
                </a:solidFill>
              </a:rPr>
              <a:t>gbdt</a:t>
            </a:r>
            <a:r>
              <a:rPr lang="zh-CN" altLang="en-US" sz="1600" dirty="0">
                <a:solidFill>
                  <a:prstClr val="black"/>
                </a:solidFill>
              </a:rPr>
              <a:t>三种，同时模型策略内部也可以引用若干规则。</a:t>
            </a:r>
            <a:endParaRPr lang="en-GB" altLang="zh-CN" sz="1600" dirty="0">
              <a:solidFill>
                <a:prstClr val="black"/>
              </a:solidFill>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3162203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578206"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en-US" altLang="zh-CN" sz="1400" b="1" i="0" u="none" strike="noStrike" kern="1200" cap="none" spc="200" normalizeH="0" baseline="0" noProof="0" dirty="0" err="1">
                <a:ln>
                  <a:noFill/>
                </a:ln>
                <a:solidFill>
                  <a:prstClr val="black"/>
                </a:solidFill>
                <a:effectLst/>
                <a:uLnTx/>
                <a:uFillTx/>
                <a:latin typeface="微软雅黑"/>
                <a:ea typeface="微软雅黑"/>
                <a:cs typeface="微软雅黑"/>
              </a:rPr>
              <a:t>policy.conf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sp>
        <p:nvSpPr>
          <p:cNvPr id="6" name="内容占位符 2"/>
          <p:cNvSpPr>
            <a:spLocks noGrp="1"/>
          </p:cNvSpPr>
          <p:nvPr>
            <p:ph idx="1"/>
          </p:nvPr>
        </p:nvSpPr>
        <p:spPr>
          <a:xfrm>
            <a:off x="584608" y="1264011"/>
            <a:ext cx="4447495" cy="2981417"/>
          </a:xfrm>
        </p:spPr>
        <p:txBody>
          <a:bodyPr>
            <a:noAutofit/>
          </a:bodyPr>
          <a:lstStyle/>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policy_id</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policy_type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策略类型，</a:t>
            </a:r>
            <a:r>
              <a:rPr kumimoji="1" lang="en-US" altLang="zh-CN" sz="1200" dirty="0">
                <a:latin typeface="微软雅黑" panose="020B0503020204020204" pitchFamily="34" charset="-122"/>
                <a:ea typeface="微软雅黑" panose="020B0503020204020204" pitchFamily="34" charset="-122"/>
                <a:cs typeface="宋体" charset="0"/>
              </a:rPr>
              <a:t>rule/</a:t>
            </a:r>
            <a:r>
              <a:rPr kumimoji="1" lang="en-US" altLang="zh-CN" sz="1200" dirty="0" err="1">
                <a:latin typeface="微软雅黑" panose="020B0503020204020204" pitchFamily="34" charset="-122"/>
                <a:ea typeface="微软雅黑" panose="020B0503020204020204" pitchFamily="34" charset="-122"/>
                <a:cs typeface="宋体" charset="0"/>
              </a:rPr>
              <a:t>dnn</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gbdt</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lr</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rule_type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规则类型，包括</a:t>
            </a:r>
            <a:r>
              <a:rPr kumimoji="1" lang="en-US" altLang="zh-CN" sz="1200" dirty="0" err="1">
                <a:latin typeface="微软雅黑" panose="020B0503020204020204" pitchFamily="34" charset="-122"/>
                <a:ea typeface="微软雅黑" panose="020B0503020204020204" pitchFamily="34" charset="-122"/>
                <a:cs typeface="宋体" charset="0"/>
              </a:rPr>
              <a:t>boolean</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segment</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ratio</a:t>
            </a:r>
            <a:r>
              <a:rPr kumimoji="1" lang="zh-CN" altLang="en-US" sz="1200" dirty="0">
                <a:latin typeface="微软雅黑" panose="020B0503020204020204" pitchFamily="34" charset="-122"/>
                <a:ea typeface="微软雅黑" panose="020B0503020204020204" pitchFamily="34" charset="-122"/>
                <a:cs typeface="宋体" charset="0"/>
              </a:rPr>
              <a:t>等，决定特征值比较的规则</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significance</a:t>
            </a: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mu</a:t>
            </a: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sigma</a:t>
            </a: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p:txBody>
      </p:sp>
      <p:pic>
        <p:nvPicPr>
          <p:cNvPr id="2" name="图片 1">
            <a:extLst>
              <a:ext uri="{FF2B5EF4-FFF2-40B4-BE49-F238E27FC236}">
                <a16:creationId xmlns:a16="http://schemas.microsoft.com/office/drawing/2014/main" id="{83A20374-E326-1682-158E-441FCBFB8190}"/>
              </a:ext>
            </a:extLst>
          </p:cNvPr>
          <p:cNvPicPr>
            <a:picLocks noChangeAspect="1"/>
          </p:cNvPicPr>
          <p:nvPr/>
        </p:nvPicPr>
        <p:blipFill>
          <a:blip r:embed="rId4"/>
          <a:stretch>
            <a:fillRect/>
          </a:stretch>
        </p:blipFill>
        <p:spPr>
          <a:xfrm>
            <a:off x="5954890" y="1329235"/>
            <a:ext cx="2604502" cy="2485029"/>
          </a:xfrm>
          <a:prstGeom prst="rect">
            <a:avLst/>
          </a:prstGeom>
        </p:spPr>
      </p:pic>
    </p:spTree>
    <p:extLst>
      <p:ext uri="{BB962C8B-B14F-4D97-AF65-F5344CB8AC3E}">
        <p14:creationId xmlns:p14="http://schemas.microsoft.com/office/powerpoint/2010/main" val="3441180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536272"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en-US" altLang="zh-CN" sz="1400" b="1" i="0" u="none" strike="noStrike" kern="1200" cap="none" spc="200" normalizeH="0" baseline="0" noProof="0" dirty="0" err="1">
                <a:ln>
                  <a:noFill/>
                </a:ln>
                <a:solidFill>
                  <a:prstClr val="black"/>
                </a:solidFill>
                <a:effectLst/>
                <a:uLnTx/>
                <a:uFillTx/>
                <a:latin typeface="微软雅黑"/>
                <a:ea typeface="微软雅黑"/>
                <a:cs typeface="微软雅黑"/>
              </a:rPr>
              <a:t>judge.conf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sp>
        <p:nvSpPr>
          <p:cNvPr id="6" name="内容占位符 2"/>
          <p:cNvSpPr>
            <a:spLocks noGrp="1"/>
          </p:cNvSpPr>
          <p:nvPr>
            <p:ph idx="1"/>
          </p:nvPr>
        </p:nvSpPr>
        <p:spPr>
          <a:xfrm>
            <a:off x="480004" y="1255120"/>
            <a:ext cx="4480778" cy="2951120"/>
          </a:xfrm>
        </p:spPr>
        <p:txBody>
          <a:bodyPr>
            <a:noAutofit/>
          </a:bodyPr>
          <a:lstStyle/>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过滤层级内有多个策略，同一日志可能会命中多条策略。在</a:t>
            </a:r>
            <a:r>
              <a:rPr kumimoji="1" lang="en-US" altLang="zh-CN" sz="1600" dirty="0" err="1">
                <a:latin typeface="微软雅黑" panose="020B0503020204020204" pitchFamily="34" charset="-122"/>
                <a:ea typeface="微软雅黑" panose="020B0503020204020204" pitchFamily="34" charset="-122"/>
                <a:cs typeface="宋体" charset="0"/>
              </a:rPr>
              <a:t>LogMerger</a:t>
            </a:r>
            <a:r>
              <a:rPr kumimoji="1" lang="zh-CN" altLang="en-US" sz="1600" dirty="0">
                <a:latin typeface="微软雅黑" panose="020B0503020204020204" pitchFamily="34" charset="-122"/>
                <a:ea typeface="微软雅黑" panose="020B0503020204020204" pitchFamily="34" charset="-122"/>
                <a:cs typeface="宋体" charset="0"/>
              </a:rPr>
              <a:t>层会将多策略命中的结果进行加权求和</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权重</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，根据结果是否超出阈值 </a:t>
            </a:r>
            <a:r>
              <a:rPr kumimoji="1" lang="en-US" altLang="zh-CN" sz="1600" dirty="0">
                <a:latin typeface="微软雅黑" panose="020B0503020204020204" pitchFamily="34" charset="-122"/>
                <a:ea typeface="微软雅黑" panose="020B0503020204020204" pitchFamily="34" charset="-122"/>
                <a:cs typeface="宋体" charset="0"/>
              </a:rPr>
              <a:t>threshold</a:t>
            </a:r>
            <a:r>
              <a:rPr kumimoji="1" lang="zh-CN" altLang="en-US" sz="1600" dirty="0">
                <a:latin typeface="微软雅黑" panose="020B0503020204020204" pitchFamily="34" charset="-122"/>
                <a:ea typeface="微软雅黑" panose="020B0503020204020204" pitchFamily="34" charset="-122"/>
                <a:cs typeface="宋体" charset="0"/>
              </a:rPr>
              <a:t> 判定这条日志是否真正被过滤。</a:t>
            </a:r>
            <a:endParaRPr kumimoji="1" lang="en-US" altLang="zh-CN" sz="1600" dirty="0">
              <a:latin typeface="微软雅黑" panose="020B0503020204020204" pitchFamily="34" charset="-122"/>
              <a:ea typeface="微软雅黑" panose="020B0503020204020204" pitchFamily="34" charset="-122"/>
              <a:cs typeface="宋体" charset="0"/>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右图阈值为</a:t>
            </a:r>
            <a:r>
              <a:rPr kumimoji="1" lang="en-US" altLang="zh-CN" sz="1600" dirty="0">
                <a:latin typeface="微软雅黑" panose="020B0503020204020204" pitchFamily="34" charset="-122"/>
                <a:ea typeface="微软雅黑" panose="020B0503020204020204" pitchFamily="34" charset="-122"/>
                <a:cs typeface="宋体" charset="0"/>
              </a:rPr>
              <a:t>0</a:t>
            </a:r>
            <a:r>
              <a:rPr kumimoji="1" lang="zh-CN" altLang="en-US" sz="1600" dirty="0">
                <a:latin typeface="微软雅黑" panose="020B0503020204020204" pitchFamily="34" charset="-122"/>
                <a:ea typeface="微软雅黑" panose="020B0503020204020204" pitchFamily="34" charset="-122"/>
                <a:cs typeface="宋体" charset="0"/>
              </a:rPr>
              <a:t>，各策略权重均为</a:t>
            </a:r>
            <a:r>
              <a:rPr kumimoji="1" lang="en-US" altLang="zh-CN" sz="1600" dirty="0">
                <a:latin typeface="微软雅黑" panose="020B0503020204020204" pitchFamily="34" charset="-122"/>
                <a:ea typeface="微软雅黑" panose="020B0503020204020204" pitchFamily="34" charset="-122"/>
                <a:cs typeface="宋体" charset="0"/>
              </a:rPr>
              <a:t>1</a:t>
            </a:r>
            <a:r>
              <a:rPr kumimoji="1" lang="zh-CN" altLang="en-US" sz="1600" dirty="0">
                <a:latin typeface="微软雅黑" panose="020B0503020204020204" pitchFamily="34" charset="-122"/>
                <a:ea typeface="微软雅黑" panose="020B0503020204020204" pitchFamily="34" charset="-122"/>
                <a:cs typeface="宋体" charset="0"/>
              </a:rPr>
              <a:t>，即有一条命中就</a:t>
            </a:r>
            <a:r>
              <a:rPr kumimoji="1" lang="en-US" altLang="zh-CN" sz="1600" dirty="0">
                <a:latin typeface="微软雅黑" panose="020B0503020204020204" pitchFamily="34" charset="-122"/>
                <a:ea typeface="微软雅黑" panose="020B0503020204020204" pitchFamily="34" charset="-122"/>
                <a:cs typeface="宋体" charset="0"/>
              </a:rPr>
              <a:t>hint</a:t>
            </a:r>
          </a:p>
        </p:txBody>
      </p:sp>
      <p:grpSp>
        <p:nvGrpSpPr>
          <p:cNvPr id="9" name="组合 8">
            <a:extLst>
              <a:ext uri="{FF2B5EF4-FFF2-40B4-BE49-F238E27FC236}">
                <a16:creationId xmlns:a16="http://schemas.microsoft.com/office/drawing/2014/main" id="{E647F3DA-6277-E567-1D53-490704DCD60F}"/>
              </a:ext>
            </a:extLst>
          </p:cNvPr>
          <p:cNvGrpSpPr/>
          <p:nvPr/>
        </p:nvGrpSpPr>
        <p:grpSpPr>
          <a:xfrm>
            <a:off x="6078724" y="1136809"/>
            <a:ext cx="2307630" cy="2884851"/>
            <a:chOff x="6117913" y="1228315"/>
            <a:chExt cx="2307630" cy="2884851"/>
          </a:xfrm>
        </p:grpSpPr>
        <p:pic>
          <p:nvPicPr>
            <p:cNvPr id="3" name="图片 2">
              <a:extLst>
                <a:ext uri="{FF2B5EF4-FFF2-40B4-BE49-F238E27FC236}">
                  <a16:creationId xmlns:a16="http://schemas.microsoft.com/office/drawing/2014/main" id="{E71CE330-EE13-A959-3A09-80DD30162BAC}"/>
                </a:ext>
              </a:extLst>
            </p:cNvPr>
            <p:cNvPicPr>
              <a:picLocks noChangeAspect="1"/>
            </p:cNvPicPr>
            <p:nvPr/>
          </p:nvPicPr>
          <p:blipFill>
            <a:blip r:embed="rId4"/>
            <a:stretch>
              <a:fillRect/>
            </a:stretch>
          </p:blipFill>
          <p:spPr>
            <a:xfrm>
              <a:off x="6117914" y="1485033"/>
              <a:ext cx="2307629" cy="2628133"/>
            </a:xfrm>
            <a:prstGeom prst="rect">
              <a:avLst/>
            </a:prstGeom>
          </p:spPr>
        </p:pic>
        <p:pic>
          <p:nvPicPr>
            <p:cNvPr id="7" name="图片 6">
              <a:extLst>
                <a:ext uri="{FF2B5EF4-FFF2-40B4-BE49-F238E27FC236}">
                  <a16:creationId xmlns:a16="http://schemas.microsoft.com/office/drawing/2014/main" id="{8E86BF57-4B56-C468-8BE0-C17925018CF1}"/>
                </a:ext>
              </a:extLst>
            </p:cNvPr>
            <p:cNvPicPr>
              <a:picLocks noChangeAspect="1"/>
            </p:cNvPicPr>
            <p:nvPr/>
          </p:nvPicPr>
          <p:blipFill>
            <a:blip r:embed="rId5"/>
            <a:stretch>
              <a:fillRect/>
            </a:stretch>
          </p:blipFill>
          <p:spPr>
            <a:xfrm>
              <a:off x="6117913" y="1228315"/>
              <a:ext cx="2059435" cy="269688"/>
            </a:xfrm>
            <a:prstGeom prst="rect">
              <a:avLst/>
            </a:prstGeom>
          </p:spPr>
        </p:pic>
      </p:grpSp>
    </p:spTree>
    <p:extLst>
      <p:ext uri="{BB962C8B-B14F-4D97-AF65-F5344CB8AC3E}">
        <p14:creationId xmlns:p14="http://schemas.microsoft.com/office/powerpoint/2010/main" val="3848603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3335422" y="1777625"/>
            <a:ext cx="5126790" cy="533223"/>
          </a:xfrm>
          <a:prstGeom prst="rect">
            <a:avLst/>
          </a:prstGeom>
          <a:noFill/>
        </p:spPr>
        <p:txBody>
          <a:bodyPr wrap="square" rtlCol="0">
            <a:spAutoFit/>
          </a:bodyPr>
          <a:lstStyle/>
          <a:p>
            <a:pPr>
              <a:lnSpc>
                <a:spcPct val="110000"/>
              </a:lnSpc>
            </a:pPr>
            <a:r>
              <a:rPr kumimoji="1" lang="zh-CN" altLang="en-US" sz="2800" spc="540" dirty="0">
                <a:solidFill>
                  <a:schemeClr val="tx1">
                    <a:lumMod val="75000"/>
                    <a:lumOff val="25000"/>
                  </a:schemeClr>
                </a:solidFill>
                <a:latin typeface="微软雅黑"/>
                <a:ea typeface="微软雅黑"/>
                <a:cs typeface="微软雅黑"/>
              </a:rPr>
              <a:t>神盾策略管理平台</a:t>
            </a:r>
            <a:endParaRPr kumimoji="1" lang="zh-CN" altLang="en-US" sz="2400" spc="70" dirty="0">
              <a:solidFill>
                <a:schemeClr val="tx1">
                  <a:lumMod val="75000"/>
                  <a:lumOff val="25000"/>
                </a:schemeClr>
              </a:solidFill>
              <a:latin typeface="微软雅黑"/>
              <a:ea typeface="微软雅黑"/>
              <a:cs typeface="微软雅黑"/>
            </a:endParaRPr>
          </a:p>
        </p:txBody>
      </p:sp>
      <p:sp>
        <p:nvSpPr>
          <p:cNvPr id="3" name="文本框 2">
            <a:extLst>
              <a:ext uri="{FF2B5EF4-FFF2-40B4-BE49-F238E27FC236}">
                <a16:creationId xmlns:a16="http://schemas.microsoft.com/office/drawing/2014/main" id="{AACE40D2-9AE4-AD51-5779-4339D2D0CD0D}"/>
              </a:ext>
            </a:extLst>
          </p:cNvPr>
          <p:cNvSpPr txBox="1"/>
          <p:nvPr/>
        </p:nvSpPr>
        <p:spPr>
          <a:xfrm>
            <a:off x="4331255" y="2571750"/>
            <a:ext cx="2852140" cy="15315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600" dirty="0"/>
              <a:t>神盾平台简介</a:t>
            </a:r>
            <a:endParaRPr kumimoji="1" lang="en-US" altLang="zh-CN" sz="1600" dirty="0"/>
          </a:p>
          <a:p>
            <a:pPr marL="285750" indent="-285750">
              <a:lnSpc>
                <a:spcPct val="150000"/>
              </a:lnSpc>
              <a:buFont typeface="Arial" panose="020B0604020202020204" pitchFamily="34" charset="0"/>
              <a:buChar char="•"/>
            </a:pPr>
            <a:r>
              <a:rPr kumimoji="1" lang="zh-CN" altLang="en-US" sz="1600" dirty="0"/>
              <a:t>配置文件管理</a:t>
            </a:r>
            <a:endParaRPr kumimoji="1" lang="en-US" altLang="zh-CN" sz="1600" dirty="0"/>
          </a:p>
          <a:p>
            <a:pPr marL="285750" indent="-285750">
              <a:lnSpc>
                <a:spcPct val="150000"/>
              </a:lnSpc>
              <a:buFont typeface="Arial" panose="020B0604020202020204" pitchFamily="34" charset="0"/>
              <a:buChar char="•"/>
            </a:pPr>
            <a:r>
              <a:rPr kumimoji="1" lang="zh-CN" altLang="en-US" sz="1600" dirty="0"/>
              <a:t>策略流程上线</a:t>
            </a:r>
            <a:endParaRPr kumimoji="1" lang="en-US" altLang="zh-CN" sz="1600" dirty="0"/>
          </a:p>
          <a:p>
            <a:pPr marL="285750" indent="-285750">
              <a:lnSpc>
                <a:spcPct val="150000"/>
              </a:lnSpc>
              <a:buFont typeface="Arial" panose="020B0604020202020204" pitchFamily="34" charset="0"/>
              <a:buChar char="•"/>
            </a:pPr>
            <a:r>
              <a:rPr kumimoji="1" lang="zh-CN" altLang="en-US" sz="1600" dirty="0"/>
              <a:t>代码结构</a:t>
            </a:r>
            <a:endParaRPr kumimoji="1" lang="en-US" altLang="zh-CN"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策略平台</a:t>
            </a:r>
          </a:p>
        </p:txBody>
      </p:sp>
      <p:sp>
        <p:nvSpPr>
          <p:cNvPr id="5" name="文本框 4">
            <a:extLst>
              <a:ext uri="{FF2B5EF4-FFF2-40B4-BE49-F238E27FC236}">
                <a16:creationId xmlns:a16="http://schemas.microsoft.com/office/drawing/2014/main" id="{8B5A66D6-0DE9-0B4C-EF17-E8034987080B}"/>
              </a:ext>
            </a:extLst>
          </p:cNvPr>
          <p:cNvSpPr txBox="1"/>
          <p:nvPr/>
        </p:nvSpPr>
        <p:spPr>
          <a:xfrm>
            <a:off x="3204000" y="2304000"/>
            <a:ext cx="2204450" cy="369332"/>
          </a:xfrm>
          <a:prstGeom prst="rect">
            <a:avLst/>
          </a:prstGeom>
          <a:noFill/>
        </p:spPr>
        <p:txBody>
          <a:bodyPr wrap="none" rtlCol="0">
            <a:spAutoFit/>
          </a:bodyPr>
          <a:lstStyle/>
          <a:p>
            <a:pPr algn="ctr"/>
            <a:r>
              <a:rPr kumimoji="1" lang="en-US" altLang="zh-CN" dirty="0"/>
              <a:t>3.1</a:t>
            </a:r>
            <a:r>
              <a:rPr kumimoji="1" lang="zh-CN" altLang="en-US" dirty="0"/>
              <a:t>  神盾是做什么的</a:t>
            </a:r>
          </a:p>
        </p:txBody>
      </p:sp>
    </p:spTree>
    <p:extLst>
      <p:ext uri="{BB962C8B-B14F-4D97-AF65-F5344CB8AC3E}">
        <p14:creationId xmlns:p14="http://schemas.microsoft.com/office/powerpoint/2010/main" val="4213972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策略平台</a:t>
            </a:r>
          </a:p>
        </p:txBody>
      </p:sp>
      <p:pic>
        <p:nvPicPr>
          <p:cNvPr id="3" name="图片 2">
            <a:extLst>
              <a:ext uri="{FF2B5EF4-FFF2-40B4-BE49-F238E27FC236}">
                <a16:creationId xmlns:a16="http://schemas.microsoft.com/office/drawing/2014/main" id="{2ECD7032-9533-8F79-5F1C-9BDB053839C8}"/>
              </a:ext>
            </a:extLst>
          </p:cNvPr>
          <p:cNvPicPr>
            <a:picLocks noChangeAspect="1"/>
          </p:cNvPicPr>
          <p:nvPr/>
        </p:nvPicPr>
        <p:blipFill>
          <a:blip r:embed="rId4"/>
          <a:stretch>
            <a:fillRect/>
          </a:stretch>
        </p:blipFill>
        <p:spPr>
          <a:xfrm>
            <a:off x="1139683" y="1060812"/>
            <a:ext cx="6864633" cy="3328307"/>
          </a:xfrm>
          <a:prstGeom prst="rect">
            <a:avLst/>
          </a:prstGeom>
        </p:spPr>
      </p:pic>
    </p:spTree>
    <p:extLst>
      <p:ext uri="{BB962C8B-B14F-4D97-AF65-F5344CB8AC3E}">
        <p14:creationId xmlns:p14="http://schemas.microsoft.com/office/powerpoint/2010/main" val="3084093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配置文件化</a:t>
            </a:r>
          </a:p>
        </p:txBody>
      </p:sp>
      <p:pic>
        <p:nvPicPr>
          <p:cNvPr id="2" name="图片 1">
            <a:extLst>
              <a:ext uri="{FF2B5EF4-FFF2-40B4-BE49-F238E27FC236}">
                <a16:creationId xmlns:a16="http://schemas.microsoft.com/office/drawing/2014/main" id="{FB61FE30-1C43-936D-BF0F-22575B7699FE}"/>
              </a:ext>
            </a:extLst>
          </p:cNvPr>
          <p:cNvPicPr>
            <a:picLocks noChangeAspect="1"/>
          </p:cNvPicPr>
          <p:nvPr/>
        </p:nvPicPr>
        <p:blipFill>
          <a:blip r:embed="rId4"/>
          <a:stretch>
            <a:fillRect/>
          </a:stretch>
        </p:blipFill>
        <p:spPr>
          <a:xfrm>
            <a:off x="757283" y="881935"/>
            <a:ext cx="7629434" cy="3857340"/>
          </a:xfrm>
          <a:prstGeom prst="rect">
            <a:avLst/>
          </a:prstGeom>
        </p:spPr>
      </p:pic>
    </p:spTree>
    <p:extLst>
      <p:ext uri="{BB962C8B-B14F-4D97-AF65-F5344CB8AC3E}">
        <p14:creationId xmlns:p14="http://schemas.microsoft.com/office/powerpoint/2010/main" val="4279915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配置文件管理</a:t>
            </a:r>
          </a:p>
        </p:txBody>
      </p:sp>
      <p:sp>
        <p:nvSpPr>
          <p:cNvPr id="3" name="文本框 2">
            <a:extLst>
              <a:ext uri="{FF2B5EF4-FFF2-40B4-BE49-F238E27FC236}">
                <a16:creationId xmlns:a16="http://schemas.microsoft.com/office/drawing/2014/main" id="{49F60DDA-E8D7-643D-BDEA-19003ED3FDAE}"/>
              </a:ext>
            </a:extLst>
          </p:cNvPr>
          <p:cNvSpPr txBox="1"/>
          <p:nvPr/>
        </p:nvSpPr>
        <p:spPr>
          <a:xfrm>
            <a:off x="2739097" y="1771344"/>
            <a:ext cx="1967205" cy="369332"/>
          </a:xfrm>
          <a:prstGeom prst="rect">
            <a:avLst/>
          </a:prstGeom>
          <a:noFill/>
        </p:spPr>
        <p:txBody>
          <a:bodyPr wrap="none" rtlCol="0">
            <a:spAutoFit/>
          </a:bodyPr>
          <a:lstStyle/>
          <a:p>
            <a:r>
              <a:rPr kumimoji="1" lang="en-US" altLang="zh-CN" dirty="0"/>
              <a:t>3.2</a:t>
            </a:r>
            <a:r>
              <a:rPr kumimoji="1" lang="zh-CN" altLang="en-US" dirty="0"/>
              <a:t>  配置文件管理</a:t>
            </a:r>
          </a:p>
        </p:txBody>
      </p:sp>
      <p:sp>
        <p:nvSpPr>
          <p:cNvPr id="5" name="文本框 4">
            <a:extLst>
              <a:ext uri="{FF2B5EF4-FFF2-40B4-BE49-F238E27FC236}">
                <a16:creationId xmlns:a16="http://schemas.microsoft.com/office/drawing/2014/main" id="{089BF4E8-C769-3754-0681-C9E72687E1A2}"/>
              </a:ext>
            </a:extLst>
          </p:cNvPr>
          <p:cNvSpPr txBox="1"/>
          <p:nvPr/>
        </p:nvSpPr>
        <p:spPr>
          <a:xfrm>
            <a:off x="3126629" y="2276441"/>
            <a:ext cx="1906291" cy="369332"/>
          </a:xfrm>
          <a:prstGeom prst="rect">
            <a:avLst/>
          </a:prstGeom>
          <a:noFill/>
        </p:spPr>
        <p:txBody>
          <a:bodyPr wrap="none" rtlCol="0">
            <a:spAutoFit/>
          </a:bodyPr>
          <a:lstStyle/>
          <a:p>
            <a:r>
              <a:rPr kumimoji="1" lang="en-US" altLang="zh-CN" dirty="0"/>
              <a:t>①</a:t>
            </a:r>
            <a:r>
              <a:rPr kumimoji="1" lang="zh-CN" altLang="en-US" dirty="0"/>
              <a:t>  文件构建托管</a:t>
            </a:r>
          </a:p>
        </p:txBody>
      </p:sp>
      <p:sp>
        <p:nvSpPr>
          <p:cNvPr id="6" name="文本框 5">
            <a:extLst>
              <a:ext uri="{FF2B5EF4-FFF2-40B4-BE49-F238E27FC236}">
                <a16:creationId xmlns:a16="http://schemas.microsoft.com/office/drawing/2014/main" id="{587ECC3C-3490-F29B-8590-31EAC09BCBFB}"/>
              </a:ext>
            </a:extLst>
          </p:cNvPr>
          <p:cNvSpPr txBox="1"/>
          <p:nvPr/>
        </p:nvSpPr>
        <p:spPr>
          <a:xfrm>
            <a:off x="3156428" y="2781538"/>
            <a:ext cx="2598788" cy="369332"/>
          </a:xfrm>
          <a:prstGeom prst="rect">
            <a:avLst/>
          </a:prstGeom>
          <a:noFill/>
        </p:spPr>
        <p:txBody>
          <a:bodyPr wrap="none" rtlCol="0">
            <a:spAutoFit/>
          </a:bodyPr>
          <a:lstStyle/>
          <a:p>
            <a:r>
              <a:rPr kumimoji="1" lang="en-US" altLang="zh-CN" dirty="0"/>
              <a:t>②</a:t>
            </a:r>
            <a:r>
              <a:rPr kumimoji="1" lang="zh-CN" altLang="en-US" dirty="0"/>
              <a:t>  文件版本和记录管理</a:t>
            </a:r>
          </a:p>
        </p:txBody>
      </p:sp>
    </p:spTree>
    <p:extLst>
      <p:ext uri="{BB962C8B-B14F-4D97-AF65-F5344CB8AC3E}">
        <p14:creationId xmlns:p14="http://schemas.microsoft.com/office/powerpoint/2010/main" val="3282771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数据表设计</a:t>
            </a:r>
          </a:p>
        </p:txBody>
      </p:sp>
      <p:pic>
        <p:nvPicPr>
          <p:cNvPr id="2" name="图片 1">
            <a:extLst>
              <a:ext uri="{FF2B5EF4-FFF2-40B4-BE49-F238E27FC236}">
                <a16:creationId xmlns:a16="http://schemas.microsoft.com/office/drawing/2014/main" id="{39E9AECC-3EAF-5ED8-62A5-EEB757D5A81F}"/>
              </a:ext>
            </a:extLst>
          </p:cNvPr>
          <p:cNvPicPr>
            <a:picLocks noChangeAspect="1"/>
          </p:cNvPicPr>
          <p:nvPr/>
        </p:nvPicPr>
        <p:blipFill>
          <a:blip r:embed="rId4"/>
          <a:stretch>
            <a:fillRect/>
          </a:stretch>
        </p:blipFill>
        <p:spPr>
          <a:xfrm>
            <a:off x="1346177" y="791837"/>
            <a:ext cx="5695021" cy="3947438"/>
          </a:xfrm>
          <a:prstGeom prst="rect">
            <a:avLst/>
          </a:prstGeom>
        </p:spPr>
      </p:pic>
    </p:spTree>
    <p:extLst>
      <p:ext uri="{BB962C8B-B14F-4D97-AF65-F5344CB8AC3E}">
        <p14:creationId xmlns:p14="http://schemas.microsoft.com/office/powerpoint/2010/main" val="11279849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配置文件管理</a:t>
            </a:r>
          </a:p>
        </p:txBody>
      </p:sp>
      <p:pic>
        <p:nvPicPr>
          <p:cNvPr id="2" name="图片 1">
            <a:extLst>
              <a:ext uri="{FF2B5EF4-FFF2-40B4-BE49-F238E27FC236}">
                <a16:creationId xmlns:a16="http://schemas.microsoft.com/office/drawing/2014/main" id="{5CC3751D-E44F-08AC-84FB-D6175426ADDB}"/>
              </a:ext>
            </a:extLst>
          </p:cNvPr>
          <p:cNvPicPr>
            <a:picLocks noChangeAspect="1"/>
          </p:cNvPicPr>
          <p:nvPr/>
        </p:nvPicPr>
        <p:blipFill>
          <a:blip r:embed="rId4"/>
          <a:stretch>
            <a:fillRect/>
          </a:stretch>
        </p:blipFill>
        <p:spPr>
          <a:xfrm>
            <a:off x="917961" y="968529"/>
            <a:ext cx="6609112" cy="3576283"/>
          </a:xfrm>
          <a:prstGeom prst="rect">
            <a:avLst/>
          </a:prstGeom>
        </p:spPr>
      </p:pic>
    </p:spTree>
    <p:extLst>
      <p:ext uri="{BB962C8B-B14F-4D97-AF65-F5344CB8AC3E}">
        <p14:creationId xmlns:p14="http://schemas.microsoft.com/office/powerpoint/2010/main" val="2318564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文件构建</a:t>
            </a:r>
          </a:p>
        </p:txBody>
      </p:sp>
      <p:pic>
        <p:nvPicPr>
          <p:cNvPr id="6" name="图片 5">
            <a:extLst>
              <a:ext uri="{FF2B5EF4-FFF2-40B4-BE49-F238E27FC236}">
                <a16:creationId xmlns:a16="http://schemas.microsoft.com/office/drawing/2014/main" id="{95407D91-4AFA-16CD-FCDF-358E77E06708}"/>
              </a:ext>
            </a:extLst>
          </p:cNvPr>
          <p:cNvPicPr>
            <a:picLocks noChangeAspect="1"/>
          </p:cNvPicPr>
          <p:nvPr/>
        </p:nvPicPr>
        <p:blipFill>
          <a:blip r:embed="rId4"/>
          <a:stretch>
            <a:fillRect/>
          </a:stretch>
        </p:blipFill>
        <p:spPr>
          <a:xfrm>
            <a:off x="246723" y="1004621"/>
            <a:ext cx="8650553" cy="3134258"/>
          </a:xfrm>
          <a:prstGeom prst="rect">
            <a:avLst/>
          </a:prstGeom>
        </p:spPr>
      </p:pic>
    </p:spTree>
    <p:extLst>
      <p:ext uri="{BB962C8B-B14F-4D97-AF65-F5344CB8AC3E}">
        <p14:creationId xmlns:p14="http://schemas.microsoft.com/office/powerpoint/2010/main" val="3054395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文件构建</a:t>
            </a:r>
          </a:p>
        </p:txBody>
      </p:sp>
      <p:pic>
        <p:nvPicPr>
          <p:cNvPr id="3" name="图片 2">
            <a:extLst>
              <a:ext uri="{FF2B5EF4-FFF2-40B4-BE49-F238E27FC236}">
                <a16:creationId xmlns:a16="http://schemas.microsoft.com/office/drawing/2014/main" id="{DBE5BED8-36ED-6084-7CB4-7E28D07E78C2}"/>
              </a:ext>
            </a:extLst>
          </p:cNvPr>
          <p:cNvPicPr>
            <a:picLocks noChangeAspect="1"/>
          </p:cNvPicPr>
          <p:nvPr/>
        </p:nvPicPr>
        <p:blipFill>
          <a:blip r:embed="rId4"/>
          <a:stretch>
            <a:fillRect/>
          </a:stretch>
        </p:blipFill>
        <p:spPr>
          <a:xfrm>
            <a:off x="248194" y="999046"/>
            <a:ext cx="8647611" cy="3558688"/>
          </a:xfrm>
          <a:prstGeom prst="rect">
            <a:avLst/>
          </a:prstGeom>
        </p:spPr>
      </p:pic>
    </p:spTree>
    <p:extLst>
      <p:ext uri="{BB962C8B-B14F-4D97-AF65-F5344CB8AC3E}">
        <p14:creationId xmlns:p14="http://schemas.microsoft.com/office/powerpoint/2010/main" val="3465844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432350"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版本和记录管理</a:t>
            </a:r>
          </a:p>
        </p:txBody>
      </p:sp>
      <p:sp>
        <p:nvSpPr>
          <p:cNvPr id="6" name="文本框 5">
            <a:extLst>
              <a:ext uri="{FF2B5EF4-FFF2-40B4-BE49-F238E27FC236}">
                <a16:creationId xmlns:a16="http://schemas.microsoft.com/office/drawing/2014/main" id="{C335302D-D3DE-2FD3-B83F-A697E8004B73}"/>
              </a:ext>
            </a:extLst>
          </p:cNvPr>
          <p:cNvSpPr txBox="1"/>
          <p:nvPr/>
        </p:nvSpPr>
        <p:spPr>
          <a:xfrm>
            <a:off x="753858" y="1043277"/>
            <a:ext cx="7636283" cy="3293209"/>
          </a:xfrm>
          <a:prstGeom prst="rect">
            <a:avLst/>
          </a:prstGeom>
          <a:noFill/>
        </p:spPr>
        <p:txBody>
          <a:bodyPr wrap="square">
            <a:spAutoFit/>
          </a:bodyPr>
          <a:lstStyle/>
          <a:p>
            <a:pPr algn="l"/>
            <a:r>
              <a:rPr lang="zh-CN" altLang="en-US" sz="1600" dirty="0">
                <a:effectLst/>
              </a:rPr>
              <a:t>再以特征为例：</a:t>
            </a:r>
          </a:p>
          <a:p>
            <a:pPr algn="l">
              <a:buFont typeface="+mj-lt"/>
              <a:buAutoNum type="arabicPeriod"/>
            </a:pPr>
            <a:r>
              <a:rPr lang="zh-CN" altLang="en-US" sz="1600" dirty="0">
                <a:effectLst/>
              </a:rPr>
              <a:t>默认导入或第一次版本为</a:t>
            </a:r>
            <a:r>
              <a:rPr lang="en-US" altLang="zh-CN" sz="1600" dirty="0">
                <a:effectLst/>
              </a:rPr>
              <a:t>0 </a:t>
            </a:r>
            <a:r>
              <a:rPr lang="zh-CN" altLang="en-US" sz="1600" dirty="0">
                <a:effectLst/>
              </a:rPr>
              <a:t>，例如特征</a:t>
            </a:r>
            <a:r>
              <a:rPr lang="en" altLang="zh-CN" sz="1600" dirty="0">
                <a:effectLst/>
              </a:rPr>
              <a:t>id</a:t>
            </a:r>
            <a:r>
              <a:rPr lang="zh-CN" altLang="en-US" sz="1600" dirty="0">
                <a:effectLst/>
              </a:rPr>
              <a:t>为</a:t>
            </a:r>
            <a:r>
              <a:rPr lang="en-US" altLang="zh-CN" sz="1600" dirty="0">
                <a:effectLst/>
              </a:rPr>
              <a:t>10000</a:t>
            </a:r>
            <a:r>
              <a:rPr lang="zh-CN" altLang="en-US" sz="1600" dirty="0">
                <a:effectLst/>
              </a:rPr>
              <a:t>的特征， 线上空间内： </a:t>
            </a:r>
            <a:r>
              <a:rPr lang="en" altLang="zh-CN" sz="1600" dirty="0">
                <a:effectLst/>
              </a:rPr>
              <a:t>id = 1</a:t>
            </a:r>
            <a:r>
              <a:rPr lang="zh-CN" altLang="en" sz="1600" dirty="0">
                <a:effectLst/>
              </a:rPr>
              <a:t>， </a:t>
            </a:r>
            <a:r>
              <a:rPr lang="en" altLang="zh-CN" sz="1600" dirty="0" err="1">
                <a:effectLst/>
              </a:rPr>
              <a:t>feature_id</a:t>
            </a:r>
            <a:r>
              <a:rPr lang="en" altLang="zh-CN" sz="1600" dirty="0">
                <a:effectLst/>
              </a:rPr>
              <a:t> = 10000, version = 0 </a:t>
            </a:r>
            <a:r>
              <a:rPr lang="zh-CN" altLang="en" sz="1600" dirty="0">
                <a:effectLst/>
              </a:rPr>
              <a:t>，</a:t>
            </a:r>
            <a:r>
              <a:rPr lang="en" altLang="zh-CN" sz="1600" dirty="0">
                <a:effectLst/>
              </a:rPr>
              <a:t>scope = </a:t>
            </a:r>
            <a:r>
              <a:rPr lang="en-US" altLang="zh-CN" sz="1600" dirty="0">
                <a:effectLst/>
              </a:rPr>
              <a:t>1</a:t>
            </a:r>
            <a:r>
              <a:rPr lang="en" altLang="zh-CN" sz="1600" dirty="0">
                <a:effectLst/>
              </a:rPr>
              <a:t> , status = online , content = "before”</a:t>
            </a:r>
          </a:p>
          <a:p>
            <a:pPr algn="l">
              <a:buFont typeface="+mj-lt"/>
              <a:buAutoNum type="arabicPeriod"/>
            </a:pPr>
            <a:endParaRPr lang="en" altLang="zh-CN" sz="1600" dirty="0">
              <a:effectLst/>
            </a:endParaRPr>
          </a:p>
          <a:p>
            <a:pPr algn="l">
              <a:buFont typeface="+mj-lt"/>
              <a:buAutoNum type="arabicPeriod"/>
            </a:pPr>
            <a:r>
              <a:rPr lang="zh-CN" altLang="en-US" sz="1600" dirty="0">
                <a:effectLst/>
              </a:rPr>
              <a:t>某同学修改该特征，则 新增一条数据 ，个人空间： </a:t>
            </a:r>
            <a:r>
              <a:rPr lang="en" altLang="zh-CN" sz="1600" dirty="0">
                <a:effectLst/>
              </a:rPr>
              <a:t>id = 2</a:t>
            </a:r>
            <a:r>
              <a:rPr lang="zh-CN" altLang="en" sz="1600" dirty="0">
                <a:effectLst/>
              </a:rPr>
              <a:t>， </a:t>
            </a:r>
            <a:r>
              <a:rPr lang="en" altLang="zh-CN" sz="1600" dirty="0" err="1">
                <a:effectLst/>
              </a:rPr>
              <a:t>feature_id</a:t>
            </a:r>
            <a:r>
              <a:rPr lang="en" altLang="zh-CN" sz="1600" dirty="0">
                <a:effectLst/>
              </a:rPr>
              <a:t> = 10000, version = 1 </a:t>
            </a:r>
            <a:r>
              <a:rPr lang="zh-CN" altLang="en" sz="1600" dirty="0">
                <a:effectLst/>
              </a:rPr>
              <a:t>，</a:t>
            </a:r>
            <a:r>
              <a:rPr lang="en" altLang="zh-CN" sz="1600" dirty="0">
                <a:effectLst/>
              </a:rPr>
              <a:t>scope = </a:t>
            </a:r>
            <a:r>
              <a:rPr lang="en-US" altLang="zh-CN" sz="1600" dirty="0">
                <a:effectLst/>
              </a:rPr>
              <a:t>0</a:t>
            </a:r>
            <a:r>
              <a:rPr lang="en" altLang="zh-CN" sz="1600" dirty="0">
                <a:effectLst/>
              </a:rPr>
              <a:t>, status = editing , content = “after” </a:t>
            </a:r>
            <a:r>
              <a:rPr lang="en-US" altLang="zh-CN" sz="1600" dirty="0"/>
              <a:t>;</a:t>
            </a:r>
            <a:r>
              <a:rPr lang="zh-CN" altLang="en-US" sz="1600" dirty="0"/>
              <a:t> </a:t>
            </a:r>
            <a:r>
              <a:rPr lang="zh-CN" altLang="en-US" sz="1600" dirty="0">
                <a:effectLst/>
              </a:rPr>
              <a:t>线上空间数据仍不变。</a:t>
            </a:r>
            <a:endParaRPr lang="en-US" altLang="zh-CN" sz="1600" dirty="0">
              <a:effectLst/>
            </a:endParaRPr>
          </a:p>
          <a:p>
            <a:pPr algn="l">
              <a:buFont typeface="+mj-lt"/>
              <a:buAutoNum type="arabicPeriod"/>
            </a:pPr>
            <a:endParaRPr lang="zh-CN" altLang="en-US" sz="1600" dirty="0">
              <a:effectLst/>
            </a:endParaRPr>
          </a:p>
          <a:p>
            <a:pPr algn="l">
              <a:buFont typeface="+mj-lt"/>
              <a:buAutoNum type="arabicPeriod"/>
            </a:pPr>
            <a:r>
              <a:rPr lang="zh-CN" altLang="en-US" sz="1600" dirty="0">
                <a:effectLst/>
              </a:rPr>
              <a:t>策略同学上线，先将线上空间特征保存到历史记录表中： </a:t>
            </a:r>
            <a:r>
              <a:rPr lang="en" altLang="zh-CN" sz="1600" dirty="0">
                <a:effectLst/>
              </a:rPr>
              <a:t>history </a:t>
            </a:r>
            <a:r>
              <a:rPr lang="zh-CN" altLang="en" sz="1600" dirty="0">
                <a:effectLst/>
              </a:rPr>
              <a:t>： </a:t>
            </a:r>
            <a:r>
              <a:rPr lang="en" altLang="zh-CN" sz="1600" dirty="0">
                <a:effectLst/>
              </a:rPr>
              <a:t>id= 1 </a:t>
            </a:r>
            <a:r>
              <a:rPr lang="zh-CN" altLang="en" sz="1600" dirty="0">
                <a:effectLst/>
              </a:rPr>
              <a:t>，</a:t>
            </a:r>
            <a:r>
              <a:rPr lang="en" altLang="zh-CN" sz="1600" dirty="0" err="1">
                <a:effectLst/>
              </a:rPr>
              <a:t>feature_id</a:t>
            </a:r>
            <a:r>
              <a:rPr lang="en" altLang="zh-CN" sz="1600" dirty="0">
                <a:effectLst/>
              </a:rPr>
              <a:t> = 10000 </a:t>
            </a:r>
            <a:r>
              <a:rPr lang="zh-CN" altLang="en" sz="1600" dirty="0">
                <a:effectLst/>
              </a:rPr>
              <a:t>，</a:t>
            </a:r>
            <a:r>
              <a:rPr lang="en" altLang="zh-CN" sz="1600" dirty="0">
                <a:effectLst/>
              </a:rPr>
              <a:t>content = ”</a:t>
            </a:r>
            <a:r>
              <a:rPr lang="en" altLang="zh-CN" sz="1600" dirty="0" err="1">
                <a:effectLst/>
              </a:rPr>
              <a:t>json</a:t>
            </a:r>
            <a:r>
              <a:rPr lang="zh-CN" altLang="en-US" sz="1600" dirty="0">
                <a:effectLst/>
              </a:rPr>
              <a:t>数据“ ，</a:t>
            </a:r>
            <a:r>
              <a:rPr lang="en" altLang="zh-CN" sz="1600" dirty="0">
                <a:effectLst/>
              </a:rPr>
              <a:t>version = 0</a:t>
            </a:r>
          </a:p>
          <a:p>
            <a:pPr algn="l">
              <a:buFont typeface="+mj-lt"/>
              <a:buAutoNum type="arabicPeriod"/>
            </a:pPr>
            <a:endParaRPr lang="en" altLang="zh-CN" sz="1600" dirty="0">
              <a:effectLst/>
            </a:endParaRPr>
          </a:p>
          <a:p>
            <a:pPr algn="l">
              <a:buFont typeface="+mj-lt"/>
              <a:buAutoNum type="arabicPeriod"/>
            </a:pPr>
            <a:r>
              <a:rPr lang="zh-CN" altLang="en-US" sz="1600" dirty="0">
                <a:effectLst/>
              </a:rPr>
              <a:t>再将个人空间内数据覆盖到线上空间</a:t>
            </a:r>
            <a:r>
              <a:rPr lang="en-US" altLang="zh-CN" sz="1600" dirty="0">
                <a:effectLst/>
              </a:rPr>
              <a:t>(</a:t>
            </a:r>
            <a:r>
              <a:rPr lang="zh-CN" altLang="en-US" sz="1600" dirty="0">
                <a:effectLst/>
              </a:rPr>
              <a:t>部分字段除外</a:t>
            </a:r>
            <a:r>
              <a:rPr lang="en-US" altLang="zh-CN" sz="1600" dirty="0">
                <a:effectLst/>
              </a:rPr>
              <a:t>)</a:t>
            </a:r>
            <a:r>
              <a:rPr lang="zh-CN" altLang="en-US" sz="1600" dirty="0">
                <a:effectLst/>
              </a:rPr>
              <a:t>，线上 ： </a:t>
            </a:r>
            <a:r>
              <a:rPr lang="en" altLang="zh-CN" sz="1600" dirty="0">
                <a:effectLst/>
              </a:rPr>
              <a:t>id = 1</a:t>
            </a:r>
            <a:r>
              <a:rPr lang="zh-CN" altLang="en" sz="1600" dirty="0">
                <a:effectLst/>
              </a:rPr>
              <a:t>， </a:t>
            </a:r>
            <a:r>
              <a:rPr lang="en" altLang="zh-CN" sz="1600" dirty="0" err="1">
                <a:effectLst/>
              </a:rPr>
              <a:t>feature_id</a:t>
            </a:r>
            <a:r>
              <a:rPr lang="en" altLang="zh-CN" sz="1600" dirty="0">
                <a:effectLst/>
              </a:rPr>
              <a:t> = 10000, version = 1 </a:t>
            </a:r>
            <a:r>
              <a:rPr lang="zh-CN" altLang="en" sz="1600" dirty="0">
                <a:effectLst/>
              </a:rPr>
              <a:t>，</a:t>
            </a:r>
            <a:r>
              <a:rPr lang="en" altLang="zh-CN" sz="1600" dirty="0">
                <a:effectLst/>
              </a:rPr>
              <a:t>scope = </a:t>
            </a:r>
            <a:r>
              <a:rPr lang="en-US" altLang="zh-CN" sz="1600" dirty="0">
                <a:effectLst/>
              </a:rPr>
              <a:t>1</a:t>
            </a:r>
            <a:r>
              <a:rPr lang="en" altLang="zh-CN" sz="1600" dirty="0">
                <a:effectLst/>
              </a:rPr>
              <a:t> , status = online , content = “after” </a:t>
            </a:r>
            <a:r>
              <a:rPr lang="zh-CN" altLang="en-US" sz="1600" dirty="0">
                <a:effectLst/>
              </a:rPr>
              <a:t>；个人空间： </a:t>
            </a:r>
            <a:r>
              <a:rPr lang="en" altLang="zh-CN" sz="1600" dirty="0">
                <a:effectLst/>
              </a:rPr>
              <a:t>id = 2</a:t>
            </a:r>
            <a:r>
              <a:rPr lang="zh-CN" altLang="en" sz="1600" dirty="0">
                <a:effectLst/>
              </a:rPr>
              <a:t>， </a:t>
            </a:r>
            <a:r>
              <a:rPr lang="en" altLang="zh-CN" sz="1600" dirty="0" err="1">
                <a:effectLst/>
              </a:rPr>
              <a:t>feature_id</a:t>
            </a:r>
            <a:r>
              <a:rPr lang="en" altLang="zh-CN" sz="1600" dirty="0">
                <a:effectLst/>
              </a:rPr>
              <a:t> = 10000, version = 1 </a:t>
            </a:r>
            <a:r>
              <a:rPr lang="zh-CN" altLang="en" sz="1600" dirty="0">
                <a:effectLst/>
              </a:rPr>
              <a:t>，</a:t>
            </a:r>
            <a:r>
              <a:rPr lang="en" altLang="zh-CN" sz="1600" dirty="0">
                <a:effectLst/>
              </a:rPr>
              <a:t>scope = </a:t>
            </a:r>
            <a:r>
              <a:rPr lang="en-US" altLang="zh-CN" sz="1600" dirty="0">
                <a:effectLst/>
              </a:rPr>
              <a:t>0</a:t>
            </a:r>
            <a:r>
              <a:rPr lang="en" altLang="zh-CN" sz="1600" dirty="0">
                <a:effectLst/>
              </a:rPr>
              <a:t>, status = updated , content = "after" </a:t>
            </a:r>
          </a:p>
        </p:txBody>
      </p:sp>
    </p:spTree>
    <p:extLst>
      <p:ext uri="{BB962C8B-B14F-4D97-AF65-F5344CB8AC3E}">
        <p14:creationId xmlns:p14="http://schemas.microsoft.com/office/powerpoint/2010/main" val="2659814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3327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策略流程</a:t>
            </a:r>
          </a:p>
        </p:txBody>
      </p:sp>
      <p:sp>
        <p:nvSpPr>
          <p:cNvPr id="2" name="文本框 1">
            <a:extLst>
              <a:ext uri="{FF2B5EF4-FFF2-40B4-BE49-F238E27FC236}">
                <a16:creationId xmlns:a16="http://schemas.microsoft.com/office/drawing/2014/main" id="{B6D3413A-157A-8BA3-1028-C0AB1A1723E4}"/>
              </a:ext>
            </a:extLst>
          </p:cNvPr>
          <p:cNvSpPr txBox="1"/>
          <p:nvPr/>
        </p:nvSpPr>
        <p:spPr>
          <a:xfrm>
            <a:off x="3030583" y="2202418"/>
            <a:ext cx="1914307" cy="369332"/>
          </a:xfrm>
          <a:prstGeom prst="rect">
            <a:avLst/>
          </a:prstGeom>
          <a:noFill/>
        </p:spPr>
        <p:txBody>
          <a:bodyPr wrap="none" rtlCol="0">
            <a:spAutoFit/>
          </a:bodyPr>
          <a:lstStyle/>
          <a:p>
            <a:r>
              <a:rPr kumimoji="1" lang="en-US" altLang="zh-CN" dirty="0"/>
              <a:t>3.2</a:t>
            </a:r>
            <a:r>
              <a:rPr kumimoji="1" lang="zh-CN" altLang="en-US" dirty="0"/>
              <a:t> 策略流程管理</a:t>
            </a:r>
          </a:p>
        </p:txBody>
      </p:sp>
    </p:spTree>
    <p:extLst>
      <p:ext uri="{BB962C8B-B14F-4D97-AF65-F5344CB8AC3E}">
        <p14:creationId xmlns:p14="http://schemas.microsoft.com/office/powerpoint/2010/main" val="3719293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3327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策略流程</a:t>
            </a:r>
          </a:p>
        </p:txBody>
      </p:sp>
      <p:pic>
        <p:nvPicPr>
          <p:cNvPr id="8" name="图片 7">
            <a:extLst>
              <a:ext uri="{FF2B5EF4-FFF2-40B4-BE49-F238E27FC236}">
                <a16:creationId xmlns:a16="http://schemas.microsoft.com/office/drawing/2014/main" id="{6ACDC76C-11CD-3340-F373-69763FEC9057}"/>
              </a:ext>
            </a:extLst>
          </p:cNvPr>
          <p:cNvPicPr>
            <a:picLocks noChangeAspect="1"/>
          </p:cNvPicPr>
          <p:nvPr/>
        </p:nvPicPr>
        <p:blipFill>
          <a:blip r:embed="rId4"/>
          <a:stretch>
            <a:fillRect/>
          </a:stretch>
        </p:blipFill>
        <p:spPr>
          <a:xfrm>
            <a:off x="914400" y="817527"/>
            <a:ext cx="6759159" cy="4093094"/>
          </a:xfrm>
          <a:prstGeom prst="rect">
            <a:avLst/>
          </a:prstGeom>
        </p:spPr>
      </p:pic>
    </p:spTree>
    <p:extLst>
      <p:ext uri="{BB962C8B-B14F-4D97-AF65-F5344CB8AC3E}">
        <p14:creationId xmlns:p14="http://schemas.microsoft.com/office/powerpoint/2010/main" val="1817481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代码详解</a:t>
            </a:r>
          </a:p>
        </p:txBody>
      </p:sp>
      <p:pic>
        <p:nvPicPr>
          <p:cNvPr id="3" name="图片 2">
            <a:extLst>
              <a:ext uri="{FF2B5EF4-FFF2-40B4-BE49-F238E27FC236}">
                <a16:creationId xmlns:a16="http://schemas.microsoft.com/office/drawing/2014/main" id="{89C71260-BA05-A70D-35B2-3B2B2C848BF7}"/>
              </a:ext>
            </a:extLst>
          </p:cNvPr>
          <p:cNvPicPr>
            <a:picLocks noChangeAspect="1"/>
          </p:cNvPicPr>
          <p:nvPr/>
        </p:nvPicPr>
        <p:blipFill>
          <a:blip r:embed="rId4"/>
          <a:stretch>
            <a:fillRect/>
          </a:stretch>
        </p:blipFill>
        <p:spPr>
          <a:xfrm>
            <a:off x="969010" y="765478"/>
            <a:ext cx="5902053" cy="4159659"/>
          </a:xfrm>
          <a:prstGeom prst="rect">
            <a:avLst/>
          </a:prstGeom>
        </p:spPr>
      </p:pic>
    </p:spTree>
    <p:extLst>
      <p:ext uri="{BB962C8B-B14F-4D97-AF65-F5344CB8AC3E}">
        <p14:creationId xmlns:p14="http://schemas.microsoft.com/office/powerpoint/2010/main" val="4195383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3327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策略流程</a:t>
            </a:r>
          </a:p>
        </p:txBody>
      </p:sp>
      <p:sp>
        <p:nvSpPr>
          <p:cNvPr id="2" name="文本框 1">
            <a:extLst>
              <a:ext uri="{FF2B5EF4-FFF2-40B4-BE49-F238E27FC236}">
                <a16:creationId xmlns:a16="http://schemas.microsoft.com/office/drawing/2014/main" id="{B6D3413A-157A-8BA3-1028-C0AB1A1723E4}"/>
              </a:ext>
            </a:extLst>
          </p:cNvPr>
          <p:cNvSpPr txBox="1"/>
          <p:nvPr/>
        </p:nvSpPr>
        <p:spPr>
          <a:xfrm>
            <a:off x="3265714" y="2090057"/>
            <a:ext cx="1452642" cy="369332"/>
          </a:xfrm>
          <a:prstGeom prst="rect">
            <a:avLst/>
          </a:prstGeom>
          <a:noFill/>
        </p:spPr>
        <p:txBody>
          <a:bodyPr wrap="none" rtlCol="0">
            <a:spAutoFit/>
          </a:bodyPr>
          <a:lstStyle/>
          <a:p>
            <a:r>
              <a:rPr kumimoji="1" lang="en-US" altLang="zh-CN" dirty="0"/>
              <a:t>3.3</a:t>
            </a:r>
            <a:r>
              <a:rPr kumimoji="1" lang="zh-CN" altLang="en-US" dirty="0"/>
              <a:t> 代码结构</a:t>
            </a:r>
          </a:p>
        </p:txBody>
      </p:sp>
    </p:spTree>
    <p:extLst>
      <p:ext uri="{BB962C8B-B14F-4D97-AF65-F5344CB8AC3E}">
        <p14:creationId xmlns:p14="http://schemas.microsoft.com/office/powerpoint/2010/main" val="772999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54158" y="404225"/>
            <a:ext cx="2751074" cy="361253"/>
          </a:xfrm>
          <a:prstGeom prst="rect">
            <a:avLst/>
          </a:prstGeom>
          <a:noFill/>
        </p:spPr>
        <p:txBody>
          <a:bodyPr wrap="none" rtlCol="0">
            <a:spAutoFit/>
          </a:bodyPr>
          <a:lstStyle/>
          <a:p>
            <a:pPr algn="dist">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代码结构</a:t>
            </a:r>
          </a:p>
        </p:txBody>
      </p:sp>
      <p:pic>
        <p:nvPicPr>
          <p:cNvPr id="7" name="图片 6">
            <a:extLst>
              <a:ext uri="{FF2B5EF4-FFF2-40B4-BE49-F238E27FC236}">
                <a16:creationId xmlns:a16="http://schemas.microsoft.com/office/drawing/2014/main" id="{C753BA2E-15FA-789D-3BAC-AA4B0911F16E}"/>
              </a:ext>
            </a:extLst>
          </p:cNvPr>
          <p:cNvPicPr>
            <a:picLocks noChangeAspect="1"/>
          </p:cNvPicPr>
          <p:nvPr/>
        </p:nvPicPr>
        <p:blipFill>
          <a:blip r:embed="rId4"/>
          <a:stretch>
            <a:fillRect/>
          </a:stretch>
        </p:blipFill>
        <p:spPr>
          <a:xfrm>
            <a:off x="942647" y="840375"/>
            <a:ext cx="7048500" cy="3898900"/>
          </a:xfrm>
          <a:prstGeom prst="rect">
            <a:avLst/>
          </a:prstGeom>
        </p:spPr>
      </p:pic>
    </p:spTree>
    <p:extLst>
      <p:ext uri="{BB962C8B-B14F-4D97-AF65-F5344CB8AC3E}">
        <p14:creationId xmlns:p14="http://schemas.microsoft.com/office/powerpoint/2010/main" val="14418944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19176" y="404225"/>
            <a:ext cx="3284474" cy="361253"/>
          </a:xfrm>
          <a:prstGeom prst="rect">
            <a:avLst/>
          </a:prstGeom>
          <a:noFill/>
        </p:spPr>
        <p:txBody>
          <a:bodyPr wrap="square" rtlCol="0">
            <a:spAutoFit/>
          </a:bodyPr>
          <a:lstStyle/>
          <a:p>
            <a:pPr algn="dist">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新建空间代码</a:t>
            </a:r>
          </a:p>
        </p:txBody>
      </p:sp>
      <p:pic>
        <p:nvPicPr>
          <p:cNvPr id="3" name="图片 2">
            <a:extLst>
              <a:ext uri="{FF2B5EF4-FFF2-40B4-BE49-F238E27FC236}">
                <a16:creationId xmlns:a16="http://schemas.microsoft.com/office/drawing/2014/main" id="{76F66CF2-801F-E4E3-14C4-BB6B3C112857}"/>
              </a:ext>
            </a:extLst>
          </p:cNvPr>
          <p:cNvPicPr>
            <a:picLocks noChangeAspect="1"/>
          </p:cNvPicPr>
          <p:nvPr/>
        </p:nvPicPr>
        <p:blipFill>
          <a:blip r:embed="rId4"/>
          <a:stretch>
            <a:fillRect/>
          </a:stretch>
        </p:blipFill>
        <p:spPr>
          <a:xfrm>
            <a:off x="901700" y="840375"/>
            <a:ext cx="7340600" cy="3898900"/>
          </a:xfrm>
          <a:prstGeom prst="rect">
            <a:avLst/>
          </a:prstGeom>
        </p:spPr>
      </p:pic>
    </p:spTree>
    <p:extLst>
      <p:ext uri="{BB962C8B-B14F-4D97-AF65-F5344CB8AC3E}">
        <p14:creationId xmlns:p14="http://schemas.microsoft.com/office/powerpoint/2010/main" val="9553397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02246" y="405544"/>
            <a:ext cx="3178740" cy="361253"/>
          </a:xfrm>
          <a:prstGeom prst="rect">
            <a:avLst/>
          </a:prstGeom>
          <a:noFill/>
        </p:spPr>
        <p:txBody>
          <a:bodyPr wrap="square" rtlCol="0">
            <a:spAutoFit/>
          </a:bodyPr>
          <a:lstStyle/>
          <a:p>
            <a:pPr algn="dist">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新建策略代码</a:t>
            </a:r>
          </a:p>
        </p:txBody>
      </p:sp>
      <p:pic>
        <p:nvPicPr>
          <p:cNvPr id="2" name="图片 1">
            <a:extLst>
              <a:ext uri="{FF2B5EF4-FFF2-40B4-BE49-F238E27FC236}">
                <a16:creationId xmlns:a16="http://schemas.microsoft.com/office/drawing/2014/main" id="{5BD3D55E-815D-C98D-8021-2C9DA71A571F}"/>
              </a:ext>
            </a:extLst>
          </p:cNvPr>
          <p:cNvPicPr>
            <a:picLocks noChangeAspect="1"/>
          </p:cNvPicPr>
          <p:nvPr/>
        </p:nvPicPr>
        <p:blipFill>
          <a:blip r:embed="rId4"/>
          <a:stretch>
            <a:fillRect/>
          </a:stretch>
        </p:blipFill>
        <p:spPr>
          <a:xfrm>
            <a:off x="802246" y="864439"/>
            <a:ext cx="7083502" cy="3728159"/>
          </a:xfrm>
          <a:prstGeom prst="rect">
            <a:avLst/>
          </a:prstGeom>
        </p:spPr>
      </p:pic>
    </p:spTree>
    <p:extLst>
      <p:ext uri="{BB962C8B-B14F-4D97-AF65-F5344CB8AC3E}">
        <p14:creationId xmlns:p14="http://schemas.microsoft.com/office/powerpoint/2010/main" val="18849999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428F2-10AA-2D9E-3FBB-6135266E2A84}"/>
              </a:ext>
            </a:extLst>
          </p:cNvPr>
          <p:cNvSpPr>
            <a:spLocks noGrp="1"/>
          </p:cNvSpPr>
          <p:nvPr>
            <p:ph type="title"/>
          </p:nvPr>
        </p:nvSpPr>
        <p:spPr>
          <a:xfrm>
            <a:off x="457200" y="1714500"/>
            <a:ext cx="8229600" cy="857250"/>
          </a:xfrm>
        </p:spPr>
        <p:txBody>
          <a:bodyPr/>
          <a:lstStyle/>
          <a:p>
            <a:r>
              <a:rPr kumimoji="1" lang="zh-CN" altLang="en-US" dirty="0"/>
              <a:t>附录</a:t>
            </a:r>
          </a:p>
        </p:txBody>
      </p:sp>
    </p:spTree>
    <p:extLst>
      <p:ext uri="{BB962C8B-B14F-4D97-AF65-F5344CB8AC3E}">
        <p14:creationId xmlns:p14="http://schemas.microsoft.com/office/powerpoint/2010/main" val="20093846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1210588"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p>
        </p:txBody>
      </p:sp>
      <p:sp>
        <p:nvSpPr>
          <p:cNvPr id="6" name="内容占位符 2"/>
          <p:cNvSpPr>
            <a:spLocks noGrp="1"/>
          </p:cNvSpPr>
          <p:nvPr>
            <p:ph idx="1"/>
          </p:nvPr>
        </p:nvSpPr>
        <p:spPr>
          <a:xfrm>
            <a:off x="480105" y="1002754"/>
            <a:ext cx="4447495" cy="3874046"/>
          </a:xfrm>
        </p:spPr>
        <p:txBody>
          <a:bodyPr>
            <a:noAutofit/>
          </a:bodyPr>
          <a:lstStyle/>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policy_type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策略类型，</a:t>
            </a:r>
            <a:r>
              <a:rPr kumimoji="1" lang="en-US" altLang="zh-CN" sz="1200" dirty="0">
                <a:latin typeface="微软雅黑" panose="020B0503020204020204" pitchFamily="34" charset="-122"/>
                <a:ea typeface="微软雅黑" panose="020B0503020204020204" pitchFamily="34" charset="-122"/>
                <a:cs typeface="宋体" charset="0"/>
              </a:rPr>
              <a:t>rule/</a:t>
            </a:r>
            <a:r>
              <a:rPr kumimoji="1" lang="en-US" altLang="zh-CN" sz="1200" dirty="0" err="1">
                <a:latin typeface="微软雅黑" panose="020B0503020204020204" pitchFamily="34" charset="-122"/>
                <a:ea typeface="微软雅黑" panose="020B0503020204020204" pitchFamily="34" charset="-122"/>
                <a:cs typeface="宋体" charset="0"/>
              </a:rPr>
              <a:t>dnn</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gbdt</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lr</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rule_type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规则类型，包括</a:t>
            </a:r>
            <a:r>
              <a:rPr kumimoji="1" lang="en-US" altLang="zh-CN" sz="1200" dirty="0" err="1">
                <a:latin typeface="微软雅黑" panose="020B0503020204020204" pitchFamily="34" charset="-122"/>
                <a:ea typeface="微软雅黑" panose="020B0503020204020204" pitchFamily="34" charset="-122"/>
                <a:cs typeface="宋体" charset="0"/>
              </a:rPr>
              <a:t>boolean</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segment</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ratio</a:t>
            </a:r>
            <a:r>
              <a:rPr kumimoji="1" lang="zh-CN" altLang="en-US" sz="1200" dirty="0">
                <a:latin typeface="微软雅黑" panose="020B0503020204020204" pitchFamily="34" charset="-122"/>
                <a:ea typeface="微软雅黑" panose="020B0503020204020204" pitchFamily="34" charset="-122"/>
                <a:cs typeface="宋体" charset="0"/>
              </a:rPr>
              <a:t>等，决定特征值比较的规则</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feature_id</a:t>
            </a:r>
            <a:r>
              <a:rPr kumimoji="1" lang="zh-CN" altLang="en-US" sz="1200" dirty="0">
                <a:latin typeface="微软雅黑" panose="020B0503020204020204" pitchFamily="34" charset="-122"/>
                <a:ea typeface="微软雅黑" panose="020B0503020204020204" pitchFamily="34" charset="-122"/>
                <a:cs typeface="宋体" charset="0"/>
              </a:rPr>
              <a:t>：特征编号，一般与策略名相同</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feature_type</a:t>
            </a:r>
            <a:r>
              <a:rPr kumimoji="1" lang="zh-CN" altLang="en-US" sz="1200" dirty="0">
                <a:latin typeface="微软雅黑" panose="020B0503020204020204" pitchFamily="34" charset="-122"/>
                <a:ea typeface="微软雅黑" panose="020B0503020204020204" pitchFamily="34" charset="-122"/>
                <a:cs typeface="宋体" charset="0"/>
              </a:rPr>
              <a:t>：特征类型</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view_level</a:t>
            </a:r>
            <a:r>
              <a:rPr kumimoji="1" lang="zh-CN" altLang="en-US" sz="1200" dirty="0">
                <a:latin typeface="微软雅黑" panose="020B0503020204020204" pitchFamily="34" charset="-122"/>
                <a:ea typeface="微软雅黑" panose="020B0503020204020204" pitchFamily="34" charset="-122"/>
                <a:cs typeface="宋体" charset="0"/>
              </a:rPr>
              <a:t>：维度级别</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view</a:t>
            </a:r>
            <a:r>
              <a:rPr kumimoji="1" lang="zh-CN" altLang="en-US" sz="1200" dirty="0">
                <a:latin typeface="微软雅黑" panose="020B0503020204020204" pitchFamily="34" charset="-122"/>
                <a:ea typeface="微软雅黑" panose="020B0503020204020204" pitchFamily="34" charset="-122"/>
                <a:cs typeface="宋体" charset="0"/>
              </a:rPr>
              <a:t>：维度，统计的粒度</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window_type</a:t>
            </a:r>
            <a:r>
              <a:rPr kumimoji="1" lang="zh-CN" altLang="en-US" sz="1200" dirty="0">
                <a:latin typeface="微软雅黑" panose="020B0503020204020204" pitchFamily="34" charset="-122"/>
                <a:ea typeface="微软雅黑" panose="020B0503020204020204" pitchFamily="34" charset="-122"/>
                <a:cs typeface="宋体" charset="0"/>
              </a:rPr>
              <a:t>：窗口类型，流量</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pv</a:t>
            </a:r>
            <a:r>
              <a:rPr kumimoji="1" lang="en-US" altLang="zh-CN" sz="1200" dirty="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或时间</a:t>
            </a:r>
            <a:r>
              <a:rPr kumimoji="1" lang="en-US" altLang="zh-CN" sz="1200" dirty="0">
                <a:latin typeface="微软雅黑" panose="020B0503020204020204" pitchFamily="34" charset="-122"/>
                <a:ea typeface="微软雅黑" panose="020B0503020204020204" pitchFamily="34" charset="-122"/>
                <a:cs typeface="宋体" charset="0"/>
              </a:rPr>
              <a:t>(time)</a:t>
            </a: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window_length</a:t>
            </a:r>
            <a:r>
              <a:rPr kumimoji="1" lang="zh-CN" altLang="en-US" sz="1200" dirty="0">
                <a:latin typeface="微软雅黑" panose="020B0503020204020204" pitchFamily="34" charset="-122"/>
                <a:ea typeface="微软雅黑" panose="020B0503020204020204" pitchFamily="34" charset="-122"/>
                <a:cs typeface="宋体" charset="0"/>
              </a:rPr>
              <a:t>：段长</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step_length</a:t>
            </a:r>
            <a:r>
              <a:rPr kumimoji="1" lang="zh-CN" altLang="en-US" sz="1200" dirty="0">
                <a:latin typeface="微软雅黑" panose="020B0503020204020204" pitchFamily="34" charset="-122"/>
                <a:ea typeface="微软雅黑" panose="020B0503020204020204" pitchFamily="34" charset="-122"/>
                <a:cs typeface="宋体" charset="0"/>
              </a:rPr>
              <a:t>：步长</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file_key</a:t>
            </a:r>
            <a:r>
              <a:rPr kumimoji="1" lang="zh-CN" altLang="en-US" sz="1200" dirty="0">
                <a:latin typeface="微软雅黑" panose="020B0503020204020204" pitchFamily="34" charset="-122"/>
                <a:ea typeface="微软雅黑" panose="020B0503020204020204" pitchFamily="34" charset="-122"/>
                <a:cs typeface="宋体" charset="0"/>
              </a:rPr>
              <a:t>：文件</a:t>
            </a:r>
            <a:r>
              <a:rPr kumimoji="1" lang="en-US" altLang="zh-CN" sz="1200" dirty="0">
                <a:latin typeface="微软雅黑" panose="020B0503020204020204" pitchFamily="34" charset="-122"/>
                <a:ea typeface="微软雅黑" panose="020B0503020204020204" pitchFamily="34" charset="-122"/>
                <a:cs typeface="宋体" charset="0"/>
              </a:rPr>
              <a:t>key</a:t>
            </a:r>
            <a:r>
              <a:rPr kumimoji="1" lang="zh-CN" altLang="en-US" sz="1200" dirty="0">
                <a:latin typeface="微软雅黑" panose="020B0503020204020204" pitchFamily="34" charset="-122"/>
                <a:ea typeface="微软雅黑" panose="020B0503020204020204" pitchFamily="34" charset="-122"/>
                <a:cs typeface="宋体" charset="0"/>
              </a:rPr>
              <a:t>，用于取出词表文件实际路径</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file_type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文件类型</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p:txBody>
      </p:sp>
      <p:pic>
        <p:nvPicPr>
          <p:cNvPr id="3" name="图片 2"/>
          <p:cNvPicPr>
            <a:picLocks noChangeAspect="1"/>
          </p:cNvPicPr>
          <p:nvPr/>
        </p:nvPicPr>
        <p:blipFill>
          <a:blip r:embed="rId4"/>
          <a:stretch>
            <a:fillRect/>
          </a:stretch>
        </p:blipFill>
        <p:spPr>
          <a:xfrm>
            <a:off x="4927600" y="928978"/>
            <a:ext cx="3667005" cy="4021598"/>
          </a:xfrm>
          <a:prstGeom prst="rect">
            <a:avLst/>
          </a:prstGeom>
        </p:spPr>
      </p:pic>
      <p:sp>
        <p:nvSpPr>
          <p:cNvPr id="7" name="矩形 6"/>
          <p:cNvSpPr/>
          <p:nvPr/>
        </p:nvSpPr>
        <p:spPr>
          <a:xfrm>
            <a:off x="5954711" y="928977"/>
            <a:ext cx="2584449" cy="118431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矩形 8"/>
          <p:cNvSpPr/>
          <p:nvPr/>
        </p:nvSpPr>
        <p:spPr>
          <a:xfrm>
            <a:off x="5976937" y="2167312"/>
            <a:ext cx="2562225" cy="184271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矩形 15"/>
          <p:cNvSpPr/>
          <p:nvPr/>
        </p:nvSpPr>
        <p:spPr>
          <a:xfrm>
            <a:off x="5976936" y="4064042"/>
            <a:ext cx="2562225" cy="88653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文本框 16"/>
          <p:cNvSpPr txBox="1"/>
          <p:nvPr/>
        </p:nvSpPr>
        <p:spPr>
          <a:xfrm>
            <a:off x="7345995" y="928978"/>
            <a:ext cx="134767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mn-cs"/>
              </a:rPr>
              <a:t>policy.conf</a:t>
            </a:r>
            <a:endPar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7345995" y="2146767"/>
            <a:ext cx="134767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mn-cs"/>
              </a:rPr>
              <a:t>feature.conf</a:t>
            </a:r>
            <a:endPar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7467915" y="4057326"/>
            <a:ext cx="134767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mn-cs"/>
              </a:rPr>
              <a:t>dict.conf</a:t>
            </a:r>
            <a:endPar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0333995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处理空间</a:t>
            </a:r>
          </a:p>
        </p:txBody>
      </p:sp>
      <p:sp>
        <p:nvSpPr>
          <p:cNvPr id="6" name="内容占位符 2"/>
          <p:cNvSpPr>
            <a:spLocks noGrp="1"/>
          </p:cNvSpPr>
          <p:nvPr>
            <p:ph idx="1"/>
          </p:nvPr>
        </p:nvSpPr>
        <p:spPr>
          <a:xfrm>
            <a:off x="480105" y="1002754"/>
            <a:ext cx="8170409" cy="3540218"/>
          </a:xfrm>
        </p:spPr>
        <p:txBody>
          <a:bodyPr>
            <a:normAutofit/>
          </a:bodyPr>
          <a:lstStyle/>
          <a:p>
            <a:pPr marL="0" indent="0">
              <a:lnSpc>
                <a:spcPct val="150000"/>
              </a:lnSpc>
              <a:buNone/>
            </a:pPr>
            <a:r>
              <a:rPr kumimoji="1" lang="zh-CN" altLang="en-US" sz="1800" dirty="0">
                <a:latin typeface="微软雅黑" panose="020B0503020204020204" pitchFamily="34" charset="-122"/>
                <a:ea typeface="微软雅黑" panose="020B0503020204020204" pitchFamily="34" charset="-122"/>
              </a:rPr>
              <a:t>条件表达式</a:t>
            </a:r>
            <a:endParaRPr kumimoji="1" lang="en-US" altLang="zh-CN" sz="1800" dirty="0">
              <a:latin typeface="微软雅黑" panose="020B0503020204020204" pitchFamily="34" charset="-122"/>
              <a:ea typeface="微软雅黑" panose="020B0503020204020204" pitchFamily="34" charset="-122"/>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每一条表达式都要使用中括号包含，比如</a:t>
            </a:r>
            <a:r>
              <a:rPr kumimoji="1" lang="en-US" altLang="zh-CN" sz="1600" dirty="0">
                <a:latin typeface="微软雅黑" panose="020B0503020204020204" pitchFamily="34" charset="-122"/>
                <a:ea typeface="微软雅黑" panose="020B0503020204020204" pitchFamily="34" charset="-122"/>
                <a:cs typeface="宋体" charset="0"/>
              </a:rPr>
              <a:t>['</a:t>
            </a:r>
            <a:r>
              <a:rPr kumimoji="1" lang="en-US" altLang="zh-CN" sz="1600" dirty="0" err="1">
                <a:latin typeface="微软雅黑" panose="020B0503020204020204" pitchFamily="34" charset="-122"/>
                <a:ea typeface="微软雅黑" panose="020B0503020204020204" pitchFamily="34" charset="-122"/>
                <a:cs typeface="宋体" charset="0"/>
              </a:rPr>
              <a:t>cmatch</a:t>
            </a:r>
            <a:r>
              <a:rPr kumimoji="1" lang="en-US" altLang="zh-CN" sz="1600" dirty="0">
                <a:latin typeface="微软雅黑" panose="020B0503020204020204" pitchFamily="34" charset="-122"/>
                <a:ea typeface="微软雅黑" panose="020B0503020204020204" pitchFamily="34" charset="-122"/>
                <a:cs typeface="宋体" charset="0"/>
              </a:rPr>
              <a:t>':='225']</a:t>
            </a:r>
            <a:endParaRPr kumimoji="1" lang="zh-CN" altLang="en-US" sz="1600" dirty="0">
              <a:latin typeface="微软雅黑" panose="020B0503020204020204" pitchFamily="34" charset="-122"/>
              <a:ea typeface="微软雅黑" panose="020B0503020204020204" pitchFamily="34" charset="-122"/>
              <a:cs typeface="宋体" charset="0"/>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表达式分为左值、运算符和右值</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部分无</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这三种对象，左值一般是日志的字段名，右值为常量，通过运算符判断两者之间需要进行什么计算</a:t>
            </a:r>
          </a:p>
          <a:p>
            <a:pPr>
              <a:lnSpc>
                <a:spcPct val="150000"/>
              </a:lnSpc>
              <a:spcAft>
                <a:spcPts val="600"/>
              </a:spcAft>
              <a:buSzPct val="120000"/>
            </a:pP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直接连接</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表示与，</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表示或，或比与优先级小</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400" dirty="0">
                <a:latin typeface="微软雅黑" panose="020B0503020204020204" pitchFamily="34" charset="-122"/>
                <a:ea typeface="微软雅黑" panose="020B0503020204020204" pitchFamily="34" charset="-122"/>
                <a:cs typeface="宋体" charset="0"/>
              </a:rPr>
              <a:t>care : ['refer':='http://m.baidu.com/']['</a:t>
            </a:r>
            <a:r>
              <a:rPr kumimoji="1" lang="en-US" altLang="zh-CN" sz="1400" dirty="0" err="1">
                <a:latin typeface="微软雅黑" panose="020B0503020204020204" pitchFamily="34" charset="-122"/>
                <a:ea typeface="微软雅黑" panose="020B0503020204020204" pitchFamily="34" charset="-122"/>
                <a:cs typeface="宋体" charset="0"/>
              </a:rPr>
              <a:t>pn</a:t>
            </a:r>
            <a:r>
              <a:rPr kumimoji="1" lang="en-US" altLang="zh-CN" sz="1400" dirty="0">
                <a:latin typeface="微软雅黑" panose="020B0503020204020204" pitchFamily="34" charset="-122"/>
                <a:ea typeface="微软雅黑" panose="020B0503020204020204" pitchFamily="34" charset="-122"/>
                <a:cs typeface="宋体" charset="0"/>
              </a:rPr>
              <a:t>'!='0’]</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14088538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处理空间</a:t>
            </a:r>
          </a:p>
        </p:txBody>
      </p:sp>
      <p:graphicFrame>
        <p:nvGraphicFramePr>
          <p:cNvPr id="7" name="表格 6"/>
          <p:cNvGraphicFramePr>
            <a:graphicFrameLocks noGrp="1"/>
          </p:cNvGraphicFramePr>
          <p:nvPr/>
        </p:nvGraphicFramePr>
        <p:xfrm>
          <a:off x="752468" y="928915"/>
          <a:ext cx="7705952" cy="3768974"/>
        </p:xfrm>
        <a:graphic>
          <a:graphicData uri="http://schemas.openxmlformats.org/drawingml/2006/table">
            <a:tbl>
              <a:tblPr firstRow="1" bandRow="1">
                <a:tableStyleId>{5C22544A-7EE6-4342-B048-85BDC9FD1C3A}</a:tableStyleId>
              </a:tblPr>
              <a:tblGrid>
                <a:gridCol w="1046541">
                  <a:extLst>
                    <a:ext uri="{9D8B030D-6E8A-4147-A177-3AD203B41FA5}">
                      <a16:colId xmlns:a16="http://schemas.microsoft.com/office/drawing/2014/main" val="20000"/>
                    </a:ext>
                  </a:extLst>
                </a:gridCol>
                <a:gridCol w="2611533">
                  <a:extLst>
                    <a:ext uri="{9D8B030D-6E8A-4147-A177-3AD203B41FA5}">
                      <a16:colId xmlns:a16="http://schemas.microsoft.com/office/drawing/2014/main" val="20001"/>
                    </a:ext>
                  </a:extLst>
                </a:gridCol>
                <a:gridCol w="4047878">
                  <a:extLst>
                    <a:ext uri="{9D8B030D-6E8A-4147-A177-3AD203B41FA5}">
                      <a16:colId xmlns:a16="http://schemas.microsoft.com/office/drawing/2014/main" val="20002"/>
                    </a:ext>
                  </a:extLst>
                </a:gridCol>
              </a:tblGrid>
              <a:tr h="251945">
                <a:tc>
                  <a:txBody>
                    <a:bodyPr/>
                    <a:lstStyle/>
                    <a:p>
                      <a:pPr algn="l">
                        <a:lnSpc>
                          <a:spcPct val="100000"/>
                        </a:lnSpc>
                        <a:spcBef>
                          <a:spcPts val="0"/>
                        </a:spcBef>
                        <a:spcAft>
                          <a:spcPts val="0"/>
                        </a:spcAft>
                      </a:pPr>
                      <a:r>
                        <a:rPr lang="zh-CN" sz="1600" kern="100" dirty="0">
                          <a:effectLst/>
                          <a:latin typeface="+mj-lt"/>
                          <a:ea typeface="宋体" charset="0"/>
                          <a:cs typeface="宋体" charset="0"/>
                        </a:rPr>
                        <a:t>运算符</a:t>
                      </a:r>
                    </a:p>
                  </a:txBody>
                  <a:tcPr marL="82564" marR="82564" marT="0" marB="0" anchor="ctr">
                    <a:solidFill>
                      <a:srgbClr val="1E10D9"/>
                    </a:solidFill>
                  </a:tcPr>
                </a:tc>
                <a:tc>
                  <a:txBody>
                    <a:bodyPr/>
                    <a:lstStyle/>
                    <a:p>
                      <a:pPr algn="l">
                        <a:lnSpc>
                          <a:spcPct val="100000"/>
                        </a:lnSpc>
                        <a:spcBef>
                          <a:spcPts val="0"/>
                        </a:spcBef>
                        <a:spcAft>
                          <a:spcPts val="0"/>
                        </a:spcAft>
                      </a:pPr>
                      <a:r>
                        <a:rPr lang="zh-CN" sz="1600" kern="100" dirty="0">
                          <a:effectLst/>
                          <a:latin typeface="+mj-lt"/>
                          <a:ea typeface="宋体" charset="0"/>
                          <a:cs typeface="宋体" charset="0"/>
                        </a:rPr>
                        <a:t>示例</a:t>
                      </a:r>
                    </a:p>
                  </a:txBody>
                  <a:tcPr marL="82564" marR="82564" marT="0" marB="0" anchor="ctr">
                    <a:solidFill>
                      <a:srgbClr val="1E10D9"/>
                    </a:solidFill>
                  </a:tcPr>
                </a:tc>
                <a:tc>
                  <a:txBody>
                    <a:bodyPr/>
                    <a:lstStyle/>
                    <a:p>
                      <a:pPr algn="l">
                        <a:lnSpc>
                          <a:spcPct val="100000"/>
                        </a:lnSpc>
                        <a:spcBef>
                          <a:spcPts val="0"/>
                        </a:spcBef>
                        <a:spcAft>
                          <a:spcPts val="0"/>
                        </a:spcAft>
                      </a:pPr>
                      <a:r>
                        <a:rPr lang="zh-CN" sz="1600" kern="100" dirty="0">
                          <a:effectLst/>
                          <a:latin typeface="+mj-lt"/>
                          <a:ea typeface="宋体" charset="0"/>
                          <a:cs typeface="宋体" charset="0"/>
                        </a:rPr>
                        <a:t>含义</a:t>
                      </a:r>
                    </a:p>
                  </a:txBody>
                  <a:tcPr marL="82564" marR="82564" marT="0" marB="0" anchor="ctr">
                    <a:solidFill>
                      <a:srgbClr val="1E10D9"/>
                    </a:solidFill>
                  </a:tcPr>
                </a:tc>
                <a:extLst>
                  <a:ext uri="{0D108BD9-81ED-4DB2-BD59-A6C34878D82A}">
                    <a16:rowId xmlns:a16="http://schemas.microsoft.com/office/drawing/2014/main" val="10000"/>
                  </a:ext>
                </a:extLst>
              </a:tr>
              <a:tr h="251945">
                <a:tc>
                  <a:txBody>
                    <a:bodyPr/>
                    <a:lstStyle/>
                    <a:p>
                      <a:pPr algn="l">
                        <a:lnSpc>
                          <a:spcPct val="100000"/>
                        </a:lnSpc>
                        <a:spcBef>
                          <a:spcPts val="0"/>
                        </a:spcBef>
                        <a:spcAft>
                          <a:spcPts val="0"/>
                        </a:spcAft>
                      </a:pPr>
                      <a:r>
                        <a:rPr lang="en-US" sz="1600" kern="100" dirty="0">
                          <a:effectLst/>
                          <a:latin typeface="+mj-lt"/>
                          <a:ea typeface="宋体" charset="0"/>
                          <a:cs typeface="宋体" charset="0"/>
                        </a:rPr>
                        <a:t>:= or !=</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cmatch</a:t>
                      </a:r>
                      <a:r>
                        <a:rPr lang="en-US" sz="1600" kern="100" dirty="0">
                          <a:effectLst/>
                          <a:latin typeface="+mj-lt"/>
                          <a:ea typeface="宋体" charset="0"/>
                          <a:cs typeface="宋体" charset="0"/>
                        </a:rPr>
                        <a:t>’:=’201’,’204’</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a:t>
                      </a:r>
                      <a:r>
                        <a:rPr lang="zh-CN" altLang="en-US" sz="1600" kern="100" dirty="0">
                          <a:effectLst/>
                          <a:latin typeface="+mj-lt"/>
                          <a:ea typeface="宋体" charset="0"/>
                          <a:cs typeface="宋体" charset="0"/>
                        </a:rPr>
                        <a:t>在</a:t>
                      </a:r>
                      <a:r>
                        <a:rPr lang="zh-CN" sz="1600" kern="100" dirty="0">
                          <a:effectLst/>
                          <a:latin typeface="+mj-lt"/>
                          <a:ea typeface="宋体" charset="0"/>
                          <a:cs typeface="宋体" charset="0"/>
                        </a:rPr>
                        <a:t> </a:t>
                      </a:r>
                      <a:r>
                        <a:rPr lang="en-US" sz="1600" kern="100" dirty="0">
                          <a:effectLst/>
                          <a:latin typeface="+mj-lt"/>
                          <a:ea typeface="宋体" charset="0"/>
                          <a:cs typeface="宋体" charset="0"/>
                        </a:rPr>
                        <a:t>or </a:t>
                      </a:r>
                      <a:r>
                        <a:rPr lang="zh-CN" sz="1600" kern="100" dirty="0">
                          <a:effectLst/>
                          <a:latin typeface="+mj-lt"/>
                          <a:ea typeface="宋体" charset="0"/>
                          <a:cs typeface="宋体" charset="0"/>
                        </a:rPr>
                        <a:t>不</a:t>
                      </a:r>
                      <a:r>
                        <a:rPr lang="zh-CN" altLang="en-US" sz="1600" kern="100" dirty="0">
                          <a:effectLst/>
                          <a:latin typeface="+mj-lt"/>
                          <a:ea typeface="宋体" charset="0"/>
                          <a:cs typeface="宋体" charset="0"/>
                        </a:rPr>
                        <a:t>在</a:t>
                      </a:r>
                      <a:r>
                        <a:rPr lang="zh-CN" sz="1600" kern="100" dirty="0">
                          <a:effectLst/>
                          <a:latin typeface="+mj-lt"/>
                          <a:ea typeface="宋体" charset="0"/>
                          <a:cs typeface="宋体" charset="0"/>
                        </a:rPr>
                        <a:t>右值</a:t>
                      </a:r>
                    </a:p>
                  </a:txBody>
                  <a:tcPr marL="82564" marR="82564" marT="0" marB="0" anchor="ctr"/>
                </a:tc>
                <a:extLst>
                  <a:ext uri="{0D108BD9-81ED-4DB2-BD59-A6C34878D82A}">
                    <a16:rowId xmlns:a16="http://schemas.microsoft.com/office/drawing/2014/main" val="10001"/>
                  </a:ext>
                </a:extLst>
              </a:tr>
              <a:tr h="429551">
                <a:tc>
                  <a:txBody>
                    <a:bodyPr/>
                    <a:lstStyle/>
                    <a:p>
                      <a:pPr algn="l">
                        <a:lnSpc>
                          <a:spcPct val="100000"/>
                        </a:lnSpc>
                        <a:spcBef>
                          <a:spcPts val="0"/>
                        </a:spcBef>
                        <a:spcAft>
                          <a:spcPts val="0"/>
                        </a:spcAft>
                      </a:pPr>
                      <a:r>
                        <a:rPr lang="en-US" altLang="zh-CN" sz="1600" kern="100" dirty="0">
                          <a:effectLst/>
                          <a:latin typeface="+mj-lt"/>
                          <a:ea typeface="宋体" charset="0"/>
                          <a:cs typeface="宋体" charset="0"/>
                        </a:rPr>
                        <a:t>:</a:t>
                      </a:r>
                      <a:r>
                        <a:rPr lang="en-US" sz="1600" kern="100" dirty="0">
                          <a:effectLst/>
                          <a:latin typeface="+mj-lt"/>
                          <a:ea typeface="宋体" charset="0"/>
                          <a:cs typeface="宋体" charset="0"/>
                        </a:rPr>
                        <a:t>&gt; </a:t>
                      </a:r>
                      <a:r>
                        <a:rPr lang="en-US" altLang="zh-CN" sz="1600" kern="100" dirty="0">
                          <a:effectLst/>
                          <a:latin typeface="+mj-lt"/>
                          <a:ea typeface="宋体" charset="0"/>
                          <a:cs typeface="宋体" charset="0"/>
                        </a:rPr>
                        <a:t>:</a:t>
                      </a:r>
                      <a:r>
                        <a:rPr lang="en-US" sz="1600" kern="100" dirty="0">
                          <a:effectLst/>
                          <a:latin typeface="+mj-lt"/>
                          <a:ea typeface="宋体" charset="0"/>
                          <a:cs typeface="宋体" charset="0"/>
                        </a:rPr>
                        <a:t>&lt; &gt;= &lt;=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‘price’</a:t>
                      </a:r>
                      <a:r>
                        <a:rPr lang="en-US" altLang="zh-CN" sz="1600" kern="100" dirty="0">
                          <a:effectLst/>
                          <a:latin typeface="+mj-lt"/>
                          <a:ea typeface="宋体" charset="0"/>
                          <a:cs typeface="宋体" charset="0"/>
                        </a:rPr>
                        <a:t>:</a:t>
                      </a:r>
                      <a:r>
                        <a:rPr lang="en-US" sz="1600" kern="100" dirty="0">
                          <a:effectLst/>
                          <a:latin typeface="+mj-lt"/>
                          <a:ea typeface="宋体" charset="0"/>
                          <a:cs typeface="宋体" charset="0"/>
                        </a:rPr>
                        <a:t>&lt;‘3000’</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维度值大于</a:t>
                      </a:r>
                      <a:r>
                        <a:rPr lang="en-US" sz="1600" kern="100" dirty="0">
                          <a:effectLst/>
                          <a:latin typeface="+mj-lt"/>
                          <a:ea typeface="宋体" charset="0"/>
                          <a:cs typeface="宋体" charset="0"/>
                        </a:rPr>
                        <a:t>(</a:t>
                      </a:r>
                      <a:r>
                        <a:rPr lang="zh-CN" sz="1600" kern="100" dirty="0">
                          <a:effectLst/>
                          <a:latin typeface="+mj-lt"/>
                          <a:ea typeface="宋体" charset="0"/>
                          <a:cs typeface="宋体" charset="0"/>
                        </a:rPr>
                        <a:t>等于</a:t>
                      </a:r>
                      <a:r>
                        <a:rPr lang="en-US" sz="1600" kern="100" dirty="0">
                          <a:effectLst/>
                          <a:latin typeface="+mj-lt"/>
                          <a:ea typeface="宋体" charset="0"/>
                          <a:cs typeface="宋体" charset="0"/>
                        </a:rPr>
                        <a:t>) or </a:t>
                      </a:r>
                      <a:r>
                        <a:rPr lang="zh-CN" sz="1600" kern="100" dirty="0">
                          <a:effectLst/>
                          <a:latin typeface="+mj-lt"/>
                          <a:ea typeface="宋体" charset="0"/>
                          <a:cs typeface="宋体" charset="0"/>
                        </a:rPr>
                        <a:t>小于等于右值</a:t>
                      </a:r>
                    </a:p>
                  </a:txBody>
                  <a:tcPr marL="82564" marR="82564" marT="0" marB="0" anchor="ctr"/>
                </a:tc>
                <a:extLst>
                  <a:ext uri="{0D108BD9-81ED-4DB2-BD59-A6C34878D82A}">
                    <a16:rowId xmlns:a16="http://schemas.microsoft.com/office/drawing/2014/main" val="10002"/>
                  </a:ext>
                </a:extLst>
              </a:tr>
              <a:tr h="1511673">
                <a:tc>
                  <a:txBody>
                    <a:bodyPr/>
                    <a:lstStyle/>
                    <a:p>
                      <a:pPr algn="l">
                        <a:lnSpc>
                          <a:spcPct val="100000"/>
                        </a:lnSpc>
                        <a:spcBef>
                          <a:spcPts val="0"/>
                        </a:spcBef>
                        <a:spcAft>
                          <a:spcPts val="0"/>
                        </a:spcAft>
                      </a:pPr>
                      <a:r>
                        <a:rPr lang="en-US" sz="1600" kern="100" dirty="0">
                          <a:effectLst/>
                          <a:latin typeface="+mj-lt"/>
                          <a:ea typeface="宋体" charset="0"/>
                          <a:cs typeface="宋体" charset="0"/>
                        </a:rPr>
                        <a:t>:&amp; :| !&amp; !|</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stat_flag</a:t>
                      </a:r>
                      <a:r>
                        <a:rPr lang="en-US" sz="1600" kern="100" dirty="0">
                          <a:effectLst/>
                          <a:latin typeface="+mj-lt"/>
                          <a:ea typeface="宋体" charset="0"/>
                          <a:cs typeface="宋体" charset="0"/>
                        </a:rPr>
                        <a:t>’:&amp;3300000000000000</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err="1">
                          <a:effectLst/>
                          <a:latin typeface="+mj-lt"/>
                          <a:ea typeface="宋体" charset="0"/>
                          <a:cs typeface="宋体" charset="0"/>
                        </a:rPr>
                        <a:t>stat_flag</a:t>
                      </a:r>
                      <a:r>
                        <a:rPr lang="zh-CN" sz="1600" kern="100" dirty="0">
                          <a:effectLst/>
                          <a:latin typeface="+mj-lt"/>
                          <a:ea typeface="宋体" charset="0"/>
                          <a:cs typeface="宋体" charset="0"/>
                        </a:rPr>
                        <a:t>专用</a:t>
                      </a:r>
                      <a:endParaRPr lang="en-US" altLang="zh-CN" sz="1600" kern="100" dirty="0">
                        <a:effectLst/>
                        <a:latin typeface="+mj-lt"/>
                        <a:ea typeface="宋体" charset="0"/>
                        <a:cs typeface="宋体" charset="0"/>
                      </a:endParaRPr>
                    </a:p>
                    <a:p>
                      <a:pPr algn="l">
                        <a:lnSpc>
                          <a:spcPct val="100000"/>
                        </a:lnSpc>
                        <a:spcBef>
                          <a:spcPts val="0"/>
                        </a:spcBef>
                        <a:spcAft>
                          <a:spcPts val="0"/>
                        </a:spcAft>
                      </a:pPr>
                      <a:r>
                        <a:rPr kumimoji="1" lang="zh-CN" altLang="zh-CN" sz="1600" dirty="0">
                          <a:latin typeface="+mj-lt"/>
                          <a:ea typeface="宋体" charset="0"/>
                          <a:cs typeface="宋体" charset="0"/>
                        </a:rPr>
                        <a:t>:</a:t>
                      </a:r>
                      <a:r>
                        <a:rPr kumimoji="1" lang="en-US" altLang="zh-CN" sz="1600" dirty="0">
                          <a:latin typeface="+mj-lt"/>
                          <a:ea typeface="宋体" charset="0"/>
                          <a:cs typeface="宋体" charset="0"/>
                        </a:rPr>
                        <a:t>&amp;---</a:t>
                      </a:r>
                      <a:r>
                        <a:rPr kumimoji="1" lang="zh-CN" altLang="en-US" sz="1600" dirty="0">
                          <a:latin typeface="+mj-lt"/>
                          <a:ea typeface="宋体" charset="0"/>
                          <a:cs typeface="宋体" charset="0"/>
                        </a:rPr>
                        <a:t>右值不为</a:t>
                      </a:r>
                      <a:r>
                        <a:rPr kumimoji="1" lang="en-US" altLang="zh-CN" sz="1600" dirty="0">
                          <a:latin typeface="+mj-lt"/>
                          <a:ea typeface="宋体" charset="0"/>
                          <a:cs typeface="宋体" charset="0"/>
                        </a:rPr>
                        <a:t>0</a:t>
                      </a:r>
                      <a:r>
                        <a:rPr kumimoji="1" lang="zh-CN" altLang="en-US" sz="1600" dirty="0">
                          <a:latin typeface="+mj-lt"/>
                          <a:ea typeface="宋体" charset="0"/>
                          <a:cs typeface="宋体" charset="0"/>
                        </a:rPr>
                        <a:t>的特定位上，左值均为</a:t>
                      </a:r>
                      <a:r>
                        <a:rPr kumimoji="1" lang="en-US" altLang="zh-CN" sz="1600" dirty="0">
                          <a:latin typeface="+mj-lt"/>
                          <a:ea typeface="宋体" charset="0"/>
                          <a:cs typeface="宋体" charset="0"/>
                        </a:rPr>
                        <a:t>1</a:t>
                      </a:r>
                    </a:p>
                    <a:p>
                      <a:pPr algn="l">
                        <a:lnSpc>
                          <a:spcPct val="100000"/>
                        </a:lnSpc>
                        <a:spcBef>
                          <a:spcPts val="0"/>
                        </a:spcBef>
                        <a:spcAft>
                          <a:spcPts val="0"/>
                        </a:spcAft>
                      </a:pPr>
                      <a:r>
                        <a:rPr kumimoji="1" lang="zh-CN" altLang="zh-CN" sz="1600" dirty="0">
                          <a:latin typeface="+mj-lt"/>
                          <a:ea typeface="宋体" charset="0"/>
                          <a:cs typeface="宋体" charset="0"/>
                        </a:rPr>
                        <a:t>:|</a:t>
                      </a:r>
                      <a:r>
                        <a:rPr kumimoji="1" lang="en-US" altLang="zh-CN" sz="1600" dirty="0">
                          <a:latin typeface="+mj-lt"/>
                          <a:ea typeface="宋体" charset="0"/>
                          <a:cs typeface="宋体" charset="0"/>
                        </a:rPr>
                        <a:t>---</a:t>
                      </a:r>
                      <a:r>
                        <a:rPr kumimoji="1" lang="zh-CN" altLang="en-US" sz="1600" dirty="0">
                          <a:latin typeface="+mj-lt"/>
                          <a:ea typeface="宋体" charset="0"/>
                          <a:cs typeface="宋体" charset="0"/>
                        </a:rPr>
                        <a:t>右值不为</a:t>
                      </a:r>
                      <a:r>
                        <a:rPr kumimoji="1" lang="en-US" altLang="zh-CN" sz="1600" dirty="0">
                          <a:latin typeface="+mj-lt"/>
                          <a:ea typeface="宋体" charset="0"/>
                          <a:cs typeface="宋体" charset="0"/>
                        </a:rPr>
                        <a:t>0</a:t>
                      </a:r>
                      <a:r>
                        <a:rPr kumimoji="1" lang="zh-CN" altLang="en-US" sz="1600" dirty="0">
                          <a:latin typeface="+mj-lt"/>
                          <a:ea typeface="宋体" charset="0"/>
                          <a:cs typeface="宋体" charset="0"/>
                        </a:rPr>
                        <a:t>的特定位上，左值有个</a:t>
                      </a:r>
                      <a:r>
                        <a:rPr kumimoji="1" lang="en-US" altLang="zh-CN" sz="1600" dirty="0">
                          <a:latin typeface="+mj-lt"/>
                          <a:ea typeface="宋体" charset="0"/>
                          <a:cs typeface="宋体" charset="0"/>
                        </a:rPr>
                        <a:t>1</a:t>
                      </a:r>
                      <a:r>
                        <a:rPr kumimoji="1" lang="zh-CN" altLang="en-US" sz="1600" dirty="0">
                          <a:latin typeface="+mj-lt"/>
                          <a:ea typeface="宋体" charset="0"/>
                          <a:cs typeface="宋体" charset="0"/>
                        </a:rPr>
                        <a:t>位以上为</a:t>
                      </a:r>
                      <a:r>
                        <a:rPr kumimoji="1" lang="en-US" altLang="zh-CN" sz="1600" dirty="0">
                          <a:latin typeface="+mj-lt"/>
                          <a:ea typeface="宋体" charset="0"/>
                          <a:cs typeface="宋体" charset="0"/>
                        </a:rPr>
                        <a:t>1</a:t>
                      </a:r>
                      <a:endParaRPr kumimoji="1" lang="zh-CN" altLang="en-US" sz="1600" dirty="0">
                        <a:latin typeface="+mj-lt"/>
                        <a:ea typeface="宋体" charset="0"/>
                        <a:cs typeface="宋体" charset="0"/>
                      </a:endParaRPr>
                    </a:p>
                    <a:p>
                      <a:pPr algn="l">
                        <a:lnSpc>
                          <a:spcPct val="100000"/>
                        </a:lnSpc>
                        <a:spcBef>
                          <a:spcPts val="0"/>
                        </a:spcBef>
                        <a:spcAft>
                          <a:spcPts val="0"/>
                        </a:spcAft>
                      </a:pPr>
                      <a:r>
                        <a:rPr kumimoji="1" lang="zh-CN" altLang="en-US" sz="1600" dirty="0">
                          <a:latin typeface="+mj-lt"/>
                          <a:ea typeface="宋体" charset="0"/>
                          <a:cs typeface="宋体" charset="0"/>
                        </a:rPr>
                        <a:t>!</a:t>
                      </a:r>
                      <a:r>
                        <a:rPr kumimoji="1" lang="en-US" altLang="zh-CN" sz="1600" dirty="0">
                          <a:latin typeface="+mj-lt"/>
                          <a:ea typeface="宋体" charset="0"/>
                          <a:cs typeface="宋体" charset="0"/>
                        </a:rPr>
                        <a:t>&amp;---</a:t>
                      </a:r>
                      <a:r>
                        <a:rPr kumimoji="1" lang="zh-CN" altLang="en-US" sz="1600" dirty="0">
                          <a:latin typeface="+mj-lt"/>
                          <a:ea typeface="宋体" charset="0"/>
                          <a:cs typeface="宋体" charset="0"/>
                        </a:rPr>
                        <a:t>右值不为</a:t>
                      </a:r>
                      <a:r>
                        <a:rPr kumimoji="1" lang="en-US" altLang="zh-CN" sz="1600" dirty="0">
                          <a:latin typeface="+mj-lt"/>
                          <a:ea typeface="宋体" charset="0"/>
                          <a:cs typeface="宋体" charset="0"/>
                        </a:rPr>
                        <a:t>0</a:t>
                      </a:r>
                      <a:r>
                        <a:rPr kumimoji="1" lang="zh-CN" altLang="en-US" sz="1600" dirty="0">
                          <a:latin typeface="+mj-lt"/>
                          <a:ea typeface="宋体" charset="0"/>
                          <a:cs typeface="宋体" charset="0"/>
                        </a:rPr>
                        <a:t>的特定位上，左值均为</a:t>
                      </a:r>
                      <a:r>
                        <a:rPr kumimoji="1" lang="en-US" altLang="zh-CN" sz="1600" dirty="0">
                          <a:latin typeface="+mj-lt"/>
                          <a:ea typeface="宋体" charset="0"/>
                          <a:cs typeface="宋体" charset="0"/>
                        </a:rPr>
                        <a:t>0</a:t>
                      </a:r>
                    </a:p>
                    <a:p>
                      <a:pPr algn="l">
                        <a:lnSpc>
                          <a:spcPct val="100000"/>
                        </a:lnSpc>
                        <a:spcBef>
                          <a:spcPts val="0"/>
                        </a:spcBef>
                        <a:spcAft>
                          <a:spcPts val="0"/>
                        </a:spcAft>
                      </a:pPr>
                      <a:r>
                        <a:rPr kumimoji="1" lang="zh-CN" altLang="zh-CN" sz="1600" dirty="0">
                          <a:latin typeface="+mj-lt"/>
                          <a:ea typeface="宋体" charset="0"/>
                          <a:cs typeface="宋体" charset="0"/>
                        </a:rPr>
                        <a:t>!</a:t>
                      </a:r>
                      <a:r>
                        <a:rPr kumimoji="1" lang="en-US" altLang="zh-CN" sz="1600" dirty="0">
                          <a:latin typeface="+mj-lt"/>
                          <a:ea typeface="宋体" charset="0"/>
                          <a:cs typeface="宋体" charset="0"/>
                        </a:rPr>
                        <a:t>|</a:t>
                      </a:r>
                      <a:r>
                        <a:rPr kumimoji="1" lang="zh-CN" altLang="en-US" sz="1600" dirty="0">
                          <a:latin typeface="+mj-lt"/>
                          <a:ea typeface="宋体" charset="0"/>
                          <a:cs typeface="宋体" charset="0"/>
                        </a:rPr>
                        <a:t> </a:t>
                      </a:r>
                      <a:r>
                        <a:rPr kumimoji="1" lang="en-US" altLang="zh-CN" sz="1600" dirty="0">
                          <a:latin typeface="+mj-lt"/>
                          <a:ea typeface="宋体" charset="0"/>
                          <a:cs typeface="宋体" charset="0"/>
                        </a:rPr>
                        <a:t>---</a:t>
                      </a:r>
                      <a:r>
                        <a:rPr kumimoji="1" lang="zh-CN" altLang="en-US" sz="1600" dirty="0">
                          <a:latin typeface="+mj-lt"/>
                          <a:ea typeface="宋体" charset="0"/>
                          <a:cs typeface="宋体" charset="0"/>
                        </a:rPr>
                        <a:t>右值不为</a:t>
                      </a:r>
                      <a:r>
                        <a:rPr kumimoji="1" lang="en-US" altLang="zh-CN" sz="1600" dirty="0">
                          <a:latin typeface="+mj-lt"/>
                          <a:ea typeface="宋体" charset="0"/>
                          <a:cs typeface="宋体" charset="0"/>
                        </a:rPr>
                        <a:t>0</a:t>
                      </a:r>
                      <a:r>
                        <a:rPr kumimoji="1" lang="zh-CN" altLang="en-US" sz="1600" dirty="0">
                          <a:latin typeface="+mj-lt"/>
                          <a:ea typeface="宋体" charset="0"/>
                          <a:cs typeface="宋体" charset="0"/>
                        </a:rPr>
                        <a:t>的特定位上，左值不全是</a:t>
                      </a:r>
                      <a:r>
                        <a:rPr kumimoji="1" lang="en-US" altLang="zh-CN" sz="1600" dirty="0">
                          <a:latin typeface="+mj-lt"/>
                          <a:ea typeface="宋体" charset="0"/>
                          <a:cs typeface="宋体" charset="0"/>
                        </a:rPr>
                        <a:t>1</a:t>
                      </a:r>
                    </a:p>
                  </a:txBody>
                  <a:tcPr marL="82564" marR="82564" marT="0" marB="0" anchor="ctr"/>
                </a:tc>
                <a:extLst>
                  <a:ext uri="{0D108BD9-81ED-4DB2-BD59-A6C34878D82A}">
                    <a16:rowId xmlns:a16="http://schemas.microsoft.com/office/drawing/2014/main" val="10003"/>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IN or NI</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cnt’IN‘cnt_file</a:t>
                      </a:r>
                      <a:r>
                        <a:rPr lang="en-US" sz="1600" kern="100" dirty="0">
                          <a:effectLst/>
                          <a:latin typeface="+mj-lt"/>
                          <a:ea typeface="宋体" charset="0"/>
                          <a:cs typeface="宋体" charset="0"/>
                        </a:rPr>
                        <a: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a:t>
                      </a:r>
                      <a:r>
                        <a:rPr lang="en-US" sz="1600" kern="100" dirty="0">
                          <a:effectLst/>
                          <a:latin typeface="+mj-lt"/>
                          <a:ea typeface="宋体" charset="0"/>
                          <a:cs typeface="宋体" charset="0"/>
                        </a:rPr>
                        <a:t>in or not in</a:t>
                      </a:r>
                      <a:r>
                        <a:rPr lang="zh-CN" sz="1600" kern="100" dirty="0">
                          <a:effectLst/>
                          <a:latin typeface="+mj-lt"/>
                          <a:ea typeface="宋体" charset="0"/>
                          <a:cs typeface="宋体" charset="0"/>
                        </a:rPr>
                        <a:t>文件</a:t>
                      </a:r>
                    </a:p>
                  </a:txBody>
                  <a:tcPr marL="82564" marR="82564" marT="0" marB="0" anchor="ctr"/>
                </a:tc>
                <a:extLst>
                  <a:ext uri="{0D108BD9-81ED-4DB2-BD59-A6C34878D82A}">
                    <a16:rowId xmlns:a16="http://schemas.microsoft.com/office/drawing/2014/main" val="10004"/>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全集</a:t>
                      </a:r>
                    </a:p>
                  </a:txBody>
                  <a:tcPr marL="82564" marR="82564" marT="0" marB="0" anchor="ctr"/>
                </a:tc>
                <a:extLst>
                  <a:ext uri="{0D108BD9-81ED-4DB2-BD59-A6C34878D82A}">
                    <a16:rowId xmlns:a16="http://schemas.microsoft.com/office/drawing/2014/main" val="10005"/>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HA or NH</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a:effectLst/>
                          <a:latin typeface="+mj-lt"/>
                          <a:ea typeface="宋体" charset="0"/>
                          <a:cs typeface="宋体" charset="0"/>
                        </a:rPr>
                        <a:t>[‘baiduid’NH]</a:t>
                      </a:r>
                      <a:endParaRPr lang="zh-CN" sz="1600" kern="10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维度值存在 </a:t>
                      </a:r>
                      <a:r>
                        <a:rPr lang="en-US" sz="1600" kern="100" dirty="0">
                          <a:effectLst/>
                          <a:latin typeface="+mj-lt"/>
                          <a:ea typeface="宋体" charset="0"/>
                          <a:cs typeface="宋体" charset="0"/>
                        </a:rPr>
                        <a:t>or </a:t>
                      </a:r>
                      <a:r>
                        <a:rPr lang="zh-CN" sz="1600" kern="100" dirty="0">
                          <a:effectLst/>
                          <a:latin typeface="+mj-lt"/>
                          <a:ea typeface="宋体" charset="0"/>
                          <a:cs typeface="宋体" charset="0"/>
                        </a:rPr>
                        <a:t>不存在</a:t>
                      </a:r>
                    </a:p>
                  </a:txBody>
                  <a:tcPr marL="82564" marR="82564" marT="0" marB="0" anchor="ctr"/>
                </a:tc>
                <a:extLst>
                  <a:ext uri="{0D108BD9-81ED-4DB2-BD59-A6C34878D82A}">
                    <a16:rowId xmlns:a16="http://schemas.microsoft.com/office/drawing/2014/main" val="10006"/>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VA or IV</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a:effectLst/>
                          <a:latin typeface="+mj-lt"/>
                          <a:ea typeface="宋体" charset="0"/>
                          <a:cs typeface="宋体" charset="0"/>
                        </a:rPr>
                        <a:t>[‘cookie_fresh’VA]</a:t>
                      </a:r>
                      <a:endParaRPr lang="zh-CN" sz="1600" kern="10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维度值合法 </a:t>
                      </a:r>
                      <a:r>
                        <a:rPr lang="en-US" sz="1600" kern="100" dirty="0">
                          <a:effectLst/>
                          <a:latin typeface="+mj-lt"/>
                          <a:ea typeface="宋体" charset="0"/>
                          <a:cs typeface="宋体" charset="0"/>
                        </a:rPr>
                        <a:t>or </a:t>
                      </a:r>
                      <a:r>
                        <a:rPr lang="zh-CN" sz="1600" kern="100" dirty="0">
                          <a:effectLst/>
                          <a:latin typeface="+mj-lt"/>
                          <a:ea typeface="宋体" charset="0"/>
                          <a:cs typeface="宋体" charset="0"/>
                        </a:rPr>
                        <a:t>不合法</a:t>
                      </a:r>
                    </a:p>
                  </a:txBody>
                  <a:tcPr marL="82564" marR="82564" marT="0" marB="0" anchor="ctr"/>
                </a:tc>
                <a:extLst>
                  <a:ext uri="{0D108BD9-81ED-4DB2-BD59-A6C34878D82A}">
                    <a16:rowId xmlns:a16="http://schemas.microsoft.com/office/drawing/2014/main" val="10007"/>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 or !~</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ua</a:t>
                      </a:r>
                      <a:r>
                        <a:rPr lang="en-US" sz="1600" kern="100" dirty="0">
                          <a:effectLst/>
                          <a:latin typeface="+mj-lt"/>
                          <a:ea typeface="宋体" charset="0"/>
                          <a:cs typeface="宋体" charset="0"/>
                        </a:rPr>
                        <a:t>’:~Windows]</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维度值是否匹配子字符串</a:t>
                      </a:r>
                    </a:p>
                  </a:txBody>
                  <a:tcPr marL="82564" marR="82564" marT="0" marB="0" anchor="ctr"/>
                </a:tc>
                <a:extLst>
                  <a:ext uri="{0D108BD9-81ED-4DB2-BD59-A6C34878D82A}">
                    <a16:rowId xmlns:a16="http://schemas.microsoft.com/office/drawing/2014/main" val="10008"/>
                  </a:ext>
                </a:extLst>
              </a:tr>
            </a:tbl>
          </a:graphicData>
        </a:graphic>
      </p:graphicFrame>
      <p:sp>
        <p:nvSpPr>
          <p:cNvPr id="2" name="文本框 1"/>
          <p:cNvSpPr txBox="1"/>
          <p:nvPr/>
        </p:nvSpPr>
        <p:spPr>
          <a:xfrm>
            <a:off x="3291901" y="4674736"/>
            <a:ext cx="2627086"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表</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：处理空间运算符解析</a:t>
            </a:r>
          </a:p>
        </p:txBody>
      </p:sp>
    </p:spTree>
    <p:extLst>
      <p:ext uri="{BB962C8B-B14F-4D97-AF65-F5344CB8AC3E}">
        <p14:creationId xmlns:p14="http://schemas.microsoft.com/office/powerpoint/2010/main" val="9322480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基本特征</a:t>
            </a:r>
          </a:p>
        </p:txBody>
      </p:sp>
      <p:sp>
        <p:nvSpPr>
          <p:cNvPr id="3" name="内容占位符 2">
            <a:extLst>
              <a:ext uri="{FF2B5EF4-FFF2-40B4-BE49-F238E27FC236}">
                <a16:creationId xmlns:a16="http://schemas.microsoft.com/office/drawing/2014/main" id="{3DCBC89D-7325-F87D-ED44-F2E969C858CF}"/>
              </a:ext>
            </a:extLst>
          </p:cNvPr>
          <p:cNvSpPr txBox="1">
            <a:spLocks/>
          </p:cNvSpPr>
          <p:nvPr/>
        </p:nvSpPr>
        <p:spPr>
          <a:xfrm>
            <a:off x="635961" y="945931"/>
            <a:ext cx="3710151" cy="3888828"/>
          </a:xfrm>
          <a:prstGeom prst="rect">
            <a:avLst/>
          </a:prstGeom>
          <a:ln w="12700">
            <a:solidFill>
              <a:srgbClr val="0070C0"/>
            </a:solidFill>
            <a:prstDash val="dashDot"/>
          </a:ln>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en-US" altLang="zh-CN" sz="1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baiduid</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 新鲜度</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285750" marR="0" lvl="0" indent="-342900" algn="l" defTabSz="457200" rtl="0" eaLnBrk="1" fontAlgn="auto" latinLnBrk="0" hangingPunct="1">
              <a:lnSpc>
                <a:spcPct val="160000"/>
              </a:lnSpc>
              <a:spcBef>
                <a:spcPct val="20000"/>
              </a:spcBef>
              <a:spcAft>
                <a:spcPts val="0"/>
              </a:spcAft>
              <a:buClr>
                <a:srgbClr val="0070C0"/>
              </a:buClr>
              <a:buSzTx/>
              <a:buFont typeface="Arial" panose="020B0604020202020204" pitchFamily="34" charset="0"/>
              <a:buChar char="•"/>
              <a:tabLst/>
              <a:defRPr/>
            </a:pP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当前的点击或者检索时间减去浏览器</a:t>
            </a:r>
            <a:r>
              <a:rPr kumimoji="1" lang="en" altLang="zh-CN" sz="17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baiduid</a:t>
            </a: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生成的时间。</a:t>
            </a:r>
            <a:endParaRPr kumimoji="1" lang="en-US" altLang="zh-CN"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285750" marR="0" lvl="0" indent="-342900" algn="l" defTabSz="457200" rtl="0" eaLnBrk="1" fontAlgn="auto" latinLnBrk="0" hangingPunct="1">
              <a:lnSpc>
                <a:spcPct val="160000"/>
              </a:lnSpc>
              <a:spcBef>
                <a:spcPct val="20000"/>
              </a:spcBef>
              <a:spcAft>
                <a:spcPts val="0"/>
              </a:spcAft>
              <a:buClr>
                <a:srgbClr val="0070C0"/>
              </a:buClr>
              <a:buSzTx/>
              <a:buFont typeface="Arial" panose="020B0604020202020204" pitchFamily="34" charset="0"/>
              <a:buChar char="•"/>
              <a:tabLst/>
              <a:defRPr/>
            </a:pP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常见作弊表现为频繁清</a:t>
            </a:r>
            <a:r>
              <a:rPr kumimoji="1" lang="en" altLang="zh-CN"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cookie</a:t>
            </a:r>
            <a:r>
              <a:rPr kumimoji="1" lang="zh-CN" altLang="en"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a:t>
            </a: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在特征上表现为</a:t>
            </a:r>
            <a:r>
              <a:rPr kumimoji="1" lang="en" altLang="zh-CN" sz="17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baiduid</a:t>
            </a: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新鲜度较小。</a:t>
            </a:r>
            <a:endParaRPr kumimoji="0"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9144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en" altLang="zh-CN" sz="1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shifen</a:t>
            </a:r>
            <a:r>
              <a:rPr kumimoji="0" lang="en"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cookie</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1" fontAlgn="auto" latinLnBrk="0" hangingPunct="1">
              <a:lnSpc>
                <a:spcPct val="160000"/>
              </a:lnSpc>
              <a:spcBef>
                <a:spcPct val="20000"/>
              </a:spcBef>
              <a:spcAft>
                <a:spcPts val="0"/>
              </a:spcAft>
              <a:buClr>
                <a:srgbClr val="0070C0"/>
              </a:buClr>
              <a:buSzTx/>
              <a:buFont typeface="Arial" panose="020B0604020202020204"/>
              <a:buNone/>
              <a:tabLst/>
              <a:defRPr/>
            </a:pP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在百度域下，用户每点击一个不同的广告，都会在前端种上一个</a:t>
            </a:r>
            <a:r>
              <a:rPr kumimoji="0" lang="en"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shifen</a:t>
            </a: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cookie</a:t>
            </a: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用来唯一标识一条广告， </a:t>
            </a:r>
            <a:r>
              <a:rPr kumimoji="0"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value</a:t>
            </a: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为最近一次点击该广告的时间。</a:t>
            </a: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endPar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p:txBody>
      </p:sp>
      <p:sp>
        <p:nvSpPr>
          <p:cNvPr id="5" name="内容占位符 2">
            <a:extLst>
              <a:ext uri="{FF2B5EF4-FFF2-40B4-BE49-F238E27FC236}">
                <a16:creationId xmlns:a16="http://schemas.microsoft.com/office/drawing/2014/main" id="{50601ADD-3E79-BE51-F1B4-6D8160FB1B4A}"/>
              </a:ext>
            </a:extLst>
          </p:cNvPr>
          <p:cNvSpPr txBox="1"/>
          <p:nvPr/>
        </p:nvSpPr>
        <p:spPr bwMode="auto">
          <a:xfrm>
            <a:off x="4572001" y="945931"/>
            <a:ext cx="3867802" cy="3888828"/>
          </a:xfrm>
          <a:prstGeom prst="rect">
            <a:avLst/>
          </a:prstGeom>
          <a:noFill/>
          <a:ln w="12700">
            <a:solidFill>
              <a:srgbClr val="C00000"/>
            </a:solidFill>
            <a:prstDash val="dashDot"/>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微软雅黑" panose="020B0503020204020204" pitchFamily="34" charset="-122"/>
                <a:ea typeface="微软雅黑" panose="020B0503020204020204" pitchFamily="34" charset="-122"/>
                <a:cs typeface="宋体" charset="0"/>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en"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ck </a:t>
            </a:r>
            <a:r>
              <a:rPr kumimoji="1"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特征</a:t>
            </a:r>
            <a:endParaRPr kumimoji="1"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5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网民浏览器行为特征集合，利用</a:t>
            </a:r>
            <a:r>
              <a:rPr kumimoji="1" lang="en"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js</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记录，附加到点击</a:t>
            </a:r>
            <a:r>
              <a:rPr kumimoji="1" lang="en"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url</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串传给后端。</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5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用户点击时，</a:t>
            </a:r>
            <a:r>
              <a:rPr kumimoji="1"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ck</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域会自动根据用户的点击行为更新。点击信息经</a:t>
            </a:r>
            <a:r>
              <a:rPr kumimoji="1"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BFE</a:t>
            </a:r>
            <a:r>
              <a:rPr kumimoji="1" lang="zh-CN" altLang="e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由</a:t>
            </a:r>
            <a:r>
              <a:rPr kumimoji="1"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anti </a:t>
            </a:r>
            <a:r>
              <a:rPr kumimoji="1" lang="en"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rcv</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接受并跳转到广告主页面。</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5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点展时间差</a:t>
            </a:r>
          </a:p>
          <a:p>
            <a:pPr marL="285750" marR="0" lvl="0" indent="-342900" algn="l" defTabSz="457200" rtl="0" eaLnBrk="1" fontAlgn="base" latinLnBrk="0" hangingPunct="1">
              <a:lnSpc>
                <a:spcPct val="150000"/>
              </a:lnSpc>
              <a:spcBef>
                <a:spcPct val="20000"/>
              </a:spcBef>
              <a:spcAft>
                <a:spcPct val="0"/>
              </a:spcAft>
              <a:buClr>
                <a:srgbClr val="0070C0"/>
              </a:buClr>
              <a:buSzTx/>
              <a:buFont typeface="Arial" panose="020B0604020202020204" pitchFamily="34" charset="0"/>
              <a:buChar char="•"/>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广告从搜索展现到最后点击的时间差</a:t>
            </a:r>
          </a:p>
          <a:p>
            <a:pPr marL="285750" marR="0" lvl="0" indent="-342900" algn="l" defTabSz="457200" rtl="0" eaLnBrk="1" fontAlgn="base" latinLnBrk="0" hangingPunct="1">
              <a:lnSpc>
                <a:spcPct val="150000"/>
              </a:lnSpc>
              <a:spcBef>
                <a:spcPct val="20000"/>
              </a:spcBef>
              <a:spcAft>
                <a:spcPct val="0"/>
              </a:spcAft>
              <a:buClr>
                <a:srgbClr val="0070C0"/>
              </a:buClr>
              <a:buSzTx/>
              <a:buFont typeface="Arial" panose="020B0604020202020204" pitchFamily="34" charset="0"/>
              <a:buChar char="•"/>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与广告样式、展现位置相关</a:t>
            </a:r>
          </a:p>
          <a:p>
            <a:pPr marL="0" marR="0" lvl="0"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94428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sp>
        <p:nvSpPr>
          <p:cNvPr id="7" name="内容占位符 2">
            <a:extLst>
              <a:ext uri="{FF2B5EF4-FFF2-40B4-BE49-F238E27FC236}">
                <a16:creationId xmlns:a16="http://schemas.microsoft.com/office/drawing/2014/main" id="{CA439635-BAD7-2612-631E-6C7C92EE1652}"/>
              </a:ext>
            </a:extLst>
          </p:cNvPr>
          <p:cNvSpPr txBox="1">
            <a:spLocks/>
          </p:cNvSpPr>
          <p:nvPr/>
        </p:nvSpPr>
        <p:spPr>
          <a:xfrm>
            <a:off x="635961" y="945931"/>
            <a:ext cx="3710151" cy="3888828"/>
          </a:xfrm>
          <a:prstGeom prst="rect">
            <a:avLst/>
          </a:prstGeom>
          <a:ln w="12700">
            <a:solidFill>
              <a:srgbClr val="0070C0"/>
            </a:solidFill>
            <a:prstDash val="dashDot"/>
          </a:ln>
        </p:spPr>
        <p:txBody>
          <a:bodyPr vert="horz" lIns="91440" tIns="45720" rIns="91440" bIns="45720" rtlCol="0">
            <a:normAutofit fontScale="85000" lnSpcReduction="2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数目特征</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segment</a:t>
            </a: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在一定段长内，某个维度对象在某一个处理空间下出现的次数。</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自动黑名单数目特征</a:t>
            </a:r>
            <a:r>
              <a:rPr kumimoji="0" lang="en-US" altLang="zh-CN" sz="20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auto_segment</a:t>
            </a:r>
            <a:endPar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在一定段长内，某个维度对象历史段累积的数目与本段累积的数目和。</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子数目特征</a:t>
            </a:r>
            <a:r>
              <a:rPr kumimoji="0" lang="en-US" altLang="zh-CN" sz="20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sum_segment</a:t>
            </a:r>
            <a:endPar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在一定段长内，计算每一个维度对象下子维度对象的求和。</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多段累积特征</a:t>
            </a:r>
            <a:r>
              <a:rPr kumimoji="0" lang="en-US" altLang="zh-CN" sz="20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multi_seg</a:t>
            </a:r>
            <a:endPar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缓存多个段内，某个维度对象在某一个处理空间下出现的次数。</a:t>
            </a: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endPar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p:txBody>
      </p:sp>
      <p:sp>
        <p:nvSpPr>
          <p:cNvPr id="8" name="内容占位符 2">
            <a:extLst>
              <a:ext uri="{FF2B5EF4-FFF2-40B4-BE49-F238E27FC236}">
                <a16:creationId xmlns:a16="http://schemas.microsoft.com/office/drawing/2014/main" id="{D985F58B-EEF0-95E4-6553-DFF469968EA4}"/>
              </a:ext>
            </a:extLst>
          </p:cNvPr>
          <p:cNvSpPr txBox="1"/>
          <p:nvPr/>
        </p:nvSpPr>
        <p:spPr bwMode="auto">
          <a:xfrm>
            <a:off x="4572001" y="945931"/>
            <a:ext cx="3867802" cy="3888828"/>
          </a:xfrm>
          <a:prstGeom prst="rect">
            <a:avLst/>
          </a:prstGeom>
          <a:noFill/>
          <a:ln w="12700">
            <a:solidFill>
              <a:srgbClr val="C00000"/>
            </a:solidFill>
            <a:prstDash val="dashDot"/>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微软雅黑" panose="020B0503020204020204" pitchFamily="34" charset="-122"/>
                <a:ea typeface="微软雅黑" panose="020B0503020204020204" pitchFamily="34" charset="-122"/>
                <a:cs typeface="宋体" charset="0"/>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分布特征</a:t>
            </a:r>
            <a:r>
              <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distribution</a:t>
            </a: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一定段长内，主维度对象下，子维度对象的流量分布。需要预先划分区间</a:t>
            </a:r>
            <a:r>
              <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桶，统计落在该桶中的占比。</a:t>
            </a:r>
          </a:p>
          <a:p>
            <a:pPr marL="0" marR="0" lvl="0"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数目分布特征</a:t>
            </a:r>
            <a:r>
              <a:rPr kumimoji="1" lang="en-US"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count_distribution</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在一定段长内，主维度对象下，子维度对象的频次分布。</a:t>
            </a:r>
          </a:p>
          <a:p>
            <a:pPr marL="0" marR="0" lvl="0"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去重数目分布特征</a:t>
            </a:r>
            <a:r>
              <a:rPr kumimoji="1" lang="en-US"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distinct_distribution</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在一定段长内，主维度对象下单个二级维度对象中出现的三级维度对象的种类分布情况。</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p:txBody>
      </p:sp>
    </p:spTree>
    <p:extLst>
      <p:ext uri="{BB962C8B-B14F-4D97-AF65-F5344CB8AC3E}">
        <p14:creationId xmlns:p14="http://schemas.microsoft.com/office/powerpoint/2010/main" val="3808375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sp>
        <p:nvSpPr>
          <p:cNvPr id="5" name="内容占位符 2">
            <a:extLst>
              <a:ext uri="{FF2B5EF4-FFF2-40B4-BE49-F238E27FC236}">
                <a16:creationId xmlns:a16="http://schemas.microsoft.com/office/drawing/2014/main" id="{7F6DA8B6-9AC9-2FBB-164B-996B523C07BE}"/>
              </a:ext>
            </a:extLst>
          </p:cNvPr>
          <p:cNvSpPr>
            <a:spLocks noGrp="1"/>
          </p:cNvSpPr>
          <p:nvPr>
            <p:ph idx="1"/>
          </p:nvPr>
        </p:nvSpPr>
        <p:spPr>
          <a:xfrm>
            <a:off x="828448" y="875796"/>
            <a:ext cx="7716462" cy="3863479"/>
          </a:xfrm>
          <a:ln w="12700">
            <a:solidFill>
              <a:srgbClr val="0070C0"/>
            </a:solidFill>
            <a:prstDash val="dashDot"/>
          </a:ln>
        </p:spPr>
        <p:txBody>
          <a:bodyPr anchor="ctr">
            <a:normAutofit fontScale="85000" lnSpcReduction="10000"/>
          </a:bodyPr>
          <a:lstStyle/>
          <a:p>
            <a:pPr>
              <a:buClr>
                <a:srgbClr val="0070C0"/>
              </a:buClr>
              <a:buFont typeface="Wingdings" panose="05000000000000000000" pitchFamily="2" charset="2"/>
              <a:buChar char="n"/>
            </a:pPr>
            <a:r>
              <a:rPr lang="zh-CN" altLang="en-US" sz="2000" dirty="0">
                <a:sym typeface="Helvetica Light" charset="0"/>
              </a:rPr>
              <a:t>比例特征</a:t>
            </a:r>
            <a:r>
              <a:rPr lang="en-GB" altLang="zh-CN" sz="2000" dirty="0">
                <a:sym typeface="Helvetica Light" charset="0"/>
              </a:rPr>
              <a:t>ratio</a:t>
            </a:r>
          </a:p>
          <a:p>
            <a:pPr marL="400050" lvl="1" indent="0">
              <a:buClr>
                <a:srgbClr val="0070C0"/>
              </a:buClr>
              <a:buNone/>
            </a:pPr>
            <a:r>
              <a:rPr lang="zh-CN" altLang="en-US" sz="1800" dirty="0">
                <a:sym typeface="Helvetica Light" charset="0"/>
              </a:rPr>
              <a:t>在一定段长内，同一维度对象下两个不同的数目特征相除</a:t>
            </a:r>
            <a:r>
              <a:rPr lang="en-US" altLang="zh-CN" sz="1800" dirty="0">
                <a:sym typeface="Helvetica Light" charset="0"/>
              </a:rPr>
              <a:t>(</a:t>
            </a:r>
            <a:r>
              <a:rPr lang="en-GB" altLang="zh-CN" sz="1800" dirty="0">
                <a:sym typeface="Helvetica Light" charset="0"/>
              </a:rPr>
              <a:t>filter/refer)</a:t>
            </a:r>
            <a:r>
              <a:rPr lang="zh-CN" altLang="en-US" sz="1800" dirty="0">
                <a:sym typeface="Helvetica Light" charset="0"/>
              </a:rPr>
              <a:t>得到的比例值。</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自动黑名单比例特征</a:t>
            </a:r>
            <a:r>
              <a:rPr lang="en-GB" altLang="zh-CN" sz="2000" dirty="0" err="1">
                <a:sym typeface="Helvetica Light" charset="0"/>
              </a:rPr>
              <a:t>auto_ratio</a:t>
            </a:r>
            <a:endParaRPr lang="en-GB" altLang="zh-CN" sz="2000" dirty="0">
              <a:sym typeface="Helvetica Light" charset="0"/>
            </a:endParaRPr>
          </a:p>
          <a:p>
            <a:pPr marL="400050" lvl="1" indent="0">
              <a:buClr>
                <a:srgbClr val="0070C0"/>
              </a:buClr>
              <a:buNone/>
            </a:pPr>
            <a:r>
              <a:rPr lang="zh-CN" altLang="en-US" sz="1800" dirty="0">
                <a:sym typeface="Helvetica Light" charset="0"/>
              </a:rPr>
              <a:t>在一定段长内，某维度对象下两个数目特征相除得到的比例值。</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去重数目特征</a:t>
            </a:r>
            <a:r>
              <a:rPr lang="en-GB" altLang="zh-CN" sz="2000" dirty="0">
                <a:sym typeface="Helvetica Light" charset="0"/>
              </a:rPr>
              <a:t>distinct</a:t>
            </a:r>
          </a:p>
          <a:p>
            <a:pPr marL="400050" lvl="1" indent="0">
              <a:buClr>
                <a:srgbClr val="0070C0"/>
              </a:buClr>
              <a:buNone/>
            </a:pPr>
            <a:r>
              <a:rPr lang="zh-CN" altLang="en-US" sz="1800" dirty="0">
                <a:sym typeface="Helvetica Light" charset="0"/>
              </a:rPr>
              <a:t>在一定段长内，某一个主维度对象下，子维度对象的种类。</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名单特征</a:t>
            </a:r>
            <a:r>
              <a:rPr lang="en-GB" altLang="zh-CN" sz="2000" dirty="0" err="1">
                <a:sym typeface="Helvetica Light" charset="0"/>
              </a:rPr>
              <a:t>file_dict</a:t>
            </a:r>
            <a:endParaRPr lang="en-GB" altLang="zh-CN" sz="2000" dirty="0">
              <a:sym typeface="Helvetica Light" charset="0"/>
            </a:endParaRPr>
          </a:p>
          <a:p>
            <a:pPr marL="400050" lvl="1" indent="0">
              <a:buClr>
                <a:srgbClr val="0070C0"/>
              </a:buClr>
              <a:buNone/>
            </a:pPr>
            <a:r>
              <a:rPr lang="en-GB" altLang="zh-CN" sz="1800" dirty="0" err="1">
                <a:sym typeface="Helvetica Light" charset="0"/>
              </a:rPr>
              <a:t>file_key</a:t>
            </a:r>
            <a:r>
              <a:rPr lang="zh-CN" altLang="en-US" sz="1800" dirty="0">
                <a:sym typeface="Helvetica Light" charset="0"/>
              </a:rPr>
              <a:t>来自于</a:t>
            </a:r>
            <a:r>
              <a:rPr lang="en-GB" altLang="zh-CN" sz="1800" dirty="0" err="1">
                <a:sym typeface="Helvetica Light" charset="0"/>
              </a:rPr>
              <a:t>dict.conf</a:t>
            </a:r>
            <a:r>
              <a:rPr lang="zh-CN" altLang="en-GB" sz="1800" dirty="0">
                <a:sym typeface="Helvetica Light" charset="0"/>
              </a:rPr>
              <a:t>，</a:t>
            </a:r>
            <a:r>
              <a:rPr lang="zh-CN" altLang="en-US" sz="1800" dirty="0">
                <a:sym typeface="Helvetica Light" charset="0"/>
              </a:rPr>
              <a:t>主要和黑名单白名单和灰名单策略相关。</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处理空间特征</a:t>
            </a:r>
            <a:r>
              <a:rPr lang="en-GB" altLang="zh-CN" sz="2000" dirty="0" err="1">
                <a:sym typeface="Helvetica Light" charset="0"/>
              </a:rPr>
              <a:t>carespace</a:t>
            </a:r>
            <a:endParaRPr lang="en-GB" altLang="zh-CN" sz="2000" dirty="0">
              <a:sym typeface="Helvetica Light" charset="0"/>
            </a:endParaRPr>
          </a:p>
          <a:p>
            <a:pPr marL="400050" lvl="1" indent="0">
              <a:buClr>
                <a:srgbClr val="0070C0"/>
              </a:buClr>
              <a:buNone/>
            </a:pPr>
            <a:r>
              <a:rPr lang="zh-CN" altLang="en-US" sz="1800" dirty="0">
                <a:sym typeface="Helvetica Light" charset="0"/>
              </a:rPr>
              <a:t>判断流量是否满足</a:t>
            </a:r>
            <a:r>
              <a:rPr lang="en-GB" altLang="zh-CN" sz="1800" dirty="0">
                <a:sym typeface="Helvetica Light" charset="0"/>
              </a:rPr>
              <a:t>condition</a:t>
            </a:r>
            <a:r>
              <a:rPr lang="zh-CN" altLang="en-GB" sz="1800" dirty="0">
                <a:sym typeface="Helvetica Light" charset="0"/>
              </a:rPr>
              <a:t>。</a:t>
            </a:r>
            <a:endParaRPr lang="zh-CN" altLang="en-GB"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时差特征</a:t>
            </a:r>
            <a:r>
              <a:rPr lang="en-GB" altLang="zh-CN" sz="2000" dirty="0" err="1">
                <a:sym typeface="Helvetica Light" charset="0"/>
              </a:rPr>
              <a:t>timediff</a:t>
            </a:r>
            <a:endParaRPr lang="en-GB" altLang="zh-CN" sz="2000" dirty="0">
              <a:sym typeface="Helvetica Light" charset="0"/>
            </a:endParaRPr>
          </a:p>
          <a:p>
            <a:pPr marL="400050" lvl="1" indent="0">
              <a:buClr>
                <a:srgbClr val="0070C0"/>
              </a:buClr>
              <a:buNone/>
            </a:pPr>
            <a:r>
              <a:rPr lang="zh-CN" altLang="en-US" sz="1800" dirty="0">
                <a:sym typeface="Helvetica Light" charset="0"/>
              </a:rPr>
              <a:t>在一定段长内，同一维度对象的时间差。</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集中度特征</a:t>
            </a:r>
            <a:r>
              <a:rPr lang="en-GB" altLang="zh-CN" sz="2000" dirty="0">
                <a:sym typeface="Helvetica Light" charset="0"/>
              </a:rPr>
              <a:t>concentration</a:t>
            </a:r>
          </a:p>
          <a:p>
            <a:pPr marL="400050" lvl="1" indent="0">
              <a:buClr>
                <a:srgbClr val="0070C0"/>
              </a:buClr>
              <a:buNone/>
            </a:pPr>
            <a:r>
              <a:rPr lang="zh-CN" altLang="en-US" sz="1800" dirty="0">
                <a:sym typeface="Helvetica Light" charset="0"/>
              </a:rPr>
              <a:t>主维度下的子维度对象的频次</a:t>
            </a:r>
            <a:r>
              <a:rPr lang="en-GB" altLang="zh-CN" sz="1800" dirty="0">
                <a:sym typeface="Helvetica Light" charset="0"/>
              </a:rPr>
              <a:t>Top K</a:t>
            </a:r>
            <a:r>
              <a:rPr lang="zh-CN" altLang="en-US" sz="1800" dirty="0">
                <a:sym typeface="Helvetica Light" charset="0"/>
              </a:rPr>
              <a:t>的频次占比。</a:t>
            </a:r>
          </a:p>
        </p:txBody>
      </p:sp>
    </p:spTree>
    <p:extLst>
      <p:ext uri="{BB962C8B-B14F-4D97-AF65-F5344CB8AC3E}">
        <p14:creationId xmlns:p14="http://schemas.microsoft.com/office/powerpoint/2010/main" val="7121848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特征简介</a:t>
            </a:r>
          </a:p>
        </p:txBody>
      </p:sp>
      <p:sp>
        <p:nvSpPr>
          <p:cNvPr id="6" name="内容占位符 2"/>
          <p:cNvSpPr>
            <a:spLocks noGrp="1"/>
          </p:cNvSpPr>
          <p:nvPr>
            <p:ph idx="1"/>
          </p:nvPr>
        </p:nvSpPr>
        <p:spPr>
          <a:xfrm>
            <a:off x="480105" y="1002754"/>
            <a:ext cx="8170409" cy="3874046"/>
          </a:xfrm>
        </p:spPr>
        <p:txBody>
          <a:bodyPr>
            <a:noAutofit/>
          </a:bodyPr>
          <a:lstStyle/>
          <a:p>
            <a:pPr>
              <a:spcAft>
                <a:spcPts val="600"/>
              </a:spcAft>
              <a:buSzPct val="120000"/>
              <a:buFont typeface="Wingdings" pitchFamily="2" charset="2"/>
              <a:buChar char="l"/>
            </a:pPr>
            <a:r>
              <a:rPr lang="zh-CN" altLang="en-US" sz="1800" dirty="0"/>
              <a:t>基本特征： </a:t>
            </a:r>
            <a:r>
              <a:rPr kumimoji="1" lang="en-US" altLang="zh-CN" sz="1800" dirty="0" err="1">
                <a:latin typeface="微软雅黑" panose="020B0503020204020204" pitchFamily="34" charset="-122"/>
                <a:ea typeface="微软雅黑" panose="020B0503020204020204" pitchFamily="34" charset="-122"/>
                <a:cs typeface="宋体" charset="0"/>
              </a:rPr>
              <a:t>baiduid</a:t>
            </a:r>
            <a:r>
              <a:rPr kumimoji="1" lang="zh-CN" altLang="en-US" sz="1800" dirty="0">
                <a:latin typeface="微软雅黑" panose="020B0503020204020204" pitchFamily="34" charset="-122"/>
                <a:ea typeface="微软雅黑" panose="020B0503020204020204" pitchFamily="34" charset="-122"/>
                <a:cs typeface="宋体" charset="0"/>
              </a:rPr>
              <a:t> 新鲜度</a:t>
            </a:r>
            <a:endParaRPr kumimoji="1" lang="en-US" altLang="zh-CN" sz="1800" dirty="0">
              <a:latin typeface="微软雅黑" panose="020B0503020204020204" pitchFamily="34" charset="-122"/>
              <a:ea typeface="微软雅黑" panose="020B0503020204020204" pitchFamily="34" charset="-122"/>
              <a:cs typeface="宋体" charset="0"/>
            </a:endParaRPr>
          </a:p>
          <a:p>
            <a:pPr lvl="0" defTabSz="914400">
              <a:lnSpc>
                <a:spcPct val="150000"/>
              </a:lnSpc>
              <a:spcBef>
                <a:spcPts val="0"/>
              </a:spcBef>
              <a:buFont typeface="Wingdings" pitchFamily="2" charset="2"/>
              <a:buChar char="Ø"/>
            </a:pPr>
            <a:r>
              <a:rPr kumimoji="1" lang="en-US"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：新用户访问百度产品后，将根据用户当前</a:t>
            </a:r>
            <a:r>
              <a:rPr kumimoji="1" lang="en-GB" altLang="zh-CN" sz="1600" dirty="0" err="1">
                <a:latin typeface="微软雅黑" panose="020B0503020204020204" pitchFamily="34" charset="-122"/>
                <a:ea typeface="微软雅黑" panose="020B0503020204020204" pitchFamily="34" charset="-122"/>
              </a:rPr>
              <a:t>clientip</a:t>
            </a:r>
            <a:r>
              <a:rPr kumimoji="1" lang="en-GB" altLang="zh-CN" sz="1600" dirty="0">
                <a:latin typeface="微软雅黑" panose="020B0503020204020204" pitchFamily="34" charset="-122"/>
                <a:ea typeface="微软雅黑" panose="020B0503020204020204" pitchFamily="34" charset="-122"/>
              </a:rPr>
              <a:t> + </a:t>
            </a:r>
            <a:r>
              <a:rPr kumimoji="1" lang="en-GB" altLang="zh-CN" sz="1600" dirty="0" err="1">
                <a:latin typeface="微软雅黑" panose="020B0503020204020204" pitchFamily="34" charset="-122"/>
                <a:ea typeface="微软雅黑" panose="020B0503020204020204" pitchFamily="34" charset="-122"/>
              </a:rPr>
              <a:t>reqtime</a:t>
            </a:r>
            <a:r>
              <a:rPr kumimoji="1" lang="en-GB" altLang="zh-CN" sz="1600" dirty="0">
                <a:latin typeface="微软雅黑" panose="020B0503020204020204" pitchFamily="34" charset="-122"/>
                <a:ea typeface="微软雅黑" panose="020B0503020204020204" pitchFamily="34" charset="-122"/>
              </a:rPr>
              <a:t> + rand + checksum (</a:t>
            </a:r>
            <a:r>
              <a:rPr kumimoji="1" lang="zh-CN" altLang="en-US" sz="1600" dirty="0">
                <a:latin typeface="微软雅黑" panose="020B0503020204020204" pitchFamily="34" charset="-122"/>
                <a:ea typeface="微软雅黑" panose="020B0503020204020204" pitchFamily="34" charset="-122"/>
              </a:rPr>
              <a:t>校验值</a:t>
            </a:r>
            <a:r>
              <a:rPr kumimoji="1" lang="en-US" altLang="zh-CN" sz="1600" dirty="0">
                <a:latin typeface="微软雅黑" panose="020B0503020204020204" pitchFamily="34" charset="-122"/>
                <a:ea typeface="微软雅黑" panose="020B0503020204020204" pitchFamily="34" charset="-122"/>
              </a:rPr>
              <a:t>) </a:t>
            </a:r>
            <a:r>
              <a:rPr kumimoji="1" lang="zh-CN" altLang="en-GB"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生成一个</a:t>
            </a:r>
            <a:r>
              <a:rPr kumimoji="1" lang="en-US" altLang="zh-CN" sz="1600" dirty="0">
                <a:latin typeface="微软雅黑" panose="020B0503020204020204" pitchFamily="34" charset="-122"/>
                <a:ea typeface="微软雅黑" panose="020B0503020204020204" pitchFamily="34" charset="-122"/>
              </a:rPr>
              <a:t>32</a:t>
            </a:r>
            <a:r>
              <a:rPr kumimoji="1" lang="zh-CN" altLang="en-US" sz="1600" dirty="0">
                <a:latin typeface="微软雅黑" panose="020B0503020204020204" pitchFamily="34" charset="-122"/>
                <a:ea typeface="微软雅黑" panose="020B0503020204020204" pitchFamily="34" charset="-122"/>
              </a:rPr>
              <a:t>位的字符串，存在本地</a:t>
            </a:r>
            <a:r>
              <a:rPr kumimoji="1" lang="en-GB" altLang="zh-CN" sz="1600" dirty="0">
                <a:latin typeface="微软雅黑" panose="020B0503020204020204" pitchFamily="34" charset="-122"/>
                <a:ea typeface="微软雅黑" panose="020B0503020204020204" pitchFamily="34" charset="-122"/>
              </a:rPr>
              <a:t>cookie</a:t>
            </a:r>
            <a:r>
              <a:rPr kumimoji="1" lang="zh-CN" altLang="en-US" sz="1600" dirty="0">
                <a:latin typeface="微软雅黑" panose="020B0503020204020204" pitchFamily="34" charset="-122"/>
                <a:ea typeface="微软雅黑" panose="020B0503020204020204" pitchFamily="34" charset="-122"/>
              </a:rPr>
              <a:t>中，也被叫做</a:t>
            </a:r>
            <a:r>
              <a:rPr kumimoji="1" lang="en-GB" altLang="zh-CN" sz="1600" dirty="0" err="1">
                <a:latin typeface="微软雅黑" panose="020B0503020204020204" pitchFamily="34" charset="-122"/>
                <a:ea typeface="微软雅黑" panose="020B0503020204020204" pitchFamily="34" charset="-122"/>
              </a:rPr>
              <a:t>baiduid</a:t>
            </a:r>
            <a:r>
              <a:rPr kumimoji="1" lang="zh-CN" altLang="en-GB"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用户不清缓存的情况下，</a:t>
            </a:r>
            <a:r>
              <a:rPr kumimoji="1" lang="en-GB"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保持不变，因此可用来唯一标识用户。</a:t>
            </a:r>
            <a:endParaRPr kumimoji="1" lang="en-US" altLang="zh-CN" sz="16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endParaRPr kumimoji="1" lang="en-US" altLang="zh-CN" sz="16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en"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新鲜度：当前的点击或者检索时间减去浏览器</a:t>
            </a:r>
            <a:r>
              <a:rPr kumimoji="1" lang="en"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生成的时间。</a:t>
            </a:r>
            <a:endParaRPr kumimoji="1" lang="en-US" altLang="zh-CN" sz="16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endParaRPr kumimoji="1" lang="en-US" altLang="zh-CN" sz="16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zh-CN" altLang="en-US" sz="1600" dirty="0">
                <a:latin typeface="微软雅黑" panose="020B0503020204020204" pitchFamily="34" charset="-122"/>
                <a:ea typeface="微软雅黑" panose="020B0503020204020204" pitchFamily="34" charset="-122"/>
              </a:rPr>
              <a:t>常见作弊表现为清</a:t>
            </a:r>
            <a:r>
              <a:rPr kumimoji="1" lang="en" altLang="zh-CN" sz="1600" dirty="0">
                <a:latin typeface="微软雅黑" panose="020B0503020204020204" pitchFamily="34" charset="-122"/>
                <a:ea typeface="微软雅黑" panose="020B0503020204020204" pitchFamily="34" charset="-122"/>
              </a:rPr>
              <a:t>cookie</a:t>
            </a:r>
            <a:r>
              <a:rPr kumimoji="1" lang="zh-CN" altLang="e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在特征上表现为</a:t>
            </a:r>
            <a:r>
              <a:rPr kumimoji="1" lang="en"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新鲜度较小。</a:t>
            </a:r>
          </a:p>
          <a:p>
            <a:pPr defTabSz="914400">
              <a:lnSpc>
                <a:spcPct val="150000"/>
              </a:lnSpc>
              <a:spcBef>
                <a:spcPts val="0"/>
              </a:spcBef>
              <a:buFont typeface="Wingdings" pitchFamily="2" charset="2"/>
              <a:buChar char="Ø"/>
            </a:pPr>
            <a:endParaRPr kumimoji="1" lang="zh-CN" altLang="en-US" sz="16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endParaRPr kumimoji="1" lang="zh-CN" altLang="en-US" sz="16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endParaRPr lang="zh-CN" altLang="en-US" sz="1600" dirty="0">
              <a:solidFill>
                <a:prstClr val="black"/>
              </a:solidFill>
              <a:latin typeface="等线"/>
              <a:ea typeface="等线" panose="02010600030101010101" pitchFamily="2" charset="-122"/>
            </a:endParaRPr>
          </a:p>
          <a:p>
            <a:pPr marL="0" indent="0">
              <a:spcAft>
                <a:spcPts val="600"/>
              </a:spcAft>
              <a:buSzPct val="120000"/>
              <a:buNone/>
            </a:pPr>
            <a:endParaRPr kumimoji="1" lang="en-US" altLang="zh-CN" sz="18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36183237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sp>
        <p:nvSpPr>
          <p:cNvPr id="6" name="内容占位符 2"/>
          <p:cNvSpPr>
            <a:spLocks noGrp="1"/>
          </p:cNvSpPr>
          <p:nvPr>
            <p:ph idx="1"/>
          </p:nvPr>
        </p:nvSpPr>
        <p:spPr>
          <a:xfrm>
            <a:off x="480105" y="1002754"/>
            <a:ext cx="8170409" cy="3874046"/>
          </a:xfrm>
        </p:spPr>
        <p:txBody>
          <a:bodyPr>
            <a:noAutofit/>
          </a:bodyPr>
          <a:lstStyle/>
          <a:p>
            <a:pPr>
              <a:spcAft>
                <a:spcPts val="600"/>
              </a:spcAft>
              <a:buSzPct val="120000"/>
              <a:buFont typeface="Wingdings" pitchFamily="2" charset="2"/>
              <a:buChar char="l"/>
            </a:pPr>
            <a:r>
              <a:rPr kumimoji="1" lang="zh-CN" altLang="en-US" sz="1800" dirty="0">
                <a:latin typeface="微软雅黑" panose="020B0503020204020204" pitchFamily="34" charset="-122"/>
                <a:ea typeface="微软雅黑" panose="020B0503020204020204" pitchFamily="34" charset="-122"/>
                <a:cs typeface="宋体" charset="0"/>
              </a:rPr>
              <a:t>基本特征：</a:t>
            </a:r>
            <a:r>
              <a:rPr kumimoji="1" lang="en-US" altLang="zh-CN" sz="1800" dirty="0">
                <a:latin typeface="微软雅黑" panose="020B0503020204020204" pitchFamily="34" charset="-122"/>
                <a:ea typeface="微软雅黑" panose="020B0503020204020204" pitchFamily="34" charset="-122"/>
                <a:cs typeface="宋体" charset="0"/>
              </a:rPr>
              <a:t>ck</a:t>
            </a:r>
            <a:r>
              <a:rPr kumimoji="1" lang="zh-CN" altLang="en-US" sz="1800" dirty="0">
                <a:latin typeface="微软雅黑" panose="020B0503020204020204" pitchFamily="34" charset="-122"/>
                <a:ea typeface="微软雅黑" panose="020B0503020204020204" pitchFamily="34" charset="-122"/>
                <a:cs typeface="宋体" charset="0"/>
              </a:rPr>
              <a:t> 特征</a:t>
            </a: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网民浏览器前端行为特征集合，搜索引擎利用</a:t>
            </a:r>
            <a:r>
              <a:rPr kumimoji="1" lang="en-US" altLang="zh-CN" sz="1600" dirty="0" err="1">
                <a:latin typeface="微软雅黑" panose="020B0503020204020204" pitchFamily="34" charset="-122"/>
                <a:ea typeface="微软雅黑" panose="020B0503020204020204" pitchFamily="34" charset="-122"/>
                <a:cs typeface="宋体" charset="0"/>
              </a:rPr>
              <a:t>js</a:t>
            </a:r>
            <a:r>
              <a:rPr kumimoji="1" lang="zh-CN" altLang="en-US" sz="1600" dirty="0">
                <a:latin typeface="微软雅黑" panose="020B0503020204020204" pitchFamily="34" charset="-122"/>
                <a:ea typeface="微软雅黑" panose="020B0503020204020204" pitchFamily="34" charset="-122"/>
                <a:cs typeface="宋体" charset="0"/>
              </a:rPr>
              <a:t>记录，将这些信息附加到点击</a:t>
            </a:r>
            <a:r>
              <a:rPr kumimoji="1" lang="en-US" altLang="zh-CN" sz="1600" dirty="0" err="1">
                <a:latin typeface="微软雅黑" panose="020B0503020204020204" pitchFamily="34" charset="-122"/>
                <a:ea typeface="微软雅黑" panose="020B0503020204020204" pitchFamily="34" charset="-122"/>
                <a:cs typeface="宋体" charset="0"/>
              </a:rPr>
              <a:t>url</a:t>
            </a:r>
            <a:r>
              <a:rPr kumimoji="1" lang="zh-CN" altLang="en-US" sz="1600" dirty="0">
                <a:latin typeface="微软雅黑" panose="020B0503020204020204" pitchFamily="34" charset="-122"/>
                <a:ea typeface="微软雅黑" panose="020B0503020204020204" pitchFamily="34" charset="-122"/>
                <a:cs typeface="宋体" charset="0"/>
              </a:rPr>
              <a:t>串传给后端供后续使用。</a:t>
            </a:r>
            <a:endParaRPr kumimoji="1" lang="en-US" altLang="zh-CN" sz="1600" dirty="0">
              <a:latin typeface="微软雅黑" panose="020B0503020204020204" pitchFamily="34" charset="-122"/>
              <a:ea typeface="微软雅黑" panose="020B0503020204020204" pitchFamily="34" charset="-122"/>
              <a:cs typeface="宋体" charset="0"/>
            </a:endParaRP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特征包括</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 屏幕按下弹起时间差</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 发生广告点击的页面坐标</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 鼠标从首次移入广告到 点击广告的时间差等。</a:t>
            </a:r>
            <a:endParaRPr kumimoji="1" lang="en-US" altLang="zh-CN" sz="1600" dirty="0">
              <a:latin typeface="微软雅黑" panose="020B0503020204020204" pitchFamily="34" charset="-122"/>
              <a:ea typeface="微软雅黑" panose="020B0503020204020204" pitchFamily="34" charset="-122"/>
              <a:cs typeface="宋体" charset="0"/>
            </a:endParaRP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用户点击时，</a:t>
            </a:r>
            <a:r>
              <a:rPr kumimoji="1" lang="en-US" altLang="zh-CN" sz="1600" dirty="0">
                <a:latin typeface="微软雅黑" panose="020B0503020204020204" pitchFamily="34" charset="-122"/>
                <a:ea typeface="微软雅黑" panose="020B0503020204020204" pitchFamily="34" charset="-122"/>
                <a:cs typeface="宋体" charset="0"/>
              </a:rPr>
              <a:t>ck</a:t>
            </a:r>
            <a:r>
              <a:rPr kumimoji="1" lang="zh-CN" altLang="en-US" sz="1600" dirty="0">
                <a:latin typeface="微软雅黑" panose="020B0503020204020204" pitchFamily="34" charset="-122"/>
                <a:ea typeface="微软雅黑" panose="020B0503020204020204" pitchFamily="34" charset="-122"/>
                <a:cs typeface="宋体" charset="0"/>
              </a:rPr>
              <a:t>域会自动根据用户的点击行为进行更新，如果日志中</a:t>
            </a:r>
            <a:r>
              <a:rPr kumimoji="1" lang="en-US" altLang="zh-CN" sz="1600" dirty="0">
                <a:latin typeface="微软雅黑" panose="020B0503020204020204" pitchFamily="34" charset="-122"/>
                <a:ea typeface="微软雅黑" panose="020B0503020204020204" pitchFamily="34" charset="-122"/>
                <a:cs typeface="宋体" charset="0"/>
              </a:rPr>
              <a:t>ck2</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ck3</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ck4</a:t>
            </a:r>
            <a:r>
              <a:rPr kumimoji="1" lang="zh-CN" altLang="en-US" sz="1600" dirty="0">
                <a:latin typeface="微软雅黑" panose="020B0503020204020204" pitchFamily="34" charset="-122"/>
                <a:ea typeface="微软雅黑" panose="020B0503020204020204" pitchFamily="34" charset="-122"/>
                <a:cs typeface="宋体" charset="0"/>
              </a:rPr>
              <a:t>全部为</a:t>
            </a:r>
            <a:r>
              <a:rPr kumimoji="1" lang="en-US" altLang="zh-CN" sz="1600" dirty="0">
                <a:latin typeface="微软雅黑" panose="020B0503020204020204" pitchFamily="34" charset="-122"/>
                <a:ea typeface="微软雅黑" panose="020B0503020204020204" pitchFamily="34" charset="-122"/>
                <a:cs typeface="宋体" charset="0"/>
              </a:rPr>
              <a:t>0</a:t>
            </a:r>
            <a:r>
              <a:rPr kumimoji="1" lang="zh-CN" altLang="en-US" sz="1600" dirty="0">
                <a:latin typeface="微软雅黑" panose="020B0503020204020204" pitchFamily="34" charset="-122"/>
                <a:ea typeface="微软雅黑" panose="020B0503020204020204" pitchFamily="34" charset="-122"/>
                <a:cs typeface="宋体" charset="0"/>
              </a:rPr>
              <a:t>，极有可能是作弊日志。</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url</a:t>
            </a:r>
            <a:r>
              <a:rPr kumimoji="1" lang="zh-CN" altLang="en-US" sz="1600" dirty="0">
                <a:latin typeface="微软雅黑" panose="020B0503020204020204" pitchFamily="34" charset="-122"/>
                <a:ea typeface="微软雅黑" panose="020B0503020204020204" pitchFamily="34" charset="-122"/>
                <a:cs typeface="宋体" charset="0"/>
              </a:rPr>
              <a:t>点击串</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 接入方检索端构造指定格式的点击</a:t>
            </a:r>
            <a:r>
              <a:rPr kumimoji="1" lang="en-US" altLang="zh-CN" sz="1600" dirty="0" err="1">
                <a:latin typeface="微软雅黑" panose="020B0503020204020204" pitchFamily="34" charset="-122"/>
                <a:ea typeface="微软雅黑" panose="020B0503020204020204" pitchFamily="34" charset="-122"/>
                <a:cs typeface="宋体" charset="0"/>
              </a:rPr>
              <a:t>url</a:t>
            </a:r>
            <a:r>
              <a:rPr kumimoji="1" lang="zh-CN" altLang="en-US" sz="1600" dirty="0">
                <a:latin typeface="微软雅黑" panose="020B0503020204020204" pitchFamily="34" charset="-122"/>
                <a:ea typeface="微软雅黑" panose="020B0503020204020204" pitchFamily="34" charset="-122"/>
                <a:cs typeface="宋体" charset="0"/>
              </a:rPr>
              <a:t>提供给用户，用户点击后点击信息经</a:t>
            </a:r>
            <a:r>
              <a:rPr kumimoji="1" lang="en-US" altLang="zh-CN" sz="1600" dirty="0">
                <a:latin typeface="微软雅黑" panose="020B0503020204020204" pitchFamily="34" charset="-122"/>
                <a:ea typeface="微软雅黑" panose="020B0503020204020204" pitchFamily="34" charset="-122"/>
                <a:cs typeface="宋体" charset="0"/>
              </a:rPr>
              <a:t>BFE</a:t>
            </a:r>
            <a:r>
              <a:rPr kumimoji="1" lang="zh-CN" altLang="en-US" sz="1600" dirty="0">
                <a:latin typeface="微软雅黑" panose="020B0503020204020204" pitchFamily="34" charset="-122"/>
                <a:ea typeface="微软雅黑" panose="020B0503020204020204" pitchFamily="34" charset="-122"/>
                <a:cs typeface="宋体" charset="0"/>
              </a:rPr>
              <a:t>，由</a:t>
            </a:r>
            <a:r>
              <a:rPr kumimoji="1" lang="en-US" altLang="zh-CN" sz="1600" dirty="0">
                <a:latin typeface="微软雅黑" panose="020B0503020204020204" pitchFamily="34" charset="-122"/>
                <a:ea typeface="微软雅黑" panose="020B0503020204020204" pitchFamily="34" charset="-122"/>
                <a:cs typeface="宋体" charset="0"/>
              </a:rPr>
              <a:t>anti </a:t>
            </a:r>
            <a:r>
              <a:rPr kumimoji="1" lang="en-US" altLang="zh-CN" sz="1600" dirty="0" err="1">
                <a:latin typeface="微软雅黑" panose="020B0503020204020204" pitchFamily="34" charset="-122"/>
                <a:ea typeface="微软雅黑" panose="020B0503020204020204" pitchFamily="34" charset="-122"/>
                <a:cs typeface="宋体" charset="0"/>
              </a:rPr>
              <a:t>rcv</a:t>
            </a:r>
            <a:r>
              <a:rPr kumimoji="1" lang="zh-CN" altLang="en-US" sz="1600" dirty="0">
                <a:latin typeface="微软雅黑" panose="020B0503020204020204" pitchFamily="34" charset="-122"/>
                <a:ea typeface="微软雅黑" panose="020B0503020204020204" pitchFamily="34" charset="-122"/>
                <a:cs typeface="宋体" charset="0"/>
              </a:rPr>
              <a:t>接受并跳转到广告主页面。</a:t>
            </a: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en-US" altLang="zh-CN" sz="1600" dirty="0">
                <a:latin typeface="微软雅黑" panose="020B0503020204020204" pitchFamily="34" charset="-122"/>
                <a:ea typeface="微软雅黑" panose="020B0503020204020204" pitchFamily="34" charset="-122"/>
                <a:cs typeface="宋体" charset="0"/>
              </a:rPr>
              <a:t>	</a:t>
            </a:r>
            <a:r>
              <a:rPr kumimoji="1" lang="en-US" altLang="zh-CN" sz="1600" dirty="0" err="1">
                <a:latin typeface="微软雅黑" panose="020B0503020204020204" pitchFamily="34" charset="-122"/>
                <a:ea typeface="微软雅黑" panose="020B0503020204020204" pitchFamily="34" charset="-122"/>
                <a:cs typeface="宋体" charset="0"/>
              </a:rPr>
              <a:t>eg.</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200" dirty="0">
                <a:latin typeface="微软雅黑" panose="020B0503020204020204" pitchFamily="34" charset="-122"/>
                <a:ea typeface="微软雅黑" panose="020B0503020204020204" pitchFamily="34" charset="-122"/>
                <a:cs typeface="宋体" charset="0"/>
              </a:rPr>
              <a:t>http://www.baidu.com/xxxx.php?url=iii.jjjj.kkk&amp;ck=xxx</a:t>
            </a:r>
          </a:p>
          <a:p>
            <a:pPr lvl="1">
              <a:spcAft>
                <a:spcPts val="600"/>
              </a:spcAft>
              <a:buSzPct val="120000"/>
            </a:pPr>
            <a:endParaRPr kumimoji="1" lang="zh-CN" altLang="en-US" sz="12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7532743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graphicFrame>
        <p:nvGraphicFramePr>
          <p:cNvPr id="7" name="表格 6"/>
          <p:cNvGraphicFramePr>
            <a:graphicFrameLocks noGrp="1"/>
          </p:cNvGraphicFramePr>
          <p:nvPr/>
        </p:nvGraphicFramePr>
        <p:xfrm>
          <a:off x="63060" y="2"/>
          <a:ext cx="9028387" cy="5200670"/>
        </p:xfrm>
        <a:graphic>
          <a:graphicData uri="http://schemas.openxmlformats.org/drawingml/2006/table">
            <a:tbl>
              <a:tblPr firstRow="1" firstCol="1" bandRow="1">
                <a:tableStyleId>{5C22544A-7EE6-4342-B048-85BDC9FD1C3A}</a:tableStyleId>
              </a:tblPr>
              <a:tblGrid>
                <a:gridCol w="789984">
                  <a:extLst>
                    <a:ext uri="{9D8B030D-6E8A-4147-A177-3AD203B41FA5}">
                      <a16:colId xmlns:a16="http://schemas.microsoft.com/office/drawing/2014/main" val="20000"/>
                    </a:ext>
                  </a:extLst>
                </a:gridCol>
                <a:gridCol w="4292990">
                  <a:extLst>
                    <a:ext uri="{9D8B030D-6E8A-4147-A177-3AD203B41FA5}">
                      <a16:colId xmlns:a16="http://schemas.microsoft.com/office/drawing/2014/main" val="20001"/>
                    </a:ext>
                  </a:extLst>
                </a:gridCol>
                <a:gridCol w="3945413">
                  <a:extLst>
                    <a:ext uri="{9D8B030D-6E8A-4147-A177-3AD203B41FA5}">
                      <a16:colId xmlns:a16="http://schemas.microsoft.com/office/drawing/2014/main" val="20002"/>
                    </a:ext>
                  </a:extLst>
                </a:gridCol>
              </a:tblGrid>
              <a:tr h="350837">
                <a:tc>
                  <a:txBody>
                    <a:bodyPr/>
                    <a:lstStyle/>
                    <a:p>
                      <a:pPr algn="ctr">
                        <a:lnSpc>
                          <a:spcPts val="1200"/>
                        </a:lnSpc>
                        <a:spcAft>
                          <a:spcPts val="0"/>
                        </a:spcAft>
                      </a:pPr>
                      <a:r>
                        <a:rPr lang="en-US" sz="1500" kern="100" dirty="0">
                          <a:solidFill>
                            <a:schemeClr val="tx1"/>
                          </a:solidFill>
                          <a:effectLst/>
                        </a:rPr>
                        <a:t>URL</a:t>
                      </a:r>
                      <a:r>
                        <a:rPr lang="zh-CN" sz="1500" kern="100" dirty="0">
                          <a:solidFill>
                            <a:schemeClr val="tx1"/>
                          </a:solidFill>
                          <a:effectLst/>
                        </a:rPr>
                        <a:t>成员</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500" kern="100">
                          <a:solidFill>
                            <a:schemeClr val="tx1"/>
                          </a:solidFill>
                          <a:effectLst/>
                        </a:rPr>
                        <a:t>内容</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500" kern="100" dirty="0">
                          <a:solidFill>
                            <a:schemeClr val="tx1"/>
                          </a:solidFill>
                          <a:effectLst/>
                        </a:rPr>
                        <a:t>编码方式和包含的信息</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0"/>
                  </a:ext>
                </a:extLst>
              </a:tr>
              <a:tr h="407118">
                <a:tc>
                  <a:txBody>
                    <a:bodyPr/>
                    <a:lstStyle/>
                    <a:p>
                      <a:pPr algn="ctr">
                        <a:lnSpc>
                          <a:spcPts val="1200"/>
                        </a:lnSpc>
                        <a:spcAft>
                          <a:spcPts val="0"/>
                        </a:spcAft>
                      </a:pPr>
                      <a:r>
                        <a:rPr lang="zh-CN" sz="1500" kern="100">
                          <a:solidFill>
                            <a:schemeClr val="tx1"/>
                          </a:solidFill>
                          <a:effectLst/>
                        </a:rPr>
                        <a:t>前缀</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https://www.baidu.com/baidu.php?</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 </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1"/>
                  </a:ext>
                </a:extLst>
              </a:tr>
              <a:tr h="908791">
                <a:tc>
                  <a:txBody>
                    <a:bodyPr/>
                    <a:lstStyle/>
                    <a:p>
                      <a:pPr algn="ctr">
                        <a:lnSpc>
                          <a:spcPts val="1200"/>
                        </a:lnSpc>
                        <a:spcAft>
                          <a:spcPts val="0"/>
                        </a:spcAft>
                      </a:pPr>
                      <a:r>
                        <a:rPr lang="en-US" sz="1500" kern="100" dirty="0">
                          <a:solidFill>
                            <a:schemeClr val="tx1"/>
                          </a:solidFill>
                          <a:effectLst/>
                        </a:rPr>
                        <a:t>I</a:t>
                      </a:r>
                      <a:r>
                        <a:rPr lang="zh-CN" sz="1500" kern="100" dirty="0">
                          <a:solidFill>
                            <a:schemeClr val="tx1"/>
                          </a:solidFill>
                          <a:effectLst/>
                        </a:rPr>
                        <a:t>域</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err="1">
                          <a:solidFill>
                            <a:schemeClr val="tx1"/>
                          </a:solidFill>
                          <a:effectLst/>
                        </a:rPr>
                        <a:t>url</a:t>
                      </a:r>
                      <a:r>
                        <a:rPr lang="en-US" sz="1500" kern="100" dirty="0">
                          <a:solidFill>
                            <a:schemeClr val="tx1"/>
                          </a:solidFill>
                          <a:effectLst/>
                        </a:rPr>
                        <a:t>=Jb0K00aqDdbqTBp6O7_jKa9wT0-AUq1EhWXstJYQiLOHxhto2nO5lk7pv6RpU8-naju8yE2b-xlPfkHCjBWjo2tbGnvrw5wgQEkaNTkjX4ihkXEfJOHgz5lYxQ-MMSBuY2IaR4OcNXLxEDlcbrU4FeeHJaJ8yH5qjTpW5OpHBalfX_Uaef.</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200" kern="100" dirty="0">
                          <a:solidFill>
                            <a:schemeClr val="tx1"/>
                          </a:solidFill>
                          <a:effectLst/>
                        </a:rPr>
                        <a:t>加密、</a:t>
                      </a:r>
                      <a:r>
                        <a:rPr lang="en-US" sz="1200" kern="100" dirty="0">
                          <a:solidFill>
                            <a:schemeClr val="tx1"/>
                          </a:solidFill>
                          <a:effectLst/>
                        </a:rPr>
                        <a:t>base64</a:t>
                      </a:r>
                      <a:r>
                        <a:rPr lang="zh-CN" sz="1200" kern="100" dirty="0">
                          <a:solidFill>
                            <a:schemeClr val="tx1"/>
                          </a:solidFill>
                          <a:effectLst/>
                        </a:rPr>
                        <a:t>编码，计费信息，例如当前时间、出价、竞价、</a:t>
                      </a:r>
                      <a:r>
                        <a:rPr lang="en-US" sz="1200" kern="100" dirty="0">
                          <a:solidFill>
                            <a:schemeClr val="tx1"/>
                          </a:solidFill>
                          <a:effectLst/>
                        </a:rPr>
                        <a:t>userid</a:t>
                      </a:r>
                      <a:r>
                        <a:rPr lang="zh-CN" sz="1200" kern="100" dirty="0">
                          <a:solidFill>
                            <a:schemeClr val="tx1"/>
                          </a:solidFill>
                          <a:effectLst/>
                        </a:rPr>
                        <a:t>、</a:t>
                      </a:r>
                      <a:r>
                        <a:rPr lang="en-US" sz="1200" kern="100" dirty="0" err="1">
                          <a:solidFill>
                            <a:schemeClr val="tx1"/>
                          </a:solidFill>
                          <a:effectLst/>
                        </a:rPr>
                        <a:t>wordid</a:t>
                      </a:r>
                      <a:r>
                        <a:rPr lang="zh-CN" sz="1200" kern="100" dirty="0">
                          <a:solidFill>
                            <a:schemeClr val="tx1"/>
                          </a:solidFill>
                          <a:effectLst/>
                        </a:rPr>
                        <a:t>、</a:t>
                      </a:r>
                      <a:r>
                        <a:rPr lang="en-US" sz="1200" kern="100" dirty="0" err="1">
                          <a:solidFill>
                            <a:schemeClr val="tx1"/>
                          </a:solidFill>
                          <a:effectLst/>
                        </a:rPr>
                        <a:t>planid</a:t>
                      </a:r>
                      <a:r>
                        <a:rPr lang="zh-CN" sz="1200" kern="100" dirty="0">
                          <a:solidFill>
                            <a:schemeClr val="tx1"/>
                          </a:solidFill>
                          <a:effectLst/>
                        </a:rPr>
                        <a:t>、请求</a:t>
                      </a:r>
                      <a:r>
                        <a:rPr lang="en-US" sz="1200" kern="100" dirty="0">
                          <a:solidFill>
                            <a:schemeClr val="tx1"/>
                          </a:solidFill>
                          <a:effectLst/>
                        </a:rPr>
                        <a:t>ip</a:t>
                      </a:r>
                      <a:r>
                        <a:rPr lang="zh-CN" sz="1200" kern="100" dirty="0">
                          <a:solidFill>
                            <a:schemeClr val="tx1"/>
                          </a:solidFill>
                          <a:effectLst/>
                        </a:rPr>
                        <a:t>等等</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2"/>
                  </a:ext>
                </a:extLst>
              </a:tr>
              <a:tr h="300519">
                <a:tc>
                  <a:txBody>
                    <a:bodyPr/>
                    <a:lstStyle/>
                    <a:p>
                      <a:pPr algn="ctr">
                        <a:lnSpc>
                          <a:spcPts val="1200"/>
                        </a:lnSpc>
                        <a:spcAft>
                          <a:spcPts val="0"/>
                        </a:spcAft>
                      </a:pPr>
                      <a:r>
                        <a:rPr lang="en-US" sz="1500" kern="100">
                          <a:solidFill>
                            <a:schemeClr val="tx1"/>
                          </a:solidFill>
                          <a:effectLst/>
                        </a:rPr>
                        <a:t>J</a:t>
                      </a:r>
                      <a:r>
                        <a:rPr lang="zh-CN" sz="1500" kern="100">
                          <a:solidFill>
                            <a:schemeClr val="tx1"/>
                          </a:solidFill>
                          <a:effectLst/>
                        </a:rPr>
                        <a:t>域</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DR_ao0zBjEZBmE8uzvyuQQQQ2qB-muCyrPXOFYJ0.</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200" kern="100" dirty="0">
                          <a:solidFill>
                            <a:schemeClr val="tx1"/>
                          </a:solidFill>
                          <a:effectLst/>
                        </a:rPr>
                        <a:t>压缩、</a:t>
                      </a:r>
                      <a:r>
                        <a:rPr lang="en-US" sz="1200" kern="100" dirty="0">
                          <a:solidFill>
                            <a:schemeClr val="tx1"/>
                          </a:solidFill>
                          <a:effectLst/>
                        </a:rPr>
                        <a:t>base64</a:t>
                      </a:r>
                      <a:r>
                        <a:rPr lang="zh-CN" sz="1200" kern="100" dirty="0">
                          <a:solidFill>
                            <a:schemeClr val="tx1"/>
                          </a:solidFill>
                          <a:effectLst/>
                        </a:rPr>
                        <a:t>编码，主要包含跳转</a:t>
                      </a:r>
                      <a:r>
                        <a:rPr lang="en-US" sz="1200" kern="100" dirty="0">
                          <a:solidFill>
                            <a:schemeClr val="tx1"/>
                          </a:solidFill>
                          <a:effectLst/>
                        </a:rPr>
                        <a:t>URL</a:t>
                      </a:r>
                      <a:r>
                        <a:rPr lang="zh-CN" sz="1200" kern="100" dirty="0">
                          <a:solidFill>
                            <a:schemeClr val="tx1"/>
                          </a:solidFill>
                          <a:effectLst/>
                        </a:rPr>
                        <a:t>、计费名，例如</a:t>
                      </a:r>
                      <a:r>
                        <a:rPr lang="en-US" sz="1200" kern="100" dirty="0">
                          <a:solidFill>
                            <a:schemeClr val="tx1"/>
                          </a:solidFill>
                          <a:effectLst/>
                        </a:rPr>
                        <a:t>e=</a:t>
                      </a:r>
                      <a:r>
                        <a:rPr lang="en-US" sz="1200" kern="100" dirty="0" err="1">
                          <a:solidFill>
                            <a:schemeClr val="tx1"/>
                          </a:solidFill>
                          <a:effectLst/>
                        </a:rPr>
                        <a:t>url</a:t>
                      </a:r>
                      <a:r>
                        <a:rPr lang="en-US" sz="1200" kern="100" dirty="0">
                          <a:solidFill>
                            <a:schemeClr val="tx1"/>
                          </a:solidFill>
                          <a:effectLst/>
                        </a:rPr>
                        <a:t>\0n=</a:t>
                      </a:r>
                      <a:r>
                        <a:rPr lang="en-US" sz="1200" kern="100" dirty="0" err="1">
                          <a:solidFill>
                            <a:schemeClr val="tx1"/>
                          </a:solidFill>
                          <a:effectLst/>
                        </a:rPr>
                        <a:t>cntname</a:t>
                      </a:r>
                      <a:r>
                        <a:rPr lang="en-US" sz="1200" kern="100" dirty="0">
                          <a:solidFill>
                            <a:schemeClr val="tx1"/>
                          </a:solidFill>
                          <a:effectLst/>
                        </a:rPr>
                        <a:t>\0crc=2727\0</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3"/>
                  </a:ext>
                </a:extLst>
              </a:tr>
              <a:tr h="459790">
                <a:tc>
                  <a:txBody>
                    <a:bodyPr/>
                    <a:lstStyle/>
                    <a:p>
                      <a:pPr algn="ctr">
                        <a:lnSpc>
                          <a:spcPts val="1200"/>
                        </a:lnSpc>
                        <a:spcAft>
                          <a:spcPts val="0"/>
                        </a:spcAft>
                      </a:pPr>
                      <a:r>
                        <a:rPr lang="en-US" sz="1500" kern="100" dirty="0">
                          <a:solidFill>
                            <a:schemeClr val="tx1"/>
                          </a:solidFill>
                          <a:effectLst/>
                        </a:rPr>
                        <a:t>K</a:t>
                      </a:r>
                      <a:r>
                        <a:rPr lang="zh-CN" sz="1500" kern="100" dirty="0">
                          <a:solidFill>
                            <a:schemeClr val="tx1"/>
                          </a:solidFill>
                          <a:effectLst/>
                        </a:rPr>
                        <a:t>域</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U1Yk0ZDq1tJeJ0KY5TO28l60pyYqnWcd0ATqTZnz0ZNG5yF9pywd0ZKGujYk0APGujY1rjR0UgfqnH0YP7tknjDLg1</a:t>
                      </a:r>
                      <a:r>
                        <a:rPr lang="zh-CN" altLang="en-US" sz="1500" kern="100" dirty="0">
                          <a:solidFill>
                            <a:schemeClr val="tx1"/>
                          </a:solidFill>
                          <a:effectLst/>
                        </a:rPr>
                        <a:t>*******</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200" kern="100" dirty="0">
                          <a:solidFill>
                            <a:schemeClr val="tx1"/>
                          </a:solidFill>
                          <a:effectLst/>
                        </a:rPr>
                        <a:t> </a:t>
                      </a: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Base64</a:t>
                      </a:r>
                      <a:r>
                        <a:rPr lang="zh-CN" sz="1200" kern="100" dirty="0">
                          <a:solidFill>
                            <a:schemeClr val="tx1"/>
                          </a:solidFill>
                          <a:effectLst/>
                        </a:rPr>
                        <a:t>编码，主要包含检索词</a:t>
                      </a:r>
                    </a:p>
                    <a:p>
                      <a:pPr algn="ctr">
                        <a:lnSpc>
                          <a:spcPts val="1200"/>
                        </a:lnSpc>
                        <a:spcAft>
                          <a:spcPts val="0"/>
                        </a:spcAft>
                      </a:pPr>
                      <a:r>
                        <a:rPr lang="en-US" sz="1200" kern="100" dirty="0">
                          <a:solidFill>
                            <a:schemeClr val="tx1"/>
                          </a:solidFill>
                          <a:effectLst/>
                        </a:rPr>
                        <a:t> </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4"/>
                  </a:ext>
                </a:extLst>
              </a:tr>
              <a:tr h="2544338">
                <a:tc>
                  <a:txBody>
                    <a:bodyPr/>
                    <a:lstStyle/>
                    <a:p>
                      <a:pPr algn="ctr">
                        <a:lnSpc>
                          <a:spcPts val="1200"/>
                        </a:lnSpc>
                        <a:spcAft>
                          <a:spcPts val="0"/>
                        </a:spcAft>
                      </a:pPr>
                      <a:r>
                        <a:rPr lang="en-US" sz="1500" kern="100">
                          <a:solidFill>
                            <a:schemeClr val="tx1"/>
                          </a:solidFill>
                          <a:effectLst/>
                        </a:rPr>
                        <a:t>CK</a:t>
                      </a:r>
                      <a:r>
                        <a:rPr lang="zh-CN" sz="1500" kern="100">
                          <a:solidFill>
                            <a:schemeClr val="tx1"/>
                          </a:solidFill>
                          <a:effectLst/>
                        </a:rPr>
                        <a:t>域</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altLang="zh-CN" sz="1500" kern="1200" dirty="0">
                          <a:solidFill>
                            <a:schemeClr val="dk1"/>
                          </a:solidFill>
                          <a:effectLst/>
                          <a:latin typeface="+mn-lt"/>
                          <a:ea typeface="+mn-ea"/>
                          <a:cs typeface="+mn-cs"/>
                        </a:rPr>
                        <a:t>&amp;ck=6530.3.9999.341.201.282.153.1611&amp;shh=</a:t>
                      </a:r>
                      <a:r>
                        <a:rPr lang="en-US" altLang="zh-CN" sz="1500" kern="1200" dirty="0" err="1">
                          <a:solidFill>
                            <a:schemeClr val="dk1"/>
                          </a:solidFill>
                          <a:effectLst/>
                          <a:latin typeface="+mn-lt"/>
                          <a:ea typeface="+mn-ea"/>
                          <a:cs typeface="+mn-cs"/>
                        </a:rPr>
                        <a:t>www.baidu.com&amp;sht</a:t>
                      </a:r>
                      <a:r>
                        <a:rPr lang="en-US" altLang="zh-CN" sz="1500" kern="1200" dirty="0">
                          <a:solidFill>
                            <a:schemeClr val="dk1"/>
                          </a:solidFill>
                          <a:effectLst/>
                          <a:latin typeface="+mn-lt"/>
                          <a:ea typeface="+mn-ea"/>
                          <a:cs typeface="+mn-cs"/>
                        </a:rPr>
                        <a:t>=</a:t>
                      </a:r>
                      <a:r>
                        <a:rPr lang="en-US" altLang="zh-CN" sz="1500" kern="1200" dirty="0" err="1">
                          <a:solidFill>
                            <a:schemeClr val="dk1"/>
                          </a:solidFill>
                          <a:effectLst/>
                          <a:latin typeface="+mn-lt"/>
                          <a:ea typeface="+mn-ea"/>
                          <a:cs typeface="+mn-cs"/>
                        </a:rPr>
                        <a:t>baiduhome_pg</a:t>
                      </a:r>
                      <a:r>
                        <a:rPr lang="zh-CN" altLang="zh-CN" sz="1500" dirty="0">
                          <a:effectLst/>
                        </a:rPr>
                        <a:t> </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200" kern="100" dirty="0">
                          <a:solidFill>
                            <a:schemeClr val="tx1"/>
                          </a:solidFill>
                          <a:effectLst/>
                        </a:rPr>
                        <a:t>无，鼠标点击和用户行为信息</a:t>
                      </a:r>
                      <a:endParaRPr lang="en-US" altLang="zh-CN" sz="1200" kern="100" dirty="0">
                        <a:solidFill>
                          <a:schemeClr val="tx1"/>
                        </a:solidFill>
                        <a:effectLst/>
                      </a:endParaRPr>
                    </a:p>
                    <a:p>
                      <a:pPr algn="ctr">
                        <a:lnSpc>
                          <a:spcPts val="1200"/>
                        </a:lnSpc>
                        <a:spcAft>
                          <a:spcPts val="0"/>
                        </a:spcAft>
                      </a:pP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ck0</a:t>
                      </a:r>
                      <a:r>
                        <a:rPr lang="zh-CN" sz="1200" kern="100" dirty="0">
                          <a:solidFill>
                            <a:schemeClr val="tx1"/>
                          </a:solidFill>
                          <a:effectLst/>
                        </a:rPr>
                        <a:t>校验</a:t>
                      </a:r>
                      <a:r>
                        <a:rPr lang="en-US" sz="1200" kern="100" dirty="0">
                          <a:solidFill>
                            <a:schemeClr val="tx1"/>
                          </a:solidFill>
                          <a:effectLst/>
                        </a:rPr>
                        <a:t>CRC = </a:t>
                      </a:r>
                      <a:r>
                        <a:rPr lang="en-US" altLang="zh-CN" sz="1200" kern="100" dirty="0">
                          <a:solidFill>
                            <a:schemeClr val="tx1"/>
                          </a:solidFill>
                          <a:effectLst/>
                        </a:rPr>
                        <a:t>6530</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ck1</a:t>
                      </a:r>
                      <a:r>
                        <a:rPr lang="zh-CN" sz="1200" kern="100" dirty="0">
                          <a:solidFill>
                            <a:schemeClr val="tx1"/>
                          </a:solidFill>
                          <a:effectLst/>
                        </a:rPr>
                        <a:t>鼠标在广告区域移动次数</a:t>
                      </a:r>
                      <a:r>
                        <a:rPr lang="en-US" sz="1200" kern="100" dirty="0">
                          <a:solidFill>
                            <a:schemeClr val="tx1"/>
                          </a:solidFill>
                          <a:effectLst/>
                        </a:rPr>
                        <a:t> = </a:t>
                      </a:r>
                      <a:r>
                        <a:rPr lang="en-US" altLang="zh-CN" sz="1200" kern="100" dirty="0">
                          <a:solidFill>
                            <a:schemeClr val="tx1"/>
                          </a:solidFill>
                          <a:effectLst/>
                        </a:rPr>
                        <a:t>3</a:t>
                      </a:r>
                      <a:endParaRPr lang="en-US" sz="1200" kern="100" dirty="0">
                        <a:solidFill>
                          <a:schemeClr val="tx1"/>
                        </a:solidFill>
                        <a:effectLst/>
                      </a:endParaRPr>
                    </a:p>
                    <a:p>
                      <a:pPr algn="ctr">
                        <a:lnSpc>
                          <a:spcPts val="1200"/>
                        </a:lnSpc>
                        <a:spcAft>
                          <a:spcPts val="0"/>
                        </a:spcAft>
                      </a:pP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ck2</a:t>
                      </a:r>
                      <a:r>
                        <a:rPr lang="zh-CN" sz="1200" kern="100" dirty="0">
                          <a:solidFill>
                            <a:schemeClr val="tx1"/>
                          </a:solidFill>
                          <a:effectLst/>
                        </a:rPr>
                        <a:t>按下弹起时间差</a:t>
                      </a:r>
                      <a:r>
                        <a:rPr lang="en-US" sz="1200" kern="100" dirty="0">
                          <a:solidFill>
                            <a:schemeClr val="tx1"/>
                          </a:solidFill>
                          <a:effectLst/>
                        </a:rPr>
                        <a:t> = 9999</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ck3 click</a:t>
                      </a:r>
                      <a:r>
                        <a:rPr lang="zh-CN" sz="1200" kern="100" dirty="0">
                          <a:solidFill>
                            <a:schemeClr val="tx1"/>
                          </a:solidFill>
                          <a:effectLst/>
                        </a:rPr>
                        <a:t>事件点击</a:t>
                      </a:r>
                      <a:r>
                        <a:rPr lang="en-US" sz="1200" kern="100" dirty="0">
                          <a:solidFill>
                            <a:schemeClr val="tx1"/>
                          </a:solidFill>
                          <a:effectLst/>
                        </a:rPr>
                        <a:t>X</a:t>
                      </a:r>
                      <a:r>
                        <a:rPr lang="zh-CN" sz="1200" kern="100" dirty="0">
                          <a:solidFill>
                            <a:schemeClr val="tx1"/>
                          </a:solidFill>
                          <a:effectLst/>
                        </a:rPr>
                        <a:t>坐标</a:t>
                      </a:r>
                      <a:r>
                        <a:rPr lang="en-US" sz="1200" kern="100" dirty="0">
                          <a:solidFill>
                            <a:schemeClr val="tx1"/>
                          </a:solidFill>
                          <a:effectLst/>
                        </a:rPr>
                        <a:t> = </a:t>
                      </a:r>
                      <a:r>
                        <a:rPr lang="en-US" altLang="zh-CN" sz="1200" kern="100" dirty="0">
                          <a:solidFill>
                            <a:schemeClr val="tx1"/>
                          </a:solidFill>
                          <a:effectLst/>
                        </a:rPr>
                        <a:t>341</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ck4 click</a:t>
                      </a:r>
                      <a:r>
                        <a:rPr lang="zh-CN" sz="1200" kern="100" dirty="0">
                          <a:solidFill>
                            <a:schemeClr val="tx1"/>
                          </a:solidFill>
                          <a:effectLst/>
                        </a:rPr>
                        <a:t>事件点击</a:t>
                      </a:r>
                      <a:r>
                        <a:rPr lang="en-US" sz="1200" kern="100" dirty="0">
                          <a:solidFill>
                            <a:schemeClr val="tx1"/>
                          </a:solidFill>
                          <a:effectLst/>
                        </a:rPr>
                        <a:t>Y</a:t>
                      </a:r>
                      <a:r>
                        <a:rPr lang="zh-CN" sz="1200" kern="100" dirty="0">
                          <a:solidFill>
                            <a:schemeClr val="tx1"/>
                          </a:solidFill>
                          <a:effectLst/>
                        </a:rPr>
                        <a:t>坐标</a:t>
                      </a:r>
                      <a:r>
                        <a:rPr lang="en-US" sz="1200" kern="100" dirty="0">
                          <a:solidFill>
                            <a:schemeClr val="tx1"/>
                          </a:solidFill>
                          <a:effectLst/>
                        </a:rPr>
                        <a:t> = </a:t>
                      </a:r>
                      <a:r>
                        <a:rPr lang="en-US" altLang="zh-CN" sz="1200" kern="100" dirty="0">
                          <a:solidFill>
                            <a:schemeClr val="tx1"/>
                          </a:solidFill>
                          <a:effectLst/>
                        </a:rPr>
                        <a:t>201</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a:t>
                      </a:r>
                      <a:r>
                        <a:rPr lang="en-US" altLang="zh-CN" sz="1200" kern="100" dirty="0">
                          <a:solidFill>
                            <a:schemeClr val="tx1"/>
                          </a:solidFill>
                          <a:effectLst/>
                        </a:rPr>
                        <a:t>k</a:t>
                      </a:r>
                      <a:r>
                        <a:rPr lang="en-US" sz="1200" kern="100" dirty="0">
                          <a:solidFill>
                            <a:schemeClr val="tx1"/>
                          </a:solidFill>
                          <a:effectLst/>
                        </a:rPr>
                        <a:t>5</a:t>
                      </a:r>
                      <a:r>
                        <a:rPr lang="zh-CN" sz="1200" kern="100" dirty="0">
                          <a:solidFill>
                            <a:schemeClr val="tx1"/>
                          </a:solidFill>
                          <a:effectLst/>
                        </a:rPr>
                        <a:t>鼠标首次移入广告区域的</a:t>
                      </a:r>
                      <a:r>
                        <a:rPr lang="en-US" sz="1200" kern="100" dirty="0">
                          <a:solidFill>
                            <a:schemeClr val="tx1"/>
                          </a:solidFill>
                          <a:effectLst/>
                        </a:rPr>
                        <a:t>x</a:t>
                      </a:r>
                      <a:r>
                        <a:rPr lang="zh-CN" sz="1200" kern="100" dirty="0">
                          <a:solidFill>
                            <a:schemeClr val="tx1"/>
                          </a:solidFill>
                          <a:effectLst/>
                        </a:rPr>
                        <a:t>坐标</a:t>
                      </a:r>
                      <a:r>
                        <a:rPr lang="en-US" sz="1200" kern="100" dirty="0">
                          <a:solidFill>
                            <a:schemeClr val="tx1"/>
                          </a:solidFill>
                          <a:effectLst/>
                        </a:rPr>
                        <a:t> = </a:t>
                      </a:r>
                      <a:r>
                        <a:rPr lang="en-US" altLang="zh-CN" sz="1200" kern="100" dirty="0">
                          <a:solidFill>
                            <a:schemeClr val="tx1"/>
                          </a:solidFill>
                          <a:effectLst/>
                        </a:rPr>
                        <a:t>282</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ck6</a:t>
                      </a:r>
                      <a:r>
                        <a:rPr lang="zh-CN" sz="1200" kern="100" dirty="0">
                          <a:solidFill>
                            <a:schemeClr val="tx1"/>
                          </a:solidFill>
                          <a:effectLst/>
                        </a:rPr>
                        <a:t>鼠标首次移入广告区域的</a:t>
                      </a:r>
                      <a:r>
                        <a:rPr lang="en-US" sz="1200" kern="100" dirty="0">
                          <a:solidFill>
                            <a:schemeClr val="tx1"/>
                          </a:solidFill>
                          <a:effectLst/>
                        </a:rPr>
                        <a:t>y</a:t>
                      </a:r>
                      <a:r>
                        <a:rPr lang="zh-CN" sz="1200" kern="100" dirty="0">
                          <a:solidFill>
                            <a:schemeClr val="tx1"/>
                          </a:solidFill>
                          <a:effectLst/>
                        </a:rPr>
                        <a:t>坐标</a:t>
                      </a:r>
                      <a:r>
                        <a:rPr lang="en-US" sz="1200" kern="100" dirty="0">
                          <a:solidFill>
                            <a:schemeClr val="tx1"/>
                          </a:solidFill>
                          <a:effectLst/>
                        </a:rPr>
                        <a:t> =</a:t>
                      </a:r>
                      <a:r>
                        <a:rPr lang="en-US" altLang="zh-CN" sz="1200" kern="100" dirty="0">
                          <a:solidFill>
                            <a:schemeClr val="tx1"/>
                          </a:solidFill>
                          <a:effectLst/>
                        </a:rPr>
                        <a:t>153</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ck7</a:t>
                      </a:r>
                      <a:r>
                        <a:rPr lang="zh-CN" sz="1200" kern="100" dirty="0">
                          <a:solidFill>
                            <a:schemeClr val="tx1"/>
                          </a:solidFill>
                          <a:effectLst/>
                        </a:rPr>
                        <a:t>鼠标移入广告区域到点击的时间间隔</a:t>
                      </a:r>
                      <a:r>
                        <a:rPr lang="en-US" sz="1200" kern="100" dirty="0">
                          <a:solidFill>
                            <a:schemeClr val="tx1"/>
                          </a:solidFill>
                          <a:effectLst/>
                        </a:rPr>
                        <a:t> = 1</a:t>
                      </a:r>
                      <a:r>
                        <a:rPr lang="en-US" altLang="zh-CN" sz="1200" kern="100" dirty="0">
                          <a:solidFill>
                            <a:schemeClr val="tx1"/>
                          </a:solidFill>
                          <a:effectLst/>
                        </a:rPr>
                        <a:t>611</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127849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sp>
        <p:nvSpPr>
          <p:cNvPr id="6" name="内容占位符 2"/>
          <p:cNvSpPr>
            <a:spLocks noGrp="1"/>
          </p:cNvSpPr>
          <p:nvPr>
            <p:ph idx="1"/>
          </p:nvPr>
        </p:nvSpPr>
        <p:spPr>
          <a:xfrm>
            <a:off x="480105" y="1002754"/>
            <a:ext cx="8170409" cy="3874046"/>
          </a:xfrm>
        </p:spPr>
        <p:txBody>
          <a:bodyPr>
            <a:noAutofit/>
          </a:bodyPr>
          <a:lstStyle/>
          <a:p>
            <a:pPr>
              <a:spcAft>
                <a:spcPts val="600"/>
              </a:spcAft>
              <a:buSzPct val="120000"/>
              <a:buFont typeface="Wingdings" pitchFamily="2" charset="2"/>
              <a:buChar char="l"/>
            </a:pPr>
            <a:r>
              <a:rPr kumimoji="1" lang="zh-CN" altLang="en-US" sz="1800" dirty="0">
                <a:latin typeface="微软雅黑" panose="020B0503020204020204" pitchFamily="34" charset="-122"/>
                <a:ea typeface="微软雅黑" panose="020B0503020204020204" pitchFamily="34" charset="-122"/>
                <a:cs typeface="宋体" charset="0"/>
              </a:rPr>
              <a:t>基本特征：</a:t>
            </a:r>
            <a:r>
              <a:rPr lang="en-US" altLang="zh-CN" sz="1800" dirty="0"/>
              <a:t> </a:t>
            </a:r>
            <a:r>
              <a:rPr lang="en-US" altLang="zh-CN" sz="1800" dirty="0" err="1"/>
              <a:t>shifen</a:t>
            </a:r>
            <a:r>
              <a:rPr lang="zh-CN" altLang="en-US" sz="1800" dirty="0"/>
              <a:t> </a:t>
            </a:r>
            <a:r>
              <a:rPr lang="en-US" altLang="zh-CN" sz="1800" dirty="0"/>
              <a:t>cookie</a:t>
            </a:r>
            <a:endParaRPr kumimoji="1" lang="zh-CN" altLang="en-US" sz="1800" dirty="0">
              <a:latin typeface="微软雅黑" panose="020B0503020204020204" pitchFamily="34" charset="-122"/>
              <a:ea typeface="微软雅黑" panose="020B0503020204020204" pitchFamily="34" charset="-122"/>
              <a:cs typeface="宋体" charset="0"/>
            </a:endParaRP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在百度域下，用户每点击一个不同的广告，都会在前端浏览器种上一个</a:t>
            </a:r>
            <a:r>
              <a:rPr kumimoji="1" lang="en" altLang="zh-CN" sz="1600" dirty="0" err="1">
                <a:latin typeface="微软雅黑" panose="020B0503020204020204" pitchFamily="34" charset="-122"/>
                <a:ea typeface="微软雅黑" panose="020B0503020204020204" pitchFamily="34" charset="-122"/>
                <a:cs typeface="宋体" charset="0"/>
              </a:rPr>
              <a:t>shifencookie</a:t>
            </a:r>
            <a:r>
              <a:rPr kumimoji="1" lang="zh-CN" altLang="en-US" sz="1600" dirty="0">
                <a:latin typeface="微软雅黑" panose="020B0503020204020204" pitchFamily="34" charset="-122"/>
                <a:ea typeface="微软雅黑" panose="020B0503020204020204" pitchFamily="34" charset="-122"/>
                <a:cs typeface="宋体" charset="0"/>
              </a:rPr>
              <a:t>用来唯一标识一条广告，</a:t>
            </a:r>
            <a:r>
              <a:rPr kumimoji="1" lang="en" altLang="zh-CN" sz="1600" dirty="0">
                <a:latin typeface="微软雅黑" panose="020B0503020204020204" pitchFamily="34" charset="-122"/>
                <a:ea typeface="微软雅黑" panose="020B0503020204020204" pitchFamily="34" charset="-122"/>
                <a:cs typeface="宋体" charset="0"/>
              </a:rPr>
              <a:t> value</a:t>
            </a:r>
            <a:r>
              <a:rPr kumimoji="1" lang="zh-CN" altLang="en-US" sz="1600" dirty="0">
                <a:latin typeface="微软雅黑" panose="020B0503020204020204" pitchFamily="34" charset="-122"/>
                <a:ea typeface="微软雅黑" panose="020B0503020204020204" pitchFamily="34" charset="-122"/>
                <a:cs typeface="宋体" charset="0"/>
              </a:rPr>
              <a:t>为最近一次点击该广告的时间。</a:t>
            </a:r>
            <a:endParaRPr kumimoji="1" lang="en-US" altLang="zh-CN" sz="1600" dirty="0">
              <a:latin typeface="微软雅黑" panose="020B0503020204020204" pitchFamily="34" charset="-122"/>
              <a:ea typeface="微软雅黑" panose="020B0503020204020204" pitchFamily="34" charset="-122"/>
              <a:cs typeface="宋体" charset="0"/>
            </a:endParaRP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格式：</a:t>
            </a:r>
            <a:r>
              <a:rPr kumimoji="1" lang="en" altLang="zh-CN" sz="1600" dirty="0" err="1">
                <a:latin typeface="微软雅黑" panose="020B0503020204020204" pitchFamily="34" charset="-122"/>
                <a:ea typeface="微软雅黑" panose="020B0503020204020204" pitchFamily="34" charset="-122"/>
                <a:cs typeface="宋体" charset="0"/>
              </a:rPr>
              <a:t>shifen</a:t>
            </a:r>
            <a:r>
              <a:rPr kumimoji="1" lang="en" altLang="zh-CN" sz="1600" dirty="0">
                <a:latin typeface="微软雅黑" panose="020B0503020204020204" pitchFamily="34" charset="-122"/>
                <a:ea typeface="微软雅黑" panose="020B0503020204020204" pitchFamily="34" charset="-122"/>
                <a:cs typeface="宋体" charset="0"/>
              </a:rPr>
              <a:t>[key]=value,</a:t>
            </a:r>
            <a:r>
              <a:rPr kumimoji="1" lang="zh-CN" altLang="en-US" sz="1600" dirty="0">
                <a:latin typeface="微软雅黑" panose="020B0503020204020204" pitchFamily="34" charset="-122"/>
                <a:ea typeface="微软雅黑" panose="020B0503020204020204" pitchFamily="34" charset="-122"/>
                <a:cs typeface="宋体" charset="0"/>
              </a:rPr>
              <a:t>其中</a:t>
            </a:r>
            <a:r>
              <a:rPr kumimoji="1" lang="en" altLang="zh-CN" sz="1600" dirty="0">
                <a:latin typeface="微软雅黑" panose="020B0503020204020204" pitchFamily="34" charset="-122"/>
                <a:ea typeface="微软雅黑" panose="020B0503020204020204" pitchFamily="34" charset="-122"/>
                <a:cs typeface="宋体" charset="0"/>
              </a:rPr>
              <a:t>key</a:t>
            </a:r>
            <a:r>
              <a:rPr kumimoji="1" lang="zh-CN" altLang="en-US" sz="1600" dirty="0">
                <a:latin typeface="微软雅黑" panose="020B0503020204020204" pitchFamily="34" charset="-122"/>
                <a:ea typeface="微软雅黑" panose="020B0503020204020204" pitchFamily="34" charset="-122"/>
                <a:cs typeface="宋体" charset="0"/>
              </a:rPr>
              <a:t>为 </a:t>
            </a:r>
            <a:r>
              <a:rPr kumimoji="1" lang="en" altLang="zh-CN" sz="1600" dirty="0" err="1">
                <a:latin typeface="微软雅黑" panose="020B0503020204020204" pitchFamily="34" charset="-122"/>
                <a:ea typeface="微软雅黑" panose="020B0503020204020204" pitchFamily="34" charset="-122"/>
                <a:cs typeface="宋体" charset="0"/>
              </a:rPr>
              <a:t>winfoid+url_sign</a:t>
            </a:r>
            <a:r>
              <a:rPr kumimoji="1" lang="en"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可以用来唯一标识一条广告，</a:t>
            </a:r>
            <a:r>
              <a:rPr kumimoji="1" lang="en" altLang="zh-CN" sz="1600" dirty="0">
                <a:latin typeface="微软雅黑" panose="020B0503020204020204" pitchFamily="34" charset="-122"/>
                <a:ea typeface="微软雅黑" panose="020B0503020204020204" pitchFamily="34" charset="-122"/>
                <a:cs typeface="宋体" charset="0"/>
              </a:rPr>
              <a:t>value</a:t>
            </a:r>
            <a:r>
              <a:rPr kumimoji="1" lang="zh-CN" altLang="en-US" sz="1600" dirty="0">
                <a:latin typeface="微软雅黑" panose="020B0503020204020204" pitchFamily="34" charset="-122"/>
                <a:ea typeface="微软雅黑" panose="020B0503020204020204" pitchFamily="34" charset="-122"/>
                <a:cs typeface="宋体" charset="0"/>
              </a:rPr>
              <a:t>为最近一次点击该广告的时间。</a:t>
            </a: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更新：每次点击广告时，会将当前的</a:t>
            </a:r>
            <a:r>
              <a:rPr kumimoji="1" lang="en" altLang="zh-CN" sz="1600" dirty="0" err="1">
                <a:latin typeface="微软雅黑" panose="020B0503020204020204" pitchFamily="34" charset="-122"/>
                <a:ea typeface="微软雅黑" panose="020B0503020204020204" pitchFamily="34" charset="-122"/>
                <a:cs typeface="宋体" charset="0"/>
              </a:rPr>
              <a:t>shifencookie</a:t>
            </a:r>
            <a:r>
              <a:rPr kumimoji="1" lang="zh-CN" altLang="en-US" sz="1600" dirty="0">
                <a:latin typeface="微软雅黑" panose="020B0503020204020204" pitchFamily="34" charset="-122"/>
                <a:ea typeface="微软雅黑" panose="020B0503020204020204" pitchFamily="34" charset="-122"/>
                <a:cs typeface="宋体" charset="0"/>
              </a:rPr>
              <a:t>传给后端，然后再修改</a:t>
            </a:r>
            <a:r>
              <a:rPr kumimoji="1" lang="en" altLang="zh-CN" sz="1600" dirty="0" err="1">
                <a:latin typeface="微软雅黑" panose="020B0503020204020204" pitchFamily="34" charset="-122"/>
                <a:ea typeface="微软雅黑" panose="020B0503020204020204" pitchFamily="34" charset="-122"/>
                <a:cs typeface="宋体" charset="0"/>
              </a:rPr>
              <a:t>shifen</a:t>
            </a:r>
            <a:r>
              <a:rPr kumimoji="1" lang="zh-CN" altLang="en-US" sz="1600" dirty="0">
                <a:latin typeface="微软雅黑" panose="020B0503020204020204" pitchFamily="34" charset="-122"/>
                <a:ea typeface="微软雅黑" panose="020B0503020204020204" pitchFamily="34" charset="-122"/>
                <a:cs typeface="宋体" charset="0"/>
              </a:rPr>
              <a:t>的</a:t>
            </a:r>
            <a:r>
              <a:rPr kumimoji="1" lang="en" altLang="zh-CN" sz="1600" dirty="0">
                <a:latin typeface="微软雅黑" panose="020B0503020204020204" pitchFamily="34" charset="-122"/>
                <a:ea typeface="微软雅黑" panose="020B0503020204020204" pitchFamily="34" charset="-122"/>
                <a:cs typeface="宋体" charset="0"/>
              </a:rPr>
              <a:t>value</a:t>
            </a: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清除：</a:t>
            </a:r>
            <a:r>
              <a:rPr kumimoji="1" lang="en" altLang="zh-CN" sz="1600" dirty="0">
                <a:latin typeface="微软雅黑" panose="020B0503020204020204" pitchFamily="34" charset="-122"/>
                <a:ea typeface="微软雅黑" panose="020B0503020204020204" pitchFamily="34" charset="-122"/>
                <a:cs typeface="宋体" charset="0"/>
              </a:rPr>
              <a:t>pc</a:t>
            </a:r>
            <a:r>
              <a:rPr kumimoji="1" lang="zh-CN" altLang="en-US" sz="1600" dirty="0">
                <a:latin typeface="微软雅黑" panose="020B0503020204020204" pitchFamily="34" charset="-122"/>
                <a:ea typeface="微软雅黑" panose="020B0503020204020204" pitchFamily="34" charset="-122"/>
                <a:cs typeface="宋体" charset="0"/>
              </a:rPr>
              <a:t>端，关闭浏览器即清除；</a:t>
            </a:r>
            <a:r>
              <a:rPr kumimoji="1" lang="en" altLang="zh-CN" sz="1600" dirty="0">
                <a:latin typeface="微软雅黑" panose="020B0503020204020204" pitchFamily="34" charset="-122"/>
                <a:ea typeface="微软雅黑" panose="020B0503020204020204" pitchFamily="34" charset="-122"/>
                <a:cs typeface="宋体" charset="0"/>
              </a:rPr>
              <a:t>wise</a:t>
            </a:r>
            <a:r>
              <a:rPr kumimoji="1" lang="zh-CN" altLang="en-US" sz="1600" dirty="0">
                <a:latin typeface="微软雅黑" panose="020B0503020204020204" pitchFamily="34" charset="-122"/>
                <a:ea typeface="微软雅黑" panose="020B0503020204020204" pitchFamily="34" charset="-122"/>
                <a:cs typeface="宋体" charset="0"/>
              </a:rPr>
              <a:t>端，预设</a:t>
            </a:r>
            <a:r>
              <a:rPr kumimoji="1" lang="en-US" altLang="zh-CN" sz="1600" dirty="0">
                <a:latin typeface="微软雅黑" panose="020B0503020204020204" pitchFamily="34" charset="-122"/>
                <a:ea typeface="微软雅黑" panose="020B0503020204020204" pitchFamily="34" charset="-122"/>
                <a:cs typeface="宋体" charset="0"/>
              </a:rPr>
              <a:t>30</a:t>
            </a:r>
            <a:r>
              <a:rPr kumimoji="1" lang="zh-CN" altLang="en-US" sz="1600" dirty="0">
                <a:latin typeface="微软雅黑" panose="020B0503020204020204" pitchFamily="34" charset="-122"/>
                <a:ea typeface="微软雅黑" panose="020B0503020204020204" pitchFamily="34" charset="-122"/>
                <a:cs typeface="宋体" charset="0"/>
              </a:rPr>
              <a:t>分钟最长等待期</a:t>
            </a:r>
          </a:p>
          <a:p>
            <a:pPr marL="457200" lvl="1" indent="0">
              <a:spcAft>
                <a:spcPts val="600"/>
              </a:spcAft>
              <a:buSzPct val="120000"/>
              <a:buNone/>
            </a:pPr>
            <a:endParaRPr kumimoji="1" lang="zh-CN" altLang="en-US" sz="12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1783882409"/>
      </p:ext>
    </p:extLst>
  </p:cSld>
  <p:clrMapOvr>
    <a:masterClrMapping/>
  </p:clrMapOvr>
</p:sld>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13966</TotalTime>
  <Words>6882</Words>
  <Application>Microsoft Macintosh PowerPoint</Application>
  <PresentationFormat>全屏显示(16:9)</PresentationFormat>
  <Paragraphs>611</Paragraphs>
  <Slides>53</Slides>
  <Notes>49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53</vt:i4>
      </vt:variant>
    </vt:vector>
  </HeadingPairs>
  <TitlesOfParts>
    <vt:vector size="62" baseType="lpstr">
      <vt:lpstr>等线</vt:lpstr>
      <vt:lpstr>楷体</vt:lpstr>
      <vt:lpstr>宋体</vt:lpstr>
      <vt:lpstr>微软雅黑</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附录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kun Cai</cp:lastModifiedBy>
  <cp:revision>1791</cp:revision>
  <dcterms:created xsi:type="dcterms:W3CDTF">2022-08-09T08:41:23Z</dcterms:created>
  <dcterms:modified xsi:type="dcterms:W3CDTF">2022-08-19T02:47:34Z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0EA204BD73D69C60E409F26212D3F1FD</vt:lpwstr>
  </property>
  <property fmtid="{D5CDD505-2E9C-101B-9397-08002B2CF9AE}" pid="3" name="KSOProductBuildVer">
    <vt:lpwstr>2052-4.5.0.7415</vt:lpwstr>
  </property>
</Properties>
</file>