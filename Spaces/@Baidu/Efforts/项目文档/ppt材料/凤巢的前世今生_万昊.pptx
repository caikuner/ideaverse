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77" r:id="rId2"/>
    <p:sldId id="278" r:id="rId3"/>
    <p:sldId id="279" r:id="rId4"/>
    <p:sldId id="280" r:id="rId5"/>
    <p:sldId id="281" r:id="rId6"/>
    <p:sldId id="282" r:id="rId7"/>
    <p:sldId id="289" r:id="rId8"/>
    <p:sldId id="283" r:id="rId9"/>
    <p:sldId id="284" r:id="rId10"/>
    <p:sldId id="285" r:id="rId11"/>
    <p:sldId id="287" r:id="rId12"/>
    <p:sldId id="286" r:id="rId13"/>
    <p:sldId id="288" r:id="rId14"/>
    <p:sldId id="290" r:id="rId15"/>
  </p:sldIdLst>
  <p:sldSz cx="9144000" cy="6858000" type="screen4x3"/>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60" autoAdjust="0"/>
    <p:restoredTop sz="95517" autoAdjust="0"/>
  </p:normalViewPr>
  <p:slideViewPr>
    <p:cSldViewPr showGuides="1">
      <p:cViewPr varScale="1">
        <p:scale>
          <a:sx n="72" d="100"/>
          <a:sy n="72" d="100"/>
        </p:scale>
        <p:origin x="-1254" y="-90"/>
      </p:cViewPr>
      <p:guideLst>
        <p:guide orient="horz" pos="618"/>
        <p:guide orient="horz" pos="3748"/>
        <p:guide orient="horz" pos="1344"/>
        <p:guide pos="5284"/>
        <p:guide pos="612"/>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55" d="100"/>
          <a:sy n="55" d="100"/>
        </p:scale>
        <p:origin x="-2562"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802FAFE-EF9F-47EB-9699-4CBA93D7D822}" type="datetimeFigureOut">
              <a:rPr lang="zh-CN" altLang="en-US" smtClean="0"/>
              <a:pPr/>
              <a:t>2012/4/28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04F3668-5A1F-4303-83BB-1F8B2E42B305}" type="slidenum">
              <a:rPr lang="zh-CN" altLang="en-US" smtClean="0"/>
              <a:pPr/>
              <a:t>‹#›</a:t>
            </a:fld>
            <a:endParaRPr lang="zh-CN" altLang="en-US"/>
          </a:p>
        </p:txBody>
      </p:sp>
    </p:spTree>
    <p:extLst>
      <p:ext uri="{BB962C8B-B14F-4D97-AF65-F5344CB8AC3E}">
        <p14:creationId xmlns:p14="http://schemas.microsoft.com/office/powerpoint/2010/main" val="13653586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879FD4C-F600-4454-AA78-6AF8E790ACCA}" type="datetimeFigureOut">
              <a:rPr lang="zh-CN" altLang="en-US" smtClean="0"/>
              <a:pPr/>
              <a:t>2012/4/28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A71B3E-9A7A-469E-AEF6-1E2D51BFF40D}" type="slidenum">
              <a:rPr lang="zh-CN" altLang="en-US" smtClean="0"/>
              <a:pPr/>
              <a:t>‹#›</a:t>
            </a:fld>
            <a:endParaRPr lang="zh-CN" altLang="en-US"/>
          </a:p>
        </p:txBody>
      </p:sp>
    </p:spTree>
    <p:extLst>
      <p:ext uri="{BB962C8B-B14F-4D97-AF65-F5344CB8AC3E}">
        <p14:creationId xmlns:p14="http://schemas.microsoft.com/office/powerpoint/2010/main" val="223898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4597E123-3F8D-48F4-8541-C4C31298BEB6}" type="datetimeFigureOut">
              <a:rPr lang="zh-CN" altLang="en-US" smtClean="0"/>
              <a:pPr/>
              <a:t>2012/4/28</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37E7363F-799E-4C9B-BDFA-4EB18F009BEA}"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4597E123-3F8D-48F4-8541-C4C31298BEB6}" type="datetimeFigureOut">
              <a:rPr lang="zh-CN" altLang="en-US" smtClean="0"/>
              <a:pPr/>
              <a:t>2012/4/28</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37E7363F-799E-4C9B-BDFA-4EB18F009BEA}"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4597E123-3F8D-48F4-8541-C4C31298BEB6}" type="datetimeFigureOut">
              <a:rPr lang="zh-CN" altLang="en-US" smtClean="0"/>
              <a:pPr/>
              <a:t>2012/4/28</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37E7363F-799E-4C9B-BDFA-4EB18F009BEA}"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6356350"/>
            <a:ext cx="2133600" cy="365125"/>
          </a:xfrm>
          <a:prstGeom prst="rect">
            <a:avLst/>
          </a:prstGeom>
        </p:spPr>
        <p:txBody>
          <a:bodyPr/>
          <a:lstStyle/>
          <a:p>
            <a:fld id="{4597E123-3F8D-48F4-8541-C4C31298BEB6}" type="datetimeFigureOut">
              <a:rPr lang="zh-CN" altLang="en-US" smtClean="0"/>
              <a:pPr/>
              <a:t>2012/4/28</a:t>
            </a:fld>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37E7363F-799E-4C9B-BDFA-4EB18F009BEA}"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00" y="6356350"/>
            <a:ext cx="2133600" cy="365125"/>
          </a:xfrm>
          <a:prstGeom prst="rect">
            <a:avLst/>
          </a:prstGeom>
        </p:spPr>
        <p:txBody>
          <a:bodyPr/>
          <a:lstStyle/>
          <a:p>
            <a:fld id="{4597E123-3F8D-48F4-8541-C4C31298BEB6}" type="datetimeFigureOut">
              <a:rPr lang="zh-CN" altLang="en-US" smtClean="0"/>
              <a:pPr/>
              <a:t>2012/4/28</a:t>
            </a:fld>
            <a:endParaRPr lang="zh-CN" altLang="en-US"/>
          </a:p>
        </p:txBody>
      </p:sp>
      <p:sp>
        <p:nvSpPr>
          <p:cNvPr id="8" name="页脚占位符 7"/>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6356350"/>
            <a:ext cx="2133600" cy="365125"/>
          </a:xfrm>
          <a:prstGeom prst="rect">
            <a:avLst/>
          </a:prstGeom>
        </p:spPr>
        <p:txBody>
          <a:bodyPr/>
          <a:lstStyle/>
          <a:p>
            <a:fld id="{37E7363F-799E-4C9B-BDFA-4EB18F009BEA}"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pic>
        <p:nvPicPr>
          <p:cNvPr id="6" name="Picture 2"/>
          <p:cNvPicPr>
            <a:picLocks noChangeAspect="1" noChangeArrowheads="1"/>
          </p:cNvPicPr>
          <p:nvPr userDrawn="1"/>
        </p:nvPicPr>
        <p:blipFill>
          <a:blip r:embed="rId2" cstate="print"/>
          <a:srcRect/>
          <a:stretch>
            <a:fillRect/>
          </a:stretch>
        </p:blipFill>
        <p:spPr bwMode="auto">
          <a:xfrm>
            <a:off x="7452320" y="6337896"/>
            <a:ext cx="1314450" cy="457200"/>
          </a:xfrm>
          <a:prstGeom prst="rect">
            <a:avLst/>
          </a:prstGeom>
          <a:noFill/>
          <a:ln w="9525">
            <a:noFill/>
            <a:miter lim="800000"/>
            <a:headEnd/>
            <a:tailEnd/>
          </a:ln>
        </p:spPr>
      </p:pic>
      <p:cxnSp>
        <p:nvCxnSpPr>
          <p:cNvPr id="7" name="直接连接符 6"/>
          <p:cNvCxnSpPr/>
          <p:nvPr userDrawn="1"/>
        </p:nvCxnSpPr>
        <p:spPr>
          <a:xfrm>
            <a:off x="208656" y="6237312"/>
            <a:ext cx="867645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0"/>
            <a:ext cx="2133600" cy="365125"/>
          </a:xfrm>
          <a:prstGeom prst="rect">
            <a:avLst/>
          </a:prstGeom>
        </p:spPr>
        <p:txBody>
          <a:bodyPr/>
          <a:lstStyle/>
          <a:p>
            <a:fld id="{4597E123-3F8D-48F4-8541-C4C31298BEB6}" type="datetimeFigureOut">
              <a:rPr lang="zh-CN" altLang="en-US" smtClean="0"/>
              <a:pPr/>
              <a:t>2012/4/28</a:t>
            </a:fld>
            <a:endParaRPr lang="zh-CN" altLang="en-US"/>
          </a:p>
        </p:txBody>
      </p:sp>
      <p:sp>
        <p:nvSpPr>
          <p:cNvPr id="3" name="页脚占位符 2"/>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6356350"/>
            <a:ext cx="2133600" cy="365125"/>
          </a:xfrm>
          <a:prstGeom prst="rect">
            <a:avLst/>
          </a:prstGeom>
        </p:spPr>
        <p:txBody>
          <a:bodyPr/>
          <a:lstStyle/>
          <a:p>
            <a:fld id="{37E7363F-799E-4C9B-BDFA-4EB18F009BEA}"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6356350"/>
            <a:ext cx="2133600" cy="365125"/>
          </a:xfrm>
          <a:prstGeom prst="rect">
            <a:avLst/>
          </a:prstGeom>
        </p:spPr>
        <p:txBody>
          <a:bodyPr/>
          <a:lstStyle/>
          <a:p>
            <a:fld id="{4597E123-3F8D-48F4-8541-C4C31298BEB6}" type="datetimeFigureOut">
              <a:rPr lang="zh-CN" altLang="en-US" smtClean="0"/>
              <a:pPr/>
              <a:t>2012/4/28</a:t>
            </a:fld>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37E7363F-799E-4C9B-BDFA-4EB18F009BEA}"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6356350"/>
            <a:ext cx="2133600" cy="365125"/>
          </a:xfrm>
          <a:prstGeom prst="rect">
            <a:avLst/>
          </a:prstGeom>
        </p:spPr>
        <p:txBody>
          <a:bodyPr/>
          <a:lstStyle/>
          <a:p>
            <a:fld id="{4597E123-3F8D-48F4-8541-C4C31298BEB6}" type="datetimeFigureOut">
              <a:rPr lang="zh-CN" altLang="en-US" smtClean="0"/>
              <a:pPr/>
              <a:t>2012/4/28</a:t>
            </a:fld>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6356350"/>
            <a:ext cx="2133600" cy="365125"/>
          </a:xfrm>
          <a:prstGeom prst="rect">
            <a:avLst/>
          </a:prstGeom>
        </p:spPr>
        <p:txBody>
          <a:bodyPr/>
          <a:lstStyle/>
          <a:p>
            <a:fld id="{37E7363F-799E-4C9B-BDFA-4EB18F009BEA}"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4597E123-3F8D-48F4-8541-C4C31298BEB6}" type="datetimeFigureOut">
              <a:rPr lang="zh-CN" altLang="en-US" smtClean="0"/>
              <a:pPr/>
              <a:t>2012/4/28</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37E7363F-799E-4C9B-BDFA-4EB18F009BEA}"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4597E123-3F8D-48F4-8541-C4C31298BEB6}" type="datetimeFigureOut">
              <a:rPr lang="zh-CN" altLang="en-US" smtClean="0"/>
              <a:pPr/>
              <a:t>2012/4/28</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37E7363F-799E-4C9B-BDFA-4EB18F009BEA}"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13" cstate="print"/>
          <a:srcRect/>
          <a:stretch>
            <a:fillRect/>
          </a:stretch>
        </p:blipFill>
        <p:spPr bwMode="auto">
          <a:xfrm>
            <a:off x="7452320" y="6337896"/>
            <a:ext cx="1314450" cy="457200"/>
          </a:xfrm>
          <a:prstGeom prst="rect">
            <a:avLst/>
          </a:prstGeom>
          <a:noFill/>
          <a:ln w="9525">
            <a:noFill/>
            <a:miter lim="800000"/>
            <a:headEnd/>
            <a:tailEnd/>
          </a:ln>
        </p:spPr>
      </p:pic>
      <p:cxnSp>
        <p:nvCxnSpPr>
          <p:cNvPr id="8" name="直接连接符 7"/>
          <p:cNvCxnSpPr/>
          <p:nvPr userDrawn="1"/>
        </p:nvCxnSpPr>
        <p:spPr>
          <a:xfrm>
            <a:off x="208656" y="6237312"/>
            <a:ext cx="8676456" cy="0"/>
          </a:xfrm>
          <a:prstGeom prst="line">
            <a:avLst/>
          </a:prstGeom>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dirty="0" smtClean="0"/>
              <a:t>凤巢的前世今生</a:t>
            </a:r>
            <a:endParaRPr lang="zh-CN" altLang="en-US" dirty="0"/>
          </a:p>
        </p:txBody>
      </p:sp>
      <p:sp>
        <p:nvSpPr>
          <p:cNvPr id="5" name="副标题 4"/>
          <p:cNvSpPr>
            <a:spLocks noGrp="1"/>
          </p:cNvSpPr>
          <p:nvPr>
            <p:ph type="subTitle" idx="1"/>
          </p:nvPr>
        </p:nvSpPr>
        <p:spPr/>
        <p:txBody>
          <a:bodyPr/>
          <a:lstStyle/>
          <a:p>
            <a:r>
              <a:rPr lang="zh-CN" altLang="en-US" dirty="0" smtClean="0"/>
              <a:t>万昊 </a:t>
            </a:r>
            <a:r>
              <a:rPr lang="en-US" altLang="zh-CN" dirty="0" smtClean="0"/>
              <a:t>2012-04-13</a:t>
            </a:r>
            <a:endParaRPr lang="zh-CN" altLang="en-US" dirty="0"/>
          </a:p>
        </p:txBody>
      </p:sp>
    </p:spTree>
    <p:extLst>
      <p:ext uri="{BB962C8B-B14F-4D97-AF65-F5344CB8AC3E}">
        <p14:creationId xmlns:p14="http://schemas.microsoft.com/office/powerpoint/2010/main" val="18215114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提纲</a:t>
            </a:r>
            <a:endParaRPr lang="zh-CN" altLang="en-US" dirty="0"/>
          </a:p>
        </p:txBody>
      </p:sp>
      <p:sp>
        <p:nvSpPr>
          <p:cNvPr id="3" name="内容占位符 2"/>
          <p:cNvSpPr>
            <a:spLocks noGrp="1"/>
          </p:cNvSpPr>
          <p:nvPr>
            <p:ph idx="1"/>
          </p:nvPr>
        </p:nvSpPr>
        <p:spPr/>
        <p:txBody>
          <a:bodyPr/>
          <a:lstStyle/>
          <a:p>
            <a:r>
              <a:rPr lang="zh-CN" altLang="en-US" dirty="0" smtClean="0"/>
              <a:t>凤巢的前世</a:t>
            </a:r>
            <a:r>
              <a:rPr lang="en-US" altLang="zh-CN" dirty="0" smtClean="0"/>
              <a:t>——</a:t>
            </a:r>
            <a:r>
              <a:rPr lang="zh-CN" altLang="en-US" dirty="0" smtClean="0"/>
              <a:t>竞价排名</a:t>
            </a:r>
            <a:endParaRPr lang="en-US" altLang="zh-CN" dirty="0" smtClean="0"/>
          </a:p>
          <a:p>
            <a:r>
              <a:rPr lang="zh-CN" altLang="en-US" dirty="0" smtClean="0"/>
              <a:t>为什么要做凤巢？</a:t>
            </a:r>
            <a:endParaRPr lang="en-US" altLang="zh-CN" dirty="0" smtClean="0"/>
          </a:p>
          <a:p>
            <a:r>
              <a:rPr lang="zh-CN" altLang="en-US" dirty="0" smtClean="0"/>
              <a:t>凤巢的演变</a:t>
            </a:r>
            <a:endParaRPr lang="en-US" altLang="zh-CN" dirty="0" smtClean="0"/>
          </a:p>
          <a:p>
            <a:r>
              <a:rPr lang="zh-CN" altLang="en-US" dirty="0"/>
              <a:t>从粗放型经济到集约型</a:t>
            </a:r>
            <a:r>
              <a:rPr lang="zh-CN" altLang="en-US" dirty="0" smtClean="0"/>
              <a:t>经济</a:t>
            </a:r>
            <a:endParaRPr lang="zh-CN" altLang="en-US" dirty="0"/>
          </a:p>
        </p:txBody>
      </p:sp>
    </p:spTree>
    <p:extLst>
      <p:ext uri="{BB962C8B-B14F-4D97-AF65-F5344CB8AC3E}">
        <p14:creationId xmlns:p14="http://schemas.microsoft.com/office/powerpoint/2010/main" val="30009044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凤巢的前世</a:t>
            </a:r>
            <a:r>
              <a:rPr lang="en-US" altLang="zh-CN" dirty="0" smtClean="0"/>
              <a:t>——</a:t>
            </a:r>
            <a:r>
              <a:rPr lang="zh-CN" altLang="en-US" dirty="0" smtClean="0"/>
              <a:t>竞价排名</a:t>
            </a:r>
            <a:endParaRPr lang="zh-CN" altLang="en-US" dirty="0"/>
          </a:p>
        </p:txBody>
      </p:sp>
      <p:sp>
        <p:nvSpPr>
          <p:cNvPr id="3" name="内容占位符 2"/>
          <p:cNvSpPr>
            <a:spLocks noGrp="1"/>
          </p:cNvSpPr>
          <p:nvPr>
            <p:ph idx="1"/>
          </p:nvPr>
        </p:nvSpPr>
        <p:spPr/>
        <p:txBody>
          <a:bodyPr/>
          <a:lstStyle/>
          <a:p>
            <a:r>
              <a:rPr lang="zh-CN" altLang="en-US" dirty="0"/>
              <a:t>竞价</a:t>
            </a:r>
            <a:r>
              <a:rPr lang="zh-CN" altLang="en-US" dirty="0" smtClean="0"/>
              <a:t>排名就是</a:t>
            </a:r>
            <a:r>
              <a:rPr lang="en-US" altLang="zh-CN" dirty="0" smtClean="0"/>
              <a:t>Sponsored Search</a:t>
            </a:r>
          </a:p>
          <a:p>
            <a:r>
              <a:rPr lang="en-US" altLang="zh-CN" dirty="0" smtClean="0"/>
              <a:t>CPC</a:t>
            </a:r>
          </a:p>
          <a:p>
            <a:pPr lvl="1"/>
            <a:r>
              <a:rPr lang="zh-CN" altLang="en-US" dirty="0" smtClean="0"/>
              <a:t>点击才付费，展现不付费</a:t>
            </a:r>
            <a:endParaRPr lang="en-US" altLang="zh-CN" dirty="0" smtClean="0"/>
          </a:p>
          <a:p>
            <a:r>
              <a:rPr lang="en-US" altLang="zh-CN" dirty="0" smtClean="0"/>
              <a:t>Keyword Targeting</a:t>
            </a:r>
          </a:p>
          <a:p>
            <a:pPr lvl="1"/>
            <a:r>
              <a:rPr lang="zh-CN" altLang="en-US" dirty="0" smtClean="0"/>
              <a:t>对关键词出价，表达广告定向的意愿</a:t>
            </a:r>
            <a:endParaRPr lang="en-US" altLang="zh-CN" dirty="0" smtClean="0"/>
          </a:p>
          <a:p>
            <a:r>
              <a:rPr lang="en-US" altLang="zh-CN" dirty="0" smtClean="0"/>
              <a:t> GSP</a:t>
            </a:r>
          </a:p>
          <a:p>
            <a:pPr lvl="1"/>
            <a:r>
              <a:rPr lang="zh-CN" altLang="en-US" dirty="0" smtClean="0"/>
              <a:t>按照</a:t>
            </a:r>
            <a:r>
              <a:rPr lang="en-US" altLang="zh-CN" dirty="0" smtClean="0"/>
              <a:t>Q*Bid</a:t>
            </a:r>
            <a:r>
              <a:rPr lang="zh-CN" altLang="en-US" dirty="0" smtClean="0"/>
              <a:t>排序</a:t>
            </a:r>
            <a:endParaRPr lang="en-US" altLang="zh-CN" dirty="0" smtClean="0"/>
          </a:p>
          <a:p>
            <a:pPr lvl="1"/>
            <a:r>
              <a:rPr lang="zh-CN" altLang="en-US" dirty="0" smtClean="0"/>
              <a:t>按照最低保</a:t>
            </a:r>
            <a:r>
              <a:rPr lang="zh-CN" altLang="en-US" dirty="0"/>
              <a:t>位</a:t>
            </a:r>
            <a:r>
              <a:rPr lang="zh-CN" altLang="en-US" dirty="0" smtClean="0"/>
              <a:t>价计费</a:t>
            </a:r>
            <a:endParaRPr lang="en-US" altLang="zh-CN" dirty="0" smtClean="0"/>
          </a:p>
          <a:p>
            <a:endParaRPr lang="zh-CN" altLang="en-US" dirty="0"/>
          </a:p>
        </p:txBody>
      </p:sp>
    </p:spTree>
    <p:extLst>
      <p:ext uri="{BB962C8B-B14F-4D97-AF65-F5344CB8AC3E}">
        <p14:creationId xmlns:p14="http://schemas.microsoft.com/office/powerpoint/2010/main" val="33469712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竞价排名与凤巢的不同？</a:t>
            </a:r>
            <a:endParaRPr lang="zh-CN" altLang="en-US" dirty="0"/>
          </a:p>
        </p:txBody>
      </p:sp>
      <p:sp>
        <p:nvSpPr>
          <p:cNvPr id="3" name="内容占位符 2"/>
          <p:cNvSpPr>
            <a:spLocks noGrp="1"/>
          </p:cNvSpPr>
          <p:nvPr>
            <p:ph idx="1"/>
          </p:nvPr>
        </p:nvSpPr>
        <p:spPr/>
        <p:txBody>
          <a:bodyPr/>
          <a:lstStyle/>
          <a:p>
            <a:r>
              <a:rPr lang="zh-CN" altLang="en-US" dirty="0" smtClean="0"/>
              <a:t>精确匹配</a:t>
            </a:r>
            <a:endParaRPr lang="en-US" altLang="zh-CN" dirty="0" smtClean="0"/>
          </a:p>
          <a:p>
            <a:pPr lvl="1"/>
            <a:r>
              <a:rPr lang="zh-CN" altLang="en-US" dirty="0" smtClean="0"/>
              <a:t>主要广告位是左侧推广位，全部精确匹配，</a:t>
            </a:r>
            <a:r>
              <a:rPr lang="zh-CN" altLang="en-US" dirty="0" smtClean="0">
                <a:solidFill>
                  <a:srgbClr val="FF0000"/>
                </a:solidFill>
              </a:rPr>
              <a:t>通过审核即可</a:t>
            </a:r>
            <a:r>
              <a:rPr lang="zh-CN" altLang="en-US" dirty="0">
                <a:solidFill>
                  <a:srgbClr val="FF0000"/>
                </a:solidFill>
              </a:rPr>
              <a:t>推左</a:t>
            </a:r>
            <a:endParaRPr lang="en-US" altLang="zh-CN" dirty="0" smtClean="0">
              <a:solidFill>
                <a:srgbClr val="FF0000"/>
              </a:solidFill>
            </a:endParaRPr>
          </a:p>
          <a:p>
            <a:pPr lvl="1"/>
            <a:r>
              <a:rPr lang="zh-CN" altLang="en-US" dirty="0"/>
              <a:t>左</a:t>
            </a:r>
            <a:r>
              <a:rPr lang="zh-CN" altLang="en-US" dirty="0" smtClean="0"/>
              <a:t>上与右侧是非精确匹配，收入占比很低</a:t>
            </a:r>
            <a:endParaRPr lang="en-US" altLang="zh-CN" dirty="0" smtClean="0"/>
          </a:p>
          <a:p>
            <a:r>
              <a:rPr lang="zh-CN" altLang="en-US" dirty="0" smtClean="0"/>
              <a:t>明拍</a:t>
            </a:r>
            <a:endParaRPr lang="en-US" altLang="zh-CN" dirty="0" smtClean="0"/>
          </a:p>
          <a:p>
            <a:pPr lvl="1"/>
            <a:r>
              <a:rPr lang="zh-CN" altLang="en-US" dirty="0" smtClean="0"/>
              <a:t>通过工具可以知道任何一个关键词的左侧推广位的竞价队列和综合排名指数</a:t>
            </a:r>
            <a:endParaRPr lang="zh-CN" altLang="en-US" dirty="0"/>
          </a:p>
        </p:txBody>
      </p:sp>
    </p:spTree>
    <p:extLst>
      <p:ext uri="{BB962C8B-B14F-4D97-AF65-F5344CB8AC3E}">
        <p14:creationId xmlns:p14="http://schemas.microsoft.com/office/powerpoint/2010/main" val="5377331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凤巢做了什么不同？</a:t>
            </a:r>
            <a:endParaRPr lang="zh-CN" altLang="en-US" dirty="0"/>
          </a:p>
        </p:txBody>
      </p:sp>
      <p:sp>
        <p:nvSpPr>
          <p:cNvPr id="3" name="内容占位符 2"/>
          <p:cNvSpPr>
            <a:spLocks noGrp="1"/>
          </p:cNvSpPr>
          <p:nvPr>
            <p:ph idx="1"/>
          </p:nvPr>
        </p:nvSpPr>
        <p:spPr/>
        <p:txBody>
          <a:bodyPr/>
          <a:lstStyle/>
          <a:p>
            <a:r>
              <a:rPr lang="zh-CN" altLang="en-US" dirty="0" smtClean="0"/>
              <a:t>精确、短语、广泛三种匹配模式</a:t>
            </a:r>
            <a:r>
              <a:rPr lang="zh-CN" altLang="en-US" dirty="0"/>
              <a:t>混</a:t>
            </a:r>
            <a:r>
              <a:rPr lang="zh-CN" altLang="en-US" dirty="0" smtClean="0"/>
              <a:t>排</a:t>
            </a:r>
            <a:endParaRPr lang="en-US" altLang="zh-CN" dirty="0" smtClean="0"/>
          </a:p>
          <a:p>
            <a:r>
              <a:rPr lang="zh-CN" altLang="en-US" dirty="0"/>
              <a:t>暗</a:t>
            </a:r>
            <a:r>
              <a:rPr lang="zh-CN" altLang="en-US" dirty="0" smtClean="0"/>
              <a:t>拍</a:t>
            </a:r>
            <a:endParaRPr lang="en-US" altLang="zh-CN" dirty="0" smtClean="0"/>
          </a:p>
          <a:p>
            <a:pPr lvl="1"/>
            <a:r>
              <a:rPr lang="zh-CN" altLang="en-US" dirty="0" smtClean="0"/>
              <a:t>不知道竞价队列和排名指数</a:t>
            </a:r>
            <a:endParaRPr lang="en-US" altLang="zh-CN" dirty="0" smtClean="0"/>
          </a:p>
          <a:p>
            <a:pPr lvl="1"/>
            <a:r>
              <a:rPr lang="zh-CN" altLang="en-US" dirty="0" smtClean="0"/>
              <a:t>只知道自己的</a:t>
            </a:r>
            <a:r>
              <a:rPr lang="en-US" altLang="zh-CN" dirty="0" smtClean="0"/>
              <a:t>Q</a:t>
            </a:r>
            <a:r>
              <a:rPr lang="zh-CN" altLang="en-US" dirty="0" smtClean="0"/>
              <a:t>和</a:t>
            </a:r>
            <a:r>
              <a:rPr lang="en-US" altLang="zh-CN" dirty="0" smtClean="0"/>
              <a:t>Bid</a:t>
            </a:r>
          </a:p>
          <a:p>
            <a:r>
              <a:rPr lang="zh-CN" altLang="en-US" dirty="0"/>
              <a:t>推</a:t>
            </a:r>
            <a:r>
              <a:rPr lang="zh-CN" altLang="en-US" dirty="0" smtClean="0"/>
              <a:t>左</a:t>
            </a:r>
            <a:endParaRPr lang="en-US" altLang="zh-CN" dirty="0" smtClean="0"/>
          </a:p>
          <a:p>
            <a:pPr lvl="1"/>
            <a:r>
              <a:rPr lang="zh-CN" altLang="en-US" dirty="0" smtClean="0">
                <a:solidFill>
                  <a:srgbClr val="FF0000"/>
                </a:solidFill>
              </a:rPr>
              <a:t>高质量的广告才能推左，强化了激励兼容</a:t>
            </a:r>
            <a:endParaRPr lang="en-US" altLang="zh-CN" dirty="0" smtClean="0">
              <a:solidFill>
                <a:srgbClr val="FF0000"/>
              </a:solidFill>
            </a:endParaRPr>
          </a:p>
        </p:txBody>
      </p:sp>
    </p:spTree>
    <p:extLst>
      <p:ext uri="{BB962C8B-B14F-4D97-AF65-F5344CB8AC3E}">
        <p14:creationId xmlns:p14="http://schemas.microsoft.com/office/powerpoint/2010/main" val="40739835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凤巢与四万亿</a:t>
            </a:r>
            <a:endParaRPr lang="zh-CN" altLang="en-US" dirty="0"/>
          </a:p>
        </p:txBody>
      </p:sp>
      <p:sp>
        <p:nvSpPr>
          <p:cNvPr id="4" name="文本占位符 3"/>
          <p:cNvSpPr>
            <a:spLocks noGrp="1"/>
          </p:cNvSpPr>
          <p:nvPr>
            <p:ph type="body" idx="1"/>
          </p:nvPr>
        </p:nvSpPr>
        <p:spPr/>
        <p:txBody>
          <a:bodyPr/>
          <a:lstStyle/>
          <a:p>
            <a:r>
              <a:rPr lang="zh-CN" altLang="en-US" dirty="0" smtClean="0"/>
              <a:t>凤巢</a:t>
            </a:r>
            <a:endParaRPr lang="zh-CN" altLang="en-US" dirty="0"/>
          </a:p>
        </p:txBody>
      </p:sp>
      <p:sp>
        <p:nvSpPr>
          <p:cNvPr id="5" name="内容占位符 4"/>
          <p:cNvSpPr>
            <a:spLocks noGrp="1"/>
          </p:cNvSpPr>
          <p:nvPr>
            <p:ph sz="half" idx="2"/>
          </p:nvPr>
        </p:nvSpPr>
        <p:spPr/>
        <p:txBody>
          <a:bodyPr/>
          <a:lstStyle/>
          <a:p>
            <a:r>
              <a:rPr lang="en-US" altLang="zh-CN" dirty="0" smtClean="0"/>
              <a:t>2008</a:t>
            </a:r>
            <a:r>
              <a:rPr lang="zh-CN" altLang="en-US" dirty="0" smtClean="0"/>
              <a:t>年</a:t>
            </a:r>
            <a:r>
              <a:rPr lang="en-US" altLang="zh-CN" dirty="0" smtClean="0"/>
              <a:t>11</a:t>
            </a:r>
            <a:r>
              <a:rPr lang="zh-CN" altLang="en-US" dirty="0" smtClean="0"/>
              <a:t>月推出右侧凤巢。</a:t>
            </a:r>
            <a:endParaRPr lang="en-US" altLang="zh-CN" dirty="0" smtClean="0"/>
          </a:p>
          <a:p>
            <a:endParaRPr lang="en-US" altLang="zh-CN" dirty="0"/>
          </a:p>
          <a:p>
            <a:r>
              <a:rPr lang="en-US" altLang="zh-CN" dirty="0" smtClean="0"/>
              <a:t>2009</a:t>
            </a:r>
            <a:r>
              <a:rPr lang="zh-CN" altLang="en-US" dirty="0" smtClean="0"/>
              <a:t>年</a:t>
            </a:r>
            <a:r>
              <a:rPr lang="en-US" altLang="zh-CN" dirty="0" smtClean="0"/>
              <a:t>4</a:t>
            </a:r>
            <a:r>
              <a:rPr lang="zh-CN" altLang="en-US" dirty="0" smtClean="0"/>
              <a:t>月推出左上凤巢。</a:t>
            </a:r>
            <a:endParaRPr lang="en-US" altLang="zh-CN" dirty="0" smtClean="0"/>
          </a:p>
          <a:p>
            <a:endParaRPr lang="en-US" altLang="zh-CN" dirty="0"/>
          </a:p>
          <a:p>
            <a:r>
              <a:rPr lang="en-US" altLang="zh-CN" dirty="0" smtClean="0"/>
              <a:t>2009</a:t>
            </a:r>
            <a:r>
              <a:rPr lang="zh-CN" altLang="en-US" dirty="0" smtClean="0"/>
              <a:t>年</a:t>
            </a:r>
            <a:r>
              <a:rPr lang="en-US" altLang="zh-CN" dirty="0" smtClean="0"/>
              <a:t>12</a:t>
            </a:r>
            <a:r>
              <a:rPr lang="zh-CN" altLang="en-US" dirty="0" smtClean="0"/>
              <a:t>月</a:t>
            </a:r>
            <a:r>
              <a:rPr lang="en-US" altLang="zh-CN" dirty="0" smtClean="0"/>
              <a:t>1</a:t>
            </a:r>
            <a:r>
              <a:rPr lang="zh-CN" altLang="en-US" dirty="0" smtClean="0"/>
              <a:t>日，</a:t>
            </a:r>
            <a:r>
              <a:rPr lang="en-US" altLang="zh-CN" dirty="0" smtClean="0"/>
              <a:t>Robin</a:t>
            </a:r>
            <a:r>
              <a:rPr lang="zh-CN" altLang="en-US" dirty="0" smtClean="0"/>
              <a:t>拍板，提前半年凤巢切换。</a:t>
            </a:r>
            <a:endParaRPr lang="zh-CN" altLang="en-US" dirty="0"/>
          </a:p>
        </p:txBody>
      </p:sp>
      <p:sp>
        <p:nvSpPr>
          <p:cNvPr id="6" name="文本占位符 5"/>
          <p:cNvSpPr>
            <a:spLocks noGrp="1"/>
          </p:cNvSpPr>
          <p:nvPr>
            <p:ph type="body" sz="quarter" idx="3"/>
          </p:nvPr>
        </p:nvSpPr>
        <p:spPr/>
        <p:txBody>
          <a:bodyPr/>
          <a:lstStyle/>
          <a:p>
            <a:r>
              <a:rPr lang="zh-CN" altLang="en-US" dirty="0" smtClean="0"/>
              <a:t>四万亿计划</a:t>
            </a:r>
            <a:endParaRPr lang="zh-CN" altLang="en-US" dirty="0"/>
          </a:p>
        </p:txBody>
      </p:sp>
      <p:sp>
        <p:nvSpPr>
          <p:cNvPr id="7" name="内容占位符 6"/>
          <p:cNvSpPr>
            <a:spLocks noGrp="1"/>
          </p:cNvSpPr>
          <p:nvPr>
            <p:ph sz="quarter" idx="4"/>
          </p:nvPr>
        </p:nvSpPr>
        <p:spPr/>
        <p:txBody>
          <a:bodyPr/>
          <a:lstStyle/>
          <a:p>
            <a:r>
              <a:rPr lang="en-US" altLang="zh-CN" dirty="0" smtClean="0"/>
              <a:t>2008</a:t>
            </a:r>
            <a:r>
              <a:rPr lang="zh-CN" altLang="en-US" dirty="0" smtClean="0"/>
              <a:t>年</a:t>
            </a:r>
            <a:r>
              <a:rPr lang="en-US" altLang="zh-CN" dirty="0" smtClean="0"/>
              <a:t>11</a:t>
            </a:r>
            <a:r>
              <a:rPr lang="zh-CN" altLang="en-US" dirty="0" smtClean="0"/>
              <a:t>月推出四万亿计划，抗</a:t>
            </a:r>
            <a:r>
              <a:rPr lang="zh-CN" altLang="en-US" dirty="0"/>
              <a:t>危机，保</a:t>
            </a:r>
            <a:r>
              <a:rPr lang="zh-CN" altLang="en-US" dirty="0" smtClean="0"/>
              <a:t>增长。</a:t>
            </a:r>
            <a:endParaRPr lang="en-US" altLang="zh-CN" dirty="0" smtClean="0"/>
          </a:p>
          <a:p>
            <a:r>
              <a:rPr lang="en-US" altLang="zh-CN" dirty="0" smtClean="0"/>
              <a:t>2009</a:t>
            </a:r>
            <a:r>
              <a:rPr lang="zh-CN" altLang="en-US" dirty="0" smtClean="0"/>
              <a:t>年</a:t>
            </a:r>
            <a:r>
              <a:rPr lang="en-US" altLang="zh-CN" dirty="0" smtClean="0"/>
              <a:t>3</a:t>
            </a:r>
            <a:r>
              <a:rPr lang="zh-CN" altLang="en-US" dirty="0" smtClean="0"/>
              <a:t>月十一届大</a:t>
            </a:r>
            <a:r>
              <a:rPr lang="zh-CN" altLang="en-US" dirty="0"/>
              <a:t>大</a:t>
            </a:r>
            <a:r>
              <a:rPr lang="zh-CN" altLang="en-US" dirty="0" smtClean="0"/>
              <a:t>二</a:t>
            </a:r>
            <a:r>
              <a:rPr lang="zh-CN" altLang="en-US" dirty="0"/>
              <a:t>次</a:t>
            </a:r>
            <a:r>
              <a:rPr lang="zh-CN" altLang="en-US" dirty="0" smtClean="0"/>
              <a:t>会议确定</a:t>
            </a:r>
            <a:r>
              <a:rPr lang="zh-CN" altLang="en-US" dirty="0"/>
              <a:t>大规模增加政府投资，实施总额４万亿元的两年投资</a:t>
            </a:r>
            <a:r>
              <a:rPr lang="zh-CN" altLang="en-US" dirty="0" smtClean="0"/>
              <a:t>计划。</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3908443753"/>
              </p:ext>
            </p:extLst>
          </p:nvPr>
        </p:nvGraphicFramePr>
        <p:xfrm>
          <a:off x="2627784" y="5073744"/>
          <a:ext cx="6264695" cy="1310640"/>
        </p:xfrm>
        <a:graphic>
          <a:graphicData uri="http://schemas.openxmlformats.org/drawingml/2006/table">
            <a:tbl>
              <a:tblPr firstRow="1" bandRow="1">
                <a:tableStyleId>{5C22544A-7EE6-4342-B048-85BDC9FD1C3A}</a:tableStyleId>
              </a:tblPr>
              <a:tblGrid>
                <a:gridCol w="1252939"/>
                <a:gridCol w="1252939"/>
                <a:gridCol w="1252939"/>
                <a:gridCol w="1252939"/>
                <a:gridCol w="1252939"/>
              </a:tblGrid>
              <a:tr h="545780">
                <a:tc rowSpan="2">
                  <a:txBody>
                    <a:bodyPr/>
                    <a:lstStyle/>
                    <a:p>
                      <a:r>
                        <a:rPr lang="zh-CN" altLang="en-US" sz="2000" dirty="0" smtClean="0"/>
                        <a:t>广义货币</a:t>
                      </a:r>
                      <a:r>
                        <a:rPr lang="zh-CN" altLang="en-US" sz="2000" dirty="0" smtClean="0"/>
                        <a:t>增速（历年政府工作报告）</a:t>
                      </a:r>
                      <a:endParaRPr lang="zh-CN" altLang="en-US" sz="2000" dirty="0"/>
                    </a:p>
                  </a:txBody>
                  <a:tcPr/>
                </a:tc>
                <a:tc>
                  <a:txBody>
                    <a:bodyPr/>
                    <a:lstStyle/>
                    <a:p>
                      <a:r>
                        <a:rPr lang="en-US" altLang="zh-CN" sz="2400" dirty="0" smtClean="0"/>
                        <a:t>2009</a:t>
                      </a:r>
                      <a:endParaRPr lang="zh-CN" altLang="en-US" sz="2400" dirty="0"/>
                    </a:p>
                  </a:txBody>
                  <a:tcPr/>
                </a:tc>
                <a:tc>
                  <a:txBody>
                    <a:bodyPr/>
                    <a:lstStyle/>
                    <a:p>
                      <a:r>
                        <a:rPr lang="en-US" altLang="zh-CN" sz="2400" dirty="0" smtClean="0"/>
                        <a:t>2010</a:t>
                      </a:r>
                      <a:endParaRPr lang="zh-CN" altLang="en-US" sz="2400" dirty="0"/>
                    </a:p>
                  </a:txBody>
                  <a:tcPr/>
                </a:tc>
                <a:tc>
                  <a:txBody>
                    <a:bodyPr/>
                    <a:lstStyle/>
                    <a:p>
                      <a:r>
                        <a:rPr lang="en-US" altLang="zh-CN" sz="2400" dirty="0" smtClean="0"/>
                        <a:t>2011</a:t>
                      </a:r>
                      <a:endParaRPr lang="zh-CN" altLang="en-US" sz="2400" dirty="0"/>
                    </a:p>
                  </a:txBody>
                  <a:tcPr/>
                </a:tc>
                <a:tc>
                  <a:txBody>
                    <a:bodyPr/>
                    <a:lstStyle/>
                    <a:p>
                      <a:r>
                        <a:rPr lang="en-US" altLang="zh-CN" sz="2400" dirty="0" smtClean="0"/>
                        <a:t>2012</a:t>
                      </a:r>
                      <a:endParaRPr lang="zh-CN" altLang="en-US" sz="2400" dirty="0"/>
                    </a:p>
                  </a:txBody>
                  <a:tcPr/>
                </a:tc>
              </a:tr>
              <a:tr h="545780">
                <a:tc vMerge="1">
                  <a:txBody>
                    <a:bodyPr/>
                    <a:lstStyle/>
                    <a:p>
                      <a:endParaRPr lang="zh-CN" altLang="en-US" dirty="0"/>
                    </a:p>
                  </a:txBody>
                  <a:tcPr/>
                </a:tc>
                <a:tc>
                  <a:txBody>
                    <a:bodyPr/>
                    <a:lstStyle/>
                    <a:p>
                      <a:r>
                        <a:rPr lang="en-US" altLang="zh-CN" sz="2400" dirty="0" smtClean="0"/>
                        <a:t>17%</a:t>
                      </a:r>
                      <a:endParaRPr lang="zh-CN" altLang="en-US" sz="2400" dirty="0"/>
                    </a:p>
                  </a:txBody>
                  <a:tcPr/>
                </a:tc>
                <a:tc>
                  <a:txBody>
                    <a:bodyPr/>
                    <a:lstStyle/>
                    <a:p>
                      <a:r>
                        <a:rPr lang="en-US" altLang="zh-CN" sz="2400" dirty="0" smtClean="0"/>
                        <a:t>17%</a:t>
                      </a:r>
                      <a:endParaRPr lang="zh-CN" altLang="en-US" sz="2400" dirty="0"/>
                    </a:p>
                  </a:txBody>
                  <a:tcPr/>
                </a:tc>
                <a:tc>
                  <a:txBody>
                    <a:bodyPr/>
                    <a:lstStyle/>
                    <a:p>
                      <a:r>
                        <a:rPr lang="en-US" altLang="zh-CN" sz="2400" dirty="0" smtClean="0"/>
                        <a:t>16%</a:t>
                      </a:r>
                      <a:endParaRPr lang="zh-CN" altLang="en-US" sz="2400" dirty="0"/>
                    </a:p>
                  </a:txBody>
                  <a:tcPr/>
                </a:tc>
                <a:tc>
                  <a:txBody>
                    <a:bodyPr/>
                    <a:lstStyle/>
                    <a:p>
                      <a:r>
                        <a:rPr lang="en-US" altLang="zh-CN" sz="2400" dirty="0" smtClean="0"/>
                        <a:t>14%</a:t>
                      </a:r>
                      <a:endParaRPr lang="zh-CN" altLang="en-US" sz="2400" dirty="0"/>
                    </a:p>
                  </a:txBody>
                  <a:tcPr/>
                </a:tc>
              </a:tr>
            </a:tbl>
          </a:graphicData>
        </a:graphic>
      </p:graphicFrame>
    </p:spTree>
    <p:extLst>
      <p:ext uri="{BB962C8B-B14F-4D97-AF65-F5344CB8AC3E}">
        <p14:creationId xmlns:p14="http://schemas.microsoft.com/office/powerpoint/2010/main" val="27582131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smtClean="0"/>
              <a:t>为什么做凤巢？</a:t>
            </a:r>
            <a:endParaRPr lang="zh-CN" altLang="en-US" dirty="0"/>
          </a:p>
        </p:txBody>
      </p:sp>
      <p:sp>
        <p:nvSpPr>
          <p:cNvPr id="8" name="内容占位符 7"/>
          <p:cNvSpPr>
            <a:spLocks noGrp="1"/>
          </p:cNvSpPr>
          <p:nvPr>
            <p:ph idx="1"/>
          </p:nvPr>
        </p:nvSpPr>
        <p:spPr/>
        <p:txBody>
          <a:bodyPr/>
          <a:lstStyle/>
          <a:p>
            <a:r>
              <a:rPr lang="zh-CN" altLang="en-US" dirty="0" smtClean="0"/>
              <a:t>提高变现能力</a:t>
            </a:r>
            <a:endParaRPr lang="en-US" altLang="zh-CN" dirty="0" smtClean="0"/>
          </a:p>
          <a:p>
            <a:r>
              <a:rPr lang="zh-CN" altLang="en-US" dirty="0"/>
              <a:t>变</a:t>
            </a:r>
            <a:r>
              <a:rPr lang="zh-CN" altLang="en-US" dirty="0" smtClean="0"/>
              <a:t>现能力有两种：</a:t>
            </a:r>
            <a:endParaRPr lang="en-US" altLang="zh-CN" dirty="0" smtClean="0"/>
          </a:p>
          <a:p>
            <a:pPr lvl="1"/>
            <a:r>
              <a:rPr lang="zh-CN" altLang="en-US" dirty="0" smtClean="0"/>
              <a:t>花钱的能力</a:t>
            </a:r>
            <a:endParaRPr lang="en-US" altLang="zh-CN" dirty="0" smtClean="0"/>
          </a:p>
          <a:p>
            <a:pPr lvl="1"/>
            <a:r>
              <a:rPr lang="zh-CN" altLang="en-US" dirty="0" smtClean="0"/>
              <a:t>满足多种类型客户推广需求的能力，规模与效率的折衷</a:t>
            </a:r>
            <a:endParaRPr lang="en-US" altLang="zh-CN" dirty="0" smtClean="0"/>
          </a:p>
          <a:p>
            <a:endParaRPr lang="zh-CN" altLang="en-US" dirty="0"/>
          </a:p>
        </p:txBody>
      </p:sp>
    </p:spTree>
    <p:extLst>
      <p:ext uri="{BB962C8B-B14F-4D97-AF65-F5344CB8AC3E}">
        <p14:creationId xmlns:p14="http://schemas.microsoft.com/office/powerpoint/2010/main" val="23027635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smtClean="0"/>
              <a:t>凤巢的演变</a:t>
            </a:r>
            <a:endParaRPr lang="zh-CN" altLang="en-US" dirty="0"/>
          </a:p>
        </p:txBody>
      </p:sp>
      <p:sp>
        <p:nvSpPr>
          <p:cNvPr id="8" name="内容占位符 7"/>
          <p:cNvSpPr>
            <a:spLocks noGrp="1"/>
          </p:cNvSpPr>
          <p:nvPr>
            <p:ph idx="1"/>
          </p:nvPr>
        </p:nvSpPr>
        <p:spPr/>
        <p:txBody>
          <a:bodyPr/>
          <a:lstStyle/>
          <a:p>
            <a:r>
              <a:rPr lang="en-US" altLang="zh-CN" dirty="0" smtClean="0"/>
              <a:t>PCTR</a:t>
            </a:r>
            <a:r>
              <a:rPr lang="zh-CN" altLang="en-US" dirty="0" smtClean="0"/>
              <a:t>主导投放</a:t>
            </a:r>
            <a:endParaRPr lang="en-US" altLang="zh-CN" dirty="0" smtClean="0"/>
          </a:p>
          <a:p>
            <a:r>
              <a:rPr lang="zh-CN" altLang="en-US" dirty="0" smtClean="0"/>
              <a:t>高级短语</a:t>
            </a:r>
            <a:endParaRPr lang="en-US" altLang="zh-CN" dirty="0" smtClean="0"/>
          </a:p>
          <a:p>
            <a:r>
              <a:rPr lang="en-US" altLang="zh-CN" dirty="0" smtClean="0"/>
              <a:t>HC-GSP</a:t>
            </a:r>
          </a:p>
          <a:p>
            <a:endParaRPr lang="zh-CN" altLang="en-US" dirty="0"/>
          </a:p>
        </p:txBody>
      </p:sp>
    </p:spTree>
    <p:extLst>
      <p:ext uri="{BB962C8B-B14F-4D97-AF65-F5344CB8AC3E}">
        <p14:creationId xmlns:p14="http://schemas.microsoft.com/office/powerpoint/2010/main" val="10355358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凤</a:t>
            </a:r>
            <a:r>
              <a:rPr lang="zh-CN" altLang="en-US" dirty="0" smtClean="0"/>
              <a:t>巢</a:t>
            </a:r>
            <a:r>
              <a:rPr lang="en-US" altLang="zh-CN" dirty="0" smtClean="0"/>
              <a:t>——PCTR</a:t>
            </a:r>
            <a:r>
              <a:rPr lang="zh-CN" altLang="en-US" dirty="0" smtClean="0"/>
              <a:t>主导投放</a:t>
            </a:r>
            <a:endParaRPr lang="zh-CN" altLang="en-US" dirty="0"/>
          </a:p>
        </p:txBody>
      </p:sp>
      <p:sp>
        <p:nvSpPr>
          <p:cNvPr id="3" name="内容占位符 2"/>
          <p:cNvSpPr>
            <a:spLocks noGrp="1"/>
          </p:cNvSpPr>
          <p:nvPr>
            <p:ph idx="1"/>
          </p:nvPr>
        </p:nvSpPr>
        <p:spPr/>
        <p:txBody>
          <a:bodyPr/>
          <a:lstStyle/>
          <a:p>
            <a:r>
              <a:rPr lang="en-US" altLang="zh-CN" dirty="0" smtClean="0"/>
              <a:t>PCTR</a:t>
            </a:r>
            <a:r>
              <a:rPr lang="zh-CN" altLang="en-US" dirty="0" smtClean="0"/>
              <a:t>的技术进步：更大规模</a:t>
            </a:r>
            <a:r>
              <a:rPr lang="zh-CN" altLang="en-US" dirty="0"/>
              <a:t>、更有效的</a:t>
            </a:r>
            <a:r>
              <a:rPr lang="zh-CN" altLang="en-US" dirty="0" smtClean="0"/>
              <a:t>特征、更快迭代</a:t>
            </a:r>
            <a:endParaRPr lang="en-US" altLang="zh-CN" dirty="0" smtClean="0"/>
          </a:p>
          <a:p>
            <a:r>
              <a:rPr lang="en-US" altLang="zh-CN" dirty="0" smtClean="0"/>
              <a:t>2010</a:t>
            </a:r>
            <a:r>
              <a:rPr lang="zh-CN" altLang="en-US" dirty="0" smtClean="0"/>
              <a:t>年</a:t>
            </a:r>
            <a:r>
              <a:rPr lang="en-US" altLang="zh-CN" dirty="0" smtClean="0"/>
              <a:t>6</a:t>
            </a:r>
            <a:r>
              <a:rPr lang="zh-CN" altLang="en-US" dirty="0" smtClean="0"/>
              <a:t>月，</a:t>
            </a:r>
            <a:r>
              <a:rPr lang="en-US" altLang="zh-CN" dirty="0" smtClean="0"/>
              <a:t>PCTR</a:t>
            </a:r>
            <a:r>
              <a:rPr lang="zh-CN" altLang="en-US" dirty="0" smtClean="0"/>
              <a:t>主导</a:t>
            </a:r>
            <a:r>
              <a:rPr lang="en-US" altLang="zh-CN" dirty="0" smtClean="0"/>
              <a:t>PPIM</a:t>
            </a:r>
            <a:r>
              <a:rPr lang="zh-CN" altLang="en-US" dirty="0" smtClean="0"/>
              <a:t>推左</a:t>
            </a:r>
            <a:endParaRPr lang="en-US" altLang="zh-CN" dirty="0" smtClean="0"/>
          </a:p>
          <a:p>
            <a:r>
              <a:rPr lang="en-US" altLang="zh-CN" dirty="0" smtClean="0"/>
              <a:t>2010</a:t>
            </a:r>
            <a:r>
              <a:rPr lang="zh-CN" altLang="en-US" dirty="0" smtClean="0"/>
              <a:t>年</a:t>
            </a:r>
            <a:r>
              <a:rPr lang="en-US" altLang="zh-CN" dirty="0" smtClean="0"/>
              <a:t>11</a:t>
            </a:r>
            <a:r>
              <a:rPr lang="zh-CN" altLang="en-US" dirty="0" smtClean="0"/>
              <a:t>月，</a:t>
            </a:r>
            <a:r>
              <a:rPr lang="en-US" altLang="zh-CN" dirty="0" smtClean="0"/>
              <a:t>PCTR</a:t>
            </a:r>
            <a:r>
              <a:rPr lang="zh-CN" altLang="en-US" dirty="0" smtClean="0"/>
              <a:t>主导</a:t>
            </a:r>
            <a:r>
              <a:rPr lang="en-US" altLang="zh-CN" dirty="0" smtClean="0"/>
              <a:t>PP</a:t>
            </a:r>
            <a:r>
              <a:rPr lang="zh-CN" altLang="en-US" dirty="0" smtClean="0"/>
              <a:t>推左</a:t>
            </a:r>
            <a:endParaRPr lang="en-US" altLang="zh-CN" dirty="0" smtClean="0"/>
          </a:p>
          <a:p>
            <a:r>
              <a:rPr lang="en-US" altLang="zh-CN" dirty="0" smtClean="0"/>
              <a:t>2011</a:t>
            </a:r>
            <a:r>
              <a:rPr lang="zh-CN" altLang="en-US" dirty="0" smtClean="0"/>
              <a:t>年</a:t>
            </a:r>
            <a:r>
              <a:rPr lang="en-US" altLang="zh-CN" dirty="0" smtClean="0"/>
              <a:t>6</a:t>
            </a:r>
            <a:r>
              <a:rPr lang="zh-CN" altLang="en-US" dirty="0" smtClean="0"/>
              <a:t>月，联盟与</a:t>
            </a:r>
            <a:r>
              <a:rPr lang="en-US" altLang="zh-CN" dirty="0" smtClean="0"/>
              <a:t>HAO123</a:t>
            </a:r>
            <a:r>
              <a:rPr lang="zh-CN" altLang="en-US" dirty="0" smtClean="0"/>
              <a:t>流量个性化</a:t>
            </a:r>
            <a:r>
              <a:rPr lang="en-US" altLang="zh-CN" dirty="0" smtClean="0"/>
              <a:t>PCTR</a:t>
            </a:r>
          </a:p>
          <a:p>
            <a:r>
              <a:rPr lang="en-US" altLang="zh-CN" dirty="0" smtClean="0"/>
              <a:t>2011</a:t>
            </a:r>
            <a:r>
              <a:rPr lang="zh-CN" altLang="en-US" dirty="0" smtClean="0"/>
              <a:t>年</a:t>
            </a:r>
            <a:r>
              <a:rPr lang="en-US" altLang="zh-CN" dirty="0" smtClean="0"/>
              <a:t>12</a:t>
            </a:r>
            <a:r>
              <a:rPr lang="zh-CN" altLang="en-US" dirty="0" smtClean="0"/>
              <a:t>月，百度流量个性化</a:t>
            </a:r>
            <a:endParaRPr lang="zh-CN" altLang="en-US" dirty="0"/>
          </a:p>
        </p:txBody>
      </p:sp>
    </p:spTree>
    <p:extLst>
      <p:ext uri="{BB962C8B-B14F-4D97-AF65-F5344CB8AC3E}">
        <p14:creationId xmlns:p14="http://schemas.microsoft.com/office/powerpoint/2010/main" val="19231870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凤巢</a:t>
            </a:r>
            <a:r>
              <a:rPr lang="en-US" altLang="zh-CN" dirty="0" smtClean="0"/>
              <a:t>——HC GSP</a:t>
            </a:r>
            <a:endParaRPr lang="zh-CN" altLang="en-US" dirty="0"/>
          </a:p>
        </p:txBody>
      </p:sp>
      <p:sp>
        <p:nvSpPr>
          <p:cNvPr id="3" name="内容占位符 2"/>
          <p:cNvSpPr>
            <a:spLocks noGrp="1"/>
          </p:cNvSpPr>
          <p:nvPr>
            <p:ph idx="1"/>
          </p:nvPr>
        </p:nvSpPr>
        <p:spPr/>
        <p:txBody>
          <a:bodyPr/>
          <a:lstStyle/>
          <a:p>
            <a:r>
              <a:rPr lang="en-US" altLang="zh-CN" dirty="0" smtClean="0"/>
              <a:t>GSP</a:t>
            </a:r>
            <a:r>
              <a:rPr lang="zh-CN" altLang="en-US" dirty="0" smtClean="0"/>
              <a:t>没有考虑用户体验</a:t>
            </a:r>
            <a:endParaRPr lang="en-US" altLang="zh-CN" dirty="0" smtClean="0"/>
          </a:p>
          <a:p>
            <a:r>
              <a:rPr lang="zh-CN" altLang="en-US" dirty="0" smtClean="0"/>
              <a:t>考虑到用户、客户、搜索引擎三方利益，为了确保激励兼容，引入</a:t>
            </a:r>
            <a:r>
              <a:rPr lang="en-US" altLang="zh-CN" dirty="0" smtClean="0"/>
              <a:t>HC GSP</a:t>
            </a:r>
          </a:p>
          <a:p>
            <a:r>
              <a:rPr lang="zh-CN" altLang="en-US" dirty="0" smtClean="0"/>
              <a:t>按照</a:t>
            </a:r>
            <a:r>
              <a:rPr lang="en-US" altLang="zh-CN" dirty="0"/>
              <a:t>PCTR</a:t>
            </a:r>
            <a:r>
              <a:rPr lang="en-US" altLang="zh-CN" dirty="0" smtClean="0"/>
              <a:t>*(Bid – HC)</a:t>
            </a:r>
            <a:r>
              <a:rPr lang="zh-CN" altLang="en-US" dirty="0" smtClean="0"/>
              <a:t>排序，按照最低保位价计费</a:t>
            </a:r>
            <a:endParaRPr lang="en-US" altLang="zh-CN" dirty="0" smtClean="0"/>
          </a:p>
          <a:p>
            <a:r>
              <a:rPr lang="en-US" altLang="zh-CN" dirty="0" smtClean="0"/>
              <a:t>HC</a:t>
            </a:r>
            <a:r>
              <a:rPr lang="zh-CN" altLang="en-US" dirty="0" smtClean="0"/>
              <a:t>代表</a:t>
            </a:r>
            <a:r>
              <a:rPr lang="en-US" altLang="zh-CN" dirty="0" smtClean="0"/>
              <a:t>Post Click</a:t>
            </a:r>
            <a:r>
              <a:rPr lang="zh-CN" altLang="en-US" dirty="0" smtClean="0"/>
              <a:t>用户体验</a:t>
            </a:r>
            <a:endParaRPr lang="en-US" altLang="zh-CN" dirty="0" smtClean="0"/>
          </a:p>
          <a:p>
            <a:r>
              <a:rPr lang="en-US" altLang="zh-CN" dirty="0" smtClean="0"/>
              <a:t>2011</a:t>
            </a:r>
            <a:r>
              <a:rPr lang="zh-CN" altLang="en-US" dirty="0" smtClean="0"/>
              <a:t>年</a:t>
            </a:r>
            <a:r>
              <a:rPr lang="en-US" altLang="zh-CN" dirty="0" smtClean="0"/>
              <a:t>11</a:t>
            </a:r>
            <a:r>
              <a:rPr lang="zh-CN" altLang="en-US" dirty="0" smtClean="0"/>
              <a:t>月上线</a:t>
            </a:r>
            <a:endParaRPr lang="zh-CN" altLang="en-US" dirty="0"/>
          </a:p>
        </p:txBody>
      </p:sp>
    </p:spTree>
    <p:extLst>
      <p:ext uri="{BB962C8B-B14F-4D97-AF65-F5344CB8AC3E}">
        <p14:creationId xmlns:p14="http://schemas.microsoft.com/office/powerpoint/2010/main" val="7645031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凤</a:t>
            </a:r>
            <a:r>
              <a:rPr lang="zh-CN" altLang="en-US" dirty="0" smtClean="0"/>
              <a:t>巢</a:t>
            </a:r>
            <a:r>
              <a:rPr lang="en-US" altLang="zh-CN" dirty="0" smtClean="0"/>
              <a:t>——</a:t>
            </a:r>
            <a:r>
              <a:rPr lang="zh-CN" altLang="en-US" dirty="0" smtClean="0"/>
              <a:t>高级短语</a:t>
            </a:r>
            <a:endParaRPr lang="zh-CN" altLang="en-US" dirty="0"/>
          </a:p>
        </p:txBody>
      </p:sp>
      <p:sp>
        <p:nvSpPr>
          <p:cNvPr id="3" name="内容占位符 2"/>
          <p:cNvSpPr>
            <a:spLocks noGrp="1"/>
          </p:cNvSpPr>
          <p:nvPr>
            <p:ph idx="1"/>
          </p:nvPr>
        </p:nvSpPr>
        <p:spPr/>
        <p:txBody>
          <a:bodyPr/>
          <a:lstStyle/>
          <a:p>
            <a:r>
              <a:rPr lang="zh-CN" altLang="en-US" dirty="0" smtClean="0"/>
              <a:t>完整包含：拍卖词是</a:t>
            </a:r>
            <a:r>
              <a:rPr lang="en-US" altLang="zh-CN" dirty="0" smtClean="0"/>
              <a:t>query</a:t>
            </a:r>
            <a:r>
              <a:rPr lang="zh-CN" altLang="en-US" dirty="0" smtClean="0"/>
              <a:t>的完整子串</a:t>
            </a:r>
            <a:endParaRPr lang="en-US" altLang="zh-CN" dirty="0" smtClean="0"/>
          </a:p>
          <a:p>
            <a:r>
              <a:rPr lang="zh-CN" altLang="en-US" dirty="0"/>
              <a:t>切</a:t>
            </a:r>
            <a:r>
              <a:rPr lang="zh-CN" altLang="en-US" dirty="0" smtClean="0"/>
              <a:t>词包含：切词，顺序可颠倒</a:t>
            </a:r>
            <a:endParaRPr lang="en-US" altLang="zh-CN" dirty="0" smtClean="0"/>
          </a:p>
          <a:p>
            <a:r>
              <a:rPr lang="zh-CN" altLang="en-US" dirty="0"/>
              <a:t>语义</a:t>
            </a:r>
            <a:r>
              <a:rPr lang="zh-CN" altLang="en-US" dirty="0" smtClean="0"/>
              <a:t>包含：同义词、上下位</a:t>
            </a:r>
            <a:endParaRPr lang="zh-CN" altLang="en-US" dirty="0"/>
          </a:p>
        </p:txBody>
      </p:sp>
    </p:spTree>
    <p:extLst>
      <p:ext uri="{BB962C8B-B14F-4D97-AF65-F5344CB8AC3E}">
        <p14:creationId xmlns:p14="http://schemas.microsoft.com/office/powerpoint/2010/main" val="5323938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凤巢</a:t>
            </a:r>
            <a:r>
              <a:rPr lang="en-US" altLang="zh-CN" dirty="0" smtClean="0"/>
              <a:t>——</a:t>
            </a:r>
            <a:r>
              <a:rPr lang="zh-CN" altLang="en-US" dirty="0" smtClean="0"/>
              <a:t>高级短语</a:t>
            </a:r>
            <a:endParaRPr lang="zh-CN" altLang="en-US" dirty="0"/>
          </a:p>
        </p:txBody>
      </p:sp>
      <p:sp>
        <p:nvSpPr>
          <p:cNvPr id="3" name="内容占位符 2"/>
          <p:cNvSpPr>
            <a:spLocks noGrp="1"/>
          </p:cNvSpPr>
          <p:nvPr>
            <p:ph idx="1"/>
          </p:nvPr>
        </p:nvSpPr>
        <p:spPr/>
        <p:txBody>
          <a:bodyPr/>
          <a:lstStyle/>
          <a:p>
            <a:r>
              <a:rPr lang="zh-CN" altLang="en-US" sz="2800" dirty="0"/>
              <a:t>三</a:t>
            </a:r>
            <a:r>
              <a:rPr lang="zh-CN" altLang="en-US" sz="2800" dirty="0" smtClean="0"/>
              <a:t>种匹配模式定位不同</a:t>
            </a:r>
            <a:endParaRPr lang="en-US" altLang="zh-CN" sz="2800" dirty="0" smtClean="0"/>
          </a:p>
          <a:p>
            <a:r>
              <a:rPr lang="zh-CN" altLang="en-US" sz="2800" dirty="0" smtClean="0"/>
              <a:t>精确匹配：</a:t>
            </a:r>
            <a:r>
              <a:rPr lang="zh-CN" altLang="en-US" sz="2800" dirty="0"/>
              <a:t>一模一样</a:t>
            </a:r>
            <a:endParaRPr lang="en-US" altLang="zh-CN" sz="2800" dirty="0" smtClean="0"/>
          </a:p>
          <a:p>
            <a:endParaRPr lang="en-US" altLang="zh-CN" sz="2800" dirty="0" smtClean="0"/>
          </a:p>
          <a:p>
            <a:r>
              <a:rPr lang="zh-CN" altLang="en-US" sz="2800" dirty="0" smtClean="0"/>
              <a:t>短语匹配：语义上下位包含</a:t>
            </a:r>
            <a:endParaRPr lang="en-US" altLang="zh-CN" sz="2800" dirty="0" smtClean="0"/>
          </a:p>
          <a:p>
            <a:endParaRPr lang="en-US" altLang="zh-CN" sz="2800" dirty="0"/>
          </a:p>
          <a:p>
            <a:endParaRPr lang="en-US" altLang="zh-CN" sz="2800" dirty="0" smtClean="0"/>
          </a:p>
          <a:p>
            <a:r>
              <a:rPr lang="zh-CN" altLang="en-US" sz="2800" dirty="0" smtClean="0"/>
              <a:t>广泛匹配：</a:t>
            </a:r>
            <a:r>
              <a:rPr lang="en-US" altLang="zh-CN" sz="2800" dirty="0"/>
              <a:t>Q</a:t>
            </a:r>
            <a:r>
              <a:rPr lang="en-US" altLang="zh-CN" sz="2800" dirty="0" smtClean="0"/>
              <a:t>uery</a:t>
            </a:r>
            <a:r>
              <a:rPr lang="zh-CN" altLang="en-US" sz="2800" dirty="0" smtClean="0"/>
              <a:t>背后的网民是</a:t>
            </a:r>
            <a:r>
              <a:rPr lang="en-US" altLang="zh-CN" sz="2800" dirty="0" smtClean="0"/>
              <a:t>Targeting</a:t>
            </a:r>
            <a:r>
              <a:rPr lang="zh-CN" altLang="en-US" sz="2800" dirty="0" smtClean="0"/>
              <a:t>的人群</a:t>
            </a:r>
            <a:endParaRPr lang="zh-CN" altLang="en-US" sz="2800" dirty="0"/>
          </a:p>
        </p:txBody>
      </p:sp>
      <p:sp>
        <p:nvSpPr>
          <p:cNvPr id="8" name="椭圆 7"/>
          <p:cNvSpPr/>
          <p:nvPr/>
        </p:nvSpPr>
        <p:spPr>
          <a:xfrm>
            <a:off x="4860032" y="5157192"/>
            <a:ext cx="3744416" cy="10801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7587952" y="5445224"/>
            <a:ext cx="1368152" cy="4320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971964" y="5517232"/>
            <a:ext cx="1088504"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Targeting</a:t>
            </a:r>
          </a:p>
        </p:txBody>
      </p:sp>
      <p:sp>
        <p:nvSpPr>
          <p:cNvPr id="11" name="矩形 10"/>
          <p:cNvSpPr/>
          <p:nvPr/>
        </p:nvSpPr>
        <p:spPr>
          <a:xfrm>
            <a:off x="7740352" y="5517232"/>
            <a:ext cx="936104"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Query</a:t>
            </a:r>
            <a:endParaRPr lang="zh-CN" altLang="en-US" dirty="0">
              <a:solidFill>
                <a:schemeClr val="tx1"/>
              </a:solidFill>
            </a:endParaRPr>
          </a:p>
        </p:txBody>
      </p:sp>
      <p:sp>
        <p:nvSpPr>
          <p:cNvPr id="12" name="椭圆 11"/>
          <p:cNvSpPr/>
          <p:nvPr/>
        </p:nvSpPr>
        <p:spPr>
          <a:xfrm>
            <a:off x="4860032" y="3429000"/>
            <a:ext cx="3744416" cy="10801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7075512" y="3717032"/>
            <a:ext cx="1368152" cy="4320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5819564" y="3789040"/>
            <a:ext cx="1088504"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Targeting</a:t>
            </a:r>
          </a:p>
        </p:txBody>
      </p:sp>
      <p:sp>
        <p:nvSpPr>
          <p:cNvPr id="15" name="矩形 14"/>
          <p:cNvSpPr/>
          <p:nvPr/>
        </p:nvSpPr>
        <p:spPr>
          <a:xfrm>
            <a:off x="7227912" y="3789040"/>
            <a:ext cx="936104"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Query</a:t>
            </a:r>
            <a:endParaRPr lang="zh-CN" altLang="en-US" dirty="0">
              <a:solidFill>
                <a:schemeClr val="tx1"/>
              </a:solidFill>
            </a:endParaRPr>
          </a:p>
        </p:txBody>
      </p:sp>
    </p:spTree>
    <p:extLst>
      <p:ext uri="{BB962C8B-B14F-4D97-AF65-F5344CB8AC3E}">
        <p14:creationId xmlns:p14="http://schemas.microsoft.com/office/powerpoint/2010/main" val="16617013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从粗放型经济到集约型经济</a:t>
            </a:r>
          </a:p>
        </p:txBody>
      </p:sp>
      <p:sp>
        <p:nvSpPr>
          <p:cNvPr id="3" name="内容占位符 2"/>
          <p:cNvSpPr>
            <a:spLocks noGrp="1"/>
          </p:cNvSpPr>
          <p:nvPr>
            <p:ph idx="1"/>
          </p:nvPr>
        </p:nvSpPr>
        <p:spPr/>
        <p:txBody>
          <a:bodyPr/>
          <a:lstStyle/>
          <a:p>
            <a:r>
              <a:rPr lang="zh-CN" altLang="en-US" dirty="0" smtClean="0"/>
              <a:t>外需减少</a:t>
            </a:r>
            <a:r>
              <a:rPr lang="en-US" altLang="zh-CN" dirty="0" smtClean="0"/>
              <a:t>+</a:t>
            </a:r>
            <a:r>
              <a:rPr lang="zh-CN" altLang="en-US" dirty="0" smtClean="0"/>
              <a:t>政府投资拉动经济不可持续</a:t>
            </a:r>
            <a:endParaRPr lang="en-US" altLang="zh-CN" dirty="0" smtClean="0"/>
          </a:p>
          <a:p>
            <a:r>
              <a:rPr lang="en-US" altLang="zh-CN" dirty="0" smtClean="0">
                <a:sym typeface="Wingdings" pitchFamily="2" charset="2"/>
              </a:rPr>
              <a:t></a:t>
            </a:r>
            <a:r>
              <a:rPr lang="zh-CN" altLang="en-US" dirty="0" smtClean="0">
                <a:sym typeface="Wingdings" pitchFamily="2" charset="2"/>
              </a:rPr>
              <a:t>经济转型（出口</a:t>
            </a:r>
            <a:r>
              <a:rPr lang="en-US" altLang="zh-CN" dirty="0" smtClean="0">
                <a:sym typeface="Wingdings" pitchFamily="2" charset="2"/>
              </a:rPr>
              <a:t>-&gt;</a:t>
            </a:r>
            <a:r>
              <a:rPr lang="zh-CN" altLang="en-US" dirty="0" smtClean="0">
                <a:sym typeface="Wingdings" pitchFamily="2" charset="2"/>
              </a:rPr>
              <a:t>内需，投资</a:t>
            </a:r>
            <a:r>
              <a:rPr lang="en-US" altLang="zh-CN" dirty="0" smtClean="0">
                <a:sym typeface="Wingdings" pitchFamily="2" charset="2"/>
              </a:rPr>
              <a:t>-&gt;</a:t>
            </a:r>
            <a:r>
              <a:rPr lang="zh-CN" altLang="en-US" dirty="0" smtClean="0">
                <a:sym typeface="Wingdings" pitchFamily="2" charset="2"/>
              </a:rPr>
              <a:t>消费，保育中小企业，开放一些领域给民资）</a:t>
            </a:r>
            <a:endParaRPr lang="en-US" altLang="zh-CN" dirty="0" smtClean="0">
              <a:sym typeface="Wingdings" pitchFamily="2" charset="2"/>
            </a:endParaRPr>
          </a:p>
          <a:p>
            <a:r>
              <a:rPr lang="en-US" altLang="zh-CN" dirty="0" smtClean="0">
                <a:sym typeface="Wingdings" pitchFamily="2" charset="2"/>
              </a:rPr>
              <a:t></a:t>
            </a:r>
            <a:r>
              <a:rPr lang="zh-CN" altLang="en-US" dirty="0" smtClean="0">
                <a:sym typeface="Wingdings" pitchFamily="2" charset="2"/>
              </a:rPr>
              <a:t>不再保八，效率和规模的折衷更偏向效率</a:t>
            </a:r>
            <a:endParaRPr lang="en-US" altLang="zh-CN" dirty="0" smtClean="0">
              <a:sym typeface="Wingdings" pitchFamily="2" charset="2"/>
            </a:endParaRPr>
          </a:p>
        </p:txBody>
      </p:sp>
    </p:spTree>
    <p:extLst>
      <p:ext uri="{BB962C8B-B14F-4D97-AF65-F5344CB8AC3E}">
        <p14:creationId xmlns:p14="http://schemas.microsoft.com/office/powerpoint/2010/main" val="8961284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从粗放型经济到集约型经济</a:t>
            </a:r>
            <a:endParaRPr lang="zh-CN" altLang="en-US" dirty="0"/>
          </a:p>
        </p:txBody>
      </p:sp>
      <p:sp>
        <p:nvSpPr>
          <p:cNvPr id="3" name="内容占位符 2"/>
          <p:cNvSpPr>
            <a:spLocks noGrp="1"/>
          </p:cNvSpPr>
          <p:nvPr>
            <p:ph idx="1"/>
          </p:nvPr>
        </p:nvSpPr>
        <p:spPr/>
        <p:txBody>
          <a:bodyPr/>
          <a:lstStyle/>
          <a:p>
            <a:r>
              <a:rPr lang="zh-CN" altLang="en-US" dirty="0">
                <a:sym typeface="Wingdings" pitchFamily="2" charset="2"/>
              </a:rPr>
              <a:t>粗放型</a:t>
            </a:r>
            <a:r>
              <a:rPr lang="zh-CN" altLang="en-US" dirty="0" smtClean="0">
                <a:sym typeface="Wingdings" pitchFamily="2" charset="2"/>
              </a:rPr>
              <a:t>和集约型的</a:t>
            </a:r>
            <a:r>
              <a:rPr lang="zh-CN" altLang="en-US" dirty="0">
                <a:sym typeface="Wingdings" pitchFamily="2" charset="2"/>
              </a:rPr>
              <a:t>区别是客户适应凤巢还是凤巢适应</a:t>
            </a:r>
            <a:r>
              <a:rPr lang="zh-CN" altLang="en-US" dirty="0" smtClean="0">
                <a:sym typeface="Wingdings" pitchFamily="2" charset="2"/>
              </a:rPr>
              <a:t>客户</a:t>
            </a:r>
            <a:endParaRPr lang="en-US" altLang="zh-CN" dirty="0" smtClean="0">
              <a:sym typeface="Wingdings" pitchFamily="2" charset="2"/>
            </a:endParaRPr>
          </a:p>
          <a:p>
            <a:pPr lvl="1"/>
            <a:r>
              <a:rPr lang="zh-CN" altLang="en-US" dirty="0" smtClean="0">
                <a:sym typeface="Wingdings" pitchFamily="2" charset="2"/>
              </a:rPr>
              <a:t>粗放型的推广效果不是不好，</a:t>
            </a:r>
            <a:r>
              <a:rPr lang="zh-CN" altLang="en-US" dirty="0">
                <a:sym typeface="Wingdings" pitchFamily="2" charset="2"/>
              </a:rPr>
              <a:t>比较</a:t>
            </a:r>
            <a:r>
              <a:rPr lang="zh-CN" altLang="en-US" dirty="0" smtClean="0">
                <a:sym typeface="Wingdings" pitchFamily="2" charset="2"/>
              </a:rPr>
              <a:t>适合相对追求规模的客户</a:t>
            </a:r>
            <a:endParaRPr lang="en-US" altLang="zh-CN" dirty="0">
              <a:sym typeface="Wingdings" pitchFamily="2" charset="2"/>
            </a:endParaRPr>
          </a:p>
          <a:p>
            <a:r>
              <a:rPr lang="zh-CN" altLang="en-US" dirty="0">
                <a:sym typeface="Wingdings" pitchFamily="2" charset="2"/>
              </a:rPr>
              <a:t>主要矛盾</a:t>
            </a:r>
            <a:r>
              <a:rPr lang="zh-CN" altLang="en-US" dirty="0" smtClean="0">
                <a:sym typeface="Wingdings" pitchFamily="2" charset="2"/>
              </a:rPr>
              <a:t>不仅仅是</a:t>
            </a:r>
            <a:r>
              <a:rPr lang="zh-CN" altLang="en-US" dirty="0">
                <a:sym typeface="Wingdings" pitchFamily="2" charset="2"/>
              </a:rPr>
              <a:t>花钱能力</a:t>
            </a:r>
            <a:r>
              <a:rPr lang="zh-CN" altLang="en-US" dirty="0" smtClean="0">
                <a:sym typeface="Wingdings" pitchFamily="2" charset="2"/>
              </a:rPr>
              <a:t>，更是</a:t>
            </a:r>
            <a:r>
              <a:rPr lang="zh-CN" altLang="en-US" dirty="0">
                <a:sym typeface="Wingdings" pitchFamily="2" charset="2"/>
              </a:rPr>
              <a:t>让客户投入更多预算的能力</a:t>
            </a:r>
            <a:endParaRPr lang="en-US" altLang="zh-CN" dirty="0">
              <a:sym typeface="Wingdings" pitchFamily="2" charset="2"/>
            </a:endParaRPr>
          </a:p>
          <a:p>
            <a:r>
              <a:rPr lang="zh-CN" altLang="en-US" dirty="0">
                <a:sym typeface="Wingdings" pitchFamily="2" charset="2"/>
              </a:rPr>
              <a:t>关键</a:t>
            </a:r>
            <a:r>
              <a:rPr lang="zh-CN" altLang="en-US" dirty="0" smtClean="0">
                <a:sym typeface="Wingdings" pitchFamily="2" charset="2"/>
              </a:rPr>
              <a:t>在于满足各种类型客户的推广需求</a:t>
            </a:r>
            <a:endParaRPr lang="en-US" altLang="zh-CN" dirty="0">
              <a:sym typeface="Wingdings" pitchFamily="2" charset="2"/>
            </a:endParaRPr>
          </a:p>
          <a:p>
            <a:pPr lvl="1"/>
            <a:r>
              <a:rPr lang="zh-CN" altLang="en-US" dirty="0">
                <a:sym typeface="Wingdings" pitchFamily="2" charset="2"/>
              </a:rPr>
              <a:t>量和质的</a:t>
            </a:r>
            <a:r>
              <a:rPr lang="zh-CN" altLang="en-US" dirty="0" smtClean="0">
                <a:sym typeface="Wingdings" pitchFamily="2" charset="2"/>
              </a:rPr>
              <a:t>折衷，规模与效率的诉求</a:t>
            </a:r>
            <a:endParaRPr lang="en-US" altLang="zh-CN" dirty="0">
              <a:sym typeface="Wingdings" pitchFamily="2" charset="2"/>
            </a:endParaRPr>
          </a:p>
          <a:p>
            <a:pPr lvl="1"/>
            <a:r>
              <a:rPr lang="zh-CN" altLang="en-US" dirty="0">
                <a:sym typeface="Wingdings" pitchFamily="2" charset="2"/>
              </a:rPr>
              <a:t>效果类和品牌类</a:t>
            </a:r>
            <a:endParaRPr lang="en-US" altLang="zh-CN" dirty="0">
              <a:sym typeface="Wingdings" pitchFamily="2" charset="2"/>
            </a:endParaRPr>
          </a:p>
          <a:p>
            <a:endParaRPr lang="zh-CN" altLang="en-US" sz="3600" dirty="0"/>
          </a:p>
        </p:txBody>
      </p:sp>
    </p:spTree>
    <p:extLst>
      <p:ext uri="{BB962C8B-B14F-4D97-AF65-F5344CB8AC3E}">
        <p14:creationId xmlns:p14="http://schemas.microsoft.com/office/powerpoint/2010/main" val="321495887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766</TotalTime>
  <Words>640</Words>
  <Application>Microsoft Office PowerPoint</Application>
  <PresentationFormat>全屏显示(4:3)</PresentationFormat>
  <Paragraphs>96</Paragraphs>
  <Slides>14</Slides>
  <Notes>0</Notes>
  <HiddenSlides>0</HiddenSlides>
  <MMClips>0</MMClips>
  <ScaleCrop>false</ScaleCrop>
  <HeadingPairs>
    <vt:vector size="4" baseType="variant">
      <vt:variant>
        <vt:lpstr>主题</vt:lpstr>
      </vt:variant>
      <vt:variant>
        <vt:i4>1</vt:i4>
      </vt:variant>
      <vt:variant>
        <vt:lpstr>幻灯片标题</vt:lpstr>
      </vt:variant>
      <vt:variant>
        <vt:i4>14</vt:i4>
      </vt:variant>
    </vt:vector>
  </HeadingPairs>
  <TitlesOfParts>
    <vt:vector size="15" baseType="lpstr">
      <vt:lpstr>Office 主题</vt:lpstr>
      <vt:lpstr>凤巢的前世今生</vt:lpstr>
      <vt:lpstr>提纲</vt:lpstr>
      <vt:lpstr>凤巢的前世——竞价排名</vt:lpstr>
      <vt:lpstr>竞价排名与凤巢的不同？</vt:lpstr>
      <vt:lpstr>凤巢做了什么不同？</vt:lpstr>
      <vt:lpstr>凤巢与四万亿</vt:lpstr>
      <vt:lpstr>为什么做凤巢？</vt:lpstr>
      <vt:lpstr>凤巢的演变</vt:lpstr>
      <vt:lpstr>凤巢——PCTR主导投放</vt:lpstr>
      <vt:lpstr>凤巢——HC GSP</vt:lpstr>
      <vt:lpstr>凤巢——高级短语</vt:lpstr>
      <vt:lpstr>凤巢——高级短语</vt:lpstr>
      <vt:lpstr>从粗放型经济到集约型经济</vt:lpstr>
      <vt:lpstr>从粗放型经济到集约型经济</vt:lpstr>
    </vt:vector>
  </TitlesOfParts>
  <Company>baidu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百度流量的营销解密 --非商业流量的用户行为分析</dc:title>
  <dc:creator>baidu</dc:creator>
  <cp:lastModifiedBy>wanhao</cp:lastModifiedBy>
  <cp:revision>248</cp:revision>
  <dcterms:created xsi:type="dcterms:W3CDTF">2012-03-07T02:33:46Z</dcterms:created>
  <dcterms:modified xsi:type="dcterms:W3CDTF">2012-04-28T06:06:12Z</dcterms:modified>
</cp:coreProperties>
</file>