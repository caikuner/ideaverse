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65" r:id="rId2"/>
    <p:sldId id="279" r:id="rId3"/>
    <p:sldId id="308" r:id="rId4"/>
    <p:sldId id="310" r:id="rId5"/>
    <p:sldId id="320" r:id="rId6"/>
    <p:sldId id="321" r:id="rId7"/>
    <p:sldId id="309" r:id="rId8"/>
    <p:sldId id="311" r:id="rId9"/>
    <p:sldId id="313" r:id="rId10"/>
    <p:sldId id="316" r:id="rId11"/>
    <p:sldId id="312" r:id="rId12"/>
    <p:sldId id="317" r:id="rId13"/>
    <p:sldId id="314" r:id="rId14"/>
    <p:sldId id="318" r:id="rId15"/>
    <p:sldId id="315" r:id="rId16"/>
    <p:sldId id="319" r:id="rId17"/>
    <p:sldId id="306" r:id="rId18"/>
    <p:sldId id="276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0288" autoAdjust="0"/>
  </p:normalViewPr>
  <p:slideViewPr>
    <p:cSldViewPr snapToGrid="0">
      <p:cViewPr varScale="1">
        <p:scale>
          <a:sx n="74" d="100"/>
          <a:sy n="74" d="100"/>
        </p:scale>
        <p:origin x="1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4BF72-ADDC-46FA-998E-B13613535B60}" type="datetimeFigureOut">
              <a:rPr lang="zh-CN" altLang="en-US" smtClean="0"/>
              <a:t>2016-06-01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802EBB-1DCB-465A-A986-00F90FDAFC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72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65776C-20A8-487D-846C-D155731DF68A}" type="datetimeFigureOut">
              <a:rPr lang="zh-CN" altLang="en-US" smtClean="0"/>
              <a:t>2016-06-01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AB25102-5522-4F03-8BBA-3510B9499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351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646" y="109415"/>
            <a:ext cx="8823568" cy="922215"/>
          </a:xfrm>
          <a:prstGeom prst="rect">
            <a:avLst/>
          </a:prstGeo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646" y="1312984"/>
            <a:ext cx="8823568" cy="5267569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  <a:lvl2pPr marL="685800" indent="-228600">
              <a:buFont typeface="宋体" panose="02010600030101010101" pitchFamily="2" charset="-122"/>
              <a:buChar char="‐"/>
              <a:defRPr sz="2400">
                <a:solidFill>
                  <a:schemeClr val="tx1"/>
                </a:solidFill>
                <a:latin typeface="+mn-ea"/>
                <a:ea typeface="+mn-ea"/>
              </a:defRPr>
            </a:lvl2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65776C-20A8-487D-846C-D155731DF68A}" type="datetimeFigureOut">
              <a:rPr lang="zh-CN" altLang="en-US" smtClean="0"/>
              <a:t>2016-06-01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AB25102-5522-4F03-8BBA-3510B9499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8763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65776C-20A8-487D-846C-D155731DF68A}" type="datetimeFigureOut">
              <a:rPr lang="zh-CN" altLang="en-US" smtClean="0"/>
              <a:t>2016-06-01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AB25102-5522-4F03-8BBA-3510B9499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59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65776C-20A8-487D-846C-D155731DF68A}" type="datetimeFigureOut">
              <a:rPr lang="zh-CN" altLang="en-US" smtClean="0"/>
              <a:t>2016-06-01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AB25102-5522-4F03-8BBA-3510B9499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727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65776C-20A8-487D-846C-D155731DF68A}" type="datetimeFigureOut">
              <a:rPr lang="zh-CN" altLang="en-US" smtClean="0"/>
              <a:t>2016-06-01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AB25102-5522-4F03-8BBA-3510B9499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49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65776C-20A8-487D-846C-D155731DF68A}" type="datetimeFigureOut">
              <a:rPr lang="zh-CN" altLang="en-US" smtClean="0"/>
              <a:t>2016-06-01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AB25102-5522-4F03-8BBA-3510B9499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09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65776C-20A8-487D-846C-D155731DF68A}" type="datetimeFigureOut">
              <a:rPr lang="zh-CN" altLang="en-US" smtClean="0"/>
              <a:t>2016-06-01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AB25102-5522-4F03-8BBA-3510B9499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8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65776C-20A8-487D-846C-D155731DF68A}" type="datetimeFigureOut">
              <a:rPr lang="zh-CN" altLang="en-US" smtClean="0"/>
              <a:t>2016-06-01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AB25102-5522-4F03-8BBA-3510B9499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25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65776C-20A8-487D-846C-D155731DF68A}" type="datetimeFigureOut">
              <a:rPr lang="zh-CN" altLang="en-US" smtClean="0"/>
              <a:t>2016-06-01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AB25102-5522-4F03-8BBA-3510B9499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178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65776C-20A8-487D-846C-D155731DF68A}" type="datetimeFigureOut">
              <a:rPr lang="zh-CN" altLang="en-US" smtClean="0"/>
              <a:t>2016-06-01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AB25102-5522-4F03-8BBA-3510B9499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54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65776C-20A8-487D-846C-D155731DF68A}" type="datetimeFigureOut">
              <a:rPr lang="zh-CN" altLang="en-US" smtClean="0"/>
              <a:t>2016-06-01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AB25102-5522-4F03-8BBA-3510B9499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186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55436" y="12217"/>
            <a:ext cx="9017158" cy="6709014"/>
          </a:xfrm>
          <a:prstGeom prst="roundRect">
            <a:avLst>
              <a:gd name="adj" fmla="val 2459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zh-CN" altLang="en-US" sz="60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8" name="AutoShape 4"/>
          <p:cNvSpPr>
            <a:spLocks noChangeArrowheads="1"/>
          </p:cNvSpPr>
          <p:nvPr userDrawn="1"/>
        </p:nvSpPr>
        <p:spPr bwMode="auto">
          <a:xfrm>
            <a:off x="226645" y="1051160"/>
            <a:ext cx="7958138" cy="117259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zh-CN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 userDrawn="1"/>
        </p:nvSpPr>
        <p:spPr bwMode="auto">
          <a:xfrm>
            <a:off x="533400" y="365361"/>
            <a:ext cx="5638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zh-CN" altLang="zh-CN" sz="1800">
              <a:ea typeface="宋体" pitchFamily="2" charset="-122"/>
            </a:endParaRPr>
          </a:p>
        </p:txBody>
      </p:sp>
      <p:sp>
        <p:nvSpPr>
          <p:cNvPr id="11" name="标题占位符 8"/>
          <p:cNvSpPr>
            <a:spLocks noGrp="1"/>
          </p:cNvSpPr>
          <p:nvPr>
            <p:ph type="title"/>
          </p:nvPr>
        </p:nvSpPr>
        <p:spPr>
          <a:xfrm>
            <a:off x="226645" y="-22783"/>
            <a:ext cx="8917354" cy="1073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2" name="文本占位符 9"/>
          <p:cNvSpPr>
            <a:spLocks noGrp="1"/>
          </p:cNvSpPr>
          <p:nvPr>
            <p:ph type="body" idx="1"/>
          </p:nvPr>
        </p:nvSpPr>
        <p:spPr>
          <a:xfrm>
            <a:off x="226644" y="1346463"/>
            <a:ext cx="8880135" cy="4949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6938994" y="6172460"/>
            <a:ext cx="2133600" cy="3908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BAC3C-4B03-423E-8DE8-A1EF7B48B47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780" y="6318142"/>
            <a:ext cx="1524000" cy="52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7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85800" y="1481336"/>
            <a:ext cx="7772400" cy="13716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百中平台</a:t>
            </a:r>
            <a:endParaRPr lang="zh-CN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227298" y="2848372"/>
            <a:ext cx="2689403" cy="65181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wangkaikai</a:t>
            </a:r>
          </a:p>
          <a:p>
            <a:pPr marL="0" indent="0" algn="ctr">
              <a:buNone/>
            </a:pP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2016/05/17</a:t>
            </a:r>
            <a:endParaRPr lang="zh-CN" altLang="en-US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699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内容提纲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6646" y="1434662"/>
            <a:ext cx="8823568" cy="5145891"/>
          </a:xfrm>
        </p:spPr>
        <p:txBody>
          <a:bodyPr/>
          <a:lstStyle/>
          <a:p>
            <a:r>
              <a:rPr lang="zh-CN" altLang="en-US" dirty="0" smtClean="0"/>
              <a:t>背景</a:t>
            </a:r>
            <a:endParaRPr lang="en-US" altLang="zh-CN" dirty="0" smtClean="0"/>
          </a:p>
          <a:p>
            <a:r>
              <a:rPr lang="zh-CN" altLang="en-US" dirty="0" smtClean="0"/>
              <a:t>平台功能</a:t>
            </a:r>
            <a:endParaRPr lang="en-US" altLang="zh-CN" dirty="0" smtClean="0"/>
          </a:p>
          <a:p>
            <a:r>
              <a:rPr lang="zh-CN" altLang="en-US" dirty="0" smtClean="0"/>
              <a:t>平台架构</a:t>
            </a:r>
            <a:endParaRPr lang="en-US" altLang="zh-CN" dirty="0" smtClean="0"/>
          </a:p>
          <a:p>
            <a:r>
              <a:rPr lang="zh-CN" altLang="en-US" dirty="0" smtClean="0"/>
              <a:t>平台问题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554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背景</a:t>
            </a:r>
            <a:endParaRPr lang="zh-CN" altLang="en-US" dirty="0"/>
          </a:p>
        </p:txBody>
      </p:sp>
      <p:pic>
        <p:nvPicPr>
          <p:cNvPr id="4" name="图片 3" descr="mone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4350" y="1955749"/>
            <a:ext cx="419622" cy="574203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2184368" y="1367947"/>
            <a:ext cx="1526327" cy="66828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异常发现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516165" y="2712808"/>
            <a:ext cx="942614" cy="700478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调研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826322" y="2914006"/>
            <a:ext cx="930382" cy="687999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457723" y="3879952"/>
            <a:ext cx="1058325" cy="70619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过滤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2788913" y="2277213"/>
            <a:ext cx="322334" cy="30113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下箭头 9"/>
          <p:cNvSpPr/>
          <p:nvPr/>
        </p:nvSpPr>
        <p:spPr>
          <a:xfrm rot="5400000">
            <a:off x="1749655" y="3988549"/>
            <a:ext cx="380303" cy="594127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84411" y="1414937"/>
            <a:ext cx="1201336" cy="53218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点击展现流量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下箭头 11"/>
          <p:cNvSpPr/>
          <p:nvPr/>
        </p:nvSpPr>
        <p:spPr>
          <a:xfrm rot="16200000">
            <a:off x="1644361" y="1498455"/>
            <a:ext cx="380303" cy="420107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箭头连接符 12"/>
          <p:cNvCxnSpPr>
            <a:stCxn id="8" idx="2"/>
            <a:endCxn id="7" idx="5"/>
          </p:cNvCxnSpPr>
          <p:nvPr/>
        </p:nvCxnSpPr>
        <p:spPr>
          <a:xfrm flipH="1" flipV="1">
            <a:off x="1620453" y="3501250"/>
            <a:ext cx="837270" cy="7318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下箭头 13"/>
          <p:cNvSpPr/>
          <p:nvPr/>
        </p:nvSpPr>
        <p:spPr>
          <a:xfrm>
            <a:off x="2777185" y="3514842"/>
            <a:ext cx="322334" cy="304056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/>
          <p:cNvCxnSpPr>
            <a:endCxn id="7" idx="6"/>
          </p:cNvCxnSpPr>
          <p:nvPr/>
        </p:nvCxnSpPr>
        <p:spPr>
          <a:xfrm flipH="1">
            <a:off x="1756704" y="3202516"/>
            <a:ext cx="803758" cy="55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5" idx="3"/>
            <a:endCxn id="7" idx="7"/>
          </p:cNvCxnSpPr>
          <p:nvPr/>
        </p:nvCxnSpPr>
        <p:spPr>
          <a:xfrm flipH="1">
            <a:off x="1620453" y="1938365"/>
            <a:ext cx="787440" cy="10763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606968" y="1979278"/>
            <a:ext cx="167396" cy="512879"/>
          </a:xfrm>
          <a:prstGeom prst="line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 rot="18291678">
            <a:off x="1562556" y="2176752"/>
            <a:ext cx="829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case</a:t>
            </a:r>
            <a:r>
              <a:rPr lang="zh-CN" altLang="en-US" sz="1200" dirty="0" smtClean="0"/>
              <a:t>分析</a:t>
            </a:r>
            <a:endParaRPr lang="zh-CN" altLang="en-US" sz="1200" dirty="0"/>
          </a:p>
        </p:txBody>
      </p:sp>
      <p:sp>
        <p:nvSpPr>
          <p:cNvPr id="19" name="文本框 18"/>
          <p:cNvSpPr txBox="1"/>
          <p:nvPr/>
        </p:nvSpPr>
        <p:spPr>
          <a:xfrm>
            <a:off x="1604787" y="2944285"/>
            <a:ext cx="932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 </a:t>
            </a:r>
            <a:r>
              <a:rPr lang="en-US" altLang="zh-CN" sz="1200" dirty="0" smtClean="0"/>
              <a:t>   </a:t>
            </a:r>
            <a:r>
              <a:rPr lang="zh-CN" altLang="en-US" sz="1200" dirty="0" smtClean="0"/>
              <a:t>策略评估</a:t>
            </a:r>
            <a:endParaRPr lang="zh-CN" altLang="en-US" sz="1200" dirty="0"/>
          </a:p>
        </p:txBody>
      </p:sp>
      <p:sp>
        <p:nvSpPr>
          <p:cNvPr id="20" name="文本框 19"/>
          <p:cNvSpPr txBox="1"/>
          <p:nvPr/>
        </p:nvSpPr>
        <p:spPr>
          <a:xfrm rot="2137104">
            <a:off x="1770748" y="3534714"/>
            <a:ext cx="932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季度评估</a:t>
            </a:r>
            <a:endParaRPr lang="zh-CN" altLang="en-US" sz="1200" dirty="0"/>
          </a:p>
        </p:txBody>
      </p:sp>
      <p:sp>
        <p:nvSpPr>
          <p:cNvPr id="21" name="圆角矩形 20"/>
          <p:cNvSpPr/>
          <p:nvPr/>
        </p:nvSpPr>
        <p:spPr bwMode="auto">
          <a:xfrm>
            <a:off x="246310" y="3894462"/>
            <a:ext cx="994071" cy="63818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558" tIns="41779" rIns="83558" bIns="41779" rtlCol="0" anchor="ctr">
            <a:spAutoFit/>
          </a:bodyPr>
          <a:lstStyle/>
          <a:p>
            <a:pPr algn="ctr" eaLnBrk="0" fontAlgn="ctr" hangingPunct="0">
              <a:buClr>
                <a:srgbClr val="FF0000"/>
              </a:buClr>
              <a:buSzPct val="70000"/>
            </a:pPr>
            <a:r>
              <a:rPr lang="zh-CN" altLang="en-US" sz="1600" dirty="0" smtClean="0"/>
              <a:t>流量使用方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79782" y="5368709"/>
            <a:ext cx="162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图  反作弊体系概图</a:t>
            </a:r>
            <a:endParaRPr lang="zh-CN" altLang="en-US" sz="1200" dirty="0"/>
          </a:p>
        </p:txBody>
      </p:sp>
      <p:sp>
        <p:nvSpPr>
          <p:cNvPr id="23" name="TextBox 24"/>
          <p:cNvSpPr txBox="1"/>
          <p:nvPr/>
        </p:nvSpPr>
        <p:spPr>
          <a:xfrm>
            <a:off x="172227" y="2541917"/>
            <a:ext cx="1291560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恶意点击和展现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52898" y="4695667"/>
            <a:ext cx="1239345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计费，报表等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 bwMode="auto">
          <a:xfrm>
            <a:off x="3710695" y="1363024"/>
            <a:ext cx="5433305" cy="4713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en-US" sz="2000" b="1" kern="0" dirty="0" smtClean="0"/>
              <a:t>平台说明</a:t>
            </a:r>
            <a:endParaRPr lang="en-US" altLang="zh-CN" sz="2000" b="1" kern="0" dirty="0"/>
          </a:p>
          <a:p>
            <a:pPr lvl="1">
              <a:spcAft>
                <a:spcPts val="600"/>
              </a:spcAft>
            </a:pPr>
            <a:r>
              <a:rPr lang="zh-CN" altLang="en-US" sz="1800" kern="0" dirty="0"/>
              <a:t>百</a:t>
            </a:r>
            <a:r>
              <a:rPr lang="zh-CN" altLang="en-US" sz="1800" kern="0" dirty="0" smtClean="0"/>
              <a:t>中平台是一个</a:t>
            </a:r>
            <a:r>
              <a:rPr lang="zh-CN" altLang="en-US" sz="1800" kern="0" dirty="0" smtClean="0">
                <a:solidFill>
                  <a:srgbClr val="FF0000"/>
                </a:solidFill>
              </a:rPr>
              <a:t>策略调研平台，以提升调研效率为目的。</a:t>
            </a:r>
            <a:r>
              <a:rPr lang="zh-CN" altLang="en-US" sz="1800" kern="0" dirty="0" smtClean="0"/>
              <a:t>在异常发现后，通过特征分析和模拟过滤，产出最后可用于上线的特征和策略。</a:t>
            </a:r>
            <a:endParaRPr lang="en-US" altLang="zh-CN" sz="1800" kern="0" dirty="0" smtClean="0"/>
          </a:p>
          <a:p>
            <a:pPr marL="457200" lvl="1" indent="0">
              <a:spcAft>
                <a:spcPts val="600"/>
              </a:spcAft>
              <a:buNone/>
            </a:pPr>
            <a:endParaRPr lang="en-US" altLang="zh-CN" sz="1800" kern="0" dirty="0"/>
          </a:p>
          <a:p>
            <a:pPr>
              <a:spcAft>
                <a:spcPts val="600"/>
              </a:spcAft>
            </a:pPr>
            <a:r>
              <a:rPr lang="zh-CN" altLang="en-US" sz="2000" b="1" kern="0" dirty="0" smtClean="0"/>
              <a:t>平台功能</a:t>
            </a:r>
            <a:endParaRPr lang="en-US" altLang="zh-CN" sz="2000" b="1" kern="0" dirty="0" smtClean="0"/>
          </a:p>
          <a:p>
            <a:pPr lvl="1">
              <a:spcAft>
                <a:spcPts val="600"/>
              </a:spcAft>
            </a:pPr>
            <a:r>
              <a:rPr lang="zh-CN" altLang="en-US" sz="1800" kern="0" dirty="0" smtClean="0">
                <a:solidFill>
                  <a:srgbClr val="FF0000"/>
                </a:solidFill>
              </a:rPr>
              <a:t>规范化，一站式</a:t>
            </a:r>
            <a:r>
              <a:rPr lang="zh-CN" altLang="en-US" sz="1800" kern="0" dirty="0" smtClean="0"/>
              <a:t>的调研流程</a:t>
            </a:r>
            <a:endParaRPr lang="en-US" altLang="zh-CN" sz="1800" kern="0" dirty="0" smtClean="0"/>
          </a:p>
          <a:p>
            <a:pPr lvl="1">
              <a:spcAft>
                <a:spcPts val="600"/>
              </a:spcAft>
            </a:pPr>
            <a:r>
              <a:rPr lang="zh-CN" altLang="en-US" sz="1800" kern="0" dirty="0"/>
              <a:t>平台</a:t>
            </a:r>
            <a:r>
              <a:rPr lang="zh-CN" altLang="en-US" sz="1800" kern="0" dirty="0" smtClean="0"/>
              <a:t>化的产品线，日志源调研支持</a:t>
            </a:r>
            <a:endParaRPr lang="en-US" altLang="zh-CN" sz="1800" kern="0" dirty="0" smtClean="0"/>
          </a:p>
          <a:p>
            <a:pPr lvl="1">
              <a:spcAft>
                <a:spcPts val="600"/>
              </a:spcAft>
            </a:pPr>
            <a:r>
              <a:rPr lang="zh-CN" altLang="en-US" sz="1800" kern="0" dirty="0" smtClean="0"/>
              <a:t>策略和特征</a:t>
            </a:r>
            <a:r>
              <a:rPr lang="zh-CN" altLang="en-US" sz="1800" kern="0" dirty="0"/>
              <a:t>的</a:t>
            </a:r>
            <a:r>
              <a:rPr lang="zh-CN" altLang="en-US" sz="1800" kern="0" dirty="0" smtClean="0"/>
              <a:t>下线，修改，新增等调整管理</a:t>
            </a:r>
            <a:endParaRPr lang="en-US" altLang="zh-CN" sz="1800" kern="0" dirty="0" smtClean="0"/>
          </a:p>
          <a:p>
            <a:pPr lvl="1">
              <a:spcAft>
                <a:spcPts val="600"/>
              </a:spcAft>
            </a:pPr>
            <a:r>
              <a:rPr lang="zh-CN" altLang="en-US" sz="1800" kern="0" dirty="0" smtClean="0"/>
              <a:t>特征分析和策略</a:t>
            </a:r>
            <a:r>
              <a:rPr lang="zh-CN" altLang="en-US" sz="1800" kern="0" dirty="0"/>
              <a:t>过滤结果</a:t>
            </a:r>
            <a:r>
              <a:rPr lang="zh-CN" altLang="en-US" sz="1800" kern="0" dirty="0" smtClean="0"/>
              <a:t>分析，</a:t>
            </a:r>
            <a:r>
              <a:rPr lang="zh-CN" altLang="en-US" sz="1800" kern="0" dirty="0" smtClean="0">
                <a:solidFill>
                  <a:srgbClr val="FF0000"/>
                </a:solidFill>
              </a:rPr>
              <a:t>阈值推荐</a:t>
            </a:r>
            <a:endParaRPr lang="en-US" altLang="zh-CN" sz="1800" kern="0" dirty="0" smtClean="0">
              <a:solidFill>
                <a:srgbClr val="FF0000"/>
              </a:solidFill>
            </a:endParaRPr>
          </a:p>
          <a:p>
            <a:pPr lvl="1">
              <a:spcAft>
                <a:spcPts val="600"/>
              </a:spcAft>
            </a:pPr>
            <a:r>
              <a:rPr lang="zh-CN" altLang="en-US" sz="1800" kern="0" dirty="0" smtClean="0"/>
              <a:t>待上线的特征和策略产出，策略号维护</a:t>
            </a:r>
            <a:endParaRPr lang="en-US" altLang="zh-CN" sz="1800" kern="0" dirty="0" smtClean="0"/>
          </a:p>
          <a:p>
            <a:pPr lvl="1">
              <a:spcAft>
                <a:spcPts val="600"/>
              </a:spcAft>
            </a:pPr>
            <a:endParaRPr lang="en-US" altLang="zh-CN" sz="1800" kern="0" dirty="0" smtClean="0"/>
          </a:p>
          <a:p>
            <a:pPr lvl="1">
              <a:spcAft>
                <a:spcPts val="600"/>
              </a:spcAft>
            </a:pPr>
            <a:endParaRPr lang="en-US" altLang="zh-CN" sz="1800" kern="0" dirty="0" smtClean="0"/>
          </a:p>
          <a:p>
            <a:pPr lvl="1">
              <a:spcAft>
                <a:spcPts val="600"/>
              </a:spcAft>
            </a:pPr>
            <a:endParaRPr lang="en-US" altLang="zh-CN" sz="14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556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平台功能</a:t>
            </a:r>
            <a:r>
              <a:rPr lang="en-US" altLang="zh-CN" dirty="0" smtClean="0"/>
              <a:t>-</a:t>
            </a:r>
            <a:r>
              <a:rPr lang="zh-CN" altLang="en-US" dirty="0" smtClean="0"/>
              <a:t>调研流程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8" y="2376252"/>
            <a:ext cx="8981706" cy="348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5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平台功能</a:t>
            </a:r>
            <a:r>
              <a:rPr lang="en-US" altLang="zh-CN" dirty="0" smtClean="0"/>
              <a:t>-</a:t>
            </a:r>
            <a:r>
              <a:rPr lang="zh-CN" altLang="en-US" dirty="0" smtClean="0"/>
              <a:t>平台化支持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6646" y="1312984"/>
            <a:ext cx="8823568" cy="1515941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b="1" dirty="0" smtClean="0"/>
              <a:t>产品线扩展</a:t>
            </a:r>
            <a:endParaRPr lang="en-US" altLang="zh-CN" b="1" dirty="0" smtClean="0"/>
          </a:p>
          <a:p>
            <a:pPr lvl="1"/>
            <a:r>
              <a:rPr lang="zh-CN" altLang="en-US" dirty="0"/>
              <a:t>产品</a:t>
            </a:r>
            <a:r>
              <a:rPr lang="zh-CN" altLang="en-US" dirty="0" smtClean="0"/>
              <a:t>线描述信息；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所有已有的策略和特征信息；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所有的关注的日志字段信息；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依赖的日志源描述信息（</a:t>
            </a:r>
            <a:r>
              <a:rPr lang="en-US" altLang="zh-CN" dirty="0" err="1" smtClean="0"/>
              <a:t>hdfs</a:t>
            </a:r>
            <a:r>
              <a:rPr lang="zh-CN" altLang="en-US" dirty="0" smtClean="0"/>
              <a:t>描述）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32894" y="3240800"/>
            <a:ext cx="1403132" cy="804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后台数据库表中添加</a:t>
            </a:r>
            <a:r>
              <a:rPr lang="zh-CN" altLang="en-US" sz="1400" dirty="0"/>
              <a:t>产品</a:t>
            </a:r>
            <a:r>
              <a:rPr lang="zh-CN" altLang="en-US" sz="1400" dirty="0" smtClean="0"/>
              <a:t>线</a:t>
            </a:r>
            <a:r>
              <a:rPr lang="en-US" altLang="zh-CN" sz="1400" dirty="0" err="1" smtClean="0"/>
              <a:t>product_info</a:t>
            </a:r>
            <a:endParaRPr lang="zh-CN" altLang="en-US" sz="1400" dirty="0"/>
          </a:p>
        </p:txBody>
      </p:sp>
      <p:sp>
        <p:nvSpPr>
          <p:cNvPr id="5" name="矩形 4"/>
          <p:cNvSpPr/>
          <p:nvPr/>
        </p:nvSpPr>
        <p:spPr>
          <a:xfrm>
            <a:off x="2414094" y="3240799"/>
            <a:ext cx="1629104" cy="804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/>
              <a:t>Policy_sequence</a:t>
            </a:r>
            <a:r>
              <a:rPr lang="zh-CN" altLang="en-US" sz="1400" dirty="0" smtClean="0"/>
              <a:t>表中新增该产品线的策略序号</a:t>
            </a:r>
            <a:endParaRPr lang="zh-CN" altLang="en-US" sz="1400" dirty="0"/>
          </a:p>
        </p:txBody>
      </p:sp>
      <p:sp>
        <p:nvSpPr>
          <p:cNvPr id="6" name="右箭头 5"/>
          <p:cNvSpPr/>
          <p:nvPr/>
        </p:nvSpPr>
        <p:spPr>
          <a:xfrm>
            <a:off x="1951786" y="3502078"/>
            <a:ext cx="371475" cy="2814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605959" y="3240799"/>
            <a:ext cx="1854402" cy="804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p</a:t>
            </a:r>
            <a:r>
              <a:rPr lang="en-US" altLang="zh-CN" sz="1400" dirty="0" err="1" smtClean="0"/>
              <a:t>f_field</a:t>
            </a:r>
            <a:r>
              <a:rPr lang="zh-CN" altLang="en-US" sz="1400" dirty="0" smtClean="0"/>
              <a:t>中添加新产品线的原始维度信息</a:t>
            </a:r>
            <a:endParaRPr lang="zh-CN" altLang="en-US" sz="1400" dirty="0"/>
          </a:p>
        </p:txBody>
      </p:sp>
      <p:sp>
        <p:nvSpPr>
          <p:cNvPr id="8" name="右箭头 7"/>
          <p:cNvSpPr/>
          <p:nvPr/>
        </p:nvSpPr>
        <p:spPr>
          <a:xfrm>
            <a:off x="4146805" y="3502077"/>
            <a:ext cx="371475" cy="2814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930059" y="3240799"/>
            <a:ext cx="1854402" cy="804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前端配置</a:t>
            </a:r>
            <a:r>
              <a:rPr lang="en-US" altLang="zh-CN" sz="1400" dirty="0" err="1" smtClean="0"/>
              <a:t>hdfs</a:t>
            </a:r>
            <a:r>
              <a:rPr lang="zh-CN" altLang="en-US" sz="1400" dirty="0" smtClean="0"/>
              <a:t>信息和策略维度信息</a:t>
            </a:r>
            <a:endParaRPr lang="zh-CN" altLang="en-US" sz="1400" dirty="0"/>
          </a:p>
        </p:txBody>
      </p:sp>
      <p:sp>
        <p:nvSpPr>
          <p:cNvPr id="10" name="右箭头 9"/>
          <p:cNvSpPr/>
          <p:nvPr/>
        </p:nvSpPr>
        <p:spPr>
          <a:xfrm>
            <a:off x="6509472" y="3502076"/>
            <a:ext cx="371475" cy="2814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647949" y="4248150"/>
            <a:ext cx="1958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图：新增产品线流程</a:t>
            </a:r>
            <a:endParaRPr lang="zh-CN" altLang="en-US" sz="1200" dirty="0"/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320432" y="4992857"/>
            <a:ext cx="8823568" cy="757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宋体" panose="02010600030101010101" pitchFamily="2" charset="-122"/>
              <a:buChar char="‐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/>
              <a:t>日志源</a:t>
            </a:r>
            <a:r>
              <a:rPr lang="zh-CN" altLang="en-US" sz="2400" b="1" dirty="0" smtClean="0"/>
              <a:t>扩展（不支持）</a:t>
            </a:r>
            <a:endParaRPr lang="en-US" altLang="zh-CN" sz="2400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2732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平台功能</a:t>
            </a:r>
            <a:r>
              <a:rPr lang="en-US" altLang="zh-CN" dirty="0" smtClean="0"/>
              <a:t>-</a:t>
            </a:r>
            <a:r>
              <a:rPr lang="zh-CN" altLang="en-US" dirty="0" smtClean="0"/>
              <a:t>策略编辑管理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6645" y="1312984"/>
            <a:ext cx="4321603" cy="4565302"/>
          </a:xfrm>
        </p:spPr>
        <p:txBody>
          <a:bodyPr>
            <a:normAutofit/>
          </a:bodyPr>
          <a:lstStyle/>
          <a:p>
            <a:r>
              <a:rPr lang="zh-CN" altLang="en-US" sz="2000" dirty="0" smtClean="0"/>
              <a:t>特征和策略编辑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支持处理空间，维度等编辑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支持策略下线，上线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不</a:t>
            </a:r>
            <a:r>
              <a:rPr lang="zh-CN" altLang="en-US" sz="2000" dirty="0" smtClean="0"/>
              <a:t>支持单策略，多特征</a:t>
            </a:r>
            <a:endParaRPr lang="en-US" altLang="zh-CN" sz="2000" dirty="0" smtClean="0"/>
          </a:p>
          <a:p>
            <a:r>
              <a:rPr lang="zh-CN" altLang="en-US" sz="2000" dirty="0" smtClean="0"/>
              <a:t>特征号和策略号管理规则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1 </a:t>
            </a:r>
            <a:r>
              <a:rPr lang="zh-CN" altLang="en-US" sz="2000" dirty="0" smtClean="0"/>
              <a:t>简单策略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2 </a:t>
            </a:r>
            <a:r>
              <a:rPr lang="zh-CN" altLang="en-US" sz="2000" dirty="0" smtClean="0"/>
              <a:t>未成型的特化策略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3 </a:t>
            </a:r>
            <a:r>
              <a:rPr lang="zh-CN" altLang="en-US" sz="2000" dirty="0" smtClean="0"/>
              <a:t>段上线策略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4 </a:t>
            </a:r>
            <a:r>
              <a:rPr lang="zh-CN" altLang="en-US" sz="2000" dirty="0" smtClean="0"/>
              <a:t>段比例策略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5 </a:t>
            </a:r>
            <a:r>
              <a:rPr lang="zh-CN" altLang="en-US" sz="2000" dirty="0" smtClean="0"/>
              <a:t>分布异常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6 </a:t>
            </a:r>
            <a:r>
              <a:rPr lang="zh-CN" altLang="en-US" sz="2000" dirty="0"/>
              <a:t>段</a:t>
            </a:r>
            <a:r>
              <a:rPr lang="zh-CN" altLang="en-US" sz="2000" dirty="0" smtClean="0"/>
              <a:t>上限自动黑名单和段比例自动黑名单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9 </a:t>
            </a:r>
            <a:r>
              <a:rPr lang="zh-CN" altLang="en-US" sz="2000" dirty="0" smtClean="0"/>
              <a:t>模型策略和劫持策略</a:t>
            </a:r>
            <a:endParaRPr lang="en-US" altLang="zh-CN" sz="20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936" y="1221636"/>
            <a:ext cx="3909209" cy="361162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6645" y="5944196"/>
            <a:ext cx="55220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sz="2200" dirty="0">
                <a:solidFill>
                  <a:srgbClr val="FF0000"/>
                </a:solidFill>
              </a:rPr>
              <a:t>问题：特征号和策略号</a:t>
            </a:r>
            <a:r>
              <a:rPr lang="zh-CN" altLang="en-US" sz="2200" dirty="0" smtClean="0">
                <a:solidFill>
                  <a:srgbClr val="FF0000"/>
                </a:solidFill>
              </a:rPr>
              <a:t>的映射维护</a:t>
            </a:r>
            <a:r>
              <a:rPr lang="zh-CN" altLang="en-US" sz="2200" dirty="0">
                <a:solidFill>
                  <a:srgbClr val="FF0000"/>
                </a:solidFill>
              </a:rPr>
              <a:t>规则</a:t>
            </a:r>
            <a:r>
              <a:rPr lang="zh-CN" altLang="en-US" sz="2200" dirty="0" smtClean="0">
                <a:solidFill>
                  <a:srgbClr val="FF0000"/>
                </a:solidFill>
              </a:rPr>
              <a:t>？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403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</a:t>
            </a:r>
            <a:r>
              <a:rPr lang="zh-CN" altLang="en-US" dirty="0" smtClean="0"/>
              <a:t>架构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88" y="1548708"/>
            <a:ext cx="7468802" cy="403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516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</a:t>
            </a:r>
            <a:r>
              <a:rPr lang="zh-CN" altLang="en-US" dirty="0" smtClean="0"/>
              <a:t>存储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176373"/>
              </p:ext>
            </p:extLst>
          </p:nvPr>
        </p:nvGraphicFramePr>
        <p:xfrm>
          <a:off x="771525" y="1397000"/>
          <a:ext cx="6848475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825"/>
                <a:gridCol w="2282825"/>
                <a:gridCol w="2282825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表名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用途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关键字段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pf_task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存储特征分析和模拟任务的</a:t>
                      </a:r>
                      <a:r>
                        <a:rPr lang="en-US" altLang="zh-CN" dirty="0" smtClean="0"/>
                        <a:t>task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pf_feature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存储所有的特征，特征以</a:t>
                      </a:r>
                      <a:r>
                        <a:rPr lang="en-US" altLang="zh-CN" dirty="0" err="1" smtClean="0"/>
                        <a:t>json</a:t>
                      </a:r>
                      <a:r>
                        <a:rPr lang="zh-CN" altLang="en-US" dirty="0" smtClean="0"/>
                        <a:t>串的形式存储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pf_policy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存储所有的策略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feature_id_set</a:t>
                      </a:r>
                      <a:r>
                        <a:rPr lang="en-US" altLang="zh-CN" dirty="0" smtClean="0"/>
                        <a:t>:</a:t>
                      </a:r>
                      <a:r>
                        <a:rPr lang="zh-CN" altLang="en-US" dirty="0" smtClean="0"/>
                        <a:t>关联的特征</a:t>
                      </a:r>
                      <a:r>
                        <a:rPr lang="en-US" altLang="zh-CN" dirty="0" smtClean="0"/>
                        <a:t>id</a:t>
                      </a:r>
                      <a:r>
                        <a:rPr lang="zh-CN" altLang="en-US" dirty="0" smtClean="0"/>
                        <a:t>列表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pf_policy_sequence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存储分产品线的当前线上所有策略</a:t>
                      </a:r>
                      <a:r>
                        <a:rPr lang="en-US" altLang="zh-CN" dirty="0" smtClean="0"/>
                        <a:t>id</a:t>
                      </a:r>
                      <a:r>
                        <a:rPr lang="zh-CN" altLang="en-US" dirty="0" smtClean="0"/>
                        <a:t>编号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pf_view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存储所有的维度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pf_field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存储所有的字段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pf_product_info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存储产品线信息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hdfs_info_id,log_type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134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StatAndAnalysis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921" y="1188427"/>
            <a:ext cx="8823568" cy="1163515"/>
          </a:xfrm>
        </p:spPr>
        <p:txBody>
          <a:bodyPr>
            <a:normAutofit lnSpcReduction="10000"/>
          </a:bodyPr>
          <a:lstStyle/>
          <a:p>
            <a:r>
              <a:rPr lang="zh-CN" altLang="en-US" sz="2000" dirty="0" smtClean="0"/>
              <a:t>功能：特征标准分布距离计算，特征分析和阈值推荐。</a:t>
            </a:r>
            <a:endParaRPr lang="en-US" altLang="zh-CN" sz="2000" dirty="0" smtClean="0"/>
          </a:p>
          <a:p>
            <a:r>
              <a:rPr lang="zh-CN" altLang="en-US" sz="2000" dirty="0" smtClean="0"/>
              <a:t>输入：</a:t>
            </a:r>
            <a:r>
              <a:rPr lang="en-US" altLang="zh-CN" sz="2000" dirty="0" err="1" smtClean="0"/>
              <a:t>StatAndAnalysisTask</a:t>
            </a:r>
            <a:endParaRPr lang="en-US" altLang="zh-CN" sz="2000" dirty="0" smtClean="0"/>
          </a:p>
          <a:p>
            <a:r>
              <a:rPr lang="zh-CN" altLang="en-US" sz="2000" dirty="0" smtClean="0"/>
              <a:t>输出：</a:t>
            </a:r>
            <a:r>
              <a:rPr lang="en-US" altLang="zh-CN" sz="2000" dirty="0" err="1" smtClean="0"/>
              <a:t>FeatureAnalysis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特征频次分段累计值和自动化阈值</a:t>
            </a:r>
            <a:r>
              <a:rPr lang="en-US" altLang="zh-CN" sz="2000" dirty="0" smtClean="0"/>
              <a:t>)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" y="2352675"/>
            <a:ext cx="7050454" cy="227407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6" y="4628217"/>
            <a:ext cx="7088799" cy="205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814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StatAndAnalysis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927" y="1206655"/>
            <a:ext cx="6509005" cy="549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38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自动阈值推荐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6646" y="1312984"/>
            <a:ext cx="8823568" cy="5545016"/>
          </a:xfrm>
        </p:spPr>
        <p:txBody>
          <a:bodyPr>
            <a:normAutofit/>
          </a:bodyPr>
          <a:lstStyle/>
          <a:p>
            <a:r>
              <a:rPr lang="zh-CN" altLang="en-US" sz="2400" b="1" dirty="0" smtClean="0"/>
              <a:t>输入</a:t>
            </a:r>
            <a:r>
              <a:rPr lang="zh-CN" altLang="en-US" sz="2400" dirty="0" smtClean="0"/>
              <a:t>：统计特征文件（</a:t>
            </a:r>
            <a:r>
              <a:rPr lang="en-US" altLang="zh-CN" sz="2400" dirty="0" err="1" smtClean="0"/>
              <a:t>ViewStatistics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r>
              <a:rPr lang="zh-CN" altLang="en-US" sz="2400" b="1" dirty="0" smtClean="0"/>
              <a:t>输出</a:t>
            </a:r>
            <a:r>
              <a:rPr lang="zh-CN" altLang="en-US" sz="2400" dirty="0" smtClean="0"/>
              <a:t>：特征自动阈值和分段累计值</a:t>
            </a:r>
            <a:endParaRPr lang="en-US" altLang="zh-CN" sz="2400" dirty="0" smtClean="0"/>
          </a:p>
          <a:p>
            <a:r>
              <a:rPr lang="zh-CN" altLang="en-US" sz="2400" dirty="0" smtClean="0"/>
              <a:t>配置文件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1900" dirty="0"/>
              <a:t> 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252787"/>
            <a:ext cx="7972514" cy="204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19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阈值推荐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2" y="1551221"/>
            <a:ext cx="3988674" cy="409040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192" y="1525463"/>
            <a:ext cx="521017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72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FilterWorker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b="1" dirty="0" smtClean="0"/>
              <a:t>功能</a:t>
            </a:r>
            <a:r>
              <a:rPr lang="zh-CN" altLang="en-US" sz="2400" dirty="0" smtClean="0"/>
              <a:t>：模拟过滤，完成特征的统计和过滤。</a:t>
            </a:r>
            <a:endParaRPr lang="en-US" altLang="zh-CN" sz="2400" dirty="0" smtClean="0"/>
          </a:p>
          <a:p>
            <a:r>
              <a:rPr lang="zh-CN" altLang="en-US" sz="2400" b="1" dirty="0" smtClean="0"/>
              <a:t>输入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 </a:t>
            </a:r>
            <a:r>
              <a:rPr lang="en-US" altLang="zh-CN" sz="2400" dirty="0" err="1" smtClean="0"/>
              <a:t>FilterTask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点击文本日志，指定维度</a:t>
            </a:r>
            <a:endParaRPr lang="en-US" altLang="zh-CN" sz="2400" dirty="0" smtClean="0"/>
          </a:p>
          <a:p>
            <a:r>
              <a:rPr lang="zh-CN" altLang="en-US" sz="2400" b="1" dirty="0" smtClean="0"/>
              <a:t>输出</a:t>
            </a:r>
            <a:r>
              <a:rPr lang="zh-CN" altLang="en-US" sz="2400" dirty="0" smtClean="0"/>
              <a:t>：策略优先命中结果文本日志，</a:t>
            </a:r>
            <a:r>
              <a:rPr lang="en-US" altLang="zh-CN" sz="2400" dirty="0" err="1" smtClean="0"/>
              <a:t>logid</a:t>
            </a:r>
            <a:r>
              <a:rPr lang="zh-CN" altLang="en-US" sz="2400" dirty="0" smtClean="0"/>
              <a:t>文件和指定维度的新增统计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46" y="3613261"/>
            <a:ext cx="8823568" cy="250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59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FilterWorker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322" y="109415"/>
            <a:ext cx="3142483" cy="639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75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LaunchReviewerWorker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1" dirty="0" smtClean="0"/>
              <a:t>功能</a:t>
            </a:r>
            <a:r>
              <a:rPr lang="zh-CN" altLang="en-US" sz="2400" dirty="0" smtClean="0"/>
              <a:t>：线上策略的修改，下线，调研策略的上线等批量调整后进行对比分析模块。调整必须串行执行。</a:t>
            </a:r>
            <a:endParaRPr lang="en-US" altLang="zh-CN" sz="2400" dirty="0" smtClean="0"/>
          </a:p>
          <a:p>
            <a:r>
              <a:rPr lang="zh-CN" altLang="en-US" sz="2400" b="1" dirty="0" smtClean="0"/>
              <a:t>输入</a:t>
            </a:r>
            <a:r>
              <a:rPr lang="zh-CN" altLang="en-US" sz="2400" dirty="0" smtClean="0"/>
              <a:t>：</a:t>
            </a:r>
            <a:r>
              <a:rPr lang="en-US" altLang="zh-CN" sz="2400" dirty="0" err="1" smtClean="0"/>
              <a:t>LaunchReviewerTask</a:t>
            </a:r>
            <a:r>
              <a:rPr lang="zh-CN" altLang="en-US" sz="2400" dirty="0" smtClean="0"/>
              <a:t>，指定维度</a:t>
            </a:r>
            <a:endParaRPr lang="en-US" altLang="zh-CN" sz="2400" dirty="0" smtClean="0"/>
          </a:p>
          <a:p>
            <a:r>
              <a:rPr lang="zh-CN" altLang="en-US" sz="2400" b="1" dirty="0" smtClean="0"/>
              <a:t>输出</a:t>
            </a:r>
            <a:r>
              <a:rPr lang="zh-CN" altLang="en-US" sz="2400" dirty="0" smtClean="0"/>
              <a:t>：指定维度的新增和放出统计，新增过滤日志，新增过滤</a:t>
            </a:r>
            <a:r>
              <a:rPr lang="en-US" altLang="zh-CN" sz="2400" dirty="0" err="1" smtClean="0"/>
              <a:t>logid</a:t>
            </a:r>
            <a:r>
              <a:rPr lang="zh-CN" altLang="en-US" sz="2400" dirty="0" smtClean="0"/>
              <a:t>文件（评估平台使用）</a:t>
            </a:r>
            <a:endParaRPr lang="en-US" altLang="zh-CN" sz="2400" dirty="0" smtClean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46768"/>
            <a:ext cx="912495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48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LaunchReviewerWorker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820" y="1031630"/>
            <a:ext cx="3469220" cy="553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08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平台问题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过滤系统过时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不支持单一策略多特征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不支持多级维度的过滤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依赖点击文本日志源</a:t>
            </a:r>
            <a:endParaRPr lang="en-US" altLang="zh-CN" dirty="0" smtClean="0"/>
          </a:p>
          <a:p>
            <a:r>
              <a:rPr lang="zh-CN" altLang="en-US" dirty="0" smtClean="0"/>
              <a:t>速度慢，策略管理里每次都要跑全量策略。</a:t>
            </a:r>
            <a:endParaRPr lang="en-US" altLang="zh-CN" dirty="0" smtClean="0"/>
          </a:p>
          <a:p>
            <a:r>
              <a:rPr lang="zh-CN" altLang="en-US" dirty="0" smtClean="0"/>
              <a:t>平台化支持不完备，不支持数据源扩展。</a:t>
            </a:r>
            <a:endParaRPr lang="en-US" altLang="zh-CN" dirty="0" smtClean="0"/>
          </a:p>
          <a:p>
            <a:r>
              <a:rPr lang="zh-CN" altLang="en-US" dirty="0" smtClean="0"/>
              <a:t>策略号和特征号管理未完全规范。</a:t>
            </a:r>
            <a:endParaRPr lang="en-US" altLang="zh-CN" dirty="0" smtClean="0"/>
          </a:p>
          <a:p>
            <a:r>
              <a:rPr lang="zh-CN" altLang="en-US" dirty="0" smtClean="0"/>
              <a:t>与评估平台未完成友好对接。</a:t>
            </a:r>
            <a:endParaRPr lang="en-US" altLang="zh-CN" dirty="0" smtClean="0"/>
          </a:p>
          <a:p>
            <a:r>
              <a:rPr lang="zh-CN" altLang="en-US" dirty="0" smtClean="0"/>
              <a:t>模型调研不支持</a:t>
            </a:r>
            <a:endParaRPr lang="en-US" altLang="zh-CN" dirty="0" smtClean="0"/>
          </a:p>
          <a:p>
            <a:r>
              <a:rPr lang="zh-CN" altLang="en-US" dirty="0" smtClean="0"/>
              <a:t>劫持调研不支持</a:t>
            </a:r>
            <a:endParaRPr lang="en-US" altLang="zh-CN" dirty="0" smtClean="0"/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6316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21697" y="2724259"/>
            <a:ext cx="1758841" cy="1090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Q&amp;A</a:t>
            </a:r>
            <a:endParaRPr lang="zh-CN" altLang="en-US" sz="6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130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3371</TotalTime>
  <Words>621</Words>
  <Application>Microsoft Office PowerPoint</Application>
  <PresentationFormat>全屏显示(4:3)</PresentationFormat>
  <Paragraphs>112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黑体</vt:lpstr>
      <vt:lpstr>宋体</vt:lpstr>
      <vt:lpstr>微软雅黑</vt:lpstr>
      <vt:lpstr>Arial</vt:lpstr>
      <vt:lpstr>Calibri</vt:lpstr>
      <vt:lpstr>Calibri Light</vt:lpstr>
      <vt:lpstr>Times New Roman</vt:lpstr>
      <vt:lpstr>Office 主题</vt:lpstr>
      <vt:lpstr>PowerPoint 演示文稿</vt:lpstr>
      <vt:lpstr>内容提纲</vt:lpstr>
      <vt:lpstr>背景</vt:lpstr>
      <vt:lpstr>平台功能-调研流程</vt:lpstr>
      <vt:lpstr>平台功能-平台化支持</vt:lpstr>
      <vt:lpstr>平台功能-策略编辑管理</vt:lpstr>
      <vt:lpstr>系统架构</vt:lpstr>
      <vt:lpstr>系统存储</vt:lpstr>
      <vt:lpstr>StatAndAnalysis</vt:lpstr>
      <vt:lpstr>StatAndAnalysis</vt:lpstr>
      <vt:lpstr>自动阈值推荐</vt:lpstr>
      <vt:lpstr>阈值推荐</vt:lpstr>
      <vt:lpstr>FilterWorker</vt:lpstr>
      <vt:lpstr>FilterWorker</vt:lpstr>
      <vt:lpstr>LaunchReviewerWorker</vt:lpstr>
      <vt:lpstr>LaunchReviewerWorker</vt:lpstr>
      <vt:lpstr>平台问题</vt:lpstr>
      <vt:lpstr>PowerPoint 演示文稿</vt:lpstr>
    </vt:vector>
  </TitlesOfParts>
  <Company>Lenovo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变量</dc:title>
  <dc:creator>Wang,Kaikai</dc:creator>
  <cp:lastModifiedBy>Wang,Kaikai</cp:lastModifiedBy>
  <cp:revision>354</cp:revision>
  <dcterms:created xsi:type="dcterms:W3CDTF">2014-11-30T08:14:55Z</dcterms:created>
  <dcterms:modified xsi:type="dcterms:W3CDTF">2016-06-01T13:24:31Z</dcterms:modified>
</cp:coreProperties>
</file>